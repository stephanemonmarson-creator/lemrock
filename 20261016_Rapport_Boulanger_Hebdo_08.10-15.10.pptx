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90" r:id="rId13"/>
    <p:sldId id="29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10-15T15:53:36.828"/>
    <p1510:client id="{3B91FB42-27C7-06A4-66FE-C6B01B1BDB57}" v="63" dt="2026-10-15T15:38:49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Feuille_de_calcul_104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Boulanger</c:v>
                </c:pt>
              </c:strCache>
            </c:strRef>
          </c:tx>
          <c:spPr>
            <a:ln w="25400">
              <a:solidFill>
                <a:srgbClr val="F26B2A"/>
              </a:solidFill>
            </a:ln>
          </c:spPr>
          <c:marker>
            <c:symbol val="circle"/>
            <c:size val="6"/>
            <c:spPr>
              <a:solidFill>
                <a:srgbClr val="F26B2A"/>
              </a:solidFill>
              <a:ln>
                <a:solidFill>
                  <a:srgbClr val="F26B2A"/>
                </a:solidFill>
              </a:ln>
            </c:spPr>
          </c:marker>
          <c:dLbls>
            <c:delete val="1"/>
          </c:dLbls>
          <c:cat>
            <c:strRef>
              <c:f>Sheet1!$A$2:$A$9</c:f>
              <c:strCache>
                <c:ptCount val="8"/>
                <c:pt idx="0">
                  <c:v>11 sept.</c:v>
                </c:pt>
                <c:pt idx="1">
                  <c:v>15 sept.</c:v>
                </c:pt>
                <c:pt idx="2">
                  <c:v>18 sept.</c:v>
                </c:pt>
                <c:pt idx="3">
                  <c:v>22 sept.</c:v>
                </c:pt>
                <c:pt idx="4">
                  <c:v>25 sept.</c:v>
                </c:pt>
                <c:pt idx="5">
                  <c:v>1er oct.</c:v>
                </c:pt>
                <c:pt idx="6">
                  <c:v>8 oct.</c:v>
                </c:pt>
                <c:pt idx="7">
                  <c:v>15 oct.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13.4</c:v>
                </c:pt>
                <c:pt idx="1">
                  <c:v>13.8</c:v>
                </c:pt>
                <c:pt idx="2">
                  <c:v>14.1</c:v>
                </c:pt>
                <c:pt idx="3">
                  <c:v>14.5</c:v>
                </c:pt>
                <c:pt idx="4">
                  <c:v>14.8</c:v>
                </c:pt>
                <c:pt idx="5">
                  <c:v>15.3</c:v>
                </c:pt>
                <c:pt idx="6">
                  <c:v>15.6</c:v>
                </c:pt>
                <c:pt idx="7">
                  <c:v>15.8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F6-1145-941C-5C9C8AF558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Moyenne du top 5</c:v>
                </c:pt>
              </c:strCache>
            </c:strRef>
          </c:tx>
          <c:spPr>
            <a:ln w="25400">
              <a:solidFill>
                <a:srgbClr val="98A2B3"/>
              </a:solidFill>
            </a:ln>
          </c:spPr>
          <c:marker>
            <c:symbol val="circle"/>
            <c:size val="6"/>
            <c:spPr>
              <a:solidFill>
                <a:srgbClr val="98A2B3"/>
              </a:solidFill>
              <a:ln>
                <a:solidFill>
                  <a:srgbClr val="98A2B3"/>
                </a:solidFill>
              </a:ln>
            </c:spPr>
          </c:marker>
          <c:dLbls>
            <c:delete val="1"/>
          </c:dLbls>
          <c:cat>
            <c:strRef>
              <c:f>Sheet1!$A$2:$A$9</c:f>
              <c:strCache>
                <c:ptCount val="8"/>
                <c:pt idx="0">
                  <c:v>11 sept.</c:v>
                </c:pt>
                <c:pt idx="1">
                  <c:v>15 sept.</c:v>
                </c:pt>
                <c:pt idx="2">
                  <c:v>18 sept.</c:v>
                </c:pt>
                <c:pt idx="3">
                  <c:v>22 sept.</c:v>
                </c:pt>
                <c:pt idx="4">
                  <c:v>25 sept.</c:v>
                </c:pt>
                <c:pt idx="5">
                  <c:v>1er oct.</c:v>
                </c:pt>
                <c:pt idx="6">
                  <c:v>8 oct.</c:v>
                </c:pt>
                <c:pt idx="7">
                  <c:v>15 oct.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15.5</c:v>
                </c:pt>
                <c:pt idx="1">
                  <c:v>15.4</c:v>
                </c:pt>
                <c:pt idx="2">
                  <c:v>15.6</c:v>
                </c:pt>
                <c:pt idx="3">
                  <c:v>15.3</c:v>
                </c:pt>
                <c:pt idx="4">
                  <c:v>15.5</c:v>
                </c:pt>
                <c:pt idx="5">
                  <c:v>15.7</c:v>
                </c:pt>
                <c:pt idx="6">
                  <c:v>15.8</c:v>
                </c:pt>
                <c:pt idx="7">
                  <c:v>15.5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F6-1145-941C-5C9C8AF558C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6B6B"/>
                </a:solidFill>
                <a:latin typeface="Inter"/>
              </a:defRPr>
            </a:pPr>
            <a:endParaRPr lang="fr-F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7"/>
          <c:min val="12"/>
        </c:scaling>
        <c:delete val="1"/>
        <c:axPos val="l"/>
        <c:majorGridlines>
          <c:spPr>
            <a:ln w="6350">
              <a:solidFill>
                <a:srgbClr val="ECEBE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6B6B6B"/>
              </a:solidFill>
              <a:latin typeface="Inter"/>
            </a:defRPr>
          </a:pPr>
          <a:endParaRPr lang="fr-FR"/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6B6B6B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7194E-A0BD-6243-8FC9-63D2134F9B57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821B7-4B5E-5A47-8883-371FA3965F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997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821B7-4B5E-5A47-8883-371FA3965F1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817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AGENDA · CE QUE NOUS ALLONS VOIR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PÉRIODE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Inter"/>
              </a:rPr>
              <a:t>08/10/2026 → 15/10/2026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00" b="1" i="0">
                <a:solidFill>
                  <a:srgbClr val="0A0A0A"/>
                </a:solidFill>
                <a:latin typeface="Inter"/>
              </a:rPr>
              <a:t>Revue de performance de la campagne Boulanger, du 8 au 15 octobre 2026 · rapport du 16/10/2026.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F26B2A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0136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Les indicateurs qui comptent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93976"/>
            <a:ext cx="98755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6B6B"/>
                </a:solidFill>
                <a:latin typeface="Inter"/>
              </a:rPr>
              <a:t>Ce que nous pilotons, et comment chaque chiffre se mesure.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9464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F26B2A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71576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08376"/>
            <a:ext cx="98755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6B6B"/>
                </a:solidFill>
                <a:latin typeface="Inter"/>
              </a:rPr>
              <a:t>Formats diffusés, performance média de la semaine, visibilité dans les réponses des IA et intentions d'achat.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83864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6118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F26B2A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63016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Pistes de reco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22776"/>
            <a:ext cx="98755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6B6B"/>
                </a:solidFill>
                <a:latin typeface="Inter"/>
              </a:rPr>
              <a:t>Ce que nous proposons pour les prochaines semaines.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LES INDICATEURS QUI COMPTENT · RAPPEL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PÉRIODE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>
                <a:solidFill>
                  <a:srgbClr val="6B6B6B"/>
                </a:solidFill>
                <a:latin typeface="Inter"/>
                <a:ea typeface="+mn-lt"/>
                <a:cs typeface="+mn-lt"/>
              </a:rPr>
              <a:t>08/10/2026 → 15/10/2026</a:t>
            </a:r>
            <a:r>
              <a:rPr lang="en-US" sz="1100" b="0" i="0">
                <a:solidFill>
                  <a:srgbClr val="6B6B6B"/>
                </a:solidFill>
                <a:latin typeface="Inter"/>
                <a:ea typeface="+mn-lt"/>
                <a:cs typeface="+mn-lt"/>
              </a:rPr>
              <a:t/>
            </a:r>
            <a:r>
              <a:rPr lang="en-US" sz="1100">
                <a:solidFill>
                  <a:srgbClr val="6B6B6B"/>
                </a:solidFill>
                <a:latin typeface="Inter"/>
                <a:ea typeface="+mn-lt"/>
                <a:cs typeface="+mn-lt"/>
              </a:rPr>
              <a:t/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0A0A"/>
                </a:solidFill>
                <a:latin typeface="Inter"/>
              </a:rPr>
              <a:t>Deux objectifs prioritaires pilotent la campagne. Les secondaires disent comment ils bougent.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15544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OBJECTIFS PRIORITAIRES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484632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0292" cy="192024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39696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 i="0" spc="150">
                <a:solidFill>
                  <a:srgbClr val="98A2B3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Part de voix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950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26B2A"/>
                </a:solidFill>
                <a:latin typeface="Inter"/>
              </a:rPr>
              <a:t>Renforcer votre visibilité face aux enseignes concurrentes.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1012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Part des citations de Boulanger parmi l'ensemble des citations d'enseignes de votre catégorie.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05072"/>
            <a:ext cx="484632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005072"/>
            <a:ext cx="50292" cy="192024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224528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 i="0" spc="150">
                <a:solidFill>
                  <a:srgbClr val="98A2B3"/>
                </a:solidFill>
                <a:latin typeface="Inte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6227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Trafic LLM qualifié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7433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26B2A"/>
                </a:solidFill>
                <a:latin typeface="Inter"/>
              </a:rPr>
              <a:t>Amener sur boulanger.com des visiteurs en intention d'achat.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Visites issues des conversations IA, qualifiées selon l'intention exprimée par l'utilisateur.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600200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43016" y="1554480"/>
            <a:ext cx="589147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OBJECTIFS SECONDAIRES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920240"/>
            <a:ext cx="6062472" cy="4005072"/>
          </a:xfrm>
          <a:prstGeom prst="rect">
            <a:avLst/>
          </a:prstGeom>
          <a:solidFill>
            <a:srgbClr val="F7F6F4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97296" y="2167128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0" y="2103120"/>
            <a:ext cx="53309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304288"/>
            <a:ext cx="533095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850">
                <a:solidFill>
                  <a:srgbClr val="6B6B6B"/>
                </a:solidFill>
                <a:latin typeface="Inter"/>
              </a:rPr>
              <a:t>Quand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l'IA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compare Boulanger à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une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autre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enseigne</a:t>
            </a:r>
            <a:r>
              <a:rPr lang="en-US" sz="850">
                <a:solidFill>
                  <a:srgbClr val="6B6B6B"/>
                </a:solidFill>
                <a:latin typeface="Inter"/>
              </a:rPr>
              <a:t>, dans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combien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de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cas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l’utilisateur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clique sur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l'ad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Boulanger ? ​</a:t>
            </a:r>
            <a:endParaRPr sz="850">
              <a:solidFill>
                <a:srgbClr val="6B6B6B"/>
              </a:solidFill>
              <a:latin typeface="Inter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797296" y="2780690"/>
            <a:ext cx="5568696" cy="9144"/>
          </a:xfrm>
          <a:prstGeom prst="rect">
            <a:avLst/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97296" y="2894990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2830982"/>
            <a:ext cx="53309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Taux de première apparition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032150"/>
            <a:ext cx="53309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Part des conversations où Boulanger est cité dès la première réponse de l'IA.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97296" y="3508552"/>
            <a:ext cx="5568696" cy="9144"/>
          </a:xfrm>
          <a:prstGeom prst="rect">
            <a:avLst/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97296" y="3622852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3558844"/>
            <a:ext cx="53309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Taux d'exclusivité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760012"/>
            <a:ext cx="53309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Part des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réponses</a:t>
            </a:r>
            <a:r>
              <a:rPr sz="850" b="0" i="0">
                <a:solidFill>
                  <a:srgbClr val="6B6B6B"/>
                </a:solidFill>
                <a:latin typeface="Inter"/>
              </a:rPr>
              <a:t> qui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citent</a:t>
            </a:r>
            <a:r>
              <a:rPr sz="850" b="0" i="0">
                <a:solidFill>
                  <a:srgbClr val="6B6B6B"/>
                </a:solidFill>
                <a:latin typeface="Inter"/>
              </a:rPr>
              <a:t> Boulanger sans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mentionner</a:t>
            </a:r>
            <a:r>
              <a:rPr sz="850" b="0" i="0">
                <a:solidFill>
                  <a:srgbClr val="6B6B6B"/>
                </a:solidFill>
                <a:latin typeface="Inter"/>
              </a:rPr>
              <a:t>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d'enseigne</a:t>
            </a:r>
            <a:r>
              <a:rPr sz="850" b="0" i="0">
                <a:solidFill>
                  <a:srgbClr val="6B6B6B"/>
                </a:solidFill>
                <a:latin typeface="Inter"/>
              </a:rPr>
              <a:t>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concurrente</a:t>
            </a:r>
            <a:r>
              <a:rPr sz="850" b="0" i="0">
                <a:solidFill>
                  <a:srgbClr val="6B6B6B"/>
                </a:solidFill>
                <a:latin typeface="Inter"/>
              </a:rPr>
              <a:t>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97296" y="4236415"/>
            <a:ext cx="5568696" cy="9144"/>
          </a:xfrm>
          <a:prstGeom prst="rect">
            <a:avLst/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797296" y="4350715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35040" y="4286707"/>
            <a:ext cx="53309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Intentions d'achat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487875"/>
            <a:ext cx="53309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Les familles de questions que votre audience pose aux IA avant d'acheter, et la présence de Boulanger sur chacune.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97296" y="4964277"/>
            <a:ext cx="5568696" cy="9144"/>
          </a:xfrm>
          <a:prstGeom prst="rect">
            <a:avLst/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797296" y="5078577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35040" y="5014569"/>
            <a:ext cx="4142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Conversions — attribution conversationnelle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68712" y="5023713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68712" y="5023713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 spc="80">
                <a:solidFill>
                  <a:srgbClr val="6B6B6B"/>
                </a:solidFill>
                <a:latin typeface="Inter"/>
              </a:rPr>
              <a:t>EN DÉPLOIEMENT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215737"/>
            <a:ext cx="53309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Ventes attribuées aux clics provenant des conversations IA, mesurées par le conversion tracker posé sur boulanger.com.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4360" y="6053328"/>
            <a:ext cx="1100023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Cette semaine, la diffusion progresse de 11,2 % et le CPC se stabilise à 0,36 €.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10">
                <a:solidFill>
                  <a:srgbClr val="F26B2A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FORMATS PUBLICITAIRES · CE QUE VOIT L'UTILISATEUR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PÉRIODE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Inter"/>
              </a:rPr>
              <a:t>08/10/2026 → 15/10/2026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6675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0A0A"/>
                </a:solidFill>
                <a:latin typeface="Inter"/>
              </a:rPr>
              <a:t>Vos 3 formats - campagne en cours depuis le 28 août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9752" y="10972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Inter"/>
              </a:rPr>
              <a:t>Budget mensuel  </a:t>
            </a:r>
            <a:r>
              <a:rPr sz="1000" b="1" i="0">
                <a:solidFill>
                  <a:srgbClr val="0A0A0A"/>
                </a:solidFill>
                <a:latin typeface="Inter"/>
              </a:rPr>
              <a:t>10 000 €</a:t>
            </a:r>
            <a:r>
              <a:rPr sz="1000" b="0" i="0">
                <a:solidFill>
                  <a:srgbClr val="6B6B6B"/>
                </a:solidFill>
                <a:latin typeface="Inter"/>
              </a:rPr>
              <a:t>     ·     Activation le  </a:t>
            </a:r>
            <a:r>
              <a:rPr sz="1000" b="1" i="0">
                <a:solidFill>
                  <a:srgbClr val="0A0A0A"/>
                </a:solidFill>
                <a:latin typeface="Inter"/>
              </a:rPr>
              <a:t>28 août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" y="141732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LES TROIS FORMATS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378" y="1700784"/>
            <a:ext cx="38862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5546" y="1847088"/>
            <a:ext cx="34838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1" spc="150">
                <a:solidFill>
                  <a:srgbClr val="0A0A0A"/>
                </a:solidFill>
                <a:latin typeface="Inter"/>
              </a:rPr>
              <a:t>1 · CARROUSEL PRODUIT SPONSORISÉ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52290" y="1700784"/>
            <a:ext cx="38862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53458" y="1847088"/>
            <a:ext cx="34838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1" spc="150">
                <a:solidFill>
                  <a:srgbClr val="0A0A0A"/>
                </a:solidFill>
                <a:latin typeface="Inter"/>
              </a:rPr>
              <a:t>2 · QUESTION SUGGÉRÉE SPONSORISÉE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0202" y="1700784"/>
            <a:ext cx="38862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1370" y="1847088"/>
            <a:ext cx="34838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1" spc="150">
                <a:solidFill>
                  <a:srgbClr val="0A0A0A"/>
                </a:solidFill>
                <a:latin typeface="Inter"/>
              </a:rPr>
              <a:t>3 · TEXT ADS SUR QWANT</a:t>
            </a:r>
          </a:p>
        </p:txBody>
      </p:sp>
      <p:pic>
        <p:nvPicPr>
          <p:cNvPr id="18" name="Picture 17" descr="fm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370" y="2542032"/>
            <a:ext cx="3483864" cy="20401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Les trois formats sont servis dans le même inventaire éditorial, au moment où l'utilisateur exprime son intention d'achat.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09C605-E4B8-BC3E-5242-4114AC13F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78" y="2011680"/>
            <a:ext cx="3101365" cy="35864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15521D9-2FD3-6956-935F-073E89365B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54" r="5405"/>
          <a:stretch>
            <a:fillRect/>
          </a:stretch>
        </p:blipFill>
        <p:spPr>
          <a:xfrm>
            <a:off x="4494670" y="2611120"/>
            <a:ext cx="3109666" cy="239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 spc="200" dirty="0">
                <a:solidFill>
                  <a:srgbClr val="6B6B6B"/>
                </a:solidFill>
                <a:latin typeface="Inter"/>
              </a:rPr>
              <a:t>RAPPORT DE PERFORMANCE · PÉRIODE ANALYSÉE </a:t>
            </a:r>
            <a:r>
              <a:rPr lang="en-US" sz="850" b="1" spc="200">
                <a:solidFill>
                  <a:srgbClr val="6B6B6B"/>
                </a:solidFill>
                <a:latin typeface="Inter"/>
              </a:rPr>
              <a:t>08/10/2026 → 15/10/2026</a:t>
            </a:r>
            <a:endParaRPr sz="850" b="1" i="0" spc="200">
              <a:solidFill>
                <a:srgbClr val="6B6B6B"/>
              </a:solidFill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Inter"/>
              </a:rPr>
              <a:t>vs 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01/10/2026 </a:t>
            </a:r>
            <a:r>
              <a:rPr lang="en-US" sz="1100" b="0" i="0">
                <a:solidFill>
                  <a:srgbClr val="6B6B6B"/>
                </a:solidFill>
                <a:ea typeface="+mn-lt"/>
                <a:cs typeface="+mn-lt"/>
              </a:rPr>
              <a:t>→ 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08/10/2026</a:t>
            </a:r>
            <a:endParaRPr lang="en-US" sz="1100">
              <a:solidFill>
                <a:srgbClr val="000000"/>
              </a:solidFill>
              <a:ea typeface="+mn-lt"/>
              <a:cs typeface="+mn-lt"/>
            </a:endParaRPr>
          </a:p>
          <a:p>
            <a:pPr algn="r"/>
            <a:endParaRPr sz="1100" b="0" i="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7316" y="1137513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0A0A"/>
                </a:solidFill>
                <a:latin typeface="Inter"/>
              </a:rPr>
              <a:t>Campagne lancée le 28 août 2026</a:t>
            </a:r>
            <a:r>
              <a:rPr sz="1000" b="0" i="0">
                <a:solidFill>
                  <a:srgbClr val="6B6B6B"/>
                </a:solidFill>
                <a:latin typeface="Inter"/>
              </a:rPr>
              <a:t>   ·   49 jours de diffusion   ·   statut :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3056" y="1033271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BUDGET CONSOMMÉ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014984"/>
            <a:ext cx="44165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4 313,63 €</a:t>
            </a:r>
            <a:r>
              <a:rPr sz="1000" b="0" i="0">
                <a:solidFill>
                  <a:srgbClr val="6B6B6B"/>
                </a:solidFill>
                <a:latin typeface="Inter"/>
              </a:rPr>
              <a:t>  sur  10 000 € (octobre)   ·   </a:t>
            </a:r>
            <a:r>
              <a:rPr sz="1000" b="1" i="0">
                <a:solidFill>
                  <a:srgbClr val="F26B2A"/>
                </a:solidFill>
                <a:latin typeface="Inter"/>
              </a:rPr>
              <a:t>43 %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298448"/>
            <a:ext cx="5568696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63056" y="1298448"/>
            <a:ext cx="2717523" cy="64008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442923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1169" y="1397203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PERFORMANCE MÉDIA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3607" y="1389888"/>
            <a:ext cx="1971446" cy="191109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43607" y="1389888"/>
            <a:ext cx="1971446" cy="1911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spc="100">
                <a:solidFill>
                  <a:srgbClr val="FFFFFF"/>
                </a:solidFill>
                <a:latin typeface="Inter"/>
              </a:rPr>
              <a:t>CHIFFRES SUR 1 SEMAINE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4325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MENTIONS CONVERSATIONNELLES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325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90" b="1" i="0">
                <a:solidFill>
                  <a:srgbClr val="0A0A0A"/>
                </a:solidFill>
                <a:latin typeface="Inter"/>
              </a:rPr>
              <a:t>1 458 028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325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08/10 → 15/10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325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4325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01→08/10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325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96B24"/>
                </a:solidFill>
                <a:latin typeface="Inter"/>
              </a:rPr>
              <a:t>▲ +11,2 %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325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325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5 788 360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87444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87444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34569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TRAFIC LLM QUALIFIÉ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4569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6 302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34569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08/10 → 15/10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34569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34569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01→08/10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4569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B42318"/>
                </a:solidFill>
                <a:latin typeface="Inter"/>
              </a:rPr>
              <a:t>▼ -2,6 %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34569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4569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32 133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17688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717688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64813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CTR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64813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0,43 %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4813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08/10 → 15/10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64813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64813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01→08/10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64813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B42318"/>
                </a:solidFill>
                <a:latin typeface="Inter"/>
              </a:rPr>
              <a:t>▼ -0,06 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64813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64813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0,56 %</a:t>
            </a:r>
          </a:p>
        </p:txBody>
      </p:sp>
      <p:sp>
        <p:nvSpPr>
          <p:cNvPr id="1001" name="Rectangle 64"/>
          <p:cNvSpPr/>
          <p:nvPr/>
        </p:nvSpPr>
        <p:spPr>
          <a:xfrm>
            <a:off x="5347932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2" name="Rectangle 65"/>
          <p:cNvSpPr/>
          <p:nvPr/>
        </p:nvSpPr>
        <p:spPr>
          <a:xfrm>
            <a:off x="5347932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3" name="TextBox 66"/>
          <p:cNvSpPr txBox="1"/>
          <p:nvPr/>
        </p:nvSpPr>
        <p:spPr>
          <a:xfrm>
            <a:off x="5495057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CONVERSIONS LAST CLICK</a:t>
            </a:r>
          </a:p>
        </p:txBody>
      </p:sp>
      <p:sp>
        <p:nvSpPr>
          <p:cNvPr id="1004" name="TextBox 67"/>
          <p:cNvSpPr txBox="1"/>
          <p:nvPr/>
        </p:nvSpPr>
        <p:spPr>
          <a:xfrm>
            <a:off x="5495057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B42318"/>
                </a:solidFill>
                <a:latin typeface="Inter"/>
              </a:rPr>
              <a:t>xx</a:t>
            </a:r>
          </a:p>
        </p:txBody>
      </p:sp>
      <p:sp>
        <p:nvSpPr>
          <p:cNvPr id="1005" name="TextBox 68"/>
          <p:cNvSpPr txBox="1"/>
          <p:nvPr/>
        </p:nvSpPr>
        <p:spPr>
          <a:xfrm>
            <a:off x="5495057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08/10 → 15/10</a:t>
            </a:r>
          </a:p>
        </p:txBody>
      </p:sp>
      <p:sp>
        <p:nvSpPr>
          <p:cNvPr id="1006" name="Rectangle 69"/>
          <p:cNvSpPr/>
          <p:nvPr/>
        </p:nvSpPr>
        <p:spPr>
          <a:xfrm>
            <a:off x="5495057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7" name="TextBox 70"/>
          <p:cNvSpPr txBox="1"/>
          <p:nvPr/>
        </p:nvSpPr>
        <p:spPr>
          <a:xfrm>
            <a:off x="5495057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01→08/10</a:t>
            </a:r>
          </a:p>
        </p:txBody>
      </p:sp>
      <p:sp>
        <p:nvSpPr>
          <p:cNvPr id="1008" name="TextBox 71"/>
          <p:cNvSpPr txBox="1"/>
          <p:nvPr/>
        </p:nvSpPr>
        <p:spPr>
          <a:xfrm>
            <a:off x="5870977" y="2426208"/>
            <a:ext cx="93365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br>
              <a:rPr lang="en-US" sz="1000" b="1" dirty="0">
                <a:solidFill>
                  <a:srgbClr val="196B24"/>
                </a:solidFill>
                <a:latin typeface="Inter"/>
              </a:rPr>
            </a:br>
            <a:r>
              <a:rPr sz="1000" b="1" i="0">
                <a:solidFill>
                  <a:srgbClr val="B42318"/>
                </a:solidFill>
                <a:latin typeface="Inter"/>
              </a:rPr>
              <a:t>—</a:t>
            </a:r>
          </a:p>
        </p:txBody>
      </p:sp>
      <p:sp>
        <p:nvSpPr>
          <p:cNvPr id="1009" name="TextBox 72"/>
          <p:cNvSpPr txBox="1"/>
          <p:nvPr/>
        </p:nvSpPr>
        <p:spPr>
          <a:xfrm>
            <a:off x="5495057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1010" name="TextBox 73"/>
          <p:cNvSpPr txBox="1"/>
          <p:nvPr/>
        </p:nvSpPr>
        <p:spPr>
          <a:xfrm>
            <a:off x="6267217" y="2664968"/>
            <a:ext cx="38501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b="1">
                <a:solidFill>
                  <a:srgbClr val="6B6B6B"/>
                </a:solidFill>
                <a:latin typeface="Inter"/>
              </a:rPr>
              <a:t>              </a:t>
            </a:r>
            <a:r>
              <a:rPr sz="900" b="1" i="0">
                <a:solidFill>
                  <a:srgbClr val="6B6B6B"/>
                </a:solidFill>
                <a:latin typeface="Inter"/>
              </a:rPr>
              <a:t>xx</a:t>
            </a:r>
          </a:p>
        </p:txBody>
      </p:sp>
      <p:sp>
        <p:nvSpPr>
          <p:cNvPr id="1013" name="Rectangle 64"/>
          <p:cNvSpPr/>
          <p:nvPr/>
        </p:nvSpPr>
        <p:spPr>
          <a:xfrm>
            <a:off x="6978176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4" name="Rectangle 65"/>
          <p:cNvSpPr/>
          <p:nvPr/>
        </p:nvSpPr>
        <p:spPr>
          <a:xfrm>
            <a:off x="6978176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5" name="TextBox 66"/>
          <p:cNvSpPr txBox="1"/>
          <p:nvPr/>
        </p:nvSpPr>
        <p:spPr>
          <a:xfrm>
            <a:off x="7125301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CVR LAST CLICK</a:t>
            </a:r>
          </a:p>
        </p:txBody>
      </p:sp>
      <p:sp>
        <p:nvSpPr>
          <p:cNvPr id="1016" name="TextBox 67"/>
          <p:cNvSpPr txBox="1"/>
          <p:nvPr/>
        </p:nvSpPr>
        <p:spPr>
          <a:xfrm>
            <a:off x="7125301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B42318"/>
                </a:solidFill>
                <a:latin typeface="Inter"/>
              </a:rPr>
              <a:t>xx</a:t>
            </a:r>
          </a:p>
        </p:txBody>
      </p:sp>
      <p:sp>
        <p:nvSpPr>
          <p:cNvPr id="1017" name="TextBox 68"/>
          <p:cNvSpPr txBox="1"/>
          <p:nvPr/>
        </p:nvSpPr>
        <p:spPr>
          <a:xfrm>
            <a:off x="7125301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08/10 → 15/10</a:t>
            </a:r>
          </a:p>
        </p:txBody>
      </p:sp>
      <p:sp>
        <p:nvSpPr>
          <p:cNvPr id="1018" name="Rectangle 69"/>
          <p:cNvSpPr/>
          <p:nvPr/>
        </p:nvSpPr>
        <p:spPr>
          <a:xfrm>
            <a:off x="7125301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9" name="TextBox 70"/>
          <p:cNvSpPr txBox="1"/>
          <p:nvPr/>
        </p:nvSpPr>
        <p:spPr>
          <a:xfrm>
            <a:off x="7125301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01→08/10</a:t>
            </a:r>
          </a:p>
        </p:txBody>
      </p:sp>
      <p:sp>
        <p:nvSpPr>
          <p:cNvPr id="1020" name="TextBox 71"/>
          <p:cNvSpPr txBox="1"/>
          <p:nvPr/>
        </p:nvSpPr>
        <p:spPr>
          <a:xfrm>
            <a:off x="7125301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B42318"/>
                </a:solidFill>
                <a:latin typeface="Inter"/>
              </a:rPr>
              <a:t>—</a:t>
            </a:r>
          </a:p>
        </p:txBody>
      </p:sp>
      <p:sp>
        <p:nvSpPr>
          <p:cNvPr id="1021" name="TextBox 72"/>
          <p:cNvSpPr txBox="1"/>
          <p:nvPr/>
        </p:nvSpPr>
        <p:spPr>
          <a:xfrm>
            <a:off x="7125301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1022" name="TextBox 73"/>
          <p:cNvSpPr txBox="1"/>
          <p:nvPr/>
        </p:nvSpPr>
        <p:spPr>
          <a:xfrm>
            <a:off x="7125301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xx</a:t>
            </a:r>
          </a:p>
        </p:txBody>
      </p:sp>
      <p:sp>
        <p:nvSpPr>
          <p:cNvPr id="1025" name="Rectangle 64"/>
          <p:cNvSpPr/>
          <p:nvPr/>
        </p:nvSpPr>
        <p:spPr>
          <a:xfrm>
            <a:off x="8608420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6" name="Rectangle 65"/>
          <p:cNvSpPr/>
          <p:nvPr/>
        </p:nvSpPr>
        <p:spPr>
          <a:xfrm>
            <a:off x="8608420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7" name="TextBox 66"/>
          <p:cNvSpPr txBox="1"/>
          <p:nvPr/>
        </p:nvSpPr>
        <p:spPr>
          <a:xfrm>
            <a:off x="8755545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CPC MOYEN</a:t>
            </a:r>
          </a:p>
        </p:txBody>
      </p:sp>
      <p:sp>
        <p:nvSpPr>
          <p:cNvPr id="1028" name="TextBox 67"/>
          <p:cNvSpPr txBox="1"/>
          <p:nvPr/>
        </p:nvSpPr>
        <p:spPr>
          <a:xfrm>
            <a:off x="8755545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0,36 €</a:t>
            </a:r>
          </a:p>
        </p:txBody>
      </p:sp>
      <p:sp>
        <p:nvSpPr>
          <p:cNvPr id="1029" name="TextBox 68"/>
          <p:cNvSpPr txBox="1"/>
          <p:nvPr/>
        </p:nvSpPr>
        <p:spPr>
          <a:xfrm>
            <a:off x="8755545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08/10 → 15/10</a:t>
            </a:r>
          </a:p>
        </p:txBody>
      </p:sp>
      <p:sp>
        <p:nvSpPr>
          <p:cNvPr id="1030" name="Rectangle 69"/>
          <p:cNvSpPr/>
          <p:nvPr/>
        </p:nvSpPr>
        <p:spPr>
          <a:xfrm>
            <a:off x="8755545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1" name="TextBox 70"/>
          <p:cNvSpPr txBox="1"/>
          <p:nvPr/>
        </p:nvSpPr>
        <p:spPr>
          <a:xfrm>
            <a:off x="8755545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01→08/10</a:t>
            </a:r>
          </a:p>
        </p:txBody>
      </p:sp>
      <p:sp>
        <p:nvSpPr>
          <p:cNvPr id="1032" name="TextBox 71"/>
          <p:cNvSpPr txBox="1"/>
          <p:nvPr/>
        </p:nvSpPr>
        <p:spPr>
          <a:xfrm>
            <a:off x="8755545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96B24"/>
                </a:solidFill>
                <a:latin typeface="Inter"/>
              </a:rPr>
              <a:t>▼ -1,4 %</a:t>
            </a:r>
          </a:p>
        </p:txBody>
      </p:sp>
      <p:sp>
        <p:nvSpPr>
          <p:cNvPr id="1033" name="TextBox 72"/>
          <p:cNvSpPr txBox="1"/>
          <p:nvPr/>
        </p:nvSpPr>
        <p:spPr>
          <a:xfrm>
            <a:off x="8755545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1034" name="TextBox 73"/>
          <p:cNvSpPr txBox="1"/>
          <p:nvPr/>
        </p:nvSpPr>
        <p:spPr>
          <a:xfrm>
            <a:off x="8755545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0,29 €</a:t>
            </a:r>
          </a:p>
        </p:txBody>
      </p:sp>
      <p:sp>
        <p:nvSpPr>
          <p:cNvPr id="1035" name="Rectangle 64"/>
          <p:cNvSpPr/>
          <p:nvPr/>
        </p:nvSpPr>
        <p:spPr>
          <a:xfrm>
            <a:off x="10238664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6" name="Rectangle 65"/>
          <p:cNvSpPr/>
          <p:nvPr/>
        </p:nvSpPr>
        <p:spPr>
          <a:xfrm>
            <a:off x="10238664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7" name="TextBox 66"/>
          <p:cNvSpPr txBox="1"/>
          <p:nvPr/>
        </p:nvSpPr>
        <p:spPr>
          <a:xfrm>
            <a:off x="10385789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PANIER MOYEN</a:t>
            </a:r>
          </a:p>
        </p:txBody>
      </p:sp>
      <p:sp>
        <p:nvSpPr>
          <p:cNvPr id="1038" name="TextBox 67"/>
          <p:cNvSpPr txBox="1"/>
          <p:nvPr/>
        </p:nvSpPr>
        <p:spPr>
          <a:xfrm>
            <a:off x="10385789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B42318"/>
                </a:solidFill>
                <a:latin typeface="Inter"/>
              </a:rPr>
              <a:t>xx</a:t>
            </a:r>
          </a:p>
        </p:txBody>
      </p:sp>
      <p:sp>
        <p:nvSpPr>
          <p:cNvPr id="1039" name="TextBox 68"/>
          <p:cNvSpPr txBox="1"/>
          <p:nvPr/>
        </p:nvSpPr>
        <p:spPr>
          <a:xfrm>
            <a:off x="10385789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08/10 → 15/10</a:t>
            </a:r>
          </a:p>
        </p:txBody>
      </p:sp>
      <p:sp>
        <p:nvSpPr>
          <p:cNvPr id="1040" name="Rectangle 69"/>
          <p:cNvSpPr/>
          <p:nvPr/>
        </p:nvSpPr>
        <p:spPr>
          <a:xfrm>
            <a:off x="10385789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1" name="TextBox 70"/>
          <p:cNvSpPr txBox="1"/>
          <p:nvPr/>
        </p:nvSpPr>
        <p:spPr>
          <a:xfrm>
            <a:off x="10385789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01→08/10</a:t>
            </a:r>
          </a:p>
        </p:txBody>
      </p:sp>
      <p:sp>
        <p:nvSpPr>
          <p:cNvPr id="1042" name="TextBox 71"/>
          <p:cNvSpPr txBox="1"/>
          <p:nvPr/>
        </p:nvSpPr>
        <p:spPr>
          <a:xfrm>
            <a:off x="10385789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B42318"/>
                </a:solidFill>
                <a:latin typeface="Inter"/>
              </a:rPr>
              <a:t>—</a:t>
            </a:r>
          </a:p>
        </p:txBody>
      </p:sp>
      <p:sp>
        <p:nvSpPr>
          <p:cNvPr id="1043" name="TextBox 72"/>
          <p:cNvSpPr txBox="1"/>
          <p:nvPr/>
        </p:nvSpPr>
        <p:spPr>
          <a:xfrm>
            <a:off x="10385789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1044" name="TextBox 73"/>
          <p:cNvSpPr txBox="1"/>
          <p:nvPr/>
        </p:nvSpPr>
        <p:spPr>
          <a:xfrm>
            <a:off x="10385789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xx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3860800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0936" y="38150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VISIBILITÉ DANS LES RÉPONSES DE L'IA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4107688"/>
            <a:ext cx="3636264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85800" y="4290568"/>
            <a:ext cx="31790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PART DE VOIX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4546600"/>
            <a:ext cx="31790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i="0">
                <a:solidFill>
                  <a:srgbClr val="F26B2A"/>
                </a:solidFill>
                <a:latin typeface="Inter"/>
              </a:rPr>
              <a:t>15,8 %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5095240"/>
            <a:ext cx="31790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96B24"/>
                </a:solidFill>
                <a:latin typeface="Inter"/>
              </a:rPr>
              <a:t>▲ +0,2 pt</a:t>
            </a:r>
            <a:r>
              <a:rPr sz="900" b="0" i="0">
                <a:solidFill>
                  <a:srgbClr val="6B6B6B"/>
                </a:solidFill>
                <a:latin typeface="Inter"/>
              </a:rPr>
              <a:t>  vs 01→08/10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5369559"/>
            <a:ext cx="317906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6B6B6B"/>
                </a:solidFill>
                <a:latin typeface="Inter"/>
              </a:rPr>
              <a:t>Sur 100 mentions </a:t>
            </a:r>
            <a:r>
              <a:rPr sz="900" b="0" i="0" dirty="0" err="1">
                <a:solidFill>
                  <a:srgbClr val="6B6B6B"/>
                </a:solidFill>
                <a:latin typeface="Inter"/>
              </a:rPr>
              <a:t>d'enseignes</a:t>
            </a:r>
            <a:r>
              <a:rPr sz="900" b="0" i="0" dirty="0">
                <a:solidFill>
                  <a:srgbClr val="6B6B6B"/>
                </a:solidFill>
                <a:latin typeface="Inter"/>
              </a:rPr>
              <a:t> du </a:t>
            </a:r>
            <a:r>
              <a:rPr sz="900" b="0" i="0" dirty="0" err="1">
                <a:solidFill>
                  <a:srgbClr val="6B6B6B"/>
                </a:solidFill>
                <a:latin typeface="Inter"/>
              </a:rPr>
              <a:t>secteur</a:t>
            </a:r>
            <a:r>
              <a:rPr sz="900" b="0" i="0" dirty="0">
                <a:solidFill>
                  <a:srgbClr val="6B6B6B"/>
                </a:solidFill>
                <a:latin typeface="Inter"/>
              </a:rPr>
              <a:t>, </a:t>
            </a:r>
            <a:r>
              <a:rPr sz="900" b="0" i="0" dirty="0" err="1">
                <a:solidFill>
                  <a:srgbClr val="6B6B6B"/>
                </a:solidFill>
                <a:latin typeface="Inter"/>
              </a:rPr>
              <a:t>combien</a:t>
            </a:r>
            <a:r>
              <a:rPr sz="900" b="0" i="0" dirty="0">
                <a:solidFill>
                  <a:srgbClr val="6B6B6B"/>
                </a:solidFill>
                <a:latin typeface="Inter"/>
              </a:rPr>
              <a:t> </a:t>
            </a:r>
            <a:r>
              <a:rPr sz="900" b="0" i="0" dirty="0" err="1">
                <a:solidFill>
                  <a:srgbClr val="6B6B6B"/>
                </a:solidFill>
                <a:latin typeface="Inter"/>
              </a:rPr>
              <a:t>concernent</a:t>
            </a:r>
            <a:r>
              <a:rPr sz="900" b="0" i="0" dirty="0">
                <a:solidFill>
                  <a:srgbClr val="6B6B6B"/>
                </a:solidFill>
                <a:latin typeface="Inter"/>
              </a:rPr>
              <a:t> Boulanger ? Base </a:t>
            </a:r>
            <a:r>
              <a:rPr sz="900" b="0" i="0" dirty="0" err="1">
                <a:solidFill>
                  <a:srgbClr val="6B6B6B"/>
                </a:solidFill>
                <a:latin typeface="Inter"/>
              </a:rPr>
              <a:t>semaine</a:t>
            </a:r>
            <a:r>
              <a:rPr sz="900" b="0" i="0" dirty="0">
                <a:solidFill>
                  <a:srgbClr val="6B6B6B"/>
                </a:solidFill>
                <a:latin typeface="Inter"/>
              </a:rPr>
              <a:t> </a:t>
            </a:r>
            <a:r>
              <a:rPr sz="900" b="0" i="0" dirty="0" err="1">
                <a:solidFill>
                  <a:srgbClr val="6B6B6B"/>
                </a:solidFill>
                <a:latin typeface="Inter"/>
              </a:rPr>
              <a:t>précédente</a:t>
            </a:r>
            <a:r>
              <a:rPr sz="900" b="0" i="0" dirty="0">
                <a:solidFill>
                  <a:srgbClr val="6B6B6B"/>
                </a:solidFill>
                <a:latin typeface="Inter"/>
              </a:rPr>
              <a:t> : 15,6 %.</a:t>
            </a:r>
            <a:endParaRPr lang="en-US" sz="900" b="0" i="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276344" y="4107688"/>
            <a:ext cx="3636264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504944" y="4290568"/>
            <a:ext cx="31790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LONGUEUR DES REQUÊTES SHOPPING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04944" y="4546600"/>
            <a:ext cx="31790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i="0">
                <a:solidFill>
                  <a:srgbClr val="F26B2A"/>
                </a:solidFill>
                <a:latin typeface="Inter"/>
              </a:rPr>
              <a:t>9,1 mots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04944" y="5095240"/>
            <a:ext cx="31790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96B24"/>
                </a:solidFill>
                <a:latin typeface="Inter"/>
              </a:rPr>
              <a:t>▲ +11,0 %</a:t>
            </a:r>
            <a:r>
              <a:rPr sz="900" b="0" i="0">
                <a:solidFill>
                  <a:srgbClr val="6B6B6B"/>
                </a:solidFill>
                <a:latin typeface="Inter"/>
              </a:rPr>
              <a:t>  vs 01→08/10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04944" y="5369559"/>
            <a:ext cx="317906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Mots en moyenne dans les questions shopping posées à l'IA. Mesure réseau Lemrock, identique pour toutes les marques. Base semaine précédente : 8,2 mots.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5488" y="4107688"/>
            <a:ext cx="3636264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24088" y="4290568"/>
            <a:ext cx="31790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TAUX DE PRÉSENCE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24088" y="4546600"/>
            <a:ext cx="31790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i="0">
                <a:solidFill>
                  <a:srgbClr val="F26B2A"/>
                </a:solidFill>
                <a:latin typeface="Inter"/>
              </a:rPr>
              <a:t>18,8 %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24088" y="5095240"/>
            <a:ext cx="31790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B42318"/>
                </a:solidFill>
                <a:latin typeface="Inter"/>
              </a:rPr>
              <a:t>▼ -0,2 pt</a:t>
            </a:r>
            <a:r>
              <a:rPr sz="900" b="0" i="0">
                <a:solidFill>
                  <a:srgbClr val="6B6B6B"/>
                </a:solidFill>
                <a:latin typeface="Inter"/>
              </a:rPr>
              <a:t>  vs 01→08/10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24088" y="5369559"/>
            <a:ext cx="317906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Sur 100 réponses de l'IA pertinentes, combien mentionnent Boulanger au moins une fois ? Base semaine précédente : 19,0 %.</a:t>
            </a:r>
            <a:endParaRPr lang="en-US" sz="900" b="0" i="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57200" y="6208776"/>
            <a:ext cx="11274552" cy="576072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457200" y="6208776"/>
            <a:ext cx="64008" cy="576072"/>
          </a:xfrm>
          <a:prstGeom prst="rect">
            <a:avLst/>
          </a:prstGeom>
          <a:solidFill>
            <a:srgbClr val="AB3C00"/>
          </a:solidFill>
          <a:ln w="12700">
            <a:solidFill>
              <a:srgbClr val="AB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86384" y="6291072"/>
            <a:ext cx="1081735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1000" b="1"/>
              <a:t>À retenir. La diffusion progresse et le recul des clics ralentit ; le CPC se stabilise.</a:t>
            </a:r>
            <a:endParaRPr lang="fr-FR" sz="1000"/>
          </a:p>
          <a:p>
            <a:r>
              <a:rPr lang="fr-FR" sz="1000" b="1"/>
              <a:t>Diffusion et engagement :</a:t>
            </a:r>
            <a:r>
              <a:rPr lang="fr-FR" sz="1000"/>
              <a:t> les mentions progressent de 11,2 %, tandis que le trafic qualifié recule de 2,6 % (journée du 15/10 incomplète). Le CTR baisse ainsi de 0,06 point, à 0,43 %.</a:t>
            </a:r>
            <a:endParaRPr lang="fr-FR" sz="1000">
              <a:ea typeface="Calibri"/>
              <a:cs typeface="Calibri"/>
            </a:endParaRPr>
          </a:p>
          <a:p>
            <a:r>
              <a:rPr lang="fr-FR" sz="1000" b="1"/>
              <a:t>Coût et budget :</a:t>
            </a:r>
            <a:r>
              <a:rPr lang="fr-FR" sz="1000"/>
              <a:t> le CPC moyen passe à 0,36 € (-1,4 %) ; 43 % du plafond d'octobre consommé. Ventes : à compléter.</a:t>
            </a:r>
            <a:endParaRPr lang="fr-FR" sz="1000">
              <a:ea typeface="Calibri"/>
              <a:cs typeface="Calibri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VISIBILITÉ DANS LES RÉPONSES DE L'IA · PÉRIODE ANALYSÉE 08/10/2026 → 15/10/2026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Inter"/>
              </a:rPr>
              <a:t>vs 01/10/2026 → 08/10/2026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74552" cy="457200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>
                <a:solidFill>
                  <a:srgbClr val="F26B2A"/>
                </a:solidFill>
                <a:latin typeface="Inter"/>
              </a:rPr>
              <a:t>Périmètre analysé   </a:t>
            </a:r>
            <a:r>
              <a:rPr sz="950" b="0" i="0">
                <a:solidFill>
                  <a:srgbClr val="0A0A0A"/>
                </a:solidFill>
                <a:latin typeface="Inter"/>
              </a:rPr>
              <a:t>Électroménager, image &amp; son, informatique, téléphonie, confort thermique. Enseignes généralistes et spécialisées du secteur. 10 enseignes suivies.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649224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Part de voix dans les réponses de l'IA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41448"/>
            <a:ext cx="59436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Boulanger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reste</a:t>
            </a:r>
            <a:r>
              <a:rPr sz="850" b="0" i="0">
                <a:solidFill>
                  <a:srgbClr val="6B6B6B"/>
                </a:solidFill>
                <a:latin typeface="Inter"/>
              </a:rPr>
              <a:t> 3e sur 10, avec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une</a:t>
            </a:r>
            <a:r>
              <a:rPr sz="850" b="0" i="0">
                <a:solidFill>
                  <a:srgbClr val="6B6B6B"/>
                </a:solidFill>
                <a:latin typeface="Inter"/>
              </a:rPr>
              <a:t> part de voix de 15,8 %, soit </a:t>
            </a:r>
            <a:r>
              <a:rPr sz="850" b="1" i="0">
                <a:solidFill>
                  <a:srgbClr val="196B24"/>
                </a:solidFill>
                <a:latin typeface="Inter"/>
              </a:rPr>
              <a:t>+0,2 point</a:t>
            </a:r>
            <a:r>
              <a:rPr sz="850" b="0" i="0">
                <a:solidFill>
                  <a:srgbClr val="6B6B6B"/>
                </a:solidFill>
                <a:latin typeface="Inter"/>
              </a:rPr>
              <a:t> vs S-1 (15,6 %)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1635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81635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E.Leclerc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88036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37560" y="288036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281635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19,6 %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3639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13639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Amazon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20040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337560" y="3200400"/>
            <a:ext cx="2512967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9320" y="313639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18,9 %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45643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26B2A"/>
                </a:solidFill>
                <a:latin typeface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45643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52044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337560" y="3520440"/>
            <a:ext cx="2100787" cy="64008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89320" y="345643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6B2A"/>
                </a:solidFill>
                <a:latin typeface="Inter"/>
              </a:rPr>
              <a:t>15,8 %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77647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377647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Carrefour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384048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337560" y="3840480"/>
            <a:ext cx="1808272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9320" y="377647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13,6 %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09651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409651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Auchan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416052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337560" y="4160520"/>
            <a:ext cx="1263131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89320" y="409651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9,5 %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41655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41655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Cdiscount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7560" y="448056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337560" y="4480560"/>
            <a:ext cx="1090282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89320" y="441655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8,2 %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73659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473659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Electro Dépôt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37560" y="480060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337560" y="4800600"/>
            <a:ext cx="704694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89320" y="473659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5,3 %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056631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5056631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Darty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37560" y="512064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337560" y="5120640"/>
            <a:ext cx="505252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89320" y="5056631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3,8 %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37667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" y="537667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Back Market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37560" y="544068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3337560" y="5440680"/>
            <a:ext cx="372291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89320" y="537667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2,8 %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69671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8992" y="569671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Fnac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37560" y="576072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3337560" y="5760720"/>
            <a:ext cx="332403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989320" y="569671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2,5 %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1965960"/>
            <a:ext cx="4599432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06640" y="21488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Évolution de la part de voix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0" y="2441448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Évolution de la part de voix · % des citations · relevés depuis le 11 septembre</a:t>
            </a:r>
          </a:p>
        </p:txBody>
      </p:sp>
      <p:graphicFrame>
        <p:nvGraphicFramePr>
          <p:cNvPr id="66" name="Chart 65"/>
          <p:cNvGraphicFramePr>
            <a:graphicFrameLocks noGrp="1"/>
          </p:cNvGraphicFramePr>
          <p:nvPr/>
        </p:nvGraphicFramePr>
        <p:xfrm>
          <a:off x="7315200" y="2788920"/>
          <a:ext cx="42976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DYNAMIQUE CONVERSATIONNELLE · PÉRIODE ANALYSÉE 08/10/2026 → 15/10/2026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Inter"/>
              </a:rPr>
              <a:t>vs 01/10/2026 → 08/10/2026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513832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563624"/>
            <a:ext cx="49651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 i="0" spc="150">
                <a:solidFill>
                  <a:srgbClr val="6B6B6B"/>
                </a:solidFill>
                <a:latin typeface="Inter"/>
              </a:rPr>
              <a:t>WIN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9384"/>
            <a:ext cx="49651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26B2A"/>
                </a:solidFill>
                <a:latin typeface="Inter"/>
              </a:rPr>
              <a:t>23,1 %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69464"/>
            <a:ext cx="496519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96B24"/>
                </a:solidFill>
                <a:latin typeface="Inter"/>
              </a:rPr>
              <a:t>▲ +0,2 pt</a:t>
            </a:r>
            <a:r>
              <a:rPr sz="900" b="0" i="0">
                <a:solidFill>
                  <a:srgbClr val="6B6B6B"/>
                </a:solidFill>
                <a:latin typeface="Inter"/>
              </a:rPr>
              <a:t>  vs 01→08/10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96519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Quand l'IA compare Boulanger à une autre enseigne, dans combien de cas l'utilisateur clique sur l'annonce Boulanger ? Base semaine précédente : 22,9 %.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39"/>
            <a:ext cx="5513832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49651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 i="0" spc="150">
                <a:solidFill>
                  <a:srgbClr val="6B6B6B"/>
                </a:solidFill>
                <a:latin typeface="Inter"/>
              </a:rPr>
              <a:t>QUAND BOULANGER APPARAÎT-IL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07407"/>
            <a:ext cx="496519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Dans les conversations où Boulanger est cité, l'IA le mentionne pour la première fois dès sa première réponse dans 56 % des cas, au deuxième échange dans 28 % des cas, et plus tard dans 16 % des cas.</a:t>
            </a:r>
            <a:endParaRPr lang="en-US" sz="850" b="0" i="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1520" y="5166359"/>
            <a:ext cx="2700665" cy="45720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166359"/>
            <a:ext cx="270066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56 %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27487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Dès la 1re réponse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9617" y="5166359"/>
            <a:ext cx="1423987" cy="457200"/>
          </a:xfrm>
          <a:prstGeom prst="rect">
            <a:avLst/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59617" y="5166359"/>
            <a:ext cx="14239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Inter"/>
              </a:rPr>
              <a:t>28 %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9617" y="5715000"/>
            <a:ext cx="161940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2e échange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11036" y="5166359"/>
            <a:ext cx="785675" cy="457200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11036" y="5166359"/>
            <a:ext cx="7856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Inter"/>
              </a:rPr>
              <a:t>16 %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4444" y="5715000"/>
            <a:ext cx="152969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Inter"/>
              </a:rPr>
              <a:t>3e échange et 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325880"/>
            <a:ext cx="5605272" cy="5138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1444752"/>
            <a:ext cx="505663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Quand l'IA recommande Boulanger, face à quelle enseigne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883664"/>
            <a:ext cx="5056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Répartition des recommandations de Boulanger selon l'enseigne concurrente présente dans la conversation.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21305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98A2B3"/>
                </a:solidFill>
                <a:latin typeface="Inter"/>
              </a:rPr>
              <a:t>12,5 %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49631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E.Leclerc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254203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772400" y="254203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89920" y="249631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6B2A"/>
                </a:solidFill>
                <a:latin typeface="Inter"/>
              </a:rPr>
              <a:t>20 %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935224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Amazon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2980944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772400" y="2980944"/>
            <a:ext cx="2779776" cy="128016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789920" y="293522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6B2A"/>
                </a:solidFill>
                <a:latin typeface="Inter"/>
              </a:rPr>
              <a:t>19 %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37413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Carrefour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3419856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772400" y="3419856"/>
            <a:ext cx="2048256" cy="128016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789920" y="337413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6B2A"/>
                </a:solidFill>
                <a:latin typeface="Inter"/>
              </a:rPr>
              <a:t>14 %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813048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Auchan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3858768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772400" y="3858768"/>
            <a:ext cx="1755648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789920" y="381304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12 %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251960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Cdiscount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4297680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772400" y="4297680"/>
            <a:ext cx="1609344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789920" y="4251960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11 %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69087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Darty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473659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7772400" y="4736592"/>
            <a:ext cx="1316736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789920" y="46908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9 %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129783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Fnac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400" y="5175503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772400" y="5175503"/>
            <a:ext cx="1170432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789920" y="5129783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8 %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56869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Back Market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72400" y="5614416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7772400" y="5614416"/>
            <a:ext cx="1024128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789920" y="556869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7 %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0" y="2331720"/>
            <a:ext cx="0" cy="3456432"/>
          </a:xfrm>
          <a:prstGeom prst="rect">
            <a:avLst/>
          </a:prstGeom>
          <a:noFill/>
          <a:ln w="12700">
            <a:solidFill>
              <a:srgbClr val="98A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400800" y="5870448"/>
            <a:ext cx="5056632" cy="457200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37960" y="6029798"/>
            <a:ext cx="478231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1" i="0" dirty="0" err="1">
                <a:solidFill>
                  <a:srgbClr val="0A0A0A"/>
                </a:solidFill>
                <a:latin typeface="Inter"/>
              </a:rPr>
              <a:t>E.Leclerc et Amazon, leaders en part de voix, pèsent 39 % des comparaisons ; la Fnac progresse.</a:t>
            </a:r>
            <a:r>
              <a:rPr sz="900" b="1" i="0" dirty="0">
                <a:solidFill>
                  <a:srgbClr val="0A0A0A"/>
                </a:solidFill>
                <a:latin typeface="Inter"/>
              </a:rPr>
              <a:t/>
            </a:r>
            <a:r>
              <a:rPr sz="900" b="1" i="0" dirty="0" err="1">
                <a:solidFill>
                  <a:srgbClr val="0A0A0A"/>
                </a:solidFill>
                <a:latin typeface="Inter"/>
              </a:rPr>
              <a:t/>
            </a:r>
            <a:r>
              <a:rPr sz="900" b="1" i="0" dirty="0">
                <a:solidFill>
                  <a:srgbClr val="0A0A0A"/>
                </a:solidFill>
                <a:latin typeface="Inter"/>
              </a:rPr>
              <a:t/>
            </a:r>
            <a:r>
              <a:rPr sz="900" b="1" i="0" dirty="0" err="1">
                <a:solidFill>
                  <a:srgbClr val="0A0A0A"/>
                </a:solidFill>
                <a:latin typeface="Inter"/>
              </a:rPr>
              <a:t/>
            </a:r>
            <a:r>
              <a:rPr sz="900" b="1" i="0" dirty="0">
                <a:solidFill>
                  <a:srgbClr val="0A0A0A"/>
                </a:solidFill>
                <a:latin typeface="Inter"/>
              </a:rPr>
              <a:t/>
            </a:r>
            <a:r>
              <a:rPr sz="900" b="1" i="0" dirty="0" err="1">
                <a:solidFill>
                  <a:srgbClr val="0A0A0A"/>
                </a:solidFill>
                <a:latin typeface="Inter"/>
              </a:rPr>
              <a:t/>
            </a:r>
            <a:r>
              <a:rPr sz="900" b="1" i="0" dirty="0">
                <a:solidFill>
                  <a:srgbClr val="0A0A0A"/>
                </a:solidFill>
                <a:latin typeface="Inter"/>
              </a:rPr>
              <a:t/>
            </a:r>
            <a:endParaRPr lang="en-US" sz="900" b="1" i="0" dirty="0">
              <a:solidFill>
                <a:srgbClr val="0A0A0A"/>
              </a:solidFill>
              <a:latin typeface="Inter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CE QUE VOTRE AUDIENCE DEMANDE AUX IA · PÉRIODE ANALYSÉE 08/10/2026 → 15/10/2026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PÉRIODE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Inter"/>
              </a:rPr>
              <a:t>08/10/2026 → 15/10/2026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Top 10 des intentions d'achat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72768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Part des conversations du périmètre · ce que l'audience écrit, les produits qu'elle nomme, la présence de Boulanger, les enseignes qui sortent dans la réponse.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INTENTION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901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0195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CE QUE L'AUDIENCE ÉCRIT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0195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PRODUITS CITÉS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01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PRÉSENCE BOULANGER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9019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ENSEIGNES CITÉES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276856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25856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Choisir un smartphone au meilleur rapport qualité-prix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25856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6,4 %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258568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smartphone 6,3 pouces choisir en 2026 ? 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25856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Samsung Galaxy S26, iPhone 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5856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22,1 %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2267712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2600" y="2267712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60228" y="2267712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60228" y="2267712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E.Leclerc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4472" y="228600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98A2B3"/>
                </a:solidFill>
                <a:latin typeface="Inter"/>
              </a:rPr>
              <a:t>+1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526792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609087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59079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Trouver un casque ou des écouteurs adaptés à son usage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2590799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5,6 %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2590799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type d'écouteurs true wireless choisir pour le sport ? 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590799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Sony WF-1000XM6, AirPods Pro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590799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19,4 %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72600" y="2599944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72600" y="2599944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46843" y="2599944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46843" y="2599944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859024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2941319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2923031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Choisir une enceinte portable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2923031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5,2 %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923031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Quelle enceinte portable offre le meilleur rendu des basses sans distorsion ? 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2923031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JBL Charge 6, Sony ULT Field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923031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18,9 %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72600" y="2932176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72600" y="2932176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60228" y="2932176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60228" y="2932176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191256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3273552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3255264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Choisir un ordinateur portable pour jouer ou étudier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88920" y="325526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4,8 %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3255264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Je cherche un ordinateur portable en dessous de 1 000 € assez confortable pour jouer 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255264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Asus TUF Gaming, Lenovo LOQ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325526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20,3 %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72600" y="3264408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72600" y="3264408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60228" y="3264408"/>
            <a:ext cx="557784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060228" y="326440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523488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200" y="3605784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3587496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Équiper son salon d'un téléviseur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88920" y="358749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4,5 %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29000" y="358749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Je cherche un TV 55 pouces anti-reflet avec une bonne qualité d'image 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80" y="3587496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TCL 65C89K, téléviseurs Samsung et LG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0" y="358749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18,2 %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372600" y="3596640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372600" y="3596640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060228" y="3596640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060228" y="3596640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34472" y="36149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98A2B3"/>
                </a:solidFill>
                <a:latin typeface="Inter"/>
              </a:rPr>
              <a:t>+1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385572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7200" y="4602480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4584192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Trouver un lave-linge silencieux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88920" y="458419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3,4 %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29000" y="4584192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lave-linge est le plus silencieux pour un appartement ? »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55080" y="4584192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Lave-linge Bosch et Samsung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45841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19,1 %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372600" y="4593336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372600" y="4593336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Darty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060228" y="4593336"/>
            <a:ext cx="784555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060228" y="4593336"/>
            <a:ext cx="78455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4187952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57200" y="42702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425196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Choisir une tablette polyvalente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88920" y="425196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4,0 %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29000" y="4251960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Quelle est la meilleure tablette pour regarder des films en voyage ? »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55080" y="4251960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Galaxy Tab S12 Ultra, Galaxy Tab A11+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0" y="425196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17,6 %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372600" y="4261104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372600" y="4261104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060228" y="4261104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060228" y="4261104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4520184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57200" y="4934712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1520" y="4916424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Acheter un chargeur ou une batterie externe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88920" y="491642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3,3 %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29000" y="4916424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Je cherche un chargeur 100 W pour smartphone »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55080" y="4916424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Anker, Belkin 10 000 mAh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491642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14,2 %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372600" y="4925568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372600" y="4925568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946843" y="4925568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946843" y="4925568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Cdiscount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4852416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57200" y="5266944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1520" y="5248656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Choisir un écran d'ordinateur pour jouer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88920" y="52486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3,1 %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9000" y="524865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est le meilleur choix pour jouer : 144 Hz ou 240 Hz ? »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55080" y="5248656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Écrans Samsung Odyssey et LG UltraGear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80" y="524865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16,9 %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372600" y="5257800"/>
            <a:ext cx="557784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372600" y="5257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003536" y="5257800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003536" y="5257800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Cdiscount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7200" y="5184648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57200" y="3938016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31520" y="391972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Choisir un aspirateur pour un foyer avec animaux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788920" y="391972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4,4 %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429000" y="3919728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est le meilleur aspirateur-balai pour un appartement avec animaux ? »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355080" y="391972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Dreame X40 Ultra Complete, Dyson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12480" y="391972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19,8 %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372600" y="3928872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9372600" y="3928872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0060228" y="3928872"/>
            <a:ext cx="557784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0060228" y="39288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Darty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" y="565099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1">
                <a:solidFill>
                  <a:srgbClr val="98A2B3"/>
                </a:solidFill>
                <a:latin typeface="Inter"/>
              </a:rPr>
              <a:t>Autres intentions : 55,3 %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57200" y="6035040"/>
            <a:ext cx="11274552" cy="749808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40080" y="6132945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900" b="1"/>
              <a:t>À retenir. </a:t>
            </a:r>
            <a:r>
              <a:rPr lang="fr-FR" sz="900"/>
              <a:t>Le haut du classement est stable ; l'informatique gaming et étudiante monte, la friteuse sans huile sort du top 10.</a:t>
            </a:r>
          </a:p>
          <a:p>
            <a:r>
              <a:rPr lang="fr-FR" sz="900"/>
              <a:t>Smartphones : toujours la première intention (6,4 % des conversations), et la meilleure présence de Boulanger, à 22,1 %, au-dessus de sa moyenne de 18,8 %.</a:t>
            </a:r>
          </a:p>
          <a:p>
            <a:r>
              <a:rPr lang="fr-FR" sz="900"/>
              <a:t>Son : casques, écouteurs et enceintes pèsent ensemble 10,8 % des conversations, avec une présence de Boulanger proche de la moyenne (19,4 % et 18,9 %).</a:t>
            </a:r>
          </a:p>
          <a:p>
            <a:r>
              <a:rPr lang="fr-FR" sz="900"/>
              <a:t>Ordinateurs portables : nouvelle 4e intention (4,8 %), avec une présence de 20,3 %. Chargeurs et batteries externes : la plus faible présence du top 10 (14,2 %).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RÉPARTITION DES MÉDIAS · PÉRIODE ANALYSÉE 08/10/2026 → 15/10/2026</a:t>
            </a:r>
          </a:p>
        </p:txBody>
      </p:sp>
      <p:sp>
        <p:nvSpPr>
          <p:cNvPr id="102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107" name="Rectangle 7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TextBox 8"/>
          <p:cNvSpPr txBox="1"/>
          <p:nvPr/>
        </p:nvSpPr>
        <p:spPr>
          <a:xfrm>
            <a:off x="457200" y="129844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Répartition de la diffusion par média</a:t>
            </a:r>
          </a:p>
        </p:txBody>
      </p:sp>
      <p:sp>
        <p:nvSpPr>
          <p:cNvPr id="109" name="TextBox 9"/>
          <p:cNvSpPr txBox="1"/>
          <p:nvPr/>
        </p:nvSpPr>
        <p:spPr>
          <a:xfrm>
            <a:off x="457200" y="1572768"/>
            <a:ext cx="109728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Part des impressions de la campagne par site éditeur</a:t>
            </a:r>
            <a:endParaRPr lang="en-US" sz="850" b="0" i="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110" name="TextBox 131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  <p:sp>
        <p:nvSpPr>
          <p:cNvPr id="111" name="TextBox 11"/>
          <p:cNvSpPr txBox="1"/>
          <p:nvPr/>
        </p:nvSpPr>
        <p:spPr>
          <a:xfrm>
            <a:off x="731520" y="19019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MÉDIA</a:t>
            </a:r>
          </a:p>
        </p:txBody>
      </p:sp>
      <p:sp>
        <p:nvSpPr>
          <p:cNvPr id="112" name="TextBox 11"/>
          <p:cNvSpPr txBox="1"/>
          <p:nvPr/>
        </p:nvSpPr>
        <p:spPr>
          <a:xfrm>
            <a:off x="3337560" y="1901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PART DES IMPRESSIONS</a:t>
            </a:r>
          </a:p>
        </p:txBody>
      </p:sp>
      <p:sp>
        <p:nvSpPr>
          <p:cNvPr id="113" name="TextBox 11"/>
          <p:cNvSpPr txBox="1"/>
          <p:nvPr/>
        </p:nvSpPr>
        <p:spPr>
          <a:xfrm>
            <a:off x="8412480" y="1901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PART</a:t>
            </a:r>
          </a:p>
        </p:txBody>
      </p:sp>
      <p:sp>
        <p:nvSpPr>
          <p:cNvPr id="115" name="Rectangle 16"/>
          <p:cNvSpPr/>
          <p:nvPr/>
        </p:nvSpPr>
        <p:spPr>
          <a:xfrm>
            <a:off x="457200" y="219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TextBox 17"/>
          <p:cNvSpPr txBox="1"/>
          <p:nvPr/>
        </p:nvSpPr>
        <p:spPr>
          <a:xfrm>
            <a:off x="457200" y="233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1</a:t>
            </a:r>
          </a:p>
        </p:txBody>
      </p:sp>
      <p:sp>
        <p:nvSpPr>
          <p:cNvPr id="117" name="TextBox 18"/>
          <p:cNvSpPr txBox="1"/>
          <p:nvPr/>
        </p:nvSpPr>
        <p:spPr>
          <a:xfrm>
            <a:off x="731520" y="231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Modes &amp; Travaux</a:t>
            </a:r>
          </a:p>
        </p:txBody>
      </p:sp>
      <p:sp>
        <p:nvSpPr>
          <p:cNvPr id="118" name="Rounded Rectangle 24"/>
          <p:cNvSpPr/>
          <p:nvPr/>
        </p:nvSpPr>
        <p:spPr>
          <a:xfrm>
            <a:off x="3337560" y="238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Rounded Rectangle 25"/>
          <p:cNvSpPr/>
          <p:nvPr/>
        </p:nvSpPr>
        <p:spPr>
          <a:xfrm>
            <a:off x="3337560" y="238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TextBox 19"/>
          <p:cNvSpPr txBox="1"/>
          <p:nvPr/>
        </p:nvSpPr>
        <p:spPr>
          <a:xfrm>
            <a:off x="8412480" y="231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30,8 %</a:t>
            </a:r>
          </a:p>
        </p:txBody>
      </p:sp>
      <p:sp>
        <p:nvSpPr>
          <p:cNvPr id="123" name="Rectangle 16"/>
          <p:cNvSpPr/>
          <p:nvPr/>
        </p:nvSpPr>
        <p:spPr>
          <a:xfrm>
            <a:off x="457200" y="267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TextBox 17"/>
          <p:cNvSpPr txBox="1"/>
          <p:nvPr/>
        </p:nvSpPr>
        <p:spPr>
          <a:xfrm>
            <a:off x="457200" y="281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2</a:t>
            </a:r>
          </a:p>
        </p:txBody>
      </p:sp>
      <p:sp>
        <p:nvSpPr>
          <p:cNvPr id="125" name="TextBox 18"/>
          <p:cNvSpPr txBox="1"/>
          <p:nvPr/>
        </p:nvSpPr>
        <p:spPr>
          <a:xfrm>
            <a:off x="731520" y="279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Marmiton</a:t>
            </a:r>
          </a:p>
        </p:txBody>
      </p:sp>
      <p:sp>
        <p:nvSpPr>
          <p:cNvPr id="126" name="Rounded Rectangle 24"/>
          <p:cNvSpPr/>
          <p:nvPr/>
        </p:nvSpPr>
        <p:spPr>
          <a:xfrm>
            <a:off x="3337560" y="286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Rounded Rectangle 25"/>
          <p:cNvSpPr/>
          <p:nvPr/>
        </p:nvSpPr>
        <p:spPr>
          <a:xfrm>
            <a:off x="3337560" y="2864560"/>
            <a:ext cx="4096987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TextBox 19"/>
          <p:cNvSpPr txBox="1"/>
          <p:nvPr/>
        </p:nvSpPr>
        <p:spPr>
          <a:xfrm>
            <a:off x="8412480" y="279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27,6 %</a:t>
            </a:r>
          </a:p>
        </p:txBody>
      </p:sp>
      <p:sp>
        <p:nvSpPr>
          <p:cNvPr id="131" name="Rectangle 16"/>
          <p:cNvSpPr/>
          <p:nvPr/>
        </p:nvSpPr>
        <p:spPr>
          <a:xfrm>
            <a:off x="457200" y="315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2" name="TextBox 17"/>
          <p:cNvSpPr txBox="1"/>
          <p:nvPr/>
        </p:nvSpPr>
        <p:spPr>
          <a:xfrm>
            <a:off x="457200" y="329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3</a:t>
            </a:r>
          </a:p>
        </p:txBody>
      </p:sp>
      <p:sp>
        <p:nvSpPr>
          <p:cNvPr id="133" name="TextBox 18"/>
          <p:cNvSpPr txBox="1"/>
          <p:nvPr/>
        </p:nvSpPr>
        <p:spPr>
          <a:xfrm>
            <a:off x="731520" y="327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Qwant</a:t>
            </a:r>
          </a:p>
        </p:txBody>
      </p:sp>
      <p:sp>
        <p:nvSpPr>
          <p:cNvPr id="134" name="Rounded Rectangle 24"/>
          <p:cNvSpPr/>
          <p:nvPr/>
        </p:nvSpPr>
        <p:spPr>
          <a:xfrm>
            <a:off x="3337560" y="334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5" name="Rounded Rectangle 25"/>
          <p:cNvSpPr/>
          <p:nvPr/>
        </p:nvSpPr>
        <p:spPr>
          <a:xfrm>
            <a:off x="3337560" y="3344560"/>
            <a:ext cx="2508662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6" name="TextBox 19"/>
          <p:cNvSpPr txBox="1"/>
          <p:nvPr/>
        </p:nvSpPr>
        <p:spPr>
          <a:xfrm>
            <a:off x="8412480" y="327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16,9 %</a:t>
            </a:r>
          </a:p>
        </p:txBody>
      </p:sp>
      <p:sp>
        <p:nvSpPr>
          <p:cNvPr id="139" name="Rectangle 16"/>
          <p:cNvSpPr/>
          <p:nvPr/>
        </p:nvSpPr>
        <p:spPr>
          <a:xfrm>
            <a:off x="457200" y="363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TextBox 17"/>
          <p:cNvSpPr txBox="1"/>
          <p:nvPr/>
        </p:nvSpPr>
        <p:spPr>
          <a:xfrm>
            <a:off x="457200" y="377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4</a:t>
            </a:r>
          </a:p>
        </p:txBody>
      </p:sp>
      <p:sp>
        <p:nvSpPr>
          <p:cNvPr id="141" name="TextBox 18"/>
          <p:cNvSpPr txBox="1"/>
          <p:nvPr/>
        </p:nvSpPr>
        <p:spPr>
          <a:xfrm>
            <a:off x="731520" y="375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20 Minutes</a:t>
            </a:r>
          </a:p>
        </p:txBody>
      </p:sp>
      <p:sp>
        <p:nvSpPr>
          <p:cNvPr id="142" name="Rounded Rectangle 24"/>
          <p:cNvSpPr/>
          <p:nvPr/>
        </p:nvSpPr>
        <p:spPr>
          <a:xfrm>
            <a:off x="3337560" y="382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3" name="Rounded Rectangle 25"/>
          <p:cNvSpPr/>
          <p:nvPr/>
        </p:nvSpPr>
        <p:spPr>
          <a:xfrm>
            <a:off x="3337560" y="3824560"/>
            <a:ext cx="920337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4" name="TextBox 19"/>
          <p:cNvSpPr txBox="1"/>
          <p:nvPr/>
        </p:nvSpPr>
        <p:spPr>
          <a:xfrm>
            <a:off x="8412480" y="375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6,2 %</a:t>
            </a:r>
          </a:p>
        </p:txBody>
      </p:sp>
      <p:sp>
        <p:nvSpPr>
          <p:cNvPr id="147" name="Rectangle 16"/>
          <p:cNvSpPr/>
          <p:nvPr/>
        </p:nvSpPr>
        <p:spPr>
          <a:xfrm>
            <a:off x="457200" y="411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8" name="TextBox 17"/>
          <p:cNvSpPr txBox="1"/>
          <p:nvPr/>
        </p:nvSpPr>
        <p:spPr>
          <a:xfrm>
            <a:off x="457200" y="425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5</a:t>
            </a:r>
          </a:p>
        </p:txBody>
      </p:sp>
      <p:sp>
        <p:nvSpPr>
          <p:cNvPr id="149" name="TextBox 18"/>
          <p:cNvSpPr txBox="1"/>
          <p:nvPr/>
        </p:nvSpPr>
        <p:spPr>
          <a:xfrm>
            <a:off x="731520" y="423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Biba</a:t>
            </a:r>
          </a:p>
        </p:txBody>
      </p:sp>
      <p:sp>
        <p:nvSpPr>
          <p:cNvPr id="150" name="Rounded Rectangle 24"/>
          <p:cNvSpPr/>
          <p:nvPr/>
        </p:nvSpPr>
        <p:spPr>
          <a:xfrm>
            <a:off x="3337560" y="430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1" name="Rounded Rectangle 25"/>
          <p:cNvSpPr/>
          <p:nvPr/>
        </p:nvSpPr>
        <p:spPr>
          <a:xfrm>
            <a:off x="3337560" y="4304560"/>
            <a:ext cx="890649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2" name="TextBox 19"/>
          <p:cNvSpPr txBox="1"/>
          <p:nvPr/>
        </p:nvSpPr>
        <p:spPr>
          <a:xfrm>
            <a:off x="8412480" y="423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6,0 %</a:t>
            </a:r>
          </a:p>
        </p:txBody>
      </p:sp>
      <p:sp>
        <p:nvSpPr>
          <p:cNvPr id="155" name="Rectangle 16"/>
          <p:cNvSpPr/>
          <p:nvPr/>
        </p:nvSpPr>
        <p:spPr>
          <a:xfrm>
            <a:off x="457200" y="459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6" name="TextBox 17"/>
          <p:cNvSpPr txBox="1"/>
          <p:nvPr/>
        </p:nvSpPr>
        <p:spPr>
          <a:xfrm>
            <a:off x="457200" y="473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6</a:t>
            </a:r>
          </a:p>
        </p:txBody>
      </p:sp>
      <p:sp>
        <p:nvSpPr>
          <p:cNvPr id="157" name="TextBox 18"/>
          <p:cNvSpPr txBox="1"/>
          <p:nvPr/>
        </p:nvSpPr>
        <p:spPr>
          <a:xfrm>
            <a:off x="731520" y="471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Autres</a:t>
            </a:r>
          </a:p>
        </p:txBody>
      </p:sp>
      <p:sp>
        <p:nvSpPr>
          <p:cNvPr id="158" name="Rounded Rectangle 24"/>
          <p:cNvSpPr/>
          <p:nvPr/>
        </p:nvSpPr>
        <p:spPr>
          <a:xfrm>
            <a:off x="3337560" y="478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9" name="Rounded Rectangle 25"/>
          <p:cNvSpPr/>
          <p:nvPr/>
        </p:nvSpPr>
        <p:spPr>
          <a:xfrm>
            <a:off x="3337560" y="4784560"/>
            <a:ext cx="1855519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0" name="TextBox 19"/>
          <p:cNvSpPr txBox="1"/>
          <p:nvPr/>
        </p:nvSpPr>
        <p:spPr>
          <a:xfrm>
            <a:off x="8412480" y="471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12,5 %</a:t>
            </a:r>
          </a:p>
        </p:txBody>
      </p:sp>
      <p:sp>
        <p:nvSpPr>
          <p:cNvPr id="163" name="Rectangle 16"/>
          <p:cNvSpPr/>
          <p:nvPr/>
        </p:nvSpPr>
        <p:spPr>
          <a:xfrm>
            <a:off x="457200" y="507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6" name="TextBox 131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 txBox="1"/>
          <p:nvPr/>
        </p:nvSpPr>
        <p:spPr>
          <a:xfrm>
            <a:off x="457200" y="38404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>
                <a:solidFill>
                  <a:srgbClr val="0A0A0A"/>
                </a:solidFill>
                <a:latin typeface="Inter"/>
              </a:rPr>
              <a:t>Nos recommandations pour les prochaines semaines</a:t>
            </a:r>
          </a:p>
        </p:txBody>
      </p:sp>
      <p:sp>
        <p:nvSpPr>
          <p:cNvPr id="102" name="Rounded Rectangle 2"/>
          <p:cNvSpPr/>
          <p:nvPr/>
        </p:nvSpPr>
        <p:spPr>
          <a:xfrm>
            <a:off x="9902952" y="384048"/>
            <a:ext cx="1828800" cy="384048"/>
          </a:xfrm>
          <a:prstGeom prst="roundRect">
            <a:avLst>
              <a:gd name="adj" fmla="val 10000"/>
            </a:avLst>
          </a:prstGeom>
          <a:solidFill>
            <a:srgbClr val="15110B"/>
          </a:solidFill>
          <a:ln w="12700">
            <a:solidFill>
              <a:srgbClr val="1511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TextBox 3"/>
          <p:cNvSpPr txBox="1"/>
          <p:nvPr/>
        </p:nvSpPr>
        <p:spPr>
          <a:xfrm>
            <a:off x="9902952" y="38404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150">
                <a:solidFill>
                  <a:srgbClr val="FFFFFF"/>
                </a:solidFill>
                <a:latin typeface="Inter"/>
              </a:rPr>
              <a:t>PISTE DE RECO</a:t>
            </a:r>
          </a:p>
        </p:txBody>
      </p:sp>
      <p:sp>
        <p:nvSpPr>
          <p:cNvPr id="104" name="TextBox 4"/>
          <p:cNvSpPr txBox="1"/>
          <p:nvPr/>
        </p:nvSpPr>
        <p:spPr>
          <a:xfrm>
            <a:off x="457200" y="1316736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6B6B6B"/>
                </a:solidFill>
                <a:latin typeface="Inter"/>
              </a:rPr>
              <a:t>Quatre sujets à faire avancer ensemble, du suivi de la campagne aux prochaines opportunités.</a:t>
            </a:r>
          </a:p>
        </p:txBody>
      </p:sp>
      <p:sp>
        <p:nvSpPr>
          <p:cNvPr id="105" name="Rectangle 5"/>
          <p:cNvSpPr/>
          <p:nvPr/>
        </p:nvSpPr>
        <p:spPr>
          <a:xfrm>
            <a:off x="457200" y="1810000"/>
            <a:ext cx="5477256" cy="1700000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Rounded Rectangle 14"/>
          <p:cNvSpPr/>
          <p:nvPr/>
        </p:nvSpPr>
        <p:spPr>
          <a:xfrm>
            <a:off x="457200" y="1810000"/>
            <a:ext cx="5477256" cy="365760"/>
          </a:xfrm>
          <a:prstGeom prst="roundRect">
            <a:avLst>
              <a:gd name="adj" fmla="val 14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TextBox 15"/>
          <p:cNvSpPr txBox="1"/>
          <p:nvPr/>
        </p:nvSpPr>
        <p:spPr>
          <a:xfrm>
            <a:off x="713232" y="1810000"/>
            <a:ext cx="50200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spc="120">
                <a:solidFill>
                  <a:srgbClr val="AB3C00"/>
                </a:solidFill>
                <a:latin typeface="Inter"/>
              </a:rPr>
              <a:t>1 · Accès à la console de suivi</a:t>
            </a:r>
          </a:p>
        </p:txBody>
      </p:sp>
      <p:sp>
        <p:nvSpPr>
          <p:cNvPr id="108" name="TextBox 16"/>
          <p:cNvSpPr txBox="1"/>
          <p:nvPr/>
        </p:nvSpPr>
        <p:spPr>
          <a:xfrm>
            <a:off x="621792" y="231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09" name="TextBox 17"/>
          <p:cNvSpPr txBox="1"/>
          <p:nvPr/>
        </p:nvSpPr>
        <p:spPr>
          <a:xfrm>
            <a:off x="822960" y="231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Vous avez désormais accès à la console Lemrock pour suivre les performances de la campagne en direct.</a:t>
            </a:r>
          </a:p>
        </p:txBody>
      </p:sp>
      <p:sp>
        <p:nvSpPr>
          <p:cNvPr id="110" name="TextBox 16"/>
          <p:cNvSpPr txBox="1"/>
          <p:nvPr/>
        </p:nvSpPr>
        <p:spPr>
          <a:xfrm>
            <a:off x="621792" y="287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822960" y="287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À faire : vérifier avec vous que l'accès fonctionne pour chaque utilisateur Boulanger.</a:t>
            </a:r>
          </a:p>
        </p:txBody>
      </p:sp>
      <p:sp>
        <p:nvSpPr>
          <p:cNvPr id="112" name="Rectangle 5"/>
          <p:cNvSpPr/>
          <p:nvPr/>
        </p:nvSpPr>
        <p:spPr>
          <a:xfrm>
            <a:off x="6254496" y="1810000"/>
            <a:ext cx="5477256" cy="1700000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3" name="Rounded Rectangle 14"/>
          <p:cNvSpPr/>
          <p:nvPr/>
        </p:nvSpPr>
        <p:spPr>
          <a:xfrm>
            <a:off x="6254496" y="1810000"/>
            <a:ext cx="5477256" cy="365760"/>
          </a:xfrm>
          <a:prstGeom prst="roundRect">
            <a:avLst>
              <a:gd name="adj" fmla="val 14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TextBox 15"/>
          <p:cNvSpPr txBox="1"/>
          <p:nvPr/>
        </p:nvSpPr>
        <p:spPr>
          <a:xfrm>
            <a:off x="6510528" y="1810000"/>
            <a:ext cx="50200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spc="120">
                <a:solidFill>
                  <a:srgbClr val="AB3C00"/>
                </a:solidFill>
                <a:latin typeface="Inter"/>
              </a:rPr>
              <a:t>2 · Conversion tracker : valider la remontée</a:t>
            </a:r>
          </a:p>
        </p:txBody>
      </p:sp>
      <p:sp>
        <p:nvSpPr>
          <p:cNvPr id="115" name="TextBox 16"/>
          <p:cNvSpPr txBox="1"/>
          <p:nvPr/>
        </p:nvSpPr>
        <p:spPr>
          <a:xfrm>
            <a:off x="6419088" y="231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16" name="TextBox 17"/>
          <p:cNvSpPr txBox="1"/>
          <p:nvPr/>
        </p:nvSpPr>
        <p:spPr>
          <a:xfrm>
            <a:off x="6620256" y="2310000"/>
            <a:ext cx="501149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dirty="0">
                <a:solidFill>
                  <a:srgbClr val="0A0A0A"/>
                </a:solidFill>
                <a:latin typeface="Inter"/>
              </a:rPr>
              <a:t>Merci pour la mise en production du tracker le 13/10. À faire : valider ensemble la remontée des conversions et réconcilier clics et visites (consentement Didomi, paramètre at_medium).</a:t>
            </a:r>
            <a:r>
              <a:rPr lang="en-US" sz="1100" dirty="0" err="1">
                <a:solidFill>
                  <a:srgbClr val="0A0A0A"/>
                </a:solidFill>
                <a:latin typeface="Inter"/>
              </a:rPr>
              <a:t/>
            </a:r>
            <a:r>
              <a:rPr lang="en-US" sz="1100" dirty="0">
                <a:solidFill>
                  <a:srgbClr val="0A0A0A"/>
                </a:solidFill>
                <a:latin typeface="Inter"/>
              </a:rPr>
              <a:t/>
            </a:r>
            <a:r>
              <a:rPr lang="en-US" sz="1100" dirty="0" err="1">
                <a:solidFill>
                  <a:srgbClr val="0A0A0A"/>
                </a:solidFill>
                <a:latin typeface="Inter"/>
              </a:rPr>
              <a:t/>
            </a:r>
            <a:r>
              <a:rPr lang="en-US" sz="1100" dirty="0">
                <a:solidFill>
                  <a:srgbClr val="0A0A0A"/>
                </a:solidFill>
                <a:latin typeface="Inter"/>
              </a:rPr>
              <a:t/>
            </a:r>
            <a:r>
              <a:rPr lang="en-US" sz="1100" dirty="0" err="1">
                <a:solidFill>
                  <a:srgbClr val="0A0A0A"/>
                </a:solidFill>
                <a:latin typeface="Inter"/>
              </a:rPr>
              <a:t/>
            </a:r>
            <a:r>
              <a:rPr lang="en-US" sz="1100" dirty="0">
                <a:solidFill>
                  <a:srgbClr val="0A0A0A"/>
                </a:solidFill>
                <a:latin typeface="Inter"/>
              </a:rPr>
              <a:t/>
            </a:r>
            <a:r>
              <a:rPr lang="en-US" sz="1100" dirty="0" err="1">
                <a:solidFill>
                  <a:srgbClr val="0A0A0A"/>
                </a:solidFill>
                <a:latin typeface="Inter"/>
              </a:rPr>
              <a:t/>
            </a:r>
            <a:r>
              <a:rPr lang="en-US" sz="1100" dirty="0">
                <a:solidFill>
                  <a:srgbClr val="0A0A0A"/>
                </a:solidFill>
                <a:latin typeface="Inter"/>
              </a:rPr>
              <a:t/>
            </a:r>
            <a:endParaRPr lang="en-US" dirty="0"/>
          </a:p>
        </p:txBody>
      </p:sp>
      <p:sp>
        <p:nvSpPr>
          <p:cNvPr id="119" name="Rectangle 5"/>
          <p:cNvSpPr/>
          <p:nvPr/>
        </p:nvSpPr>
        <p:spPr>
          <a:xfrm>
            <a:off x="457200" y="3700000"/>
            <a:ext cx="5477256" cy="1700000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Rounded Rectangle 14"/>
          <p:cNvSpPr/>
          <p:nvPr/>
        </p:nvSpPr>
        <p:spPr>
          <a:xfrm>
            <a:off x="457200" y="3700000"/>
            <a:ext cx="5477256" cy="365760"/>
          </a:xfrm>
          <a:prstGeom prst="roundRect">
            <a:avLst>
              <a:gd name="adj" fmla="val 14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TextBox 15"/>
          <p:cNvSpPr txBox="1"/>
          <p:nvPr/>
        </p:nvSpPr>
        <p:spPr>
          <a:xfrm>
            <a:off x="713232" y="3700000"/>
            <a:ext cx="50200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spc="120">
                <a:solidFill>
                  <a:srgbClr val="AB3C00"/>
                </a:solidFill>
                <a:latin typeface="Inter"/>
              </a:rPr>
              <a:t>3 · Répondre au frein prix avant le Black Friday</a:t>
            </a:r>
          </a:p>
        </p:txBody>
      </p:sp>
      <p:sp>
        <p:nvSpPr>
          <p:cNvPr id="122" name="TextBox 16"/>
          <p:cNvSpPr txBox="1"/>
          <p:nvPr/>
        </p:nvSpPr>
        <p:spPr>
          <a:xfrm>
            <a:off x="621792" y="420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23" name="TextBox 17"/>
          <p:cNvSpPr txBox="1"/>
          <p:nvPr/>
        </p:nvSpPr>
        <p:spPr>
          <a:xfrm>
            <a:off x="822960" y="420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Le prix est le 1er frein exprimé (21,5 %) et l'attente d'une promotion pèse 9,4 % des freins.</a:t>
            </a:r>
          </a:p>
        </p:txBody>
      </p:sp>
      <p:sp>
        <p:nvSpPr>
          <p:cNvPr id="124" name="TextBox 16"/>
          <p:cNvSpPr txBox="1"/>
          <p:nvPr/>
        </p:nvSpPr>
        <p:spPr>
          <a:xfrm>
            <a:off x="621792" y="476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25" name="TextBox 17"/>
          <p:cNvSpPr txBox="1"/>
          <p:nvPr/>
        </p:nvSpPr>
        <p:spPr>
          <a:xfrm>
            <a:off x="822960" y="476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À faire : pousser des références à bon rapport qualité-prix et préparer les temps forts promotionnels de fin d'année.</a:t>
            </a:r>
          </a:p>
        </p:txBody>
      </p:sp>
      <p:sp>
        <p:nvSpPr>
          <p:cNvPr id="126" name="Rectangle 5"/>
          <p:cNvSpPr/>
          <p:nvPr/>
        </p:nvSpPr>
        <p:spPr>
          <a:xfrm>
            <a:off x="6254496" y="3700000"/>
            <a:ext cx="5477256" cy="1700000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Rounded Rectangle 14"/>
          <p:cNvSpPr/>
          <p:nvPr/>
        </p:nvSpPr>
        <p:spPr>
          <a:xfrm>
            <a:off x="6254496" y="3700000"/>
            <a:ext cx="5477256" cy="365760"/>
          </a:xfrm>
          <a:prstGeom prst="roundRect">
            <a:avLst>
              <a:gd name="adj" fmla="val 14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TextBox 15"/>
          <p:cNvSpPr txBox="1"/>
          <p:nvPr/>
        </p:nvSpPr>
        <p:spPr>
          <a:xfrm>
            <a:off x="6510528" y="3700000"/>
            <a:ext cx="50200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spc="120">
                <a:solidFill>
                  <a:srgbClr val="AB3C00"/>
                </a:solidFill>
                <a:latin typeface="Inter"/>
              </a:rPr>
              <a:t>4 · Bose : valider le déploiement</a:t>
            </a:r>
          </a:p>
        </p:txBody>
      </p:sp>
      <p:sp>
        <p:nvSpPr>
          <p:cNvPr id="129" name="TextBox 16"/>
          <p:cNvSpPr txBox="1"/>
          <p:nvPr/>
        </p:nvSpPr>
        <p:spPr>
          <a:xfrm>
            <a:off x="6419088" y="420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30" name="TextBox 17"/>
          <p:cNvSpPr txBox="1"/>
          <p:nvPr/>
        </p:nvSpPr>
        <p:spPr>
          <a:xfrm>
            <a:off x="6620256" y="420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Bose envisage 20 000 € par mois pour la fin d'année, avec une commission Boulanger de 2 000 à 3 000 €.</a:t>
            </a:r>
          </a:p>
        </p:txBody>
      </p:sp>
      <p:sp>
        <p:nvSpPr>
          <p:cNvPr id="131" name="TextBox 16"/>
          <p:cNvSpPr txBox="1"/>
          <p:nvPr/>
        </p:nvSpPr>
        <p:spPr>
          <a:xfrm>
            <a:off x="6419088" y="476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32" name="TextBox 17"/>
          <p:cNvSpPr txBox="1"/>
          <p:nvPr/>
        </p:nvSpPr>
        <p:spPr>
          <a:xfrm>
            <a:off x="6620256" y="476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À faire : valider ensemble le déploiement de la campagne Bose (durée du test, partage de revenu, articulation avec le fil rouge).</a:t>
            </a:r>
          </a:p>
        </p:txBody>
      </p:sp>
      <p:sp>
        <p:nvSpPr>
          <p:cNvPr id="133" name="Rectangle 26"/>
          <p:cNvSpPr/>
          <p:nvPr/>
        </p:nvSpPr>
        <p:spPr>
          <a:xfrm>
            <a:off x="457200" y="5600000"/>
            <a:ext cx="50292" cy="500000"/>
          </a:xfrm>
          <a:prstGeom prst="rect">
            <a:avLst/>
          </a:prstGeom>
          <a:solidFill>
            <a:srgbClr val="AB3C00"/>
          </a:solidFill>
          <a:ln w="12700">
            <a:solidFill>
              <a:srgbClr val="AB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4" name="TextBox 27"/>
          <p:cNvSpPr txBox="1"/>
          <p:nvPr/>
        </p:nvSpPr>
        <p:spPr>
          <a:xfrm>
            <a:off x="694944" y="5600000"/>
            <a:ext cx="1088136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0A0A0A"/>
                </a:solidFill>
                <a:latin typeface="Inter"/>
              </a:rPr>
              <a:t>Prochaine étape : nous faisons le point sur ces quatre sujets lors du prochain weekly.</a:t>
            </a:r>
          </a:p>
        </p:txBody>
      </p:sp>
      <p:sp>
        <p:nvSpPr>
          <p:cNvPr id="135" name="TextBox 28"/>
          <p:cNvSpPr txBox="1"/>
          <p:nvPr/>
        </p:nvSpPr>
        <p:spPr>
          <a:xfrm>
            <a:off x="457200" y="638251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1">
                <a:solidFill>
                  <a:srgbClr val="6B6B6B"/>
                </a:solidFill>
                <a:latin typeface="Inter"/>
              </a:rPr>
              <a:t>Pistes issues du weekly du 25 septembre 2026.</a:t>
            </a:r>
          </a:p>
        </p:txBody>
      </p:sp>
      <p:sp>
        <p:nvSpPr>
          <p:cNvPr id="136" name="TextBox 29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6c9e77-ebe9-49f6-8b53-17127b1420ff">
      <Terms xmlns="http://schemas.microsoft.com/office/infopath/2007/PartnerControls"/>
    </lcf76f155ced4ddcb4097134ff3c332f>
    <TaxCatchAll xmlns="c4627576-656c-436f-b686-aeca7805b032" xsi:nil="true"/>
    <_dlc_DocId xmlns="c4627576-656c-436f-b686-aeca7805b032">ZKQTZRZKYFDM-1105887346-5637</_dlc_DocId>
    <_dlc_DocIdUrl xmlns="c4627576-656c-436f-b686-aeca7805b032">
      <Url>https://lemrock.sharepoint.com/sites/LemrockHQ/_layouts/15/DocIdRedir.aspx?ID=ZKQTZRZKYFDM-1105887346-5637</Url>
      <Description>ZKQTZRZKYFDM-1105887346-5637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A03431663057499CF9FED8D5DC4E6F" ma:contentTypeVersion="13" ma:contentTypeDescription="Create a new document." ma:contentTypeScope="" ma:versionID="63a37287fbdac5486f1a669afed97af4">
  <xsd:schema xmlns:xsd="http://www.w3.org/2001/XMLSchema" xmlns:xs="http://www.w3.org/2001/XMLSchema" xmlns:p="http://schemas.microsoft.com/office/2006/metadata/properties" xmlns:ns2="2d6c9e77-ebe9-49f6-8b53-17127b1420ff" xmlns:ns3="c4627576-656c-436f-b686-aeca7805b032" targetNamespace="http://schemas.microsoft.com/office/2006/metadata/properties" ma:root="true" ma:fieldsID="f6c183dfbf35d002dfdbfbe1da2cbb65" ns2:_="" ns3:_="">
    <xsd:import namespace="2d6c9e77-ebe9-49f6-8b53-17127b1420ff"/>
    <xsd:import namespace="c4627576-656c-436f-b686-aeca7805b0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LengthInSeconds" minOccurs="0"/>
                <xsd:element ref="ns3:_dlc_DocId" minOccurs="0"/>
                <xsd:element ref="ns3:_dlc_DocIdUrl" minOccurs="0"/>
                <xsd:element ref="ns3:_dlc_DocIdPersistId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c9e77-ebe9-49f6-8b53-17127b1420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3ab39d68-43a8-4186-a181-1ee2eae7bf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627576-656c-436f-b686-aeca7805b032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4c3fe23-62fc-4dfc-bfe7-d6a8dc7172bb}" ma:internalName="TaxCatchAll" ma:showField="CatchAllData" ma:web="c4627576-656c-436f-b686-aeca7805b0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20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1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2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233B6D-5919-47AA-8355-BFB4BDE5B93F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7443E5C4-EDF6-4041-86AB-1ED15B31B8F8}">
  <ds:schemaRefs>
    <ds:schemaRef ds:uri="2d6c9e77-ebe9-49f6-8b53-17127b1420ff"/>
    <ds:schemaRef ds:uri="c4627576-656c-436f-b686-aeca7805b0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9FB8029-B0DE-4F60-AFAD-F21C2FA6124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AEF3C9C-807E-48E8-9253-3F838B67D1EC}">
  <ds:schemaRefs>
    <ds:schemaRef ds:uri="2d6c9e77-ebe9-49f6-8b53-17127b1420ff"/>
    <ds:schemaRef ds:uri="c4627576-656c-436f-b686-aeca7805b03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57</cp:revision>
  <dcterms:created xsi:type="dcterms:W3CDTF">2013-01-27T09:14:16Z</dcterms:created>
  <dcterms:modified xsi:type="dcterms:W3CDTF">2026-10-15T16:24:36Z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0x010100C7A03431663057499CF9FED8D5DC4E6F</vt:lpwstr>
  </property>
  <property fmtid="{D5CDD505-2E9C-101B-9397-08002B2CF9AE}" pid="3" name="_dlc_DocIdItemGuid">
    <vt:lpwstr>457b1523-50d6-4576-94c6-e58ba5ce41b6</vt:lpwstr>
  </property>
  <property fmtid="{D5CDD505-2E9C-101B-9397-08002B2CF9AE}" pid="4" name="MediaServiceImageTags">
    <vt:lpwstr/>
  </property>
</Properties>
</file>