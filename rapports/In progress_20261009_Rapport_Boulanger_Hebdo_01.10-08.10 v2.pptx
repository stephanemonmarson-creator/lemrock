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c5d5d6-0ce6-86fd-31fb-8bcdf51dd82a}">
          <p14:sldIdLst>
            <p14:sldId id="256"/>
          </p14:sldIdLst>
        </p14:section>
        <p14:section name="Boulanger" id="{ff91e443-499b-0f3b-5cbd-f3cc4d7d314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istes de reco" id="{07233910-dba8-9b2c-6916-c3ed8cd40e4b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Présences de marque dans les réponses de l'agent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Cdiscount</c:v>
                  </c:pt>
                  <c:pt idx="3">
                    <c:v>Fnac</c:v>
                  </c:pt>
                  <c:pt idx="4">
                    <c:v>Auchan</c:v>
                  </c:pt>
                  <c:pt idx="5">
                    <c:v>Boulanger</c:v>
                  </c:pt>
                  <c:pt idx="6">
                    <c:v>Darty</c:v>
                  </c:pt>
                  <c:pt idx="7">
                    <c:v>Carrefour</c:v>
                  </c:pt>
                  <c:pt idx="8">
                    <c:v>Electro Dépôt</c:v>
                  </c:pt>
                  <c:pt idx="9">
                    <c:v>Back Market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27.4</c:v>
                </c:pt>
                <c:pt idx="1">
                  <c:v>17.7</c:v>
                </c:pt>
                <c:pt idx="2">
                  <c:v>12.3</c:v>
                </c:pt>
                <c:pt idx="3">
                  <c:v>9.4</c:v>
                </c:pt>
                <c:pt idx="4">
                  <c:v>8.4</c:v>
                </c:pt>
                <c:pt idx="5">
                  <c:v>7.8</c:v>
                </c:pt>
                <c:pt idx="6">
                  <c:v>5.3</c:v>
                </c:pt>
                <c:pt idx="7">
                  <c:v>5.2</c:v>
                </c:pt>
                <c:pt idx="8">
                  <c:v>2.4</c:v>
                </c:pt>
                <c:pt idx="9">
                  <c:v>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Présences de marque dans les messages utilisateurs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Fnac</c:v>
                  </c:pt>
                  <c:pt idx="3">
                    <c:v>Carrefour</c:v>
                  </c:pt>
                  <c:pt idx="4">
                    <c:v>Cdiscount</c:v>
                  </c:pt>
                  <c:pt idx="5">
                    <c:v>Darty</c:v>
                  </c:pt>
                  <c:pt idx="6">
                    <c:v>Auchan</c:v>
                  </c:pt>
                  <c:pt idx="7">
                    <c:v>Boulanger</c:v>
                  </c:pt>
                  <c:pt idx="8">
                    <c:v>Back Market</c:v>
                  </c:pt>
                  <c:pt idx="9">
                    <c:v>Conforama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29.8</c:v>
                </c:pt>
                <c:pt idx="1">
                  <c:v>15.3</c:v>
                </c:pt>
                <c:pt idx="2">
                  <c:v>11.5</c:v>
                </c:pt>
                <c:pt idx="3">
                  <c:v>9.2</c:v>
                </c:pt>
                <c:pt idx="4">
                  <c:v>7.5</c:v>
                </c:pt>
                <c:pt idx="5">
                  <c:v>7.1</c:v>
                </c:pt>
                <c:pt idx="6">
                  <c:v>5.7</c:v>
                </c:pt>
                <c:pt idx="7">
                  <c:v>4.3</c:v>
                </c:pt>
                <c:pt idx="8">
                  <c:v>3.3</c:v>
                </c:pt>
                <c:pt idx="9">
                  <c:v>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Freins à l'achat · part des freins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Prix trop élevé</c:v>
                  </c:pt>
                  <c:pt idx="1">
                    <c:v>Doute sur l'utilité réelle</c:v>
                  </c:pt>
                  <c:pt idx="2">
                    <c:v>Compatibilité</c:v>
                  </c:pt>
                  <c:pt idx="3">
                    <c:v>Doute sur la fiabilité</c:v>
                  </c:pt>
                  <c:pt idx="4">
                    <c:v>Livraison et délais</c:v>
                  </c:pt>
                  <c:pt idx="5">
                    <c:v>Attente d'une promotion</c:v>
                  </c:pt>
                  <c:pt idx="6">
                    <c:v>Avis mitigés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18.1</c:v>
                </c:pt>
                <c:pt idx="2">
                  <c:v>17.1</c:v>
                </c:pt>
                <c:pt idx="3">
                  <c:v>14.3</c:v>
                </c:pt>
                <c:pt idx="4">
                  <c:v>10.2</c:v>
                </c:pt>
                <c:pt idx="5">
                  <c:v>9.1</c:v>
                </c:pt>
                <c:pt idx="6">
                  <c:v>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Critères de choix · part des critères exprimés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Prix</c:v>
                  </c:pt>
                  <c:pt idx="1">
                    <c:v>Rendu sonore</c:v>
                  </c:pt>
                  <c:pt idx="2">
                    <c:v>Compatibilité</c:v>
                  </c:pt>
                  <c:pt idx="3">
                    <c:v>Autonomie batterie</c:v>
                  </c:pt>
                  <c:pt idx="4">
                    <c:v>Qualité photo</c:v>
                  </c:pt>
                  <c:pt idx="5">
                    <c:v>Taille de l'écran</c:v>
                  </c:pt>
                  <c:pt idx="6">
                    <c:v>Qualité sonore</c:v>
                  </c:pt>
                  <c:pt idx="7">
                    <c:v>Stockage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10.1</c:v>
                </c:pt>
                <c:pt idx="1">
                  <c:v>6.2</c:v>
                </c:pt>
                <c:pt idx="2">
                  <c:v>6</c:v>
                </c:pt>
                <c:pt idx="3">
                  <c:v>5.2</c:v>
                </c:pt>
                <c:pt idx="4">
                  <c:v>3.7</c:v>
                </c:pt>
                <c:pt idx="5">
                  <c:v>3.6</c:v>
                </c:pt>
                <c:pt idx="6">
                  <c:v>3.3</c:v>
                </c:pt>
                <c:pt idx="7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Top 10 marques · part des conversations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Apple</c:v>
                  </c:pt>
                  <c:pt idx="1">
                    <c:v>Samsung</c:v>
                  </c:pt>
                  <c:pt idx="2">
                    <c:v>Xiaomi</c:v>
                  </c:pt>
                  <c:pt idx="3">
                    <c:v>Google</c:v>
                  </c:pt>
                  <c:pt idx="4">
                    <c:v>Sony</c:v>
                  </c:pt>
                  <c:pt idx="5">
                    <c:v>JBL</c:v>
                  </c:pt>
                  <c:pt idx="6">
                    <c:v>Dreame</c:v>
                  </c:pt>
                  <c:pt idx="7">
                    <c:v>Honor</c:v>
                  </c:pt>
                  <c:pt idx="8">
                    <c:v>Roborock</c:v>
                  </c:pt>
                  <c:pt idx="9">
                    <c:v>LG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9.3</c:v>
                </c:pt>
                <c:pt idx="1">
                  <c:v>8.4</c:v>
                </c:pt>
                <c:pt idx="2">
                  <c:v>5.5</c:v>
                </c:pt>
                <c:pt idx="3">
                  <c:v>5.1</c:v>
                </c:pt>
                <c:pt idx="4">
                  <c:v>4</c:v>
                </c:pt>
                <c:pt idx="5">
                  <c:v>3.1</c:v>
                </c:pt>
                <c:pt idx="6">
                  <c:v>3</c:v>
                </c:pt>
                <c:pt idx="7">
                  <c:v>2.7</c:v>
                </c:pt>
                <c:pt idx="8">
                  <c:v>2.7</c:v>
                </c:pt>
                <c:pt idx="9">
                  <c:v>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01 INDICATEURS  ·  02 BOULANGER  ·  03 PISTES DE RECO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01C"/>
                </a:solidFill>
              </a:rPr>
              <a:t>AGENDA · CE QUE NOUS ALLONS VOIR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Boulanger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AE3"/>
                </a:solidFill>
              </a:rPr>
              <a:t>Revue de performance de la campagne Boulanger, du 1er au 8 octobre 2026 · rapport du 09/10/2026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834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 indicateurs qui comptent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pilotons, et comment chaque chiffre se mesure.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9319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Boulanger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Formats diffusés, performance de la semaine, visibilité dans les réponses des IA et intentions d'achat.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601C"/>
                </a:solidFill>
              </a:rPr>
              <a:t>03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029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Pistes de reco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6DAE3"/>
                </a:solidFill>
              </a:rPr>
              <a:t>Ce que nous proposons pour les prochaines semaines.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FORMATS PUBLICITAIRES · CE QUE VOIT L'UTILISATEUR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Vos 3 formats, campagne en cours depuis le 28 août 2026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Budget mensuel 10 000 €   ·   Activation le 28 août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Carrousel produit sponsorisé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87568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Question suggérée sponsorisée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4896" y="2377440"/>
            <a:ext cx="777240" cy="77724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54896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429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Text ads sur Qwant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trois formats sont servis dans le même inventaire éditorial, au moment où l'utilisateur exprime son intention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RAPPORT DE PERFORMANCE · 01/10/2026 → 08/10/2026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Moins de clics, mais deux fois plus de ventes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COMPARAISON vs 23/09 → 30/09   ·   Campagne lancée le 28 août 2026   ·   42 jours de diffusion   ·   statut : Live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PERFORMANCE MÉDIA · BUDGET SEMAINE 2 367,15 € · CUMUL 7 279,90 € sur 30 000 € (24 %) · CA HT 888,68 €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MENTIONS CONVERSATIONNELLES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1 311 465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+16,7 %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4 475 698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1525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1253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TRAFIC LLM QUALIFIÉ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51253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6 468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51253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▼ -11,3 %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26 646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4410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4138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CTR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844138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0,49 %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44138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▼ -0,16 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0,60 %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27294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7022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CPC MOYEN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37022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0,37 €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37022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372D"/>
                </a:solidFill>
              </a:rPr>
              <a:t>▲ +26,6 %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0,27 €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20179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29907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CONVERSIONS LAST CLICK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029907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29907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+100 % (3)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13064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2792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CVR LAST CLICK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622792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0,29 %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+0,17 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YTD 0,20 %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05949" y="2057400"/>
            <a:ext cx="1504188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5677" y="2130552"/>
            <a:ext cx="12847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275"/>
                </a:solidFill>
              </a:rPr>
              <a:t>PANIER MOYEN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215677" y="2468880"/>
            <a:ext cx="12847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148,11 €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215677" y="2880360"/>
            <a:ext cx="128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</a:rPr>
              <a:t>▲ +4,2 %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275"/>
                </a:solidFill>
              </a:rPr>
              <a:t>vs 142,20 € · YTD 140,21 €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7,8 %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+2,5 pts  vs 23/09 → 30/09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53105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35985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 GEA (ADS)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535985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20,2 %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3535985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72D"/>
                </a:solidFill>
              </a:rPr>
              <a:t>▼ -2,8 pts  vs 23/09 → 30/09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5757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4045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SHARE OF VOICE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34045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4,3 %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634045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+0,3 pt  vs 23/09 → 30/09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962034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914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LONGUEUR DES REQUÊTES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144914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8"/>
                </a:solidFill>
              </a:rPr>
              <a:t>8,2 mots</a:t>
            </a:r>
            <a:endParaRPr lang="en-US" sz="3000" dirty="0"/>
          </a:p>
        </p:txBody>
      </p:sp>
      <p:sp>
        <p:nvSpPr>
          <p:cNvPr id="50" name="Text 48"/>
          <p:cNvSpPr txBox="1"/>
          <p:nvPr/>
        </p:nvSpPr>
        <p:spPr>
          <a:xfrm>
            <a:off x="9144914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</a:rPr>
              <a:t>▲ +10,6 %  vs 23/09 → 30/09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" y="54864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conversions doublent (6 ventes, 888,68 € HT, CVR 0,29 %) malgré des clics en recul (-11,3 %) et un CPC à 0,37 €.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 INDICATEURS QUI COMPTENT · RAPPEL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objectifs prioritaires pilotent la campagne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01  Part de voix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Renforcer votre visibilité face aux enseignes concurrentes : part des citations de Boulanger parmi l'ensemble des citations d'enseignes de votre catégorie.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44768" y="18288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1965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02  Trafic LLM qualifié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DAE3"/>
                </a:solidFill>
              </a:rPr>
              <a:t>Amener sur boulanger.com des visiteurs en intention d'achat : visites issues des conversations IA, qualifiées selon l'intention exprimée.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OBJECTIFS SECONDAIRES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Win rate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Quand l'IA compare Boulanger à une autre enseigne, part des clics sur l'ad Boulanger.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3105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985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Share of Voice GEO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Recommandations spontanées de l'agent citant Boulanger.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7570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0450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Intentions d'achat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Les questions posées aux IA avant d'acheter.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2034" y="4069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914" y="4160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8"/>
                </a:solidFill>
              </a:rPr>
              <a:t>Conversions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Ventes attribuées aux clics IA : 6 cette semaine.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cette semaine, la part de voix progresse légèrement (+0,3 pt) mais le trafic qualifié recule de 11,3 %.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SHARE OF VOICE DANS LES RÉPONSES DE L'IA (GEO)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6e sur 10 dans les recommandations de l'IA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78308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92024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BOULANGER</a:t>
            </a:r>
            <a:endParaRPr lang="en-US" sz="12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8601C"/>
                </a:solidFill>
              </a:rPr>
              <a:t>7,8 %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▲ +2,5 pts  vs 23/09 → 30/09  ·  6e / 10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MOYENNE DU TOP 5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2238"/>
                </a:solidFill>
              </a:rPr>
              <a:t>15,0 %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Part des recommandations spontanées de l'agent citant Boulanger, sans qu'un utilisateur l'ait nommé avant.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Boulanger gagne 2,5 pts et passe devant Darty et Carrefour ; il reste à environ la moitié de la moyenne du top 5 (7,8 % vs 15,0 %).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SHARE OF VOICE DANS LES MESSAGES UTILISATEURS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8e sur 10 dans ce que l'audience nomme spontanément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78308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92024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BOULANGER</a:t>
            </a:r>
            <a:endParaRPr lang="en-US" sz="12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8601C"/>
                </a:solidFill>
              </a:rPr>
              <a:t>4,3 %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A6275"/>
                </a:solidFill>
              </a:rPr>
              <a:t>▬ +0,3 pt (stable)  vs 23/09 → 30/09  ·  8e / 10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MOYENNE DU TOP 5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2238"/>
                </a:solidFill>
              </a:rPr>
              <a:t>14,7 %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Part des conversations du secteur où l'utilisateur cite lui-même Boulanger, rapportée à l'ensemble des enseignes citées.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l'audience nomme Boulanger moins souvent que Darty et Auchan : 4,3 % contre 14,7 % pour la moyenne du top 5, la marge de progression est ici.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DYNAMIQUE CONVERSATIONNELLE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prix est à la fois le premier critère de choix et le premier frein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916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22 % des freins portent sur le prix et 9,1 % sur l'attente d'une promotion. Persistance de Boulanger : pas assez de données cette semaine.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QUE VOTRE AUDIENCE DEMANDE AUX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smartphone reste la première demande (10,4 %)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914400"/>
                <a:gridCol w="70408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 que l'audience écrit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Téléphones mobiles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10,4 %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Téléphone récent moins de 200 euros et bon pour les jeux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Enceintes et haut-parleurs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Quelle enceinte portable offre le meilleur rendu des basses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Casques audio &amp; écouteurs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type d'écouteurs true wireless choisir pour le sport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Aspirateurs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6,0 %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Montre-moi les aspirateurs-balais sous 300 €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Écrans d'ordinateur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Écrans WQHD 27" 120 Hz compatibles PS5 sous 400 €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Ordinateurs portables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PC portable pour la bureautique et le télétravail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Piles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5,2 %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Tablettes multimédias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La meilleure tablette pour regarder des films en voyage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Téléviseurs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Le meilleur téléviseur 65 pouces en rapport qualité prix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238"/>
                          </a:solidFill>
                        </a:rPr>
                        <a:t>Lave-linge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1C"/>
                          </a:solidFill>
                        </a:rPr>
                        <a:t>4,1 %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238"/>
                          </a:solidFill>
                        </a:rPr>
                        <a:t>« Quel lave-linge est le plus silencieux pour un appartement ? 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: Apple (9,3 %), Samsung (8,4 %), Xiaomi (5,5 %) et Google (5,1 %) en tête.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MARQUES ET MODÈLES NOMMÉS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Apple et Samsung, les deux marques les plus nommées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78308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92024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238"/>
                </a:solidFill>
              </a:rPr>
              <a:t>Modèles les plus cités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Apple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iPhone 17 Pro, iPhone 18 Pro · AirPods Pro 3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Samsung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Galaxy S25, S26 · Galaxy Tab A11+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Xiaomi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Redmi Note 15 Pro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Google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Pixel 10a, Pixel 9a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Sony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WH-1000XM6 · BRAVIA 9 II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601C"/>
                </a:solidFill>
              </a:rPr>
              <a:t>Dreame / Roborock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L40s Pro Ultra · Saros 20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30,7 % des recherches nomment déjà une marque ; le smartphone concentre les modèles les plus cités (iPhone, Galaxy, Redmi, Pixel).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CHAMPS SÉMANTIQUES DES CONVERSATIONS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Smartphone, prix et Apple dominent les conversations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8601C"/>
                </a:solidFill>
              </a:rPr>
              <a:t>aspirateur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238"/>
                </a:solidFill>
              </a:rPr>
              <a:t>Apple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601C"/>
                </a:solidFill>
              </a:rPr>
              <a:t>smartphone     </a:t>
            </a:r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A93A6"/>
                </a:solidFill>
              </a:rPr>
              <a:t>compatibilité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1B2238"/>
                </a:solidFill>
              </a:rPr>
              <a:t>Samsung     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A93A6"/>
                </a:solidFill>
              </a:rPr>
              <a:t>prix     </a:t>
            </a:r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601C"/>
                </a:solidFill>
              </a:rPr>
              <a:t>enceinte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601C"/>
                </a:solidFill>
              </a:rPr>
              <a:t>PC portable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8A93A6"/>
                </a:solidFill>
              </a:rPr>
              <a:t>rendu sonore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8601C"/>
                </a:solidFill>
              </a:rPr>
              <a:t>casque &amp; écouteurs     </a:t>
            </a:r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238"/>
                </a:solidFill>
              </a:rPr>
              <a:t>Xiaomi     </a:t>
            </a:r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8601C"/>
                </a:solidFill>
              </a:rPr>
              <a:t>écran PC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601C"/>
                </a:solidFill>
              </a:rPr>
              <a:t>tablette     </a:t>
            </a:r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238"/>
                </a:solidFill>
              </a:rPr>
              <a:t>Google     </a:t>
            </a:r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8601C"/>
                </a:solidFill>
              </a:rPr>
              <a:t>téléviseur     </a:t>
            </a:r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A93A6"/>
                </a:solidFill>
              </a:rPr>
              <a:t>autonomie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238"/>
                </a:solidFill>
              </a:rPr>
              <a:t>JBL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qualité photo     </a:t>
            </a:r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B2238"/>
                </a:solidFill>
              </a:rPr>
              <a:t>Sony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8601C"/>
                </a:solidFill>
              </a:rPr>
              <a:t>lave-linge    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93A6"/>
                </a:solidFill>
              </a:rPr>
              <a:t>taille d'écran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5"/>
                </a:solidFill>
              </a:rPr>
              <a:t>Taille du mot = fréquence au sein de sa famille     </a:t>
            </a:r>
            <a:pPr algn="ctr"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● Produits   </a:t>
            </a:r>
            <a:pPr algn="ctr" indent="0" marL="0">
              <a:buNone/>
            </a:pPr>
            <a:r>
              <a:rPr lang="en-US" sz="1200" b="1" dirty="0">
                <a:solidFill>
                  <a:srgbClr val="1B2238"/>
                </a:solidFill>
              </a:rPr>
              <a:t>● Marques   </a:t>
            </a:r>
            <a:pPr algn="ctr" indent="0" marL="0">
              <a:buNone/>
            </a:pPr>
            <a:r>
              <a:rPr lang="en-US" sz="1200" b="1" dirty="0">
                <a:solidFill>
                  <a:srgbClr val="8A93A6"/>
                </a:solidFill>
              </a:rPr>
              <a:t>● Critères d'achat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 smartphone est la première demande produit, Apple et Samsung les marques les plus nommées, et le prix le premier critère d'achat.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Fiabiliser la mesure des conversions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Les premières ventes remontent : 15 transactions et 2 103 € HT depuis le lancement, dont 6 cette semaine.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1–8 oct. : 6 transactions, 888,68 € HT, panier moyen 148 €.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6 sur 6 réalisées par de nouveaux clients.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CVR 0,29 % sur 2 039 visites (0,12 % la semaine précédente).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Les points à lever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Écart clics / visites : 6 468 clics Lemrock pour 2 039 visites mesurées (31 %).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Paramètre at_medium et consentement Didomi : à finaliser pour réduire cet écart.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ROAS de la semaine : 0,38 (CA HT / budget).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réconcilier clics et visites avec vos équipes pour que chaque vente attribuée à Lemrock soit comptée.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Faire du smartphone votre priorité de visibilité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La semaine confirme la priorité exprimée pour 2027 : la demande smartphone progresse.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Téléphones mobiles : 1re catégorie, 10,4 % des conversations (6,1 % au rapport précédent, mesure par intention).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Apple 9,3 %, Samsung 8,4 %, Xiaomi 5,5 %, Google 5,1 %.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Modèles cités : iPhone 17 Pro, Galaxy S25/S26, Redmi Note 15 Pro, Pixel 10a.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nous proposons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Ad groups dédiés aux modèles les plus nommés.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Mettre en avant le prix : « moins de 200 € », « maxi 250 € » reviennent dans les requêtes.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Plan de visibilité smartphone 2027 : références et budget.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construisons avec vous le plan smartphone 2027, ad groups, sélection de références et budget associé.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Resserrer la sélection de produits poussés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Le prix est le 1er frein (22,0 %) et le 1er critère de choix (10,1 %) : les références poussées doivent y répondre.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Ce que disent les chiffres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Prix trop élevé : 22,0 % des freins, attente promo : 9,1 %.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CTR en recul de 0,16 pt à 0,49 %, CPC en hausse de 26,6 % à 0,37 €.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Les requêtes s'allongent : 8,2 mots (+10,6 %).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Où commencer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Smartphone · 10,4 %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Enceintes · 6,9 %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Casques et écouteurs · 6,7 %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Aspirateurs · 6,0 %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nous vous proposons une sélection resserrée sur ces quatre catégories, avec des références à bon rapport qualité-prix.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PISTE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Activer Bose, puis packager l'offre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Bose pèse 2,2 % des conversations de la semaine : la demande existe dans vos catégories audio.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dispositif Bose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Produits Bose dans les annonces IA, liens vers boulanger.com.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Campagne distincte du fil rouge, avec ses propres indicateurs.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Budget envisagé : 20 000 € / mois (à confirmer).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44768" y="20116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21488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8601C"/>
                </a:solidFill>
              </a:rPr>
              <a:t>Le cadre à fixer ensemble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Durée du test et critères de validation.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Partage de revenu Boulanger / Lemrock.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</a:rPr>
              <a:t>Extension à Marshall (0,9 %) et autres fournisseurs.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Roxane vous envoie le récapitulatif Bose et le format d'offre packagée (statut à confirmer avant envoi).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Hebdo 01.10-08.10</dc:title>
  <dc:subject>PptxGenJS Presentation</dc:subject>
  <dc:creator>PptxGenJS</dc:creator>
  <cp:lastModifiedBy>PptxGenJS</cp:lastModifiedBy>
  <cp:revision>1</cp:revision>
  <dcterms:created xsi:type="dcterms:W3CDTF">2026-10-09T12:47:20Z</dcterms:created>
  <dcterms:modified xsi:type="dcterms:W3CDTF">2026-10-09T12:47:20Z</dcterms:modified>
</cp:coreProperties>
</file>