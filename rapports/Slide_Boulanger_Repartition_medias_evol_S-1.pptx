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731520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00" b="0">
                <a:solidFill>
                  <a:srgbClr val="8A8F9C"/>
                </a:solidFill>
                <a:latin typeface="Arial"/>
              </a:rPr>
              <a:t>01 INDICATEURS   ·   </a:t>
            </a:r>
            <a:r>
              <a:rPr sz="800" b="1">
                <a:solidFill>
                  <a:srgbClr val="F06E2E"/>
                </a:solidFill>
                <a:latin typeface="Arial"/>
              </a:rPr>
              <a:t>02 BOULANGER</a:t>
            </a:r>
            <a:r>
              <a:rPr sz="800" b="0">
                <a:solidFill>
                  <a:srgbClr val="8A8F9C"/>
                </a:solidFill>
                <a:latin typeface="Arial"/>
              </a:rPr>
              <a:t>   ·   03 PISTES DE RECO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914400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 spc="300">
                <a:solidFill>
                  <a:srgbClr val="8A8F9C"/>
                </a:solidFill>
                <a:latin typeface="Arial"/>
              </a:rPr>
              <a:t>RÉPARTITION DES MÉDIAS · PÉRIODE ANALYSÉE 08/10/2026 → 15/10/2026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31520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Arial"/>
              </a:rPr>
              <a:t>Boulanger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1002975" cy="18288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914400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Arial"/>
              </a:rPr>
              <a:t>Répartition de la diffusion par média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914400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Arial"/>
              </a:rPr>
              <a:t>Part des impressions de la campagne par site éditeur · évolution vs 01/10/2026 → 07/10/2026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182880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00" b="1" spc="300">
                <a:solidFill>
                  <a:srgbClr val="8A8F9C"/>
                </a:solidFill>
                <a:latin typeface="Arial"/>
              </a:rPr>
              <a:t>MÉDIA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423160"/>
            <a:ext cx="365760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00" b="1" spc="300">
                <a:solidFill>
                  <a:srgbClr val="8A8F9C"/>
                </a:solidFill>
                <a:latin typeface="Arial"/>
              </a:rPr>
              <a:t>PART DES IMPRESSIONS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423160"/>
            <a:ext cx="10972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00" b="1" spc="300">
                <a:solidFill>
                  <a:srgbClr val="8A8F9C"/>
                </a:solidFill>
                <a:latin typeface="Arial"/>
              </a:rPr>
              <a:t>PART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423160"/>
            <a:ext cx="228600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00" b="1" spc="300">
                <a:solidFill>
                  <a:srgbClr val="8A8F9C"/>
                </a:solidFill>
                <a:latin typeface="Arial"/>
              </a:rPr>
              <a:t>ÉVOL. VS S-1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743200"/>
            <a:ext cx="11002975" cy="18288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27432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900" b="0">
                <a:solidFill>
                  <a:srgbClr val="8A8F9C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88920"/>
            <a:ext cx="237744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Modes &amp; Travaux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935224"/>
            <a:ext cx="4297680" cy="73152"/>
          </a:xfrm>
          <a:prstGeom prst="roundRect">
            <a:avLst>
              <a:gd name="adj" fmla="val 50000"/>
            </a:avLst>
          </a:prstGeom>
          <a:solidFill>
            <a:srgbClr val="E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91840" y="2935224"/>
            <a:ext cx="4297680" cy="73152"/>
          </a:xfrm>
          <a:prstGeom prst="roundRect">
            <a:avLst>
              <a:gd name="adj" fmla="val 50000"/>
            </a:avLst>
          </a:prstGeom>
          <a:solidFill>
            <a:srgbClr val="F0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788920"/>
            <a:ext cx="109728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30,8 %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788920"/>
            <a:ext cx="146304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50" b="1">
                <a:solidFill>
                  <a:srgbClr val="C83A2E"/>
                </a:solidFill>
                <a:latin typeface="Arial"/>
              </a:rPr>
              <a:t>▼ - 0,8 pt</a:t>
            </a:r>
            <a:r>
              <a:rPr sz="1050" b="0">
                <a:solidFill>
                  <a:srgbClr val="8A8F9C"/>
                </a:solidFill>
                <a:latin typeface="Arial"/>
              </a:rPr>
              <a:t>   (31,6 %)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200400"/>
            <a:ext cx="11002975" cy="18288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46120"/>
            <a:ext cx="27432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900" b="0">
                <a:solidFill>
                  <a:srgbClr val="8A8F9C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246120"/>
            <a:ext cx="237744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Marmiton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392424"/>
            <a:ext cx="4297680" cy="73152"/>
          </a:xfrm>
          <a:prstGeom prst="roundRect">
            <a:avLst>
              <a:gd name="adj" fmla="val 50000"/>
            </a:avLst>
          </a:prstGeom>
          <a:solidFill>
            <a:srgbClr val="E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91840" y="3392424"/>
            <a:ext cx="3851167" cy="73152"/>
          </a:xfrm>
          <a:prstGeom prst="roundRect">
            <a:avLst>
              <a:gd name="adj" fmla="val 50000"/>
            </a:avLst>
          </a:prstGeom>
          <a:solidFill>
            <a:srgbClr val="F5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3246120"/>
            <a:ext cx="109728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27,6 %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246120"/>
            <a:ext cx="146304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50" b="1">
                <a:solidFill>
                  <a:srgbClr val="1E8E4E"/>
                </a:solidFill>
                <a:latin typeface="Arial"/>
              </a:rPr>
              <a:t>▲ +0,5 pt</a:t>
            </a:r>
            <a:r>
              <a:rPr sz="1050" b="0">
                <a:solidFill>
                  <a:srgbClr val="8A8F9C"/>
                </a:solidFill>
                <a:latin typeface="Arial"/>
              </a:rPr>
              <a:t>   (27,1 %)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657600"/>
            <a:ext cx="11002975" cy="18288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703320"/>
            <a:ext cx="27432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900" b="0">
                <a:solidFill>
                  <a:srgbClr val="8A8F9C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703320"/>
            <a:ext cx="237744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Qwant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849624"/>
            <a:ext cx="4297680" cy="73152"/>
          </a:xfrm>
          <a:prstGeom prst="roundRect">
            <a:avLst>
              <a:gd name="adj" fmla="val 50000"/>
            </a:avLst>
          </a:prstGeom>
          <a:solidFill>
            <a:srgbClr val="E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91840" y="3849624"/>
            <a:ext cx="2358142" cy="73152"/>
          </a:xfrm>
          <a:prstGeom prst="roundRect">
            <a:avLst>
              <a:gd name="adj" fmla="val 50000"/>
            </a:avLst>
          </a:prstGeom>
          <a:solidFill>
            <a:srgbClr val="F5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3703320"/>
            <a:ext cx="109728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16,9 %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703320"/>
            <a:ext cx="146304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50" b="1">
                <a:solidFill>
                  <a:srgbClr val="1E8E4E"/>
                </a:solidFill>
                <a:latin typeface="Arial"/>
              </a:rPr>
              <a:t>▲ +0,5 pt</a:t>
            </a:r>
            <a:r>
              <a:rPr sz="1050" b="0">
                <a:solidFill>
                  <a:srgbClr val="8A8F9C"/>
                </a:solidFill>
                <a:latin typeface="Arial"/>
              </a:rPr>
              <a:t>   (16,4 %)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114800"/>
            <a:ext cx="11002975" cy="18288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160520"/>
            <a:ext cx="27432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900" b="0">
                <a:solidFill>
                  <a:srgbClr val="8A8F9C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160520"/>
            <a:ext cx="237744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20 Minutes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4306824"/>
            <a:ext cx="4297680" cy="73152"/>
          </a:xfrm>
          <a:prstGeom prst="roundRect">
            <a:avLst>
              <a:gd name="adj" fmla="val 50000"/>
            </a:avLst>
          </a:prstGeom>
          <a:solidFill>
            <a:srgbClr val="E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91840" y="4306824"/>
            <a:ext cx="865117" cy="73152"/>
          </a:xfrm>
          <a:prstGeom prst="roundRect">
            <a:avLst>
              <a:gd name="adj" fmla="val 50000"/>
            </a:avLst>
          </a:prstGeom>
          <a:solidFill>
            <a:srgbClr val="F5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4160520"/>
            <a:ext cx="109728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6,2 %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4160520"/>
            <a:ext cx="146304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50" b="1">
                <a:solidFill>
                  <a:srgbClr val="C83A2E"/>
                </a:solidFill>
                <a:latin typeface="Arial"/>
              </a:rPr>
              <a:t>▼ - 0,2 pt</a:t>
            </a:r>
            <a:r>
              <a:rPr sz="1050" b="0">
                <a:solidFill>
                  <a:srgbClr val="8A8F9C"/>
                </a:solidFill>
                <a:latin typeface="Arial"/>
              </a:rPr>
              <a:t>   (6,4 %)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572000"/>
            <a:ext cx="11002975" cy="18288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617720"/>
            <a:ext cx="27432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900" b="0">
                <a:solidFill>
                  <a:srgbClr val="8A8F9C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617720"/>
            <a:ext cx="237744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Biba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1840" y="4764024"/>
            <a:ext cx="4297680" cy="73152"/>
          </a:xfrm>
          <a:prstGeom prst="roundRect">
            <a:avLst>
              <a:gd name="adj" fmla="val 50000"/>
            </a:avLst>
          </a:prstGeom>
          <a:solidFill>
            <a:srgbClr val="E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291840" y="4764024"/>
            <a:ext cx="837210" cy="73152"/>
          </a:xfrm>
          <a:prstGeom prst="roundRect">
            <a:avLst>
              <a:gd name="adj" fmla="val 50000"/>
            </a:avLst>
          </a:prstGeom>
          <a:solidFill>
            <a:srgbClr val="F5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8120" y="4617720"/>
            <a:ext cx="109728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6,0 %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4617720"/>
            <a:ext cx="146304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50" b="1">
                <a:solidFill>
                  <a:srgbClr val="C83A2E"/>
                </a:solidFill>
                <a:latin typeface="Arial"/>
              </a:rPr>
              <a:t>▼ - 0,3 pt</a:t>
            </a:r>
            <a:r>
              <a:rPr sz="1050" b="0">
                <a:solidFill>
                  <a:srgbClr val="8A8F9C"/>
                </a:solidFill>
                <a:latin typeface="Arial"/>
              </a:rPr>
              <a:t>   (6,3 %)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5029200"/>
            <a:ext cx="11002975" cy="18288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074920"/>
            <a:ext cx="27432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900" b="0">
                <a:solidFill>
                  <a:srgbClr val="8A8F9C"/>
                </a:solidFill>
                <a:latin typeface="Arial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074920"/>
            <a:ext cx="237744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Autres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91840" y="5221224"/>
            <a:ext cx="4297680" cy="73152"/>
          </a:xfrm>
          <a:prstGeom prst="roundRect">
            <a:avLst>
              <a:gd name="adj" fmla="val 50000"/>
            </a:avLst>
          </a:prstGeom>
          <a:solidFill>
            <a:srgbClr val="E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291840" y="5221224"/>
            <a:ext cx="1744188" cy="73152"/>
          </a:xfrm>
          <a:prstGeom prst="roundRect">
            <a:avLst>
              <a:gd name="adj" fmla="val 50000"/>
            </a:avLst>
          </a:prstGeom>
          <a:solidFill>
            <a:srgbClr val="F5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18120" y="5074920"/>
            <a:ext cx="109728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12,5 %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5074920"/>
            <a:ext cx="146304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50" b="1">
                <a:solidFill>
                  <a:srgbClr val="1E8E4E"/>
                </a:solidFill>
                <a:latin typeface="Arial"/>
              </a:rPr>
              <a:t>▲ +0,3 pt</a:t>
            </a:r>
            <a:r>
              <a:rPr sz="1050" b="0">
                <a:solidFill>
                  <a:srgbClr val="8A8F9C"/>
                </a:solidFill>
                <a:latin typeface="Arial"/>
              </a:rPr>
              <a:t>   (12,2 %)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5486400"/>
            <a:ext cx="11002975" cy="18288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5669280"/>
            <a:ext cx="109728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À retenir. </a:t>
            </a:r>
            <a:r>
              <a:rPr sz="1050" b="0">
                <a:solidFill>
                  <a:srgbClr val="111111"/>
                </a:solidFill>
                <a:latin typeface="Arial"/>
              </a:rPr>
              <a:t>Répartition stable : Modes &amp; Travaux reste en tête (- 0,8 pt), Marmiton et Qwant gagnent chacun 0,5 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