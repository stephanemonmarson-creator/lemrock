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ulanger" id="{43616565-1fe1-4417-d6e1-21dbff2bf32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solidFill>
              <a:srgbClr val="E8601C"/>
            </a:solidFill>
            <a:ln w="38100" cap="flat">
              <a:solidFill>
                <a:srgbClr val="E8601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601C"/>
              </a:solidFill>
              <a:ln w="9525" cap="flat">
                <a:solidFill>
                  <a:srgbClr val="E86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Sept. (1–30)</c:v>
                  </c:pt>
                  <c:pt idx="1">
                    <c:v>23–30 sept.</c:v>
                  </c:pt>
                  <c:pt idx="2">
                    <c:v>1–8 oct.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5.3</c:v>
                </c:pt>
                <c:pt idx="2">
                  <c:v>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 du top 5</c:v>
                </c:pt>
              </c:strCache>
            </c:strRef>
          </c:tx>
          <c:spPr>
            <a:solidFill>
              <a:srgbClr val="9AA3B5"/>
            </a:solidFill>
            <a:ln w="38100" cap="flat">
              <a:solidFill>
                <a:srgbClr val="9AA3B5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9AA3B5"/>
              </a:solidFill>
              <a:ln w="9525" cap="flat">
                <a:solidFill>
                  <a:srgbClr val="9AA3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Sept. (1–30)</c:v>
                  </c:pt>
                  <c:pt idx="1">
                    <c:v>23–30 sept.</c:v>
                  </c:pt>
                  <c:pt idx="2">
                    <c:v>1–8 oct.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14.4</c:v>
                </c:pt>
                <c:pt idx="1">
                  <c:v/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2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01 INDICATEURS  ·  02 BOULANGER  ·  03 PISTES DE RECO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VISIBILITÉ DANS LES RÉPONSES DE L'IA · 01/10/2026 → 08/10/2026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gagne 2,5 points de part de voix dans les réponses de l'IA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Périmètre analysé   </a:t>
            </a:r>
            <a:pPr indent="0" marL="0">
              <a:buNone/>
            </a:pPr>
            <a:r>
              <a:rPr lang="en-US" sz="1200" dirty="0">
                <a:solidFill>
                  <a:srgbClr val="1B2238"/>
                </a:solidFill>
              </a:rPr>
              <a:t>Électroménager, image &amp; son, informatique, téléphonie. Recommandations spontanées de l'agent (GEO). 10 enseignes suivies.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8521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96596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Part de voix dans les réponses de l'IA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Boulanger 6e sur 10</a:t>
            </a:r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, avec une part de voix de 7,8 %, soit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</a:rPr>
              <a:t>+2,5 points</a:t>
            </a:r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 vs S-1 (5,3 %)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Amazon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97180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97180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2880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27,4 %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095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209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E.Leclerc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300984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300984"/>
            <a:ext cx="1417654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3209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17,7 %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38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538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Cdiscount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630168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630168"/>
            <a:ext cx="985149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12,3 %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867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Fnac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3959352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959352"/>
            <a:ext cx="752878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32120" y="3867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9,4 %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197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Auchan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4288536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4288536"/>
            <a:ext cx="672785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3212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8,4 %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526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8"/>
                </a:solidFill>
              </a:rPr>
              <a:t>Boulanger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91840" y="4617720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617720"/>
            <a:ext cx="624729" cy="91440"/>
          </a:xfrm>
          <a:prstGeom prst="roundRect">
            <a:avLst>
              <a:gd name="adj" fmla="val 50000"/>
            </a:avLst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3212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</a:rPr>
              <a:t>7,8 %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48554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" y="4855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Darty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4946904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946904"/>
            <a:ext cx="424495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32120" y="4855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5,3 %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184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184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Carrefour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91840" y="5276088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5276088"/>
            <a:ext cx="416486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32120" y="5184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5,2 %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5513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Electro Dépôt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91840" y="5605272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5605272"/>
            <a:ext cx="192224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32120" y="5513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2,4 %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" y="58430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" y="5843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Back Market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291840" y="5934456"/>
            <a:ext cx="219456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5934456"/>
            <a:ext cx="128149" cy="91440"/>
          </a:xfrm>
          <a:prstGeom prst="roundRect">
            <a:avLst>
              <a:gd name="adj" fmla="val 50000"/>
            </a:avLst>
          </a:prstGeom>
          <a:solidFill>
            <a:srgbClr val="C9CED8"/>
          </a:solidFill>
          <a:ln w="12700">
            <a:solidFill>
              <a:srgbClr val="C9CED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2120" y="58430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238"/>
                </a:solidFill>
              </a:rPr>
              <a:t>1,6 %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Évolution de la part de voix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81228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% des citations dans les réponses de l'agent (GEO)</a:t>
            </a:r>
            <a:endParaRPr lang="en-US" sz="110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6720840" y="2788920"/>
          <a:ext cx="47548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3" name="Text 60"/>
          <p:cNvSpPr txBox="1"/>
          <p:nvPr/>
        </p:nvSpPr>
        <p:spPr>
          <a:xfrm>
            <a:off x="681228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5"/>
                </a:solidFill>
              </a:rPr>
              <a:t>Moyenne du top 5 non publiée pour le 23–30 sept. Mesure différente de celle du rapport du 02/10 (15,3 %) : séries non comparables.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Hebdo 01.10-08.10</dc:title>
  <dc:subject>PptxGenJS Presentation</dc:subject>
  <dc:creator>PptxGenJS</dc:creator>
  <cp:lastModifiedBy>PptxGenJS</cp:lastModifiedBy>
  <cp:revision>1</cp:revision>
  <dcterms:created xsi:type="dcterms:W3CDTF">2026-10-09T12:48:54Z</dcterms:created>
  <dcterms:modified xsi:type="dcterms:W3CDTF">2026-10-09T12:48:54Z</dcterms:modified>
</cp:coreProperties>
</file>