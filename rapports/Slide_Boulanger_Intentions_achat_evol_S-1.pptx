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F9C"/>
                </a:solidFill>
                <a:latin typeface="Arial"/>
              </a:rPr>
              <a:t>01 INDICATEURS   ·   </a:t>
            </a:r>
            <a:r>
              <a:rPr sz="750" b="1" i="0" spc="150">
                <a:solidFill>
                  <a:srgbClr val="F06E2E"/>
                </a:solidFill>
                <a:latin typeface="Arial"/>
              </a:rPr>
              <a:t>02 BOULANGER</a:t>
            </a:r>
            <a:r>
              <a:rPr sz="750" b="0" i="0" spc="150">
                <a:solidFill>
                  <a:srgbClr val="8A8F9C"/>
                </a:solidFill>
                <a:latin typeface="Arial"/>
              </a:rPr>
              <a:t>   ·   03 PISTES DE RECO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44444"/>
                </a:solidFill>
                <a:latin typeface="Arial"/>
              </a:rPr>
              <a:t>CE QUE VOTRE AUDIENCE DEMANDE AUX IA · PÉRIODE ANALYSÉE 08/10/2026 → 15/10/2026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rial"/>
              </a:rPr>
              <a:t>Boulanger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182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300">
                <a:solidFill>
                  <a:srgbClr val="8A8F9C"/>
                </a:solidFill>
                <a:latin typeface="Arial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749808"/>
            <a:ext cx="4096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Arial"/>
              </a:rPr>
              <a:t>vs 01/10/2026 → 07/10/2026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Top 10 des intentions d'achat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Arial"/>
              </a:rPr>
              <a:t>Part des conversations du périmètre et évolution vs S-1 · ce que l'audience écrit, les produits qu'elle nomme, la présence de Boulanger, les enseignes qui sortent dans la réponse.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INTENTION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ÉVOL.</a:t>
            </a:r>
          </a:p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VS S-1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CE QUE L'AUDIENCE ÉCRIT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PRODUITS CITÉS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PRÉSENCE</a:t>
            </a:r>
          </a:p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BOULANGER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10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8A8F9C"/>
                </a:solidFill>
                <a:latin typeface="Arial"/>
              </a:rPr>
              <a:t>ENSEIGNES CITÉES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03120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579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5798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 smartphone au meilleur rapport qualité-prix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6,4 %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15798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8E4E"/>
                </a:solidFill>
                <a:latin typeface="Arial"/>
              </a:rPr>
              <a:t>▲ +0,3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15798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 smartphone 6,3 pouces choisir en 2026 ?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5798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Samsung Galaxy S26, iPhone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157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22,1 %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148840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14884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8944" y="2148840"/>
            <a:ext cx="58978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2148840"/>
            <a:ext cx="5897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E.Leclerc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1884" y="215798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F9C"/>
                </a:solidFill>
                <a:latin typeface="Arial"/>
              </a:rPr>
              <a:t>+1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68880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963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49631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Trouver un casque ou des écouteurs adaptés à son 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2496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5,6 %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24963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8E4E"/>
                </a:solidFill>
                <a:latin typeface="Arial"/>
              </a:rPr>
              <a:t>▲ +0,3 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49631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 type d'écouteurs true wireless choisir pour le sport ? 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49631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Sony WF-1000XM6, AirPods Pro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4963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19,4 %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2487168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248716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38944" y="2487168"/>
            <a:ext cx="33832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38944" y="2487168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Fnac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807208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834639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2834639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une enceinte portable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2834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5,2 %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1568" y="28346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8F9C"/>
                </a:solidFill>
                <a:latin typeface="Arial"/>
              </a:rPr>
              <a:t>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2834639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Quelle enceinte portable offre le meilleur rendu des basses sans distorsion ? 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834639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JBL Charge 6, Sony ULT Field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28346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18,9 %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2825496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2825496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38944" y="2825496"/>
            <a:ext cx="33832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38944" y="2825496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Fnac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145536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1729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3172968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 ordinateur portable pour jouer ou étudier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3172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4,8 %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01568" y="3172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8F9C"/>
                </a:solidFill>
                <a:latin typeface="Arial"/>
              </a:rPr>
              <a:t>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31729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Je cherche un ordinateur portable en dessous de 1 000 € assez confortable pour jouer 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31729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Asus TUF Gaming, Lenovo LOQ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3172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20,3 %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26880" y="3163824"/>
            <a:ext cx="33832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163824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Fnac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38359" y="3163824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59" y="316382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83864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35112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3511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Équiper son salon d'un téléviseur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0" y="35112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4,5 %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01568" y="351129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8E4E"/>
                </a:solidFill>
                <a:latin typeface="Arial"/>
              </a:rPr>
              <a:t>▲ +0,1 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351129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Je cherche un TV 55 pouces anti-reflet avec une bonne qualité d'image »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351129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TCL 65C89K, téléviseurs Samsung et LG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58200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18,2 %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26880" y="3502152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0" y="3502152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38944" y="3502152"/>
            <a:ext cx="33832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38944" y="3502152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Fnac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50424" y="351129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F9C"/>
                </a:solidFill>
                <a:latin typeface="Arial"/>
              </a:rPr>
              <a:t>+1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822191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38496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808" y="384962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 aspirateur pour un foyer avec animaux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0" y="38496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4,4 %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01568" y="38496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83A2E"/>
                </a:solidFill>
                <a:latin typeface="Arial"/>
              </a:rPr>
              <a:t>▼ - 0,3 pt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0" y="384962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 est le meilleur aspirateur-balai pour un appartement avec animaux ? »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384962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Dreame X40 Ultra Complete, Dyson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58200" y="38496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19,8 %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26880" y="3840480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384048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38944" y="3840480"/>
            <a:ext cx="388620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38944" y="3840480"/>
            <a:ext cx="3886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Darty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4160520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418795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8" y="418795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une tablette polyvalente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26080" y="4187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4,0 %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01568" y="41879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E8E4E"/>
                </a:solidFill>
                <a:latin typeface="Arial"/>
              </a:rPr>
              <a:t>▲ +0,1 pt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06240" y="41879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Quelle est la meilleure tablette pour regarder des films en voyage ? 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75120" y="418795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Galaxy Tab S12 Ultra, Galaxy Tab A11+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58200" y="4187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17,6 %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26880" y="4178808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326880" y="417880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38944" y="4178808"/>
            <a:ext cx="33832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38944" y="4178808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Fnac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4498848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4526279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9808" y="4526279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Trouver un lave-linge silencieux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80" y="4526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3,4 %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01568" y="452627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8F9C"/>
                </a:solidFill>
                <a:latin typeface="Arial"/>
              </a:rPr>
              <a:t>NA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0" y="4526279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 lave-linge est le plus silencieux pour un appartement ? »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75120" y="4526279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Lave-linge Bosch et Samsung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58200" y="452627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19,1 %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326880" y="4517136"/>
            <a:ext cx="388620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26880" y="4517136"/>
            <a:ext cx="3886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Darty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788652" y="4517136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88652" y="4517136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4837175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2920" y="48646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9808" y="4864608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Acheter un chargeur ou une batterie externe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26080" y="4864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3,3 %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01568" y="4864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8F9C"/>
                </a:solidFill>
                <a:latin typeface="Arial"/>
              </a:rPr>
              <a:t>NA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486460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Je cherche un chargeur 100 W pour smartphone 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75120" y="486460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Anker, Belkin 10 000 mAh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58200" y="4864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14,2 %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326880" y="4855464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26880" y="48554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838944" y="4855464"/>
            <a:ext cx="58978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838944" y="4855464"/>
            <a:ext cx="5897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Cdiscount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5175504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2920" y="520293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F9C"/>
                </a:solidFill>
                <a:latin typeface="Arial"/>
              </a:rPr>
              <a:t>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" y="52029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Choisir un écran d'ordinateur pour jouer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26080" y="5202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rial"/>
              </a:rPr>
              <a:t>3,1 %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01568" y="52029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8F9C"/>
                </a:solidFill>
                <a:latin typeface="Arial"/>
              </a:rPr>
              <a:t>NA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06240" y="520293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44444"/>
                </a:solidFill>
                <a:latin typeface="Arial"/>
              </a:rPr>
              <a:t>« Quel est le meilleur choix pour jouer : 144 Hz ou 240 Hz ? »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75120" y="520293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Écrans Samsung Odyssey et LG UltraGear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58200" y="52029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06E2E"/>
                </a:solidFill>
                <a:latin typeface="Arial"/>
              </a:rPr>
              <a:t>16,9 %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326880" y="5193792"/>
            <a:ext cx="4389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326880" y="5193792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Amazon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838944" y="5193792"/>
            <a:ext cx="58978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838944" y="5193792"/>
            <a:ext cx="5897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Cdiscount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5513831"/>
            <a:ext cx="11185855" cy="13716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9808" y="55595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A8F9C"/>
                </a:solidFill>
                <a:latin typeface="Arial"/>
              </a:rPr>
              <a:t>Autres intentions : 55,3 %  (S-1 : 56,0 %)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5733288"/>
            <a:ext cx="11185855" cy="530352"/>
          </a:xfrm>
          <a:prstGeom prst="rect">
            <a:avLst/>
          </a:prstGeom>
          <a:solidFill>
            <a:srgbClr val="F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0080" y="57698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11111"/>
                </a:solidFill>
                <a:latin typeface="Arial"/>
              </a:rPr>
              <a:t>À retenir. </a:t>
            </a:r>
            <a:r>
              <a:rPr sz="750" b="0" i="0">
                <a:solidFill>
                  <a:srgbClr val="111111"/>
                </a:solidFill>
                <a:latin typeface="Arial"/>
              </a:rPr>
              <a:t>Le haut du classement est stable ; l'informatique gaming et étudiante monte, la friteuse sans huile sort du top 10.</a:t>
            </a:r>
          </a:p>
          <a:p>
            <a:pPr algn="l"/>
            <a:r>
              <a:rPr sz="750" b="0" i="0">
                <a:solidFill>
                  <a:srgbClr val="111111"/>
                </a:solidFill>
                <a:latin typeface="Arial"/>
              </a:rPr>
              <a:t>Smartphones : toujours la première intention (6,4 %, +0,3 pt), et la meilleure présence de Boulanger, à 22,1 %, au-dessus de sa moyenne de 18,8 %.</a:t>
            </a:r>
          </a:p>
          <a:p>
            <a:pPr algn="l"/>
            <a:r>
              <a:rPr sz="750" b="0" i="0">
                <a:solidFill>
                  <a:srgbClr val="111111"/>
                </a:solidFill>
                <a:latin typeface="Arial"/>
              </a:rPr>
              <a:t>Son : casques, écouteurs et enceintes pèsent ensemble 10,8 % des conversations (+0,4 pt), avec une présence de Boulanger proche de la moyenne (19,4 % et 18,9 %).</a:t>
            </a:r>
          </a:p>
          <a:p>
            <a:pPr algn="l"/>
            <a:r>
              <a:rPr sz="750" b="0" i="0">
                <a:solidFill>
                  <a:srgbClr val="111111"/>
                </a:solidFill>
                <a:latin typeface="Arial"/>
              </a:rPr>
              <a:t>Ordinateurs portables : nouvelle 4e intention (4,8 %), avec une présence de 20,3 %. Chargeurs et batteries externes : la plus faible présence du top 10 (14,2 %).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" y="6309360"/>
            <a:ext cx="1118585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1">
                <a:solidFill>
                  <a:srgbClr val="8A8F9C"/>
                </a:solidFill>
                <a:latin typeface="Arial"/>
              </a:rPr>
              <a:t>NA : intention nouvelle ou redéfinie cette semaine, sans équivalent comparable en S-1.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