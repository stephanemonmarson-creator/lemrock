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e27b876-79ec-abf7-260a-2727d26dd2fb}">
          <p14:sldIdLst>
            <p14:sldId id="256"/>
          </p14:sldIdLst>
        </p14:section>
        <p14:section name="Évolution" id="{dde5e32f-0d69-7c5f-fd0b-d1675218f898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Pistes de reco" id="{10557878-6315-3b23-6516-d7793702b576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Réponses de l'agent (GEO) · 6,3 % (▲ +0,7 pt)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9AA3B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601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Amazon</c:v>
                  </c:pt>
                  <c:pt idx="1">
                    <c:v>E.Leclerc</c:v>
                  </c:pt>
                  <c:pt idx="2">
                    <c:v>Auchan</c:v>
                  </c:pt>
                  <c:pt idx="3">
                    <c:v>Cdiscount</c:v>
                  </c:pt>
                  <c:pt idx="4">
                    <c:v>Carrefour</c:v>
                  </c:pt>
                  <c:pt idx="5">
                    <c:v>Fnac</c:v>
                  </c:pt>
                  <c:pt idx="6">
                    <c:v>Boulanger</c:v>
                  </c:pt>
                  <c:pt idx="7">
                    <c:v>Darty</c:v>
                  </c:pt>
                  <c:pt idx="8">
                    <c:v>Electro Dépôt</c:v>
                  </c:pt>
                  <c:pt idx="9">
                    <c:v>Back Market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22.3</c:v>
                </c:pt>
                <c:pt idx="1">
                  <c:v>17.8</c:v>
                </c:pt>
                <c:pt idx="2">
                  <c:v>11.3</c:v>
                </c:pt>
                <c:pt idx="3">
                  <c:v>10.3</c:v>
                </c:pt>
                <c:pt idx="4">
                  <c:v>10.2</c:v>
                </c:pt>
                <c:pt idx="5">
                  <c:v>9.5</c:v>
                </c:pt>
                <c:pt idx="6">
                  <c:v>6.3</c:v>
                </c:pt>
                <c:pt idx="7">
                  <c:v>6.1</c:v>
                </c:pt>
                <c:pt idx="8">
                  <c:v>3.8</c:v>
                </c:pt>
                <c:pt idx="9">
                  <c:v>0.9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Messages utilisateurs · 3,9 % (▼ -1,9 pt)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9AA3B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601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Amazon</c:v>
                  </c:pt>
                  <c:pt idx="1">
                    <c:v>E.Leclerc</c:v>
                  </c:pt>
                  <c:pt idx="2">
                    <c:v>Auchan</c:v>
                  </c:pt>
                  <c:pt idx="3">
                    <c:v>Carrefour</c:v>
                  </c:pt>
                  <c:pt idx="4">
                    <c:v>Cdiscount</c:v>
                  </c:pt>
                  <c:pt idx="5">
                    <c:v>Fnac</c:v>
                  </c:pt>
                  <c:pt idx="6">
                    <c:v>Darty</c:v>
                  </c:pt>
                  <c:pt idx="7">
                    <c:v>Boulanger</c:v>
                  </c:pt>
                  <c:pt idx="8">
                    <c:v>Electro Dépôt</c:v>
                  </c:pt>
                  <c:pt idx="9">
                    <c:v>Back Market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21.4</c:v>
                </c:pt>
                <c:pt idx="1">
                  <c:v>18.1</c:v>
                </c:pt>
                <c:pt idx="2">
                  <c:v>12.4</c:v>
                </c:pt>
                <c:pt idx="3">
                  <c:v>10.8</c:v>
                </c:pt>
                <c:pt idx="4">
                  <c:v>10.5</c:v>
                </c:pt>
                <c:pt idx="5">
                  <c:v>9.7</c:v>
                </c:pt>
                <c:pt idx="6">
                  <c:v>6</c:v>
                </c:pt>
                <c:pt idx="7">
                  <c:v>3.9</c:v>
                </c:pt>
                <c:pt idx="8">
                  <c:v>3.2</c:v>
                </c:pt>
                <c:pt idx="9">
                  <c:v>2.4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Moments de vie · part des conversations · 1–30 sept.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E8601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Départ en vacances</c:v>
                  </c:pt>
                  <c:pt idx="1">
                    <c:v>Équipement d'un étudiant</c:v>
                  </c:pt>
                  <c:pt idx="2">
                    <c:v>Équipement d'un enfant</c:v>
                  </c:pt>
                  <c:pt idx="3">
                    <c:v>Remplacement après panne</c:v>
                  </c:pt>
                  <c:pt idx="4">
                    <c:v>Achat d'un smartphone</c:v>
                  </c:pt>
                  <c:pt idx="5">
                    <c:v>Rentrée scolaire</c:v>
                  </c:pt>
                  <c:pt idx="6">
                    <c:v>Mariage</c:v>
                  </c:pt>
                  <c:pt idx="7">
                    <c:v>Naissance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23.8</c:v>
                </c:pt>
                <c:pt idx="1">
                  <c:v>22.7</c:v>
                </c:pt>
                <c:pt idx="2">
                  <c:v>13.2</c:v>
                </c:pt>
                <c:pt idx="3">
                  <c:v>9.5</c:v>
                </c:pt>
                <c:pt idx="4">
                  <c:v>6.1</c:v>
                </c:pt>
                <c:pt idx="5">
                  <c:v>5.8</c:v>
                </c:pt>
                <c:pt idx="6">
                  <c:v>4.2</c:v>
                </c:pt>
                <c:pt idx="7">
                  <c:v>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Part de chaque frein parmi les freins exprimés · 1–30 sept.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1B223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Compatibilité</c:v>
                  </c:pt>
                  <c:pt idx="1">
                    <c:v>Doute sur l'utilité réelle</c:v>
                  </c:pt>
                  <c:pt idx="2">
                    <c:v>Doute sur la fiabilité</c:v>
                  </c:pt>
                  <c:pt idx="3">
                    <c:v>Prix trop élevé</c:v>
                  </c:pt>
                  <c:pt idx="4">
                    <c:v>Attente d'une promotion</c:v>
                  </c:pt>
                  <c:pt idx="5">
                    <c:v>Livraison et délais</c:v>
                  </c:pt>
                  <c:pt idx="6">
                    <c:v>Avis mitigés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20.7</c:v>
                </c:pt>
                <c:pt idx="1">
                  <c:v>19.2</c:v>
                </c:pt>
                <c:pt idx="2">
                  <c:v>16.8</c:v>
                </c:pt>
                <c:pt idx="3">
                  <c:v>16.5</c:v>
                </c:pt>
                <c:pt idx="4">
                  <c:v>10.8</c:v>
                </c:pt>
                <c:pt idx="5">
                  <c:v>8.5</c:v>
                </c:pt>
                <c:pt idx="6">
                  <c:v>7.5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Top 8 produits · part des conversations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E8601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Téléphones mobiles</c:v>
                  </c:pt>
                  <c:pt idx="1">
                    <c:v>Piles</c:v>
                  </c:pt>
                  <c:pt idx="2">
                    <c:v>Casques &amp; écouteurs</c:v>
                  </c:pt>
                  <c:pt idx="3">
                    <c:v>Téléviseurs</c:v>
                  </c:pt>
                  <c:pt idx="4">
                    <c:v>Enceintes</c:v>
                  </c:pt>
                  <c:pt idx="5">
                    <c:v>Écrans PC</c:v>
                  </c:pt>
                  <c:pt idx="6">
                    <c:v>Tablettes</c:v>
                  </c:pt>
                  <c:pt idx="7">
                    <c:v>Nettoyeurs de sols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</c:v>
                </c:pt>
                <c:pt idx="1">
                  <c:v>8.2</c:v>
                </c:pt>
                <c:pt idx="2">
                  <c:v>6.2</c:v>
                </c:pt>
                <c:pt idx="3">
                  <c:v>6.1</c:v>
                </c:pt>
                <c:pt idx="4">
                  <c:v>5.5</c:v>
                </c:pt>
                <c:pt idx="5">
                  <c:v>5.4</c:v>
                </c:pt>
                <c:pt idx="6">
                  <c:v>4.7</c:v>
                </c:pt>
                <c:pt idx="7">
                  <c:v>4.4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Top 8 marques · part des conversations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1B223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Apple</c:v>
                  </c:pt>
                  <c:pt idx="1">
                    <c:v>Samsung</c:v>
                  </c:pt>
                  <c:pt idx="2">
                    <c:v>Xiaomi</c:v>
                  </c:pt>
                  <c:pt idx="3">
                    <c:v>Google</c:v>
                  </c:pt>
                  <c:pt idx="4">
                    <c:v>Sony</c:v>
                  </c:pt>
                  <c:pt idx="5">
                    <c:v>JBL</c:v>
                  </c:pt>
                  <c:pt idx="6">
                    <c:v>Nintendo</c:v>
                  </c:pt>
                  <c:pt idx="7">
                    <c:v>LG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7.1</c:v>
                </c:pt>
                <c:pt idx="1">
                  <c:v>5.9</c:v>
                </c:pt>
                <c:pt idx="2">
                  <c:v>4.9</c:v>
                </c:pt>
                <c:pt idx="3">
                  <c:v>4.1</c:v>
                </c:pt>
                <c:pt idx="4">
                  <c:v>3.9</c:v>
                </c:pt>
                <c:pt idx="5">
                  <c:v>3.2</c:v>
                </c:pt>
                <c:pt idx="6">
                  <c:v>2.7</c:v>
                </c:pt>
                <c:pt idx="7">
                  <c:v>2.5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Boulanger · Rapport du 09/10/2026 · Données 1–30 sept. 2026 vs 2–31 août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01C"/>
                </a:solidFill>
              </a:rPr>
              <a:t>LEMROCK × BOULANGER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Rapport de performance Boulanger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97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DAE3"/>
                </a:solidFill>
              </a:rPr>
              <a:t>Ce qui a bougé en septembre : visibilité dans les IA, audience et engagement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Date du rapport : 09/10/2026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Période analysée : 01/09/2026 → 30/09/2026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Comparaison : 02/08/2026 → 31/08/2026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Rapport précédent : hebdo du 02/10/2026 (25/09 → 01/10)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SYNTHÈSE · SEPTEMBRE VS AOÛT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Boulanger gagne en visibilité là où il est poussé, et l'audience s'y attarde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099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SHARE OF VOICE GEA (ADS)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238"/>
                </a:solidFill>
              </a:rPr>
              <a:t>14,3 %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334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</a:rPr>
              <a:t>▲ +10,3 pts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Part de voix sur les pages ciblées par vos campagnes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054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03420" y="17099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SHARE OF VOICE GEO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03420" y="20116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238"/>
                </a:solidFill>
              </a:rPr>
              <a:t>6,3 %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503420" y="26334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</a:rPr>
              <a:t>▲ +0,7 pt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03420" y="29260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Recommandations spontanées de l'agent citant Boulanger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7099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SHARE OF VOICE UTILISATEURS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0116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238"/>
                </a:solidFill>
              </a:rPr>
              <a:t>3,9 %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6334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</a:rPr>
              <a:t>▼ -1,9 pt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9260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Part des messages utilisateurs citant Boulanger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7216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LONGUEUR DES REQUÊTES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023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238"/>
                </a:solidFill>
              </a:rPr>
              <a:t>12,5 mots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6451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</a:rPr>
              <a:t>▲ +42,7 %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9377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vs 8,8 mots en août · requêtes shopping plus précises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20540" y="36118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03420" y="37216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PERSISTANCE DE BOULANGER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03420" y="4023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238"/>
                </a:solidFill>
              </a:rPr>
              <a:t>+50,5 %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4503420" y="46451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</a:rPr>
              <a:t>▲ vs concurrents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03420" y="49377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Portée en messages entre 1re et dernière citation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92440" y="36118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7216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DURÉE APRÈS 1RE MENTION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023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238"/>
                </a:solidFill>
              </a:rPr>
              <a:t>+256,8 %</a:t>
            </a:r>
            <a:endParaRPr lang="en-US" sz="36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451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</a:rPr>
              <a:t>▲ vs concurrents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9377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Temps restant dans la conversation après la 1re citation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les campagnes font progresser la part de voix ads de +10,3 pts, mais Boulanger recule dans ce que l'audience nomme spontanément (-1,9 pt).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VISIBILITÉ FACE À LA CONCURRENCE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Boulanger 7e dans les réponses de l'IA, 8e dans les messages de l'audience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3949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463040"/>
          <a:ext cx="53949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l'IA cite Boulanger plus souvent que l'audience ne le nomme : devant Darty en GEO, derrière lui côté utilisateurs.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CE QUI INTÉRESSE VOTRE AUDIENCE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Les départs en vacances et la rentrée étudiante déclenchent près de la moitié des conversations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5836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55448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69164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238"/>
                </a:solidFill>
              </a:rPr>
              <a:t>Des requêtes plus longues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E8601C"/>
                </a:solidFill>
              </a:rPr>
              <a:t>8,8 → 12,5 mots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275"/>
                </a:solidFill>
              </a:rPr>
              <a:t>Longueur moyenne des requêtes shopping, +42,7 % en un mois. Rapport hebdo du 02/10 : 7,7 → 8 mots.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238"/>
                </a:solidFill>
              </a:rPr>
              <a:t>Étudiant : ordinateur portable, tablette, friteuse à air. Marques citées : Samsung, Asus, HP.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l'audience décrit son besoin de plus en plus précisément : c'est un contexte favorable aux recommandations produit ciblées.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FREINS À L'ACHAT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Compatibilité et utilité réelle : les deux premiers freins avant achat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0350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600200"/>
            <a:ext cx="4663440" cy="1115568"/>
          </a:xfrm>
          <a:prstGeom prst="roundRect">
            <a:avLst>
              <a:gd name="adj" fmla="val 819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673352"/>
            <a:ext cx="4297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Compatibilité</a:t>
            </a:r>
            <a:endParaRPr lang="en-US" sz="12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B2238"/>
                </a:solidFill>
              </a:rPr>
              <a:t>« Est-ce que ça marche avec tous les smartphones Android ? »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949440" y="2898648"/>
            <a:ext cx="4663440" cy="1115568"/>
          </a:xfrm>
          <a:prstGeom prst="roundRect">
            <a:avLst>
              <a:gd name="adj" fmla="val 819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0" y="2971800"/>
            <a:ext cx="4297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Fiabilité</a:t>
            </a:r>
            <a:endParaRPr lang="en-US" sz="12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B2238"/>
                </a:solidFill>
              </a:rPr>
              <a:t>« Comment je vérifie qu'un iPhone reconditionné est fiable ? »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49440" y="4197096"/>
            <a:ext cx="4663440" cy="1115568"/>
          </a:xfrm>
          <a:prstGeom prst="roundRect">
            <a:avLst>
              <a:gd name="adj" fmla="val 819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0" y="4270248"/>
            <a:ext cx="4297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</a:rPr>
              <a:t>Attente promo</a:t>
            </a:r>
            <a:endParaRPr lang="en-US" sz="12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B2238"/>
                </a:solidFill>
              </a:rPr>
              <a:t>« Est-ce qu'il vaut mieux attendre le Black Friday ? »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10,8 % des freins portent sur l'attente d'une promotion : le Black Friday est déjà dans les têtes.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PRODUITS ET MARQUES NOMMÉS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smartphone reste la première catégorie demandée, portée par Apple et Samsung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4864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463040"/>
          <a:ext cx="53949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29,9 % des recherches nomment déjà une marque ; iPhone 17/18 Pro, Galaxy S25/S26 et Redmi sont les modèles les plus cités.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SUIVI · DEPUIS LE RAPPORT DU 02/10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Ce qui a évolué depuis le dernier rapport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108960"/>
                <a:gridCol w="2468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Indicateur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Rapport du 02/10 (25/09 → 01/10)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Ce rapport (1–30 sept.)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Lecture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Smartphone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1re intention · 6,1 % des conv.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1er produit · 9,0 % des conv.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Priorité confirmée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Longueur des requêtes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8 mots (+3,9 % vs S-1)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12,5 mots (+42,7 % vs août)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Requêtes plus précises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Visibilité ads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Part de voix 15,3 % (+0,5 pt)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SoV GEA 14,3 % (+10,3 pts)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Effet campagne net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Engagement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Win rate 22,5 % (+0,2 pt)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Persistance +50,5 % vs concurrents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Boulanger reste cité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Conversion tracker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Intégration démarrée le 01/10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À confirmer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Statut à mettre à jour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Budget / CTR / CPC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5 207 € · 0,60 % · 0,30 €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À compléter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238"/>
                          </a:solidFill>
                        </a:rPr>
                        <a:t>Données média absentes de la source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les mesures du rapport hebdo et de l'étude mensuelle n'ont pas le même périmètre : on compare les tendances, pas les niveaux.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· PISTES DE RECO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Trois priorités pour les prochaines semaines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Accélérer sur le smartphone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1er produit demandé (9,0 %), Apple, Samsung et Xiaomi en tête. Construire le plan de visibilité smartphone 2027 sur ces modèles.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5968" y="160020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1828800"/>
            <a:ext cx="640080" cy="640080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456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Préparer le Black Friday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34290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10,8 % des freins = attente d'une promo, 16,5 % = prix. Prévoir les ad groups promo et le budget de novembre.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160020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11896" y="1828800"/>
            <a:ext cx="640080" cy="640080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1189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238"/>
                </a:solidFill>
              </a:rPr>
              <a:t>Faire nommer Boulanger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34290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SoV utilisateurs en recul (-1,9 pt) malgré la hausse GEA. Lever les freins compatibilité et fiabilité dans les annonces, et finaliser le conversion tracker.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MÉTHODOLOGIE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Sources et périmètre des chiffres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238"/>
                </a:solidFill>
              </a:rPr>
              <a:t>Source : étude Lemrock « Ce que votre audience raconte aux IA en ce moment » (Boulanger, générée le 7 octobre 2026), secteur Distribution Électroménager &amp; High-Tech.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238"/>
                </a:solidFill>
              </a:rPr>
              <a:t>Période : 1–30 septembre 2026, comparée aux 30 jours précédents (2–31 août 2026). Pondération Kish, pas d'extrapolation.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238"/>
                </a:solidFill>
              </a:rPr>
              <a:t>SoV GEO : marques citées par l'agent sans qu'un message utilisateur antérieur les ait nommées. SoV GEA : décisions du moteur publicitaire Lemrock sur les pages des topics ciblés.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238"/>
                </a:solidFill>
              </a:rPr>
              <a:t>Persistance et durée : écarts vs enseignes concurrentes uniquement, durées plafonnées à une heure.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238"/>
                </a:solidFill>
              </a:rPr>
              <a:t>Les données média hebdomadaires (impressions, clics, CTR, CPC, budget) ne figurent pas dans cette source : à compléter depuis l'outil de campagne.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mrock Boulanger">
  <a:themeElements>
    <a:clrScheme name="Lemrock Boulanger">
      <a:dk1>
        <a:srgbClr val="1B2238"/>
      </a:dk1>
      <a:lt1>
        <a:srgbClr val="FFFFFF"/>
      </a:lt1>
      <a:dk2>
        <a:srgbClr val="5A6275"/>
      </a:dk2>
      <a:lt2>
        <a:srgbClr val="F2F4F8"/>
      </a:lt2>
      <a:accent1>
        <a:srgbClr val="E8601C"/>
      </a:accent1>
      <a:accent2>
        <a:srgbClr val="1B2238"/>
      </a:accent2>
      <a:accent3>
        <a:srgbClr val="2E9E6B"/>
      </a:accent3>
      <a:accent4>
        <a:srgbClr val="C8372D"/>
      </a:accent4>
      <a:accent5>
        <a:srgbClr val="9AA3B5"/>
      </a:accent5>
      <a:accent6>
        <a:srgbClr val="F4B183"/>
      </a:accent6>
      <a:hlink>
        <a:srgbClr val="E8601C"/>
      </a:hlink>
      <a:folHlink>
        <a:srgbClr val="5A6275"/>
      </a:folHlink>
    </a:clrScheme>
    <a:fontScheme name="Lemrock Boulang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Boulanger 09/10/2026</dc:title>
  <dc:subject>PptxGenJS Presentation</dc:subject>
  <dc:creator>PptxGenJS</dc:creator>
  <cp:lastModifiedBy>PptxGenJS</cp:lastModifiedBy>
  <cp:revision>1</cp:revision>
  <dcterms:created xsi:type="dcterms:W3CDTF">2026-10-09T08:24:37Z</dcterms:created>
  <dcterms:modified xsi:type="dcterms:W3CDTF">2026-10-09T08:24:37Z</dcterms:modified>
</cp:coreProperties>
</file>