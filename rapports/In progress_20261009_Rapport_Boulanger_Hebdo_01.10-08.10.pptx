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73ec8b9-c386-070f-0962-b594f2b5ff58}">
          <p14:sldIdLst>
            <p14:sldId id="256"/>
          </p14:sldIdLst>
        </p14:section>
        <p14:section name="Boulanger" id="{38c507cc-3f94-4d71-3d51-56572417def4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istes de reco" id="{7d49d753-d0c6-771f-a765-36cb67ffde03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Réponses de l'agent (GEO) · 7,8 % (▲ +2,5 pts)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Cdiscount</c:v>
                  </c:pt>
                  <c:pt idx="3">
                    <c:v>Fnac</c:v>
                  </c:pt>
                  <c:pt idx="4">
                    <c:v>Auchan</c:v>
                  </c:pt>
                  <c:pt idx="5">
                    <c:v>Boulanger</c:v>
                  </c:pt>
                  <c:pt idx="6">
                    <c:v>Darty</c:v>
                  </c:pt>
                  <c:pt idx="7">
                    <c:v>Carrefour</c:v>
                  </c:pt>
                  <c:pt idx="8">
                    <c:v>Electro Dépôt</c:v>
                  </c:pt>
                  <c:pt idx="9">
                    <c:v>Back Market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17.7</c:v>
                </c:pt>
                <c:pt idx="2">
                  <c:v>12.3</c:v>
                </c:pt>
                <c:pt idx="3">
                  <c:v>9.4</c:v>
                </c:pt>
                <c:pt idx="4">
                  <c:v>8.4</c:v>
                </c:pt>
                <c:pt idx="5">
                  <c:v>7.8</c:v>
                </c:pt>
                <c:pt idx="6">
                  <c:v>5.3</c:v>
                </c:pt>
                <c:pt idx="7">
                  <c:v>5.2</c:v>
                </c:pt>
                <c:pt idx="8">
                  <c:v>2.4</c:v>
                </c:pt>
                <c:pt idx="9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Messages utilisateurs · 4,3 % (▲ +0,3 pt)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Moments de vie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Départ en vacances</c:v>
                  </c:pt>
                  <c:pt idx="1">
                    <c:v>Remplacement après panne</c:v>
                  </c:pt>
                  <c:pt idx="2">
                    <c:v>Équipement d'un enfant</c:v>
                  </c:pt>
                  <c:pt idx="3">
                    <c:v>Équipement d'un étudiant</c:v>
                  </c:pt>
                  <c:pt idx="4">
                    <c:v>Cadeau</c:v>
                  </c:pt>
                  <c:pt idx="5">
                    <c:v>Séparation</c:v>
                  </c:pt>
                  <c:pt idx="6">
                    <c:v>Équip. personne âgée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19.5</c:v>
                </c:pt>
                <c:pt idx="2">
                  <c:v>12.9</c:v>
                </c:pt>
                <c:pt idx="3">
                  <c:v>11.2</c:v>
                </c:pt>
                <c:pt idx="4">
                  <c:v>9.8</c:v>
                </c:pt>
                <c:pt idx="5">
                  <c:v>8.9</c:v>
                </c:pt>
                <c:pt idx="6">
                  <c:v>4.8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Moins de clics, mais deux fois plus de ventes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 · BUDGET SEMAINE 2 367,15 € · CUMUL 7 279,90 € sur 30 000 € (24 %) · CA HT 888,68 €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MENTIONS CONVERSATIONNELLES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1 311 465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+16,7 %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4 475 698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10358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20086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TRAFIC LLM QUALIFIÉ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520086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6 468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20086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-11,3 %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26 646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2077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1805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CTR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381805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0,49 %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381805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-0,16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0,60 %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33795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43523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CPC MOYEN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43523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0,37 €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43523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▲ +26,6 %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0,27 €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95514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05242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CONVERSIONS LAST CLICK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105242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105242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+100 %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15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857232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0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CVR LAST CLICK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0,29 %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966960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+0,17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0,20 %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+0,3 pt  vs 23/09 → 30/09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conversions doublent (6 ventes, 888,68 € HT, CVR 0,29 %) malgré des clics en recul (-11,3 %) et un CPC à 0,37 €.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: 6 cette semaine.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mais le trafic qualifié recule de 11,3 %.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6e sur 10 dans les recommandations de l'IA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l'IA cite Boulanger presque deux fois plus que l'audience ne le nomme (7,8 % vs 4,3 %) : la marge de progression est côté audience.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QUI DÉCLENCHE LES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remplacement après panne monte à 19,5 % des moments de vie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5836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830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920240"/>
            <a:ext cx="3657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Usages recherchés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Écoute musicale · 7,4 %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Jeu vidéo · 6,6 %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Bureautique · 5,2 %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Maison avec animaux · 5,1 %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Films et séries · 4,5 %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E8601C"/>
                </a:solidFill>
              </a:rPr>
              <a:t>Le Cadeau (9,8 %) apparaît dans le top 5 : premier signal avant la période des fêtes.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panne (19,5 %) et cadeau (9,8 %) sont des moments d'achat à court terme, propices aux annonces produit.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CHAMPS SÉMANTIQUES DES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Vacances, panne et smartphone dominent les conversations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64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E8601C"/>
                </a:solidFill>
              </a:rPr>
              <a:t>aspirateur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B2238"/>
                </a:solidFill>
              </a:rPr>
              <a:t>départ en vacances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601C"/>
                </a:solidFill>
              </a:rPr>
              <a:t>smartphone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8A93A6"/>
                </a:solidFill>
              </a:rPr>
              <a:t>compatibilité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8A93A6"/>
                </a:solidFill>
              </a:rPr>
              <a:t>prix     </a:t>
            </a:r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8601C"/>
                </a:solidFill>
              </a:rPr>
              <a:t>enceinte     </a:t>
            </a:r>
            <a:pPr algn="ctr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B2238"/>
                </a:solidFill>
              </a:rPr>
              <a:t>équipement enfant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8A93A6"/>
                </a:solidFill>
              </a:rPr>
              <a:t>rendu sonore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8601C"/>
                </a:solidFill>
              </a:rPr>
              <a:t>casque &amp; écouteurs     </a:t>
            </a:r>
            <a:pPr algn="ctr" indent="0" marL="0">
              <a:lnSpc>
                <a:spcPct val="105000"/>
              </a:lnSpc>
              <a:buNone/>
            </a:pPr>
            <a:r>
              <a:rPr lang="en-US" sz="3500" b="1" dirty="0">
                <a:solidFill>
                  <a:srgbClr val="1B2238"/>
                </a:solidFill>
              </a:rPr>
              <a:t>panne     </a:t>
            </a:r>
            <a:pPr algn="ctr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E8601C"/>
                </a:solidFill>
              </a:rPr>
              <a:t>écran PC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8601C"/>
                </a:solidFill>
              </a:rPr>
              <a:t>tablette     </a:t>
            </a:r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8601C"/>
                </a:solidFill>
              </a:rPr>
              <a:t>téléviseur     </a:t>
            </a:r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2238"/>
                </a:solidFill>
              </a:rPr>
              <a:t>cadeau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E8601C"/>
                </a:solidFill>
              </a:rPr>
              <a:t>PC portable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8A93A6"/>
                </a:solidFill>
              </a:rPr>
              <a:t>autonomie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qualité photo     </a:t>
            </a:r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B2238"/>
                </a:solidFill>
              </a:rPr>
              <a:t>étudiant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8601C"/>
                </a:solidFill>
              </a:rPr>
              <a:t>lave-linge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2238"/>
                </a:solidFill>
              </a:rPr>
              <a:t>séparation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taille d'écran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03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Taille du mot = fréquence au sein de sa famille     </a:t>
            </a:r>
            <a:pPr algn="ctr"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● Produits   </a:t>
            </a:r>
            <a:pPr algn="ctr" indent="0" marL="0">
              <a:buNone/>
            </a:pPr>
            <a:r>
              <a:rPr lang="en-US" sz="1200" b="1" dirty="0">
                <a:solidFill>
                  <a:srgbClr val="1B2238"/>
                </a:solidFill>
              </a:rPr>
              <a:t>● Occasions   </a:t>
            </a:r>
            <a:pPr algn="ctr" indent="0" marL="0">
              <a:buNone/>
            </a:pPr>
            <a:r>
              <a:rPr lang="en-US" sz="1200" b="1" dirty="0">
                <a:solidFill>
                  <a:srgbClr val="8A93A6"/>
                </a:solidFill>
              </a:rPr>
              <a:t>● Critères d'achat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7150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 prix est le premier critère d'achat ; le smartphone, la première demande produit ; vacances et panne, les premiers déclencheurs.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Fiabiliser la mesure des conversions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Les premières ventes remontent : 15 transactions et 2 103 € HT depuis le lancement, dont 6 cette semaine.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1–8 oct. : 6 transactions, 888,68 € HT, panier moyen 148 €.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6 sur 6 réalisées par de nouveaux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CVR 0,29 % sur 2 039 visites (0,12 % la semaine précédente).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Écart clics / visites : 6 468 clics Lemrock pour 2 039 visites mesurées (31 %).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et consentement Didomi : à finaliser pour réduire cet écart.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ROAS de la semaine : 0,38 (CA HT / budget).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réconcilier clics et visites avec vos équipes pour que chaque vente attribuée à Lemrock soit comptée.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CTR en recul de 0,16 pt à 0,49 %, CPC en hausse de 26,6 % à 0,37 €.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2026-10-09T10:19:13Z</dcterms:created>
  <dcterms:modified xsi:type="dcterms:W3CDTF">2026-10-09T10:19:13Z</dcterms:modified>
</cp:coreProperties>
</file>