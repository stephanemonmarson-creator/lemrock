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3b92aa3d-9b67-ebbf-2d3a-54f6203f451b}">
          <p14:sldIdLst>
            <p14:sldId id="256"/>
          </p14:sldIdLst>
        </p14:section>
        <p14:section name="Boulanger" id="{e38d4c9c-b20c-eb00-0e84-40e84230525e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Pistes de reco" id="{116b9b20-ef86-2434-ebc1-ac872c77effd}">
          <p14:sldIdLst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Réponses de l'agent (GEO) · 7,8 % (▲ +2,5 pts)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9AA3B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601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Amazon</c:v>
                  </c:pt>
                  <c:pt idx="1">
                    <c:v>E.Leclerc</c:v>
                  </c:pt>
                  <c:pt idx="2">
                    <c:v>Cdiscount</c:v>
                  </c:pt>
                  <c:pt idx="3">
                    <c:v>Fnac</c:v>
                  </c:pt>
                  <c:pt idx="4">
                    <c:v>Auchan</c:v>
                  </c:pt>
                  <c:pt idx="5">
                    <c:v>Boulanger</c:v>
                  </c:pt>
                  <c:pt idx="6">
                    <c:v>Darty</c:v>
                  </c:pt>
                  <c:pt idx="7">
                    <c:v>Carrefour</c:v>
                  </c:pt>
                  <c:pt idx="8">
                    <c:v>Electro Dépôt</c:v>
                  </c:pt>
                  <c:pt idx="9">
                    <c:v>Back Market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27.4</c:v>
                </c:pt>
                <c:pt idx="1">
                  <c:v>17.7</c:v>
                </c:pt>
                <c:pt idx="2">
                  <c:v>12.3</c:v>
                </c:pt>
                <c:pt idx="3">
                  <c:v>9.4</c:v>
                </c:pt>
                <c:pt idx="4">
                  <c:v>8.4</c:v>
                </c:pt>
                <c:pt idx="5">
                  <c:v>7.8</c:v>
                </c:pt>
                <c:pt idx="6">
                  <c:v>5.3</c:v>
                </c:pt>
                <c:pt idx="7">
                  <c:v>5.2</c:v>
                </c:pt>
                <c:pt idx="8">
                  <c:v>2.4</c:v>
                </c:pt>
                <c:pt idx="9">
                  <c:v>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Messages utilisateurs · 4,3 % (▲ +0,3 pt)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9AA3B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8601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Amazon</c:v>
                  </c:pt>
                  <c:pt idx="1">
                    <c:v>E.Leclerc</c:v>
                  </c:pt>
                  <c:pt idx="2">
                    <c:v>Fnac</c:v>
                  </c:pt>
                  <c:pt idx="3">
                    <c:v>Carrefour</c:v>
                  </c:pt>
                  <c:pt idx="4">
                    <c:v>Cdiscount</c:v>
                  </c:pt>
                  <c:pt idx="5">
                    <c:v>Darty</c:v>
                  </c:pt>
                  <c:pt idx="6">
                    <c:v>Auchan</c:v>
                  </c:pt>
                  <c:pt idx="7">
                    <c:v>Boulanger</c:v>
                  </c:pt>
                  <c:pt idx="8">
                    <c:v>Back Market</c:v>
                  </c:pt>
                  <c:pt idx="9">
                    <c:v>Conforama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29.8</c:v>
                </c:pt>
                <c:pt idx="1">
                  <c:v>15.3</c:v>
                </c:pt>
                <c:pt idx="2">
                  <c:v>11.5</c:v>
                </c:pt>
                <c:pt idx="3">
                  <c:v>9.2</c:v>
                </c:pt>
                <c:pt idx="4">
                  <c:v>7.5</c:v>
                </c:pt>
                <c:pt idx="5">
                  <c:v>7.1</c:v>
                </c:pt>
                <c:pt idx="6">
                  <c:v>5.7</c:v>
                </c:pt>
                <c:pt idx="7">
                  <c:v>4.3</c:v>
                </c:pt>
                <c:pt idx="8">
                  <c:v>3.3</c:v>
                </c:pt>
                <c:pt idx="9">
                  <c:v>2.3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Freins à l'achat · part des freins exprimés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1B223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Prix trop élevé</c:v>
                  </c:pt>
                  <c:pt idx="1">
                    <c:v>Doute sur l'utilité réelle</c:v>
                  </c:pt>
                  <c:pt idx="2">
                    <c:v>Compatibilité</c:v>
                  </c:pt>
                  <c:pt idx="3">
                    <c:v>Doute sur la fiabilité</c:v>
                  </c:pt>
                  <c:pt idx="4">
                    <c:v>Livraison et délais</c:v>
                  </c:pt>
                  <c:pt idx="5">
                    <c:v>Attente d'une promotion</c:v>
                  </c:pt>
                  <c:pt idx="6">
                    <c:v>Avis mitigés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18.1</c:v>
                </c:pt>
                <c:pt idx="2">
                  <c:v>17.1</c:v>
                </c:pt>
                <c:pt idx="3">
                  <c:v>14.3</c:v>
                </c:pt>
                <c:pt idx="4">
                  <c:v>10.2</c:v>
                </c:pt>
                <c:pt idx="5">
                  <c:v>9.1</c:v>
                </c:pt>
                <c:pt idx="6">
                  <c:v>9.1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Critères de choix · part des critères exprimés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E8601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Prix</c:v>
                  </c:pt>
                  <c:pt idx="1">
                    <c:v>Rendu sonore</c:v>
                  </c:pt>
                  <c:pt idx="2">
                    <c:v>Compatibilité</c:v>
                  </c:pt>
                  <c:pt idx="3">
                    <c:v>Autonomie batterie</c:v>
                  </c:pt>
                  <c:pt idx="4">
                    <c:v>Qualité photo</c:v>
                  </c:pt>
                  <c:pt idx="5">
                    <c:v>Taille de l'écran</c:v>
                  </c:pt>
                  <c:pt idx="6">
                    <c:v>Qualité sonore</c:v>
                  </c:pt>
                  <c:pt idx="7">
                    <c:v>Stockage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10.1</c:v>
                </c:pt>
                <c:pt idx="1">
                  <c:v>6.2</c:v>
                </c:pt>
                <c:pt idx="2">
                  <c:v>6</c:v>
                </c:pt>
                <c:pt idx="3">
                  <c:v>5.2</c:v>
                </c:pt>
                <c:pt idx="4">
                  <c:v>3.7</c:v>
                </c:pt>
                <c:pt idx="5">
                  <c:v>3.6</c:v>
                </c:pt>
                <c:pt idx="6">
                  <c:v>3.3</c:v>
                </c:pt>
                <c:pt idx="7">
                  <c:v>3.2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Moments de vie · part des conversations · 1–8 oct.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E8601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Départ en vacances</c:v>
                  </c:pt>
                  <c:pt idx="1">
                    <c:v>Remplacement après panne</c:v>
                  </c:pt>
                  <c:pt idx="2">
                    <c:v>Équipement d'un enfant</c:v>
                  </c:pt>
                  <c:pt idx="3">
                    <c:v>Équipement d'un étudiant</c:v>
                  </c:pt>
                  <c:pt idx="4">
                    <c:v>Cadeau</c:v>
                  </c:pt>
                  <c:pt idx="5">
                    <c:v>Séparation</c:v>
                  </c:pt>
                  <c:pt idx="6">
                    <c:v>Équip. personne âgée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</c:v>
                </c:pt>
                <c:pt idx="1">
                  <c:v>19.5</c:v>
                </c:pt>
                <c:pt idx="2">
                  <c:v>12.9</c:v>
                </c:pt>
                <c:pt idx="3">
                  <c:v>11.2</c:v>
                </c:pt>
                <c:pt idx="4">
                  <c:v>9.8</c:v>
                </c:pt>
                <c:pt idx="5">
                  <c:v>8.9</c:v>
                </c:pt>
                <c:pt idx="6">
                  <c:v>4.8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01 INDICATEURS  ·  02 BOULANGER  ·  03 PISTES DE RECO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601C"/>
                </a:solidFill>
              </a:rPr>
              <a:t>AGENDA · CE QUE NOUS ALLONS VOIR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Boulanger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AE3"/>
                </a:solidFill>
              </a:rPr>
              <a:t>Revue de performance de la campagne Boulanger, du 1er au 8 octobre 2026 · rapport du 09/10/2026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8346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8346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Les indicateurs qui comptent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Ce que nous pilotons, et comment chaque chiffre se mesure.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319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393192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Boulanger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Formats diffusés, performance de la semaine, visibilité dans les réponses des IA et intentions d'achat.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0292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03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502920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Pistes de reco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Ce que nous proposons pour les prochaines semaines.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FORMATS PUBLICITAIRES · CE QUE VOIT L'UTILISATEUR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Vos 3 formats, campagne en cours depuis le 28 août 2026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Budget mensuel 10 000 €   ·   Activation le 28 août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20240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Carrousel produit sponsorisé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315968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87568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87568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Question suggérée sponsorisée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083296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54896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454896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Text ads sur Qwant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les trois formats sont servis dans le même inventaire éditorial, au moment où l'utilisateur exprime son intention d'achat.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RAPPORT DE PERFORMANCE · 01/10/2026 → 08/10/2026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Boulanger gagne +2,5 pts de recommandations spontanées des IA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COMPARAISON vs 23/09 → 30/09   ·   Campagne lancée le 28 août 2026   ·   42 jours de diffusion   ·   statut : Live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PERFORMANCE MÉDIA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520440" cy="603504"/>
          </a:xfrm>
          <a:prstGeom prst="roundRect">
            <a:avLst>
              <a:gd name="adj" fmla="val 12121"/>
            </a:avLst>
          </a:prstGeom>
          <a:solidFill>
            <a:srgbClr val="F2F4F8"/>
          </a:solidFill>
          <a:ln w="12700">
            <a:solidFill>
              <a:srgbClr val="D9DDE5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31520" y="205740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Budget consommé   </a:t>
            </a:r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</a:rPr>
              <a:t>À compléter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5968" y="2057400"/>
            <a:ext cx="3520440" cy="603504"/>
          </a:xfrm>
          <a:prstGeom prst="roundRect">
            <a:avLst>
              <a:gd name="adj" fmla="val 12121"/>
            </a:avLst>
          </a:prstGeom>
          <a:solidFill>
            <a:srgbClr val="F2F4F8"/>
          </a:solidFill>
          <a:ln w="12700">
            <a:solidFill>
              <a:srgbClr val="D9DDE5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498848" y="205740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Mentions conversationnelles   </a:t>
            </a:r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</a:rPr>
              <a:t>À compléter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83296" y="2057400"/>
            <a:ext cx="3520440" cy="603504"/>
          </a:xfrm>
          <a:prstGeom prst="roundRect">
            <a:avLst>
              <a:gd name="adj" fmla="val 12121"/>
            </a:avLst>
          </a:prstGeom>
          <a:solidFill>
            <a:srgbClr val="F2F4F8"/>
          </a:solidFill>
          <a:ln w="12700">
            <a:solidFill>
              <a:srgbClr val="D9DDE5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8266176" y="205740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Trafic LLM qualifié   </a:t>
            </a:r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</a:rPr>
              <a:t>À compléter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770632"/>
            <a:ext cx="3520440" cy="603504"/>
          </a:xfrm>
          <a:prstGeom prst="roundRect">
            <a:avLst>
              <a:gd name="adj" fmla="val 12121"/>
            </a:avLst>
          </a:prstGeom>
          <a:solidFill>
            <a:srgbClr val="F2F4F8"/>
          </a:solidFill>
          <a:ln w="12700">
            <a:solidFill>
              <a:srgbClr val="D9DDE5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731520" y="2770632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CTR   </a:t>
            </a:r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</a:rPr>
              <a:t>À compléter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15968" y="2770632"/>
            <a:ext cx="3520440" cy="603504"/>
          </a:xfrm>
          <a:prstGeom prst="roundRect">
            <a:avLst>
              <a:gd name="adj" fmla="val 12121"/>
            </a:avLst>
          </a:prstGeom>
          <a:solidFill>
            <a:srgbClr val="F2F4F8"/>
          </a:solidFill>
          <a:ln w="12700">
            <a:solidFill>
              <a:srgbClr val="D9DDE5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4498848" y="2770632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CPC moyen   </a:t>
            </a:r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</a:rPr>
              <a:t>À compléter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83296" y="2770632"/>
            <a:ext cx="3520440" cy="603504"/>
          </a:xfrm>
          <a:prstGeom prst="roundRect">
            <a:avLst>
              <a:gd name="adj" fmla="val 12121"/>
            </a:avLst>
          </a:prstGeom>
          <a:solidFill>
            <a:srgbClr val="F2F4F8"/>
          </a:solidFill>
          <a:ln w="12700">
            <a:solidFill>
              <a:srgbClr val="D9DDE5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8266176" y="2770632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Conversions last click   </a:t>
            </a:r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</a:rPr>
              <a:t>n. d.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VISIBILITÉ DANS LES RÉPONSES DE L'IA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 GEO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7,8 %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▲ +2,5 pts  vs 23/09 → 30/09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353105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35985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 GEA (ADS)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535985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20,2 %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3535985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372D"/>
                </a:solidFill>
              </a:rPr>
              <a:t>▼ -2,8 pts  vs 23/09 → 30/09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57570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4045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340450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4,3 %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6340450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▲ +0,3 pt  vs 23/09 → 30/09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962034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914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LONGUEUR DES REQUÊTES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144914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8,2 mots</a:t>
            </a:r>
            <a:endParaRPr lang="en-US" sz="3000" dirty="0"/>
          </a:p>
        </p:txBody>
      </p:sp>
      <p:sp>
        <p:nvSpPr>
          <p:cNvPr id="34" name="Text 32"/>
          <p:cNvSpPr txBox="1"/>
          <p:nvPr/>
        </p:nvSpPr>
        <p:spPr>
          <a:xfrm>
            <a:off x="9144914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▲ +10,6 %  vs 23/09 → 30/09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54864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" y="54864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l'IA recommande davantage Boulanger d'elle-même (+2,5 pts), tandis que la part de voix ads recule de 2,8 pts.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080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275"/>
                </a:solidFill>
              </a:rPr>
              <a:t>Données média hebdomadaires absentes de la source : à compléter depuis l'outil de campagne avant envoi.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LES INDICATEURS QUI COMPTENT · RAPPEL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Deux objectifs prioritaires pilotent la campagne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1B2238"/>
          </a:solidFill>
          <a:ln w="12700">
            <a:solidFill>
              <a:srgbClr val="1B22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01  Part de voix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6DAE3"/>
                </a:solidFill>
              </a:rPr>
              <a:t>Renforcer votre visibilité face aux enseignes concurrentes : part des citations de Boulanger parmi l'ensemble des citations d'enseignes de votre catégorie.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144768" y="182880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1B2238"/>
          </a:solidFill>
          <a:ln w="12700">
            <a:solidFill>
              <a:srgbClr val="1B22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196596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02  Trafic LLM qualifié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6DAE3"/>
                </a:solidFill>
              </a:rPr>
              <a:t>Amener sur boulanger.com des visiteurs en intention d'achat : visites issues des conversations IA, qualifiées selon l'intention exprimée.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49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OBJECTIFS SECONDAIRES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Win rate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Quand l'IA compare Boulanger à une autre enseigne, part des clics sur l'ad Boulanger.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53105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35985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Share of Voice GEO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Recommandations spontanées de l'agent citant Boulanger.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57570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40450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Intentions d'achat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Les questions posées aux IA avant d'acheter.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2034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914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Conversions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Ventes attribuées aux clics IA (tracker en déploiement).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cette semaine, la part de voix progresse légèrement (+0,3 pt) ; le trafic qualifié reste à compléter.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VISIBILITÉ DANS LES RÉPONSES DE L'IA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Boulanger 6e sur 10 dans les recommandations de l'IA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17920" y="169164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l'IA cite Boulanger presque deux fois plus que l'audience ne le nomme (7,8 % vs 4,3 %) : la marge de progression est côté audience.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DYNAMIQUE CONVERSATIONNELLE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prix est à la fois le premier critère de choix et le premier frein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17920" y="169164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22 % des freins portent sur le prix et 9,1 % sur l'attente d'une promotion. Persistance de Boulanger : pas assez de données cette semaine.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CE QUE VOTRE AUDIENCE DEMANDE AUX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smartphone reste la première demande (10,4 %)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51760"/>
                <a:gridCol w="914400"/>
                <a:gridCol w="704088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Ce que l'audience écrit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Téléphones mobiles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10,4 %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Téléphone récent moins de 200 euros et bon pour les jeux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Enceintes et haut-parleurs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6,9 %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Quelle enceinte portable offre le meilleur rendu des basses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Casques audio &amp; écouteurs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6,7 %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type d'écouteurs true wireless choisir pour le sport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Aspirateurs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6,0 %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Montre-moi les aspirateurs-balais sous 300 €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Écrans d'ordinateur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5,8 %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Écrans WQHD 27" 120 Hz compatibles PS5 sous 400 €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Ordinateurs portables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5,5 %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PC portable pour la bureautique et le télétravail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Piles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5,2 %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Tablettes multimédias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4,7 %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La meilleure tablette pour regarder des films en voyage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Téléviseurs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4,3 %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Le meilleur téléviseur 65 pouces en rapport qualité prix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Lave-linge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4,1 %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lave-linge est le plus silencieux pour un appartement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30,7 % des recherches nomment déjà une marque : Apple (9,3 %), Samsung (8,4 %), Xiaomi (5,5 %) et Google (5,1 %) en tête.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CE QUI DÉCLENCHE LES CONVERSATIONS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remplacement après panne monte à 19,5 % des moments de vie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65836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98080" y="178308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26680" y="1920240"/>
            <a:ext cx="3657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B2238"/>
                </a:solidFill>
              </a:rPr>
              <a:t>Usages recherchés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238"/>
                </a:solidFill>
              </a:rPr>
              <a:t>Écoute musicale · 7,4 %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238"/>
                </a:solidFill>
              </a:rPr>
              <a:t>Jeu vidéo · 6,6 %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238"/>
                </a:solidFill>
              </a:rPr>
              <a:t>Bureautique · 5,2 %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238"/>
                </a:solidFill>
              </a:rPr>
              <a:t>Maison avec animaux · 5,1 %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238"/>
                </a:solidFill>
              </a:rPr>
              <a:t>Films et séries · 4,5 %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E8601C"/>
                </a:solidFill>
              </a:rPr>
              <a:t>Le Cadeau (9,8 %) apparaît dans le top 5 : premier signal avant la période des fêtes.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panne (19,5 %) et cadeau (9,8 %) sont des moments d'achat à court terme, propices aux annonces produit.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Finaliser le conversion tracker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L'implémentation a démarré chez vous le 1er octobre. Statut à mettre à jour avant envoi.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Où nous en sommes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Pixel et guide GTM transmis le 28 septembre.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Intégration lancée par Fadi le 1er octobre.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Choix template GTM / script serveur : à confirmer.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Les deux points à lever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Consentement Didomi : ajouter Lemrock comme vendor personnalisé (finalités 1 et 7).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Paramètre at_medium : correction du « ? » manquant côté Lemrock.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valider ensemble la remontée des données pour afficher Conversions et CVR dès le prochain rapport.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Faire du smartphone votre priorité de visibilité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La semaine confirme la priorité exprimée pour 2027 : la demande smartphone progresse.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disent les chiffres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Téléphones mobiles : 1re catégorie, 10,4 % des conversations (6,1 % au rapport précédent, mesure par intention).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Apple 9,3 %, Samsung 8,4 %, Xiaomi 5,5 %, Google 5,1 %.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Modèles cités : iPhone 17 Pro, Galaxy S25/S26, Redmi Note 15 Pro, Pixel 10a.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nous proposons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Ad groups dédiés aux modèles les plus nommés.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Mettre en avant le prix : « moins de 200 € », « maxi 250 € » reviennent dans les requêtes.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Plan de visibilité smartphone 2027 : références et budget.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nous construisons avec vous le plan smartphone 2027, ad groups, sélection de références et budget associé.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Resserrer la sélection de produits poussés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Le prix est le 1er frein (22,0 %) et le 1er critère de choix (10,1 %) : les références poussées doivent y répondre.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disent les chiffres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Prix trop élevé : 22,0 % des freins, attente promo : 9,1 %.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Share of Voice GEA en recul de 2,8 pts, à 20,2 %.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Les requêtes s'allongent : 8,2 mots (+10,6 %).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Où commencer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Smartphone · 10,4 %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Enceintes · 6,9 %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Casques et écouteurs · 6,7 %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Aspirateurs · 6,0 %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nous vous proposons une sélection resserrée sur ces quatre catégories, avec des références à bon rapport qualité-prix.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Activer Bose, puis packager l'offre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Bose pèse 2,2 % des conversations de la semaine : la demande existe dans vos catégories audio.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 dispositif Bose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Produits Bose dans les annonces IA, liens vers boulanger.com.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Campagne distincte du fil rouge, avec ses propres indicateurs.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Budget envisagé : 20 000 € / mois (à confirmer).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 cadre à fixer ensemble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Durée du test et critères de validation.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Partage de revenu Boulanger / Lemrock.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Extension à Marshall (0,9 %) et autres fournisseurs.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Roxane vous envoie le récapitulatif Bose et le format d'offre packagée (statut à confirmer avant envoi).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mrock Boulanger">
  <a:themeElements>
    <a:clrScheme name="Lemrock Boulanger">
      <a:dk1>
        <a:srgbClr val="1B2238"/>
      </a:dk1>
      <a:lt1>
        <a:srgbClr val="FFFFFF"/>
      </a:lt1>
      <a:dk2>
        <a:srgbClr val="5A6275"/>
      </a:dk2>
      <a:lt2>
        <a:srgbClr val="F2F4F8"/>
      </a:lt2>
      <a:accent1>
        <a:srgbClr val="E8601C"/>
      </a:accent1>
      <a:accent2>
        <a:srgbClr val="1B2238"/>
      </a:accent2>
      <a:accent3>
        <a:srgbClr val="2E9E6B"/>
      </a:accent3>
      <a:accent4>
        <a:srgbClr val="C8372D"/>
      </a:accent4>
      <a:accent5>
        <a:srgbClr val="9AA3B5"/>
      </a:accent5>
      <a:accent6>
        <a:srgbClr val="F4B183"/>
      </a:accent6>
      <a:hlink>
        <a:srgbClr val="E8601C"/>
      </a:hlink>
      <a:folHlink>
        <a:srgbClr val="5A6275"/>
      </a:folHlink>
    </a:clrScheme>
    <a:fontScheme name="Lemrock Boulange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Rapport Boulanger Hebdo 01.10-08.10</dc:title>
  <dc:subject>PptxGenJS Presentation</dc:subject>
  <dc:creator>PptxGenJS</dc:creator>
  <cp:lastModifiedBy>PptxGenJS</cp:lastModifiedBy>
  <cp:revision>1</cp:revision>
  <dcterms:created xsi:type="dcterms:W3CDTF">2026-10-09T08:46:23Z</dcterms:created>
  <dcterms:modified xsi:type="dcterms:W3CDTF">2026-10-09T08:46:23Z</dcterms:modified>
</cp:coreProperties>
</file>