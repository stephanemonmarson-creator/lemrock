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3f8976a-43c0-d7b1-2bb5-7f0e424d3f5b}">
          <p14:sldIdLst>
            <p14:sldId id="256"/>
          </p14:sldIdLst>
        </p14:section>
        <p14:section name="Boulanger" id="{d9fcc402-7458-0afe-daa5-57673f62f80b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Pistes de reco" id="{8a68f3da-ea66-1a6f-2747-165051e7c9e6}">
          <p14:sldIdLst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Boulanger</c:v>
                </c:pt>
              </c:strCache>
            </c:strRef>
          </c:tx>
          <c:spPr>
            <a:solidFill>
              <a:srgbClr val="E8601C"/>
            </a:solidFill>
            <a:ln w="38100" cap="flat">
              <a:solidFill>
                <a:srgbClr val="E8601C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8601C"/>
              </a:solidFill>
              <a:ln w="9525" cap="flat">
                <a:solidFill>
                  <a:srgbClr val="E860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Sept. (1–30)</c:v>
                  </c:pt>
                  <c:pt idx="1">
                    <c:v>23–30 sept.</c:v>
                  </c:pt>
                  <c:pt idx="2">
                    <c:v>1–8 oct.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6.3</c:v>
                </c:pt>
                <c:pt idx="1">
                  <c:v>5.3</c:v>
                </c:pt>
                <c:pt idx="2">
                  <c:v>7.8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Moyenne du top 5</c:v>
                </c:pt>
              </c:strCache>
            </c:strRef>
          </c:tx>
          <c:spPr>
            <a:solidFill>
              <a:srgbClr val="9AA3B5"/>
            </a:solidFill>
            <a:ln w="38100" cap="flat">
              <a:solidFill>
                <a:srgbClr val="9AA3B5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9AA3B5"/>
              </a:solidFill>
              <a:ln w="9525" cap="flat">
                <a:solidFill>
                  <a:srgbClr val="9AA3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Sept. (1–30)</c:v>
                  </c:pt>
                  <c:pt idx="1">
                    <c:v>23–30 sept.</c:v>
                  </c:pt>
                  <c:pt idx="2">
                    <c:v>1–8 oct.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14.4</c:v>
                </c:pt>
                <c:pt idx="1">
                  <c:v/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2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l"/>
        <c:majorGridlines>
          <c:spPr>
            <a:ln w="6350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27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Présences de marque dans les messages utilisateurs · 1–8 oct.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9AA3B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601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Amazon</c:v>
                  </c:pt>
                  <c:pt idx="1">
                    <c:v>E.Leclerc</c:v>
                  </c:pt>
                  <c:pt idx="2">
                    <c:v>Fnac</c:v>
                  </c:pt>
                  <c:pt idx="3">
                    <c:v>Carrefour</c:v>
                  </c:pt>
                  <c:pt idx="4">
                    <c:v>Cdiscount</c:v>
                  </c:pt>
                  <c:pt idx="5">
                    <c:v>Darty</c:v>
                  </c:pt>
                  <c:pt idx="6">
                    <c:v>Auchan</c:v>
                  </c:pt>
                  <c:pt idx="7">
                    <c:v>Boulanger</c:v>
                  </c:pt>
                  <c:pt idx="8">
                    <c:v>Back Market</c:v>
                  </c:pt>
                  <c:pt idx="9">
                    <c:v>Conforama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29.8</c:v>
                </c:pt>
                <c:pt idx="1">
                  <c:v>15.3</c:v>
                </c:pt>
                <c:pt idx="2">
                  <c:v>11.5</c:v>
                </c:pt>
                <c:pt idx="3">
                  <c:v>9.2</c:v>
                </c:pt>
                <c:pt idx="4">
                  <c:v>7.5</c:v>
                </c:pt>
                <c:pt idx="5">
                  <c:v>7.1</c:v>
                </c:pt>
                <c:pt idx="6">
                  <c:v>5.7</c:v>
                </c:pt>
                <c:pt idx="7">
                  <c:v>4.3</c:v>
                </c:pt>
                <c:pt idx="8">
                  <c:v>3.3</c:v>
                </c:pt>
                <c:pt idx="9">
                  <c:v>2.3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Part de voix GEA de Boulanger · 1–8 oct.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Boulanger</c:v>
                </c:pt>
              </c:strCache>
            </c:strRef>
          </c:tx>
          <c:spPr>
            <a:solidFill>
              <a:srgbClr val="E8601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60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Share of Voice GEA (ads)</c:v>
                  </c:pt>
                  <c:pt idx="1">
                    <c:v>Share of Voice GEO (IA)</c:v>
                  </c:pt>
                  <c:pt idx="2">
                    <c:v>Share of Voice utilisateurs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20.2</c:v>
                </c:pt>
                <c:pt idx="1">
                  <c:v>7.8</c:v>
                </c:pt>
                <c:pt idx="2">
                  <c:v>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Évolution de la part de voix GEA · Boulanger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Voice GEA</c:v>
                </c:pt>
              </c:strCache>
            </c:strRef>
          </c:tx>
          <c:spPr>
            <a:solidFill>
              <a:srgbClr val="E8601C"/>
            </a:solidFill>
            <a:ln w="38100" cap="flat">
              <a:solidFill>
                <a:srgbClr val="E8601C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8601C"/>
              </a:solidFill>
              <a:ln w="9525" cap="flat">
                <a:solidFill>
                  <a:srgbClr val="E860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Août (2–31)</c:v>
                  </c:pt>
                  <c:pt idx="1">
                    <c:v>Sept. (1–30)</c:v>
                  </c:pt>
                  <c:pt idx="2">
                    <c:v>23–30 sept.</c:v>
                  </c:pt>
                  <c:pt idx="3">
                    <c:v>1–8 oct.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14.3</c:v>
                </c:pt>
                <c:pt idx="2">
                  <c:v>23</c:v>
                </c:pt>
                <c:pt idx="3">
                  <c:v>20.2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238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  <c:min val="0"/>
        </c:scaling>
        <c:delete val="1"/>
        <c:axPos val="l"/>
        <c:majorGridlines>
          <c:spPr>
            <a:ln w="6350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Freins à l'achat · part des freins exprimés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1B223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Prix trop élevé</c:v>
                  </c:pt>
                  <c:pt idx="1">
                    <c:v>Doute sur l'utilité réelle</c:v>
                  </c:pt>
                  <c:pt idx="2">
                    <c:v>Compatibilité</c:v>
                  </c:pt>
                  <c:pt idx="3">
                    <c:v>Doute sur la fiabilité</c:v>
                  </c:pt>
                  <c:pt idx="4">
                    <c:v>Livraison et délais</c:v>
                  </c:pt>
                  <c:pt idx="5">
                    <c:v>Attente d'une promotion</c:v>
                  </c:pt>
                  <c:pt idx="6">
                    <c:v>Avis mitigés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</c:v>
                </c:pt>
                <c:pt idx="1">
                  <c:v>18.1</c:v>
                </c:pt>
                <c:pt idx="2">
                  <c:v>17.1</c:v>
                </c:pt>
                <c:pt idx="3">
                  <c:v>14.3</c:v>
                </c:pt>
                <c:pt idx="4">
                  <c:v>10.2</c:v>
                </c:pt>
                <c:pt idx="5">
                  <c:v>9.1</c:v>
                </c:pt>
                <c:pt idx="6">
                  <c:v>9.1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Critères de choix · part des critères exprimés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E8601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Prix</c:v>
                  </c:pt>
                  <c:pt idx="1">
                    <c:v>Rendu sonore</c:v>
                  </c:pt>
                  <c:pt idx="2">
                    <c:v>Compatibilité</c:v>
                  </c:pt>
                  <c:pt idx="3">
                    <c:v>Autonomie batterie</c:v>
                  </c:pt>
                  <c:pt idx="4">
                    <c:v>Qualité photo</c:v>
                  </c:pt>
                  <c:pt idx="5">
                    <c:v>Taille de l'écran</c:v>
                  </c:pt>
                  <c:pt idx="6">
                    <c:v>Qualité sonore</c:v>
                  </c:pt>
                  <c:pt idx="7">
                    <c:v>Stockage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10.1</c:v>
                </c:pt>
                <c:pt idx="1">
                  <c:v>6.2</c:v>
                </c:pt>
                <c:pt idx="2">
                  <c:v>6</c:v>
                </c:pt>
                <c:pt idx="3">
                  <c:v>5.2</c:v>
                </c:pt>
                <c:pt idx="4">
                  <c:v>3.7</c:v>
                </c:pt>
                <c:pt idx="5">
                  <c:v>3.6</c:v>
                </c:pt>
                <c:pt idx="6">
                  <c:v>3.3</c:v>
                </c:pt>
                <c:pt idx="7">
                  <c:v>3.2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Top 10 marques · part des conversations · 1–8 oct.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1B223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Apple</c:v>
                  </c:pt>
                  <c:pt idx="1">
                    <c:v>Samsung</c:v>
                  </c:pt>
                  <c:pt idx="2">
                    <c:v>Xiaomi</c:v>
                  </c:pt>
                  <c:pt idx="3">
                    <c:v>Google</c:v>
                  </c:pt>
                  <c:pt idx="4">
                    <c:v>Sony</c:v>
                  </c:pt>
                  <c:pt idx="5">
                    <c:v>JBL</c:v>
                  </c:pt>
                  <c:pt idx="6">
                    <c:v>Dreame</c:v>
                  </c:pt>
                  <c:pt idx="7">
                    <c:v>Honor</c:v>
                  </c:pt>
                  <c:pt idx="8">
                    <c:v>Roborock</c:v>
                  </c:pt>
                  <c:pt idx="9">
                    <c:v>LG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9.3</c:v>
                </c:pt>
                <c:pt idx="1">
                  <c:v>8.4</c:v>
                </c:pt>
                <c:pt idx="2">
                  <c:v>5.5</c:v>
                </c:pt>
                <c:pt idx="3">
                  <c:v>5.1</c:v>
                </c:pt>
                <c:pt idx="4">
                  <c:v>4</c:v>
                </c:pt>
                <c:pt idx="5">
                  <c:v>3.1</c:v>
                </c:pt>
                <c:pt idx="6">
                  <c:v>3</c:v>
                </c:pt>
                <c:pt idx="7">
                  <c:v>2.7</c:v>
                </c:pt>
                <c:pt idx="8">
                  <c:v>2.7</c:v>
                </c:pt>
                <c:pt idx="9">
                  <c:v>2.7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01 INDICATEURS  ·  02 BOULANGER  ·  03 PISTES DE RECO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01C"/>
                </a:solidFill>
              </a:rPr>
              <a:t>AGENDA · CE QUE NOUS ALLONS VOIR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Boulanger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74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AE3"/>
                </a:solidFill>
              </a:rPr>
              <a:t>Revue de performance de la campagne Boulanger, du 1er au 8 octobre 2026 · rapport du 09/10/2026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8601C"/>
                </a:solidFill>
              </a:rPr>
              <a:t>01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8346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Les indicateurs qui comptent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D6DAE3"/>
                </a:solidFill>
              </a:rPr>
              <a:t>Ce que nous pilotons, et comment chaque chiffre se mesure.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8601C"/>
                </a:solidFill>
              </a:rPr>
              <a:t>02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393192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Boulanger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D6DAE3"/>
                </a:solidFill>
              </a:rPr>
              <a:t>Formats diffusés, performance de la semaine, visibilité dans les réponses des IA et intentions d'achat.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0292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8601C"/>
                </a:solidFill>
              </a:rPr>
              <a:t>03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502920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Pistes de reco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D6DAE3"/>
                </a:solidFill>
              </a:rPr>
              <a:t>Ce que nous proposons pour les prochaines semaines.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FORMATS PUBLICITAIRES · CE QUE VOIT L'UTILISATEUR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Vos 3 formats, campagne en cours depuis le 28 août 2026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Budget mensuel 10 000 €   ·   Activation le 28 août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377440"/>
            <a:ext cx="777240" cy="777240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2024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238"/>
                </a:solidFill>
              </a:rPr>
              <a:t>Carrousel produit sponsorisé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15968" y="19202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87568" y="2377440"/>
            <a:ext cx="777240" cy="777240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87568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34290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238"/>
                </a:solidFill>
              </a:rPr>
              <a:t>Question suggérée sponsorisée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083296" y="19202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54896" y="2377440"/>
            <a:ext cx="777240" cy="777240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54896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34290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238"/>
                </a:solidFill>
              </a:rPr>
              <a:t>Text ads sur Qwant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les trois formats sont servis dans le même inventaire éditorial, au moment où l'utilisateur exprime son intention d'achat.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RAPPORT DE PERFORMANCE · 01/10/2026 → 08/10/2026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Moins de clics, mais deux fois plus de ventes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COMPARAISON vs 23/09 → 30/09   ·   Campagne lancée le 28 août 2026   ·   42 jours de diffusion   ·   statut : Live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PERFORMANCE MÉDIA · BUDGET SEMAINE 2 367,15 € · CUMUL 7 279,90 € sur 30 000 € (24 %) · CA HT 888,68 €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50418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130552"/>
            <a:ext cx="12847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MENTIONS CONVERSATIONNELLES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468880"/>
            <a:ext cx="12847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1 311 465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880360"/>
            <a:ext cx="1284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</a:rPr>
              <a:t>▲ +16,7 %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275"/>
                </a:solidFill>
              </a:rPr>
              <a:t>YTD 4 475 698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41525" y="2057400"/>
            <a:ext cx="150418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51253" y="2130552"/>
            <a:ext cx="12847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TRAFIC LLM QUALIFIÉ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251253" y="2468880"/>
            <a:ext cx="12847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6 468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251253" y="2880360"/>
            <a:ext cx="1284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8372D"/>
                </a:solidFill>
              </a:rPr>
              <a:t>▼ -11,3 %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275"/>
                </a:solidFill>
              </a:rPr>
              <a:t>YTD 26 646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34410" y="2057400"/>
            <a:ext cx="150418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4138" y="2130552"/>
            <a:ext cx="12847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CTR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844138" y="2468880"/>
            <a:ext cx="12847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0,49 %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844138" y="2880360"/>
            <a:ext cx="1284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8372D"/>
                </a:solidFill>
              </a:rPr>
              <a:t>▼ -0,16 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275"/>
                </a:solidFill>
              </a:rPr>
              <a:t>YTD 0,60 %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27294" y="2057400"/>
            <a:ext cx="150418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37022" y="2130552"/>
            <a:ext cx="12847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CPC MOYEN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437022" y="2468880"/>
            <a:ext cx="12847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0,37 €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37022" y="2880360"/>
            <a:ext cx="1284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8372D"/>
                </a:solidFill>
              </a:rPr>
              <a:t>▲ +26,6 %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275"/>
                </a:solidFill>
              </a:rPr>
              <a:t>YTD 0,27 €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20179" y="2057400"/>
            <a:ext cx="150418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29907" y="2130552"/>
            <a:ext cx="12847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CONVERSIONS LAST CLICK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029907" y="2468880"/>
            <a:ext cx="12847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6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029907" y="2880360"/>
            <a:ext cx="1284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</a:rPr>
              <a:t>▲ +100 % (3)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275"/>
                </a:solidFill>
              </a:rPr>
              <a:t>YTD 15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513064" y="2057400"/>
            <a:ext cx="150418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22792" y="2130552"/>
            <a:ext cx="12847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CVR LAST CLICK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622792" y="2468880"/>
            <a:ext cx="12847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0,29 %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622792" y="2880360"/>
            <a:ext cx="1284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</a:rPr>
              <a:t>▲ +0,17 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275"/>
                </a:solidFill>
              </a:rPr>
              <a:t>YTD 0,20 %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105949" y="2057400"/>
            <a:ext cx="150418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15677" y="2130552"/>
            <a:ext cx="12847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PANIER MOYEN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215677" y="2468880"/>
            <a:ext cx="12847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148,11 €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10215677" y="2880360"/>
            <a:ext cx="1284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</a:rPr>
              <a:t>▲ +4,2 %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275"/>
                </a:solidFill>
              </a:rPr>
              <a:t>vs 142,20 € · YTD 140,21 €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VISIBILITÉ DANS LES RÉPONSES DE L'IA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3886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275"/>
                </a:solidFill>
              </a:rPr>
              <a:t>SHARE OF VOICE GEO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8"/>
                </a:solidFill>
              </a:rPr>
              <a:t>7,8 %</a:t>
            </a:r>
            <a:endParaRPr lang="en-US" sz="30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B"/>
                </a:solidFill>
              </a:rPr>
              <a:t>▲ +2,5 pts  vs 23/09 → 30/09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53105" y="3886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535985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275"/>
                </a:solidFill>
              </a:rPr>
              <a:t>SHARE OF VOICE GEA (ADS)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3535985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8"/>
                </a:solidFill>
              </a:rPr>
              <a:t>20,2 %</a:t>
            </a:r>
            <a:endParaRPr lang="en-US" sz="3000" dirty="0"/>
          </a:p>
        </p:txBody>
      </p:sp>
      <p:sp>
        <p:nvSpPr>
          <p:cNvPr id="42" name="Text 40"/>
          <p:cNvSpPr txBox="1"/>
          <p:nvPr/>
        </p:nvSpPr>
        <p:spPr>
          <a:xfrm>
            <a:off x="3535985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372D"/>
                </a:solidFill>
              </a:rPr>
              <a:t>▼ -2,8 pts  vs 23/09 → 30/09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57570" y="3886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4045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275"/>
                </a:solidFill>
              </a:rPr>
              <a:t>SHARE OF VOICE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34045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8"/>
                </a:solidFill>
              </a:rPr>
              <a:t>4,3 %</a:t>
            </a:r>
            <a:endParaRPr lang="en-US" sz="3000" dirty="0"/>
          </a:p>
        </p:txBody>
      </p:sp>
      <p:sp>
        <p:nvSpPr>
          <p:cNvPr id="46" name="Text 44"/>
          <p:cNvSpPr txBox="1"/>
          <p:nvPr/>
        </p:nvSpPr>
        <p:spPr>
          <a:xfrm>
            <a:off x="6340450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▬ +0,3 pt (stable)  vs 23/09 → 30/09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962034" y="3886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144914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275"/>
                </a:solidFill>
              </a:rPr>
              <a:t>LONGUEUR DES REQUÊTES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144914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8"/>
                </a:solidFill>
              </a:rPr>
              <a:t>8,2 mots</a:t>
            </a:r>
            <a:endParaRPr lang="en-US" sz="3000" dirty="0"/>
          </a:p>
        </p:txBody>
      </p:sp>
      <p:sp>
        <p:nvSpPr>
          <p:cNvPr id="50" name="Text 48"/>
          <p:cNvSpPr txBox="1"/>
          <p:nvPr/>
        </p:nvSpPr>
        <p:spPr>
          <a:xfrm>
            <a:off x="9144914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B"/>
                </a:solidFill>
              </a:rPr>
              <a:t>▲ +10,6 %  vs 23/09 → 30/09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48640" y="54864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31520" y="54864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les conversions doublent (6 ventes, 888,68 € HT, CVR 0,29 %) malgré des clics en recul (-11,3 %) et un CPC à 0,37 €.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LES INDICATEURS QUI COMPTENT · RAPPEL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Deux objectifs prioritaires pilotent la campagne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01  Part de voix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6DAE3"/>
                </a:solidFill>
              </a:rPr>
              <a:t>Renforcer votre visibilité face aux enseignes concurrentes : part des citations de Boulanger parmi l'ensemble des citations d'enseignes de votre catégorie.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44768" y="182880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9088" y="196596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02  Trafic LLM qualifié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6DAE3"/>
                </a:solidFill>
              </a:rPr>
              <a:t>Amener sur boulanger.com des visiteurs en intention d'achat : visites issues des conversations IA, qualifiées selon l'intention exprimée.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OBJECTIFS SECONDAIRES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1605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38"/>
                </a:solidFill>
              </a:rPr>
              <a:t>Win rate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Quand l'IA compare Boulanger à une autre enseigne, part des clics sur l'ad Boulanger.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53105" y="4069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5985" y="41605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38"/>
                </a:solidFill>
              </a:rPr>
              <a:t>Share of Voice GEO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Recommandations spontanées de l'agent citant Boulanger.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57570" y="4069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40450" y="41605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38"/>
                </a:solidFill>
              </a:rPr>
              <a:t>Intentions d'achat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Les questions posées aux IA avant d'acheter.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62034" y="4069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914" y="41605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38"/>
                </a:solidFill>
              </a:rPr>
              <a:t>Conversions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Ventes attribuées aux clics IA : 6 cette semaine.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cette semaine, la part de voix progresse légèrement (+0,3 pt) mais le trafic qualifié recule de 11,3 %.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VISIBILITÉ DANS LES RÉPONSES DE L'IA · 01/10/2026 → 08/10/2026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Part de voix en hausse : +2,5 points (+47 %) en une semaine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Périmètre analysé   </a:t>
            </a:r>
            <a:pPr indent="0" marL="0">
              <a:buNone/>
            </a:pPr>
            <a:r>
              <a:rPr lang="en-US" sz="1200" dirty="0">
                <a:solidFill>
                  <a:srgbClr val="1B2238"/>
                </a:solidFill>
              </a:rPr>
              <a:t>Électroménager, image &amp; son, informatique, téléphonie. Recommandations spontanées de l'agent (GEO). 10 enseignes suivies.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8521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965960"/>
            <a:ext cx="50292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Part de voix dans les réponses de l'IA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275"/>
                </a:solidFill>
              </a:rPr>
              <a:t>Boulanger 6e sur 10</a:t>
            </a:r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, avec une part de voix de 7,8 %, soit </a:t>
            </a:r>
            <a:pPr indent="0" marL="0">
              <a:buNone/>
            </a:pPr>
            <a:r>
              <a:rPr lang="en-US" sz="1100" b="1" dirty="0">
                <a:solidFill>
                  <a:srgbClr val="2E9E6B"/>
                </a:solidFill>
              </a:rPr>
              <a:t>+2,5 points</a:t>
            </a:r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 vs S-1 (5,3 %)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803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Amazon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2971800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2971800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C9CED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32120" y="28803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27,4 %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20954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2095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E.Leclerc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3300984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3300984"/>
            <a:ext cx="1417654" cy="91440"/>
          </a:xfrm>
          <a:prstGeom prst="roundRect">
            <a:avLst>
              <a:gd name="adj" fmla="val 50000"/>
            </a:avLst>
          </a:prstGeom>
          <a:solidFill>
            <a:srgbClr val="C9CED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32120" y="32095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17,7 %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5387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5387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Cdiscount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3630168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3630168"/>
            <a:ext cx="985149" cy="91440"/>
          </a:xfrm>
          <a:prstGeom prst="roundRect">
            <a:avLst>
              <a:gd name="adj" fmla="val 50000"/>
            </a:avLst>
          </a:prstGeom>
          <a:solidFill>
            <a:srgbClr val="C9CED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32120" y="3538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12,3 %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38679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867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Fnac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91840" y="3959352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3959352"/>
            <a:ext cx="752878" cy="91440"/>
          </a:xfrm>
          <a:prstGeom prst="roundRect">
            <a:avLst>
              <a:gd name="adj" fmla="val 50000"/>
            </a:avLst>
          </a:prstGeom>
          <a:solidFill>
            <a:srgbClr val="C9CED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32120" y="38679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9,4 %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1970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4197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Auchan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91840" y="4288536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4288536"/>
            <a:ext cx="672785" cy="91440"/>
          </a:xfrm>
          <a:prstGeom prst="roundRect">
            <a:avLst>
              <a:gd name="adj" fmla="val 50000"/>
            </a:avLst>
          </a:prstGeom>
          <a:solidFill>
            <a:srgbClr val="C9CED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532120" y="41970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8,4 %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45262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" y="4526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8"/>
                </a:solidFill>
              </a:rPr>
              <a:t>Boulanger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91840" y="4617720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0" y="4617720"/>
            <a:ext cx="624729" cy="91440"/>
          </a:xfrm>
          <a:prstGeom prst="roundRect">
            <a:avLst>
              <a:gd name="adj" fmla="val 50000"/>
            </a:avLst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532120" y="4526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01C"/>
                </a:solidFill>
              </a:rPr>
              <a:t>7,8 %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77240" y="48554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7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143000" y="4855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Darty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291840" y="4946904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91840" y="4946904"/>
            <a:ext cx="424495" cy="91440"/>
          </a:xfrm>
          <a:prstGeom prst="roundRect">
            <a:avLst>
              <a:gd name="adj" fmla="val 50000"/>
            </a:avLst>
          </a:prstGeom>
          <a:solidFill>
            <a:srgbClr val="C9CED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532120" y="48554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5,3 %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777240" y="51846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8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143000" y="5184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Carrefour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291840" y="5276088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840" y="5276088"/>
            <a:ext cx="416486" cy="91440"/>
          </a:xfrm>
          <a:prstGeom prst="roundRect">
            <a:avLst>
              <a:gd name="adj" fmla="val 50000"/>
            </a:avLst>
          </a:prstGeom>
          <a:solidFill>
            <a:srgbClr val="C9CED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532120" y="51846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5,2 %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777240" y="55138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9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143000" y="5513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Electro Dépôt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291840" y="5605272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91840" y="5605272"/>
            <a:ext cx="192224" cy="91440"/>
          </a:xfrm>
          <a:prstGeom prst="roundRect">
            <a:avLst>
              <a:gd name="adj" fmla="val 50000"/>
            </a:avLst>
          </a:prstGeom>
          <a:solidFill>
            <a:srgbClr val="C9CED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532120" y="5513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2,4 %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777240" y="58430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10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143000" y="58430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Back Market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3291840" y="5934456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91840" y="5934456"/>
            <a:ext cx="128149" cy="91440"/>
          </a:xfrm>
          <a:prstGeom prst="roundRect">
            <a:avLst>
              <a:gd name="adj" fmla="val 50000"/>
            </a:avLst>
          </a:prstGeom>
          <a:solidFill>
            <a:srgbClr val="C9CED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532120" y="58430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1,6 %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81228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Évolution de la part de voix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681228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% des citations (GEO)</a:t>
            </a:r>
            <a:endParaRPr lang="en-US" sz="1100" dirty="0"/>
          </a:p>
        </p:txBody>
      </p:sp>
      <p:graphicFrame>
        <p:nvGraphicFramePr>
          <p:cNvPr id="62" name="Chart 0" descr=""/>
          <p:cNvGraphicFramePr/>
          <p:nvPr/>
        </p:nvGraphicFramePr>
        <p:xfrm>
          <a:off x="6720840" y="2788920"/>
          <a:ext cx="475488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3" name="Shape 60"/>
          <p:cNvSpPr/>
          <p:nvPr/>
        </p:nvSpPr>
        <p:spPr>
          <a:xfrm>
            <a:off x="9464040" y="2103120"/>
            <a:ext cx="1965960" cy="566928"/>
          </a:xfrm>
          <a:prstGeom prst="roundRect">
            <a:avLst>
              <a:gd name="adj" fmla="val 16129"/>
            </a:avLst>
          </a:prstGeom>
          <a:solidFill>
            <a:srgbClr val="E7F4EC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464040" y="21031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9E6B"/>
                </a:solidFill>
              </a:rPr>
              <a:t>▲ +2,5 pts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9E6B"/>
                </a:solidFill>
              </a:rPr>
              <a:t>+47 % vs S-1</a:t>
            </a:r>
            <a:endParaRPr lang="en-US" sz="1600" dirty="0"/>
          </a:p>
        </p:txBody>
      </p:sp>
      <p:sp>
        <p:nvSpPr>
          <p:cNvPr id="65" name="Text 62"/>
          <p:cNvSpPr txBox="1"/>
          <p:nvPr/>
        </p:nvSpPr>
        <p:spPr>
          <a:xfrm>
            <a:off x="6812280" y="5760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275"/>
                </a:solidFill>
              </a:rPr>
              <a:t>Moyenne du top 5 non publiée pour le 23–30 sept. Mesure différente de celle du rapport du 02/10 (15,3 %) : séries non comparables.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SHARE OF VOICE DANS LES MESSAGES UTILISATEURS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Boulanger 8e sur 10 dans ce que l'audience nomme spontanément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492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1783080"/>
            <a:ext cx="4297680" cy="3657600"/>
          </a:xfrm>
          <a:prstGeom prst="roundRect">
            <a:avLst>
              <a:gd name="adj" fmla="val 25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43800" y="192024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BOULANGER</a:t>
            </a:r>
            <a:endParaRPr lang="en-US" sz="12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8601C"/>
                </a:solidFill>
              </a:rPr>
              <a:t>4,3 %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A6275"/>
                </a:solidFill>
              </a:rPr>
              <a:t>▬ +0,3 pt (stable)  vs 23/09 → 30/09  ·  8e / 10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MOYENNE DU TOP 5</a:t>
            </a:r>
            <a:endParaRPr lang="en-US" sz="12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B2238"/>
                </a:solidFill>
              </a:rPr>
              <a:t>14,7 %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Part des conversations du secteur où l'utilisateur cite lui-même Boulanger, rapportée à l'ensemble des enseignes citées.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l'audience nomme Boulanger moins souvent que Darty et Auchan : 4,3 % contre 14,7 % pour la moyenne du top 5, la marge de progression est ici.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VISIBILITÉ DANS LES RÉPONSES DE L'IA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Avec les ads, Boulanger pèse 20,2 % des réponses ciblées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4572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275"/>
                </a:solidFill>
              </a:rPr>
              <a:t>GEA (ads)</a:t>
            </a:r>
            <a:endParaRPr lang="en-US" sz="1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20,2 %  </a:t>
            </a:r>
            <a:pPr indent="0" marL="0">
              <a:buNone/>
            </a:pPr>
            <a:r>
              <a:rPr lang="en-US" sz="1100" b="1" dirty="0">
                <a:solidFill>
                  <a:srgbClr val="C8372D"/>
                </a:solidFill>
              </a:rPr>
              <a:t>▼ -2,8 pts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23160" y="45720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60320" y="4572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275"/>
                </a:solidFill>
              </a:rPr>
              <a:t>GEO (IA)</a:t>
            </a:r>
            <a:endParaRPr lang="en-US" sz="1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7,8 %  </a:t>
            </a:r>
            <a:pPr indent="0" marL="0">
              <a:buNone/>
            </a:pPr>
            <a:r>
              <a:rPr lang="en-US" sz="1100" b="1" dirty="0">
                <a:solidFill>
                  <a:srgbClr val="2E9E6B"/>
                </a:solidFill>
              </a:rPr>
              <a:t>▲ +2,5 pts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97680" y="45720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34840" y="4572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275"/>
                </a:solidFill>
              </a:rPr>
              <a:t>Utilisateurs</a:t>
            </a:r>
            <a:endParaRPr lang="en-US" sz="1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4,3 %  </a:t>
            </a:r>
            <a:pPr indent="0" marL="0">
              <a:buNone/>
            </a:pPr>
            <a:r>
              <a:rPr lang="en-US" sz="1100" b="1" dirty="0">
                <a:solidFill>
                  <a:srgbClr val="5A6275"/>
                </a:solidFill>
              </a:rPr>
              <a:t>▬ +0,3 pt</a:t>
            </a:r>
            <a:endParaRPr lang="en-US" sz="10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309360" y="173736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309360" y="5486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275"/>
                </a:solidFill>
              </a:rPr>
              <a:t>Périodes de durée différente : 2 mois de 30 jours, puis 2 semaines de 8 jours. Valeurs d'août et du 23–30 sept. déduites des écarts publiés.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5897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la part de voix GEA est passée de 4,0 % en août à 20,2 % début octobre ; léger repli cette semaine (-2,8 pts) après un pic à 23,0 %.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DYNAMIQUE CONVERSATIONNELLE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prix est à la fois le premier critère de choix et le premier frein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17920" y="169164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22 % des freins portent sur le prix et 9,1 % sur l'attente d'une promotion. Persistance de Boulanger : pas assez de données cette semaine.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CE QUE VOTRE AUDIENCE DEMANDE AUX 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smartphone reste la première demande (10,4 %)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914400"/>
                <a:gridCol w="70408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Produit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 que l'audience écrit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Téléphones mobiles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10,4 %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Téléphone récent moins de 200 euros et bon pour les jeux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Enceintes et haut-parleurs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6,9 %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Quelle enceinte portable offre le meilleur rendu des basses ?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Casques audio &amp; écouteurs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6,7 %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Quel type d'écouteurs true wireless choisir pour le sport ?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Aspirateurs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6,0 %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Montre-moi les aspirateurs-balais sous 300 €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Écrans d'ordinateur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5,8 %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Écrans WQHD 27" 120 Hz compatibles PS5 sous 400 €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Ordinateurs portables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5,5 %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Quel PC portable pour la bureautique et le télétravail ?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Piles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5,2 %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Tablettes multimédias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4,7 %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La meilleure tablette pour regarder des films en voyage ?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Téléviseurs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4,3 %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Le meilleur téléviseur 65 pouces en rapport qualité prix ?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Lave-linge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4,1 %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Quel lave-linge est le plus silencieux pour un appartement ?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30,7 % des recherches nomment déjà une marque : Apple (9,3 %), Samsung (8,4 %), Xiaomi (5,5 %) et Google (5,1 %) en tête.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MARQUES ET MODÈLES NOMMÉS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Apple et Samsung, les deux marques les plus nommées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5852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783080"/>
            <a:ext cx="4937760" cy="3657600"/>
          </a:xfrm>
          <a:prstGeom prst="roundRect">
            <a:avLst>
              <a:gd name="adj" fmla="val 25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03720" y="192024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238"/>
                </a:solidFill>
              </a:rPr>
              <a:t>Modèles les plus cités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601C"/>
                </a:solidFill>
              </a:rPr>
              <a:t>Apple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iPhone 17 Pro, iPhone 18 Pro · AirPods Pro 3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601C"/>
                </a:solidFill>
              </a:rPr>
              <a:t>Samsung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Galaxy S25, S26 · Galaxy Tab A11+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601C"/>
                </a:solidFill>
              </a:rPr>
              <a:t>Xiaomi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Redmi Note 15 Pro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601C"/>
                </a:solidFill>
              </a:rPr>
              <a:t>Google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Pixel 10a, Pixel 9a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601C"/>
                </a:solidFill>
              </a:rPr>
              <a:t>Sony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WH-1000XM6 · BRAVIA 9 II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601C"/>
                </a:solidFill>
              </a:rPr>
              <a:t>Dreame / Roborock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L40s Pro Ultra · Saros 20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30,7 % des recherches nomment déjà une marque ; le smartphone concentre les modèles les plus cités (iPhone, Galaxy, Redmi, Pixel).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CHAMPS SÉMANTIQUES DES CONVERSATIONS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Smartphone, prix et Apple dominent les conversations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1064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E8601C"/>
                </a:solidFill>
              </a:rPr>
              <a:t>aspirateur     </a:t>
            </a:r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B2238"/>
                </a:solidFill>
              </a:rPr>
              <a:t>Apple     </a:t>
            </a:r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8601C"/>
                </a:solidFill>
              </a:rPr>
              <a:t>smartphone     </a:t>
            </a:r>
            <a:pPr algn="ctr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8A93A6"/>
                </a:solidFill>
              </a:rPr>
              <a:t>compatibilité</a:t>
            </a:r>
            <a:endParaRPr lang="en-US" sz="2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1B2238"/>
                </a:solidFill>
              </a:rPr>
              <a:t>Samsung     </a:t>
            </a:r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8A93A6"/>
                </a:solidFill>
              </a:rPr>
              <a:t>prix     </a:t>
            </a:r>
            <a:pPr algn="ctr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601C"/>
                </a:solidFill>
              </a:rPr>
              <a:t>enceinte     </a:t>
            </a:r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E8601C"/>
                </a:solidFill>
              </a:rPr>
              <a:t>PC portable</a:t>
            </a:r>
            <a:endParaRPr lang="en-US" sz="2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8A93A6"/>
                </a:solidFill>
              </a:rPr>
              <a:t>rendu sonore     </a:t>
            </a:r>
            <a:pPr algn="ctr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E8601C"/>
                </a:solidFill>
              </a:rPr>
              <a:t>casque &amp; écouteurs     </a:t>
            </a:r>
            <a:pPr algn="ctr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B2238"/>
                </a:solidFill>
              </a:rPr>
              <a:t>Xiaomi     </a:t>
            </a:r>
            <a:pPr algn="ctr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E8601C"/>
                </a:solidFill>
              </a:rPr>
              <a:t>écran PC</a:t>
            </a:r>
            <a:endParaRPr lang="en-US" sz="2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601C"/>
                </a:solidFill>
              </a:rPr>
              <a:t>tablette     </a:t>
            </a:r>
            <a:pPr algn="ctr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B2238"/>
                </a:solidFill>
              </a:rPr>
              <a:t>Google     </a:t>
            </a:r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E8601C"/>
                </a:solidFill>
              </a:rPr>
              <a:t>téléviseur     </a:t>
            </a:r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8A93A6"/>
                </a:solidFill>
              </a:rPr>
              <a:t>autonomie    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B2238"/>
                </a:solidFill>
              </a:rPr>
              <a:t>JBL</a:t>
            </a:r>
            <a:endParaRPr lang="en-US" sz="2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A93A6"/>
                </a:solidFill>
              </a:rPr>
              <a:t>qualité photo     </a:t>
            </a:r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B2238"/>
                </a:solidFill>
              </a:rPr>
              <a:t>Sony    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8601C"/>
                </a:solidFill>
              </a:rPr>
              <a:t>lave-linge    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A93A6"/>
                </a:solidFill>
              </a:rPr>
              <a:t>taille d'écran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303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Taille du mot = fréquence au sein de sa famille     </a:t>
            </a:r>
            <a:pPr algn="ctr"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● Produits   </a:t>
            </a:r>
            <a:pPr algn="ctr" indent="0" marL="0">
              <a:buNone/>
            </a:pPr>
            <a:r>
              <a:rPr lang="en-US" sz="1200" b="1" dirty="0">
                <a:solidFill>
                  <a:srgbClr val="1B2238"/>
                </a:solidFill>
              </a:rPr>
              <a:t>● Marques   </a:t>
            </a:r>
            <a:pPr algn="ctr" indent="0" marL="0">
              <a:buNone/>
            </a:pPr>
            <a:r>
              <a:rPr lang="en-US" sz="1200" b="1" dirty="0">
                <a:solidFill>
                  <a:srgbClr val="8A93A6"/>
                </a:solidFill>
              </a:rPr>
              <a:t>● Critères d'achat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7150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7150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le smartphone est la première demande produit, Apple et Samsung les marques les plus nommées, et le prix le premier critère d'achat.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PISTE DE RECO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Fiabiliser la mesure des conversions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Les premières ventes remontent : 15 transactions et 2 103 € HT depuis le lancement, dont 6 cette semaine.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Ce que disent les chiffres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1–8 oct. : 6 transactions, 888,68 € HT, panier moyen 148 €.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6 sur 6 réalisées par de nouveaux clients.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CVR 0,29 % sur 2 039 visites (0,12 % la semaine précédente).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44768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9088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Les points à lever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Écart clics / visites : 6 468 clics Lemrock pour 2 039 visites mesurées (31 %).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Paramètre at_medium et consentement Didomi : à finaliser pour réduire cet écart.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ROAS de la semaine : 0,38 (CA HT / budget).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56235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réconcilier clics et visites avec vos équipes pour que chaque vente attribuée à Lemrock soit comptée.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PISTE DE RECO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Faire du smartphone votre priorité de visibilité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La semaine confirme la priorité exprimée pour 2027 : la demande smartphone progresse.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Ce que disent les chiffres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Téléphones mobiles : 1re catégorie, 10,4 % des conversations (6,1 % au rapport précédent, mesure par intention).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Apple 9,3 %, Samsung 8,4 %, Xiaomi 5,5 %, Google 5,1 %.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Modèles cités : iPhone 17 Pro, Galaxy S25/S26, Redmi Note 15 Pro, Pixel 10a.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44768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9088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Ce que nous proposons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Ad groups dédiés aux modèles les plus nommés.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Mettre en avant le prix : « moins de 200 € », « maxi 250 € » reviennent dans les requêtes.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Plan de visibilité smartphone 2027 : références et budget.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56235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nous construisons avec vous le plan smartphone 2027, ad groups, sélection de références et budget associé.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PISTE DE RECO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Resserrer la sélection de produits poussés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Le prix est le 1er frein (22,0 %) et le 1er critère de choix (10,1 %) : les références poussées doivent y répondre.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Ce que disent les chiffres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Prix trop élevé : 22,0 % des freins, attente promo : 9,1 %.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CTR en recul de 0,16 pt à 0,49 %, CPC en hausse de 26,6 % à 0,37 €.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Les requêtes s'allongent : 8,2 mots (+10,6 %).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44768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9088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Où commencer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Smartphone · 10,4 %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Enceintes · 6,9 %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Casques et écouteurs · 6,7 %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Aspirateurs · 6,0 %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56235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nous vous proposons une sélection resserrée sur ces quatre catégories, avec des références à bon rapport qualité-prix.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PISTE DE RECO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Activer Bose, puis packager l'offre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Bose pèse 2,2 % des conversations de la semaine : la demande existe dans vos catégories audio.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Le dispositif Bose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Produits Bose dans les annonces IA, liens vers boulanger.com.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Campagne distincte du fil rouge, avec ses propres indicateurs.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Budget envisagé : 20 000 € / mois (à confirmer).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44768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9088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Le cadre à fixer ensemble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Durée du test et critères de validation.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Partage de revenu Boulanger / Lemrock.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Extension à Marshall (0,9 %) et autres fournisseurs.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56235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Roxane vous envoie le récapitulatif Bose et le format d'offre packagée (statut à confirmer avant envoi).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mrock Boulanger">
  <a:themeElements>
    <a:clrScheme name="Lemrock Boulanger">
      <a:dk1>
        <a:srgbClr val="1B2238"/>
      </a:dk1>
      <a:lt1>
        <a:srgbClr val="FFFFFF"/>
      </a:lt1>
      <a:dk2>
        <a:srgbClr val="5A6275"/>
      </a:dk2>
      <a:lt2>
        <a:srgbClr val="F2F4F8"/>
      </a:lt2>
      <a:accent1>
        <a:srgbClr val="E8601C"/>
      </a:accent1>
      <a:accent2>
        <a:srgbClr val="1B2238"/>
      </a:accent2>
      <a:accent3>
        <a:srgbClr val="2E9E6B"/>
      </a:accent3>
      <a:accent4>
        <a:srgbClr val="C8372D"/>
      </a:accent4>
      <a:accent5>
        <a:srgbClr val="9AA3B5"/>
      </a:accent5>
      <a:accent6>
        <a:srgbClr val="F4B183"/>
      </a:accent6>
      <a:hlink>
        <a:srgbClr val="E8601C"/>
      </a:hlink>
      <a:folHlink>
        <a:srgbClr val="5A6275"/>
      </a:folHlink>
    </a:clrScheme>
    <a:fontScheme name="Lemrock Boulang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Boulanger Hebdo 01.10-08.10</dc:title>
  <dc:subject>PptxGenJS Presentation</dc:subject>
  <dc:creator>PptxGenJS</dc:creator>
  <cp:lastModifiedBy>PptxGenJS</cp:lastModifiedBy>
  <cp:revision>1</cp:revision>
  <dcterms:created xsi:type="dcterms:W3CDTF">2026-10-09T12:57:20Z</dcterms:created>
  <dcterms:modified xsi:type="dcterms:W3CDTF">2026-10-09T12:57:20Z</dcterms:modified>
</cp:coreProperties>
</file>