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f2f6c36-0833-bd53-8811-640fcfb89cc4}">
          <p14:sldIdLst>
            <p14:sldId id="256"/>
          </p14:sldIdLst>
        </p14:section>
        <p14:section name="Boulanger" id="{c168c988-01ab-5299-45d2-c58651aba97a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Pistes de reco" id="{6c2e2556-c8d7-e407-5394-66debcabae24}">
          <p14:sldIdLst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solidFill>
              <a:srgbClr val="E8601C"/>
            </a:solidFill>
            <a:ln w="38100" cap="flat">
              <a:solidFill>
                <a:srgbClr val="E8601C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8601C"/>
              </a:solidFill>
              <a:ln w="9525" cap="flat">
                <a:solidFill>
                  <a:srgbClr val="E8601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Sept. (1–30)</c:v>
                  </c:pt>
                  <c:pt idx="1">
                    <c:v>23–30 sept.</c:v>
                  </c:pt>
                  <c:pt idx="2">
                    <c:v>1–8 oct.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6.3</c:v>
                </c:pt>
                <c:pt idx="1">
                  <c:v>5.3</c:v>
                </c:pt>
                <c:pt idx="2">
                  <c:v>7.8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Moyenne du top 5</c:v>
                </c:pt>
              </c:strCache>
            </c:strRef>
          </c:tx>
          <c:spPr>
            <a:solidFill>
              <a:srgbClr val="9AA3B5"/>
            </a:solidFill>
            <a:ln w="38100" cap="flat">
              <a:solidFill>
                <a:srgbClr val="9AA3B5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9AA3B5"/>
              </a:solidFill>
              <a:ln w="9525" cap="flat">
                <a:solidFill>
                  <a:srgbClr val="9AA3B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Sept. (1–30)</c:v>
                  </c:pt>
                  <c:pt idx="1">
                    <c:v>23–30 sept.</c:v>
                  </c:pt>
                  <c:pt idx="2">
                    <c:v>1–8 oct.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14.4</c:v>
                </c:pt>
                <c:pt idx="1">
                  <c:v/>
                </c:pt>
                <c:pt idx="2">
                  <c:v>15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27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1"/>
        <c:axPos val="l"/>
        <c:majorGridlines>
          <c:spPr>
            <a:ln w="6350" cap="flat">
              <a:solidFill>
                <a:srgbClr val="E3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A627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Présences de marque dans les messages utilisateurs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9AA3B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Amazon</c:v>
                  </c:pt>
                  <c:pt idx="1">
                    <c:v>E.Leclerc</c:v>
                  </c:pt>
                  <c:pt idx="2">
                    <c:v>Fnac</c:v>
                  </c:pt>
                  <c:pt idx="3">
                    <c:v>Carrefour</c:v>
                  </c:pt>
                  <c:pt idx="4">
                    <c:v>Cdiscount</c:v>
                  </c:pt>
                  <c:pt idx="5">
                    <c:v>Darty</c:v>
                  </c:pt>
                  <c:pt idx="6">
                    <c:v>Auchan</c:v>
                  </c:pt>
                  <c:pt idx="7">
                    <c:v>Boulanger</c:v>
                  </c:pt>
                  <c:pt idx="8">
                    <c:v>Back Market</c:v>
                  </c:pt>
                  <c:pt idx="9">
                    <c:v>Conforama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29.8</c:v>
                </c:pt>
                <c:pt idx="1">
                  <c:v>15.3</c:v>
                </c:pt>
                <c:pt idx="2">
                  <c:v>11.5</c:v>
                </c:pt>
                <c:pt idx="3">
                  <c:v>9.2</c:v>
                </c:pt>
                <c:pt idx="4">
                  <c:v>7.5</c:v>
                </c:pt>
                <c:pt idx="5">
                  <c:v>7.1</c:v>
                </c:pt>
                <c:pt idx="6">
                  <c:v>5.7</c:v>
                </c:pt>
                <c:pt idx="7">
                  <c:v>4.3</c:v>
                </c:pt>
                <c:pt idx="8">
                  <c:v>3.3</c:v>
                </c:pt>
                <c:pt idx="9">
                  <c:v>2.3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Part de voix GEA de Boulanger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Boulanger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8601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A3B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Share of Voice GEA (ads)</c:v>
                  </c:pt>
                  <c:pt idx="1">
                    <c:v>Share of Voice GEO (IA)</c:v>
                  </c:pt>
                  <c:pt idx="2">
                    <c:v>Share of Voice utilisateurs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20.2</c:v>
                </c:pt>
                <c:pt idx="1">
                  <c:v>7.8</c:v>
                </c:pt>
                <c:pt idx="2">
                  <c:v>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Évolution de la part de voix GEA · Boulanger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Voice GEA</c:v>
                </c:pt>
              </c:strCache>
            </c:strRef>
          </c:tx>
          <c:spPr>
            <a:solidFill>
              <a:srgbClr val="E8601C"/>
            </a:solidFill>
            <a:ln w="38100" cap="flat">
              <a:solidFill>
                <a:srgbClr val="E8601C"/>
              </a:solidFill>
              <a:prstDash val="solid"/>
              <a:round/>
            </a:ln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8601C"/>
              </a:solidFill>
              <a:ln w="9525" cap="flat">
                <a:solidFill>
                  <a:srgbClr val="E8601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Août (2–31)</c:v>
                  </c:pt>
                  <c:pt idx="1">
                    <c:v>Sept. (1–30)</c:v>
                  </c:pt>
                  <c:pt idx="2">
                    <c:v>23–30 sept.</c:v>
                  </c:pt>
                  <c:pt idx="3">
                    <c:v>1–8 oct.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14.3</c:v>
                </c:pt>
                <c:pt idx="2">
                  <c:v>23</c:v>
                </c:pt>
                <c:pt idx="3">
                  <c:v>20.2</c:v>
                </c:pt>
              </c:numCache>
            </c:numRef>
          </c:val>
          <c:smooth val="0"/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238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"/>
          <c:min val="0"/>
        </c:scaling>
        <c:delete val="1"/>
        <c:axPos val="l"/>
        <c:majorGridlines>
          <c:spPr>
            <a:ln w="6350" cap="flat">
              <a:solidFill>
                <a:srgbClr val="E3E6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Freins à l'achat · part des freins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Prix trop élevé</c:v>
                  </c:pt>
                  <c:pt idx="1">
                    <c:v>Doute sur l'utilité réelle</c:v>
                  </c:pt>
                  <c:pt idx="2">
                    <c:v>Compatibilité</c:v>
                  </c:pt>
                  <c:pt idx="3">
                    <c:v>Doute sur la fiabilité</c:v>
                  </c:pt>
                  <c:pt idx="4">
                    <c:v>Livraison et délais</c:v>
                  </c:pt>
                  <c:pt idx="5">
                    <c:v>Attente d'une promotion</c:v>
                  </c:pt>
                  <c:pt idx="6">
                    <c:v>Avis mitigés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</c:v>
                </c:pt>
                <c:pt idx="1">
                  <c:v>18.1</c:v>
                </c:pt>
                <c:pt idx="2">
                  <c:v>17.1</c:v>
                </c:pt>
                <c:pt idx="3">
                  <c:v>14.3</c:v>
                </c:pt>
                <c:pt idx="4">
                  <c:v>10.2</c:v>
                </c:pt>
                <c:pt idx="5">
                  <c:v>9.1</c:v>
                </c:pt>
                <c:pt idx="6">
                  <c:v>9.1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Critères de choix · part des critères exprimés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E8601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Prix</c:v>
                  </c:pt>
                  <c:pt idx="1">
                    <c:v>Rendu sonore</c:v>
                  </c:pt>
                  <c:pt idx="2">
                    <c:v>Compatibilité</c:v>
                  </c:pt>
                  <c:pt idx="3">
                    <c:v>Autonomie batterie</c:v>
                  </c:pt>
                  <c:pt idx="4">
                    <c:v>Qualité photo</c:v>
                  </c:pt>
                  <c:pt idx="5">
                    <c:v>Taille de l'écran</c:v>
                  </c:pt>
                  <c:pt idx="6">
                    <c:v>Qualité sonore</c:v>
                  </c:pt>
                  <c:pt idx="7">
                    <c:v>Stockage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10.1</c:v>
                </c:pt>
                <c:pt idx="1">
                  <c:v>6.2</c:v>
                </c:pt>
                <c:pt idx="2">
                  <c:v>6</c:v>
                </c:pt>
                <c:pt idx="3">
                  <c:v>5.2</c:v>
                </c:pt>
                <c:pt idx="4">
                  <c:v>3.7</c:v>
                </c:pt>
                <c:pt idx="5">
                  <c:v>3.6</c:v>
                </c:pt>
                <c:pt idx="6">
                  <c:v>3.3</c:v>
                </c:pt>
                <c:pt idx="7">
                  <c:v>3.2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238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2238"/>
                </a:solidFill>
                <a:latin typeface="+mn-lt"/>
              </a:rPr>
              <a:t>Top 10 marques · part des conversations · 1–8 oct.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</c:v>
                </c:pt>
              </c:strCache>
            </c:strRef>
          </c:tx>
          <c:spPr>
            <a:solidFill>
              <a:srgbClr val="1B223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Apple</c:v>
                  </c:pt>
                  <c:pt idx="1">
                    <c:v>Samsung</c:v>
                  </c:pt>
                  <c:pt idx="2">
                    <c:v>Xiaomi</c:v>
                  </c:pt>
                  <c:pt idx="3">
                    <c:v>Google</c:v>
                  </c:pt>
                  <c:pt idx="4">
                    <c:v>Sony</c:v>
                  </c:pt>
                  <c:pt idx="5">
                    <c:v>JBL</c:v>
                  </c:pt>
                  <c:pt idx="6">
                    <c:v>Dreame</c:v>
                  </c:pt>
                  <c:pt idx="7">
                    <c:v>Honor</c:v>
                  </c:pt>
                  <c:pt idx="8">
                    <c:v>Roborock</c:v>
                  </c:pt>
                  <c:pt idx="9">
                    <c:v>LG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9.3</c:v>
                </c:pt>
                <c:pt idx="1">
                  <c:v>8.4</c:v>
                </c:pt>
                <c:pt idx="2">
                  <c:v>5.5</c:v>
                </c:pt>
                <c:pt idx="3">
                  <c:v>5.1</c:v>
                </c:pt>
                <c:pt idx="4">
                  <c:v>4</c:v>
                </c:pt>
                <c:pt idx="5">
                  <c:v>3.1</c:v>
                </c:pt>
                <c:pt idx="6">
                  <c:v>3</c:v>
                </c:pt>
                <c:pt idx="7">
                  <c:v>2.7</c:v>
                </c:pt>
                <c:pt idx="8">
                  <c:v>2.7</c:v>
                </c:pt>
                <c:pt idx="9">
                  <c:v>2.7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B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275"/>
                </a:solidFill>
              </a:rPr>
              <a:t>01 INDICATEURS  ·  02 BOULANGER  ·  03 PISTES DE RECO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8601C"/>
                </a:solidFill>
              </a:rPr>
              <a:t>AGENDA · CE QUE NOUS ALLONS VOIR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515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Boulanger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DAE3"/>
                </a:solidFill>
              </a:rPr>
              <a:t>Revue de performance de la campagne Boulanger, du 1er au 8 octobre 2026 · rapport du 09/10/2026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83464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01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834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Les indicateurs qui comptent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pilotons, et comment chaque chiffre se mesure.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9319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93192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Boulanger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Formats diffusés, performance de la semaine, visibilité dans les réponses des IA et intentions d'achat.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50292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E8601C"/>
                </a:solidFill>
              </a:rPr>
              <a:t>03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502920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Pistes de reco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D6DAE3"/>
                </a:solidFill>
              </a:rPr>
              <a:t>Ce que nous proposons pour les prochaines semaines.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FORMATS PUBLICITAIRES · CE QUE VOIT L'UTILISATEUR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Vos 3 formats, campagne en cours depuis le 28 août 2026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Budget mensuel 10 000 €   ·   Activation le 28 août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20240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920240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Carrousel produit sponsorisé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315968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87568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87568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590288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Question suggérée sponsorisée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83296" y="1920240"/>
            <a:ext cx="3520440" cy="3291840"/>
          </a:xfrm>
          <a:prstGeom prst="roundRect">
            <a:avLst>
              <a:gd name="adj" fmla="val 2778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54896" y="2377440"/>
            <a:ext cx="777240" cy="777240"/>
          </a:xfrm>
          <a:prstGeom prst="ellipse">
            <a:avLst/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54896" y="23774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357616" y="342900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238"/>
                </a:solidFill>
              </a:rPr>
              <a:t>Text ads sur Qwant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trois formats sont servis dans le même inventaire éditorial, au moment où l'utilisateur exprime son intention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RAPPORT DE PERFORMANCE · 01/10/2026 → 08/10/2026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Moins de clics, mais deux fois plus de ventes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COMPARAISON vs 23/09 → 30/09   ·   Campagne lancée le 28 août 2026   ·   42 jours de diffusion   ·   statut : Live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PERFORMANCE MÉDIA · BUDGET SEMAINE 2 367,15 € · CUMUL 7 279,90 € sur 30 000 € (24 %) · CA HT 888,68 €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MENTIONS CONVERSATIONNELLES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1 311 465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</a:rPr>
              <a:t>▲ +16,7 %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4 475 698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141525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51253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TRAFIC LLM QUALIFIÉ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251253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6 468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2251253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372D"/>
                </a:solidFill>
              </a:rPr>
              <a:t>▼ -11,3 %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26 646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34410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44138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CTR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3844138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0,49 %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844138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372D"/>
                </a:solidFill>
              </a:rPr>
              <a:t>▼ -0,16 pt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0,60 %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27294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37022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CPC MOYEN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37022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0,37 €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37022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372D"/>
                </a:solidFill>
              </a:rPr>
              <a:t>▲ +26,6 %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0,27 €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920179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029907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CONVERSIONS LAST CLICK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029907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29907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</a:rPr>
              <a:t>▲ +100 % (3)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15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513064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22792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CVR LAST CLICK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8622792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0,29 %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622792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</a:rPr>
              <a:t>▲ +0,17 pt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YTD 0,20 %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105949" y="2057400"/>
            <a:ext cx="1504188" cy="1371600"/>
          </a:xfrm>
          <a:prstGeom prst="roundRect">
            <a:avLst>
              <a:gd name="adj" fmla="val 533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215677" y="2130552"/>
            <a:ext cx="12847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5A6275"/>
                </a:solidFill>
              </a:rPr>
              <a:t>PANIER MOYEN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215677" y="2468880"/>
            <a:ext cx="12847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148,11 €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10215677" y="2880360"/>
            <a:ext cx="12847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E9E6B"/>
                </a:solidFill>
              </a:rPr>
              <a:t>▲ +4,2 %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A6275"/>
                </a:solidFill>
              </a:rPr>
              <a:t>vs 142,20 € · YTD 140,21 €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4864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3152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GEO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3152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7,8 %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+2,5 pts  vs 23/09 → 30/09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353105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535985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 GEA (ADS)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3535985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20,2 %</a:t>
            </a:r>
            <a:endParaRPr lang="en-US" sz="3000" dirty="0"/>
          </a:p>
        </p:txBody>
      </p:sp>
      <p:sp>
        <p:nvSpPr>
          <p:cNvPr id="42" name="Text 40"/>
          <p:cNvSpPr txBox="1"/>
          <p:nvPr/>
        </p:nvSpPr>
        <p:spPr>
          <a:xfrm>
            <a:off x="3535985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372D"/>
                </a:solidFill>
              </a:rPr>
              <a:t>▼ -2,8 pts  vs 23/09 → 30/09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157570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340450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SHARE OF VOICE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340450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4,3 %</a:t>
            </a:r>
            <a:endParaRPr lang="en-US" sz="3000" dirty="0"/>
          </a:p>
        </p:txBody>
      </p:sp>
      <p:sp>
        <p:nvSpPr>
          <p:cNvPr id="46" name="Text 44"/>
          <p:cNvSpPr txBox="1"/>
          <p:nvPr/>
        </p:nvSpPr>
        <p:spPr>
          <a:xfrm>
            <a:off x="6340450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275"/>
                </a:solidFill>
              </a:rPr>
              <a:t>▬ +0,3 pt (stable)  vs 23/09 → 30/09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8962034" y="388620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44914" y="3977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LONGUEUR DES REQUÊTES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9144914" y="42519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238"/>
                </a:solidFill>
              </a:rPr>
              <a:t>8,2 mots</a:t>
            </a:r>
            <a:endParaRPr lang="en-US" sz="3000" dirty="0"/>
          </a:p>
        </p:txBody>
      </p:sp>
      <p:sp>
        <p:nvSpPr>
          <p:cNvPr id="50" name="Text 48"/>
          <p:cNvSpPr txBox="1"/>
          <p:nvPr/>
        </p:nvSpPr>
        <p:spPr>
          <a:xfrm>
            <a:off x="9144914" y="4846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9E6B"/>
                </a:solidFill>
              </a:rPr>
              <a:t>▲ +10,6 %  vs 23/09 → 30/09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548640" y="54864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31520" y="54864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les conversions doublent (6 ventes, 888,68 € HT, CVR 0,29 %) malgré des clics en recul (-11,3 %) et un CPC à 0,37 €.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LES INDICATEURS QUI COMPTENT · RAPPEL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Deux objectifs prioritaires pilotent la campagne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01  Part de voix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Renforcer votre visibilité face aux enseignes concurrentes : part des citations de Boulanger parmi l'ensemble des citations d'enseignes de votre catégorie.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144768" y="1828800"/>
            <a:ext cx="5349240" cy="1737360"/>
          </a:xfrm>
          <a:prstGeom prst="roundRect">
            <a:avLst>
              <a:gd name="adj" fmla="val 5263"/>
            </a:avLst>
          </a:prstGeom>
          <a:solidFill>
            <a:srgbClr val="1B2238"/>
          </a:solidFill>
          <a:ln w="12700">
            <a:solidFill>
              <a:srgbClr val="1B22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1965960"/>
            <a:ext cx="4800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02  Trafic LLM qualifié</a:t>
            </a:r>
            <a:endParaRPr lang="en-US" sz="20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D6DAE3"/>
                </a:solidFill>
              </a:rPr>
              <a:t>Amener sur boulanger.com des visiteurs en intention d'achat : visites issues des conversations IA, qualifiées selon l'intention exprimée.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49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OBJECTIFS SECONDAIRES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Win rate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Quand l'IA compare Boulanger à une autre enseigne, part des clics sur l'ad Boulanger.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353105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35985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Share of Voice GEO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Recommandations spontanées de l'agent citant Boulanger.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7570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40450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Intentions d'achat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Les questions posées aux IA avant d'acheter.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2034" y="4069080"/>
            <a:ext cx="2651760" cy="1417320"/>
          </a:xfrm>
          <a:prstGeom prst="roundRect">
            <a:avLst>
              <a:gd name="adj" fmla="val 6452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914" y="4160520"/>
            <a:ext cx="2286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238"/>
                </a:solidFill>
              </a:rPr>
              <a:t>Conversions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Ventes attribuées aux clics IA : 6 cette semaine.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cette semaine, la part de voix progresse légèrement (+0,3 pt) mais le trafic qualifié recule de 11,3 %.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VISIBILITÉ DANS LES RÉPONSES DE L'IA · 01/10/2026 → 08/10/2026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gagne 2,5 points de part de voix dans les réponses de l'IA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1732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Périmètre analysé   </a:t>
            </a:r>
            <a:pPr indent="0" marL="0">
              <a:buNone/>
            </a:pPr>
            <a:r>
              <a:rPr lang="en-US" sz="1200" dirty="0">
                <a:solidFill>
                  <a:srgbClr val="1B2238"/>
                </a:solidFill>
              </a:rPr>
              <a:t>Électroménager, image &amp; son, informatique, téléphonie. Recommandations spontanées de l'agent (GEO). 10 enseignes suivies.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585216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0" y="1965960"/>
            <a:ext cx="5029200" cy="4343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Part de voix dans les réponses de l'IA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468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Boulanger 6e sur 10</a:t>
            </a:r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, avec une part de voix de 7,8 %, soit </a:t>
            </a:r>
            <a:pPr indent="0" marL="0">
              <a:buNone/>
            </a:pPr>
            <a:r>
              <a:rPr lang="en-US" sz="1100" b="1" dirty="0">
                <a:solidFill>
                  <a:srgbClr val="2E9E6B"/>
                </a:solidFill>
              </a:rPr>
              <a:t>+2,5 points</a:t>
            </a:r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 vs S-1 (5,3 %)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88036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288036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Amazon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91840" y="2971800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2971800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532120" y="288036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27,4 %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20954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2095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E.Leclerc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91840" y="3300984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3300984"/>
            <a:ext cx="1417654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32120" y="320954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17,7 %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53872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5387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Cdiscount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91840" y="3630168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91840" y="3630168"/>
            <a:ext cx="985149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532120" y="3538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12,3 %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386791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8679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Fnac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291840" y="3959352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3959352"/>
            <a:ext cx="752878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532120" y="386791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9,4 %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419709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419709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Auchan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291840" y="4288536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4288536"/>
            <a:ext cx="672785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532120" y="419709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8,4 %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52628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6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4526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8"/>
                </a:solidFill>
              </a:rPr>
              <a:t>Boulanger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291840" y="4617720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91840" y="4617720"/>
            <a:ext cx="624729" cy="91440"/>
          </a:xfrm>
          <a:prstGeom prst="roundRect">
            <a:avLst>
              <a:gd name="adj" fmla="val 50000"/>
            </a:avLst>
          </a:prstGeom>
          <a:solidFill>
            <a:srgbClr val="E8601C"/>
          </a:solidFill>
          <a:ln w="12700">
            <a:solidFill>
              <a:srgbClr val="E8601C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532120" y="452628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E8601C"/>
                </a:solidFill>
              </a:rPr>
              <a:t>7,8 %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77240" y="4855464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7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143000" y="485546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Darty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291840" y="4946904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946904"/>
            <a:ext cx="424495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532120" y="4855464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5,3 %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777240" y="5184648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8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184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Carrefour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3291840" y="5276088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291840" y="5276088"/>
            <a:ext cx="416486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532120" y="518464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5,2 %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777240" y="551383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9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143000" y="55138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Electro Dépôt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3291840" y="5605272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91840" y="5605272"/>
            <a:ext cx="192224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5532120" y="5513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2,4 %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77240" y="5843016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10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143000" y="584301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Back Market</a:t>
            </a:r>
            <a:endParaRPr lang="en-US" sz="1300" dirty="0"/>
          </a:p>
        </p:txBody>
      </p:sp>
      <p:sp>
        <p:nvSpPr>
          <p:cNvPr id="57" name="Shape 55"/>
          <p:cNvSpPr/>
          <p:nvPr/>
        </p:nvSpPr>
        <p:spPr>
          <a:xfrm>
            <a:off x="3291840" y="5934456"/>
            <a:ext cx="2194560" cy="91440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 w="12700">
            <a:solidFill>
              <a:srgbClr val="EEF0F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291840" y="5934456"/>
            <a:ext cx="128149" cy="91440"/>
          </a:xfrm>
          <a:prstGeom prst="roundRect">
            <a:avLst>
              <a:gd name="adj" fmla="val 50000"/>
            </a:avLst>
          </a:prstGeom>
          <a:solidFill>
            <a:srgbClr val="C9CED8"/>
          </a:solidFill>
          <a:ln w="12700">
            <a:solidFill>
              <a:srgbClr val="C9CED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532120" y="584301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B2238"/>
                </a:solidFill>
              </a:rPr>
              <a:t>1,6 %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812280" y="2103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Évolution de la part de voix</a:t>
            </a:r>
            <a:endParaRPr lang="en-US" sz="1800" dirty="0"/>
          </a:p>
        </p:txBody>
      </p:sp>
      <p:sp>
        <p:nvSpPr>
          <p:cNvPr id="61" name="Text 59"/>
          <p:cNvSpPr txBox="1"/>
          <p:nvPr/>
        </p:nvSpPr>
        <p:spPr>
          <a:xfrm>
            <a:off x="681228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% des citations dans les réponses de l'agent (GEO)</a:t>
            </a:r>
            <a:endParaRPr lang="en-US" sz="1100" dirty="0"/>
          </a:p>
        </p:txBody>
      </p:sp>
      <p:graphicFrame>
        <p:nvGraphicFramePr>
          <p:cNvPr id="62" name="Chart 0" descr=""/>
          <p:cNvGraphicFramePr/>
          <p:nvPr/>
        </p:nvGraphicFramePr>
        <p:xfrm>
          <a:off x="6720840" y="2788920"/>
          <a:ext cx="475488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3" name="Text 60"/>
          <p:cNvSpPr txBox="1"/>
          <p:nvPr/>
        </p:nvSpPr>
        <p:spPr>
          <a:xfrm>
            <a:off x="6812280" y="5760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275"/>
                </a:solidFill>
              </a:rPr>
              <a:t>Moyenne du top 5 non publiée pour le 23–30 sept. Mesure différente de celle du rapport du 02/10 (15,3 %) : séries non comparables.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SHARE OF VOICE DANS LES MESSAGES UTILISATEURS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Boulanger 8e sur 10 dans ce que l'audience nomme spontanément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64922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315200" y="1783080"/>
            <a:ext cx="429768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43800" y="1920240"/>
            <a:ext cx="384048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A6275"/>
                </a:solidFill>
              </a:rPr>
              <a:t>BOULANGER</a:t>
            </a:r>
            <a:endParaRPr lang="en-US" sz="12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8601C"/>
                </a:solidFill>
              </a:rPr>
              <a:t>4,3 %</a:t>
            </a:r>
            <a:endParaRPr lang="en-US" sz="1200" dirty="0"/>
          </a:p>
          <a:p>
            <a:pPr indent="0" marL="0">
              <a:buNone/>
            </a:pPr>
            <a:r>
              <a:rPr lang="en-US" sz="1300" b="1" dirty="0">
                <a:solidFill>
                  <a:srgbClr val="5A6275"/>
                </a:solidFill>
              </a:rPr>
              <a:t>▬ +0,3 pt (stable)  vs 23/09 → 30/09  ·  8e / 10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5A6275"/>
                </a:solidFill>
              </a:rPr>
              <a:t>MOYENNE DU TOP 5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B2238"/>
                </a:solidFill>
              </a:rPr>
              <a:t>14,7 %</a:t>
            </a:r>
            <a:endParaRPr lang="en-US" sz="1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Part des conversations du secteur où l'utilisateur cite lui-même Boulanger, rapportée à l'ensemble des enseignes citées.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l'audience nomme Boulanger moins souvent que Darty et Auchan : 4,3 % contre 14,7 % pour la moyenne du top 5, la marge de progression est ici.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VISIBILITÉ DANS LES RÉPONSES DE L'IA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Avec les ads, Boulanger pèse 20,2 % des réponses ciblées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737360"/>
          <a:ext cx="54864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20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5720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275"/>
                </a:solidFill>
              </a:rPr>
              <a:t>GEA (ads)</a:t>
            </a:r>
            <a:endParaRPr lang="en-US" sz="10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20,2 %  </a:t>
            </a:r>
            <a:pPr indent="0" marL="0">
              <a:buNone/>
            </a:pPr>
            <a:r>
              <a:rPr lang="en-US" sz="1100" b="1" dirty="0">
                <a:solidFill>
                  <a:srgbClr val="C8372D"/>
                </a:solidFill>
              </a:rPr>
              <a:t>▼ -2,8 pts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423160" y="45720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560320" y="45720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275"/>
                </a:solidFill>
              </a:rPr>
              <a:t>GEO (IA)</a:t>
            </a:r>
            <a:endParaRPr lang="en-US" sz="10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7,8 %  </a:t>
            </a:r>
            <a:pPr indent="0" marL="0">
              <a:buNone/>
            </a:pPr>
            <a:r>
              <a:rPr lang="en-US" sz="1100" b="1" dirty="0">
                <a:solidFill>
                  <a:srgbClr val="2E9E6B"/>
                </a:solidFill>
              </a:rPr>
              <a:t>▲ +2,5 pts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297680" y="457200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457200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6275"/>
                </a:solidFill>
              </a:rPr>
              <a:t>Utilisateurs</a:t>
            </a:r>
            <a:endParaRPr lang="en-US" sz="10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8"/>
                </a:solidFill>
              </a:rPr>
              <a:t>4,3 %  </a:t>
            </a:r>
            <a:pPr indent="0" marL="0">
              <a:buNone/>
            </a:pPr>
            <a:r>
              <a:rPr lang="en-US" sz="1100" b="1" dirty="0">
                <a:solidFill>
                  <a:srgbClr val="5A6275"/>
                </a:solidFill>
              </a:rPr>
              <a:t>▬ +0,3 pt</a:t>
            </a:r>
            <a:endParaRPr lang="en-US" sz="10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6309360" y="17373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309360" y="54864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A6275"/>
                </a:solidFill>
              </a:rPr>
              <a:t>Périodes de durée différente : 2 mois de 30 jours, puis 2 semaines de 8 jours. Valeurs d'août et du 23–30 sept. déduites des écarts publiés.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548640" y="58978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58978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la part de voix GEA est passée de 4,0 % en août à 20,2 % début octobre ; léger repli cette semaine (-2,8 pts) après un pic à 23,0 %.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DYNAMIQUE CONVERSATIONNELLE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prix est à la fois le premier critère de choix et le premier frein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486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217920" y="1691640"/>
          <a:ext cx="53949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22 % des freins portent sur le prix et 9,1 % sur l'attente d'une promotion. Persistance de Boulanger : pas assez de données cette semaine.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CE QUE VOTRE AUDIENCE DEMANDE AUX 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Le smartphone reste la première demande (10,4 %)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651760"/>
                <a:gridCol w="914400"/>
                <a:gridCol w="7040880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Produit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Part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Ce que l'audience écrit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Téléphones mobiles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10,4 %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Téléphone récent moins de 200 euros et bon pour les jeux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Enceintes et haut-parleurs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6,9 %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Quelle enceinte portable offre le meilleur rendu des basses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Casques audio &amp; écouteurs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type d'écouteurs true wireless choisir pour le sport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Aspirateurs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6,0 %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Montre-moi les aspirateurs-balais sous 300 €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Écrans d'ordinateur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5,8 %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Écrans WQHD 27" 120 Hz compatibles PS5 sous 400 €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Ordinateurs portables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5,5 %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PC portable pour la bureautique et le télétravail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Piles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5,2 %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Tablettes multimédias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4,7 %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La meilleure tablette pour regarder des films en voyage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9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Téléviseurs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4,3 %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Le meilleur téléviseur 65 pouces en rapport qualité prix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238"/>
                          </a:solidFill>
                        </a:rPr>
                        <a:t>Lave-linge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8601C"/>
                          </a:solidFill>
                        </a:rPr>
                        <a:t>4,1 %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1B2238"/>
                          </a:solidFill>
                        </a:rPr>
                        <a:t>« Quel lave-linge est le plus silencieux pour un appartement ? »</a:t>
                      </a:r>
                      <a:endParaRPr lang="en-US" sz="12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: Apple (9,3 %), Samsung (8,4 %), Xiaomi (5,5 %) et Google (5,1 %) en tête.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MARQUES ET MODÈLES NOMMÉS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Apple et Samsung, les deux marques les plus nommées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9164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6675120" y="1783080"/>
            <a:ext cx="4937760" cy="3657600"/>
          </a:xfrm>
          <a:prstGeom prst="roundRect">
            <a:avLst>
              <a:gd name="adj" fmla="val 25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903720" y="1920240"/>
            <a:ext cx="44805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B2238"/>
                </a:solidFill>
              </a:rPr>
              <a:t>Modèles les plus cités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Apple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iPhone 17 Pro, iPhone 18 Pro · AirPods Pro 3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Samsung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Galaxy S25, S26 · Galaxy Tab A11+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Xiaomi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Redmi Note 15 Pro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Google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Pixel 10a, Pixel 9a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Sony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WH-1000XM6 · BRAVIA 9 II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E8601C"/>
                </a:solidFill>
              </a:rPr>
              <a:t>Dreame / Roborock 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238"/>
                </a:solidFill>
              </a:rPr>
              <a:t>L40s Pro Ultra · Saros 20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566928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66928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30,7 % des recherches nomment déjà une marque ; le smartphone concentre les modèles les plus cités (iPhone, Galaxy, Redmi, Pixel).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CHAMPS SÉMANTIQUES DES CONVERSATIONS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Smartphone, prix et Apple dominent les conversations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275"/>
                </a:solidFill>
              </a:rPr>
              <a:t>PÉRIODE 01/10/2026 → 08/10/2026   ·   COMPARAISON vs 23/09 → 30/09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37360"/>
            <a:ext cx="110642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E8601C"/>
                </a:solidFill>
              </a:rPr>
              <a:t>aspirateur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B2238"/>
                </a:solidFill>
              </a:rPr>
              <a:t>Apple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8601C"/>
                </a:solidFill>
              </a:rPr>
              <a:t>smartphone     </a:t>
            </a:r>
            <a:pPr algn="ctr"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8A93A6"/>
                </a:solidFill>
              </a:rPr>
              <a:t>compatibilité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3700" b="1" dirty="0">
                <a:solidFill>
                  <a:srgbClr val="1B2238"/>
                </a:solidFill>
              </a:rPr>
              <a:t>Samsung     </a:t>
            </a:r>
            <a:pPr algn="ctr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8A93A6"/>
                </a:solidFill>
              </a:rPr>
              <a:t>prix     </a:t>
            </a:r>
            <a:pPr algn="ctr" indent="0" marL="0">
              <a:lnSpc>
                <a:spcPct val="105000"/>
              </a:lnSpc>
              <a:buNone/>
            </a:pPr>
            <a:r>
              <a:rPr lang="en-US" sz="2800" b="1" dirty="0">
                <a:solidFill>
                  <a:srgbClr val="E8601C"/>
                </a:solidFill>
              </a:rPr>
              <a:t>enceinte     </a:t>
            </a:r>
            <a:pPr algn="ctr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E8601C"/>
                </a:solidFill>
              </a:rPr>
              <a:t>PC portable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8A93A6"/>
                </a:solidFill>
              </a:rPr>
              <a:t>rendu sonore     </a:t>
            </a:r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E8601C"/>
                </a:solidFill>
              </a:rPr>
              <a:t>casque &amp; écouteurs     </a:t>
            </a:r>
            <a:pPr algn="ctr"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1B2238"/>
                </a:solidFill>
              </a:rPr>
              <a:t>Xiaomi     </a:t>
            </a:r>
            <a:pPr algn="ctr" indent="0" marL="0">
              <a:lnSpc>
                <a:spcPct val="105000"/>
              </a:lnSpc>
              <a:buNone/>
            </a:pPr>
            <a:r>
              <a:rPr lang="en-US" sz="2400" b="1" dirty="0">
                <a:solidFill>
                  <a:srgbClr val="E8601C"/>
                </a:solidFill>
              </a:rPr>
              <a:t>écran PC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E8601C"/>
                </a:solidFill>
              </a:rPr>
              <a:t>tablette     </a:t>
            </a:r>
            <a:pPr algn="ctr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1B2238"/>
                </a:solidFill>
              </a:rPr>
              <a:t>Google     </a:t>
            </a:r>
            <a:pPr algn="ctr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E8601C"/>
                </a:solidFill>
              </a:rPr>
              <a:t>téléviseur     </a:t>
            </a:r>
            <a:pPr algn="ctr" indent="0" marL="0">
              <a:lnSpc>
                <a:spcPct val="105000"/>
              </a:lnSpc>
              <a:buNone/>
            </a:pPr>
            <a:r>
              <a:rPr lang="en-US" sz="2300" b="1" dirty="0">
                <a:solidFill>
                  <a:srgbClr val="8A93A6"/>
                </a:solidFill>
              </a:rPr>
              <a:t>autonomie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1B2238"/>
                </a:solidFill>
              </a:rPr>
              <a:t>JBL</a:t>
            </a:r>
            <a:endParaRPr lang="en-US" sz="2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A93A6"/>
                </a:solidFill>
              </a:rPr>
              <a:t>qualité photo     </a:t>
            </a:r>
            <a:pPr algn="ctr" indent="0" marL="0">
              <a:lnSpc>
                <a:spcPct val="105000"/>
              </a:lnSpc>
              <a:buNone/>
            </a:pPr>
            <a:r>
              <a:rPr lang="en-US" sz="2100" b="1" dirty="0">
                <a:solidFill>
                  <a:srgbClr val="1B2238"/>
                </a:solidFill>
              </a:rPr>
              <a:t>Sony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E8601C"/>
                </a:solidFill>
              </a:rPr>
              <a:t>lave-linge     </a:t>
            </a:r>
            <a:pPr algn="ctr" indent="0" marL="0">
              <a:lnSpc>
                <a:spcPct val="105000"/>
              </a:lnSpc>
              <a:buNone/>
            </a:pPr>
            <a:r>
              <a:rPr lang="en-US" sz="1800" b="1" dirty="0">
                <a:solidFill>
                  <a:srgbClr val="8A93A6"/>
                </a:solidFill>
              </a:rPr>
              <a:t>taille d'écran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303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275"/>
                </a:solidFill>
              </a:rPr>
              <a:t>Taille du mot = fréquence au sein de sa famille     </a:t>
            </a:r>
            <a:pPr algn="ctr" indent="0" marL="0">
              <a:buNone/>
            </a:pPr>
            <a:r>
              <a:rPr lang="en-US" sz="1200" b="1" dirty="0">
                <a:solidFill>
                  <a:srgbClr val="E8601C"/>
                </a:solidFill>
              </a:rPr>
              <a:t>● Produits   </a:t>
            </a:r>
            <a:pPr algn="ctr" indent="0" marL="0">
              <a:buNone/>
            </a:pPr>
            <a:r>
              <a:rPr lang="en-US" sz="1200" b="1" dirty="0">
                <a:solidFill>
                  <a:srgbClr val="1B2238"/>
                </a:solidFill>
              </a:rPr>
              <a:t>● Marques   </a:t>
            </a:r>
            <a:pPr algn="ctr" indent="0" marL="0">
              <a:buNone/>
            </a:pPr>
            <a:r>
              <a:rPr lang="en-US" sz="1200" b="1" dirty="0">
                <a:solidFill>
                  <a:srgbClr val="8A93A6"/>
                </a:solidFill>
              </a:rPr>
              <a:t>● Critères d'achat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571500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571500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le smartphone est la première demande produit, Apple et Samsung les marques les plus nommées, et le prix le premier critère d'achat.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Fiabiliser la mesure des conversions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Les premières ventes remontent : 15 transactions et 2 103 € HT depuis le lancement, dont 6 cette semaine.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1–8 oct. : 6 transactions, 888,68 € HT, panier moyen 148 €.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6 sur 6 réalisées par de nouveaux clients.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CVR 0,29 % sur 2 039 visites (0,12 % la semaine précédente).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Les points à lever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Écart clics / visites : 6 468 clics Lemrock pour 2 039 visites mesurées (31 %).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Paramètre at_medium et consentement Didomi : à finaliser pour réduire cet écart.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ROAS de la semaine : 0,38 (CA HT / budget).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réconcilier clics et visites avec vos équipes pour que chaque vente attribuée à Lemrock soit comptée.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Faire du smartphone votre priorité de visibilité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La semaine confirme la priorité exprimée pour 2027 : la demande smartphone progresse.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Téléphones mobiles : 1re catégorie, 10,4 % des conversations (6,1 % au rapport précédent, mesure par intention).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Apple 9,3 %, Samsung 8,4 %, Xiaomi 5,5 %, Google 5,1 %.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Modèles cités : iPhone 17 Pro, Galaxy S25/S26, Redmi Note 15 Pro, Pixel 10a.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nous proposons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Ad groups dédiés aux modèles les plus nommés.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Mettre en avant le prix : « moins de 200 € », « maxi 250 € » reviennent dans les requêtes.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Plan de visibilité smartphone 2027 : références et budget.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construisons avec vous le plan smartphone 2027, ad groups, sélection de références et budget associé.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Resserrer la sélection de produits poussés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Le prix est le 1er frein (22,0 %) et le 1er critère de choix (10,1 %) : les références poussées doivent y répondre.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Ce que disent les chiffres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Prix trop élevé : 22,0 % des freins, attente promo : 9,1 %.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CTR en recul de 0,16 pt à 0,49 %, CPC en hausse de 26,6 % à 0,37 €.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Les requêtes s'allongent : 8,2 mots (+10,6 %).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Où commencer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Smartphone · 10,4 %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Enceintes · 6,9 %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Casques et écouteurs · 6,7 %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Aspirateurs · 6,0 %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nous vous proposons une sélection resserrée sur ces quatre catégories, avec des références à bon rapport qualité-prix.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PISTE DE RECO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Activer Bose, puis packager l'offre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5"/>
                </a:solidFill>
              </a:rPr>
              <a:t>Bose pèse 2,2 % des conversations de la semaine : la demande existe dans vos catégories audio.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dispositif Bose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Produits Bose dans les annonces IA, liens vers boulanger.com.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Campagne distincte du fil rouge, avec ses propres indicateurs.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Budget envisagé : 20 000 € / mois (à confirmer).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144768" y="2011680"/>
            <a:ext cx="5349240" cy="3429000"/>
          </a:xfrm>
          <a:prstGeom prst="roundRect">
            <a:avLst>
              <a:gd name="adj" fmla="val 266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19088" y="214884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E8601C"/>
                </a:solidFill>
              </a:rPr>
              <a:t>Le cadre à fixer ensemble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Durée du test et critères de validation.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Partage de revenu Boulanger / Lemrock.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B2238"/>
                </a:solidFill>
              </a:rPr>
              <a:t>Extension à Marshall (0,9 %) et autres fournisseurs.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5623560"/>
            <a:ext cx="11064240" cy="566928"/>
          </a:xfrm>
          <a:prstGeom prst="roundRect">
            <a:avLst>
              <a:gd name="adj" fmla="val 129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31520" y="5623560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01C"/>
                </a:solidFill>
              </a:rPr>
              <a:t>À retenir. </a:t>
            </a:r>
            <a:pPr indent="0" marL="0">
              <a:buNone/>
            </a:pPr>
            <a:r>
              <a:rPr lang="en-US" sz="1400" dirty="0">
                <a:solidFill>
                  <a:srgbClr val="1B2238"/>
                </a:solidFill>
              </a:rPr>
              <a:t>Roxane vous envoie le récapitulatif Bose et le format d'offre packagée (statut à confirmer avant envoi).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27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mrock Boulanger">
  <a:themeElements>
    <a:clrScheme name="Lemrock Boulanger">
      <a:dk1>
        <a:srgbClr val="1B2238"/>
      </a:dk1>
      <a:lt1>
        <a:srgbClr val="FFFFFF"/>
      </a:lt1>
      <a:dk2>
        <a:srgbClr val="5A6275"/>
      </a:dk2>
      <a:lt2>
        <a:srgbClr val="F2F4F8"/>
      </a:lt2>
      <a:accent1>
        <a:srgbClr val="E8601C"/>
      </a:accent1>
      <a:accent2>
        <a:srgbClr val="1B2238"/>
      </a:accent2>
      <a:accent3>
        <a:srgbClr val="2E9E6B"/>
      </a:accent3>
      <a:accent4>
        <a:srgbClr val="C8372D"/>
      </a:accent4>
      <a:accent5>
        <a:srgbClr val="9AA3B5"/>
      </a:accent5>
      <a:accent6>
        <a:srgbClr val="F4B183"/>
      </a:accent6>
      <a:hlink>
        <a:srgbClr val="E8601C"/>
      </a:hlink>
      <a:folHlink>
        <a:srgbClr val="5A6275"/>
      </a:folHlink>
    </a:clrScheme>
    <a:fontScheme name="Lemrock Boulang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Rapport Boulanger Hebdo 01.10-08.10</dc:title>
  <dc:subject>PptxGenJS Presentation</dc:subject>
  <dc:creator>PptxGenJS</dc:creator>
  <cp:lastModifiedBy>PptxGenJS</cp:lastModifiedBy>
  <cp:revision>1</cp:revision>
  <dcterms:created xsi:type="dcterms:W3CDTF">2026-10-09T12:50:54Z</dcterms:created>
  <dcterms:modified xsi:type="dcterms:W3CDTF">2026-10-09T12:50:54Z</dcterms:modified>
</cp:coreProperties>
</file>