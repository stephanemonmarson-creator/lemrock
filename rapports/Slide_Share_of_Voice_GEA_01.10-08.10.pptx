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oulanger" id="{fb7517a5-9301-cfc7-99f1-fa822c27428d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238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2238"/>
                </a:solidFill>
                <a:latin typeface="+mn-lt"/>
              </a:rPr>
              <a:t>Part de voix GEA de Boulanger · 1–8 oct.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Boulanger</c:v>
                </c:pt>
              </c:strCache>
            </c:strRef>
          </c:tx>
          <c:spPr>
            <a:solidFill>
              <a:srgbClr val="E8601C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23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8601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AA3B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AA3B5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Share of Voice GEA (ads)</c:v>
                  </c:pt>
                  <c:pt idx="1">
                    <c:v>Share of Voice GEO (IA)</c:v>
                  </c:pt>
                  <c:pt idx="2">
                    <c:v>Share of Voice utilisateurs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20.2</c:v>
                </c:pt>
                <c:pt idx="1">
                  <c:v>7.8</c:v>
                </c:pt>
                <c:pt idx="2">
                  <c:v>4.3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B223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23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238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2238"/>
                </a:solidFill>
                <a:latin typeface="+mn-lt"/>
              </a:rPr>
              <a:t>Évolution de la part de voix GEA · Boulanger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Voice GEA</c:v>
                </c:pt>
              </c:strCache>
            </c:strRef>
          </c:tx>
          <c:spPr>
            <a:solidFill>
              <a:srgbClr val="E8601C"/>
            </a:solidFill>
            <a:ln w="38100" cap="flat">
              <a:solidFill>
                <a:srgbClr val="E8601C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238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E8601C"/>
              </a:solidFill>
              <a:ln w="9525" cap="flat">
                <a:solidFill>
                  <a:srgbClr val="E8601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Août (2–31)</c:v>
                  </c:pt>
                  <c:pt idx="1">
                    <c:v>Sept. (1–30)</c:v>
                  </c:pt>
                  <c:pt idx="2">
                    <c:v>23–30 sept.</c:v>
                  </c:pt>
                  <c:pt idx="3">
                    <c:v>1–8 oct.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14.3</c:v>
                </c:pt>
                <c:pt idx="2">
                  <c:v>23</c:v>
                </c:pt>
                <c:pt idx="3">
                  <c:v>20.2</c:v>
                </c:pt>
              </c:numCache>
            </c:numRef>
          </c:val>
          <c:smooth val="0"/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B2238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23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8"/>
          <c:min val="0"/>
        </c:scaling>
        <c:delete val="1"/>
        <c:axPos val="l"/>
        <c:majorGridlines>
          <c:spPr>
            <a:ln w="6350" cap="flat">
              <a:solidFill>
                <a:srgbClr val="E3E6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275"/>
                </a:solidFill>
              </a:rPr>
              <a:t>01 INDICATEURS  ·  02 BOULANGER  ·  03 PISTES DE RECO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2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2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VISIBILITÉ DANS LES RÉPONSES DE L'IA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Avec les ads, Boulanger pèse 20,2 % des réponses ciblées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275"/>
                </a:solidFill>
              </a:rPr>
              <a:t>PÉRIODE 01/10/2026 → 08/10/2026   ·   COMPARAISON vs 23/09 → 30/09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737360"/>
          <a:ext cx="54864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57200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45720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275"/>
                </a:solidFill>
              </a:rPr>
              <a:t>GEA (ads)</a:t>
            </a:r>
            <a:endParaRPr lang="en-US" sz="10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B2238"/>
                </a:solidFill>
              </a:rPr>
              <a:t>20,2 %  </a:t>
            </a:r>
            <a:pPr indent="0" marL="0">
              <a:buNone/>
            </a:pPr>
            <a:r>
              <a:rPr lang="en-US" sz="1100" b="1" dirty="0">
                <a:solidFill>
                  <a:srgbClr val="C8372D"/>
                </a:solidFill>
              </a:rPr>
              <a:t>▼ -2,8 pts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423160" y="457200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560320" y="45720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275"/>
                </a:solidFill>
              </a:rPr>
              <a:t>GEO (IA)</a:t>
            </a:r>
            <a:endParaRPr lang="en-US" sz="10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B2238"/>
                </a:solidFill>
              </a:rPr>
              <a:t>7,8 %  </a:t>
            </a:r>
            <a:pPr indent="0" marL="0">
              <a:buNone/>
            </a:pPr>
            <a:r>
              <a:rPr lang="en-US" sz="1100" b="1" dirty="0">
                <a:solidFill>
                  <a:srgbClr val="2E9E6B"/>
                </a:solidFill>
              </a:rPr>
              <a:t>▲ +2,5 pts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297680" y="457200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434840" y="45720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275"/>
                </a:solidFill>
              </a:rPr>
              <a:t>Utilisateurs</a:t>
            </a:r>
            <a:endParaRPr lang="en-US" sz="10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B2238"/>
                </a:solidFill>
              </a:rPr>
              <a:t>4,3 %  </a:t>
            </a:r>
            <a:pPr indent="0" marL="0">
              <a:buNone/>
            </a:pPr>
            <a:r>
              <a:rPr lang="en-US" sz="1100" b="1" dirty="0">
                <a:solidFill>
                  <a:srgbClr val="5A6275"/>
                </a:solidFill>
              </a:rPr>
              <a:t>▬ +0,3 pt</a:t>
            </a:r>
            <a:endParaRPr lang="en-US" sz="1000" dirty="0"/>
          </a:p>
        </p:txBody>
      </p:sp>
      <p:graphicFrame>
        <p:nvGraphicFramePr>
          <p:cNvPr id="12" name="Chart 1" descr=""/>
          <p:cNvGraphicFramePr/>
          <p:nvPr/>
        </p:nvGraphicFramePr>
        <p:xfrm>
          <a:off x="6309360" y="1737360"/>
          <a:ext cx="53035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6309360" y="54864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275"/>
                </a:solidFill>
              </a:rPr>
              <a:t>Périodes de durée différente : 2 mois de 30 jours, puis 2 semaines de 8 jours. Valeurs d'août et du 23–30 sept. déduites des écarts publiés.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548640" y="589788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31520" y="589788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01C"/>
                </a:solidFill>
              </a:rPr>
              <a:t>À retenir. </a:t>
            </a:r>
            <a:pPr indent="0" marL="0">
              <a:buNone/>
            </a:pPr>
            <a:r>
              <a:rPr lang="en-US" sz="1400" dirty="0">
                <a:solidFill>
                  <a:srgbClr val="1B2238"/>
                </a:solidFill>
              </a:rPr>
              <a:t>la part de voix GEA est passée de 4,0 % en août à 20,2 % début octobre ; léger repli cette semaine (-2,8 pts) après un pic à 23,0 %.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2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mrock Boulanger">
  <a:themeElements>
    <a:clrScheme name="Lemrock Boulanger">
      <a:dk1>
        <a:srgbClr val="1B2238"/>
      </a:dk1>
      <a:lt1>
        <a:srgbClr val="FFFFFF"/>
      </a:lt1>
      <a:dk2>
        <a:srgbClr val="5A6275"/>
      </a:dk2>
      <a:lt2>
        <a:srgbClr val="F2F4F8"/>
      </a:lt2>
      <a:accent1>
        <a:srgbClr val="E8601C"/>
      </a:accent1>
      <a:accent2>
        <a:srgbClr val="1B2238"/>
      </a:accent2>
      <a:accent3>
        <a:srgbClr val="2E9E6B"/>
      </a:accent3>
      <a:accent4>
        <a:srgbClr val="C8372D"/>
      </a:accent4>
      <a:accent5>
        <a:srgbClr val="9AA3B5"/>
      </a:accent5>
      <a:accent6>
        <a:srgbClr val="F4B183"/>
      </a:accent6>
      <a:hlink>
        <a:srgbClr val="E8601C"/>
      </a:hlink>
      <a:folHlink>
        <a:srgbClr val="5A6275"/>
      </a:folHlink>
    </a:clrScheme>
    <a:fontScheme name="Lemrock Boulanger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Rapport Boulanger Hebdo 01.10-08.10</dc:title>
  <dc:subject>PptxGenJS Presentation</dc:subject>
  <dc:creator>PptxGenJS</dc:creator>
  <cp:lastModifiedBy>PptxGenJS</cp:lastModifiedBy>
  <cp:revision>1</cp:revision>
  <dcterms:created xsi:type="dcterms:W3CDTF">2026-10-09T12:43:02Z</dcterms:created>
  <dcterms:modified xsi:type="dcterms:W3CDTF">2026-10-09T12:43:02Z</dcterms:modified>
</cp:coreProperties>
</file>