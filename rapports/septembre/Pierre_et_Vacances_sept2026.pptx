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8768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RAPPORT DE PERFORMANCE · 01/09/2026 → 30/09/2026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008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Pierre &amp; Vacances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0" y="591312"/>
            <a:ext cx="330403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8A93A6"/>
                </a:solidFill>
                <a:latin typeface="Arial"/>
              </a:rPr>
              <a:t>COMPARAISON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0" y="780288"/>
            <a:ext cx="33040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vs 01/08/2026 → 31/08/2026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DIFFUSION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963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819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CONVERSION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4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IMPRESSIONS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638 950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4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4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638 950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8963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8963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2374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CLICS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374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3 144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374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374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374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3 144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891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4891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302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302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0,49 %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302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302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302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0,49 %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0819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230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CONVERSIONS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230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230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230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230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6747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6747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CVR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0158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0158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158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158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267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267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608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ROAS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08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08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08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08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" y="33223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INSIGHTS QUALITATIFS · ANALYSE DES RECHERCHES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94048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57744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4192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CHAMP LEXICAL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4192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Termes les plus fréquents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4192" y="4236720"/>
            <a:ext cx="298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EE6A2C"/>
                </a:solidFill>
                <a:latin typeface="Arial"/>
              </a:rPr>
              <a:t>départ en vacances</a:t>
            </a:r>
            <a:r>
              <a:rPr sz="1600" b="1" i="0">
                <a:solidFill>
                  <a:srgbClr val="111111"/>
                </a:solidFill>
                <a:latin typeface="Arial"/>
              </a:rPr>
              <a:t>   résidence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555B66"/>
                </a:solidFill>
                <a:latin typeface="Arial"/>
              </a:rPr>
              <a:t>Airbnb</a:t>
            </a:r>
            <a:r>
              <a:rPr sz="1400" b="1" i="0">
                <a:solidFill>
                  <a:srgbClr val="111111"/>
                </a:solidFill>
                <a:latin typeface="Arial"/>
              </a:rPr>
              <a:t>   Booking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EE6A2C"/>
                </a:solidFill>
                <a:latin typeface="Arial"/>
              </a:rPr>
              <a:t>Gîtes de France</a:t>
            </a:r>
            <a:r>
              <a:rPr sz="1200" b="0" i="0">
                <a:solidFill>
                  <a:srgbClr val="555B66"/>
                </a:solidFill>
                <a:latin typeface="Arial"/>
              </a:rPr>
              <a:t>   Abritel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EE6A2C"/>
                </a:solidFill>
                <a:latin typeface="Arial"/>
              </a:rPr>
              <a:t>vie en van</a:t>
            </a:r>
            <a:r>
              <a:rPr sz="1100" b="1" i="0">
                <a:solidFill>
                  <a:srgbClr val="111111"/>
                </a:solidFill>
                <a:latin typeface="Arial"/>
              </a:rPr>
              <a:t>   Odalys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Club Med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Center Parcs</a:t>
            </a:r>
            <a:r>
              <a:rPr sz="1100" b="0" i="0">
                <a:solidFill>
                  <a:srgbClr val="EE6A2C"/>
                </a:solidFill>
                <a:latin typeface="Arial"/>
              </a:rPr>
              <a:t>   Lagrange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Maeva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VVF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37888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EXEMPLES DE REQUÊTES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37888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Questions posées aux IA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37888" y="426720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59808" y="426720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91456" y="426720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Comment choisir un sac cabine conforme aux dimensions des compagnies ?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437888" y="463296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59808" y="463296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91456" y="463296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Quel sac choisir pour combo randonnée et ski de rando 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37888" y="499872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59808" y="499872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91456" y="499872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Comment organiser une trousse de toilette conforme aux règles de sécurité ?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01584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CATÉGORIES DE PRODUITS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01584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Répartition des requêtes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607040" y="4175760"/>
            <a:ext cx="51816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11111"/>
                </a:solidFill>
                <a:latin typeface="Arial"/>
              </a:rPr>
              <a:t>100%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77200" y="4407408"/>
            <a:ext cx="121920" cy="12192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96656" y="4389120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Location de vacances France et Europe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077200" y="4675632"/>
            <a:ext cx="121920" cy="121920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96656" y="4657344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Séjours montagne en hiver · 50 %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564368" y="4450080"/>
            <a:ext cx="475488" cy="67056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564368" y="4450080"/>
            <a:ext cx="475488" cy="67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50 %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564368" y="5120640"/>
            <a:ext cx="475488" cy="670560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564368" y="5120640"/>
            <a:ext cx="475488" cy="67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50 %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4267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INSIGHTS QUALITATIFS · SEPTEMBRE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" y="60960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Pierre &amp; Vacances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99872"/>
            <a:ext cx="1889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Lemrock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20" y="1219200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OBJECTIF   </a:t>
            </a:r>
            <a:r>
              <a:rPr sz="1300" b="0" i="0">
                <a:solidFill>
                  <a:srgbClr val="111111"/>
                </a:solidFill>
                <a:latin typeface="Arial"/>
              </a:rPr>
              <a:t>À définir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1524000"/>
            <a:ext cx="4876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55B66"/>
                </a:solidFill>
                <a:latin typeface="Arial"/>
              </a:rPr>
              <a:t>INSIGHTS QUALITATIFS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9120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52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3792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Deux annonces au même niveau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152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L'annonce location France et Europe (1,03 fois le CTR moyen) et l'annonce montagne en hiver (0,97 fois) se partagent la diffusion à parts égales.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152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Ajouter des annonces par destination pour identifier ce qui clique le plus.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92368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8400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7040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Préparer la saison d'hiver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La moitié de la diffusion porte déjà sur les séjours à la montagne cet hiver.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Mettre en avant les résidences près des pistes pour les vacances de Noël et d'hiver.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120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152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3792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Des annonces sans destination ni prix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152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deux annonces restent génériques (« à la mer comme à la montagne », « près des pistes ») ; aucune ne cite une station, une ville ou un prix.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152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Tester des annonces par station ou destination, avec un prix d'appel.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92368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8400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7040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Un premier mois encourageant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400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Lancée le 15/09, la campagne génère 3 144 clics en 16 jours, pour un CTR de 0,49 %.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400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Poursuivre la diffusion sur la saison d'hiver.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