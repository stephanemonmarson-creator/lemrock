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30352" y="48768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RAPPORT DE PERFORMANCE · 01/09/2026 → 30/09/2026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0352" y="64008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24800" y="591312"/>
            <a:ext cx="3304032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200" b="1" i="0">
                <a:solidFill>
                  <a:srgbClr val="8A93A6"/>
                </a:solidFill>
                <a:latin typeface="Arial"/>
              </a:rPr>
              <a:t>COMPARAISON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4800" y="780288"/>
            <a:ext cx="330403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vs 01/08/2026 → 31/08/2026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DIFFUSION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8963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ENGAGEMENT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08192" y="1280160"/>
            <a:ext cx="24384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CONVERSION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03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303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44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IMPRESSIONS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44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351 012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44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B04837"/>
                </a:solidFill>
                <a:latin typeface="Arial"/>
              </a:rPr>
              <a:t>▼ −44 %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44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44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1 531 995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8963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38963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52374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CLICS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52374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1 740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52374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+20 %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52374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52374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4 227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4891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24891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302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CTR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302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0,50 %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8302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1E7B34"/>
                </a:solidFill>
                <a:latin typeface="Arial"/>
              </a:rPr>
              <a:t>▲ +0,27 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302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302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0,28 %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0819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0819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4230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CONVERSIONS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230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24230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24230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4230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6747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6747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0158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CVR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10158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0158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10158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0158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46" name="Rectangle 45"/>
          <p:cNvSpPr/>
          <p:nvPr/>
        </p:nvSpPr>
        <p:spPr>
          <a:xfrm>
            <a:off x="9826752" y="1536192"/>
            <a:ext cx="1389888" cy="112776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9826752" y="1536192"/>
            <a:ext cx="48768" cy="112776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960864" y="1615440"/>
            <a:ext cx="121920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ROAS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960864" y="1889760"/>
            <a:ext cx="121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11111"/>
                </a:solidFill>
                <a:latin typeface="Arial"/>
              </a:rPr>
              <a:t>N/C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960864" y="2243328"/>
            <a:ext cx="1219200" cy="1097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 i="0">
                <a:solidFill>
                  <a:srgbClr val="555B66"/>
                </a:solidFill>
                <a:latin typeface="Arial"/>
              </a:rPr>
              <a:t>—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960864" y="237744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555B66"/>
                </a:solidFill>
                <a:latin typeface="Arial"/>
              </a:rPr>
              <a:t>vs période préc.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60864" y="2499360"/>
            <a:ext cx="1219200" cy="91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555B66"/>
                </a:solidFill>
                <a:latin typeface="Arial"/>
              </a:rPr>
              <a:t>YTD —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30352" y="33223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E6A2C"/>
                </a:solidFill>
                <a:latin typeface="Arial"/>
              </a:rPr>
              <a:t>INSIGHTS QUALITATIFS · ANALYSE DES RECHERCHES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30352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194048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7857744" y="3584448"/>
            <a:ext cx="3401568" cy="2560320"/>
          </a:xfrm>
          <a:prstGeom prst="rect">
            <a:avLst/>
          </a:prstGeom>
          <a:solidFill>
            <a:srgbClr val="FFFFFF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4192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CHAMP LEXICAL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74192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Termes les plus fréquents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4192" y="4236720"/>
            <a:ext cx="298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500"/>
              </a:spcAft>
            </a:pPr>
            <a:r>
              <a:rPr sz="2000" b="1" i="0">
                <a:solidFill>
                  <a:srgbClr val="EE6A2C"/>
                </a:solidFill>
                <a:latin typeface="Arial"/>
              </a:rPr>
              <a:t>lave-vaisselle</a:t>
            </a:r>
            <a:r>
              <a:rPr sz="1800" b="1" i="0">
                <a:solidFill>
                  <a:srgbClr val="111111"/>
                </a:solidFill>
                <a:latin typeface="Arial"/>
              </a:rPr>
              <a:t>   encastrable</a:t>
            </a:r>
          </a:p>
          <a:p>
            <a:pPr algn="l">
              <a:spcAft>
                <a:spcPts val="500"/>
              </a:spcAft>
            </a:pPr>
            <a:r>
              <a:rPr sz="1500" b="1" i="0">
                <a:solidFill>
                  <a:srgbClr val="555B66"/>
                </a:solidFill>
                <a:latin typeface="Arial"/>
              </a:rPr>
              <a:t>pose libre</a:t>
            </a:r>
            <a:r>
              <a:rPr sz="1400" b="1" i="0">
                <a:solidFill>
                  <a:srgbClr val="111111"/>
                </a:solidFill>
                <a:latin typeface="Arial"/>
              </a:rPr>
              <a:t>   60 cm</a:t>
            </a:r>
          </a:p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EE6A2C"/>
                </a:solidFill>
                <a:latin typeface="Arial"/>
              </a:rPr>
              <a:t>45 cm</a:t>
            </a:r>
            <a:r>
              <a:rPr sz="1200" b="0" i="0">
                <a:solidFill>
                  <a:srgbClr val="555B66"/>
                </a:solidFill>
                <a:latin typeface="Arial"/>
              </a:rPr>
              <a:t>   Série 2</a:t>
            </a:r>
            <a:r>
              <a:rPr sz="1200" b="1" i="0">
                <a:solidFill>
                  <a:srgbClr val="111111"/>
                </a:solidFill>
                <a:latin typeface="Arial"/>
              </a:rPr>
              <a:t>   Série 4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EE6A2C"/>
                </a:solidFill>
                <a:latin typeface="Arial"/>
              </a:rPr>
              <a:t>EcoSilence Drive</a:t>
            </a:r>
            <a:r>
              <a:rPr sz="1100" b="1" i="0">
                <a:solidFill>
                  <a:srgbClr val="111111"/>
                </a:solidFill>
                <a:latin typeface="Arial"/>
              </a:rPr>
              <a:t>   tiroir à couverts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13 couverts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14 couverts</a:t>
            </a:r>
            <a:r>
              <a:rPr sz="1100" b="1" i="0">
                <a:solidFill>
                  <a:srgbClr val="EE6A2C"/>
                </a:solidFill>
                <a:latin typeface="Arial"/>
              </a:rPr>
              <a:t>   dB</a:t>
            </a:r>
          </a:p>
          <a:p>
            <a:pPr algn="l">
              <a:spcAft>
                <a:spcPts val="500"/>
              </a:spcAft>
            </a:pPr>
            <a:r>
              <a:rPr sz="1100" b="1" i="0">
                <a:solidFill>
                  <a:srgbClr val="111111"/>
                </a:solidFill>
                <a:latin typeface="Arial"/>
              </a:rPr>
              <a:t>livraison gratuite</a:t>
            </a:r>
            <a:r>
              <a:rPr sz="1100" b="0" i="0">
                <a:solidFill>
                  <a:srgbClr val="555B66"/>
                </a:solidFill>
                <a:latin typeface="Arial"/>
              </a:rPr>
              <a:t>   Black Friday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437888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EXEMPLES DE REQUÊTES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437888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Questions posées aux IA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437888" y="426720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4559808" y="426720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791456" y="426720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Je veux un lave-vaisselle 60 cm à bandeau apparent à ~500 €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437888" y="463296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59808" y="463296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791456" y="463296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Un lave-vaisselle bon rapport qualité-prix pour moins de 600 € ?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437888" y="499872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559808" y="499872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791456" y="499872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L'entretien et la fiabilité sont-ils simples sur le long terme ?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437888" y="5364480"/>
            <a:ext cx="2913888" cy="304800"/>
          </a:xfrm>
          <a:prstGeom prst="rect">
            <a:avLst/>
          </a:prstGeom>
          <a:solidFill>
            <a:srgbClr val="F1EF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4559808" y="5364480"/>
            <a:ext cx="18288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555B66"/>
                </a:solidFill>
                <a:latin typeface="Arial"/>
              </a:rPr>
              <a:t>🔍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791456" y="5364480"/>
            <a:ext cx="2499360" cy="304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111111"/>
                </a:solidFill>
                <a:latin typeface="Arial"/>
              </a:rPr>
              <a:t>Est-ce qu'il vaut mieux attendre le Black Friday ?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101584" y="3767328"/>
            <a:ext cx="292608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55B66"/>
                </a:solidFill>
                <a:latin typeface="Arial"/>
              </a:rPr>
              <a:t>CATÉGORIES DE PRODUITS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8101584" y="3992880"/>
            <a:ext cx="292608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3A6"/>
                </a:solidFill>
                <a:latin typeface="Arial"/>
              </a:rPr>
              <a:t>Répartition des requêtes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607040" y="4175760"/>
            <a:ext cx="518160" cy="121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111111"/>
                </a:solidFill>
                <a:latin typeface="Arial"/>
              </a:rPr>
              <a:t>100%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077200" y="4407408"/>
            <a:ext cx="121920" cy="121920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296656" y="438912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Comparaison marques et modèles · 5 %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077200" y="4675632"/>
            <a:ext cx="121920" cy="121920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296656" y="4657344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0">
                <a:solidFill>
                  <a:srgbClr val="111111"/>
                </a:solidFill>
                <a:latin typeface="Arial"/>
              </a:rPr>
              <a:t>Encastrables et intégrables · 46 %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8077200" y="4943856"/>
            <a:ext cx="121920" cy="121920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296656" y="4925568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Compacts et largeur 45 cm · 15 %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077200" y="5212080"/>
            <a:ext cx="121920" cy="12192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296656" y="5193792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Grande capacité et 60 cm · 34 %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077200" y="5480304"/>
            <a:ext cx="121920" cy="12192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296656" y="5462016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silencieux · &lt; 1 %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077200" y="5748528"/>
            <a:ext cx="121920" cy="12192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296656" y="5730240"/>
            <a:ext cx="2225040" cy="152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111111"/>
                </a:solidFill>
                <a:latin typeface="Arial"/>
              </a:rPr>
              <a:t>Lave-vaisselle connectés · &lt; 1 %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564368" y="4450080"/>
            <a:ext cx="475488" cy="67056"/>
          </a:xfrm>
          <a:prstGeom prst="rect">
            <a:avLst/>
          </a:prstGeom>
          <a:solidFill>
            <a:srgbClr val="1C7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solidFill>
            <a:srgbClr val="7A4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564368" y="4517136"/>
            <a:ext cx="475488" cy="61691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46 %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10564368" y="5134051"/>
            <a:ext cx="475488" cy="201168"/>
          </a:xfrm>
          <a:prstGeom prst="rect">
            <a:avLst/>
          </a:prstGeom>
          <a:solidFill>
            <a:srgbClr val="EB9A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0564368" y="5335219"/>
            <a:ext cx="475488" cy="4559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Arial"/>
              </a:rPr>
              <a:t>34 %</a:t>
            </a:r>
          </a:p>
        </p:txBody>
      </p:sp>
      <p:sp>
        <p:nvSpPr>
          <p:cNvPr id="95" name="Rectangle 94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3E5A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10564368" y="5791200"/>
            <a:ext cx="475488" cy="0"/>
          </a:xfrm>
          <a:prstGeom prst="rect">
            <a:avLst/>
          </a:prstGeom>
          <a:solidFill>
            <a:srgbClr val="A092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" y="121920"/>
            <a:ext cx="11612880" cy="85344"/>
          </a:xfrm>
          <a:prstGeom prst="rect">
            <a:avLst/>
          </a:prstGeom>
          <a:solidFill>
            <a:srgbClr val="EE6A2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79120" y="426720"/>
            <a:ext cx="73152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INSIGHTS QUALITATIFS · SEPTEMBRE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9120" y="609600"/>
            <a:ext cx="73152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 i="0">
                <a:solidFill>
                  <a:srgbClr val="111111"/>
                </a:solidFill>
                <a:latin typeface="Arial"/>
              </a:rPr>
              <a:t>Bosch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499872"/>
            <a:ext cx="188976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500" b="1" i="0">
                <a:solidFill>
                  <a:srgbClr val="111111"/>
                </a:solidFill>
                <a:latin typeface="Arial"/>
              </a:rPr>
              <a:t>Lemrock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79120" y="1219200"/>
            <a:ext cx="91440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EE6A2C"/>
                </a:solidFill>
                <a:latin typeface="Arial"/>
              </a:rPr>
              <a:t>OBJECTIF   </a:t>
            </a:r>
            <a:r>
              <a:rPr sz="1300" b="0" i="0">
                <a:solidFill>
                  <a:srgbClr val="111111"/>
                </a:solidFill>
                <a:latin typeface="Arial"/>
              </a:rPr>
              <a:t>À définir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9120" y="1524000"/>
            <a:ext cx="4876800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55B66"/>
                </a:solidFill>
                <a:latin typeface="Arial"/>
              </a:rPr>
              <a:t>INSIGHTS QUALITATIFS</a:t>
            </a:r>
          </a:p>
        </p:txBody>
      </p:sp>
      <p:sp>
        <p:nvSpPr>
          <p:cNvPr id="9" name="Rectangle 8"/>
          <p:cNvSpPr/>
          <p:nvPr/>
        </p:nvSpPr>
        <p:spPr>
          <a:xfrm>
            <a:off x="579120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5152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83792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Les modèles Série 2 cliquent le mieux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152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Les lave-vaisselle Série 2 atteignent 1,06 fois le CTR moyen, contre 0,95 fois pour les Série 4. Le Série 2 tout encastrable SMV2HTX02E atteint 1,41 fois.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5152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Mettre en avant les Série 2 avec un argument prix.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92368" y="181660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48400" y="202996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97040" y="204825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Des écarts forts d'un modèle à l'autre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48400" y="260908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Avec la même description, les modèles vont de 0,60 fois (Série 4 SBV4HCX07E) à 1,41 fois la moyenne.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48400" y="331012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Concentrer la diffusion sur les modèles qui cliquent le plus et retirer les moins performants.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79120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5152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83792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Varier les descriptions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5152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52 des 53 annonces utilisent la même description (« Cdiscount Electroménager - Découvrez notre offre… »), qui reprend la fiche technique.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5152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Tester des descriptions centrées sur un bénéfice (silence en cuisine ouverte, gain de place, économie d'eau).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92368" y="4133088"/>
            <a:ext cx="5071872" cy="2121408"/>
          </a:xfrm>
          <a:prstGeom prst="rect">
            <a:avLst/>
          </a:prstGeom>
          <a:solidFill>
            <a:srgbClr val="F6F7F9"/>
          </a:solidFill>
          <a:ln w="9525">
            <a:solidFill>
              <a:srgbClr val="E4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8400" y="4346448"/>
            <a:ext cx="48768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EE6A2C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97040" y="4364736"/>
            <a:ext cx="4023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11111"/>
                </a:solidFill>
                <a:latin typeface="Arial"/>
              </a:rPr>
              <a:t>Préparer le Black Friday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48400" y="4925568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55B66"/>
                </a:solidFill>
                <a:latin typeface="Arial"/>
              </a:rPr>
              <a:t>10,6 % des freins exprimés portent sur l'attente d'une promotion. Le CTR passe de 0,23 % à 0,50 %.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48400" y="5626608"/>
            <a:ext cx="4572000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555B66"/>
                </a:solidFill>
                <a:latin typeface="Arial"/>
              </a:rPr>
              <a:t>→  Préparer des messages promotionnels dès début novembre.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