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Allo Pneus</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577 195</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−59 %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3 845 061</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2 287</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+6 %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6 845</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0,40 %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+0,24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0,18 %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n'est pas encore installé. Les conversions apparaîtront dans ce rapport dès son intégration.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toutes saisons</a:t>
            </a:r>
            <a:r>
              <a:rPr sz="1800" b="1" i="0">
                <a:solidFill>
                  <a:srgbClr val="111111"/>
                </a:solidFill>
                <a:latin typeface="Arial"/>
              </a:rPr>
              <a:t>    3PMSF</a:t>
            </a:r>
          </a:p>
          <a:p>
            <a:pPr algn="l">
              <a:spcAft>
                <a:spcPts val="500"/>
              </a:spcAft>
            </a:pPr>
            <a:r>
              <a:rPr sz="1600" b="1" i="0">
                <a:solidFill>
                  <a:srgbClr val="555B66"/>
                </a:solidFill>
                <a:latin typeface="Arial"/>
              </a:rPr>
              <a:t>loi montagne</a:t>
            </a:r>
            <a:r>
              <a:rPr sz="1400" b="1" i="0">
                <a:solidFill>
                  <a:srgbClr val="111111"/>
                </a:solidFill>
                <a:latin typeface="Arial"/>
              </a:rPr>
              <a:t>    freinage</a:t>
            </a:r>
          </a:p>
          <a:p>
            <a:pPr algn="l">
              <a:spcAft>
                <a:spcPts val="500"/>
              </a:spcAft>
            </a:pPr>
            <a:r>
              <a:rPr sz="1400" b="1" i="0">
                <a:solidFill>
                  <a:srgbClr val="EE6A2C"/>
                </a:solidFill>
                <a:latin typeface="Arial"/>
              </a:rPr>
              <a:t>pas chers</a:t>
            </a:r>
            <a:r>
              <a:rPr sz="1300" b="0" i="0">
                <a:solidFill>
                  <a:srgbClr val="555B66"/>
                </a:solidFill>
                <a:latin typeface="Arial"/>
              </a:rPr>
              <a:t>    sûrs</a:t>
            </a:r>
          </a:p>
          <a:p>
            <a:pPr algn="l">
              <a:spcAft>
                <a:spcPts val="500"/>
              </a:spcAft>
            </a:pPr>
            <a:r>
              <a:rPr sz="1200" b="1" i="0">
                <a:solidFill>
                  <a:srgbClr val="EE6A2C"/>
                </a:solidFill>
                <a:latin typeface="Arial"/>
              </a:rPr>
              <a:t>voiture électrique</a:t>
            </a:r>
            <a:r>
              <a:rPr sz="1200" b="1" i="0">
                <a:solidFill>
                  <a:srgbClr val="111111"/>
                </a:solidFill>
                <a:latin typeface="Arial"/>
              </a:rPr>
              <a:t>    MG4 EV</a:t>
            </a:r>
          </a:p>
          <a:p>
            <a:pPr algn="l">
              <a:spcAft>
                <a:spcPts val="500"/>
              </a:spcAft>
            </a:pPr>
            <a:r>
              <a:rPr sz="1100" b="1" i="0">
                <a:solidFill>
                  <a:srgbClr val="111111"/>
                </a:solidFill>
                <a:latin typeface="Arial"/>
              </a:rPr>
              <a:t>Zoé</a:t>
            </a:r>
            <a:r>
              <a:rPr sz="1100" b="0" i="0">
                <a:solidFill>
                  <a:srgbClr val="555B66"/>
                </a:solidFill>
                <a:latin typeface="Arial"/>
              </a:rPr>
              <a:t>    pneus hiver</a:t>
            </a:r>
            <a:r>
              <a:rPr sz="1100" b="1" i="0">
                <a:solidFill>
                  <a:srgbClr val="EE6A2C"/>
                </a:solidFill>
                <a:latin typeface="Arial"/>
              </a:rPr>
              <a:t>    chaînes à neige</a:t>
            </a:r>
          </a:p>
          <a:p>
            <a:pPr algn="l">
              <a:spcAft>
                <a:spcPts val="500"/>
              </a:spcAft>
            </a:pPr>
            <a:r>
              <a:rPr sz="1100" b="1" i="0">
                <a:solidFill>
                  <a:srgbClr val="111111"/>
                </a:solidFill>
                <a:latin typeface="Arial"/>
              </a:rPr>
              <a:t>dimensions</a:t>
            </a:r>
            <a:r>
              <a:rPr sz="1100" b="0" i="0">
                <a:solidFill>
                  <a:srgbClr val="555B66"/>
                </a:solidFill>
                <a:latin typeface="Arial"/>
              </a:rPr>
              <a:t>    Continental</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Quels pneus 4 saisons pour rouler toute l'année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Quels pneus pour un SUV qui roule souvent sous la pluie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pneu pour un utilitaire qui transporte lourd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dimension de pneu est compatible avec mon véhicule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Où faire monter mes pneus commandés en ligne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Pneus auto et dimensions</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Pneus SUV et utilitaires · 39 %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Pneus moto et scooter · 18 %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Pneus toutes saisons · 1 %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Pneus hiver et neige · 1 %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Accessoires et entretien · &lt; 1 %</a:t>
            </a:r>
          </a:p>
        </p:txBody>
      </p:sp>
      <p:sp>
        <p:nvSpPr>
          <p:cNvPr id="98" name="Rectangle 97"/>
          <p:cNvSpPr/>
          <p:nvPr/>
        </p:nvSpPr>
        <p:spPr>
          <a:xfrm>
            <a:off x="10564368" y="4450080"/>
            <a:ext cx="475488" cy="549859"/>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64368" y="4450080"/>
            <a:ext cx="475488" cy="549859"/>
          </a:xfrm>
          <a:prstGeom prst="rect">
            <a:avLst/>
          </a:prstGeom>
          <a:noFill/>
        </p:spPr>
        <p:txBody>
          <a:bodyPr wrap="square" anchor="ctr" lIns="0" rIns="0" tIns="0" bIns="0">
            <a:spAutoFit/>
          </a:bodyPr>
          <a:lstStyle/>
          <a:p>
            <a:pPr algn="ctr"/>
            <a:r>
              <a:rPr sz="1000" b="1" i="0">
                <a:solidFill>
                  <a:srgbClr val="FFFFFF"/>
                </a:solidFill>
                <a:latin typeface="Arial"/>
              </a:rPr>
              <a:t>41 %</a:t>
            </a:r>
          </a:p>
        </p:txBody>
      </p:sp>
      <p:sp>
        <p:nvSpPr>
          <p:cNvPr id="100" name="Rectangle 99"/>
          <p:cNvSpPr/>
          <p:nvPr/>
        </p:nvSpPr>
        <p:spPr>
          <a:xfrm>
            <a:off x="10564368" y="4999939"/>
            <a:ext cx="475488" cy="523036"/>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564368" y="4999939"/>
            <a:ext cx="475488" cy="523036"/>
          </a:xfrm>
          <a:prstGeom prst="rect">
            <a:avLst/>
          </a:prstGeom>
          <a:noFill/>
        </p:spPr>
        <p:txBody>
          <a:bodyPr wrap="square" anchor="ctr" lIns="0" rIns="0" tIns="0" bIns="0">
            <a:spAutoFit/>
          </a:bodyPr>
          <a:lstStyle/>
          <a:p>
            <a:pPr algn="ctr"/>
            <a:r>
              <a:rPr sz="1000" b="1" i="0">
                <a:solidFill>
                  <a:srgbClr val="FFFFFF"/>
                </a:solidFill>
                <a:latin typeface="Arial"/>
              </a:rPr>
              <a:t>39 %</a:t>
            </a:r>
          </a:p>
        </p:txBody>
      </p:sp>
      <p:sp>
        <p:nvSpPr>
          <p:cNvPr id="102" name="Rectangle 101"/>
          <p:cNvSpPr/>
          <p:nvPr/>
        </p:nvSpPr>
        <p:spPr>
          <a:xfrm>
            <a:off x="10564368" y="5522976"/>
            <a:ext cx="475488" cy="241401"/>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64368" y="5764377"/>
            <a:ext cx="475488" cy="13411"/>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564368" y="5777788"/>
            <a:ext cx="475488" cy="13411"/>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564368" y="5791200"/>
            <a:ext cx="475488" cy="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Allo Pneus</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davantage en avant les pneus hiver</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de pneus hiver atteignent 1,15 fois le CTR moyen, le meilleur score du mois. Elles ne représentent pourtant que 8 % de la diffusion.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Augmenter la part des pneus hiver et 4 saisons en octobre, au moment où les conducteurs changent leurs pneus.</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Renforcer les pneus SUV</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pneus SUV et 4x4 atteignent 1,09 fois le CTR moyen, et jusqu'à 1,43 fois pour le Kleber Quadraxer SUV. Les pneus utilitaires restent sous la moyenne (0,87 fois).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visibilité aux références SUV et retravailler les messages utilitaires autour d'un usage concret (chantier, camping-car).</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Privilégier les marques au bon rapport qualité-prix</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marques à prix accessible cliquent mieux, Hankook atteint 1,22 fois le CTR moyen. Les marques premium comme Goodyear restent en dessous (0,69 fois).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marques accessibles avec le message « pas cher mais sûr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Archipel Kombucha</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222 268</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+177 %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302 404</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1 136</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+245 %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1 465</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0,51 %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+0,10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0,48 %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Le Conversion Tracker est en cours de validation : </a:t>
            </a:r>
            <a:r>
              <a:rPr sz="900" b="0" i="0">
                <a:solidFill>
                  <a:srgbClr val="555B66"/>
                </a:solidFill>
                <a:latin typeface="Arial"/>
              </a:rPr>
              <a:t>l'intégration a été réalisée le 30 septembre. Les conversions apparaîtront dans ce rapport dès que la remontée des données sera validée.</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kombucha bio</a:t>
            </a:r>
            <a:r>
              <a:rPr sz="1800" b="1" i="0">
                <a:solidFill>
                  <a:srgbClr val="111111"/>
                </a:solidFill>
                <a:latin typeface="Arial"/>
              </a:rPr>
              <a:t>   sans alcool</a:t>
            </a:r>
          </a:p>
          <a:p>
            <a:pPr algn="l">
              <a:spcAft>
                <a:spcPts val="500"/>
              </a:spcAft>
            </a:pPr>
            <a:r>
              <a:rPr sz="1500" b="1" i="0">
                <a:solidFill>
                  <a:srgbClr val="555B66"/>
                </a:solidFill>
                <a:latin typeface="Arial"/>
              </a:rPr>
              <a:t>boissons fermentées</a:t>
            </a:r>
            <a:r>
              <a:rPr sz="1400" b="1" i="0">
                <a:solidFill>
                  <a:srgbClr val="111111"/>
                </a:solidFill>
                <a:latin typeface="Arial"/>
              </a:rPr>
              <a:t>   33 cl</a:t>
            </a:r>
          </a:p>
          <a:p>
            <a:pPr algn="l">
              <a:spcAft>
                <a:spcPts val="500"/>
              </a:spcAft>
            </a:pPr>
            <a:r>
              <a:rPr sz="1300" b="1" i="0">
                <a:solidFill>
                  <a:srgbClr val="EE6A2C"/>
                </a:solidFill>
                <a:latin typeface="Arial"/>
              </a:rPr>
              <a:t>cassis</a:t>
            </a:r>
            <a:r>
              <a:rPr sz="1200" b="0" i="0">
                <a:solidFill>
                  <a:srgbClr val="555B66"/>
                </a:solidFill>
                <a:latin typeface="Arial"/>
              </a:rPr>
              <a:t>   figuier</a:t>
            </a:r>
            <a:r>
              <a:rPr sz="1200" b="1" i="0">
                <a:solidFill>
                  <a:srgbClr val="111111"/>
                </a:solidFill>
                <a:latin typeface="Arial"/>
              </a:rPr>
              <a:t>   clémentine</a:t>
            </a:r>
          </a:p>
          <a:p>
            <a:pPr algn="l">
              <a:spcAft>
                <a:spcPts val="500"/>
              </a:spcAft>
            </a:pPr>
            <a:r>
              <a:rPr sz="1100" b="1" i="0">
                <a:solidFill>
                  <a:srgbClr val="EE6A2C"/>
                </a:solidFill>
                <a:latin typeface="Arial"/>
              </a:rPr>
              <a:t>pomelo gingembre</a:t>
            </a:r>
            <a:r>
              <a:rPr sz="1100" b="1" i="0">
                <a:solidFill>
                  <a:srgbClr val="111111"/>
                </a:solidFill>
                <a:latin typeface="Arial"/>
              </a:rPr>
              <a:t>   framboise</a:t>
            </a:r>
          </a:p>
          <a:p>
            <a:pPr algn="l">
              <a:spcAft>
                <a:spcPts val="500"/>
              </a:spcAft>
            </a:pPr>
            <a:r>
              <a:rPr sz="1100" b="1" i="0">
                <a:solidFill>
                  <a:srgbClr val="111111"/>
                </a:solidFill>
                <a:latin typeface="Arial"/>
              </a:rPr>
              <a:t>apéritif</a:t>
            </a:r>
            <a:r>
              <a:rPr sz="1100" b="0" i="0">
                <a:solidFill>
                  <a:srgbClr val="555B66"/>
                </a:solidFill>
                <a:latin typeface="Arial"/>
              </a:rPr>
              <a:t>   mocktail</a:t>
            </a:r>
            <a:r>
              <a:rPr sz="1100" b="1" i="0">
                <a:solidFill>
                  <a:srgbClr val="EE6A2C"/>
                </a:solidFill>
                <a:latin typeface="Arial"/>
              </a:rPr>
              <a:t>   pack</a:t>
            </a:r>
          </a:p>
          <a:p>
            <a:pPr algn="l">
              <a:spcAft>
                <a:spcPts val="500"/>
              </a:spcAft>
            </a:pPr>
            <a:r>
              <a:rPr sz="1100" b="1" i="0">
                <a:solidFill>
                  <a:srgbClr val="111111"/>
                </a:solidFill>
                <a:latin typeface="Arial"/>
              </a:rPr>
              <a:t>direct producteur</a:t>
            </a:r>
            <a:r>
              <a:rPr sz="1100" b="0" i="0">
                <a:solidFill>
                  <a:srgbClr val="555B66"/>
                </a:solidFill>
                <a:latin typeface="Arial"/>
              </a:rPr>
              <a:t>   fraîcheur</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Où acheter de la ginger beer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faire son kéfir de fruits maison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Quels sont les bienfaits du kéfir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recette pour un kombucha maison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cocktail ou spritz sans alcool préparer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Thés, infusions et plantes</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Cocktails et boissons sans alcool · 22 %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Bienfaits et santé · 18 %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800" b="0" i="0">
                <a:solidFill>
                  <a:srgbClr val="111111"/>
                </a:solidFill>
                <a:latin typeface="Arial"/>
              </a:rPr>
              <a:t>Recettes et fermentation maison · 12 %</a:t>
            </a:r>
          </a:p>
        </p:txBody>
      </p:sp>
      <p:sp>
        <p:nvSpPr>
          <p:cNvPr id="94" name="Rectangle 93"/>
          <p:cNvSpPr/>
          <p:nvPr/>
        </p:nvSpPr>
        <p:spPr>
          <a:xfrm>
            <a:off x="10564368" y="4450080"/>
            <a:ext cx="475488" cy="643737"/>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564368" y="4450080"/>
            <a:ext cx="475488" cy="643737"/>
          </a:xfrm>
          <a:prstGeom prst="rect">
            <a:avLst/>
          </a:prstGeom>
          <a:noFill/>
        </p:spPr>
        <p:txBody>
          <a:bodyPr wrap="square" anchor="ctr" lIns="0" rIns="0" tIns="0" bIns="0">
            <a:spAutoFit/>
          </a:bodyPr>
          <a:lstStyle/>
          <a:p>
            <a:pPr algn="ctr"/>
            <a:r>
              <a:rPr sz="1000" b="1" i="0">
                <a:solidFill>
                  <a:srgbClr val="FFFFFF"/>
                </a:solidFill>
                <a:latin typeface="Arial"/>
              </a:rPr>
              <a:t>48 %</a:t>
            </a:r>
          </a:p>
        </p:txBody>
      </p:sp>
      <p:sp>
        <p:nvSpPr>
          <p:cNvPr id="96" name="Rectangle 95"/>
          <p:cNvSpPr/>
          <p:nvPr/>
        </p:nvSpPr>
        <p:spPr>
          <a:xfrm>
            <a:off x="10564368" y="5093817"/>
            <a:ext cx="475488" cy="295046"/>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564368" y="5388864"/>
            <a:ext cx="475488" cy="241401"/>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564368" y="5630265"/>
            <a:ext cx="475488" cy="16093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Archipel Kombucha</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de boissons fermentées sans alcool</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Boissons fermentées sans alcool » atteint 1,53 fois le CTR moyen, le meilleur score du mois.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l'alternative sans alcool au cœur des accroches : apéritif, repas, pause.</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formats 33 cl</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packs de 12 kombuchas de 33 cl dépassent la moyenne (jusqu'à 1,30 fois). Le pack de 6 bouteilles de 75 cl tombe à 0,66 fois.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Faire des formats 33 cl le produit d'appel et garder les 75 cl pour la page produit.</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le cassis et le pomelo gingembre en avant</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pomelo gingembre (1,23 fois le CTR moyen) et cassis (1,15 fois) font mieux que la moyenne. Framboise, figuier et clémentine restent juste en dessous (0,93 fois).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visibilité au cassis et au pomelo gingembre.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Basket4Ballers</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705 874</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+33 %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1 702 639</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3 198</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+195 %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5 040</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0,45 %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+0,25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0,30 %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est en cours d'implémentation. Les conversions apparaîtront dans ce rapport dès que la remontée des données sera validée.</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Jordan</a:t>
            </a:r>
            <a:r>
              <a:rPr sz="1800" b="1" i="0">
                <a:solidFill>
                  <a:srgbClr val="111111"/>
                </a:solidFill>
                <a:latin typeface="Arial"/>
              </a:rPr>
              <a:t>   Nike</a:t>
            </a:r>
          </a:p>
          <a:p>
            <a:pPr algn="l">
              <a:spcAft>
                <a:spcPts val="500"/>
              </a:spcAft>
            </a:pPr>
            <a:r>
              <a:rPr sz="1500" b="1" i="0">
                <a:solidFill>
                  <a:srgbClr val="555B66"/>
                </a:solidFill>
                <a:latin typeface="Arial"/>
              </a:rPr>
              <a:t>genouillères</a:t>
            </a:r>
            <a:r>
              <a:rPr sz="1400" b="1" i="0">
                <a:solidFill>
                  <a:srgbClr val="111111"/>
                </a:solidFill>
                <a:latin typeface="Arial"/>
              </a:rPr>
              <a:t>   ballon de basket</a:t>
            </a:r>
          </a:p>
          <a:p>
            <a:pPr algn="l">
              <a:spcAft>
                <a:spcPts val="500"/>
              </a:spcAft>
            </a:pPr>
            <a:r>
              <a:rPr sz="1300" b="1" i="0">
                <a:solidFill>
                  <a:srgbClr val="EE6A2C"/>
                </a:solidFill>
                <a:latin typeface="Arial"/>
              </a:rPr>
              <a:t>maillots NBA</a:t>
            </a:r>
            <a:r>
              <a:rPr sz="1200" b="0" i="0">
                <a:solidFill>
                  <a:srgbClr val="555B66"/>
                </a:solidFill>
                <a:latin typeface="Arial"/>
              </a:rPr>
              <a:t>   survêtements</a:t>
            </a:r>
          </a:p>
          <a:p>
            <a:pPr algn="l">
              <a:spcAft>
                <a:spcPts val="500"/>
              </a:spcAft>
            </a:pPr>
            <a:r>
              <a:rPr sz="1100" b="1" i="0">
                <a:solidFill>
                  <a:srgbClr val="EE6A2C"/>
                </a:solidFill>
                <a:latin typeface="Arial"/>
              </a:rPr>
              <a:t>Air Force 1</a:t>
            </a:r>
            <a:r>
              <a:rPr sz="1100" b="1" i="0">
                <a:solidFill>
                  <a:srgbClr val="111111"/>
                </a:solidFill>
                <a:latin typeface="Arial"/>
              </a:rPr>
              <a:t>   short de compression</a:t>
            </a:r>
          </a:p>
          <a:p>
            <a:pPr algn="l">
              <a:spcAft>
                <a:spcPts val="500"/>
              </a:spcAft>
            </a:pPr>
            <a:r>
              <a:rPr sz="1100" b="1" i="0">
                <a:solidFill>
                  <a:srgbClr val="111111"/>
                </a:solidFill>
                <a:latin typeface="Arial"/>
              </a:rPr>
              <a:t>Équipe de France</a:t>
            </a:r>
            <a:r>
              <a:rPr sz="1100" b="0" i="0">
                <a:solidFill>
                  <a:srgbClr val="555B66"/>
                </a:solidFill>
                <a:latin typeface="Arial"/>
              </a:rPr>
              <a:t>   Paris Basketball</a:t>
            </a:r>
            <a:r>
              <a:rPr sz="1100" b="1" i="0">
                <a:solidFill>
                  <a:srgbClr val="EE6A2C"/>
                </a:solidFill>
                <a:latin typeface="Arial"/>
              </a:rPr>
              <a:t>   McDavid</a:t>
            </a:r>
          </a:p>
          <a:p>
            <a:pPr algn="l">
              <a:spcAft>
                <a:spcPts val="500"/>
              </a:spcAft>
            </a:pPr>
            <a:r>
              <a:rPr sz="1100" b="1" i="0">
                <a:solidFill>
                  <a:srgbClr val="111111"/>
                </a:solidFill>
                <a:latin typeface="Arial"/>
              </a:rPr>
              <a:t>enfant</a:t>
            </a:r>
            <a:r>
              <a:rPr sz="1100" b="0" i="0">
                <a:solidFill>
                  <a:srgbClr val="555B66"/>
                </a:solidFill>
                <a:latin typeface="Arial"/>
              </a:rPr>
              <a:t>   sneakers</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Où acheter des Adidas Samba ou des New Balance 530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modèle choisir entre Jordan 4 et Nike Air Max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Où trouver un maillot NBA officiel ou vintage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Où acheter le maillot de Wembanyama aux Spurs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ballon et quelle tenue de basket pour un enfant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Chaussures et sneakers · 14 %</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Équipement de basketball · 47 %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Maillots et fanwear NBA · 9 %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Vêtements de basketball · 30 %</a:t>
            </a:r>
          </a:p>
        </p:txBody>
      </p:sp>
      <p:sp>
        <p:nvSpPr>
          <p:cNvPr id="94" name="Rectangle 93"/>
          <p:cNvSpPr/>
          <p:nvPr/>
        </p:nvSpPr>
        <p:spPr>
          <a:xfrm>
            <a:off x="10564368" y="4450080"/>
            <a:ext cx="475488" cy="187756"/>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0564368" y="4637836"/>
            <a:ext cx="475488" cy="630326"/>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564368" y="4637836"/>
            <a:ext cx="475488" cy="630326"/>
          </a:xfrm>
          <a:prstGeom prst="rect">
            <a:avLst/>
          </a:prstGeom>
          <a:noFill/>
        </p:spPr>
        <p:txBody>
          <a:bodyPr wrap="square" anchor="ctr" lIns="0" rIns="0" tIns="0" bIns="0">
            <a:spAutoFit/>
          </a:bodyPr>
          <a:lstStyle/>
          <a:p>
            <a:pPr algn="ctr"/>
            <a:r>
              <a:rPr sz="1000" b="1" i="0">
                <a:solidFill>
                  <a:srgbClr val="FFFFFF"/>
                </a:solidFill>
                <a:latin typeface="Arial"/>
              </a:rPr>
              <a:t>47 %</a:t>
            </a:r>
          </a:p>
        </p:txBody>
      </p:sp>
      <p:sp>
        <p:nvSpPr>
          <p:cNvPr id="97" name="Rectangle 96"/>
          <p:cNvSpPr/>
          <p:nvPr/>
        </p:nvSpPr>
        <p:spPr>
          <a:xfrm>
            <a:off x="10564368" y="5268163"/>
            <a:ext cx="475488" cy="12070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564368" y="5388863"/>
            <a:ext cx="475488" cy="402336"/>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64368" y="5388863"/>
            <a:ext cx="475488" cy="402336"/>
          </a:xfrm>
          <a:prstGeom prst="rect">
            <a:avLst/>
          </a:prstGeom>
          <a:noFill/>
        </p:spPr>
        <p:txBody>
          <a:bodyPr wrap="square" anchor="ctr" lIns="0" rIns="0" tIns="0" bIns="0">
            <a:spAutoFit/>
          </a:bodyPr>
          <a:lstStyle/>
          <a:p>
            <a:pPr algn="ctr"/>
            <a:r>
              <a:rPr sz="1000" b="1" i="0">
                <a:solidFill>
                  <a:srgbClr val="FFFFFF"/>
                </a:solidFill>
                <a:latin typeface="Arial"/>
              </a:rPr>
              <a:t>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Basket4Ballers</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du jeu, pas seulement du produit</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accroches qui évoquent la pratique (jouer, match, entraînement, terrain) atteignent 1,28 fois le CTR moyen. Elles ne représentent pourtant que 2 % de la diffusion.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Présenter chaque produit dans son usage : match, entraînement, playground.</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ballons et accessoires restent porteurs</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ballons atteignent 1,27 fois le CTR moyen et les accessoires et petits équipements 1,12 fois, devant les chaussures et les maillots.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Renforcer la visibilité des ballons, chaussettes techniques, manchons et sacs de sport.</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La promotion ne suffit toujours pas</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accroches centrées sur le prix (« pas cher », « prix bas », « promo ») restent à 0,85 fois le CTR moyen, alors qu'elles représentent 21 % de la diffusion.</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Commencer par le produit, le joueur ou l'usage, puis présenter le prix comme un argument secondaire.</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maillots et les tenues</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maillots restent à 0,90 fois le CTR moyen, les tenues de basket à 0,58 fois et les casquettes à 0,41 fois.</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les maillots à un joueur, une équipe ou un match, avec la reprise de la saison NBA en octobre.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Bayard Jeunesse</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408 434</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+7 %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791 115</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2 277</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+215 %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2 999</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0,56 %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+0,37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0,38 %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n'est pas encore installé. Les conversions apparaîtront dans ce rapport dès son intégration.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abonnement magazine</a:t>
            </a:r>
            <a:r>
              <a:rPr sz="1600" b="1" i="0">
                <a:solidFill>
                  <a:srgbClr val="111111"/>
                </a:solidFill>
                <a:latin typeface="Arial"/>
              </a:rPr>
              <a:t>   J'aime lire</a:t>
            </a:r>
          </a:p>
          <a:p>
            <a:pPr algn="l">
              <a:spcAft>
                <a:spcPts val="500"/>
              </a:spcAft>
            </a:pPr>
            <a:r>
              <a:rPr sz="1500" b="1" i="0">
                <a:solidFill>
                  <a:srgbClr val="555B66"/>
                </a:solidFill>
                <a:latin typeface="Arial"/>
              </a:rPr>
              <a:t>Pomme d'Api</a:t>
            </a:r>
            <a:r>
              <a:rPr sz="1400" b="1" i="0">
                <a:solidFill>
                  <a:srgbClr val="111111"/>
                </a:solidFill>
                <a:latin typeface="Arial"/>
              </a:rPr>
              <a:t>   Phosphore</a:t>
            </a:r>
          </a:p>
          <a:p>
            <a:pPr algn="l">
              <a:spcAft>
                <a:spcPts val="500"/>
              </a:spcAft>
            </a:pPr>
            <a:r>
              <a:rPr sz="1300" b="1" i="0">
                <a:solidFill>
                  <a:srgbClr val="EE6A2C"/>
                </a:solidFill>
                <a:latin typeface="Arial"/>
              </a:rPr>
              <a:t>Images Doc</a:t>
            </a:r>
            <a:r>
              <a:rPr sz="1200" b="0" i="0">
                <a:solidFill>
                  <a:srgbClr val="555B66"/>
                </a:solidFill>
                <a:latin typeface="Arial"/>
              </a:rPr>
              <a:t>   Popi</a:t>
            </a:r>
          </a:p>
          <a:p>
            <a:pPr algn="l">
              <a:spcAft>
                <a:spcPts val="500"/>
              </a:spcAft>
            </a:pPr>
            <a:r>
              <a:rPr sz="1100" b="1" i="0">
                <a:solidFill>
                  <a:srgbClr val="EE6A2C"/>
                </a:solidFill>
                <a:latin typeface="Arial"/>
              </a:rPr>
              <a:t>I Love English</a:t>
            </a:r>
            <a:r>
              <a:rPr sz="1100" b="1" i="0">
                <a:solidFill>
                  <a:srgbClr val="111111"/>
                </a:solidFill>
                <a:latin typeface="Arial"/>
              </a:rPr>
              <a:t>   So Foot Club</a:t>
            </a:r>
          </a:p>
          <a:p>
            <a:pPr algn="l">
              <a:spcAft>
                <a:spcPts val="500"/>
              </a:spcAft>
            </a:pPr>
            <a:r>
              <a:rPr sz="1100" b="1" i="0">
                <a:solidFill>
                  <a:srgbClr val="111111"/>
                </a:solidFill>
                <a:latin typeface="Arial"/>
              </a:rPr>
              <a:t>Okapi</a:t>
            </a:r>
            <a:r>
              <a:rPr sz="1100" b="0" i="0">
                <a:solidFill>
                  <a:srgbClr val="555B66"/>
                </a:solidFill>
                <a:latin typeface="Arial"/>
              </a:rPr>
              <a:t>   Astrapi</a:t>
            </a:r>
            <a:r>
              <a:rPr sz="1100" b="1" i="0">
                <a:solidFill>
                  <a:srgbClr val="EE6A2C"/>
                </a:solidFill>
                <a:latin typeface="Arial"/>
              </a:rPr>
              <a:t>   Youpi Doc</a:t>
            </a:r>
          </a:p>
          <a:p>
            <a:pPr algn="l">
              <a:spcAft>
                <a:spcPts val="500"/>
              </a:spcAft>
            </a:pPr>
            <a:r>
              <a:rPr sz="1100" b="1" i="0">
                <a:solidFill>
                  <a:srgbClr val="111111"/>
                </a:solidFill>
                <a:latin typeface="Arial"/>
              </a:rPr>
              <a:t>livré à la maison</a:t>
            </a:r>
            <a:r>
              <a:rPr sz="1100" b="0" i="0">
                <a:solidFill>
                  <a:srgbClr val="555B66"/>
                </a:solidFill>
                <a:latin typeface="Arial"/>
              </a:rPr>
              <a:t>   numérique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premier magazine pour un enfant d'un an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magazine accompagne l'apprentissage de la lecture au CP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aider mon enfant à apprendre l'anglais en s'amusant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Où trouver des histoires audio pour le coucher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abonnement offrir pour l'anniversaire d'un enfant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Lecture et découverte 6-10 ans</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Apprentissage de l'anglais · 8 %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Magazines pour adolescents · 19 %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Éveil et petite enfance · 40 %</a:t>
            </a:r>
          </a:p>
        </p:txBody>
      </p:sp>
      <p:sp>
        <p:nvSpPr>
          <p:cNvPr id="94" name="Rectangle 93"/>
          <p:cNvSpPr/>
          <p:nvPr/>
        </p:nvSpPr>
        <p:spPr>
          <a:xfrm>
            <a:off x="10564368" y="4450080"/>
            <a:ext cx="475488" cy="442569"/>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564368" y="4450080"/>
            <a:ext cx="475488" cy="442569"/>
          </a:xfrm>
          <a:prstGeom prst="rect">
            <a:avLst/>
          </a:prstGeom>
          <a:noFill/>
        </p:spPr>
        <p:txBody>
          <a:bodyPr wrap="square" anchor="ctr" lIns="0" rIns="0" tIns="0" bIns="0">
            <a:spAutoFit/>
          </a:bodyPr>
          <a:lstStyle/>
          <a:p>
            <a:pPr algn="ctr"/>
            <a:r>
              <a:rPr sz="1000" b="1" i="0">
                <a:solidFill>
                  <a:srgbClr val="FFFFFF"/>
                </a:solidFill>
                <a:latin typeface="Arial"/>
              </a:rPr>
              <a:t>33 %</a:t>
            </a:r>
          </a:p>
        </p:txBody>
      </p:sp>
      <p:sp>
        <p:nvSpPr>
          <p:cNvPr id="96" name="Rectangle 95"/>
          <p:cNvSpPr/>
          <p:nvPr/>
        </p:nvSpPr>
        <p:spPr>
          <a:xfrm>
            <a:off x="10564368" y="4892649"/>
            <a:ext cx="475488" cy="107289"/>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564368" y="4999939"/>
            <a:ext cx="475488" cy="254812"/>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564368" y="5254752"/>
            <a:ext cx="475488" cy="536448"/>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64368" y="5254752"/>
            <a:ext cx="475488" cy="536448"/>
          </a:xfrm>
          <a:prstGeom prst="rect">
            <a:avLst/>
          </a:prstGeom>
          <a:noFill/>
        </p:spPr>
        <p:txBody>
          <a:bodyPr wrap="square" anchor="ctr" lIns="0" rIns="0" tIns="0" bIns="0">
            <a:spAutoFit/>
          </a:bodyPr>
          <a:lstStyle/>
          <a:p>
            <a:pPr algn="ctr"/>
            <a:r>
              <a:rPr sz="1000" b="1" i="0">
                <a:solidFill>
                  <a:srgbClr val="FFFFFF"/>
                </a:solidFill>
                <a:latin typeface="Arial"/>
              </a:rPr>
              <a:t>40 %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Bayard Jeunesse</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magazines ados</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magazines pour adolescents (Phosphore, Okapi, So Foot Club, Je bouquine) atteignent 1,39 fois le CTR moyen. Phosphore atteint même 2,23 fois.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titres ados dans la diffusion.</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magazines documentaires surperforment</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Images Doc (magazine découvertes 8-12 ans) atteint 2,28 fois le CTR moyen, le meilleur score de la campagne.</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titres qui aident à comprendre le monde.</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annonces petite enfance et génériques</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L'éveil et la petite enfance représentent 40 % de la diffusion mais restent à 0,92 fois la moyenne (Les Belles Histoires 0,62 fois, Babar 0,67 fois). Les annonces génériques sont à 0,89 fois.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Parler aux parents d'un moment précis (histoire du soir, premiers apprentissages) plutôt que de l'abonnement en général.</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clics triplent</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passent de 722 à 2 277 pour 7 % d'impressions en plus. Le CTR passe de 0,19 % à 0,56 %.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Prolonger la campagne au-delà du 11/10, pour la période des cadeaux de fin d'année.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Bosch</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351 012</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−44 %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1 531 995</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1 740</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+20 %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4 227</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0,50 %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+0,27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0,28 %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mesurées par Cdiscount, non intégrées à ce rapport. Elles apparaîtront ici dès l'intégration du Conversion Tracker.</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lave-vaisselle</a:t>
            </a:r>
            <a:r>
              <a:rPr sz="1800" b="1" i="0">
                <a:solidFill>
                  <a:srgbClr val="111111"/>
                </a:solidFill>
                <a:latin typeface="Arial"/>
              </a:rPr>
              <a:t>   encastrable</a:t>
            </a:r>
          </a:p>
          <a:p>
            <a:pPr algn="l">
              <a:spcAft>
                <a:spcPts val="500"/>
              </a:spcAft>
            </a:pPr>
            <a:r>
              <a:rPr sz="1500" b="1" i="0">
                <a:solidFill>
                  <a:srgbClr val="555B66"/>
                </a:solidFill>
                <a:latin typeface="Arial"/>
              </a:rPr>
              <a:t>pose libre</a:t>
            </a:r>
            <a:r>
              <a:rPr sz="1400" b="1" i="0">
                <a:solidFill>
                  <a:srgbClr val="111111"/>
                </a:solidFill>
                <a:latin typeface="Arial"/>
              </a:rPr>
              <a:t>   60 cm</a:t>
            </a:r>
          </a:p>
          <a:p>
            <a:pPr algn="l">
              <a:spcAft>
                <a:spcPts val="500"/>
              </a:spcAft>
            </a:pPr>
            <a:r>
              <a:rPr sz="1300" b="1" i="0">
                <a:solidFill>
                  <a:srgbClr val="EE6A2C"/>
                </a:solidFill>
                <a:latin typeface="Arial"/>
              </a:rPr>
              <a:t>45 cm</a:t>
            </a:r>
            <a:r>
              <a:rPr sz="1200" b="0" i="0">
                <a:solidFill>
                  <a:srgbClr val="555B66"/>
                </a:solidFill>
                <a:latin typeface="Arial"/>
              </a:rPr>
              <a:t>   Série 2</a:t>
            </a:r>
            <a:r>
              <a:rPr sz="1200" b="1" i="0">
                <a:solidFill>
                  <a:srgbClr val="111111"/>
                </a:solidFill>
                <a:latin typeface="Arial"/>
              </a:rPr>
              <a:t>   Série 4</a:t>
            </a:r>
          </a:p>
          <a:p>
            <a:pPr algn="l">
              <a:spcAft>
                <a:spcPts val="500"/>
              </a:spcAft>
            </a:pPr>
            <a:r>
              <a:rPr sz="1100" b="1" i="0">
                <a:solidFill>
                  <a:srgbClr val="EE6A2C"/>
                </a:solidFill>
                <a:latin typeface="Arial"/>
              </a:rPr>
              <a:t>EcoSilence Drive</a:t>
            </a:r>
            <a:r>
              <a:rPr sz="1100" b="1" i="0">
                <a:solidFill>
                  <a:srgbClr val="111111"/>
                </a:solidFill>
                <a:latin typeface="Arial"/>
              </a:rPr>
              <a:t>   tiroir à couverts</a:t>
            </a:r>
          </a:p>
          <a:p>
            <a:pPr algn="l">
              <a:spcAft>
                <a:spcPts val="500"/>
              </a:spcAft>
            </a:pPr>
            <a:r>
              <a:rPr sz="1100" b="1" i="0">
                <a:solidFill>
                  <a:srgbClr val="111111"/>
                </a:solidFill>
                <a:latin typeface="Arial"/>
              </a:rPr>
              <a:t>13 couverts</a:t>
            </a:r>
            <a:r>
              <a:rPr sz="1100" b="0" i="0">
                <a:solidFill>
                  <a:srgbClr val="555B66"/>
                </a:solidFill>
                <a:latin typeface="Arial"/>
              </a:rPr>
              <a:t>   14 couverts</a:t>
            </a:r>
            <a:r>
              <a:rPr sz="1100" b="1" i="0">
                <a:solidFill>
                  <a:srgbClr val="EE6A2C"/>
                </a:solidFill>
                <a:latin typeface="Arial"/>
              </a:rPr>
              <a:t>   dB</a:t>
            </a:r>
          </a:p>
          <a:p>
            <a:pPr algn="l">
              <a:spcAft>
                <a:spcPts val="500"/>
              </a:spcAft>
            </a:pPr>
            <a:r>
              <a:rPr sz="1100" b="1" i="0">
                <a:solidFill>
                  <a:srgbClr val="111111"/>
                </a:solidFill>
                <a:latin typeface="Arial"/>
              </a:rPr>
              <a:t>livraison gratuite</a:t>
            </a:r>
            <a:r>
              <a:rPr sz="1100" b="0" i="0">
                <a:solidFill>
                  <a:srgbClr val="555B66"/>
                </a:solidFill>
                <a:latin typeface="Arial"/>
              </a:rPr>
              <a:t>   Black Friday</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lave-vaisselle Bosch pour une cuisine ouverte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différence entre encastrable et semi-intégrable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Un lave-vaisselle de 44 dB est-il vraiment silencieux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modèle de 45 cm pour une petite cuisine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À quoi sert Home Connect sur un lave-vaisselle Bosch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800" b="0" i="0">
                <a:solidFill>
                  <a:srgbClr val="111111"/>
                </a:solidFill>
                <a:latin typeface="Arial"/>
              </a:rPr>
              <a:t>Comparaison marques et modèles · 5 %</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Encastrables et intégrables · 46 %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Compacts et largeur 45 cm · 15 %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Grande capacité et 60 cm · 34 %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Lave-vaisselle silencieux · &lt; 1 %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Lave-vaisselle connectés · &lt; 1 %</a:t>
            </a:r>
          </a:p>
        </p:txBody>
      </p:sp>
      <p:sp>
        <p:nvSpPr>
          <p:cNvPr id="98" name="Rectangle 97"/>
          <p:cNvSpPr/>
          <p:nvPr/>
        </p:nvSpPr>
        <p:spPr>
          <a:xfrm>
            <a:off x="10564368" y="4450080"/>
            <a:ext cx="475488" cy="67056"/>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4517136"/>
            <a:ext cx="475488" cy="616915"/>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0564368" y="4517136"/>
            <a:ext cx="475488" cy="616915"/>
          </a:xfrm>
          <a:prstGeom prst="rect">
            <a:avLst/>
          </a:prstGeom>
          <a:noFill/>
        </p:spPr>
        <p:txBody>
          <a:bodyPr wrap="square" anchor="ctr" lIns="0" rIns="0" tIns="0" bIns="0">
            <a:spAutoFit/>
          </a:bodyPr>
          <a:lstStyle/>
          <a:p>
            <a:pPr algn="ctr"/>
            <a:r>
              <a:rPr sz="1000" b="1" i="0">
                <a:solidFill>
                  <a:srgbClr val="FFFFFF"/>
                </a:solidFill>
                <a:latin typeface="Arial"/>
              </a:rPr>
              <a:t>46 %</a:t>
            </a:r>
          </a:p>
        </p:txBody>
      </p:sp>
      <p:sp>
        <p:nvSpPr>
          <p:cNvPr id="101" name="Rectangle 100"/>
          <p:cNvSpPr/>
          <p:nvPr/>
        </p:nvSpPr>
        <p:spPr>
          <a:xfrm>
            <a:off x="10564368" y="5134051"/>
            <a:ext cx="475488" cy="201168"/>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564368" y="5335219"/>
            <a:ext cx="475488" cy="45598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564368" y="5335219"/>
            <a:ext cx="475488" cy="455980"/>
          </a:xfrm>
          <a:prstGeom prst="rect">
            <a:avLst/>
          </a:prstGeom>
          <a:noFill/>
        </p:spPr>
        <p:txBody>
          <a:bodyPr wrap="square" anchor="ctr" lIns="0" rIns="0" tIns="0" bIns="0">
            <a:spAutoFit/>
          </a:bodyPr>
          <a:lstStyle/>
          <a:p>
            <a:pPr algn="ctr"/>
            <a:r>
              <a:rPr sz="1000" b="1" i="0">
                <a:solidFill>
                  <a:srgbClr val="FFFFFF"/>
                </a:solidFill>
                <a:latin typeface="Arial"/>
              </a:rPr>
              <a:t>34 %</a:t>
            </a:r>
          </a:p>
        </p:txBody>
      </p:sp>
      <p:sp>
        <p:nvSpPr>
          <p:cNvPr id="104" name="Rectangle 103"/>
          <p:cNvSpPr/>
          <p:nvPr/>
        </p:nvSpPr>
        <p:spPr>
          <a:xfrm>
            <a:off x="10564368" y="5791200"/>
            <a:ext cx="475488" cy="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564368" y="5791200"/>
            <a:ext cx="475488" cy="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Bosch</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du problème en cuisine plutôt que présenter une référence produit</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En août, les annonces évoquant une situation concrète atteignaient 1,58 fois le CTR moyen. En septembre, toutes présentent un modèle et restent autour de la moyenne.</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Commencer par le besoin du foyer : « Votre vaisselle s'accumule après le dîner ? » plutôt que « Découvrez le Bosch SMV4HCX07E ».</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Faire du silence un argument prioritaire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silence atteignait 1,51 fois le CTR moyen en août. En septembre, il n'apparaît plus que sous forme de chiffre (« 44 dB ») et ne fait pas la différence (1,05 fois).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Traduire le niveau sonore en bénéfice : « Lancez votre lave-vaisselle le soir sans perturber la maison ».</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Expliquer ce que Home Connect permet réellement de faire</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Expliquer le pilotage depuis le smartphone atteignait 1,23 fois le CTR moyen en août. Aucune annonce de septembre ne parle de Home Connect.</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Réintroduire Home Connect par ses usages : lancer un cycle à distance, suivre son avancement, être notifié à la fin.</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Rassurer sur l'installation avant de parler du financement</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L'installation atteignait 1,76 fois le CTR moyen en août, contre 0,54 fois pour le paiement en quatre fois. En septembre, le type d'encastrement est cité sans bénéfice (1,00 fois).</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dimensions, encastrement et compatibilité avec la cuisine, puis le financement.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Boulanger</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3 133 801</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3 164 233</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19 975</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20 178</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0,64 %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0,64 %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Le Conversion Tracker est en cours de validation : </a:t>
            </a:r>
            <a:r>
              <a:rPr sz="900" b="0" i="0">
                <a:solidFill>
                  <a:srgbClr val="555B66"/>
                </a:solidFill>
                <a:latin typeface="Arial"/>
              </a:rPr>
              <a:t>le pixel est posé depuis la mi-septembre. Les conversions apparaîtront dans ce rapport dès que la réconciliation avec vos données sera validée.</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smartphone</a:t>
            </a:r>
            <a:r>
              <a:rPr sz="1600" b="1" i="0">
                <a:solidFill>
                  <a:srgbClr val="111111"/>
                </a:solidFill>
                <a:latin typeface="Arial"/>
              </a:rPr>
              <a:t>   écouteurs</a:t>
            </a:r>
          </a:p>
          <a:p>
            <a:pPr algn="l">
              <a:spcAft>
                <a:spcPts val="500"/>
              </a:spcAft>
            </a:pPr>
            <a:r>
              <a:rPr sz="1500" b="1" i="0">
                <a:solidFill>
                  <a:srgbClr val="555B66"/>
                </a:solidFill>
                <a:latin typeface="Arial"/>
              </a:rPr>
              <a:t>enceinte portable</a:t>
            </a:r>
            <a:r>
              <a:rPr sz="1400" b="1" i="0">
                <a:solidFill>
                  <a:srgbClr val="111111"/>
                </a:solidFill>
                <a:latin typeface="Arial"/>
              </a:rPr>
              <a:t>   téléviseur</a:t>
            </a:r>
          </a:p>
          <a:p>
            <a:pPr algn="l">
              <a:spcAft>
                <a:spcPts val="500"/>
              </a:spcAft>
            </a:pPr>
            <a:r>
              <a:rPr sz="1300" b="1" i="0">
                <a:solidFill>
                  <a:srgbClr val="EE6A2C"/>
                </a:solidFill>
                <a:latin typeface="Arial"/>
              </a:rPr>
              <a:t>rapport qualité-prix</a:t>
            </a:r>
            <a:r>
              <a:rPr sz="1200" b="0" i="0">
                <a:solidFill>
                  <a:srgbClr val="555B66"/>
                </a:solidFill>
                <a:latin typeface="Arial"/>
              </a:rPr>
              <a:t>   aspirateur</a:t>
            </a:r>
          </a:p>
          <a:p>
            <a:pPr algn="l">
              <a:spcAft>
                <a:spcPts val="500"/>
              </a:spcAft>
            </a:pPr>
            <a:r>
              <a:rPr sz="1100" b="1" i="0">
                <a:solidFill>
                  <a:srgbClr val="EE6A2C"/>
                </a:solidFill>
                <a:latin typeface="Arial"/>
              </a:rPr>
              <a:t>ordinateur portable</a:t>
            </a:r>
            <a:r>
              <a:rPr sz="1100" b="1" i="0">
                <a:solidFill>
                  <a:srgbClr val="111111"/>
                </a:solidFill>
                <a:latin typeface="Arial"/>
              </a:rPr>
              <a:t>   tablette</a:t>
            </a:r>
          </a:p>
          <a:p>
            <a:pPr algn="l">
              <a:spcAft>
                <a:spcPts val="500"/>
              </a:spcAft>
            </a:pPr>
            <a:r>
              <a:rPr sz="1100" b="1" i="0">
                <a:solidFill>
                  <a:srgbClr val="111111"/>
                </a:solidFill>
                <a:latin typeface="Arial"/>
              </a:rPr>
              <a:t>airfryer</a:t>
            </a:r>
            <a:r>
              <a:rPr sz="1100" b="0" i="0">
                <a:solidFill>
                  <a:srgbClr val="555B66"/>
                </a:solidFill>
                <a:latin typeface="Arial"/>
              </a:rPr>
              <a:t>   lave-linge</a:t>
            </a:r>
            <a:r>
              <a:rPr sz="1100" b="1" i="0">
                <a:solidFill>
                  <a:srgbClr val="EE6A2C"/>
                </a:solidFill>
                <a:latin typeface="Arial"/>
              </a:rPr>
              <a:t>   batterie externe</a:t>
            </a:r>
          </a:p>
          <a:p>
            <a:pPr algn="l">
              <a:spcAft>
                <a:spcPts val="500"/>
              </a:spcAft>
            </a:pPr>
            <a:r>
              <a:rPr sz="1100" b="1" i="0">
                <a:solidFill>
                  <a:srgbClr val="111111"/>
                </a:solidFill>
                <a:latin typeface="Arial"/>
              </a:rPr>
              <a:t>Samsung</a:t>
            </a:r>
            <a:r>
              <a:rPr sz="1100" b="0" i="0">
                <a:solidFill>
                  <a:srgbClr val="555B66"/>
                </a:solidFill>
                <a:latin typeface="Arial"/>
              </a:rPr>
              <a:t>   JBL</a:t>
            </a:r>
            <a:r>
              <a:rPr sz="1100" b="0" i="0">
                <a:solidFill>
                  <a:srgbClr val="111111"/>
                </a:solidFill>
                <a:latin typeface="Arial"/>
              </a:rPr>
              <a:t>   Dyson</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smartphone choisir pour prendre de bonnes photos sans dépasser mon budget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Quels écouteurs choisir pour faire du sport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enceinte portable offrir à une personne qui écoute beaucoup de musique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aspirateur est efficace contre les poils d'animaux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téléviseur choisir pour regarder des films et jouer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Informatique et gaming</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Téléphonie · 19 %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Image et son · 18 %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Gros électroménager · 17 %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Petit électroménager · 17 %</a:t>
            </a:r>
          </a:p>
        </p:txBody>
      </p:sp>
      <p:sp>
        <p:nvSpPr>
          <p:cNvPr id="96" name="Rectangle 95"/>
          <p:cNvSpPr/>
          <p:nvPr/>
        </p:nvSpPr>
        <p:spPr>
          <a:xfrm>
            <a:off x="10564368" y="4450080"/>
            <a:ext cx="475488" cy="388924"/>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564368" y="4450080"/>
            <a:ext cx="475488" cy="388924"/>
          </a:xfrm>
          <a:prstGeom prst="rect">
            <a:avLst/>
          </a:prstGeom>
          <a:noFill/>
        </p:spPr>
        <p:txBody>
          <a:bodyPr wrap="square" anchor="ctr" lIns="0" rIns="0" tIns="0" bIns="0">
            <a:spAutoFit/>
          </a:bodyPr>
          <a:lstStyle/>
          <a:p>
            <a:pPr algn="ctr"/>
            <a:r>
              <a:rPr sz="1000" b="1" i="0">
                <a:solidFill>
                  <a:srgbClr val="FFFFFF"/>
                </a:solidFill>
                <a:latin typeface="Arial"/>
              </a:rPr>
              <a:t>29 %</a:t>
            </a:r>
          </a:p>
        </p:txBody>
      </p:sp>
      <p:sp>
        <p:nvSpPr>
          <p:cNvPr id="98" name="Rectangle 97"/>
          <p:cNvSpPr/>
          <p:nvPr/>
        </p:nvSpPr>
        <p:spPr>
          <a:xfrm>
            <a:off x="10564368" y="4839004"/>
            <a:ext cx="475488" cy="254812"/>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5093817"/>
            <a:ext cx="475488" cy="241401"/>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564368" y="5335219"/>
            <a:ext cx="475488" cy="22799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564368" y="5563209"/>
            <a:ext cx="475488" cy="22799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Boulanger</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Amener sur boulanger.com des visiteurs en intention d'achat (budget 10 000 € / mois).</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Faire du smartphone la priorité de visibilité</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smartphone est la première intention d'achat (6,1 % des conversations). Côté annonces, l'iPhone 17 (1,16 fois le CTR moyen) et les iPhone reconditionnés (1,10 fois) tirent la catégorie.</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Construire avec vous le plan de visibilité smartphone 2027 : références, ad groups et budget.</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Resserrer la sélection sur les intentions les plus demandées</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Smartphone, casque et écouteurs, enceinte portable : ces trois intentions pèsent plus de 16 % des conversations. Les annonces enceintes et barres de son restent pourtant à 0,56 fois le CTR moyen.</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Pousser sur ces intentions une sélection resserrée de vos produits phares, à mesurer contre le périmètre actuel.</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Vendre le son par l'usage et le cadeau</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 Quelle enceinte portable offrir ? », « Quels écouteurs pour le sport ? » : l'audience part d'un usage ou d'un cadeau, pas d'une référence.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Présenter casques et enceintes par usage (sport, soirée, salon) et comme idée cadeau à l'approche de Noël.</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Capter les cadeaux gaming avant Noël</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consoles de jeux atteignent 3,04 fois le CTR moyen, le meilleur score de la campagne, pour seulement 3 % de la diffusion.</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consoles et à l'informatique gaming en novembre et décembre.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Mobile</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1 760 935</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+22 %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6 117 876</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9 138</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+207 %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17 884</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0,52 %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+0,31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0,29 %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4</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+4</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8</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0,04 %</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+0,04 pt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0,04 %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0,02</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+0,02</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0,02</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communiquées via Awin, à titre indicatif. Elles seront consolidées dès l'intégration du Conversion Tracker.</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forfait mobile</a:t>
            </a:r>
          </a:p>
          <a:p>
            <a:pPr algn="l">
              <a:spcAft>
                <a:spcPts val="500"/>
              </a:spcAft>
            </a:pPr>
            <a:r>
              <a:rPr sz="1700" b="1" i="0">
                <a:solidFill>
                  <a:srgbClr val="111111"/>
                </a:solidFill>
                <a:latin typeface="Arial"/>
              </a:rPr>
              <a:t>sans engagement</a:t>
            </a:r>
            <a:r>
              <a:rPr sz="1500" b="0" i="0">
                <a:solidFill>
                  <a:srgbClr val="555B66"/>
                </a:solidFill>
                <a:latin typeface="Arial"/>
              </a:rPr>
              <a:t>      eSIM</a:t>
            </a:r>
          </a:p>
          <a:p>
            <a:pPr algn="l">
              <a:spcAft>
                <a:spcPts val="500"/>
              </a:spcAft>
            </a:pPr>
            <a:r>
              <a:rPr sz="1400" b="1" i="0">
                <a:solidFill>
                  <a:srgbClr val="EE6A2C"/>
                </a:solidFill>
                <a:latin typeface="Arial"/>
              </a:rPr>
              <a:t>40 Go</a:t>
            </a:r>
            <a:r>
              <a:rPr sz="1300" b="1" i="0">
                <a:solidFill>
                  <a:srgbClr val="111111"/>
                </a:solidFill>
                <a:latin typeface="Arial"/>
              </a:rPr>
              <a:t>   150 Go</a:t>
            </a:r>
            <a:r>
              <a:rPr sz="1300" b="0" i="0">
                <a:solidFill>
                  <a:srgbClr val="555B66"/>
                </a:solidFill>
                <a:latin typeface="Arial"/>
              </a:rPr>
              <a:t>   5G</a:t>
            </a:r>
          </a:p>
          <a:p>
            <a:pPr algn="l">
              <a:spcAft>
                <a:spcPts val="500"/>
              </a:spcAft>
            </a:pPr>
            <a:r>
              <a:rPr sz="1100" b="1" i="0">
                <a:solidFill>
                  <a:srgbClr val="EE6A2C"/>
                </a:solidFill>
                <a:latin typeface="Arial"/>
              </a:rPr>
              <a:t>carte SIM</a:t>
            </a:r>
            <a:r>
              <a:rPr sz="1100" b="1" i="0">
                <a:solidFill>
                  <a:srgbClr val="111111"/>
                </a:solidFill>
                <a:latin typeface="Arial"/>
              </a:rPr>
              <a:t>   code RIO</a:t>
            </a:r>
            <a:r>
              <a:rPr sz="1100" b="0" i="0">
                <a:solidFill>
                  <a:srgbClr val="555B66"/>
                </a:solidFill>
                <a:latin typeface="Arial"/>
              </a:rPr>
              <a:t>   portabilité</a:t>
            </a:r>
          </a:p>
          <a:p>
            <a:pPr algn="l">
              <a:spcAft>
                <a:spcPts val="500"/>
              </a:spcAft>
            </a:pPr>
            <a:r>
              <a:rPr sz="1100" b="1" i="0">
                <a:solidFill>
                  <a:srgbClr val="EE6A2C"/>
                </a:solidFill>
                <a:latin typeface="Arial"/>
              </a:rPr>
              <a:t>activation immédiate</a:t>
            </a:r>
            <a:r>
              <a:rPr sz="1100" b="1" i="0">
                <a:solidFill>
                  <a:srgbClr val="111111"/>
                </a:solidFill>
                <a:latin typeface="Arial"/>
              </a:rPr>
              <a:t>   partage de connexion</a:t>
            </a:r>
          </a:p>
          <a:p>
            <a:pPr algn="l">
              <a:spcAft>
                <a:spcPts val="500"/>
              </a:spcAft>
            </a:pPr>
            <a:r>
              <a:rPr sz="1100" b="1" i="0">
                <a:solidFill>
                  <a:srgbClr val="111111"/>
                </a:solidFill>
                <a:latin typeface="Arial"/>
              </a:rPr>
              <a:t>roaming</a:t>
            </a:r>
            <a:r>
              <a:rPr sz="1100" b="0" i="0">
                <a:solidFill>
                  <a:srgbClr val="555B66"/>
                </a:solidFill>
                <a:latin typeface="Arial"/>
              </a:rPr>
              <a:t>   meilleur prix</a:t>
            </a:r>
            <a:r>
              <a:rPr sz="1100" b="1" i="0">
                <a:solidFill>
                  <a:srgbClr val="EE6A2C"/>
                </a:solidFill>
                <a:latin typeface="Arial"/>
              </a:rPr>
              <a:t>   départ en vacances</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forfait mobile sans engagement choisir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Où trouver un forfait 120 Go à moins de 10 € par mois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Puis-je utiliser une eSIM avec Cdiscount Mobile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Puis-je conserver mon numéro en changeant d'opérateur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forfait pour faire du partage de connexion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Recherche générale d'un forfait</a:t>
            </a:r>
          </a:p>
        </p:txBody>
      </p:sp>
      <p:sp>
        <p:nvSpPr>
          <p:cNvPr id="88" name="Rectangle 87"/>
          <p:cNvSpPr/>
          <p:nvPr/>
        </p:nvSpPr>
        <p:spPr>
          <a:xfrm>
            <a:off x="8077200" y="4626864"/>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08576"/>
            <a:ext cx="2225040" cy="152400"/>
          </a:xfrm>
          <a:prstGeom prst="rect">
            <a:avLst/>
          </a:prstGeom>
          <a:noFill/>
        </p:spPr>
        <p:txBody>
          <a:bodyPr wrap="square" anchor="t" lIns="0" rIns="0" tIns="0" bIns="0">
            <a:spAutoFit/>
          </a:bodyPr>
          <a:lstStyle/>
          <a:p>
            <a:pPr algn="l"/>
            <a:r>
              <a:rPr sz="1000" b="0" i="0">
                <a:solidFill>
                  <a:srgbClr val="111111"/>
                </a:solidFill>
                <a:latin typeface="Arial"/>
              </a:rPr>
              <a:t>eSIM et carte SIM · 25 %</a:t>
            </a:r>
          </a:p>
        </p:txBody>
      </p:sp>
      <p:sp>
        <p:nvSpPr>
          <p:cNvPr id="90" name="Rectangle 89"/>
          <p:cNvSpPr/>
          <p:nvPr/>
        </p:nvSpPr>
        <p:spPr>
          <a:xfrm>
            <a:off x="8077200" y="4846320"/>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828032"/>
            <a:ext cx="2225040" cy="152400"/>
          </a:xfrm>
          <a:prstGeom prst="rect">
            <a:avLst/>
          </a:prstGeom>
          <a:noFill/>
        </p:spPr>
        <p:txBody>
          <a:bodyPr wrap="square" anchor="t" lIns="0" rIns="0" tIns="0" bIns="0">
            <a:spAutoFit/>
          </a:bodyPr>
          <a:lstStyle/>
          <a:p>
            <a:pPr algn="l"/>
            <a:r>
              <a:rPr sz="1000" b="0" i="0">
                <a:solidFill>
                  <a:srgbClr val="111111"/>
                </a:solidFill>
                <a:latin typeface="Arial"/>
              </a:rPr>
              <a:t>Prix et sans engagement · 15 %</a:t>
            </a:r>
          </a:p>
        </p:txBody>
      </p:sp>
      <p:sp>
        <p:nvSpPr>
          <p:cNvPr id="92" name="Rectangle 91"/>
          <p:cNvSpPr/>
          <p:nvPr/>
        </p:nvSpPr>
        <p:spPr>
          <a:xfrm>
            <a:off x="8077200" y="5065776"/>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047488"/>
            <a:ext cx="2225040" cy="152400"/>
          </a:xfrm>
          <a:prstGeom prst="rect">
            <a:avLst/>
          </a:prstGeom>
          <a:noFill/>
        </p:spPr>
        <p:txBody>
          <a:bodyPr wrap="square" anchor="t" lIns="0" rIns="0" tIns="0" bIns="0">
            <a:spAutoFit/>
          </a:bodyPr>
          <a:lstStyle/>
          <a:p>
            <a:pPr algn="l"/>
            <a:r>
              <a:rPr sz="800" b="0" i="0">
                <a:solidFill>
                  <a:srgbClr val="111111"/>
                </a:solidFill>
                <a:latin typeface="Arial"/>
              </a:rPr>
              <a:t>Partage de connexion et nomade · 12 %</a:t>
            </a:r>
          </a:p>
        </p:txBody>
      </p:sp>
      <p:sp>
        <p:nvSpPr>
          <p:cNvPr id="94" name="Rectangle 93"/>
          <p:cNvSpPr/>
          <p:nvPr/>
        </p:nvSpPr>
        <p:spPr>
          <a:xfrm>
            <a:off x="8077200" y="5285232"/>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266944"/>
            <a:ext cx="2225040" cy="152400"/>
          </a:xfrm>
          <a:prstGeom prst="rect">
            <a:avLst/>
          </a:prstGeom>
          <a:noFill/>
        </p:spPr>
        <p:txBody>
          <a:bodyPr wrap="square" anchor="t" lIns="0" rIns="0" tIns="0" bIns="0">
            <a:spAutoFit/>
          </a:bodyPr>
          <a:lstStyle/>
          <a:p>
            <a:pPr algn="l"/>
            <a:r>
              <a:rPr sz="1000" b="0" i="0">
                <a:solidFill>
                  <a:srgbClr val="111111"/>
                </a:solidFill>
                <a:latin typeface="Arial"/>
              </a:rPr>
              <a:t>5G et volume de data · 6 %</a:t>
            </a:r>
          </a:p>
        </p:txBody>
      </p:sp>
      <p:sp>
        <p:nvSpPr>
          <p:cNvPr id="96" name="Rectangle 95"/>
          <p:cNvSpPr/>
          <p:nvPr/>
        </p:nvSpPr>
        <p:spPr>
          <a:xfrm>
            <a:off x="8077200" y="550468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486400"/>
            <a:ext cx="2225040" cy="152400"/>
          </a:xfrm>
          <a:prstGeom prst="rect">
            <a:avLst/>
          </a:prstGeom>
          <a:noFill/>
        </p:spPr>
        <p:txBody>
          <a:bodyPr wrap="square" anchor="t" lIns="0" rIns="0" tIns="0" bIns="0">
            <a:spAutoFit/>
          </a:bodyPr>
          <a:lstStyle/>
          <a:p>
            <a:pPr algn="l"/>
            <a:r>
              <a:rPr sz="1000" b="0" i="0">
                <a:solidFill>
                  <a:srgbClr val="111111"/>
                </a:solidFill>
                <a:latin typeface="Arial"/>
              </a:rPr>
              <a:t>International et roaming · 4 %</a:t>
            </a:r>
          </a:p>
        </p:txBody>
      </p:sp>
      <p:sp>
        <p:nvSpPr>
          <p:cNvPr id="98" name="Rectangle 97"/>
          <p:cNvSpPr/>
          <p:nvPr/>
        </p:nvSpPr>
        <p:spPr>
          <a:xfrm>
            <a:off x="8077200" y="5724144"/>
            <a:ext cx="121920" cy="121920"/>
          </a:xfrm>
          <a:prstGeom prst="rect">
            <a:avLst/>
          </a:prstGeom>
          <a:solidFill>
            <a:srgbClr val="8CB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296656" y="5705856"/>
            <a:ext cx="2225040" cy="152400"/>
          </a:xfrm>
          <a:prstGeom prst="rect">
            <a:avLst/>
          </a:prstGeom>
          <a:noFill/>
        </p:spPr>
        <p:txBody>
          <a:bodyPr wrap="square" anchor="t" lIns="0" rIns="0" tIns="0" bIns="0">
            <a:spAutoFit/>
          </a:bodyPr>
          <a:lstStyle/>
          <a:p>
            <a:pPr algn="l"/>
            <a:r>
              <a:rPr sz="1000" b="0" i="0">
                <a:solidFill>
                  <a:srgbClr val="111111"/>
                </a:solidFill>
                <a:latin typeface="Arial"/>
              </a:rPr>
              <a:t>Changement d'opérateur · 1 %</a:t>
            </a:r>
          </a:p>
        </p:txBody>
      </p:sp>
      <p:sp>
        <p:nvSpPr>
          <p:cNvPr id="100" name="Rectangle 99"/>
          <p:cNvSpPr/>
          <p:nvPr/>
        </p:nvSpPr>
        <p:spPr>
          <a:xfrm>
            <a:off x="8077200" y="5943600"/>
            <a:ext cx="121920" cy="121920"/>
          </a:xfrm>
          <a:prstGeom prst="rect">
            <a:avLst/>
          </a:prstGeom>
          <a:solidFill>
            <a:srgbClr val="C9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296656" y="5925312"/>
            <a:ext cx="2225040" cy="152400"/>
          </a:xfrm>
          <a:prstGeom prst="rect">
            <a:avLst/>
          </a:prstGeom>
          <a:noFill/>
        </p:spPr>
        <p:txBody>
          <a:bodyPr wrap="square" anchor="t" lIns="0" rIns="0" tIns="0" bIns="0">
            <a:spAutoFit/>
          </a:bodyPr>
          <a:lstStyle/>
          <a:p>
            <a:pPr algn="l"/>
            <a:r>
              <a:rPr sz="1000" b="0" i="0">
                <a:solidFill>
                  <a:srgbClr val="111111"/>
                </a:solidFill>
                <a:latin typeface="Arial"/>
              </a:rPr>
              <a:t>Forfaits par profil · 1 %</a:t>
            </a:r>
          </a:p>
        </p:txBody>
      </p:sp>
      <p:sp>
        <p:nvSpPr>
          <p:cNvPr id="102" name="Rectangle 101"/>
          <p:cNvSpPr/>
          <p:nvPr/>
        </p:nvSpPr>
        <p:spPr>
          <a:xfrm>
            <a:off x="10564368" y="4450080"/>
            <a:ext cx="475488" cy="482803"/>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564368" y="4450080"/>
            <a:ext cx="475488" cy="482803"/>
          </a:xfrm>
          <a:prstGeom prst="rect">
            <a:avLst/>
          </a:prstGeom>
          <a:noFill/>
        </p:spPr>
        <p:txBody>
          <a:bodyPr wrap="square" anchor="ctr" lIns="0" rIns="0" tIns="0" bIns="0">
            <a:spAutoFit/>
          </a:bodyPr>
          <a:lstStyle/>
          <a:p>
            <a:pPr algn="ctr"/>
            <a:r>
              <a:rPr sz="1000" b="1" i="0">
                <a:solidFill>
                  <a:srgbClr val="FFFFFF"/>
                </a:solidFill>
                <a:latin typeface="Arial"/>
              </a:rPr>
              <a:t>36 %</a:t>
            </a:r>
          </a:p>
        </p:txBody>
      </p:sp>
      <p:sp>
        <p:nvSpPr>
          <p:cNvPr id="104" name="Rectangle 103"/>
          <p:cNvSpPr/>
          <p:nvPr/>
        </p:nvSpPr>
        <p:spPr>
          <a:xfrm>
            <a:off x="10564368" y="4932883"/>
            <a:ext cx="475488" cy="33528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564368" y="4932883"/>
            <a:ext cx="475488" cy="335280"/>
          </a:xfrm>
          <a:prstGeom prst="rect">
            <a:avLst/>
          </a:prstGeom>
          <a:noFill/>
        </p:spPr>
        <p:txBody>
          <a:bodyPr wrap="square" anchor="ctr" lIns="0" rIns="0" tIns="0" bIns="0">
            <a:spAutoFit/>
          </a:bodyPr>
          <a:lstStyle/>
          <a:p>
            <a:pPr algn="ctr"/>
            <a:r>
              <a:rPr sz="1000" b="1" i="0">
                <a:solidFill>
                  <a:srgbClr val="FFFFFF"/>
                </a:solidFill>
                <a:latin typeface="Arial"/>
              </a:rPr>
              <a:t>25 %</a:t>
            </a:r>
          </a:p>
        </p:txBody>
      </p:sp>
      <p:sp>
        <p:nvSpPr>
          <p:cNvPr id="106" name="Rectangle 105"/>
          <p:cNvSpPr/>
          <p:nvPr/>
        </p:nvSpPr>
        <p:spPr>
          <a:xfrm>
            <a:off x="10564368" y="5268163"/>
            <a:ext cx="475488" cy="201168"/>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564368" y="5469331"/>
            <a:ext cx="475488" cy="16093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564368" y="5630265"/>
            <a:ext cx="475488" cy="80467"/>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564368" y="5710732"/>
            <a:ext cx="475488" cy="53644"/>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0564368" y="5764377"/>
            <a:ext cx="475488" cy="13411"/>
          </a:xfrm>
          <a:prstGeom prst="rect">
            <a:avLst/>
          </a:prstGeom>
          <a:solidFill>
            <a:srgbClr val="8CB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564368" y="5777788"/>
            <a:ext cx="475488" cy="13411"/>
          </a:xfrm>
          <a:prstGeom prst="rect">
            <a:avLst/>
          </a:prstGeom>
          <a:solidFill>
            <a:srgbClr val="C9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Mobile</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Générer 550 nouvelles souscriptions.</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Afficher immédiatement le prix, la data et l'absence d'engagement</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En août, les annonces avec data, prix mensuel et sans engagement atteignaient 4,26 fois le CTR moyen. En septembre, les 3 annonces ne citent pas de prix et restent à la moyenne.</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Présenter directement l'offre complète : « 40 Go à x €/mois, sans engagement ».</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Faire de l'eSIM un axe d'acquisition à part entière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L'eSIM atteignait 2,09 fois le CTR moyen en août et représente 23 % des recherches liées aux forfaits. Aucune annonce de septembre n'en parle.</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Créer une campagne eSIM dédiée : activation immédiate, conservation du numéro, aucune attente de carte.</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Associer les forfaits aux smartphones reconditionnés</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L'association reconditionné + forfait atteignait 1,68 fois le CTR moyen en août. Elle n'a pas été reprise en septembre.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Construire des offres reconditionné + forfait sans engagement, avec un prix total clair.</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Segmenter par usage plutôt que par profil</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En août, la mobilité atteignait 1,95 fois le CTR moyen et le partage de connexion 1,24 fois. Les annonces de septembre ne parlent que du volume de data (40 Go, 150 Go).</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Cibler des usages précis : vidéo en déplacement, travail en mobilité, plusieurs appareils connectés.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Séjours</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790 844</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−52 %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5 924 632</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3 916</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+26 %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12 654</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0,50 %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+0,31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0,21 %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4</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+2</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25</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0,10 %</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+0,04 pt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0,20 %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1,30</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+0,47</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communiquées via Awin, à titre indicatif. Elles seront consolidées dès l'intégration du Conversion Tracker.</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hôtel</a:t>
            </a:r>
            <a:r>
              <a:rPr sz="1800" b="1" i="0">
                <a:solidFill>
                  <a:srgbClr val="111111"/>
                </a:solidFill>
                <a:latin typeface="Arial"/>
              </a:rPr>
              <a:t>   séjour</a:t>
            </a:r>
          </a:p>
          <a:p>
            <a:pPr algn="l">
              <a:spcAft>
                <a:spcPts val="500"/>
              </a:spcAft>
            </a:pPr>
            <a:r>
              <a:rPr sz="1500" b="1" i="0">
                <a:solidFill>
                  <a:srgbClr val="555B66"/>
                </a:solidFill>
                <a:latin typeface="Arial"/>
              </a:rPr>
              <a:t>Canaries</a:t>
            </a:r>
            <a:r>
              <a:rPr sz="1400" b="1" i="0">
                <a:solidFill>
                  <a:srgbClr val="111111"/>
                </a:solidFill>
                <a:latin typeface="Arial"/>
              </a:rPr>
              <a:t>   Baléares</a:t>
            </a:r>
          </a:p>
          <a:p>
            <a:pPr algn="l">
              <a:spcAft>
                <a:spcPts val="500"/>
              </a:spcAft>
            </a:pPr>
            <a:r>
              <a:rPr sz="1300" b="1" i="0">
                <a:solidFill>
                  <a:srgbClr val="EE6A2C"/>
                </a:solidFill>
                <a:latin typeface="Arial"/>
              </a:rPr>
              <a:t>tout compris</a:t>
            </a:r>
            <a:r>
              <a:rPr sz="1200" b="0" i="0">
                <a:solidFill>
                  <a:srgbClr val="555B66"/>
                </a:solidFill>
                <a:latin typeface="Arial"/>
              </a:rPr>
              <a:t>   club</a:t>
            </a:r>
            <a:r>
              <a:rPr sz="1200" b="1" i="0">
                <a:solidFill>
                  <a:srgbClr val="111111"/>
                </a:solidFill>
                <a:latin typeface="Arial"/>
              </a:rPr>
              <a:t>   soleil</a:t>
            </a:r>
          </a:p>
          <a:p>
            <a:pPr algn="l">
              <a:spcAft>
                <a:spcPts val="500"/>
              </a:spcAft>
            </a:pPr>
            <a:r>
              <a:rPr sz="1100" b="1" i="0">
                <a:solidFill>
                  <a:srgbClr val="EE6A2C"/>
                </a:solidFill>
                <a:latin typeface="Arial"/>
              </a:rPr>
              <a:t>Fuerteventura</a:t>
            </a:r>
            <a:r>
              <a:rPr sz="1100" b="1" i="0">
                <a:solidFill>
                  <a:srgbClr val="111111"/>
                </a:solidFill>
                <a:latin typeface="Arial"/>
              </a:rPr>
              <a:t>   Majorque</a:t>
            </a:r>
            <a:r>
              <a:rPr sz="1100" b="0" i="0">
                <a:solidFill>
                  <a:srgbClr val="555B66"/>
                </a:solidFill>
                <a:latin typeface="Arial"/>
              </a:rPr>
              <a:t>   Grèce</a:t>
            </a:r>
          </a:p>
          <a:p>
            <a:pPr algn="l">
              <a:spcAft>
                <a:spcPts val="500"/>
              </a:spcAft>
            </a:pPr>
            <a:r>
              <a:rPr sz="1100" b="1" i="0">
                <a:solidFill>
                  <a:srgbClr val="111111"/>
                </a:solidFill>
                <a:latin typeface="Arial"/>
              </a:rPr>
              <a:t>paiement en 4 fois</a:t>
            </a:r>
            <a:r>
              <a:rPr sz="1100" b="0" i="0">
                <a:solidFill>
                  <a:srgbClr val="555B66"/>
                </a:solidFill>
                <a:latin typeface="Arial"/>
              </a:rPr>
              <a:t>   plage</a:t>
            </a:r>
            <a:r>
              <a:rPr sz="1100" b="1" i="0">
                <a:solidFill>
                  <a:srgbClr val="EE6A2C"/>
                </a:solidFill>
                <a:latin typeface="Arial"/>
              </a:rPr>
              <a:t>   Dubaï</a:t>
            </a:r>
          </a:p>
          <a:p>
            <a:pPr algn="l">
              <a:spcAft>
                <a:spcPts val="500"/>
              </a:spcAft>
            </a:pPr>
            <a:r>
              <a:rPr sz="1100" b="1" i="0">
                <a:solidFill>
                  <a:srgbClr val="111111"/>
                </a:solidFill>
                <a:latin typeface="Arial"/>
              </a:rPr>
              <a:t>Tunisie</a:t>
            </a:r>
            <a:r>
              <a:rPr sz="1100" b="0" i="0">
                <a:solidFill>
                  <a:srgbClr val="555B66"/>
                </a:solidFill>
                <a:latin typeface="Arial"/>
              </a:rPr>
              <a:t>   petit prix</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Où partir au soleil en octobre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camping choisir pour des vacances en famille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séjour tout compris pour une famille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croisière choisir en Méditerranée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Peut-on payer un voyage en quatre fois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Campings et camping-cars · &lt; 1 %</a:t>
            </a:r>
          </a:p>
        </p:txBody>
      </p:sp>
      <p:sp>
        <p:nvSpPr>
          <p:cNvPr id="88" name="Rectangle 87"/>
          <p:cNvSpPr/>
          <p:nvPr/>
        </p:nvSpPr>
        <p:spPr>
          <a:xfrm>
            <a:off x="8077200" y="4626864"/>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08576"/>
            <a:ext cx="2225040" cy="152400"/>
          </a:xfrm>
          <a:prstGeom prst="rect">
            <a:avLst/>
          </a:prstGeom>
          <a:noFill/>
        </p:spPr>
        <p:txBody>
          <a:bodyPr wrap="square" anchor="t" lIns="0" rIns="0" tIns="0" bIns="0">
            <a:spAutoFit/>
          </a:bodyPr>
          <a:lstStyle/>
          <a:p>
            <a:pPr algn="l"/>
            <a:r>
              <a:rPr sz="1000" b="0" i="0">
                <a:solidFill>
                  <a:srgbClr val="111111"/>
                </a:solidFill>
                <a:latin typeface="Arial"/>
              </a:rPr>
              <a:t>Hôtels et hébergements · 89 %</a:t>
            </a:r>
          </a:p>
        </p:txBody>
      </p:sp>
      <p:sp>
        <p:nvSpPr>
          <p:cNvPr id="90" name="Rectangle 89"/>
          <p:cNvSpPr/>
          <p:nvPr/>
        </p:nvSpPr>
        <p:spPr>
          <a:xfrm>
            <a:off x="8077200" y="4846320"/>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828032"/>
            <a:ext cx="2225040" cy="152400"/>
          </a:xfrm>
          <a:prstGeom prst="rect">
            <a:avLst/>
          </a:prstGeom>
          <a:noFill/>
        </p:spPr>
        <p:txBody>
          <a:bodyPr wrap="square" anchor="t" lIns="0" rIns="0" tIns="0" bIns="0">
            <a:spAutoFit/>
          </a:bodyPr>
          <a:lstStyle/>
          <a:p>
            <a:pPr algn="l"/>
            <a:r>
              <a:rPr sz="800" b="0" i="0">
                <a:solidFill>
                  <a:srgbClr val="111111"/>
                </a:solidFill>
                <a:latin typeface="Arial"/>
              </a:rPr>
              <a:t>Croisières, ferries et trains · &lt; 1 %</a:t>
            </a:r>
          </a:p>
        </p:txBody>
      </p:sp>
      <p:sp>
        <p:nvSpPr>
          <p:cNvPr id="92" name="Rectangle 91"/>
          <p:cNvSpPr/>
          <p:nvPr/>
        </p:nvSpPr>
        <p:spPr>
          <a:xfrm>
            <a:off x="8077200" y="5065776"/>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047488"/>
            <a:ext cx="2225040" cy="152400"/>
          </a:xfrm>
          <a:prstGeom prst="rect">
            <a:avLst/>
          </a:prstGeom>
          <a:noFill/>
        </p:spPr>
        <p:txBody>
          <a:bodyPr wrap="square" anchor="t" lIns="0" rIns="0" tIns="0" bIns="0">
            <a:spAutoFit/>
          </a:bodyPr>
          <a:lstStyle/>
          <a:p>
            <a:pPr algn="l"/>
            <a:r>
              <a:rPr sz="1000" b="0" i="0">
                <a:solidFill>
                  <a:srgbClr val="111111"/>
                </a:solidFill>
                <a:latin typeface="Arial"/>
              </a:rPr>
              <a:t>Séjours tout compris · 11 %</a:t>
            </a:r>
          </a:p>
        </p:txBody>
      </p:sp>
      <p:sp>
        <p:nvSpPr>
          <p:cNvPr id="94" name="Rectangle 93"/>
          <p:cNvSpPr/>
          <p:nvPr/>
        </p:nvSpPr>
        <p:spPr>
          <a:xfrm>
            <a:off x="8077200" y="5285232"/>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266944"/>
            <a:ext cx="2225040" cy="152400"/>
          </a:xfrm>
          <a:prstGeom prst="rect">
            <a:avLst/>
          </a:prstGeom>
          <a:noFill/>
        </p:spPr>
        <p:txBody>
          <a:bodyPr wrap="square" anchor="t" lIns="0" rIns="0" tIns="0" bIns="0">
            <a:spAutoFit/>
          </a:bodyPr>
          <a:lstStyle/>
          <a:p>
            <a:pPr algn="l"/>
            <a:r>
              <a:rPr sz="800" b="0" i="0">
                <a:solidFill>
                  <a:srgbClr val="111111"/>
                </a:solidFill>
                <a:latin typeface="Arial"/>
              </a:rPr>
              <a:t>Parcs et séjours en famille · &lt; 1 %</a:t>
            </a:r>
          </a:p>
        </p:txBody>
      </p:sp>
      <p:sp>
        <p:nvSpPr>
          <p:cNvPr id="96" name="Rectangle 95"/>
          <p:cNvSpPr/>
          <p:nvPr/>
        </p:nvSpPr>
        <p:spPr>
          <a:xfrm>
            <a:off x="8077200" y="550468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486400"/>
            <a:ext cx="2225040" cy="152400"/>
          </a:xfrm>
          <a:prstGeom prst="rect">
            <a:avLst/>
          </a:prstGeom>
          <a:noFill/>
        </p:spPr>
        <p:txBody>
          <a:bodyPr wrap="square" anchor="t" lIns="0" rIns="0" tIns="0" bIns="0">
            <a:spAutoFit/>
          </a:bodyPr>
          <a:lstStyle/>
          <a:p>
            <a:pPr algn="l"/>
            <a:r>
              <a:rPr sz="1000" b="0" i="0">
                <a:solidFill>
                  <a:srgbClr val="111111"/>
                </a:solidFill>
                <a:latin typeface="Arial"/>
              </a:rPr>
              <a:t>Vols et billets d'avion · &lt; 1 %</a:t>
            </a:r>
          </a:p>
        </p:txBody>
      </p:sp>
      <p:sp>
        <p:nvSpPr>
          <p:cNvPr id="98" name="Rectangle 97"/>
          <p:cNvSpPr/>
          <p:nvPr/>
        </p:nvSpPr>
        <p:spPr>
          <a:xfrm>
            <a:off x="8077200" y="5724144"/>
            <a:ext cx="121920" cy="121920"/>
          </a:xfrm>
          <a:prstGeom prst="rect">
            <a:avLst/>
          </a:prstGeom>
          <a:solidFill>
            <a:srgbClr val="8CB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296656" y="5705856"/>
            <a:ext cx="2225040" cy="152400"/>
          </a:xfrm>
          <a:prstGeom prst="rect">
            <a:avLst/>
          </a:prstGeom>
          <a:noFill/>
        </p:spPr>
        <p:txBody>
          <a:bodyPr wrap="square" anchor="t" lIns="0" rIns="0" tIns="0" bIns="0">
            <a:spAutoFit/>
          </a:bodyPr>
          <a:lstStyle/>
          <a:p>
            <a:pPr algn="l"/>
            <a:r>
              <a:rPr sz="1000" b="0" i="0">
                <a:solidFill>
                  <a:srgbClr val="111111"/>
                </a:solidFill>
                <a:latin typeface="Arial"/>
              </a:rPr>
              <a:t>Bien-être et thalasso · &lt; 1 %</a:t>
            </a:r>
          </a:p>
        </p:txBody>
      </p:sp>
      <p:sp>
        <p:nvSpPr>
          <p:cNvPr id="100" name="Rectangle 99"/>
          <p:cNvSpPr/>
          <p:nvPr/>
        </p:nvSpPr>
        <p:spPr>
          <a:xfrm>
            <a:off x="10564368" y="4450080"/>
            <a:ext cx="475488" cy="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564368" y="4450080"/>
            <a:ext cx="475488" cy="1193596"/>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0564368" y="4450080"/>
            <a:ext cx="475488" cy="1193596"/>
          </a:xfrm>
          <a:prstGeom prst="rect">
            <a:avLst/>
          </a:prstGeom>
          <a:noFill/>
        </p:spPr>
        <p:txBody>
          <a:bodyPr wrap="square" anchor="ctr" lIns="0" rIns="0" tIns="0" bIns="0">
            <a:spAutoFit/>
          </a:bodyPr>
          <a:lstStyle/>
          <a:p>
            <a:pPr algn="ctr"/>
            <a:r>
              <a:rPr sz="1000" b="1" i="0">
                <a:solidFill>
                  <a:srgbClr val="FFFFFF"/>
                </a:solidFill>
                <a:latin typeface="Arial"/>
              </a:rPr>
              <a:t>89 %</a:t>
            </a:r>
          </a:p>
        </p:txBody>
      </p:sp>
      <p:sp>
        <p:nvSpPr>
          <p:cNvPr id="103" name="Rectangle 102"/>
          <p:cNvSpPr/>
          <p:nvPr/>
        </p:nvSpPr>
        <p:spPr>
          <a:xfrm>
            <a:off x="10564368" y="5643676"/>
            <a:ext cx="475488" cy="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564368" y="5643676"/>
            <a:ext cx="475488" cy="147523"/>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564368" y="5791200"/>
            <a:ext cx="475488" cy="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564368" y="5791200"/>
            <a:ext cx="475488" cy="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564368" y="5791200"/>
            <a:ext cx="475488" cy="0"/>
          </a:xfrm>
          <a:prstGeom prst="rect">
            <a:avLst/>
          </a:prstGeom>
          <a:solidFill>
            <a:srgbClr val="8CB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Séjours</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Atteindre un ROI de 12 pour un CA de 30 k€.</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une destination précise</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qui décrivent un hôtel et sa destination (Fuerteventura, Majorque, Grèce, Dubaï) atteignent jusqu'à 1,23 fois le CTR moyen.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Construire chaque annonce autour d'un lieu et de ce qu'on y vit.</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L'annonce générique sous-performe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Séjour pas cher – Paiement en 4x » reste à 0,86 fois la moyenne.</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Garder le paiement en 4x comme argument secondaire, après la destination.</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Canaries et les Baléares portent la campagne</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Canaries et les Baléares représentent 29 % de la diffusion, avec des CTR au-dessus de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Préparer les séjours soleil d'hiver (Canaries, Égypte, Dubaï) pour la Toussaint et Noël.</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Des réservations en hausse</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4 réservations pour 1 119 € de GMV. Le ROAS passe de 0,82 à 1,30.</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Concentrer le budget sur les offres qui convertissent.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Vols</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1 855 410</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+92 %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10 029 893</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9 406</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+455 %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21 694</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0,51 %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+0,33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0,22 %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0,00 %</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communiquées via Awin, à titre indicatif. Elles seront consolidées dès l'intégration du Conversion Tracker.</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billet d'avion</a:t>
            </a:r>
            <a:r>
              <a:rPr sz="1800" b="1" i="0">
                <a:solidFill>
                  <a:srgbClr val="111111"/>
                </a:solidFill>
                <a:latin typeface="Arial"/>
              </a:rPr>
              <a:t>   vol direct</a:t>
            </a:r>
          </a:p>
          <a:p>
            <a:pPr algn="l">
              <a:spcAft>
                <a:spcPts val="500"/>
              </a:spcAft>
            </a:pPr>
            <a:r>
              <a:rPr sz="1500" b="1" i="0">
                <a:solidFill>
                  <a:srgbClr val="555B66"/>
                </a:solidFill>
                <a:latin typeface="Arial"/>
              </a:rPr>
              <a:t>Afrique</a:t>
            </a:r>
            <a:r>
              <a:rPr sz="1400" b="1" i="0">
                <a:solidFill>
                  <a:srgbClr val="111111"/>
                </a:solidFill>
                <a:latin typeface="Arial"/>
              </a:rPr>
              <a:t>   Maghreb</a:t>
            </a:r>
          </a:p>
          <a:p>
            <a:pPr algn="l">
              <a:spcAft>
                <a:spcPts val="500"/>
              </a:spcAft>
            </a:pPr>
            <a:r>
              <a:rPr sz="1300" b="1" i="0">
                <a:solidFill>
                  <a:srgbClr val="EE6A2C"/>
                </a:solidFill>
                <a:latin typeface="Arial"/>
              </a:rPr>
              <a:t>Abidjan</a:t>
            </a:r>
            <a:r>
              <a:rPr sz="1200" b="0" i="0">
                <a:solidFill>
                  <a:srgbClr val="555B66"/>
                </a:solidFill>
                <a:latin typeface="Arial"/>
              </a:rPr>
              <a:t>   Thaïlande</a:t>
            </a:r>
            <a:r>
              <a:rPr sz="1200" b="1" i="0">
                <a:solidFill>
                  <a:srgbClr val="111111"/>
                </a:solidFill>
                <a:latin typeface="Arial"/>
              </a:rPr>
              <a:t>   Bali</a:t>
            </a:r>
          </a:p>
          <a:p>
            <a:pPr algn="l">
              <a:spcAft>
                <a:spcPts val="500"/>
              </a:spcAft>
            </a:pPr>
            <a:r>
              <a:rPr sz="1100" b="1" i="0">
                <a:solidFill>
                  <a:srgbClr val="EE6A2C"/>
                </a:solidFill>
                <a:latin typeface="Arial"/>
              </a:rPr>
              <a:t>Martinique</a:t>
            </a:r>
            <a:r>
              <a:rPr sz="1100" b="1" i="0">
                <a:solidFill>
                  <a:srgbClr val="111111"/>
                </a:solidFill>
                <a:latin typeface="Arial"/>
              </a:rPr>
              <a:t>   Guadeloupe</a:t>
            </a:r>
            <a:r>
              <a:rPr sz="1100" b="0" i="0">
                <a:solidFill>
                  <a:srgbClr val="555B66"/>
                </a:solidFill>
                <a:latin typeface="Arial"/>
              </a:rPr>
              <a:t>   Lanzarote</a:t>
            </a:r>
          </a:p>
          <a:p>
            <a:pPr algn="l">
              <a:spcAft>
                <a:spcPts val="500"/>
              </a:spcAft>
            </a:pPr>
            <a:r>
              <a:rPr sz="1100" b="1" i="0">
                <a:solidFill>
                  <a:srgbClr val="111111"/>
                </a:solidFill>
                <a:latin typeface="Arial"/>
              </a:rPr>
              <a:t>paiement en 4 fois</a:t>
            </a:r>
            <a:r>
              <a:rPr sz="1100" b="0" i="0">
                <a:solidFill>
                  <a:srgbClr val="555B66"/>
                </a:solidFill>
                <a:latin typeface="Arial"/>
              </a:rPr>
              <a:t>   prix bas</a:t>
            </a:r>
            <a:r>
              <a:rPr sz="1100" b="1" i="0">
                <a:solidFill>
                  <a:srgbClr val="EE6A2C"/>
                </a:solidFill>
                <a:latin typeface="Arial"/>
              </a:rPr>
              <a:t>   Lyon</a:t>
            </a:r>
          </a:p>
          <a:p>
            <a:pPr algn="l">
              <a:spcAft>
                <a:spcPts val="500"/>
              </a:spcAft>
            </a:pPr>
            <a:r>
              <a:rPr sz="1100" b="1" i="0">
                <a:solidFill>
                  <a:srgbClr val="111111"/>
                </a:solidFill>
                <a:latin typeface="Arial"/>
              </a:rPr>
              <a:t>Nice</a:t>
            </a:r>
            <a:r>
              <a:rPr sz="1100" b="0" i="0">
                <a:solidFill>
                  <a:srgbClr val="555B66"/>
                </a:solidFill>
                <a:latin typeface="Arial"/>
              </a:rPr>
              <a:t>   Marseille</a:t>
            </a:r>
            <a:r>
              <a:rPr sz="1100" b="1" i="0">
                <a:solidFill>
                  <a:srgbClr val="EE6A2C"/>
                </a:solidFill>
                <a:latin typeface="Arial"/>
              </a:rPr>
              <a:t>   Islande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vol direct choisir entre Paris et Lisbonne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Quels vols au départ de Marseille vers Abidjan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Existe-t-il un vol direct entre Paris et Fort-de-France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Où trouver un aller-retour Paris – Nice à un bon prix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destination pour un week-end en Europe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Recherche générique</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Outre-mer et Caraïbes · 8 %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Europe et city breaks · 8 %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Afrique du Nord et Afrique · 25 %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800" b="0" i="0">
                <a:solidFill>
                  <a:srgbClr val="111111"/>
                </a:solidFill>
                <a:latin typeface="Arial"/>
              </a:rPr>
              <a:t>Long-courrier international · 33 %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France métropolitaine · &lt; 1 %</a:t>
            </a:r>
          </a:p>
        </p:txBody>
      </p:sp>
      <p:sp>
        <p:nvSpPr>
          <p:cNvPr id="98" name="Rectangle 97"/>
          <p:cNvSpPr/>
          <p:nvPr/>
        </p:nvSpPr>
        <p:spPr>
          <a:xfrm>
            <a:off x="10564368" y="4450080"/>
            <a:ext cx="475488" cy="348691"/>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64368" y="4450080"/>
            <a:ext cx="475488" cy="348691"/>
          </a:xfrm>
          <a:prstGeom prst="rect">
            <a:avLst/>
          </a:prstGeom>
          <a:noFill/>
        </p:spPr>
        <p:txBody>
          <a:bodyPr wrap="square" anchor="ctr" lIns="0" rIns="0" tIns="0" bIns="0">
            <a:spAutoFit/>
          </a:bodyPr>
          <a:lstStyle/>
          <a:p>
            <a:pPr algn="ctr"/>
            <a:r>
              <a:rPr sz="1000" b="1" i="0">
                <a:solidFill>
                  <a:srgbClr val="FFFFFF"/>
                </a:solidFill>
                <a:latin typeface="Arial"/>
              </a:rPr>
              <a:t>26 %</a:t>
            </a:r>
          </a:p>
        </p:txBody>
      </p:sp>
      <p:sp>
        <p:nvSpPr>
          <p:cNvPr id="100" name="Rectangle 99"/>
          <p:cNvSpPr/>
          <p:nvPr/>
        </p:nvSpPr>
        <p:spPr>
          <a:xfrm>
            <a:off x="10564368" y="4798771"/>
            <a:ext cx="475488" cy="107289"/>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564368" y="4906060"/>
            <a:ext cx="475488" cy="107289"/>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564368" y="5013350"/>
            <a:ext cx="475488" cy="33528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564368" y="5013350"/>
            <a:ext cx="475488" cy="335280"/>
          </a:xfrm>
          <a:prstGeom prst="rect">
            <a:avLst/>
          </a:prstGeom>
          <a:noFill/>
        </p:spPr>
        <p:txBody>
          <a:bodyPr wrap="square" anchor="ctr" lIns="0" rIns="0" tIns="0" bIns="0">
            <a:spAutoFit/>
          </a:bodyPr>
          <a:lstStyle/>
          <a:p>
            <a:pPr algn="ctr"/>
            <a:r>
              <a:rPr sz="1000" b="1" i="0">
                <a:solidFill>
                  <a:srgbClr val="FFFFFF"/>
                </a:solidFill>
                <a:latin typeface="Arial"/>
              </a:rPr>
              <a:t>25 %</a:t>
            </a:r>
          </a:p>
        </p:txBody>
      </p:sp>
      <p:sp>
        <p:nvSpPr>
          <p:cNvPr id="104" name="Rectangle 103"/>
          <p:cNvSpPr/>
          <p:nvPr/>
        </p:nvSpPr>
        <p:spPr>
          <a:xfrm>
            <a:off x="10564368" y="5348630"/>
            <a:ext cx="475488" cy="442569"/>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564368" y="5348630"/>
            <a:ext cx="475488" cy="442569"/>
          </a:xfrm>
          <a:prstGeom prst="rect">
            <a:avLst/>
          </a:prstGeom>
          <a:noFill/>
        </p:spPr>
        <p:txBody>
          <a:bodyPr wrap="square" anchor="ctr" lIns="0" rIns="0" tIns="0" bIns="0">
            <a:spAutoFit/>
          </a:bodyPr>
          <a:lstStyle/>
          <a:p>
            <a:pPr algn="ctr"/>
            <a:r>
              <a:rPr sz="1000" b="1" i="0">
                <a:solidFill>
                  <a:srgbClr val="FFFFFF"/>
                </a:solidFill>
                <a:latin typeface="Arial"/>
              </a:rPr>
              <a:t>33 %</a:t>
            </a:r>
          </a:p>
        </p:txBody>
      </p:sp>
      <p:sp>
        <p:nvSpPr>
          <p:cNvPr id="106" name="Rectangle 105"/>
          <p:cNvSpPr/>
          <p:nvPr/>
        </p:nvSpPr>
        <p:spPr>
          <a:xfrm>
            <a:off x="10564368" y="5791200"/>
            <a:ext cx="475488" cy="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Vols</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Atteindre un ROI de 35 pour un CA de 87 k€.</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vols vers l'Afrique cliquent le mieux</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vols Paris – Afrique et Maghreb atteignent 1,06 fois le CTR moyen, et Lyon – Abidjan 1,15 fois.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Renforcer les liaisons vers l'Afrique et le Maghreb.</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une destination plutôt qu'un prix</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 destinations tendances » atteignent 1,08 fois la moyenne. Les vols court-courriers vers l'Europe restent à 0,94 fois.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chaque annonce à une destination qui fait envie.</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l'Outre-mer</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vols vers les DOM-TOM restent à 0,58 fois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des accroches vacances de fin d'année pour la Martinique et la Guadeloupe.</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Aucune réservation attribuée</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Aucune conversion n'est remontée par Awin en septembre malgré 9 406 clics.</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Vérifier le tracking Awin et le parcours jusqu'à la réservation.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Dorel</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392 251</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+60 %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954 461</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1 990</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+247 %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3 100</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0,51 %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+0,27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0,32 %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mesurées par Cdiscount, non intégrées à ce rapport. Elles apparaîtront ici dès l'intégration du Conversion Tracker.</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poussette</a:t>
            </a:r>
            <a:r>
              <a:rPr sz="1600" b="1" i="0">
                <a:solidFill>
                  <a:srgbClr val="111111"/>
                </a:solidFill>
                <a:latin typeface="Arial"/>
              </a:rPr>
              <a:t>   siège auto</a:t>
            </a:r>
          </a:p>
          <a:p>
            <a:pPr algn="l">
              <a:spcAft>
                <a:spcPts val="500"/>
              </a:spcAft>
            </a:pPr>
            <a:r>
              <a:rPr sz="1500" b="1" i="0">
                <a:solidFill>
                  <a:srgbClr val="555B66"/>
                </a:solidFill>
                <a:latin typeface="Arial"/>
              </a:rPr>
              <a:t>naissance</a:t>
            </a:r>
            <a:r>
              <a:rPr sz="1400" b="1" i="0">
                <a:solidFill>
                  <a:srgbClr val="111111"/>
                </a:solidFill>
                <a:latin typeface="Arial"/>
              </a:rPr>
              <a:t>   couches</a:t>
            </a:r>
          </a:p>
          <a:p>
            <a:pPr algn="l">
              <a:spcAft>
                <a:spcPts val="500"/>
              </a:spcAft>
            </a:pPr>
            <a:r>
              <a:rPr sz="1300" b="1" i="0">
                <a:solidFill>
                  <a:srgbClr val="EE6A2C"/>
                </a:solidFill>
                <a:latin typeface="Arial"/>
              </a:rPr>
              <a:t>biberons</a:t>
            </a:r>
            <a:r>
              <a:rPr sz="1200" b="0" i="0">
                <a:solidFill>
                  <a:srgbClr val="555B66"/>
                </a:solidFill>
                <a:latin typeface="Arial"/>
              </a:rPr>
              <a:t>   porte d'embarquement</a:t>
            </a:r>
          </a:p>
          <a:p>
            <a:pPr algn="l">
              <a:spcAft>
                <a:spcPts val="500"/>
              </a:spcAft>
            </a:pPr>
            <a:r>
              <a:rPr sz="1100" b="1" i="0">
                <a:solidFill>
                  <a:srgbClr val="EE6A2C"/>
                </a:solidFill>
                <a:latin typeface="Arial"/>
              </a:rPr>
              <a:t>nouveau-né</a:t>
            </a:r>
            <a:r>
              <a:rPr sz="1100" b="1" i="0">
                <a:solidFill>
                  <a:srgbClr val="111111"/>
                </a:solidFill>
                <a:latin typeface="Arial"/>
              </a:rPr>
              <a:t>   indispensable</a:t>
            </a:r>
          </a:p>
          <a:p>
            <a:pPr algn="l">
              <a:spcAft>
                <a:spcPts val="500"/>
              </a:spcAft>
            </a:pPr>
            <a:r>
              <a:rPr sz="1100" b="1" i="0">
                <a:solidFill>
                  <a:srgbClr val="111111"/>
                </a:solidFill>
                <a:latin typeface="Arial"/>
              </a:rPr>
              <a:t>tétine</a:t>
            </a:r>
            <a:r>
              <a:rPr sz="1100" b="0" i="0">
                <a:solidFill>
                  <a:srgbClr val="555B66"/>
                </a:solidFill>
                <a:latin typeface="Arial"/>
              </a:rPr>
              <a:t>   cadeau</a:t>
            </a:r>
            <a:r>
              <a:rPr sz="1100" b="1" i="0">
                <a:solidFill>
                  <a:srgbClr val="EE6A2C"/>
                </a:solidFill>
                <a:latin typeface="Arial"/>
              </a:rPr>
              <a:t>   vacances</a:t>
            </a:r>
          </a:p>
          <a:p>
            <a:pPr algn="l">
              <a:spcAft>
                <a:spcPts val="500"/>
              </a:spcAft>
            </a:pPr>
            <a:r>
              <a:rPr sz="1100" b="1" i="0">
                <a:solidFill>
                  <a:srgbClr val="111111"/>
                </a:solidFill>
                <a:latin typeface="Arial"/>
              </a:rPr>
              <a:t>Cybex</a:t>
            </a:r>
            <a:r>
              <a:rPr sz="1100" b="0" i="0">
                <a:solidFill>
                  <a:srgbClr val="555B66"/>
                </a:solidFill>
                <a:latin typeface="Arial"/>
              </a:rPr>
              <a:t>   Joie</a:t>
            </a:r>
            <a:r>
              <a:rPr sz="1100" b="0" i="0">
                <a:solidFill>
                  <a:srgbClr val="111111"/>
                </a:solidFill>
                <a:latin typeface="Arial"/>
              </a:rPr>
              <a:t>   Stokke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siège auto choisir pour un enfant de 4 ans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siège pivotant facilite l'installation d'un bébé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poussette compacte se plie d'une seule main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lit parapluie choisir pour partir en week-end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barrière d'escalier installer sans percer le mur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Sièges auto et rehausseurs · 4 %</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Sommeil et voyage · 11 %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Poussettes et mobilité · 6 %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Sécurité de la maison · 62 %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Repas, soin et toilette · 4 %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Éveil et confort · 13 %</a:t>
            </a:r>
          </a:p>
        </p:txBody>
      </p:sp>
      <p:sp>
        <p:nvSpPr>
          <p:cNvPr id="98" name="Rectangle 97"/>
          <p:cNvSpPr/>
          <p:nvPr/>
        </p:nvSpPr>
        <p:spPr>
          <a:xfrm>
            <a:off x="10564368" y="4450080"/>
            <a:ext cx="475488" cy="53644"/>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4503724"/>
            <a:ext cx="475488" cy="147523"/>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564368" y="4651248"/>
            <a:ext cx="475488" cy="80467"/>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564368" y="4731715"/>
            <a:ext cx="475488" cy="83149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0564368" y="4731715"/>
            <a:ext cx="475488" cy="831494"/>
          </a:xfrm>
          <a:prstGeom prst="rect">
            <a:avLst/>
          </a:prstGeom>
          <a:noFill/>
        </p:spPr>
        <p:txBody>
          <a:bodyPr wrap="square" anchor="ctr" lIns="0" rIns="0" tIns="0" bIns="0">
            <a:spAutoFit/>
          </a:bodyPr>
          <a:lstStyle/>
          <a:p>
            <a:pPr algn="ctr"/>
            <a:r>
              <a:rPr sz="1000" b="1" i="0">
                <a:solidFill>
                  <a:srgbClr val="FFFFFF"/>
                </a:solidFill>
                <a:latin typeface="Arial"/>
              </a:rPr>
              <a:t>62 %</a:t>
            </a:r>
          </a:p>
        </p:txBody>
      </p:sp>
      <p:sp>
        <p:nvSpPr>
          <p:cNvPr id="103" name="Rectangle 102"/>
          <p:cNvSpPr/>
          <p:nvPr/>
        </p:nvSpPr>
        <p:spPr>
          <a:xfrm>
            <a:off x="10564368" y="5563209"/>
            <a:ext cx="475488" cy="53644"/>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564368" y="5616854"/>
            <a:ext cx="475488" cy="174345"/>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Dorel</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jeux d'éveil cliquent le plus</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tapis d'éveil Gymini Tiny Love atteint 9,2 fois le CTR moyen, et le groupe jeux d'éveil 4,05 fois. Ils ne représentent pourtant que 3 % de la diffusion.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Augmenter fortement la part des jeux et tapis d'éveil dans la diffusion.</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Afficher le prix dans l'annonce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avec un prix précis (tapis à 69,63 €, trotteur à 44,99 €) font partie des meilleures.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Indiquer le prix et la livraison offerte dans les accroches.</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 mobilier et le sommeil</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 chaise haute Lily (0,36 fois), le siège auto EvoluFix (0,46 fois) et le lit parapluie (0,50 fois) restent nettement sous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ces produits à un moment concret (premier repas, départ en vacances).</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Un CTR qui double</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sont multipliés par 3,5 (1 990) pour 60 % d'impressions en plus. Le CTR passe de 0,23 % à 0,51 %.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Concentrer le budget sur l'éveil et la sécurité de la maison.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Sécurité Routière</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374 204</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374 204</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1 591</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1 591</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0,43 %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0,43 %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Campagne mesurée au clic : </a:t>
            </a:r>
            <a:r>
              <a:rPr sz="900" b="0" i="0">
                <a:solidFill>
                  <a:srgbClr val="555B66"/>
                </a:solidFill>
                <a:latin typeface="Arial"/>
              </a:rPr>
              <a:t>pas de suivi de conversion prévu.</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conduite accompagnée</a:t>
            </a:r>
            <a:r>
              <a:rPr sz="1600" b="1" i="0">
                <a:solidFill>
                  <a:srgbClr val="111111"/>
                </a:solidFill>
                <a:latin typeface="Arial"/>
              </a:rPr>
              <a:t>   permis</a:t>
            </a:r>
          </a:p>
          <a:p>
            <a:pPr algn="l">
              <a:spcAft>
                <a:spcPts val="500"/>
              </a:spcAft>
            </a:pPr>
            <a:r>
              <a:rPr sz="1500" b="1" i="0">
                <a:solidFill>
                  <a:srgbClr val="555B66"/>
                </a:solidFill>
                <a:latin typeface="Arial"/>
              </a:rPr>
              <a:t>achat d'une voiture</a:t>
            </a:r>
            <a:r>
              <a:rPr sz="1400" b="1" i="0">
                <a:solidFill>
                  <a:srgbClr val="111111"/>
                </a:solidFill>
                <a:latin typeface="Arial"/>
              </a:rPr>
              <a:t>   15 ans</a:t>
            </a:r>
          </a:p>
          <a:p>
            <a:pPr algn="l">
              <a:spcAft>
                <a:spcPts val="500"/>
              </a:spcAft>
            </a:pPr>
            <a:r>
              <a:rPr sz="1300" b="1" i="0">
                <a:solidFill>
                  <a:srgbClr val="EE6A2C"/>
                </a:solidFill>
                <a:latin typeface="Arial"/>
              </a:rPr>
              <a:t>vie en van</a:t>
            </a:r>
            <a:r>
              <a:rPr sz="1200" b="0" i="0">
                <a:solidFill>
                  <a:srgbClr val="555B66"/>
                </a:solidFill>
                <a:latin typeface="Arial"/>
              </a:rPr>
              <a:t>   vacances</a:t>
            </a:r>
          </a:p>
          <a:p>
            <a:pPr algn="l">
              <a:spcAft>
                <a:spcPts val="500"/>
              </a:spcAft>
            </a:pPr>
            <a:r>
              <a:rPr sz="1100" b="1" i="0">
                <a:solidFill>
                  <a:srgbClr val="EE6A2C"/>
                </a:solidFill>
                <a:latin typeface="Arial"/>
              </a:rPr>
              <a:t>auto-école</a:t>
            </a:r>
            <a:r>
              <a:rPr sz="1100" b="1" i="0">
                <a:solidFill>
                  <a:srgbClr val="111111"/>
                </a:solidFill>
                <a:latin typeface="Arial"/>
              </a:rPr>
              <a:t>   3 000 km</a:t>
            </a:r>
          </a:p>
          <a:p>
            <a:pPr algn="l">
              <a:spcAft>
                <a:spcPts val="500"/>
              </a:spcAft>
            </a:pPr>
            <a:r>
              <a:rPr sz="1100" b="1" i="0">
                <a:solidFill>
                  <a:srgbClr val="111111"/>
                </a:solidFill>
                <a:latin typeface="Arial"/>
              </a:rPr>
              <a:t>raid en montagne</a:t>
            </a:r>
            <a:r>
              <a:rPr sz="1100" b="0" i="0">
                <a:solidFill>
                  <a:srgbClr val="555B66"/>
                </a:solidFill>
                <a:latin typeface="Arial"/>
              </a:rPr>
              <a:t>   accident</a:t>
            </a:r>
          </a:p>
          <a:p>
            <a:pPr algn="l">
              <a:spcAft>
                <a:spcPts val="500"/>
              </a:spcAft>
            </a:pPr>
            <a:r>
              <a:rPr sz="1100" b="1" i="0">
                <a:solidFill>
                  <a:srgbClr val="111111"/>
                </a:solidFill>
                <a:latin typeface="Arial"/>
              </a:rPr>
              <a:t>prévention</a:t>
            </a:r>
            <a:r>
              <a:rPr sz="1100" b="0" i="0">
                <a:solidFill>
                  <a:srgbClr val="555B66"/>
                </a:solidFill>
                <a:latin typeface="Arial"/>
              </a:rPr>
              <a:t>   sécurité</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À compléter : le rapport d'insights ne fournit pas d'exemples de requêtes pour la Sécurité Routière</a:t>
            </a:r>
          </a:p>
        </p:txBody>
      </p:sp>
      <p:sp>
        <p:nvSpPr>
          <p:cNvPr id="71" name="TextBox 70"/>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MOMENTS DE VIE</a:t>
            </a:r>
          </a:p>
        </p:txBody>
      </p:sp>
      <p:sp>
        <p:nvSpPr>
          <p:cNvPr id="72" name="TextBox 71"/>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Conversations déclenchées par un événement</a:t>
            </a:r>
          </a:p>
        </p:txBody>
      </p:sp>
      <p:sp>
        <p:nvSpPr>
          <p:cNvPr id="73" name="TextBox 72"/>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74" name="Rectangle 73"/>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Achat d'une voiture</a:t>
            </a:r>
          </a:p>
        </p:txBody>
      </p:sp>
      <p:sp>
        <p:nvSpPr>
          <p:cNvPr id="76" name="Rectangle 75"/>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Vie en van · 17 %</a:t>
            </a:r>
          </a:p>
        </p:txBody>
      </p:sp>
      <p:sp>
        <p:nvSpPr>
          <p:cNvPr id="78" name="Rectangle 77"/>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Départ en vacances · 17 %</a:t>
            </a:r>
          </a:p>
        </p:txBody>
      </p:sp>
      <p:sp>
        <p:nvSpPr>
          <p:cNvPr id="80" name="Rectangle 79"/>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Raid en montagne · 12 %</a:t>
            </a:r>
          </a:p>
        </p:txBody>
      </p:sp>
      <p:sp>
        <p:nvSpPr>
          <p:cNvPr id="82" name="Rectangle 81"/>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Événement automobile · 6 %</a:t>
            </a:r>
          </a:p>
        </p:txBody>
      </p:sp>
      <p:sp>
        <p:nvSpPr>
          <p:cNvPr id="84" name="Rectangle 83"/>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Accident de voiture · 7 %</a:t>
            </a:r>
          </a:p>
        </p:txBody>
      </p:sp>
      <p:sp>
        <p:nvSpPr>
          <p:cNvPr id="86" name="Rectangle 85"/>
          <p:cNvSpPr/>
          <p:nvPr/>
        </p:nvSpPr>
        <p:spPr>
          <a:xfrm>
            <a:off x="10564368" y="4450080"/>
            <a:ext cx="475488" cy="549859"/>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564368" y="4450080"/>
            <a:ext cx="475488" cy="549859"/>
          </a:xfrm>
          <a:prstGeom prst="rect">
            <a:avLst/>
          </a:prstGeom>
          <a:noFill/>
        </p:spPr>
        <p:txBody>
          <a:bodyPr wrap="square" anchor="ctr" lIns="0" rIns="0" tIns="0" bIns="0">
            <a:spAutoFit/>
          </a:bodyPr>
          <a:lstStyle/>
          <a:p>
            <a:pPr algn="ctr"/>
            <a:r>
              <a:rPr sz="1000" b="1" i="0">
                <a:solidFill>
                  <a:srgbClr val="FFFFFF"/>
                </a:solidFill>
                <a:latin typeface="Arial"/>
              </a:rPr>
              <a:t>41 %</a:t>
            </a:r>
          </a:p>
        </p:txBody>
      </p:sp>
      <p:sp>
        <p:nvSpPr>
          <p:cNvPr id="88" name="Rectangle 87"/>
          <p:cNvSpPr/>
          <p:nvPr/>
        </p:nvSpPr>
        <p:spPr>
          <a:xfrm>
            <a:off x="10564368" y="4999939"/>
            <a:ext cx="475488" cy="22799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10564368" y="5227929"/>
            <a:ext cx="475488" cy="22799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0564368" y="5455920"/>
            <a:ext cx="475488" cy="16093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564368" y="5616854"/>
            <a:ext cx="475488" cy="80467"/>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564368" y="5697321"/>
            <a:ext cx="475488" cy="93878"/>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Sécurité Routière</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un chiffre dans le titre</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titre met en avant l'âge (« 15 ans, c'est le bon moment ») ; les bénéfices chiffrés (3 000 km au volant) ne figurent que dans la description.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un titre avec un bénéfice chiffré : « 3 000 km au volant avant le permis ».</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Une seule annonce diffusée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Toute la campagne repose sur l'annonce « Conduite accompagnée : 15 ans, c'est le bon moment », qui génère 1 591 clics pour un CTR de 0,43 %.</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Ajouter des annonces variées (parents, économies, réussite au permis) pour identifier les messages qui cliquent le plus.</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aux parents</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bénéfices de l'annonce (3 000 km au volant, meilleurs résultats au permis, moins d'accidents, moins cher) s'adressent surtout aux parents.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une version dédiée aux parents et une version dédiée aux jeunes de 15 ans.</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Premier mois de diffusion</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 campagne génère 374 204 impressions et 1 591 clics en septembre.</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Définir un objectif de campagne (inscriptions, visites de la page) pour piloter la suite.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FidMe</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705 558</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+16 %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3 385 630</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3 086</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+124 %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8 342</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0,44 %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+0,21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0,25 %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cadeau</a:t>
            </a:r>
            <a:r>
              <a:rPr sz="1600" b="1" i="0">
                <a:solidFill>
                  <a:srgbClr val="111111"/>
                </a:solidFill>
                <a:latin typeface="Arial"/>
              </a:rPr>
              <a:t>   LEGO</a:t>
            </a:r>
          </a:p>
          <a:p>
            <a:pPr algn="l">
              <a:spcAft>
                <a:spcPts val="500"/>
              </a:spcAft>
            </a:pPr>
            <a:r>
              <a:rPr sz="1500" b="1" i="0">
                <a:solidFill>
                  <a:srgbClr val="555B66"/>
                </a:solidFill>
                <a:latin typeface="Arial"/>
              </a:rPr>
              <a:t>Dealabs</a:t>
            </a:r>
            <a:r>
              <a:rPr sz="1400" b="1" i="0">
                <a:solidFill>
                  <a:srgbClr val="111111"/>
                </a:solidFill>
                <a:latin typeface="Arial"/>
              </a:rPr>
              <a:t>   iGraal</a:t>
            </a:r>
          </a:p>
          <a:p>
            <a:pPr algn="l">
              <a:spcAft>
                <a:spcPts val="500"/>
              </a:spcAft>
            </a:pPr>
            <a:r>
              <a:rPr sz="1300" b="1" i="0">
                <a:solidFill>
                  <a:srgbClr val="EE6A2C"/>
                </a:solidFill>
                <a:latin typeface="Arial"/>
              </a:rPr>
              <a:t>Google Wallet</a:t>
            </a:r>
            <a:r>
              <a:rPr sz="1200" b="0" i="0">
                <a:solidFill>
                  <a:srgbClr val="555B66"/>
                </a:solidFill>
                <a:latin typeface="Arial"/>
              </a:rPr>
              <a:t>   Apple Wallet</a:t>
            </a:r>
          </a:p>
          <a:p>
            <a:pPr algn="l">
              <a:spcAft>
                <a:spcPts val="500"/>
              </a:spcAft>
            </a:pPr>
            <a:r>
              <a:rPr sz="1100" b="1" i="0">
                <a:solidFill>
                  <a:srgbClr val="EE6A2C"/>
                </a:solidFill>
                <a:latin typeface="Arial"/>
              </a:rPr>
              <a:t>Shopmium</a:t>
            </a:r>
            <a:r>
              <a:rPr sz="1100" b="1" i="0">
                <a:solidFill>
                  <a:srgbClr val="111111"/>
                </a:solidFill>
                <a:latin typeface="Arial"/>
              </a:rPr>
              <a:t>   Coupon Network</a:t>
            </a:r>
          </a:p>
          <a:p>
            <a:pPr algn="l">
              <a:spcAft>
                <a:spcPts val="500"/>
              </a:spcAft>
            </a:pPr>
            <a:r>
              <a:rPr sz="1100" b="1" i="0">
                <a:solidFill>
                  <a:srgbClr val="111111"/>
                </a:solidFill>
                <a:latin typeface="Arial"/>
              </a:rPr>
              <a:t>Joko</a:t>
            </a:r>
            <a:r>
              <a:rPr sz="1100" b="0" i="0">
                <a:solidFill>
                  <a:srgbClr val="555B66"/>
                </a:solidFill>
                <a:latin typeface="Arial"/>
              </a:rPr>
              <a:t>   Poulpeo</a:t>
            </a:r>
            <a:r>
              <a:rPr sz="1100" b="1" i="0">
                <a:solidFill>
                  <a:srgbClr val="EE6A2C"/>
                </a:solidFill>
                <a:latin typeface="Arial"/>
              </a:rPr>
              <a:t>   eBuyClub</a:t>
            </a:r>
          </a:p>
          <a:p>
            <a:pPr algn="l">
              <a:spcAft>
                <a:spcPts val="500"/>
              </a:spcAft>
            </a:pPr>
            <a:r>
              <a:rPr sz="1100" b="1" i="0">
                <a:solidFill>
                  <a:srgbClr val="111111"/>
                </a:solidFill>
                <a:latin typeface="Arial"/>
              </a:rPr>
              <a:t>naissance</a:t>
            </a:r>
            <a:r>
              <a:rPr sz="1100" b="0" i="0">
                <a:solidFill>
                  <a:srgbClr val="555B66"/>
                </a:solidFill>
                <a:latin typeface="Arial"/>
              </a:rPr>
              <a:t>   Widilo</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Quelles offres de remboursement sur mes courses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boisson protéinée prendre avant un entraînement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yaourt riche en protéines pour une collation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dentifrice blanchissant utiliser au quotidien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Où trouver une promotion sur les pochons pour chat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Boissons · 24 %</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Produits frais et végétaux · 17 %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Épicerie et snacking · 18 %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Cashback et coupons · 13 %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Alimentation pour animaux · 4 %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Hygiène, entretien et bébé · 24 %</a:t>
            </a:r>
          </a:p>
        </p:txBody>
      </p:sp>
      <p:sp>
        <p:nvSpPr>
          <p:cNvPr id="98" name="Rectangle 97"/>
          <p:cNvSpPr/>
          <p:nvPr/>
        </p:nvSpPr>
        <p:spPr>
          <a:xfrm>
            <a:off x="10564368" y="4450080"/>
            <a:ext cx="475488" cy="321868"/>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4771948"/>
            <a:ext cx="475488" cy="22799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564368" y="4999939"/>
            <a:ext cx="475488" cy="241401"/>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564368" y="5241340"/>
            <a:ext cx="475488" cy="174345"/>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564368" y="5415686"/>
            <a:ext cx="475488" cy="53644"/>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64368" y="5469331"/>
            <a:ext cx="475488" cy="321868"/>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FidMe</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Acquérir de nouveaux clients.</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offres concrètes cliquent le mieux</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L'offre « 2 € pour l'achat d'un pack STABILO » atteint 2,07 fois le CTR moyen.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le montant remboursé dans le titre de l'annonce.</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vins et les gourmandises surperforment</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vins (1,28 fois), les snacks et confiseries (1,19 fois) et les boissons (1,18 fois) dépassent la moyenne.</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vins et gourmandises à l'approche des fêtes.</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 végétal, le bébé et l'animalerie</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boissons végétales Bjorg (0,56 fois), Le Gaulois Végétal (0,60 fois), Blédichef (0,64 fois) et Whiskas (0,70 fois) restent sous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des accroches centrées sur l'économie réalisée.</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 CTR double</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passent de 1 378 à 3 086. Le CTR passe de 0,23 % à 0,44 %. WaterWipes représente 16 % de la diffusion.</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Poursuivre sur les offres qui performent et préparer les offres de Noël.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PERFORMANCE REPORT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Levi's</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REACH</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378 398</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−29 %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prev. period</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1 193 411</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CLICKS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1 677</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+46 %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prev. period</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3 370</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0,44 %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+0,23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prev. period</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0,28 %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N/A</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prev. period</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N/A</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prev. period</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N/A</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prev. period</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The Conversion Tracker is not installed yet. Conversions will appear in this report once it is integrated.</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QUALITATIVE INSIGHTS · SEARCH ANALYSIS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LEXICAL FIELD</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Most frequent terms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jeans</a:t>
            </a:r>
            <a:r>
              <a:rPr sz="1600" b="1" i="0">
                <a:solidFill>
                  <a:srgbClr val="111111"/>
                </a:solidFill>
                <a:latin typeface="Arial"/>
              </a:rPr>
              <a:t>   501 Original Fit</a:t>
            </a:r>
          </a:p>
          <a:p>
            <a:pPr algn="l">
              <a:spcAft>
                <a:spcPts val="500"/>
              </a:spcAft>
            </a:pPr>
            <a:r>
              <a:rPr sz="1500" b="1" i="0">
                <a:solidFill>
                  <a:srgbClr val="555B66"/>
                </a:solidFill>
                <a:latin typeface="Arial"/>
              </a:rPr>
              <a:t>tulip jeans</a:t>
            </a:r>
            <a:r>
              <a:rPr sz="1400" b="1" i="0">
                <a:solidFill>
                  <a:srgbClr val="111111"/>
                </a:solidFill>
                <a:latin typeface="Arial"/>
              </a:rPr>
              <a:t>   stretch</a:t>
            </a:r>
          </a:p>
          <a:p>
            <a:pPr algn="l">
              <a:spcAft>
                <a:spcPts val="500"/>
              </a:spcAft>
            </a:pPr>
            <a:r>
              <a:rPr sz="1300" b="1" i="0">
                <a:solidFill>
                  <a:srgbClr val="EE6A2C"/>
                </a:solidFill>
                <a:latin typeface="Arial"/>
              </a:rPr>
              <a:t>fitted tops</a:t>
            </a:r>
            <a:r>
              <a:rPr sz="1200" b="0" i="0">
                <a:solidFill>
                  <a:srgbClr val="555B66"/>
                </a:solidFill>
                <a:latin typeface="Arial"/>
              </a:rPr>
              <a:t>   puffer jacket</a:t>
            </a:r>
          </a:p>
          <a:p>
            <a:pPr algn="l">
              <a:spcAft>
                <a:spcPts val="500"/>
              </a:spcAft>
            </a:pPr>
            <a:r>
              <a:rPr sz="1100" b="1" i="0">
                <a:solidFill>
                  <a:srgbClr val="EE6A2C"/>
                </a:solidFill>
                <a:latin typeface="Arial"/>
              </a:rPr>
              <a:t>denim skirt</a:t>
            </a:r>
            <a:r>
              <a:rPr sz="1100" b="1" i="0">
                <a:solidFill>
                  <a:srgbClr val="111111"/>
                </a:solidFill>
                <a:latin typeface="Arial"/>
              </a:rPr>
              <a:t>   jacket</a:t>
            </a:r>
          </a:p>
          <a:p>
            <a:pPr algn="l">
              <a:spcAft>
                <a:spcPts val="500"/>
              </a:spcAft>
            </a:pPr>
            <a:r>
              <a:rPr sz="1100" b="1" i="0">
                <a:solidFill>
                  <a:srgbClr val="111111"/>
                </a:solidFill>
                <a:latin typeface="Arial"/>
              </a:rPr>
              <a:t>Zara</a:t>
            </a:r>
            <a:r>
              <a:rPr sz="1100" b="0" i="0">
                <a:solidFill>
                  <a:srgbClr val="555B66"/>
                </a:solidFill>
                <a:latin typeface="Arial"/>
              </a:rPr>
              <a:t>   Uniqlo</a:t>
            </a:r>
            <a:r>
              <a:rPr sz="1100" b="1" i="0">
                <a:solidFill>
                  <a:srgbClr val="EE6A2C"/>
                </a:solidFill>
                <a:latin typeface="Arial"/>
              </a:rPr>
              <a:t>   Wrangler</a:t>
            </a:r>
          </a:p>
          <a:p>
            <a:pPr algn="l">
              <a:spcAft>
                <a:spcPts val="500"/>
              </a:spcAft>
            </a:pPr>
            <a:r>
              <a:rPr sz="1100" b="1" i="0">
                <a:solidFill>
                  <a:srgbClr val="111111"/>
                </a:solidFill>
                <a:latin typeface="Arial"/>
              </a:rPr>
              <a:t>tights</a:t>
            </a:r>
            <a:r>
              <a:rPr sz="1100" b="0" i="0">
                <a:solidFill>
                  <a:srgbClr val="555B66"/>
                </a:solidFill>
                <a:latin typeface="Arial"/>
              </a:rPr>
              <a:t>   Celio</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SAMPLE QUERIES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asked to AI</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Which Levi's jeans for a relaxed fit?</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Straight-leg or wide-leg jeans, what's the difference?</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How should a pair of 501 jeans fit?</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Which high-rise jeans make the legs look longer?</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How does a Levi's Trucker jacket age over time?</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PRODUCT CATEGORIES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Campaign product mix</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Jeans</a:t>
            </a:r>
          </a:p>
        </p:txBody>
      </p:sp>
      <p:sp>
        <p:nvSpPr>
          <p:cNvPr id="88" name="Rectangle 87"/>
          <p:cNvSpPr/>
          <p:nvPr/>
        </p:nvSpPr>
        <p:spPr>
          <a:xfrm>
            <a:off x="8077200" y="4626864"/>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08576"/>
            <a:ext cx="2225040" cy="152400"/>
          </a:xfrm>
          <a:prstGeom prst="rect">
            <a:avLst/>
          </a:prstGeom>
          <a:noFill/>
        </p:spPr>
        <p:txBody>
          <a:bodyPr wrap="square" anchor="t" lIns="0" rIns="0" tIns="0" bIns="0">
            <a:spAutoFit/>
          </a:bodyPr>
          <a:lstStyle/>
          <a:p>
            <a:pPr algn="l"/>
            <a:r>
              <a:rPr sz="1000" b="0" i="0">
                <a:solidFill>
                  <a:srgbClr val="111111"/>
                </a:solidFill>
                <a:latin typeface="Arial"/>
              </a:rPr>
              <a:t>Tops and shirts · 23 %</a:t>
            </a:r>
          </a:p>
        </p:txBody>
      </p:sp>
      <p:sp>
        <p:nvSpPr>
          <p:cNvPr id="90" name="Rectangle 89"/>
          <p:cNvSpPr/>
          <p:nvPr/>
        </p:nvSpPr>
        <p:spPr>
          <a:xfrm>
            <a:off x="8077200" y="4846320"/>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828032"/>
            <a:ext cx="2225040" cy="152400"/>
          </a:xfrm>
          <a:prstGeom prst="rect">
            <a:avLst/>
          </a:prstGeom>
          <a:noFill/>
        </p:spPr>
        <p:txBody>
          <a:bodyPr wrap="square" anchor="t" lIns="0" rIns="0" tIns="0" bIns="0">
            <a:spAutoFit/>
          </a:bodyPr>
          <a:lstStyle/>
          <a:p>
            <a:pPr algn="l"/>
            <a:r>
              <a:rPr sz="1000" b="0" i="0">
                <a:solidFill>
                  <a:srgbClr val="111111"/>
                </a:solidFill>
                <a:latin typeface="Arial"/>
              </a:rPr>
              <a:t>Dresses, skirts and shorts · 9 %</a:t>
            </a:r>
          </a:p>
        </p:txBody>
      </p:sp>
      <p:sp>
        <p:nvSpPr>
          <p:cNvPr id="92" name="Rectangle 91"/>
          <p:cNvSpPr/>
          <p:nvPr/>
        </p:nvSpPr>
        <p:spPr>
          <a:xfrm>
            <a:off x="8077200" y="5065776"/>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047488"/>
            <a:ext cx="2225040" cy="152400"/>
          </a:xfrm>
          <a:prstGeom prst="rect">
            <a:avLst/>
          </a:prstGeom>
          <a:noFill/>
        </p:spPr>
        <p:txBody>
          <a:bodyPr wrap="square" anchor="t" lIns="0" rIns="0" tIns="0" bIns="0">
            <a:spAutoFit/>
          </a:bodyPr>
          <a:lstStyle/>
          <a:p>
            <a:pPr algn="l"/>
            <a:r>
              <a:rPr sz="1000" b="0" i="0">
                <a:solidFill>
                  <a:srgbClr val="111111"/>
                </a:solidFill>
                <a:latin typeface="Arial"/>
              </a:rPr>
              <a:t>Accessories · 22 %</a:t>
            </a:r>
          </a:p>
        </p:txBody>
      </p:sp>
      <p:sp>
        <p:nvSpPr>
          <p:cNvPr id="94" name="Rectangle 93"/>
          <p:cNvSpPr/>
          <p:nvPr/>
        </p:nvSpPr>
        <p:spPr>
          <a:xfrm>
            <a:off x="8077200" y="5285232"/>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266944"/>
            <a:ext cx="2225040" cy="152400"/>
          </a:xfrm>
          <a:prstGeom prst="rect">
            <a:avLst/>
          </a:prstGeom>
          <a:noFill/>
        </p:spPr>
        <p:txBody>
          <a:bodyPr wrap="square" anchor="t" lIns="0" rIns="0" tIns="0" bIns="0">
            <a:spAutoFit/>
          </a:bodyPr>
          <a:lstStyle/>
          <a:p>
            <a:pPr algn="l"/>
            <a:r>
              <a:rPr sz="1000" b="0" i="0">
                <a:solidFill>
                  <a:srgbClr val="111111"/>
                </a:solidFill>
                <a:latin typeface="Arial"/>
              </a:rPr>
              <a:t>Other relaxed bottoms · &lt; 1%</a:t>
            </a:r>
          </a:p>
        </p:txBody>
      </p:sp>
      <p:sp>
        <p:nvSpPr>
          <p:cNvPr id="96" name="Rectangle 95"/>
          <p:cNvSpPr/>
          <p:nvPr/>
        </p:nvSpPr>
        <p:spPr>
          <a:xfrm>
            <a:off x="8077200" y="550468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486400"/>
            <a:ext cx="2225040" cy="152400"/>
          </a:xfrm>
          <a:prstGeom prst="rect">
            <a:avLst/>
          </a:prstGeom>
          <a:noFill/>
        </p:spPr>
        <p:txBody>
          <a:bodyPr wrap="square" anchor="t" lIns="0" rIns="0" tIns="0" bIns="0">
            <a:spAutoFit/>
          </a:bodyPr>
          <a:lstStyle/>
          <a:p>
            <a:pPr algn="l"/>
            <a:r>
              <a:rPr sz="1000" b="0" i="0">
                <a:solidFill>
                  <a:srgbClr val="111111"/>
                </a:solidFill>
                <a:latin typeface="Arial"/>
              </a:rPr>
              <a:t>Jackets · 6 %</a:t>
            </a:r>
          </a:p>
        </p:txBody>
      </p:sp>
      <p:sp>
        <p:nvSpPr>
          <p:cNvPr id="98" name="Rectangle 97"/>
          <p:cNvSpPr/>
          <p:nvPr/>
        </p:nvSpPr>
        <p:spPr>
          <a:xfrm>
            <a:off x="8077200" y="5724144"/>
            <a:ext cx="121920" cy="121920"/>
          </a:xfrm>
          <a:prstGeom prst="rect">
            <a:avLst/>
          </a:prstGeom>
          <a:solidFill>
            <a:srgbClr val="8CB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296656" y="5705856"/>
            <a:ext cx="2225040" cy="152400"/>
          </a:xfrm>
          <a:prstGeom prst="rect">
            <a:avLst/>
          </a:prstGeom>
          <a:noFill/>
        </p:spPr>
        <p:txBody>
          <a:bodyPr wrap="square" anchor="t" lIns="0" rIns="0" tIns="0" bIns="0">
            <a:spAutoFit/>
          </a:bodyPr>
          <a:lstStyle/>
          <a:p>
            <a:pPr algn="l"/>
            <a:r>
              <a:rPr sz="1000" b="0" i="0">
                <a:solidFill>
                  <a:srgbClr val="111111"/>
                </a:solidFill>
                <a:latin typeface="Arial"/>
              </a:rPr>
              <a:t>Chinos and cargos · 1 %</a:t>
            </a:r>
          </a:p>
        </p:txBody>
      </p:sp>
      <p:sp>
        <p:nvSpPr>
          <p:cNvPr id="100" name="Rectangle 99"/>
          <p:cNvSpPr/>
          <p:nvPr/>
        </p:nvSpPr>
        <p:spPr>
          <a:xfrm>
            <a:off x="10564368" y="4450080"/>
            <a:ext cx="475488" cy="523036"/>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564368" y="4450080"/>
            <a:ext cx="475488" cy="523036"/>
          </a:xfrm>
          <a:prstGeom prst="rect">
            <a:avLst/>
          </a:prstGeom>
          <a:noFill/>
        </p:spPr>
        <p:txBody>
          <a:bodyPr wrap="square" anchor="ctr" lIns="0" rIns="0" tIns="0" bIns="0">
            <a:spAutoFit/>
          </a:bodyPr>
          <a:lstStyle/>
          <a:p>
            <a:pPr algn="ctr"/>
            <a:r>
              <a:rPr sz="1000" b="1" i="0">
                <a:solidFill>
                  <a:srgbClr val="FFFFFF"/>
                </a:solidFill>
                <a:latin typeface="Arial"/>
              </a:rPr>
              <a:t>39 %</a:t>
            </a:r>
          </a:p>
        </p:txBody>
      </p:sp>
      <p:sp>
        <p:nvSpPr>
          <p:cNvPr id="102" name="Rectangle 101"/>
          <p:cNvSpPr/>
          <p:nvPr/>
        </p:nvSpPr>
        <p:spPr>
          <a:xfrm>
            <a:off x="10564368" y="4973116"/>
            <a:ext cx="475488" cy="308457"/>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64368" y="5281574"/>
            <a:ext cx="475488" cy="12070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564368" y="5402275"/>
            <a:ext cx="475488" cy="295046"/>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564368" y="5697321"/>
            <a:ext cx="475488" cy="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564368" y="5697321"/>
            <a:ext cx="475488" cy="80467"/>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564368" y="5777788"/>
            <a:ext cx="475488" cy="13411"/>
          </a:xfrm>
          <a:prstGeom prst="rect">
            <a:avLst/>
          </a:prstGeom>
          <a:solidFill>
            <a:srgbClr val="8CB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QUALITATIVE INSIGHTS · SEPTEMBER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Levi's</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OBJECTIVE   </a:t>
            </a:r>
            <a:r>
              <a:rPr sz="1300" b="0" i="0">
                <a:solidFill>
                  <a:srgbClr val="111111"/>
                </a:solidFill>
                <a:latin typeface="Arial"/>
              </a:rPr>
              <a:t>To be defined</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QUALITATIVE INSIGHTS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Vintage and heritage pieces drive clicks</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The Vintage Red Tab™ T-shirt reaches 1.84 times the average CTR, the Vintage Boxy sweatshirt 1.31 times and the Trucker jacket 1.38 times.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Put vintage and heritage pieces forward in the campaign.</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Jeans stay above average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Men's jeans reach 1.13 times the average and women's jeans 1.05 times. The XL Straight jean reaches 1.28 times.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Keep jeans at the centre, with a focus on relaxed and straight fits.</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Accessories underperform</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Belts, beanies and caps stay at 0.49 times the average.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Show accessories as a complement once the shopper has found their jeans.</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Jackets and sweats are rising</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Jackets and sweats reach 1.24 times the average and skirts and dresses 1.20 times.</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Push outerwear for the cold season (Trucker, sherpa, sweats).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Mabex</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313 395</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+259 %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426 644</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1 668</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+379 %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2 085</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0,53 %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+0,13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0,49 %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est en cours d'implémentation. Les conversions apparaîtront dans ce rapport dès que la remontée des données sera validée.</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prises connectées</a:t>
            </a:r>
            <a:r>
              <a:rPr sz="1600" b="1" i="0">
                <a:solidFill>
                  <a:srgbClr val="111111"/>
                </a:solidFill>
                <a:latin typeface="Arial"/>
              </a:rPr>
              <a:t>   canalisations</a:t>
            </a:r>
          </a:p>
          <a:p>
            <a:pPr algn="l">
              <a:spcAft>
                <a:spcPts val="500"/>
              </a:spcAft>
            </a:pPr>
            <a:r>
              <a:rPr sz="1500" b="1" i="0">
                <a:solidFill>
                  <a:srgbClr val="555B66"/>
                </a:solidFill>
                <a:latin typeface="Arial"/>
              </a:rPr>
              <a:t>outils</a:t>
            </a:r>
            <a:r>
              <a:rPr sz="1400" b="1" i="0">
                <a:solidFill>
                  <a:srgbClr val="111111"/>
                </a:solidFill>
                <a:latin typeface="Arial"/>
              </a:rPr>
              <a:t>   tuyaux PVC</a:t>
            </a:r>
          </a:p>
          <a:p>
            <a:pPr algn="l">
              <a:spcAft>
                <a:spcPts val="500"/>
              </a:spcAft>
            </a:pPr>
            <a:r>
              <a:rPr sz="1300" b="1" i="0">
                <a:solidFill>
                  <a:srgbClr val="EE6A2C"/>
                </a:solidFill>
                <a:latin typeface="Arial"/>
              </a:rPr>
              <a:t>gel</a:t>
            </a:r>
            <a:r>
              <a:rPr sz="1200" b="0" i="0">
                <a:solidFill>
                  <a:srgbClr val="555B66"/>
                </a:solidFill>
                <a:latin typeface="Arial"/>
              </a:rPr>
              <a:t>   humidimètre</a:t>
            </a:r>
          </a:p>
          <a:p>
            <a:pPr algn="l">
              <a:spcAft>
                <a:spcPts val="500"/>
              </a:spcAft>
            </a:pPr>
            <a:r>
              <a:rPr sz="1100" b="1" i="0">
                <a:solidFill>
                  <a:srgbClr val="EE6A2C"/>
                </a:solidFill>
                <a:latin typeface="Arial"/>
              </a:rPr>
              <a:t>Legrand</a:t>
            </a:r>
            <a:r>
              <a:rPr sz="1100" b="1" i="0">
                <a:solidFill>
                  <a:srgbClr val="111111"/>
                </a:solidFill>
                <a:latin typeface="Arial"/>
              </a:rPr>
              <a:t>   Bosch</a:t>
            </a:r>
            <a:r>
              <a:rPr sz="1100" b="0" i="0">
                <a:solidFill>
                  <a:srgbClr val="555B66"/>
                </a:solidFill>
                <a:latin typeface="Arial"/>
              </a:rPr>
              <a:t>   Makita</a:t>
            </a:r>
          </a:p>
          <a:p>
            <a:pPr algn="l">
              <a:spcAft>
                <a:spcPts val="500"/>
              </a:spcAft>
            </a:pPr>
            <a:r>
              <a:rPr sz="1100" b="1" i="0">
                <a:solidFill>
                  <a:srgbClr val="111111"/>
                </a:solidFill>
                <a:latin typeface="Arial"/>
              </a:rPr>
              <a:t>chantier</a:t>
            </a:r>
            <a:r>
              <a:rPr sz="1100" b="0" i="0">
                <a:solidFill>
                  <a:srgbClr val="555B66"/>
                </a:solidFill>
                <a:latin typeface="Arial"/>
              </a:rPr>
              <a:t>   peinture</a:t>
            </a:r>
          </a:p>
          <a:p>
            <a:pPr algn="l">
              <a:spcAft>
                <a:spcPts val="500"/>
              </a:spcAft>
            </a:pPr>
            <a:r>
              <a:rPr sz="1100" b="1" i="0">
                <a:solidFill>
                  <a:srgbClr val="111111"/>
                </a:solidFill>
                <a:latin typeface="Arial"/>
              </a:rPr>
              <a:t>Leroy Merlin</a:t>
            </a:r>
            <a:r>
              <a:rPr sz="1100" b="0" i="0">
                <a:solidFill>
                  <a:srgbClr val="555B66"/>
                </a:solidFill>
                <a:latin typeface="Arial"/>
              </a:rPr>
              <a:t>   Chausson</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interrupteur va-et-vient pour une rénovation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radiateur électrique vertical pour une petite pièce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chauffe-eau compact installer sous un évier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Quels gants nitrile pour manipuler des produits chimiques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extracteur pour retirer une pièce sans l'abîmer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800" b="0" i="0">
                <a:solidFill>
                  <a:srgbClr val="111111"/>
                </a:solidFill>
                <a:latin typeface="Arial"/>
              </a:rPr>
              <a:t>Électricité, interrupteurs et prises · 4 %</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Chauffe-eau et eau chaude · 11 %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Chauffage et radiateurs · 3 %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800" b="0" i="0">
                <a:solidFill>
                  <a:srgbClr val="111111"/>
                </a:solidFill>
                <a:latin typeface="Arial"/>
              </a:rPr>
              <a:t>EPI et vêtements de sécurité · 13 %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Outillage et plomberie · 69 %</a:t>
            </a:r>
          </a:p>
        </p:txBody>
      </p:sp>
      <p:sp>
        <p:nvSpPr>
          <p:cNvPr id="96" name="Rectangle 95"/>
          <p:cNvSpPr/>
          <p:nvPr/>
        </p:nvSpPr>
        <p:spPr>
          <a:xfrm>
            <a:off x="10564368" y="4450080"/>
            <a:ext cx="475488" cy="53644"/>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564368" y="4503724"/>
            <a:ext cx="475488" cy="147523"/>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564368" y="4651248"/>
            <a:ext cx="475488" cy="40233"/>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4691481"/>
            <a:ext cx="475488" cy="174345"/>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564368" y="4865827"/>
            <a:ext cx="475488" cy="925372"/>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564368" y="4865827"/>
            <a:ext cx="475488" cy="925372"/>
          </a:xfrm>
          <a:prstGeom prst="rect">
            <a:avLst/>
          </a:prstGeom>
          <a:noFill/>
        </p:spPr>
        <p:txBody>
          <a:bodyPr wrap="square" anchor="ctr" lIns="0" rIns="0" tIns="0" bIns="0">
            <a:spAutoFit/>
          </a:bodyPr>
          <a:lstStyle/>
          <a:p>
            <a:pPr algn="ctr"/>
            <a:r>
              <a:rPr sz="1000" b="1" i="0">
                <a:solidFill>
                  <a:srgbClr val="FFFFFF"/>
                </a:solidFill>
                <a:latin typeface="Arial"/>
              </a:rPr>
              <a:t>69 %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Mabex</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Atteindre un ROAS d'au moins 10 (idéalement 12).</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plomberie clique le plus</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groupe plomberie atteint 1,43 fois le CTR moyen. L'annonce sur les colliers monobloc Nicoll atteint 2,35 fois.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à la plomberie et au chauffe-eau dans la diffusion.</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packs d'outils séduisent les pros</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packs d'outils électroportatifs (Milwaukee, Makita, Dewalt…) atteignent 1,87 fois la moyenne, avec la livraison offerte dès 120 € HT.</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packs chantier et la livraison offerte.</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interrupteurs restent un point fort</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commandes d'éclairage Schneider Odace atteignent 1,36 fois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Conserver l'électricité comme univers clé de la campagne.</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fiches produit génériques</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au format « Référence + Tout l'équipement pro au meilleur prix » restent sous la moyenne (veste haute visibilité 0,52 fois, radiateur 0,58 fois).</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Décrire le bénéfice pour le chantier plutôt que la seule référence.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Marshall</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498 934</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+15 %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1 490 670</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1 862</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+88 %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3 995</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0,37 %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+0,14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0,27 %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mesurées par Cdiscount, non intégrées à ce rapport. Elles apparaîtront ici dès l'intégration du Conversion Tracker.</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enceinte</a:t>
            </a:r>
            <a:r>
              <a:rPr sz="1600" b="1" i="0">
                <a:solidFill>
                  <a:srgbClr val="111111"/>
                </a:solidFill>
                <a:latin typeface="Arial"/>
              </a:rPr>
              <a:t>   casque</a:t>
            </a:r>
          </a:p>
          <a:p>
            <a:pPr algn="l">
              <a:spcAft>
                <a:spcPts val="500"/>
              </a:spcAft>
            </a:pPr>
            <a:r>
              <a:rPr sz="1500" b="1" i="0">
                <a:solidFill>
                  <a:srgbClr val="555B66"/>
                </a:solidFill>
                <a:latin typeface="Arial"/>
              </a:rPr>
              <a:t>platine vinyle</a:t>
            </a:r>
            <a:r>
              <a:rPr sz="1400" b="1" i="0">
                <a:solidFill>
                  <a:srgbClr val="111111"/>
                </a:solidFill>
                <a:latin typeface="Arial"/>
              </a:rPr>
              <a:t>   ampli</a:t>
            </a:r>
          </a:p>
          <a:p>
            <a:pPr algn="l">
              <a:spcAft>
                <a:spcPts val="500"/>
              </a:spcAft>
            </a:pPr>
            <a:r>
              <a:rPr sz="1300" b="1" i="0">
                <a:solidFill>
                  <a:srgbClr val="EE6A2C"/>
                </a:solidFill>
                <a:latin typeface="Arial"/>
              </a:rPr>
              <a:t>budget 200 €</a:t>
            </a:r>
            <a:r>
              <a:rPr sz="1200" b="0" i="0">
                <a:solidFill>
                  <a:srgbClr val="555B66"/>
                </a:solidFill>
                <a:latin typeface="Arial"/>
              </a:rPr>
              <a:t>   sans fil</a:t>
            </a:r>
          </a:p>
          <a:p>
            <a:pPr algn="l">
              <a:spcAft>
                <a:spcPts val="500"/>
              </a:spcAft>
            </a:pPr>
            <a:r>
              <a:rPr sz="1100" b="1" i="0">
                <a:solidFill>
                  <a:srgbClr val="EE6A2C"/>
                </a:solidFill>
                <a:latin typeface="Arial"/>
              </a:rPr>
              <a:t>home cinéma</a:t>
            </a:r>
            <a:r>
              <a:rPr sz="1100" b="1" i="0">
                <a:solidFill>
                  <a:srgbClr val="111111"/>
                </a:solidFill>
                <a:latin typeface="Arial"/>
              </a:rPr>
              <a:t>   DAB+</a:t>
            </a:r>
          </a:p>
          <a:p>
            <a:pPr algn="l">
              <a:spcAft>
                <a:spcPts val="500"/>
              </a:spcAft>
            </a:pPr>
            <a:r>
              <a:rPr sz="1100" b="1" i="0">
                <a:solidFill>
                  <a:srgbClr val="111111"/>
                </a:solidFill>
                <a:latin typeface="Arial"/>
              </a:rPr>
              <a:t>étudiant</a:t>
            </a:r>
            <a:r>
              <a:rPr sz="1100" b="0" i="0">
                <a:solidFill>
                  <a:srgbClr val="555B66"/>
                </a:solidFill>
                <a:latin typeface="Arial"/>
              </a:rPr>
              <a:t>   vacances</a:t>
            </a:r>
            <a:r>
              <a:rPr sz="1100" b="1" i="0">
                <a:solidFill>
                  <a:srgbClr val="EE6A2C"/>
                </a:solidFill>
                <a:latin typeface="Arial"/>
              </a:rPr>
              <a:t>   French Days</a:t>
            </a:r>
          </a:p>
          <a:p>
            <a:pPr algn="l">
              <a:spcAft>
                <a:spcPts val="500"/>
              </a:spcAft>
            </a:pPr>
            <a:r>
              <a:rPr sz="1100" b="1" i="0">
                <a:solidFill>
                  <a:srgbClr val="111111"/>
                </a:solidFill>
                <a:latin typeface="Arial"/>
              </a:rPr>
              <a:t>Sony</a:t>
            </a:r>
            <a:r>
              <a:rPr sz="1100" b="0" i="0">
                <a:solidFill>
                  <a:srgbClr val="555B66"/>
                </a:solidFill>
                <a:latin typeface="Arial"/>
              </a:rPr>
              <a:t>   JBL</a:t>
            </a:r>
            <a:r>
              <a:rPr sz="1100" b="0" i="0">
                <a:solidFill>
                  <a:srgbClr val="111111"/>
                </a:solidFill>
                <a:latin typeface="Arial"/>
              </a:rPr>
              <a:t>   Bose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casque pour ne plus entendre le bruit des transports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enceinte Marshall choisir pour mon salon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enceinte Bluetooth pour partir en week-end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différence entre l'Emberton et la Kilburn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enceinte pour diffuser de la musique en soirée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Casques et réduction de bruit</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Enceintes Bluetooth portables · 33 %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Enceintes pour le salon · &lt; 1 %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1000" b="0" i="0">
                <a:solidFill>
                  <a:srgbClr val="111111"/>
                </a:solidFill>
                <a:latin typeface="Arial"/>
              </a:rPr>
              <a:t>Enceintes de soirée · 31 %</a:t>
            </a:r>
          </a:p>
        </p:txBody>
      </p:sp>
      <p:sp>
        <p:nvSpPr>
          <p:cNvPr id="94" name="Rectangle 93"/>
          <p:cNvSpPr/>
          <p:nvPr/>
        </p:nvSpPr>
        <p:spPr>
          <a:xfrm>
            <a:off x="10564368" y="4450080"/>
            <a:ext cx="475488" cy="482803"/>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564368" y="4450080"/>
            <a:ext cx="475488" cy="482803"/>
          </a:xfrm>
          <a:prstGeom prst="rect">
            <a:avLst/>
          </a:prstGeom>
          <a:noFill/>
        </p:spPr>
        <p:txBody>
          <a:bodyPr wrap="square" anchor="ctr" lIns="0" rIns="0" tIns="0" bIns="0">
            <a:spAutoFit/>
          </a:bodyPr>
          <a:lstStyle/>
          <a:p>
            <a:pPr algn="ctr"/>
            <a:r>
              <a:rPr sz="1000" b="1" i="0">
                <a:solidFill>
                  <a:srgbClr val="FFFFFF"/>
                </a:solidFill>
                <a:latin typeface="Arial"/>
              </a:rPr>
              <a:t>36 %</a:t>
            </a:r>
          </a:p>
        </p:txBody>
      </p:sp>
      <p:sp>
        <p:nvSpPr>
          <p:cNvPr id="96" name="Rectangle 95"/>
          <p:cNvSpPr/>
          <p:nvPr/>
        </p:nvSpPr>
        <p:spPr>
          <a:xfrm>
            <a:off x="10564368" y="4932883"/>
            <a:ext cx="475488" cy="442569"/>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564368" y="4932883"/>
            <a:ext cx="475488" cy="442569"/>
          </a:xfrm>
          <a:prstGeom prst="rect">
            <a:avLst/>
          </a:prstGeom>
          <a:noFill/>
        </p:spPr>
        <p:txBody>
          <a:bodyPr wrap="square" anchor="ctr" lIns="0" rIns="0" tIns="0" bIns="0">
            <a:spAutoFit/>
          </a:bodyPr>
          <a:lstStyle/>
          <a:p>
            <a:pPr algn="ctr"/>
            <a:r>
              <a:rPr sz="1000" b="1" i="0">
                <a:solidFill>
                  <a:srgbClr val="FFFFFF"/>
                </a:solidFill>
                <a:latin typeface="Arial"/>
              </a:rPr>
              <a:t>33 %</a:t>
            </a:r>
          </a:p>
        </p:txBody>
      </p:sp>
      <p:sp>
        <p:nvSpPr>
          <p:cNvPr id="98" name="Rectangle 97"/>
          <p:cNvSpPr/>
          <p:nvPr/>
        </p:nvSpPr>
        <p:spPr>
          <a:xfrm>
            <a:off x="10564368" y="5375452"/>
            <a:ext cx="475488" cy="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5375452"/>
            <a:ext cx="475488" cy="415747"/>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0564368" y="5375452"/>
            <a:ext cx="475488" cy="415747"/>
          </a:xfrm>
          <a:prstGeom prst="rect">
            <a:avLst/>
          </a:prstGeom>
          <a:noFill/>
        </p:spPr>
        <p:txBody>
          <a:bodyPr wrap="square" anchor="ctr" lIns="0" rIns="0" tIns="0" bIns="0">
            <a:spAutoFit/>
          </a:bodyPr>
          <a:lstStyle/>
          <a:p>
            <a:pPr algn="ctr"/>
            <a:r>
              <a:rPr sz="1000" b="1" i="0">
                <a:solidFill>
                  <a:srgbClr val="FFFFFF"/>
                </a:solidFill>
                <a:latin typeface="Arial"/>
              </a:rPr>
              <a:t>31 %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Marshall</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enceintes Bluetooth</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enceintes sans fil Bluetooth atteignent 1,28 fois le CTR moyen. L'Acton III atteint 1,79 fois et l'Emberton III 1,32 fois.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enceintes Bluetooth dans la diffusion.</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enceintes de soirée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enceintes sono et DJ Bromley restent à 0,63 fois la moyenne, alors qu'elles représentent 19 % de la diffusion.</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Réduire leur part ou les associer à un usage précis (fête, extérieur).</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 prix aide à cliquer sur les casques</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 casque Major V avec son prix (149,99 €) atteint 1,44 fois la moyenne. Sans prix, le même casque reste à 0,76 fois.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Afficher le prix dans les annonces casques.</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clics doublent presque</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passent de 991 à 1 862 (+88 %). Le CTR passe de 0,23 % à 0,37 %.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Concentrer le budget sur les enceintes Bluetooth et les casques avec prix.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Monoprix Mode</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752 119</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−52 %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9 956 850</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3 608</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+24 %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19 420</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0,48 %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+0,29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0,20 %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0,00 %</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est en cours d'implémentation. Les conversions apparaîtront dans ce rapport dès que la remontée des données sera validée.</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chaussures</a:t>
            </a:r>
            <a:r>
              <a:rPr sz="1600" b="1" i="0">
                <a:solidFill>
                  <a:srgbClr val="111111"/>
                </a:solidFill>
                <a:latin typeface="Arial"/>
              </a:rPr>
              <a:t>   jean</a:t>
            </a:r>
          </a:p>
          <a:p>
            <a:pPr algn="l">
              <a:spcAft>
                <a:spcPts val="500"/>
              </a:spcAft>
            </a:pPr>
            <a:r>
              <a:rPr sz="1500" b="1" i="0">
                <a:solidFill>
                  <a:srgbClr val="555B66"/>
                </a:solidFill>
                <a:latin typeface="Arial"/>
              </a:rPr>
              <a:t>robe</a:t>
            </a:r>
            <a:r>
              <a:rPr sz="1400" b="1" i="0">
                <a:solidFill>
                  <a:srgbClr val="111111"/>
                </a:solidFill>
                <a:latin typeface="Arial"/>
              </a:rPr>
              <a:t>   veste</a:t>
            </a:r>
          </a:p>
          <a:p>
            <a:pPr algn="l">
              <a:spcAft>
                <a:spcPts val="500"/>
              </a:spcAft>
            </a:pPr>
            <a:r>
              <a:rPr sz="1300" b="1" i="0">
                <a:solidFill>
                  <a:srgbClr val="EE6A2C"/>
                </a:solidFill>
                <a:latin typeface="Arial"/>
              </a:rPr>
              <a:t>mariage</a:t>
            </a:r>
            <a:r>
              <a:rPr sz="1200" b="0" i="0">
                <a:solidFill>
                  <a:srgbClr val="555B66"/>
                </a:solidFill>
                <a:latin typeface="Arial"/>
              </a:rPr>
              <a:t>   doudoune</a:t>
            </a:r>
          </a:p>
          <a:p>
            <a:pPr algn="l">
              <a:spcAft>
                <a:spcPts val="500"/>
              </a:spcAft>
            </a:pPr>
            <a:r>
              <a:rPr sz="1100" b="1" i="0">
                <a:solidFill>
                  <a:srgbClr val="EE6A2C"/>
                </a:solidFill>
                <a:latin typeface="Arial"/>
              </a:rPr>
              <a:t>montre connectée</a:t>
            </a:r>
            <a:r>
              <a:rPr sz="1100" b="1" i="0">
                <a:solidFill>
                  <a:srgbClr val="111111"/>
                </a:solidFill>
                <a:latin typeface="Arial"/>
              </a:rPr>
              <a:t>   rentrée</a:t>
            </a:r>
          </a:p>
          <a:p>
            <a:pPr algn="l">
              <a:spcAft>
                <a:spcPts val="500"/>
              </a:spcAft>
            </a:pPr>
            <a:r>
              <a:rPr sz="1100" b="1" i="0">
                <a:solidFill>
                  <a:srgbClr val="111111"/>
                </a:solidFill>
                <a:latin typeface="Arial"/>
              </a:rPr>
              <a:t>collants</a:t>
            </a:r>
            <a:r>
              <a:rPr sz="1100" b="0" i="0">
                <a:solidFill>
                  <a:srgbClr val="555B66"/>
                </a:solidFill>
                <a:latin typeface="Arial"/>
              </a:rPr>
              <a:t>   jupe midi</a:t>
            </a:r>
            <a:r>
              <a:rPr sz="1100" b="1" i="0">
                <a:solidFill>
                  <a:srgbClr val="EE6A2C"/>
                </a:solidFill>
                <a:latin typeface="Arial"/>
              </a:rPr>
              <a:t>   livraison</a:t>
            </a:r>
          </a:p>
          <a:p>
            <a:pPr algn="l">
              <a:spcAft>
                <a:spcPts val="500"/>
              </a:spcAft>
            </a:pPr>
            <a:r>
              <a:rPr sz="1100" b="1" i="0">
                <a:solidFill>
                  <a:srgbClr val="111111"/>
                </a:solidFill>
                <a:latin typeface="Arial"/>
              </a:rPr>
              <a:t>ensemble vichy</a:t>
            </a:r>
            <a:r>
              <a:rPr sz="1100" b="0" i="0">
                <a:solidFill>
                  <a:srgbClr val="555B66"/>
                </a:solidFill>
                <a:latin typeface="Arial"/>
              </a:rPr>
              <a:t>   ceinture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collant lisse la silhouette sans se voir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collant ne marque pas la taille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legging pour un enfant qui bouge beaucoup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Quelles chaussettes résistent le mieux aux lavages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pyjama facilite le change d'un bébé la nuit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800" b="0" i="0">
                <a:solidFill>
                  <a:srgbClr val="111111"/>
                </a:solidFill>
                <a:latin typeface="Arial"/>
              </a:rPr>
              <a:t>Collants, chaussettes et sous-vêtements</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Petit équipement domestique · 15 %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800" b="0" i="0">
                <a:solidFill>
                  <a:srgbClr val="111111"/>
                </a:solidFill>
                <a:latin typeface="Arial"/>
              </a:rPr>
              <a:t>Papeterie scolaire et créative · 23 %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800" b="0" i="0">
                <a:solidFill>
                  <a:srgbClr val="111111"/>
                </a:solidFill>
                <a:latin typeface="Arial"/>
              </a:rPr>
              <a:t>Vêtements et linge pour bébé · 18 %</a:t>
            </a:r>
          </a:p>
        </p:txBody>
      </p:sp>
      <p:sp>
        <p:nvSpPr>
          <p:cNvPr id="94" name="Rectangle 93"/>
          <p:cNvSpPr/>
          <p:nvPr/>
        </p:nvSpPr>
        <p:spPr>
          <a:xfrm>
            <a:off x="10564368" y="4450080"/>
            <a:ext cx="475488" cy="590092"/>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564368" y="4450080"/>
            <a:ext cx="475488" cy="590092"/>
          </a:xfrm>
          <a:prstGeom prst="rect">
            <a:avLst/>
          </a:prstGeom>
          <a:noFill/>
        </p:spPr>
        <p:txBody>
          <a:bodyPr wrap="square" anchor="ctr" lIns="0" rIns="0" tIns="0" bIns="0">
            <a:spAutoFit/>
          </a:bodyPr>
          <a:lstStyle/>
          <a:p>
            <a:pPr algn="ctr"/>
            <a:r>
              <a:rPr sz="1000" b="1" i="0">
                <a:solidFill>
                  <a:srgbClr val="FFFFFF"/>
                </a:solidFill>
                <a:latin typeface="Arial"/>
              </a:rPr>
              <a:t>44 %</a:t>
            </a:r>
          </a:p>
        </p:txBody>
      </p:sp>
      <p:sp>
        <p:nvSpPr>
          <p:cNvPr id="96" name="Rectangle 95"/>
          <p:cNvSpPr/>
          <p:nvPr/>
        </p:nvSpPr>
        <p:spPr>
          <a:xfrm>
            <a:off x="10564368" y="5040172"/>
            <a:ext cx="475488" cy="201168"/>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564368" y="5241340"/>
            <a:ext cx="475488" cy="308457"/>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564368" y="5549798"/>
            <a:ext cx="475488" cy="241401"/>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Monoprix Mode</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collants restent le point fort</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collants Sublim DIM et les bas nylon atteignent jusqu'à 1,26 fois le CTR moyen.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Garder les collants au cœur de la campagne, surtout avec l'arrivée du froid.</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papeterie scolaire surprend</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pochettes de papier à dessin Canson atteignent 1,23 fois la moyenne, et les fournitures scolaires 1,15 fois.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Profiter de la rentrée pour garder la papeterie dans la diffusion.</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la lingerie et le linge de maison</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lots de slips DIM (0,86 fois) et le drap housse bio (0,77 fois) restent sous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un bénéfice concret (confort, maintien) plutôt que le lot.</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Moins d'impressions, plus de clics</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impressions baissent de 52 % mais les clics progressent de 24 %. Le CTR passe de 0,19 % à 0,48 %.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Vérifier le tracking des conversions.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Pierre &amp; Vacances</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638 950</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638 950</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3 144</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3 144</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0,49 %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0,49 %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départ en vacances</a:t>
            </a:r>
            <a:r>
              <a:rPr sz="1600" b="1" i="0">
                <a:solidFill>
                  <a:srgbClr val="111111"/>
                </a:solidFill>
                <a:latin typeface="Arial"/>
              </a:rPr>
              <a:t>   résidence</a:t>
            </a:r>
          </a:p>
          <a:p>
            <a:pPr algn="l">
              <a:spcAft>
                <a:spcPts val="500"/>
              </a:spcAft>
            </a:pPr>
            <a:r>
              <a:rPr sz="1500" b="1" i="0">
                <a:solidFill>
                  <a:srgbClr val="555B66"/>
                </a:solidFill>
                <a:latin typeface="Arial"/>
              </a:rPr>
              <a:t>Airbnb</a:t>
            </a:r>
            <a:r>
              <a:rPr sz="1400" b="1" i="0">
                <a:solidFill>
                  <a:srgbClr val="111111"/>
                </a:solidFill>
                <a:latin typeface="Arial"/>
              </a:rPr>
              <a:t>   Booking</a:t>
            </a:r>
          </a:p>
          <a:p>
            <a:pPr algn="l">
              <a:spcAft>
                <a:spcPts val="500"/>
              </a:spcAft>
            </a:pPr>
            <a:r>
              <a:rPr sz="1300" b="1" i="0">
                <a:solidFill>
                  <a:srgbClr val="EE6A2C"/>
                </a:solidFill>
                <a:latin typeface="Arial"/>
              </a:rPr>
              <a:t>Gîtes de France</a:t>
            </a:r>
            <a:r>
              <a:rPr sz="1200" b="0" i="0">
                <a:solidFill>
                  <a:srgbClr val="555B66"/>
                </a:solidFill>
                <a:latin typeface="Arial"/>
              </a:rPr>
              <a:t>   Abritel</a:t>
            </a:r>
          </a:p>
          <a:p>
            <a:pPr algn="l">
              <a:spcAft>
                <a:spcPts val="500"/>
              </a:spcAft>
            </a:pPr>
            <a:r>
              <a:rPr sz="1100" b="1" i="0">
                <a:solidFill>
                  <a:srgbClr val="EE6A2C"/>
                </a:solidFill>
                <a:latin typeface="Arial"/>
              </a:rPr>
              <a:t>vie en van</a:t>
            </a:r>
            <a:r>
              <a:rPr sz="1100" b="1" i="0">
                <a:solidFill>
                  <a:srgbClr val="111111"/>
                </a:solidFill>
                <a:latin typeface="Arial"/>
              </a:rPr>
              <a:t>   Odalys</a:t>
            </a:r>
          </a:p>
          <a:p>
            <a:pPr algn="l">
              <a:spcAft>
                <a:spcPts val="500"/>
              </a:spcAft>
            </a:pPr>
            <a:r>
              <a:rPr sz="1100" b="1" i="0">
                <a:solidFill>
                  <a:srgbClr val="111111"/>
                </a:solidFill>
                <a:latin typeface="Arial"/>
              </a:rPr>
              <a:t>Club Med</a:t>
            </a:r>
            <a:r>
              <a:rPr sz="1100" b="0" i="0">
                <a:solidFill>
                  <a:srgbClr val="555B66"/>
                </a:solidFill>
                <a:latin typeface="Arial"/>
              </a:rPr>
              <a:t>   Center Parcs</a:t>
            </a:r>
            <a:r>
              <a:rPr sz="1100" b="0" i="0">
                <a:solidFill>
                  <a:srgbClr val="EE6A2C"/>
                </a:solidFill>
                <a:latin typeface="Arial"/>
              </a:rPr>
              <a:t>   Lagrange</a:t>
            </a:r>
          </a:p>
          <a:p>
            <a:pPr algn="l">
              <a:spcAft>
                <a:spcPts val="500"/>
              </a:spcAft>
            </a:pPr>
            <a:r>
              <a:rPr sz="1100" b="1" i="0">
                <a:solidFill>
                  <a:srgbClr val="111111"/>
                </a:solidFill>
                <a:latin typeface="Arial"/>
              </a:rPr>
              <a:t>Maeva</a:t>
            </a:r>
            <a:r>
              <a:rPr sz="1100" b="0" i="0">
                <a:solidFill>
                  <a:srgbClr val="555B66"/>
                </a:solidFill>
                <a:latin typeface="Arial"/>
              </a:rPr>
              <a:t>   VVF</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choisir un sac cabine conforme aux dimensions des compagnies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sac choisir pour combo randonnée et ski de rando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organiser une trousse de toilette conforme aux règles de sécurité ?</a:t>
            </a:r>
          </a:p>
        </p:txBody>
      </p:sp>
      <p:sp>
        <p:nvSpPr>
          <p:cNvPr id="77" name="TextBox 76"/>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8" name="TextBox 77"/>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9" name="TextBox 78"/>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0" name="Rectangle 79"/>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96656" y="4389120"/>
            <a:ext cx="2225040" cy="152400"/>
          </a:xfrm>
          <a:prstGeom prst="rect">
            <a:avLst/>
          </a:prstGeom>
          <a:noFill/>
        </p:spPr>
        <p:txBody>
          <a:bodyPr wrap="square" anchor="t" lIns="0" rIns="0" tIns="0" bIns="0">
            <a:spAutoFit/>
          </a:bodyPr>
          <a:lstStyle/>
          <a:p>
            <a:pPr algn="l"/>
            <a:r>
              <a:rPr sz="800" b="0" i="0">
                <a:solidFill>
                  <a:srgbClr val="111111"/>
                </a:solidFill>
                <a:latin typeface="Arial"/>
              </a:rPr>
              <a:t>Location de vacances France et Europe</a:t>
            </a:r>
          </a:p>
        </p:txBody>
      </p:sp>
      <p:sp>
        <p:nvSpPr>
          <p:cNvPr id="82" name="Rectangle 81"/>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Séjours montagne en hiver · 50 %</a:t>
            </a:r>
          </a:p>
        </p:txBody>
      </p:sp>
      <p:sp>
        <p:nvSpPr>
          <p:cNvPr id="84" name="Rectangle 83"/>
          <p:cNvSpPr/>
          <p:nvPr/>
        </p:nvSpPr>
        <p:spPr>
          <a:xfrm>
            <a:off x="10564368" y="4450080"/>
            <a:ext cx="475488" cy="67056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564368" y="4450080"/>
            <a:ext cx="475488" cy="670560"/>
          </a:xfrm>
          <a:prstGeom prst="rect">
            <a:avLst/>
          </a:prstGeom>
          <a:noFill/>
        </p:spPr>
        <p:txBody>
          <a:bodyPr wrap="square" anchor="ctr" lIns="0" rIns="0" tIns="0" bIns="0">
            <a:spAutoFit/>
          </a:bodyPr>
          <a:lstStyle/>
          <a:p>
            <a:pPr algn="ctr"/>
            <a:r>
              <a:rPr sz="1000" b="1" i="0">
                <a:solidFill>
                  <a:srgbClr val="FFFFFF"/>
                </a:solidFill>
                <a:latin typeface="Arial"/>
              </a:rPr>
              <a:t>50 %</a:t>
            </a:r>
          </a:p>
        </p:txBody>
      </p:sp>
      <p:sp>
        <p:nvSpPr>
          <p:cNvPr id="86" name="Rectangle 85"/>
          <p:cNvSpPr/>
          <p:nvPr/>
        </p:nvSpPr>
        <p:spPr>
          <a:xfrm>
            <a:off x="10564368" y="5120640"/>
            <a:ext cx="475488" cy="67056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564368" y="5120640"/>
            <a:ext cx="475488" cy="670560"/>
          </a:xfrm>
          <a:prstGeom prst="rect">
            <a:avLst/>
          </a:prstGeom>
          <a:noFill/>
        </p:spPr>
        <p:txBody>
          <a:bodyPr wrap="square" anchor="ctr" lIns="0" rIns="0" tIns="0" bIns="0">
            <a:spAutoFit/>
          </a:bodyPr>
          <a:lstStyle/>
          <a:p>
            <a:pPr algn="ctr"/>
            <a:r>
              <a:rPr sz="1000" b="1" i="0">
                <a:solidFill>
                  <a:srgbClr val="FFFFFF"/>
                </a:solidFill>
                <a:latin typeface="Arial"/>
              </a:rPr>
              <a:t>50 %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Pierre &amp; Vacances</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Deux annonces au même niveau</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location France et Europe (1,03 fois le CTR moyen) et l'annonce montagne en hiver (0,97 fois) se partagent la diffusion à parts égales.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Ajouter des annonces par destination pour identifier ce qui clique le plus.</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Préparer la saison d'hiver</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 moitié de la diffusion porte déjà sur les séjours à la montagne cet hiver.</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résidences près des pistes pour les vacances de Noël et d'hiver.</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Des annonces sans destination ni prix</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deux annonces restent génériques (« à la mer comme à la montagne », « près des pistes ») ; aucune ne cite une station, une ville ou un prix.</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des annonces par station ou destination, avec un prix d'appel.</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Un premier mois encourageant</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Lancée le 15/09, la campagne génère 3 144 clics en 16 jours, pour un CTR de 0,49 %.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Poursuivre la diffusion sur la saison d'hiver.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Pour de Bon</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701 502</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−31 %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2 476 488</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3 334</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+32 %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7 502</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0,48 %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+0,23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0,30 %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n'est pas encore installé. Les conversions apparaîtront dans ce rapport dès son intégration.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sans additifs</a:t>
            </a:r>
            <a:r>
              <a:rPr sz="1600" b="1" i="0">
                <a:solidFill>
                  <a:srgbClr val="111111"/>
                </a:solidFill>
                <a:latin typeface="Arial"/>
              </a:rPr>
              <a:t>   étiquette</a:t>
            </a:r>
          </a:p>
          <a:p>
            <a:pPr algn="l">
              <a:spcAft>
                <a:spcPts val="500"/>
              </a:spcAft>
            </a:pPr>
            <a:r>
              <a:rPr sz="1500" b="1" i="0">
                <a:solidFill>
                  <a:srgbClr val="555B66"/>
                </a:solidFill>
                <a:latin typeface="Arial"/>
              </a:rPr>
              <a:t>fleur de sel</a:t>
            </a:r>
            <a:r>
              <a:rPr sz="1400" b="1" i="0">
                <a:solidFill>
                  <a:srgbClr val="111111"/>
                </a:solidFill>
                <a:latin typeface="Arial"/>
              </a:rPr>
              <a:t>   huile d'olive</a:t>
            </a:r>
          </a:p>
          <a:p>
            <a:pPr algn="l">
              <a:spcAft>
                <a:spcPts val="500"/>
              </a:spcAft>
            </a:pPr>
            <a:r>
              <a:rPr sz="1300" b="1" i="0">
                <a:solidFill>
                  <a:srgbClr val="EE6A2C"/>
                </a:solidFill>
                <a:latin typeface="Arial"/>
              </a:rPr>
              <a:t>fromage</a:t>
            </a:r>
            <a:r>
              <a:rPr sz="1200" b="0" i="0">
                <a:solidFill>
                  <a:srgbClr val="555B66"/>
                </a:solidFill>
                <a:latin typeface="Arial"/>
              </a:rPr>
              <a:t>   épices</a:t>
            </a:r>
          </a:p>
          <a:p>
            <a:pPr algn="l">
              <a:spcAft>
                <a:spcPts val="500"/>
              </a:spcAft>
            </a:pPr>
            <a:r>
              <a:rPr sz="1100" b="1" i="0">
                <a:solidFill>
                  <a:srgbClr val="EE6A2C"/>
                </a:solidFill>
                <a:latin typeface="Arial"/>
              </a:rPr>
              <a:t>bio</a:t>
            </a:r>
            <a:r>
              <a:rPr sz="1100" b="1" i="0">
                <a:solidFill>
                  <a:srgbClr val="111111"/>
                </a:solidFill>
                <a:latin typeface="Arial"/>
              </a:rPr>
              <a:t>   chocolat 70 %</a:t>
            </a:r>
          </a:p>
          <a:p>
            <a:pPr algn="l">
              <a:spcAft>
                <a:spcPts val="500"/>
              </a:spcAft>
            </a:pPr>
            <a:r>
              <a:rPr sz="1100" b="1" i="0">
                <a:solidFill>
                  <a:srgbClr val="111111"/>
                </a:solidFill>
                <a:latin typeface="Arial"/>
              </a:rPr>
              <a:t>frais de livraison</a:t>
            </a:r>
            <a:r>
              <a:rPr sz="1100" b="0" i="0">
                <a:solidFill>
                  <a:srgbClr val="555B66"/>
                </a:solidFill>
                <a:latin typeface="Arial"/>
              </a:rPr>
              <a:t>   vinaigre</a:t>
            </a:r>
            <a:r>
              <a:rPr sz="1100" b="1" i="0">
                <a:solidFill>
                  <a:srgbClr val="EE6A2C"/>
                </a:solidFill>
                <a:latin typeface="Arial"/>
              </a:rPr>
              <a:t>   comté</a:t>
            </a:r>
          </a:p>
          <a:p>
            <a:pPr algn="l">
              <a:spcAft>
                <a:spcPts val="500"/>
              </a:spcAft>
            </a:pPr>
            <a:r>
              <a:rPr sz="1100" b="1" i="0">
                <a:solidFill>
                  <a:srgbClr val="111111"/>
                </a:solidFill>
                <a:latin typeface="Arial"/>
              </a:rPr>
              <a:t>Picard</a:t>
            </a:r>
            <a:r>
              <a:rPr sz="1100" b="0" i="0">
                <a:solidFill>
                  <a:srgbClr val="555B66"/>
                </a:solidFill>
                <a:latin typeface="Arial"/>
              </a:rPr>
              <a:t>   La Grande Épicerie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Où acheter directement auprès de producteurs français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fromage choisir pour un plateau régional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Où commander un magret directement chez un éleveur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panier gourmand offrir à un amateur de régions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Peut-on faire livrer des produits fermiers au frais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800" b="0" i="0">
                <a:solidFill>
                  <a:srgbClr val="111111"/>
                </a:solidFill>
                <a:latin typeface="Arial"/>
              </a:rPr>
              <a:t>Viandes, volailles et charcuterie · 19 %</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Champagnes, vins et cadeaux · 31 %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800" b="0" i="0">
                <a:solidFill>
                  <a:srgbClr val="111111"/>
                </a:solidFill>
                <a:latin typeface="Arial"/>
              </a:rPr>
              <a:t>Poissons et produits de la mer · 18 %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800" b="0" i="0">
                <a:solidFill>
                  <a:srgbClr val="111111"/>
                </a:solidFill>
                <a:latin typeface="Arial"/>
              </a:rPr>
              <a:t>Fromages et produits laitiers · 16 %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1000" b="0" i="0">
                <a:solidFill>
                  <a:srgbClr val="111111"/>
                </a:solidFill>
                <a:latin typeface="Arial"/>
              </a:rPr>
              <a:t>Épicerie sucrée et miel · 11 %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800" b="0" i="0">
                <a:solidFill>
                  <a:srgbClr val="111111"/>
                </a:solidFill>
                <a:latin typeface="Arial"/>
              </a:rPr>
              <a:t>Plats préparés et spécialités · 5 %</a:t>
            </a:r>
          </a:p>
        </p:txBody>
      </p:sp>
      <p:sp>
        <p:nvSpPr>
          <p:cNvPr id="98" name="Rectangle 97"/>
          <p:cNvSpPr/>
          <p:nvPr/>
        </p:nvSpPr>
        <p:spPr>
          <a:xfrm>
            <a:off x="10564368" y="4450080"/>
            <a:ext cx="475488" cy="254812"/>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564368" y="4704892"/>
            <a:ext cx="475488" cy="415747"/>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0564368" y="4704892"/>
            <a:ext cx="475488" cy="415747"/>
          </a:xfrm>
          <a:prstGeom prst="rect">
            <a:avLst/>
          </a:prstGeom>
          <a:noFill/>
        </p:spPr>
        <p:txBody>
          <a:bodyPr wrap="square" anchor="ctr" lIns="0" rIns="0" tIns="0" bIns="0">
            <a:spAutoFit/>
          </a:bodyPr>
          <a:lstStyle/>
          <a:p>
            <a:pPr algn="ctr"/>
            <a:r>
              <a:rPr sz="1000" b="1" i="0">
                <a:solidFill>
                  <a:srgbClr val="FFFFFF"/>
                </a:solidFill>
                <a:latin typeface="Arial"/>
              </a:rPr>
              <a:t>31 %</a:t>
            </a:r>
          </a:p>
        </p:txBody>
      </p:sp>
      <p:sp>
        <p:nvSpPr>
          <p:cNvPr id="101" name="Rectangle 100"/>
          <p:cNvSpPr/>
          <p:nvPr/>
        </p:nvSpPr>
        <p:spPr>
          <a:xfrm>
            <a:off x="10564368" y="5120640"/>
            <a:ext cx="475488" cy="241401"/>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564368" y="5362041"/>
            <a:ext cx="475488" cy="214579"/>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64368" y="5576620"/>
            <a:ext cx="475488" cy="147523"/>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564368" y="5724144"/>
            <a:ext cx="475488" cy="67056"/>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Pour de Bon</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coffrets cadeaux</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coffret Champagne et Safran atteint 1,96 fois le CTR moyen, le meilleur score du mois.</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Préparer les coffrets cadeaux pour les fêtes de fin d'année.</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légumes de saison et les fromages cliquent bien</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légumes de saison atteignent 1,42 fois la moyenne, le comté 12 mois AOP 1,24 fois.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chaque produit à son producteur et à sa saison.</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poissons et fruits de mer</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poissons et fruits de mer restent à 0,52 fois la moyenne (huîtres gratinées 0,44 fois, saumon au miel 0,46 fois), alors qu'ils représentent 14 % de la diffusion.</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Réduire leur part ou les présenter comme une idée de repas de fête.</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Moins d'impressions, plus de clics</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impressions baissent de 31 % mais les clics progressent de 32 %. Le CTR passe de 0,25 % à 0,48 %.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Prolonger le ciblage resserré.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Qonto</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1 094 021</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1 094 021</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4 757</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4 757</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0,43 %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0,43 %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Le Conversion Tracker est en cours de validation : </a:t>
            </a:r>
            <a:r>
              <a:rPr sz="900" b="0" i="0">
                <a:solidFill>
                  <a:srgbClr val="555B66"/>
                </a:solidFill>
                <a:latin typeface="Arial"/>
              </a:rPr>
              <a:t>l'intégration a été réalisée le 7 octobre. Les conversions apparaîtront dans ce rapport dès que la remontée des données sera validée.</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création d'entreprise</a:t>
            </a:r>
            <a:r>
              <a:rPr sz="1600" b="1" i="0">
                <a:solidFill>
                  <a:srgbClr val="111111"/>
                </a:solidFill>
                <a:latin typeface="Arial"/>
              </a:rPr>
              <a:t>   compte pro</a:t>
            </a:r>
          </a:p>
          <a:p>
            <a:pPr algn="l">
              <a:spcAft>
                <a:spcPts val="500"/>
              </a:spcAft>
            </a:pPr>
            <a:r>
              <a:rPr sz="1500" b="1" i="0">
                <a:solidFill>
                  <a:srgbClr val="555B66"/>
                </a:solidFill>
                <a:latin typeface="Arial"/>
              </a:rPr>
              <a:t>Boursorama</a:t>
            </a:r>
            <a:r>
              <a:rPr sz="1400" b="1" i="0">
                <a:solidFill>
                  <a:srgbClr val="111111"/>
                </a:solidFill>
                <a:latin typeface="Arial"/>
              </a:rPr>
              <a:t>   BNP Paribas</a:t>
            </a:r>
          </a:p>
          <a:p>
            <a:pPr algn="l">
              <a:spcAft>
                <a:spcPts val="500"/>
              </a:spcAft>
            </a:pPr>
            <a:r>
              <a:rPr sz="1300" b="1" i="0">
                <a:solidFill>
                  <a:srgbClr val="EE6A2C"/>
                </a:solidFill>
                <a:latin typeface="Arial"/>
              </a:rPr>
              <a:t>Revolut Business</a:t>
            </a:r>
            <a:r>
              <a:rPr sz="1200" b="0" i="0">
                <a:solidFill>
                  <a:srgbClr val="555B66"/>
                </a:solidFill>
                <a:latin typeface="Arial"/>
              </a:rPr>
              <a:t>   Shine</a:t>
            </a:r>
          </a:p>
          <a:p>
            <a:pPr algn="l">
              <a:spcAft>
                <a:spcPts val="500"/>
              </a:spcAft>
            </a:pPr>
            <a:r>
              <a:rPr sz="1100" b="1" i="0">
                <a:solidFill>
                  <a:srgbClr val="EE6A2C"/>
                </a:solidFill>
                <a:latin typeface="Arial"/>
              </a:rPr>
              <a:t>retraite</a:t>
            </a:r>
            <a:r>
              <a:rPr sz="1100" b="1" i="0">
                <a:solidFill>
                  <a:srgbClr val="111111"/>
                </a:solidFill>
                <a:latin typeface="Arial"/>
              </a:rPr>
              <a:t>   vol de portefeuille</a:t>
            </a:r>
          </a:p>
          <a:p>
            <a:pPr algn="l">
              <a:spcAft>
                <a:spcPts val="500"/>
              </a:spcAft>
            </a:pPr>
            <a:r>
              <a:rPr sz="1100" b="1" i="0">
                <a:solidFill>
                  <a:srgbClr val="111111"/>
                </a:solidFill>
                <a:latin typeface="Arial"/>
              </a:rPr>
              <a:t>carte perdue</a:t>
            </a:r>
            <a:r>
              <a:rPr sz="1100" b="0" i="0">
                <a:solidFill>
                  <a:srgbClr val="555B66"/>
                </a:solidFill>
                <a:latin typeface="Arial"/>
              </a:rPr>
              <a:t>   LCL</a:t>
            </a:r>
            <a:r>
              <a:rPr sz="1100" b="0" i="0">
                <a:solidFill>
                  <a:srgbClr val="EE6A2C"/>
                </a:solidFill>
                <a:latin typeface="Arial"/>
              </a:rPr>
              <a:t>   Crédit Agricole</a:t>
            </a:r>
          </a:p>
          <a:p>
            <a:pPr algn="l">
              <a:spcAft>
                <a:spcPts val="500"/>
              </a:spcAft>
            </a:pPr>
            <a:r>
              <a:rPr sz="1100" b="1" i="0">
                <a:solidFill>
                  <a:srgbClr val="111111"/>
                </a:solidFill>
                <a:latin typeface="Arial"/>
              </a:rPr>
              <a:t>banque en ligne</a:t>
            </a:r>
            <a:r>
              <a:rPr sz="1100" b="0" i="0">
                <a:solidFill>
                  <a:srgbClr val="555B66"/>
                </a:solidFill>
                <a:latin typeface="Arial"/>
              </a:rPr>
              <a:t>   professionnels</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À compléter : le rapport d'insights ne fournit pas d'exemples de requêtes pour Qonto</a:t>
            </a:r>
          </a:p>
        </p:txBody>
      </p:sp>
      <p:sp>
        <p:nvSpPr>
          <p:cNvPr id="71" name="TextBox 70"/>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2" name="TextBox 71"/>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3" name="TextBox 72"/>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74" name="Rectangle 73"/>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Compte pro</a:t>
            </a:r>
          </a:p>
        </p:txBody>
      </p:sp>
      <p:sp>
        <p:nvSpPr>
          <p:cNvPr id="76" name="Rectangle 75"/>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96656" y="4657344"/>
            <a:ext cx="2225040" cy="152400"/>
          </a:xfrm>
          <a:prstGeom prst="rect">
            <a:avLst/>
          </a:prstGeom>
          <a:noFill/>
        </p:spPr>
        <p:txBody>
          <a:bodyPr wrap="square" anchor="t" lIns="0" rIns="0" tIns="0" bIns="0">
            <a:spAutoFit/>
          </a:bodyPr>
          <a:lstStyle/>
          <a:p>
            <a:pPr algn="l"/>
            <a:r>
              <a:rPr sz="1000" b="0" i="0">
                <a:solidFill>
                  <a:srgbClr val="111111"/>
                </a:solidFill>
                <a:latin typeface="Arial"/>
              </a:rPr>
              <a:t>Création d'entreprise · 30 %</a:t>
            </a:r>
          </a:p>
        </p:txBody>
      </p:sp>
      <p:sp>
        <p:nvSpPr>
          <p:cNvPr id="78" name="Rectangle 77"/>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Facturation · 29 %</a:t>
            </a:r>
          </a:p>
        </p:txBody>
      </p:sp>
      <p:sp>
        <p:nvSpPr>
          <p:cNvPr id="80" name="Rectangle 79"/>
          <p:cNvSpPr/>
          <p:nvPr/>
        </p:nvSpPr>
        <p:spPr>
          <a:xfrm>
            <a:off x="10564368" y="4450080"/>
            <a:ext cx="475488" cy="549859"/>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64368" y="4450080"/>
            <a:ext cx="475488" cy="549859"/>
          </a:xfrm>
          <a:prstGeom prst="rect">
            <a:avLst/>
          </a:prstGeom>
          <a:noFill/>
        </p:spPr>
        <p:txBody>
          <a:bodyPr wrap="square" anchor="ctr" lIns="0" rIns="0" tIns="0" bIns="0">
            <a:spAutoFit/>
          </a:bodyPr>
          <a:lstStyle/>
          <a:p>
            <a:pPr algn="ctr"/>
            <a:r>
              <a:rPr sz="1000" b="1" i="0">
                <a:solidFill>
                  <a:srgbClr val="FFFFFF"/>
                </a:solidFill>
                <a:latin typeface="Arial"/>
              </a:rPr>
              <a:t>41 %</a:t>
            </a:r>
          </a:p>
        </p:txBody>
      </p:sp>
      <p:sp>
        <p:nvSpPr>
          <p:cNvPr id="82" name="Rectangle 81"/>
          <p:cNvSpPr/>
          <p:nvPr/>
        </p:nvSpPr>
        <p:spPr>
          <a:xfrm>
            <a:off x="10564368" y="4999939"/>
            <a:ext cx="475488" cy="402336"/>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64368" y="4999939"/>
            <a:ext cx="475488" cy="402336"/>
          </a:xfrm>
          <a:prstGeom prst="rect">
            <a:avLst/>
          </a:prstGeom>
          <a:noFill/>
        </p:spPr>
        <p:txBody>
          <a:bodyPr wrap="square" anchor="ctr" lIns="0" rIns="0" tIns="0" bIns="0">
            <a:spAutoFit/>
          </a:bodyPr>
          <a:lstStyle/>
          <a:p>
            <a:pPr algn="ctr"/>
            <a:r>
              <a:rPr sz="1000" b="1" i="0">
                <a:solidFill>
                  <a:srgbClr val="FFFFFF"/>
                </a:solidFill>
                <a:latin typeface="Arial"/>
              </a:rPr>
              <a:t>30 %</a:t>
            </a:r>
          </a:p>
        </p:txBody>
      </p:sp>
      <p:sp>
        <p:nvSpPr>
          <p:cNvPr id="84" name="Rectangle 83"/>
          <p:cNvSpPr/>
          <p:nvPr/>
        </p:nvSpPr>
        <p:spPr>
          <a:xfrm>
            <a:off x="10564368" y="5402275"/>
            <a:ext cx="475488" cy="388924"/>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564368" y="5402275"/>
            <a:ext cx="475488" cy="388924"/>
          </a:xfrm>
          <a:prstGeom prst="rect">
            <a:avLst/>
          </a:prstGeom>
          <a:noFill/>
        </p:spPr>
        <p:txBody>
          <a:bodyPr wrap="square" anchor="ctr" lIns="0" rIns="0" tIns="0" bIns="0">
            <a:spAutoFit/>
          </a:bodyPr>
          <a:lstStyle/>
          <a:p>
            <a:pPr algn="ctr"/>
            <a:r>
              <a:rPr sz="1000" b="1" i="0">
                <a:solidFill>
                  <a:srgbClr val="FFFFFF"/>
                </a:solidFill>
                <a:latin typeface="Arial"/>
              </a:rPr>
              <a:t>29 %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Qonto</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facturation clique le plus</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Logiciel de facturation gratuit » atteint 1,13 fois le CTR moyen.</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la facturation électronique, à l'approche de la réforme.</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création d'entreprise fonctionne bien</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création d'entreprise atteint 1,06 fois la moyenne.</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Cibler les moments de création (statuts, dépôt de capital, immatriculation).</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l'annonce compte pro</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 compte pro représente 41 % de la diffusion mais reste à 0,86 fois la moyenne.</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une accroche plus concrète (ouverture en quelques minutes, cartes, virements instantanés).</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Un premier mois solide</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Lancée le 03/09, la campagne génère 4 757 clics pour un CTR de 0,43 %.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Mesurer les ouvertures de compte pour piloter la campagne.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Smartphone ID</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240 223</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−24 %</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558 183</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1 240</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+90 %</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1 893</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0,52 %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+0,31 pt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0,34 %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600" b="1" i="0">
                <a:solidFill>
                  <a:srgbClr val="555B66"/>
                </a:solidFill>
                <a:latin typeface="Arial"/>
              </a:rPr>
              <a:t>À compléter</a:t>
            </a:r>
          </a:p>
          <a:p>
            <a:pPr algn="l">
              <a:spcAft>
                <a:spcPts val="500"/>
              </a:spcAft>
            </a:pPr>
            <a:r>
              <a:rPr sz="1100" b="0" i="0">
                <a:solidFill>
                  <a:srgbClr val="555B66"/>
                </a:solidFill>
                <a:latin typeface="Arial"/>
              </a:rPr>
              <a:t>Rapport d'insights de septembre</a:t>
            </a:r>
          </a:p>
          <a:p>
            <a:pPr algn="l">
              <a:spcAft>
                <a:spcPts val="500"/>
              </a:spcAft>
            </a:pPr>
            <a:r>
              <a:rPr sz="1100" b="0" i="0">
                <a:solidFill>
                  <a:srgbClr val="555B66"/>
                </a:solidFill>
                <a:latin typeface="Arial"/>
              </a:rPr>
              <a:t>hors sujet (smartphones reconditionnés)</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faire une photo d'identité conforme avec mon téléphone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Peut-on faire une photo de passeport depuis chez soi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savoir si ma photo d'identité sera acceptée ?</a:t>
            </a:r>
          </a:p>
        </p:txBody>
      </p:sp>
      <p:sp>
        <p:nvSpPr>
          <p:cNvPr id="77" name="Rectangle 76"/>
          <p:cNvSpPr/>
          <p:nvPr/>
        </p:nvSpPr>
        <p:spPr>
          <a:xfrm>
            <a:off x="4437888" y="536448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59808" y="536448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9" name="TextBox 78"/>
          <p:cNvSpPr txBox="1"/>
          <p:nvPr/>
        </p:nvSpPr>
        <p:spPr>
          <a:xfrm>
            <a:off x="4791456" y="5364480"/>
            <a:ext cx="2499360" cy="304800"/>
          </a:xfrm>
          <a:prstGeom prst="rect">
            <a:avLst/>
          </a:prstGeom>
          <a:noFill/>
        </p:spPr>
        <p:txBody>
          <a:bodyPr wrap="square" anchor="ctr" lIns="0" rIns="0" tIns="0" bIns="0">
            <a:spAutoFit/>
          </a:bodyPr>
          <a:lstStyle/>
          <a:p>
            <a:pPr algn="l"/>
            <a:r>
              <a:rPr sz="900" b="0" i="0">
                <a:solidFill>
                  <a:srgbClr val="111111"/>
                </a:solidFill>
                <a:latin typeface="Arial"/>
              </a:rPr>
              <a:t>Quelle photo faut-il transmettre sur le site de l'ANTS ?</a:t>
            </a:r>
          </a:p>
        </p:txBody>
      </p:sp>
      <p:sp>
        <p:nvSpPr>
          <p:cNvPr id="80" name="Rectangle 79"/>
          <p:cNvSpPr/>
          <p:nvPr/>
        </p:nvSpPr>
        <p:spPr>
          <a:xfrm>
            <a:off x="4437888" y="573024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59808" y="573024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82" name="TextBox 81"/>
          <p:cNvSpPr txBox="1"/>
          <p:nvPr/>
        </p:nvSpPr>
        <p:spPr>
          <a:xfrm>
            <a:off x="4791456" y="573024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prendre une photo d'identité correcte pour un bébé ?</a:t>
            </a:r>
          </a:p>
        </p:txBody>
      </p:sp>
      <p:sp>
        <p:nvSpPr>
          <p:cNvPr id="83" name="TextBox 82"/>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84" name="TextBox 83"/>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85" name="TextBox 84"/>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6" name="Rectangle 85"/>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Carte d'identité et passeport</a:t>
            </a:r>
          </a:p>
        </p:txBody>
      </p:sp>
      <p:sp>
        <p:nvSpPr>
          <p:cNvPr id="88" name="Rectangle 87"/>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Permis de conduire et e-photo ANTS · 24 %</a:t>
            </a:r>
          </a:p>
        </p:txBody>
      </p:sp>
      <p:sp>
        <p:nvSpPr>
          <p:cNvPr id="90" name="Rectangle 89"/>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4925568"/>
            <a:ext cx="2225040" cy="152400"/>
          </a:xfrm>
          <a:prstGeom prst="rect">
            <a:avLst/>
          </a:prstGeom>
          <a:noFill/>
        </p:spPr>
        <p:txBody>
          <a:bodyPr wrap="square" anchor="t" lIns="0" rIns="0" tIns="0" bIns="0">
            <a:spAutoFit/>
          </a:bodyPr>
          <a:lstStyle/>
          <a:p>
            <a:pPr algn="l"/>
            <a:r>
              <a:rPr sz="1000" b="0" i="0">
                <a:solidFill>
                  <a:srgbClr val="111111"/>
                </a:solidFill>
                <a:latin typeface="Arial"/>
              </a:rPr>
              <a:t>Visa et titre de séjour · 15 %</a:t>
            </a:r>
          </a:p>
        </p:txBody>
      </p:sp>
      <p:sp>
        <p:nvSpPr>
          <p:cNvPr id="92" name="Rectangle 91"/>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96656" y="5193792"/>
            <a:ext cx="2225040" cy="152400"/>
          </a:xfrm>
          <a:prstGeom prst="rect">
            <a:avLst/>
          </a:prstGeom>
          <a:noFill/>
        </p:spPr>
        <p:txBody>
          <a:bodyPr wrap="square" anchor="t" lIns="0" rIns="0" tIns="0" bIns="0">
            <a:spAutoFit/>
          </a:bodyPr>
          <a:lstStyle/>
          <a:p>
            <a:pPr algn="l"/>
            <a:r>
              <a:rPr sz="800" b="0" i="0">
                <a:solidFill>
                  <a:srgbClr val="111111"/>
                </a:solidFill>
                <a:latin typeface="Arial"/>
              </a:rPr>
              <a:t>Création et contrôle de conformité · 10 %</a:t>
            </a:r>
          </a:p>
        </p:txBody>
      </p:sp>
      <p:sp>
        <p:nvSpPr>
          <p:cNvPr id="94" name="Rectangle 93"/>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296656" y="5462016"/>
            <a:ext cx="2225040" cy="152400"/>
          </a:xfrm>
          <a:prstGeom prst="rect">
            <a:avLst/>
          </a:prstGeom>
          <a:noFill/>
        </p:spPr>
        <p:txBody>
          <a:bodyPr wrap="square" anchor="t" lIns="0" rIns="0" tIns="0" bIns="0">
            <a:spAutoFit/>
          </a:bodyPr>
          <a:lstStyle/>
          <a:p>
            <a:pPr algn="l"/>
            <a:r>
              <a:rPr sz="800" b="0" i="0">
                <a:solidFill>
                  <a:srgbClr val="111111"/>
                </a:solidFill>
                <a:latin typeface="Arial"/>
              </a:rPr>
              <a:t>Photos de bébé, d'enfant et publics empêchés · 5 %</a:t>
            </a:r>
          </a:p>
        </p:txBody>
      </p:sp>
      <p:sp>
        <p:nvSpPr>
          <p:cNvPr id="96" name="Rectangle 95"/>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96656" y="5730240"/>
            <a:ext cx="2225040" cy="152400"/>
          </a:xfrm>
          <a:prstGeom prst="rect">
            <a:avLst/>
          </a:prstGeom>
          <a:noFill/>
        </p:spPr>
        <p:txBody>
          <a:bodyPr wrap="square" anchor="t" lIns="0" rIns="0" tIns="0" bIns="0">
            <a:spAutoFit/>
          </a:bodyPr>
          <a:lstStyle/>
          <a:p>
            <a:pPr algn="l"/>
            <a:r>
              <a:rPr sz="800" b="0" i="0">
                <a:solidFill>
                  <a:srgbClr val="111111"/>
                </a:solidFill>
                <a:latin typeface="Arial"/>
              </a:rPr>
              <a:t>Impression et livraison à domicile · 5 %</a:t>
            </a:r>
          </a:p>
        </p:txBody>
      </p:sp>
      <p:sp>
        <p:nvSpPr>
          <p:cNvPr id="98" name="Rectangle 97"/>
          <p:cNvSpPr/>
          <p:nvPr/>
        </p:nvSpPr>
        <p:spPr>
          <a:xfrm>
            <a:off x="10564368" y="4450080"/>
            <a:ext cx="475488" cy="549859"/>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64368" y="4450080"/>
            <a:ext cx="475488" cy="549859"/>
          </a:xfrm>
          <a:prstGeom prst="rect">
            <a:avLst/>
          </a:prstGeom>
          <a:noFill/>
        </p:spPr>
        <p:txBody>
          <a:bodyPr wrap="square" anchor="ctr" lIns="0" rIns="0" tIns="0" bIns="0">
            <a:spAutoFit/>
          </a:bodyPr>
          <a:lstStyle/>
          <a:p>
            <a:pPr algn="ctr"/>
            <a:r>
              <a:rPr sz="1000" b="1" i="0">
                <a:solidFill>
                  <a:srgbClr val="FFFFFF"/>
                </a:solidFill>
                <a:latin typeface="Arial"/>
              </a:rPr>
              <a:t>41 %</a:t>
            </a:r>
          </a:p>
        </p:txBody>
      </p:sp>
      <p:sp>
        <p:nvSpPr>
          <p:cNvPr id="100" name="Rectangle 99"/>
          <p:cNvSpPr/>
          <p:nvPr/>
        </p:nvSpPr>
        <p:spPr>
          <a:xfrm>
            <a:off x="10564368" y="4999939"/>
            <a:ext cx="475488" cy="321868"/>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564368" y="5321808"/>
            <a:ext cx="475488" cy="201168"/>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564368" y="5522976"/>
            <a:ext cx="475488" cy="134112"/>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64368" y="5657088"/>
            <a:ext cx="475488" cy="67056"/>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564368" y="5724144"/>
            <a:ext cx="475488" cy="67056"/>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Smartphone ID</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Une promesse simple qui fonctionne</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Photo d'identité en ligne en 2 minutes » génère 1 240 clics. Le CTR passe de 0,21 % à 0,52 %.</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Garder la rapidité et la conformité comme arguments principaux.</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Une seule accroche diffusée</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2 annonces diffusées portent le même message et obtiennent le même CTR (0,98 à 1,02 fois la moyenne).</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Ajouter des annonces par démarche (passeport, permis ANTS, visa, photo de bébé) pour identifier celles qui cliquent le plus.</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À compléter</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 rapport d'insights de septembre porte sur un autre secteur (smartphones reconditionnés).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À compléter avec un rapport sur la photo d'identité.</a:t>
            </a:r>
          </a:p>
        </p:txBody>
      </p:sp>
      <p:sp>
        <p:nvSpPr>
          <p:cNvPr id="24" name="Rectangle 23"/>
          <p:cNvSpPr/>
          <p:nvPr/>
        </p:nvSpPr>
        <p:spPr>
          <a:xfrm>
            <a:off x="5992368"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6" name="TextBox 25"/>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Moins d'impressions, plus de clics</a:t>
            </a:r>
          </a:p>
        </p:txBody>
      </p:sp>
      <p:sp>
        <p:nvSpPr>
          <p:cNvPr id="27" name="TextBox 26"/>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impressions baissent de 24 % mais les clics progressent de 90 %.</a:t>
            </a:r>
          </a:p>
        </p:txBody>
      </p:sp>
      <p:sp>
        <p:nvSpPr>
          <p:cNvPr id="28" name="TextBox 27"/>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Définir un objectif de campagne (photos réalisées, téléchargements, CPA cible).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5" name="TextBox 4"/>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SNCF</a:t>
            </a:r>
          </a:p>
        </p:txBody>
      </p:sp>
      <p:sp>
        <p:nvSpPr>
          <p:cNvPr id="6" name="TextBox 5"/>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7" name="TextBox 6"/>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8" name="TextBox 7"/>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9" name="TextBox 8"/>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10" name="TextBox 9"/>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1" name="Rectangle 10"/>
          <p:cNvSpPr/>
          <p:nvPr/>
        </p:nvSpPr>
        <p:spPr>
          <a:xfrm>
            <a:off x="53035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4" name="TextBox 13"/>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139 036</a:t>
            </a:r>
          </a:p>
        </p:txBody>
      </p:sp>
      <p:sp>
        <p:nvSpPr>
          <p:cNvPr id="15" name="TextBox 14"/>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6" name="TextBox 15"/>
          <p:cNvSpPr txBox="1"/>
          <p:nvPr/>
        </p:nvSpPr>
        <p:spPr>
          <a:xfrm>
            <a:off x="66446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17" name="TextBox 16"/>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139 036</a:t>
            </a:r>
          </a:p>
        </p:txBody>
      </p:sp>
      <p:sp>
        <p:nvSpPr>
          <p:cNvPr id="18" name="Rectangle 17"/>
          <p:cNvSpPr/>
          <p:nvPr/>
        </p:nvSpPr>
        <p:spPr>
          <a:xfrm>
            <a:off x="238963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8963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21" name="TextBox 20"/>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788</a:t>
            </a:r>
          </a:p>
        </p:txBody>
      </p:sp>
      <p:sp>
        <p:nvSpPr>
          <p:cNvPr id="22" name="TextBox 21"/>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3" name="TextBox 22"/>
          <p:cNvSpPr txBox="1"/>
          <p:nvPr/>
        </p:nvSpPr>
        <p:spPr>
          <a:xfrm>
            <a:off x="252374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24" name="TextBox 23"/>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788</a:t>
            </a:r>
          </a:p>
        </p:txBody>
      </p:sp>
      <p:sp>
        <p:nvSpPr>
          <p:cNvPr id="25" name="Rectangle 24"/>
          <p:cNvSpPr/>
          <p:nvPr/>
        </p:nvSpPr>
        <p:spPr>
          <a:xfrm>
            <a:off x="4248912" y="1536192"/>
            <a:ext cx="1389888" cy="112776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48912" y="1536192"/>
            <a:ext cx="48768" cy="112776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8" name="TextBox 27"/>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0,57 %</a:t>
            </a:r>
          </a:p>
        </p:txBody>
      </p:sp>
      <p:sp>
        <p:nvSpPr>
          <p:cNvPr id="29" name="TextBox 28"/>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30" name="TextBox 29"/>
          <p:cNvSpPr txBox="1"/>
          <p:nvPr/>
        </p:nvSpPr>
        <p:spPr>
          <a:xfrm>
            <a:off x="4383024" y="2377440"/>
            <a:ext cx="1219200" cy="91440"/>
          </a:xfrm>
          <a:prstGeom prst="rect">
            <a:avLst/>
          </a:prstGeom>
          <a:noFill/>
        </p:spPr>
        <p:txBody>
          <a:bodyPr wrap="square" anchor="t" lIns="0" rIns="0" tIns="0" bIns="0">
            <a:spAutoFit/>
          </a:bodyPr>
          <a:lstStyle/>
          <a:p>
            <a:pPr algn="l"/>
            <a:r>
              <a:rPr sz="700" b="0" i="0">
                <a:solidFill>
                  <a:srgbClr val="555B66"/>
                </a:solidFill>
                <a:latin typeface="Arial"/>
              </a:rPr>
              <a:t>vs période préc.</a:t>
            </a:r>
          </a:p>
        </p:txBody>
      </p:sp>
      <p:sp>
        <p:nvSpPr>
          <p:cNvPr id="31" name="TextBox 30"/>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0,57 %</a:t>
            </a:r>
          </a:p>
        </p:txBody>
      </p:sp>
      <p:sp>
        <p:nvSpPr>
          <p:cNvPr id="32" name="Rectangle 31"/>
          <p:cNvSpPr/>
          <p:nvPr/>
        </p:nvSpPr>
        <p:spPr>
          <a:xfrm>
            <a:off x="610819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2752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5" name="TextBox 34"/>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6" name="TextBox 35"/>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7" name="TextBox 36"/>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8" name="TextBox 37"/>
          <p:cNvSpPr txBox="1"/>
          <p:nvPr/>
        </p:nvSpPr>
        <p:spPr>
          <a:xfrm>
            <a:off x="624230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39" name="TextBox 38"/>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0" name="Rectangle 39"/>
          <p:cNvSpPr/>
          <p:nvPr/>
        </p:nvSpPr>
        <p:spPr>
          <a:xfrm>
            <a:off x="796747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68680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3" name="TextBox 42"/>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44" name="TextBox 43"/>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5" name="TextBox 44"/>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6" name="TextBox 45"/>
          <p:cNvSpPr txBox="1"/>
          <p:nvPr/>
        </p:nvSpPr>
        <p:spPr>
          <a:xfrm>
            <a:off x="810158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47" name="TextBox 46"/>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8" name="Rectangle 47"/>
          <p:cNvSpPr/>
          <p:nvPr/>
        </p:nvSpPr>
        <p:spPr>
          <a:xfrm>
            <a:off x="9826752" y="1536192"/>
            <a:ext cx="1389888" cy="1127760"/>
          </a:xfrm>
          <a:prstGeom prst="rect">
            <a:avLst/>
          </a:prstGeom>
          <a:solidFill>
            <a:srgbClr val="F4F3F0"/>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546080" y="1450848"/>
            <a:ext cx="609600" cy="170688"/>
          </a:xfrm>
          <a:prstGeom prst="roundRect">
            <a:avLst>
              <a:gd name="adj" fmla="val 50000"/>
            </a:avLst>
          </a:prstGeom>
          <a:solidFill>
            <a:srgbClr val="D9D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51" name="TextBox 50"/>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52" name="TextBox 51"/>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53" name="TextBox 52"/>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54" name="TextBox 53"/>
          <p:cNvSpPr txBox="1"/>
          <p:nvPr/>
        </p:nvSpPr>
        <p:spPr>
          <a:xfrm>
            <a:off x="9960864" y="2377440"/>
            <a:ext cx="1219200" cy="91440"/>
          </a:xfrm>
          <a:prstGeom prst="rect">
            <a:avLst/>
          </a:prstGeom>
          <a:noFill/>
        </p:spPr>
        <p:txBody>
          <a:bodyPr wrap="square" anchor="t" lIns="0" rIns="0" tIns="0" bIns="0">
            <a:spAutoFit/>
          </a:bodyPr>
          <a:lstStyle/>
          <a:p>
            <a:pPr algn="l"/>
            <a:r>
              <a:rPr sz="700" b="0" i="0">
                <a:solidFill>
                  <a:srgbClr val="8A93A6"/>
                </a:solidFill>
                <a:latin typeface="Arial"/>
              </a:rPr>
              <a:t>vs période préc.</a:t>
            </a:r>
          </a:p>
        </p:txBody>
      </p:sp>
      <p:sp>
        <p:nvSpPr>
          <p:cNvPr id="55" name="TextBox 54"/>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56" name="Isosceles Triangle 55"/>
          <p:cNvSpPr/>
          <p:nvPr/>
        </p:nvSpPr>
        <p:spPr>
          <a:xfrm>
            <a:off x="8564880" y="2688336"/>
            <a:ext cx="182880" cy="85344"/>
          </a:xfrm>
          <a:prstGeom prst="triangle">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08192" y="2773680"/>
            <a:ext cx="5108448" cy="438912"/>
          </a:xfrm>
          <a:prstGeom prst="roundRect">
            <a:avLst>
              <a:gd name="adj" fmla="val 15000"/>
            </a:avLst>
          </a:prstGeom>
          <a:solidFill>
            <a:srgbClr val="EB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9" name="TextBox 58"/>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60" name="Rectangle 59"/>
          <p:cNvSpPr/>
          <p:nvPr/>
        </p:nvSpPr>
        <p:spPr>
          <a:xfrm>
            <a:off x="530352"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94048"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857744" y="3584448"/>
            <a:ext cx="3401568" cy="2560320"/>
          </a:xfrm>
          <a:prstGeom prst="rect">
            <a:avLst/>
          </a:prstGeom>
          <a:solidFill>
            <a:srgbClr val="FFFFFF"/>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64" name="TextBox 63"/>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65" name="TextBox 64"/>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départ en vacances</a:t>
            </a:r>
            <a:r>
              <a:rPr sz="1600" b="1" i="0">
                <a:solidFill>
                  <a:srgbClr val="111111"/>
                </a:solidFill>
                <a:latin typeface="Arial"/>
              </a:rPr>
              <a:t>   train</a:t>
            </a:r>
          </a:p>
          <a:p>
            <a:pPr algn="l">
              <a:spcAft>
                <a:spcPts val="500"/>
              </a:spcAft>
            </a:pPr>
            <a:r>
              <a:rPr sz="1500" b="1" i="0">
                <a:solidFill>
                  <a:srgbClr val="555B66"/>
                </a:solidFill>
                <a:latin typeface="Arial"/>
              </a:rPr>
              <a:t>easyJet</a:t>
            </a:r>
            <a:r>
              <a:rPr sz="1400" b="1" i="0">
                <a:solidFill>
                  <a:srgbClr val="111111"/>
                </a:solidFill>
                <a:latin typeface="Arial"/>
              </a:rPr>
              <a:t>   Ryanair</a:t>
            </a:r>
          </a:p>
          <a:p>
            <a:pPr algn="l">
              <a:spcAft>
                <a:spcPts val="500"/>
              </a:spcAft>
            </a:pPr>
            <a:r>
              <a:rPr sz="1300" b="1" i="0">
                <a:solidFill>
                  <a:srgbClr val="EE6A2C"/>
                </a:solidFill>
                <a:latin typeface="Arial"/>
              </a:rPr>
              <a:t>Air France</a:t>
            </a:r>
            <a:r>
              <a:rPr sz="1200" b="0" i="0">
                <a:solidFill>
                  <a:srgbClr val="555B66"/>
                </a:solidFill>
                <a:latin typeface="Arial"/>
              </a:rPr>
              <a:t>   FlixBus</a:t>
            </a:r>
          </a:p>
          <a:p>
            <a:pPr algn="l">
              <a:spcAft>
                <a:spcPts val="500"/>
              </a:spcAft>
            </a:pPr>
            <a:r>
              <a:rPr sz="1100" b="1" i="0">
                <a:solidFill>
                  <a:srgbClr val="EE6A2C"/>
                </a:solidFill>
                <a:latin typeface="Arial"/>
              </a:rPr>
              <a:t>Trainline</a:t>
            </a:r>
            <a:r>
              <a:rPr sz="1100" b="1" i="0">
                <a:solidFill>
                  <a:srgbClr val="111111"/>
                </a:solidFill>
                <a:latin typeface="Arial"/>
              </a:rPr>
              <a:t>   Eurostar</a:t>
            </a:r>
          </a:p>
          <a:p>
            <a:pPr algn="l">
              <a:spcAft>
                <a:spcPts val="500"/>
              </a:spcAft>
            </a:pPr>
            <a:r>
              <a:rPr sz="1100" b="1" i="0">
                <a:solidFill>
                  <a:srgbClr val="111111"/>
                </a:solidFill>
                <a:latin typeface="Arial"/>
              </a:rPr>
              <a:t>BlaBlaCar</a:t>
            </a:r>
            <a:r>
              <a:rPr sz="1100" b="0" i="0">
                <a:solidFill>
                  <a:srgbClr val="555B66"/>
                </a:solidFill>
                <a:latin typeface="Arial"/>
              </a:rPr>
              <a:t>   Trenitalia</a:t>
            </a:r>
            <a:r>
              <a:rPr sz="1100" b="0" i="0">
                <a:solidFill>
                  <a:srgbClr val="EE6A2C"/>
                </a:solidFill>
                <a:latin typeface="Arial"/>
              </a:rPr>
              <a:t>   Kombo</a:t>
            </a:r>
          </a:p>
          <a:p>
            <a:pPr algn="l">
              <a:spcAft>
                <a:spcPts val="500"/>
              </a:spcAft>
            </a:pPr>
            <a:r>
              <a:rPr sz="1100" b="1" i="0">
                <a:solidFill>
                  <a:srgbClr val="111111"/>
                </a:solidFill>
                <a:latin typeface="Arial"/>
              </a:rPr>
              <a:t>valise</a:t>
            </a:r>
            <a:r>
              <a:rPr sz="1100" b="0" i="0">
                <a:solidFill>
                  <a:srgbClr val="555B66"/>
                </a:solidFill>
                <a:latin typeface="Arial"/>
              </a:rPr>
              <a:t>   sac cabine</a:t>
            </a:r>
          </a:p>
        </p:txBody>
      </p:sp>
      <p:sp>
        <p:nvSpPr>
          <p:cNvPr id="66" name="TextBox 65"/>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7" name="TextBox 66"/>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8" name="Rectangle 67"/>
          <p:cNvSpPr/>
          <p:nvPr/>
        </p:nvSpPr>
        <p:spPr>
          <a:xfrm>
            <a:off x="4437888" y="426720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59808" y="426720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0" name="TextBox 69"/>
          <p:cNvSpPr txBox="1"/>
          <p:nvPr/>
        </p:nvSpPr>
        <p:spPr>
          <a:xfrm>
            <a:off x="4791456" y="426720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choisir un sac cabine conforme aux dimensions des compagnies ?</a:t>
            </a:r>
          </a:p>
        </p:txBody>
      </p:sp>
      <p:sp>
        <p:nvSpPr>
          <p:cNvPr id="71" name="Rectangle 70"/>
          <p:cNvSpPr/>
          <p:nvPr/>
        </p:nvSpPr>
        <p:spPr>
          <a:xfrm>
            <a:off x="4437888" y="463296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59808" y="463296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3" name="TextBox 72"/>
          <p:cNvSpPr txBox="1"/>
          <p:nvPr/>
        </p:nvSpPr>
        <p:spPr>
          <a:xfrm>
            <a:off x="4791456" y="4632960"/>
            <a:ext cx="2499360" cy="304800"/>
          </a:xfrm>
          <a:prstGeom prst="rect">
            <a:avLst/>
          </a:prstGeom>
          <a:noFill/>
        </p:spPr>
        <p:txBody>
          <a:bodyPr wrap="square" anchor="ctr" lIns="0" rIns="0" tIns="0" bIns="0">
            <a:spAutoFit/>
          </a:bodyPr>
          <a:lstStyle/>
          <a:p>
            <a:pPr algn="l"/>
            <a:r>
              <a:rPr sz="900" b="0" i="0">
                <a:solidFill>
                  <a:srgbClr val="111111"/>
                </a:solidFill>
                <a:latin typeface="Arial"/>
              </a:rPr>
              <a:t>Quel sac choisir pour combo randonnée et ski de rando ?</a:t>
            </a:r>
          </a:p>
        </p:txBody>
      </p:sp>
      <p:sp>
        <p:nvSpPr>
          <p:cNvPr id="74" name="Rectangle 73"/>
          <p:cNvSpPr/>
          <p:nvPr/>
        </p:nvSpPr>
        <p:spPr>
          <a:xfrm>
            <a:off x="4437888" y="4998720"/>
            <a:ext cx="2913888" cy="304800"/>
          </a:xfrm>
          <a:prstGeom prst="rect">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59808" y="4998720"/>
            <a:ext cx="182880" cy="304800"/>
          </a:xfrm>
          <a:prstGeom prst="rect">
            <a:avLst/>
          </a:prstGeom>
          <a:noFill/>
        </p:spPr>
        <p:txBody>
          <a:bodyPr wrap="square" anchor="ctr" lIns="0" rIns="0" tIns="0" bIns="0">
            <a:spAutoFit/>
          </a:bodyPr>
          <a:lstStyle/>
          <a:p>
            <a:pPr algn="l"/>
            <a:r>
              <a:rPr sz="900" b="0" i="0">
                <a:solidFill>
                  <a:srgbClr val="555B66"/>
                </a:solidFill>
                <a:latin typeface="Arial"/>
              </a:rPr>
              <a:t>🔍</a:t>
            </a:r>
          </a:p>
        </p:txBody>
      </p:sp>
      <p:sp>
        <p:nvSpPr>
          <p:cNvPr id="76" name="TextBox 75"/>
          <p:cNvSpPr txBox="1"/>
          <p:nvPr/>
        </p:nvSpPr>
        <p:spPr>
          <a:xfrm>
            <a:off x="4791456" y="4998720"/>
            <a:ext cx="2499360" cy="304800"/>
          </a:xfrm>
          <a:prstGeom prst="rect">
            <a:avLst/>
          </a:prstGeom>
          <a:noFill/>
        </p:spPr>
        <p:txBody>
          <a:bodyPr wrap="square" anchor="ctr" lIns="0" rIns="0" tIns="0" bIns="0">
            <a:spAutoFit/>
          </a:bodyPr>
          <a:lstStyle/>
          <a:p>
            <a:pPr algn="l"/>
            <a:r>
              <a:rPr sz="900" b="0" i="0">
                <a:solidFill>
                  <a:srgbClr val="111111"/>
                </a:solidFill>
                <a:latin typeface="Arial"/>
              </a:rPr>
              <a:t>Comment organiser une trousse de toilette conforme aux règles de sécurité ?</a:t>
            </a:r>
          </a:p>
        </p:txBody>
      </p:sp>
      <p:sp>
        <p:nvSpPr>
          <p:cNvPr id="77" name="TextBox 76"/>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8" name="TextBox 77"/>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9" name="TextBox 78"/>
          <p:cNvSpPr txBox="1"/>
          <p:nvPr/>
        </p:nvSpPr>
        <p:spPr>
          <a:xfrm>
            <a:off x="10607040" y="4175760"/>
            <a:ext cx="518160" cy="121920"/>
          </a:xfrm>
          <a:prstGeom prst="rect">
            <a:avLst/>
          </a:prstGeom>
          <a:noFill/>
        </p:spPr>
        <p:txBody>
          <a:bodyPr wrap="square" anchor="t" lIns="0" rIns="0" tIns="0" bIns="0">
            <a:spAutoFit/>
          </a:bodyPr>
          <a:lstStyle/>
          <a:p>
            <a:pPr algn="r"/>
            <a:r>
              <a:rPr sz="1100" b="1" i="0">
                <a:solidFill>
                  <a:srgbClr val="111111"/>
                </a:solidFill>
                <a:latin typeface="Arial"/>
              </a:rPr>
              <a:t>100%</a:t>
            </a:r>
          </a:p>
        </p:txBody>
      </p:sp>
      <p:sp>
        <p:nvSpPr>
          <p:cNvPr id="80" name="Rectangle 79"/>
          <p:cNvSpPr/>
          <p:nvPr/>
        </p:nvSpPr>
        <p:spPr>
          <a:xfrm>
            <a:off x="8077200" y="4407408"/>
            <a:ext cx="121920" cy="121920"/>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96656" y="4389120"/>
            <a:ext cx="2225040" cy="152400"/>
          </a:xfrm>
          <a:prstGeom prst="rect">
            <a:avLst/>
          </a:prstGeom>
          <a:noFill/>
        </p:spPr>
        <p:txBody>
          <a:bodyPr wrap="square" anchor="t" lIns="0" rIns="0" tIns="0" bIns="0">
            <a:spAutoFit/>
          </a:bodyPr>
          <a:lstStyle/>
          <a:p>
            <a:pPr algn="l"/>
            <a:r>
              <a:rPr sz="1000" b="0" i="0">
                <a:solidFill>
                  <a:srgbClr val="111111"/>
                </a:solidFill>
                <a:latin typeface="Arial"/>
              </a:rPr>
              <a:t>Paris – Rennes · 23 %</a:t>
            </a:r>
          </a:p>
        </p:txBody>
      </p:sp>
      <p:sp>
        <p:nvSpPr>
          <p:cNvPr id="82" name="Rectangle 81"/>
          <p:cNvSpPr/>
          <p:nvPr/>
        </p:nvSpPr>
        <p:spPr>
          <a:xfrm>
            <a:off x="8077200" y="4675632"/>
            <a:ext cx="121920" cy="121920"/>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96656" y="4657344"/>
            <a:ext cx="2225040" cy="152400"/>
          </a:xfrm>
          <a:prstGeom prst="rect">
            <a:avLst/>
          </a:prstGeom>
          <a:noFill/>
        </p:spPr>
        <p:txBody>
          <a:bodyPr wrap="square" anchor="t" lIns="0" rIns="0" tIns="0" bIns="0">
            <a:spAutoFit/>
          </a:bodyPr>
          <a:lstStyle/>
          <a:p>
            <a:pPr algn="l"/>
            <a:r>
              <a:rPr sz="800" b="0" i="0">
                <a:solidFill>
                  <a:srgbClr val="111111"/>
                </a:solidFill>
                <a:latin typeface="Arial"/>
              </a:rPr>
              <a:t>Paris – Lyon / Marseille / Nice · 23 %</a:t>
            </a:r>
          </a:p>
        </p:txBody>
      </p:sp>
      <p:sp>
        <p:nvSpPr>
          <p:cNvPr id="84" name="Rectangle 83"/>
          <p:cNvSpPr/>
          <p:nvPr/>
        </p:nvSpPr>
        <p:spPr>
          <a:xfrm>
            <a:off x="8077200" y="4943856"/>
            <a:ext cx="121920" cy="12192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296656" y="4925568"/>
            <a:ext cx="2225040" cy="152400"/>
          </a:xfrm>
          <a:prstGeom prst="rect">
            <a:avLst/>
          </a:prstGeom>
          <a:noFill/>
        </p:spPr>
        <p:txBody>
          <a:bodyPr wrap="square" anchor="t" lIns="0" rIns="0" tIns="0" bIns="0">
            <a:spAutoFit/>
          </a:bodyPr>
          <a:lstStyle/>
          <a:p>
            <a:pPr algn="l"/>
            <a:r>
              <a:rPr sz="800" b="0" i="0">
                <a:solidFill>
                  <a:srgbClr val="111111"/>
                </a:solidFill>
                <a:latin typeface="Arial"/>
              </a:rPr>
              <a:t>Paris – Bordeaux / Toulouse · 17 %</a:t>
            </a:r>
          </a:p>
        </p:txBody>
      </p:sp>
      <p:sp>
        <p:nvSpPr>
          <p:cNvPr id="86" name="Rectangle 85"/>
          <p:cNvSpPr/>
          <p:nvPr/>
        </p:nvSpPr>
        <p:spPr>
          <a:xfrm>
            <a:off x="8077200" y="5212080"/>
            <a:ext cx="121920" cy="121920"/>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96656" y="5193792"/>
            <a:ext cx="2225040" cy="152400"/>
          </a:xfrm>
          <a:prstGeom prst="rect">
            <a:avLst/>
          </a:prstGeom>
          <a:noFill/>
        </p:spPr>
        <p:txBody>
          <a:bodyPr wrap="square" anchor="t" lIns="0" rIns="0" tIns="0" bIns="0">
            <a:spAutoFit/>
          </a:bodyPr>
          <a:lstStyle/>
          <a:p>
            <a:pPr algn="l"/>
            <a:r>
              <a:rPr sz="800" b="0" i="0">
                <a:solidFill>
                  <a:srgbClr val="111111"/>
                </a:solidFill>
                <a:latin typeface="Arial"/>
              </a:rPr>
              <a:t>Paris – Nantes / Lille / Strasbourg · 21 %</a:t>
            </a:r>
          </a:p>
        </p:txBody>
      </p:sp>
      <p:sp>
        <p:nvSpPr>
          <p:cNvPr id="88" name="Rectangle 87"/>
          <p:cNvSpPr/>
          <p:nvPr/>
        </p:nvSpPr>
        <p:spPr>
          <a:xfrm>
            <a:off x="8077200" y="5480304"/>
            <a:ext cx="121920" cy="12192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296656" y="5462016"/>
            <a:ext cx="2225040" cy="152400"/>
          </a:xfrm>
          <a:prstGeom prst="rect">
            <a:avLst/>
          </a:prstGeom>
          <a:noFill/>
        </p:spPr>
        <p:txBody>
          <a:bodyPr wrap="square" anchor="t" lIns="0" rIns="0" tIns="0" bIns="0">
            <a:spAutoFit/>
          </a:bodyPr>
          <a:lstStyle/>
          <a:p>
            <a:pPr algn="l"/>
            <a:r>
              <a:rPr sz="800" b="0" i="0">
                <a:solidFill>
                  <a:srgbClr val="111111"/>
                </a:solidFill>
                <a:latin typeface="Arial"/>
              </a:rPr>
              <a:t>International (Amsterdam, Barcelone) · 9 %</a:t>
            </a:r>
          </a:p>
        </p:txBody>
      </p:sp>
      <p:sp>
        <p:nvSpPr>
          <p:cNvPr id="90" name="Rectangle 89"/>
          <p:cNvSpPr/>
          <p:nvPr/>
        </p:nvSpPr>
        <p:spPr>
          <a:xfrm>
            <a:off x="8077200" y="5748528"/>
            <a:ext cx="121920" cy="121920"/>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96656" y="5730240"/>
            <a:ext cx="2225040" cy="152400"/>
          </a:xfrm>
          <a:prstGeom prst="rect">
            <a:avLst/>
          </a:prstGeom>
          <a:noFill/>
        </p:spPr>
        <p:txBody>
          <a:bodyPr wrap="square" anchor="t" lIns="0" rIns="0" tIns="0" bIns="0">
            <a:spAutoFit/>
          </a:bodyPr>
          <a:lstStyle/>
          <a:p>
            <a:pPr algn="l"/>
            <a:r>
              <a:rPr sz="1000" b="0" i="0">
                <a:solidFill>
                  <a:srgbClr val="111111"/>
                </a:solidFill>
                <a:latin typeface="Arial"/>
              </a:rPr>
              <a:t>Autres liaisons · 7 %</a:t>
            </a:r>
          </a:p>
        </p:txBody>
      </p:sp>
      <p:sp>
        <p:nvSpPr>
          <p:cNvPr id="92" name="Rectangle 91"/>
          <p:cNvSpPr/>
          <p:nvPr/>
        </p:nvSpPr>
        <p:spPr>
          <a:xfrm>
            <a:off x="10564368" y="4450080"/>
            <a:ext cx="475488" cy="308457"/>
          </a:xfrm>
          <a:prstGeom prst="rect">
            <a:avLst/>
          </a:prstGeom>
          <a:solidFill>
            <a:srgbClr val="1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0564368" y="4758537"/>
            <a:ext cx="475488" cy="308457"/>
          </a:xfrm>
          <a:prstGeom prst="rect">
            <a:avLst/>
          </a:prstGeom>
          <a:solidFill>
            <a:srgbClr val="7A4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564368" y="5066995"/>
            <a:ext cx="475488" cy="227990"/>
          </a:xfrm>
          <a:prstGeom prst="rect">
            <a:avLst/>
          </a:prstGeom>
          <a:solidFill>
            <a:srgbClr val="EB9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0564368" y="5294985"/>
            <a:ext cx="475488" cy="281635"/>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0564368" y="5576620"/>
            <a:ext cx="475488" cy="120700"/>
          </a:xfrm>
          <a:prstGeom prst="rect">
            <a:avLst/>
          </a:prstGeom>
          <a:solidFill>
            <a:srgbClr val="3E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564368" y="5697321"/>
            <a:ext cx="475488" cy="93878"/>
          </a:xfrm>
          <a:prstGeom prst="rect">
            <a:avLst/>
          </a:prstGeom>
          <a:solidFill>
            <a:srgbClr val="A09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121920"/>
            <a:ext cx="11612880" cy="85344"/>
          </a:xfrm>
          <a:prstGeom prst="rect">
            <a:avLst/>
          </a:prstGeom>
          <a:solidFill>
            <a:srgbClr val="EE6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5" name="TextBox 4"/>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SNCF</a:t>
            </a:r>
          </a:p>
        </p:txBody>
      </p:sp>
      <p:sp>
        <p:nvSpPr>
          <p:cNvPr id="6" name="TextBox 5"/>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7" name="TextBox 6"/>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8" name="TextBox 7"/>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9" name="Rectangle 8"/>
          <p:cNvSpPr/>
          <p:nvPr/>
        </p:nvSpPr>
        <p:spPr>
          <a:xfrm>
            <a:off x="579120"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1" name="TextBox 10"/>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Plafonner Paris – Rennes</a:t>
            </a:r>
          </a:p>
        </p:txBody>
      </p:sp>
      <p:sp>
        <p:nvSpPr>
          <p:cNvPr id="12" name="TextBox 11"/>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Paris – Rennes capte 18 % de la diffusion mais reste à 0,37 fois le CTR moyen, le plus bas de la campagne.</a:t>
            </a:r>
          </a:p>
        </p:txBody>
      </p:sp>
      <p:sp>
        <p:nvSpPr>
          <p:cNvPr id="13" name="TextBox 12"/>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Plafonner sa diffusion et réallouer le budget aux liaisons qui cliquent.</a:t>
            </a:r>
          </a:p>
        </p:txBody>
      </p:sp>
      <p:sp>
        <p:nvSpPr>
          <p:cNvPr id="14" name="Rectangle 13"/>
          <p:cNvSpPr/>
          <p:nvPr/>
        </p:nvSpPr>
        <p:spPr>
          <a:xfrm>
            <a:off x="5992368" y="181660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6" name="TextBox 15"/>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Ajouter les trajets retour vers Paris</a:t>
            </a:r>
          </a:p>
        </p:txBody>
      </p:sp>
      <p:sp>
        <p:nvSpPr>
          <p:cNvPr id="17" name="TextBox 16"/>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trajets retour vers Paris (Lille, Lyon, Marseille, Toulouse…) atteignent 1,27 fois le CTR moyen, contre 0,86 fois pour les trajets au départ de Paris.</a:t>
            </a:r>
          </a:p>
        </p:txBody>
      </p:sp>
      <p:sp>
        <p:nvSpPr>
          <p:cNvPr id="18" name="TextBox 17"/>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Décliner chaque liaison du top 20 dans les deux sens.</a:t>
            </a:r>
          </a:p>
        </p:txBody>
      </p:sp>
      <p:sp>
        <p:nvSpPr>
          <p:cNvPr id="19" name="Rectangle 18"/>
          <p:cNvSpPr/>
          <p:nvPr/>
        </p:nvSpPr>
        <p:spPr>
          <a:xfrm>
            <a:off x="579120" y="4133088"/>
            <a:ext cx="5071872" cy="2121408"/>
          </a:xfrm>
          <a:prstGeom prst="rect">
            <a:avLst/>
          </a:prstGeom>
          <a:solidFill>
            <a:srgbClr val="F6F7F9"/>
          </a:solidFill>
          <a:ln w="9525">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1" name="TextBox 20"/>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Concentrer le budget sur 9 liaisons</a:t>
            </a:r>
          </a:p>
        </p:txBody>
      </p:sp>
      <p:sp>
        <p:nvSpPr>
          <p:cNvPr id="22" name="TextBox 21"/>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9 annonces atteignent 1,30 fois le CTR moyen : les retours vers Paris, Paris – Lyon et Paris – Londres.</a:t>
            </a:r>
          </a:p>
        </p:txBody>
      </p:sp>
      <p:sp>
        <p:nvSpPr>
          <p:cNvPr id="23" name="TextBox 22"/>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Leur donner la priorité de budget pour les départs de la Toussaint.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