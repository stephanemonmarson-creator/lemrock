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" y="121920"/>
            <a:ext cx="11612880" cy="8534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48768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RAPPORT DE PERFORMANCE · 01/09/2026 → 30/09/2026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640080"/>
            <a:ext cx="73152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111111"/>
                </a:solidFill>
                <a:latin typeface="Arial"/>
              </a:rPr>
              <a:t>Allo Pneus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24800" y="591312"/>
            <a:ext cx="3304032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200" b="1" i="0">
                <a:solidFill>
                  <a:srgbClr val="8A93A6"/>
                </a:solidFill>
                <a:latin typeface="Arial"/>
              </a:rPr>
              <a:t>COMPARAISON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24800" y="780288"/>
            <a:ext cx="3304032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111111"/>
                </a:solidFill>
                <a:latin typeface="Arial"/>
              </a:rPr>
              <a:t>vs 01/08/2026 → 31/08/2026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DIFFUSION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38963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ENGAGEMENT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0819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CONVERSION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3035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3035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6446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IMPRESSIONS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446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577 195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446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B04837"/>
                </a:solidFill>
                <a:latin typeface="Arial"/>
              </a:rPr>
              <a:t>▼ −59 %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446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446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3 845 061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38963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238963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52374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CLICS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52374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2 287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52374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+6 %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52374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52374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6 845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24891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24891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38302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CTR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38302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0,40 %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38302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+0,24 pt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38302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38302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0,18 %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10819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10819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24230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CONVERSIONS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24230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N/C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24230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24230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24230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—</a:t>
            </a:r>
          </a:p>
        </p:txBody>
      </p:sp>
      <p:sp>
        <p:nvSpPr>
          <p:cNvPr id="39" name="Rectangle 38"/>
          <p:cNvSpPr/>
          <p:nvPr/>
        </p:nvSpPr>
        <p:spPr>
          <a:xfrm>
            <a:off x="796747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796747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10158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CVR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10158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N/C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10158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10158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10158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—</a:t>
            </a:r>
          </a:p>
        </p:txBody>
      </p:sp>
      <p:sp>
        <p:nvSpPr>
          <p:cNvPr id="46" name="Rectangle 45"/>
          <p:cNvSpPr/>
          <p:nvPr/>
        </p:nvSpPr>
        <p:spPr>
          <a:xfrm>
            <a:off x="982675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982675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996086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ROAS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96086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N/C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996086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96086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96086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—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30352" y="332232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INSIGHTS QUALITATIFS · ANALYSE DES RECHERCHES</a:t>
            </a:r>
          </a:p>
        </p:txBody>
      </p:sp>
      <p:sp>
        <p:nvSpPr>
          <p:cNvPr id="54" name="Rectangle 53"/>
          <p:cNvSpPr/>
          <p:nvPr/>
        </p:nvSpPr>
        <p:spPr>
          <a:xfrm>
            <a:off x="530352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4194048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7857744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774192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CHAMP LEXICAL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774192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Termes les plus fréquents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774192" y="4236720"/>
            <a:ext cx="298704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2000" b="1" i="0">
                <a:solidFill>
                  <a:srgbClr val="EE6A2C"/>
                </a:solidFill>
                <a:latin typeface="Arial"/>
              </a:rPr>
              <a:t>toutes saisons</a:t>
            </a:r>
            <a:r>
              <a:rPr sz="1800" b="1" i="0">
                <a:solidFill>
                  <a:srgbClr val="111111"/>
                </a:solidFill>
                <a:latin typeface="Arial"/>
              </a:rPr>
              <a:t>    3PMSF</a:t>
            </a:r>
          </a:p>
          <a:p>
            <a:pPr algn="l">
              <a:spcAft>
                <a:spcPts val="500"/>
              </a:spcAft>
            </a:pPr>
            <a:r>
              <a:rPr sz="1600" b="1" i="0">
                <a:solidFill>
                  <a:srgbClr val="555B66"/>
                </a:solidFill>
                <a:latin typeface="Arial"/>
              </a:rPr>
              <a:t>loi montagne</a:t>
            </a:r>
            <a:r>
              <a:rPr sz="1400" b="1" i="0">
                <a:solidFill>
                  <a:srgbClr val="111111"/>
                </a:solidFill>
                <a:latin typeface="Arial"/>
              </a:rPr>
              <a:t>    freinage</a:t>
            </a:r>
          </a:p>
          <a:p>
            <a:pPr algn="l">
              <a:spcAft>
                <a:spcPts val="500"/>
              </a:spcAft>
            </a:pPr>
            <a:r>
              <a:rPr sz="1400" b="1" i="0">
                <a:solidFill>
                  <a:srgbClr val="EE6A2C"/>
                </a:solidFill>
                <a:latin typeface="Arial"/>
              </a:rPr>
              <a:t>pas chers</a:t>
            </a:r>
            <a:r>
              <a:rPr sz="1300" b="0" i="0">
                <a:solidFill>
                  <a:srgbClr val="555B66"/>
                </a:solidFill>
                <a:latin typeface="Arial"/>
              </a:rPr>
              <a:t>    sûrs</a:t>
            </a:r>
          </a:p>
          <a:p>
            <a:pPr algn="l">
              <a:spcAft>
                <a:spcPts val="500"/>
              </a:spcAft>
            </a:pPr>
            <a:r>
              <a:rPr sz="1200" b="1" i="0">
                <a:solidFill>
                  <a:srgbClr val="EE6A2C"/>
                </a:solidFill>
                <a:latin typeface="Arial"/>
              </a:rPr>
              <a:t>voiture électrique</a:t>
            </a:r>
            <a:r>
              <a:rPr sz="1200" b="1" i="0">
                <a:solidFill>
                  <a:srgbClr val="111111"/>
                </a:solidFill>
                <a:latin typeface="Arial"/>
              </a:rPr>
              <a:t>    MG4 EV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Zoé</a:t>
            </a:r>
            <a:r>
              <a:rPr sz="1100" b="0" i="0">
                <a:solidFill>
                  <a:srgbClr val="555B66"/>
                </a:solidFill>
                <a:latin typeface="Arial"/>
              </a:rPr>
              <a:t>    pneus hiver</a:t>
            </a:r>
            <a:r>
              <a:rPr sz="1100" b="1" i="0">
                <a:solidFill>
                  <a:srgbClr val="EE6A2C"/>
                </a:solidFill>
                <a:latin typeface="Arial"/>
              </a:rPr>
              <a:t>    chaînes à neige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dimensions</a:t>
            </a:r>
            <a:r>
              <a:rPr sz="1100" b="0" i="0">
                <a:solidFill>
                  <a:srgbClr val="555B66"/>
                </a:solidFill>
                <a:latin typeface="Arial"/>
              </a:rPr>
              <a:t>    Continental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4437888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EXEMPLES DE REQUÊTES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4437888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Questions posées aux IA</a:t>
            </a:r>
          </a:p>
        </p:txBody>
      </p:sp>
      <p:sp>
        <p:nvSpPr>
          <p:cNvPr id="62" name="Rectangle 61"/>
          <p:cNvSpPr/>
          <p:nvPr/>
        </p:nvSpPr>
        <p:spPr>
          <a:xfrm>
            <a:off x="4437888" y="426720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4559808" y="426720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4791456" y="426720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Quels pneus pas chers sont quand même sûrs ?</a:t>
            </a:r>
          </a:p>
        </p:txBody>
      </p:sp>
      <p:sp>
        <p:nvSpPr>
          <p:cNvPr id="65" name="Rectangle 64"/>
          <p:cNvSpPr/>
          <p:nvPr/>
        </p:nvSpPr>
        <p:spPr>
          <a:xfrm>
            <a:off x="4437888" y="463296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4559808" y="463296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4791456" y="463296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Comment savoir si mes pneus toutes saisons suffisent pour la loi montagne ?</a:t>
            </a:r>
          </a:p>
        </p:txBody>
      </p:sp>
      <p:sp>
        <p:nvSpPr>
          <p:cNvPr id="68" name="Rectangle 67"/>
          <p:cNvSpPr/>
          <p:nvPr/>
        </p:nvSpPr>
        <p:spPr>
          <a:xfrm>
            <a:off x="4437888" y="499872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4559808" y="499872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4791456" y="499872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Quels modèles 3PMSF recommandes-tu pour la MG4 EV Urban en 2026 ?</a:t>
            </a:r>
          </a:p>
        </p:txBody>
      </p:sp>
      <p:sp>
        <p:nvSpPr>
          <p:cNvPr id="71" name="Rectangle 70"/>
          <p:cNvSpPr/>
          <p:nvPr/>
        </p:nvSpPr>
        <p:spPr>
          <a:xfrm>
            <a:off x="4437888" y="536448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4559808" y="536448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4791456" y="536448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Quels pneus recommanderais-tu pour améliorer les distances de freinage à 130 km/h ?</a:t>
            </a:r>
          </a:p>
        </p:txBody>
      </p:sp>
      <p:sp>
        <p:nvSpPr>
          <p:cNvPr id="74" name="Rectangle 73"/>
          <p:cNvSpPr/>
          <p:nvPr/>
        </p:nvSpPr>
        <p:spPr>
          <a:xfrm>
            <a:off x="4437888" y="573024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4559808" y="573024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4791456" y="573024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Quels pneus VE recommandez-vous pour une Zoé 2020 ?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8101584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CATÉGORIES DE PRODUITS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8101584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Répartition des requêtes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10607040" y="4175760"/>
            <a:ext cx="51816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111111"/>
                </a:solidFill>
                <a:latin typeface="Arial"/>
              </a:rPr>
              <a:t>100%</a:t>
            </a:r>
          </a:p>
        </p:txBody>
      </p:sp>
      <p:sp>
        <p:nvSpPr>
          <p:cNvPr id="80" name="Rectangle 79"/>
          <p:cNvSpPr/>
          <p:nvPr/>
        </p:nvSpPr>
        <p:spPr>
          <a:xfrm>
            <a:off x="8077200" y="4407408"/>
            <a:ext cx="121920" cy="121920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8296656" y="4389120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Pneus auto et dimensions</a:t>
            </a:r>
          </a:p>
        </p:txBody>
      </p:sp>
      <p:sp>
        <p:nvSpPr>
          <p:cNvPr id="82" name="Rectangle 81"/>
          <p:cNvSpPr/>
          <p:nvPr/>
        </p:nvSpPr>
        <p:spPr>
          <a:xfrm>
            <a:off x="8077200" y="4675632"/>
            <a:ext cx="121920" cy="121920"/>
          </a:xfrm>
          <a:prstGeom prst="rect">
            <a:avLst/>
          </a:prstGeom>
          <a:solidFill>
            <a:srgbClr val="7A4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8296656" y="4657344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Pneus SUV et utilitaires · 39 %</a:t>
            </a:r>
          </a:p>
        </p:txBody>
      </p:sp>
      <p:sp>
        <p:nvSpPr>
          <p:cNvPr id="84" name="Rectangle 83"/>
          <p:cNvSpPr/>
          <p:nvPr/>
        </p:nvSpPr>
        <p:spPr>
          <a:xfrm>
            <a:off x="8077200" y="4943856"/>
            <a:ext cx="121920" cy="121920"/>
          </a:xfrm>
          <a:prstGeom prst="rect">
            <a:avLst/>
          </a:prstGeom>
          <a:solidFill>
            <a:srgbClr val="EB9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8296656" y="4925568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Pneus moto et scooter · 18 %</a:t>
            </a:r>
          </a:p>
        </p:txBody>
      </p:sp>
      <p:sp>
        <p:nvSpPr>
          <p:cNvPr id="86" name="Rectangle 85"/>
          <p:cNvSpPr/>
          <p:nvPr/>
        </p:nvSpPr>
        <p:spPr>
          <a:xfrm>
            <a:off x="8077200" y="5212080"/>
            <a:ext cx="121920" cy="12192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8296656" y="5193792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Pneus toutes saisons · 1 %</a:t>
            </a:r>
          </a:p>
        </p:txBody>
      </p:sp>
      <p:sp>
        <p:nvSpPr>
          <p:cNvPr id="88" name="Rectangle 87"/>
          <p:cNvSpPr/>
          <p:nvPr/>
        </p:nvSpPr>
        <p:spPr>
          <a:xfrm>
            <a:off x="8077200" y="5480304"/>
            <a:ext cx="121920" cy="121920"/>
          </a:xfrm>
          <a:prstGeom prst="rect">
            <a:avLst/>
          </a:prstGeom>
          <a:solidFill>
            <a:srgbClr val="3E5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8296656" y="5462016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Pneus hiver et neige · 1 %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8077200" y="5748528"/>
            <a:ext cx="121920" cy="121920"/>
          </a:xfrm>
          <a:prstGeom prst="rect">
            <a:avLst/>
          </a:prstGeom>
          <a:solidFill>
            <a:srgbClr val="A092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8296656" y="5730240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Accessoires et entretien · &lt; 1 %</a:t>
            </a:r>
          </a:p>
        </p:txBody>
      </p:sp>
      <p:sp>
        <p:nvSpPr>
          <p:cNvPr id="92" name="Rectangle 91"/>
          <p:cNvSpPr/>
          <p:nvPr/>
        </p:nvSpPr>
        <p:spPr>
          <a:xfrm>
            <a:off x="10564368" y="4450080"/>
            <a:ext cx="475488" cy="549859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10564368" y="4450080"/>
            <a:ext cx="475488" cy="54985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Arial"/>
              </a:rPr>
              <a:t>41 %</a:t>
            </a:r>
          </a:p>
        </p:txBody>
      </p:sp>
      <p:sp>
        <p:nvSpPr>
          <p:cNvPr id="94" name="Rectangle 93"/>
          <p:cNvSpPr/>
          <p:nvPr/>
        </p:nvSpPr>
        <p:spPr>
          <a:xfrm>
            <a:off x="10564368" y="4999939"/>
            <a:ext cx="475488" cy="523036"/>
          </a:xfrm>
          <a:prstGeom prst="rect">
            <a:avLst/>
          </a:prstGeom>
          <a:solidFill>
            <a:srgbClr val="7A4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TextBox 94"/>
          <p:cNvSpPr txBox="1"/>
          <p:nvPr/>
        </p:nvSpPr>
        <p:spPr>
          <a:xfrm>
            <a:off x="10564368" y="4999939"/>
            <a:ext cx="475488" cy="5230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Arial"/>
              </a:rPr>
              <a:t>39 %</a:t>
            </a:r>
          </a:p>
        </p:txBody>
      </p:sp>
      <p:sp>
        <p:nvSpPr>
          <p:cNvPr id="96" name="Rectangle 95"/>
          <p:cNvSpPr/>
          <p:nvPr/>
        </p:nvSpPr>
        <p:spPr>
          <a:xfrm>
            <a:off x="10564368" y="5522976"/>
            <a:ext cx="475488" cy="241401"/>
          </a:xfrm>
          <a:prstGeom prst="rect">
            <a:avLst/>
          </a:prstGeom>
          <a:solidFill>
            <a:srgbClr val="EB9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Rectangle 96"/>
          <p:cNvSpPr/>
          <p:nvPr/>
        </p:nvSpPr>
        <p:spPr>
          <a:xfrm>
            <a:off x="10564368" y="5764377"/>
            <a:ext cx="475488" cy="13411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Rectangle 97"/>
          <p:cNvSpPr/>
          <p:nvPr/>
        </p:nvSpPr>
        <p:spPr>
          <a:xfrm>
            <a:off x="10564368" y="5777788"/>
            <a:ext cx="475488" cy="13411"/>
          </a:xfrm>
          <a:prstGeom prst="rect">
            <a:avLst/>
          </a:prstGeom>
          <a:solidFill>
            <a:srgbClr val="3E5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Rectangle 98"/>
          <p:cNvSpPr/>
          <p:nvPr/>
        </p:nvSpPr>
        <p:spPr>
          <a:xfrm>
            <a:off x="10564368" y="5791200"/>
            <a:ext cx="475488" cy="0"/>
          </a:xfrm>
          <a:prstGeom prst="rect">
            <a:avLst/>
          </a:prstGeom>
          <a:solidFill>
            <a:srgbClr val="A092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" y="121920"/>
            <a:ext cx="11612880" cy="8534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79120" y="42672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INSIGHTS QUALITATIFS · SEPTEMBRE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79120" y="609600"/>
            <a:ext cx="73152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111111"/>
                </a:solidFill>
                <a:latin typeface="Arial"/>
              </a:rPr>
              <a:t>Allo Pneus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0" y="499872"/>
            <a:ext cx="18897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111111"/>
                </a:solidFill>
                <a:latin typeface="Arial"/>
              </a:rPr>
              <a:t>Lemrock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9120" y="1219200"/>
            <a:ext cx="91440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OBJECTIF   </a:t>
            </a:r>
            <a:r>
              <a:rPr sz="1300" b="0" i="0">
                <a:solidFill>
                  <a:srgbClr val="111111"/>
                </a:solidFill>
                <a:latin typeface="Arial"/>
              </a:rPr>
              <a:t>À définir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9120" y="1524000"/>
            <a:ext cx="48768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555B66"/>
                </a:solidFill>
                <a:latin typeface="Arial"/>
              </a:rPr>
              <a:t>INSIGHTS QUALITATIFS</a:t>
            </a:r>
          </a:p>
        </p:txBody>
      </p:sp>
      <p:sp>
        <p:nvSpPr>
          <p:cNvPr id="9" name="Rectangle 8"/>
          <p:cNvSpPr/>
          <p:nvPr/>
        </p:nvSpPr>
        <p:spPr>
          <a:xfrm>
            <a:off x="579120" y="181660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35152" y="202996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83792" y="204825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Mettre davantage en avant les pneus hiver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5152" y="260908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Les annonces de pneus hiver atteignent 1,15 fois le CTR moyen, le meilleur score du mois. Elles ne représentent pourtant que 8 % de la diffusion.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5152" y="331012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Augmenter la part des pneus hiver et 4 saisons en octobre, au moment où les conducteurs changent leurs pneus.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992368" y="181660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48400" y="202996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797040" y="204825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Renforcer les pneus SUV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48400" y="260908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Les pneus SUV et 4x4 atteignent 1,09 fois le CTR moyen, et jusqu'à 1,43 fois pour le Kleber Quadraxer SUV. Les pneus utilitaires restent sous la moyenne (0,87 fois).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48400" y="331012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Donner plus de visibilité aux références SUV et retravailler les messages utilitaires autour d'un usage concret (chantier, camping-car).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79120" y="413308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35152" y="434644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83792" y="436473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Privilégier les marques au bon rapport qualité-prix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5152" y="492556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Les marques à prix accessible cliquent mieux : Hankook atteint 1,22 fois le CTR moyen. Les marques premium comme Goodyear restent en dessous (0,69 fois).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5152" y="562660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Mettre en avant les marques accessibles avec le message « pas cher mais sûr ».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992368" y="413308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48400" y="434644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797040" y="436473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Varier les descriptions des annonces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248400" y="492556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La plupart des annonces utilisent la même description (« Leader de la vente de pneus pas chers en ligne ») et restent dans la moyenne.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248400" y="562660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Tester des descriptions avec un bénéfice précis : adhérence sous la pluie, conformité loi montagne, montage à domicile.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" y="121920"/>
            <a:ext cx="11612880" cy="8534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48768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RAPPORT DE PERFORMANCE · 01/09/2026 → 30/09/2026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640080"/>
            <a:ext cx="73152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111111"/>
                </a:solidFill>
                <a:latin typeface="Arial"/>
              </a:rPr>
              <a:t>Archipel Kombucha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24800" y="591312"/>
            <a:ext cx="3304032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200" b="1" i="0">
                <a:solidFill>
                  <a:srgbClr val="8A93A6"/>
                </a:solidFill>
                <a:latin typeface="Arial"/>
              </a:rPr>
              <a:t>COMPARAISON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24800" y="780288"/>
            <a:ext cx="3304032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111111"/>
                </a:solidFill>
                <a:latin typeface="Arial"/>
              </a:rPr>
              <a:t>vs 01/08/2026 → 31/08/2026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DIFFUSION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38963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ENGAGEMENT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0819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CONVERSION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3035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3035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6446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IMPRESSIONS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446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222 268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446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+177 %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446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446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302 404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38963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238963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52374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CLICS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52374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1 136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52374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+245 %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52374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52374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1 465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24891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24891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38302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CTR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38302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0,51 %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38302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+0,10 pt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38302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38302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0,48 %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10819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10819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24230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CONVERSIONS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24230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N/C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24230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24230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24230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—</a:t>
            </a:r>
          </a:p>
        </p:txBody>
      </p:sp>
      <p:sp>
        <p:nvSpPr>
          <p:cNvPr id="39" name="Rectangle 38"/>
          <p:cNvSpPr/>
          <p:nvPr/>
        </p:nvSpPr>
        <p:spPr>
          <a:xfrm>
            <a:off x="796747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796747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10158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CVR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10158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N/C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10158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10158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10158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—</a:t>
            </a:r>
          </a:p>
        </p:txBody>
      </p:sp>
      <p:sp>
        <p:nvSpPr>
          <p:cNvPr id="46" name="Rectangle 45"/>
          <p:cNvSpPr/>
          <p:nvPr/>
        </p:nvSpPr>
        <p:spPr>
          <a:xfrm>
            <a:off x="982675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982675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996086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ROAS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96086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N/C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996086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96086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96086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—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30352" y="332232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INSIGHTS QUALITATIFS · ANALYSE DES RECHERCHES</a:t>
            </a:r>
          </a:p>
        </p:txBody>
      </p:sp>
      <p:sp>
        <p:nvSpPr>
          <p:cNvPr id="54" name="Rectangle 53"/>
          <p:cNvSpPr/>
          <p:nvPr/>
        </p:nvSpPr>
        <p:spPr>
          <a:xfrm>
            <a:off x="530352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4194048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7857744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774192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CHAMP LEXICAL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774192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Termes les plus fréquents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774192" y="4236720"/>
            <a:ext cx="298704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2000" b="1" i="0">
                <a:solidFill>
                  <a:srgbClr val="EE6A2C"/>
                </a:solidFill>
                <a:latin typeface="Arial"/>
              </a:rPr>
              <a:t>kombucha bio</a:t>
            </a:r>
            <a:r>
              <a:rPr sz="1800" b="1" i="0">
                <a:solidFill>
                  <a:srgbClr val="111111"/>
                </a:solidFill>
                <a:latin typeface="Arial"/>
              </a:rPr>
              <a:t>   sans alcool</a:t>
            </a:r>
          </a:p>
          <a:p>
            <a:pPr algn="l">
              <a:spcAft>
                <a:spcPts val="500"/>
              </a:spcAft>
            </a:pPr>
            <a:r>
              <a:rPr sz="1500" b="1" i="0">
                <a:solidFill>
                  <a:srgbClr val="555B66"/>
                </a:solidFill>
                <a:latin typeface="Arial"/>
              </a:rPr>
              <a:t>boissons fermentées</a:t>
            </a:r>
            <a:r>
              <a:rPr sz="1400" b="1" i="0">
                <a:solidFill>
                  <a:srgbClr val="111111"/>
                </a:solidFill>
                <a:latin typeface="Arial"/>
              </a:rPr>
              <a:t>   33 cl</a:t>
            </a:r>
          </a:p>
          <a:p>
            <a:pPr algn="l">
              <a:spcAft>
                <a:spcPts val="500"/>
              </a:spcAft>
            </a:pPr>
            <a:r>
              <a:rPr sz="1300" b="1" i="0">
                <a:solidFill>
                  <a:srgbClr val="EE6A2C"/>
                </a:solidFill>
                <a:latin typeface="Arial"/>
              </a:rPr>
              <a:t>cassis</a:t>
            </a:r>
            <a:r>
              <a:rPr sz="1200" b="0" i="0">
                <a:solidFill>
                  <a:srgbClr val="555B66"/>
                </a:solidFill>
                <a:latin typeface="Arial"/>
              </a:rPr>
              <a:t>   figuier</a:t>
            </a:r>
            <a:r>
              <a:rPr sz="1200" b="1" i="0">
                <a:solidFill>
                  <a:srgbClr val="111111"/>
                </a:solidFill>
                <a:latin typeface="Arial"/>
              </a:rPr>
              <a:t>   clémentine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EE6A2C"/>
                </a:solidFill>
                <a:latin typeface="Arial"/>
              </a:rPr>
              <a:t>pomelo gingembre</a:t>
            </a:r>
            <a:r>
              <a:rPr sz="1100" b="1" i="0">
                <a:solidFill>
                  <a:srgbClr val="111111"/>
                </a:solidFill>
                <a:latin typeface="Arial"/>
              </a:rPr>
              <a:t>   framboise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apéritif</a:t>
            </a:r>
            <a:r>
              <a:rPr sz="1100" b="0" i="0">
                <a:solidFill>
                  <a:srgbClr val="555B66"/>
                </a:solidFill>
                <a:latin typeface="Arial"/>
              </a:rPr>
              <a:t>   mocktail</a:t>
            </a:r>
            <a:r>
              <a:rPr sz="1100" b="1" i="0">
                <a:solidFill>
                  <a:srgbClr val="EE6A2C"/>
                </a:solidFill>
                <a:latin typeface="Arial"/>
              </a:rPr>
              <a:t>   pack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direct producteur</a:t>
            </a:r>
            <a:r>
              <a:rPr sz="1100" b="0" i="0">
                <a:solidFill>
                  <a:srgbClr val="555B66"/>
                </a:solidFill>
                <a:latin typeface="Arial"/>
              </a:rPr>
              <a:t>   fraîcheur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4437888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EXEMPLES DE REQUÊTES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4437888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Questions posées aux IA</a:t>
            </a:r>
          </a:p>
        </p:txBody>
      </p:sp>
      <p:sp>
        <p:nvSpPr>
          <p:cNvPr id="62" name="Rectangle 61"/>
          <p:cNvSpPr/>
          <p:nvPr/>
        </p:nvSpPr>
        <p:spPr>
          <a:xfrm>
            <a:off x="4437888" y="426720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4559808" y="426720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4791456" y="426720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Comment faire une version sans alcool de l'Americano ?</a:t>
            </a:r>
          </a:p>
        </p:txBody>
      </p:sp>
      <p:sp>
        <p:nvSpPr>
          <p:cNvPr id="65" name="Rectangle 64"/>
          <p:cNvSpPr/>
          <p:nvPr/>
        </p:nvSpPr>
        <p:spPr>
          <a:xfrm>
            <a:off x="4437888" y="463296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4559808" y="463296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4791456" y="463296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Y a-t-il des alternatives sans alcool qui gardent le même goût ?</a:t>
            </a:r>
          </a:p>
        </p:txBody>
      </p:sp>
      <p:sp>
        <p:nvSpPr>
          <p:cNvPr id="68" name="Rectangle 67"/>
          <p:cNvSpPr/>
          <p:nvPr/>
        </p:nvSpPr>
        <p:spPr>
          <a:xfrm>
            <a:off x="4437888" y="499872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4559808" y="499872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4791456" y="499872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C'est quoi le meilleur mocktail pour les femmes enceintes ?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8101584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CATÉGORIES DE PRODUITS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101584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Répartition des requêtes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10607040" y="4175760"/>
            <a:ext cx="51816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111111"/>
                </a:solidFill>
                <a:latin typeface="Arial"/>
              </a:rPr>
              <a:t>100%</a:t>
            </a:r>
          </a:p>
        </p:txBody>
      </p:sp>
      <p:sp>
        <p:nvSpPr>
          <p:cNvPr id="74" name="Rectangle 73"/>
          <p:cNvSpPr/>
          <p:nvPr/>
        </p:nvSpPr>
        <p:spPr>
          <a:xfrm>
            <a:off x="8077200" y="4407408"/>
            <a:ext cx="121920" cy="121920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8296656" y="4389120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Thés, infusions et plantes</a:t>
            </a:r>
          </a:p>
        </p:txBody>
      </p:sp>
      <p:sp>
        <p:nvSpPr>
          <p:cNvPr id="76" name="Rectangle 75"/>
          <p:cNvSpPr/>
          <p:nvPr/>
        </p:nvSpPr>
        <p:spPr>
          <a:xfrm>
            <a:off x="8077200" y="4675632"/>
            <a:ext cx="121920" cy="121920"/>
          </a:xfrm>
          <a:prstGeom prst="rect">
            <a:avLst/>
          </a:prstGeom>
          <a:solidFill>
            <a:srgbClr val="7A4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8296656" y="4657344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0">
                <a:solidFill>
                  <a:srgbClr val="111111"/>
                </a:solidFill>
                <a:latin typeface="Arial"/>
              </a:rPr>
              <a:t>Cocktails et boissons sans alcool · 22 %</a:t>
            </a:r>
          </a:p>
        </p:txBody>
      </p:sp>
      <p:sp>
        <p:nvSpPr>
          <p:cNvPr id="78" name="Rectangle 77"/>
          <p:cNvSpPr/>
          <p:nvPr/>
        </p:nvSpPr>
        <p:spPr>
          <a:xfrm>
            <a:off x="8077200" y="4943856"/>
            <a:ext cx="121920" cy="121920"/>
          </a:xfrm>
          <a:prstGeom prst="rect">
            <a:avLst/>
          </a:prstGeom>
          <a:solidFill>
            <a:srgbClr val="EB9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8296656" y="4925568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Bienfaits et santé · 18 %</a:t>
            </a:r>
          </a:p>
        </p:txBody>
      </p:sp>
      <p:sp>
        <p:nvSpPr>
          <p:cNvPr id="80" name="Rectangle 79"/>
          <p:cNvSpPr/>
          <p:nvPr/>
        </p:nvSpPr>
        <p:spPr>
          <a:xfrm>
            <a:off x="8077200" y="5212080"/>
            <a:ext cx="121920" cy="12192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8296656" y="5193792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0">
                <a:solidFill>
                  <a:srgbClr val="111111"/>
                </a:solidFill>
                <a:latin typeface="Arial"/>
              </a:rPr>
              <a:t>Recettes et fermentation maison · 12 %</a:t>
            </a:r>
          </a:p>
        </p:txBody>
      </p:sp>
      <p:sp>
        <p:nvSpPr>
          <p:cNvPr id="82" name="Rectangle 81"/>
          <p:cNvSpPr/>
          <p:nvPr/>
        </p:nvSpPr>
        <p:spPr>
          <a:xfrm>
            <a:off x="10564368" y="4450080"/>
            <a:ext cx="475488" cy="643737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10564368" y="4450080"/>
            <a:ext cx="475488" cy="64373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Arial"/>
              </a:rPr>
              <a:t>48 %</a:t>
            </a:r>
          </a:p>
        </p:txBody>
      </p:sp>
      <p:sp>
        <p:nvSpPr>
          <p:cNvPr id="84" name="Rectangle 83"/>
          <p:cNvSpPr/>
          <p:nvPr/>
        </p:nvSpPr>
        <p:spPr>
          <a:xfrm>
            <a:off x="10564368" y="5093817"/>
            <a:ext cx="475488" cy="295046"/>
          </a:xfrm>
          <a:prstGeom prst="rect">
            <a:avLst/>
          </a:prstGeom>
          <a:solidFill>
            <a:srgbClr val="7A4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Rectangle 84"/>
          <p:cNvSpPr/>
          <p:nvPr/>
        </p:nvSpPr>
        <p:spPr>
          <a:xfrm>
            <a:off x="10564368" y="5388864"/>
            <a:ext cx="475488" cy="241401"/>
          </a:xfrm>
          <a:prstGeom prst="rect">
            <a:avLst/>
          </a:prstGeom>
          <a:solidFill>
            <a:srgbClr val="EB9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Rectangle 85"/>
          <p:cNvSpPr/>
          <p:nvPr/>
        </p:nvSpPr>
        <p:spPr>
          <a:xfrm>
            <a:off x="10564368" y="5630265"/>
            <a:ext cx="475488" cy="16093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" y="121920"/>
            <a:ext cx="11612880" cy="8534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79120" y="42672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INSIGHTS QUALITATIFS · SEPTEMBRE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79120" y="609600"/>
            <a:ext cx="73152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111111"/>
                </a:solidFill>
                <a:latin typeface="Arial"/>
              </a:rPr>
              <a:t>Archipel Kombucha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0" y="499872"/>
            <a:ext cx="18897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111111"/>
                </a:solidFill>
                <a:latin typeface="Arial"/>
              </a:rPr>
              <a:t>Lemrock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9120" y="1219200"/>
            <a:ext cx="91440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OBJECTIF   </a:t>
            </a:r>
            <a:r>
              <a:rPr sz="1300" b="0" i="0">
                <a:solidFill>
                  <a:srgbClr val="111111"/>
                </a:solidFill>
                <a:latin typeface="Arial"/>
              </a:rPr>
              <a:t>À définir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9120" y="1524000"/>
            <a:ext cx="48768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555B66"/>
                </a:solidFill>
                <a:latin typeface="Arial"/>
              </a:rPr>
              <a:t>INSIGHTS QUALITATIFS</a:t>
            </a:r>
          </a:p>
        </p:txBody>
      </p:sp>
      <p:sp>
        <p:nvSpPr>
          <p:cNvPr id="9" name="Rectangle 8"/>
          <p:cNvSpPr/>
          <p:nvPr/>
        </p:nvSpPr>
        <p:spPr>
          <a:xfrm>
            <a:off x="579120" y="181660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35152" y="202996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83792" y="204825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Parler de boissons fermentées sans alcool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5152" y="260908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L'annonce « Boissons fermentées sans alcool » atteint 1,53 fois le CTR moyen, le meilleur score du mois.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5152" y="331012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Mettre l'alternative sans alcool au cœur des accroches : apéritif, repas, pause.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992368" y="181660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48400" y="202996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797040" y="204825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Mettre en avant les formats 33 cl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48400" y="260908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Les packs de 12 kombuchas de 33 cl dépassent la moyenne (jusqu'à 1,30 fois). Le pack de 6 bouteilles de 75 cl tombe à 0,66 fois.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48400" y="331012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Faire des formats 33 cl le produit d'appel et garder les 75 cl pour la page produit.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79120" y="413308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35152" y="434644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83792" y="436473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Mettre le cassis et le pomelo gingembre en avant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5152" y="492556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Les annonces pomelo gingembre (1,23 fois le CTR moyen) et cassis (1,15 fois) font mieux que la moyenne. Framboise, figuier et clémentine restent juste en dessous (0,93 fois).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5152" y="562660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Donner plus de visibilité au cassis et au pomelo gingembre.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992368" y="413308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48400" y="434644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797040" y="436473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Une campagne qui accélère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248400" y="492556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Les clics sont multipliés par 3,5 et le CTR passe de 0,41 % à 0,51 %.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248400" y="562660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Garder le ciblage actuel et renforcer le message sans alcool à l'approche des fêtes.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" y="121920"/>
            <a:ext cx="11612880" cy="8534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48768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RAPPORT DE PERFORMANCE · 01/09/2026 → 30/09/2026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640080"/>
            <a:ext cx="73152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111111"/>
                </a:solidFill>
                <a:latin typeface="Arial"/>
              </a:rPr>
              <a:t>Basket4Ballers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24800" y="591312"/>
            <a:ext cx="3304032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200" b="1" i="0">
                <a:solidFill>
                  <a:srgbClr val="8A93A6"/>
                </a:solidFill>
                <a:latin typeface="Arial"/>
              </a:rPr>
              <a:t>COMPARAISON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24800" y="780288"/>
            <a:ext cx="3304032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111111"/>
                </a:solidFill>
                <a:latin typeface="Arial"/>
              </a:rPr>
              <a:t>vs 01/08/2026 → 31/08/2026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DIFFUSION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38963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ENGAGEMENT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0819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CONVERSION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3035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3035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6446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IMPRESSIONS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446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705 874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446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+33 %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446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446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1 702 639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38963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238963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52374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CLICS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52374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3 198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52374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+195 %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52374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52374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5 040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24891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24891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38302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CTR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38302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0,45 %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38302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+0,25 pt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38302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38302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0,30 %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10819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10819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24230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CONVERSIONS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24230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N/C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24230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24230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24230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—</a:t>
            </a:r>
          </a:p>
        </p:txBody>
      </p:sp>
      <p:sp>
        <p:nvSpPr>
          <p:cNvPr id="39" name="Rectangle 38"/>
          <p:cNvSpPr/>
          <p:nvPr/>
        </p:nvSpPr>
        <p:spPr>
          <a:xfrm>
            <a:off x="796747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796747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10158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CVR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10158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N/C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10158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10158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10158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—</a:t>
            </a:r>
          </a:p>
        </p:txBody>
      </p:sp>
      <p:sp>
        <p:nvSpPr>
          <p:cNvPr id="46" name="Rectangle 45"/>
          <p:cNvSpPr/>
          <p:nvPr/>
        </p:nvSpPr>
        <p:spPr>
          <a:xfrm>
            <a:off x="982675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982675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996086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ROAS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96086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N/C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996086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96086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96086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—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30352" y="332232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INSIGHTS QUALITATIFS · ANALYSE DES RECHERCHES</a:t>
            </a:r>
          </a:p>
        </p:txBody>
      </p:sp>
      <p:sp>
        <p:nvSpPr>
          <p:cNvPr id="54" name="Rectangle 53"/>
          <p:cNvSpPr/>
          <p:nvPr/>
        </p:nvSpPr>
        <p:spPr>
          <a:xfrm>
            <a:off x="530352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4194048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7857744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774192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CHAMP LEXICAL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774192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Termes les plus fréquents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774192" y="4236720"/>
            <a:ext cx="298704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2000" b="1" i="0">
                <a:solidFill>
                  <a:srgbClr val="EE6A2C"/>
                </a:solidFill>
                <a:latin typeface="Arial"/>
              </a:rPr>
              <a:t>Jordan</a:t>
            </a:r>
            <a:r>
              <a:rPr sz="1800" b="1" i="0">
                <a:solidFill>
                  <a:srgbClr val="111111"/>
                </a:solidFill>
                <a:latin typeface="Arial"/>
              </a:rPr>
              <a:t>   Nike</a:t>
            </a:r>
          </a:p>
          <a:p>
            <a:pPr algn="l">
              <a:spcAft>
                <a:spcPts val="500"/>
              </a:spcAft>
            </a:pPr>
            <a:r>
              <a:rPr sz="1500" b="1" i="0">
                <a:solidFill>
                  <a:srgbClr val="555B66"/>
                </a:solidFill>
                <a:latin typeface="Arial"/>
              </a:rPr>
              <a:t>genouillères</a:t>
            </a:r>
            <a:r>
              <a:rPr sz="1400" b="1" i="0">
                <a:solidFill>
                  <a:srgbClr val="111111"/>
                </a:solidFill>
                <a:latin typeface="Arial"/>
              </a:rPr>
              <a:t>   ballon de basket</a:t>
            </a:r>
          </a:p>
          <a:p>
            <a:pPr algn="l">
              <a:spcAft>
                <a:spcPts val="500"/>
              </a:spcAft>
            </a:pPr>
            <a:r>
              <a:rPr sz="1300" b="1" i="0">
                <a:solidFill>
                  <a:srgbClr val="EE6A2C"/>
                </a:solidFill>
                <a:latin typeface="Arial"/>
              </a:rPr>
              <a:t>maillots NBA</a:t>
            </a:r>
            <a:r>
              <a:rPr sz="1200" b="0" i="0">
                <a:solidFill>
                  <a:srgbClr val="555B66"/>
                </a:solidFill>
                <a:latin typeface="Arial"/>
              </a:rPr>
              <a:t>   survêtements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EE6A2C"/>
                </a:solidFill>
                <a:latin typeface="Arial"/>
              </a:rPr>
              <a:t>Air Force 1</a:t>
            </a:r>
            <a:r>
              <a:rPr sz="1100" b="1" i="0">
                <a:solidFill>
                  <a:srgbClr val="111111"/>
                </a:solidFill>
                <a:latin typeface="Arial"/>
              </a:rPr>
              <a:t>   short de compression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Équipe de France</a:t>
            </a:r>
            <a:r>
              <a:rPr sz="1100" b="0" i="0">
                <a:solidFill>
                  <a:srgbClr val="555B66"/>
                </a:solidFill>
                <a:latin typeface="Arial"/>
              </a:rPr>
              <a:t>   Paris Basketball</a:t>
            </a:r>
            <a:r>
              <a:rPr sz="1100" b="1" i="0">
                <a:solidFill>
                  <a:srgbClr val="EE6A2C"/>
                </a:solidFill>
                <a:latin typeface="Arial"/>
              </a:rPr>
              <a:t>   McDavid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enfant</a:t>
            </a:r>
            <a:r>
              <a:rPr sz="1100" b="0" i="0">
                <a:solidFill>
                  <a:srgbClr val="555B66"/>
                </a:solidFill>
                <a:latin typeface="Arial"/>
              </a:rPr>
              <a:t>   sneakers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4437888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EXEMPLES DE REQUÊTES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4437888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Questions posées aux IA</a:t>
            </a:r>
          </a:p>
        </p:txBody>
      </p:sp>
      <p:sp>
        <p:nvSpPr>
          <p:cNvPr id="62" name="Rectangle 61"/>
          <p:cNvSpPr/>
          <p:nvPr/>
        </p:nvSpPr>
        <p:spPr>
          <a:xfrm>
            <a:off x="4437888" y="426720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4559808" y="426720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4791456" y="426720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Je peux utiliser le Wilson Authentic en salle sans l'abîmer ?</a:t>
            </a:r>
          </a:p>
        </p:txBody>
      </p:sp>
      <p:sp>
        <p:nvSpPr>
          <p:cNvPr id="65" name="Rectangle 64"/>
          <p:cNvSpPr/>
          <p:nvPr/>
        </p:nvSpPr>
        <p:spPr>
          <a:xfrm>
            <a:off x="4437888" y="463296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4559808" y="463296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4791456" y="463296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Des idées de sneakers blanches qui vont bien avec ce jean</a:t>
            </a:r>
          </a:p>
        </p:txBody>
      </p:sp>
      <p:sp>
        <p:nvSpPr>
          <p:cNvPr id="68" name="Rectangle 67"/>
          <p:cNvSpPr/>
          <p:nvPr/>
        </p:nvSpPr>
        <p:spPr>
          <a:xfrm>
            <a:off x="4437888" y="499872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4559808" y="499872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4791456" y="499872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Montre-moi des baskets solides et pas chères pour marcher beaucoup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8101584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CATÉGORIES DE PRODUITS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101584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Répartition des requêtes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10607040" y="4175760"/>
            <a:ext cx="51816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111111"/>
                </a:solidFill>
                <a:latin typeface="Arial"/>
              </a:rPr>
              <a:t>100%</a:t>
            </a:r>
          </a:p>
        </p:txBody>
      </p:sp>
      <p:sp>
        <p:nvSpPr>
          <p:cNvPr id="74" name="Rectangle 73"/>
          <p:cNvSpPr/>
          <p:nvPr/>
        </p:nvSpPr>
        <p:spPr>
          <a:xfrm>
            <a:off x="8077200" y="4407408"/>
            <a:ext cx="121920" cy="121920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8296656" y="4389120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Chaussures et sneakers · 14 %</a:t>
            </a:r>
          </a:p>
        </p:txBody>
      </p:sp>
      <p:sp>
        <p:nvSpPr>
          <p:cNvPr id="76" name="Rectangle 75"/>
          <p:cNvSpPr/>
          <p:nvPr/>
        </p:nvSpPr>
        <p:spPr>
          <a:xfrm>
            <a:off x="8077200" y="4675632"/>
            <a:ext cx="121920" cy="121920"/>
          </a:xfrm>
          <a:prstGeom prst="rect">
            <a:avLst/>
          </a:prstGeom>
          <a:solidFill>
            <a:srgbClr val="7A4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8296656" y="4657344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Équipement de basketball · 47 %</a:t>
            </a:r>
          </a:p>
        </p:txBody>
      </p:sp>
      <p:sp>
        <p:nvSpPr>
          <p:cNvPr id="78" name="Rectangle 77"/>
          <p:cNvSpPr/>
          <p:nvPr/>
        </p:nvSpPr>
        <p:spPr>
          <a:xfrm>
            <a:off x="8077200" y="4943856"/>
            <a:ext cx="121920" cy="121920"/>
          </a:xfrm>
          <a:prstGeom prst="rect">
            <a:avLst/>
          </a:prstGeom>
          <a:solidFill>
            <a:srgbClr val="EB9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8296656" y="4925568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Maillots et fanwear NBA · 9 %</a:t>
            </a:r>
          </a:p>
        </p:txBody>
      </p:sp>
      <p:sp>
        <p:nvSpPr>
          <p:cNvPr id="80" name="Rectangle 79"/>
          <p:cNvSpPr/>
          <p:nvPr/>
        </p:nvSpPr>
        <p:spPr>
          <a:xfrm>
            <a:off x="8077200" y="5212080"/>
            <a:ext cx="121920" cy="12192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8296656" y="5193792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Vêtements de basketball · 30 %</a:t>
            </a:r>
          </a:p>
        </p:txBody>
      </p:sp>
      <p:sp>
        <p:nvSpPr>
          <p:cNvPr id="82" name="Rectangle 81"/>
          <p:cNvSpPr/>
          <p:nvPr/>
        </p:nvSpPr>
        <p:spPr>
          <a:xfrm>
            <a:off x="10564368" y="4450080"/>
            <a:ext cx="475488" cy="187756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Rectangle 82"/>
          <p:cNvSpPr/>
          <p:nvPr/>
        </p:nvSpPr>
        <p:spPr>
          <a:xfrm>
            <a:off x="10564368" y="4637836"/>
            <a:ext cx="475488" cy="630326"/>
          </a:xfrm>
          <a:prstGeom prst="rect">
            <a:avLst/>
          </a:prstGeom>
          <a:solidFill>
            <a:srgbClr val="7A4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10564368" y="4637836"/>
            <a:ext cx="475488" cy="63032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Arial"/>
              </a:rPr>
              <a:t>47 %</a:t>
            </a:r>
          </a:p>
        </p:txBody>
      </p:sp>
      <p:sp>
        <p:nvSpPr>
          <p:cNvPr id="85" name="Rectangle 84"/>
          <p:cNvSpPr/>
          <p:nvPr/>
        </p:nvSpPr>
        <p:spPr>
          <a:xfrm>
            <a:off x="10564368" y="5268163"/>
            <a:ext cx="475488" cy="120700"/>
          </a:xfrm>
          <a:prstGeom prst="rect">
            <a:avLst/>
          </a:prstGeom>
          <a:solidFill>
            <a:srgbClr val="EB9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Rectangle 85"/>
          <p:cNvSpPr/>
          <p:nvPr/>
        </p:nvSpPr>
        <p:spPr>
          <a:xfrm>
            <a:off x="10564368" y="5388863"/>
            <a:ext cx="475488" cy="402336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10564368" y="5388863"/>
            <a:ext cx="475488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Arial"/>
              </a:rPr>
              <a:t>30 %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" y="121920"/>
            <a:ext cx="11612880" cy="8534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79120" y="42672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INSIGHTS QUALITATIFS · SEPTEMBRE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79120" y="609600"/>
            <a:ext cx="73152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111111"/>
                </a:solidFill>
                <a:latin typeface="Arial"/>
              </a:rPr>
              <a:t>Basket4Ballers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0" y="499872"/>
            <a:ext cx="18897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111111"/>
                </a:solidFill>
                <a:latin typeface="Arial"/>
              </a:rPr>
              <a:t>Lemrock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9120" y="1219200"/>
            <a:ext cx="91440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OBJECTIF   </a:t>
            </a:r>
            <a:r>
              <a:rPr sz="1300" b="0" i="0">
                <a:solidFill>
                  <a:srgbClr val="111111"/>
                </a:solidFill>
                <a:latin typeface="Arial"/>
              </a:rPr>
              <a:t>À définir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9120" y="1524000"/>
            <a:ext cx="48768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555B66"/>
                </a:solidFill>
                <a:latin typeface="Arial"/>
              </a:rPr>
              <a:t>INSIGHTS QUALITATIFS</a:t>
            </a:r>
          </a:p>
        </p:txBody>
      </p:sp>
      <p:sp>
        <p:nvSpPr>
          <p:cNvPr id="9" name="Rectangle 8"/>
          <p:cNvSpPr/>
          <p:nvPr/>
        </p:nvSpPr>
        <p:spPr>
          <a:xfrm>
            <a:off x="579120" y="181660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35152" y="202996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83792" y="204825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Mettre en avant les accessoires et les protections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5152" y="260908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Les accessoires (1,12 fois le CTR moyen), les ballons (1,20 fois) et les protections (1,05 fois) font mieux que la moyenne. Le ballon Nike Skills enfant atteint 1,36 fois.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5152" y="331012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Donner plus de place aux accessoires et petits équipements dans la diffusion.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992368" y="181660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48400" y="202996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797040" y="204825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Renvoyer vers des fiches produit plutôt que des pages catégorie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48400" y="260908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Les annonces qui renvoient vers une fiche produit atteignent 1,06 fois le CTR moyen, contre 0,86 fois pour celles qui renvoient vers une page catégorie (survêtements, casquettes, maillots Paris Basketball).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48400" y="331012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Remplacer les annonces catégorie par des produits précis du flux.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79120" y="413308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35152" y="434644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83792" y="436473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Les sneakers lifestyle tiennent leur rang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5152" y="492556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Les chaussures et sneakers dépassent la moyenne (jusqu'à 1,11 fois), avec des modèles comme l'adidas Yung-1 ou la Puma Platform Elements.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5152" y="562660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Pousser les modèles iconiques et les nouveautés lifestyle.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992368" y="413308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48400" y="434644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797040" y="436473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Les clics triplent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248400" y="492556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Les clics passent de 1 083 à 3 198 pour 33 % d'impressions en plus. Le CTR passe de 0,20 % à 0,45 %.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248400" y="562660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Garder le ciblage et concentrer le budget sur les catégories qui cliquent le plus.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" y="121920"/>
            <a:ext cx="11612880" cy="8534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48768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RAPPORT DE PERFORMANCE · 01/09/2026 → 30/09/2026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640080"/>
            <a:ext cx="73152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111111"/>
                </a:solidFill>
                <a:latin typeface="Arial"/>
              </a:rPr>
              <a:t>Bayard Jeunesse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24800" y="591312"/>
            <a:ext cx="3304032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200" b="1" i="0">
                <a:solidFill>
                  <a:srgbClr val="8A93A6"/>
                </a:solidFill>
                <a:latin typeface="Arial"/>
              </a:rPr>
              <a:t>COMPARAISON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24800" y="780288"/>
            <a:ext cx="3304032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111111"/>
                </a:solidFill>
                <a:latin typeface="Arial"/>
              </a:rPr>
              <a:t>vs 01/08/2026 → 31/08/2026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DIFFUSION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38963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ENGAGEMENT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0819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CONVERSION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3035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3035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6446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IMPRESSIONS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446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408 434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446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+7 %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446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446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791 115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38963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238963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52374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CLICS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52374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2 277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52374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+215 %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52374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52374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2 999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24891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24891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38302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CTR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38302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0,56 %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38302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+0,37 pt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38302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38302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0,38 %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10819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10819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24230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CONVERSIONS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24230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N/C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24230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24230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24230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—</a:t>
            </a:r>
          </a:p>
        </p:txBody>
      </p:sp>
      <p:sp>
        <p:nvSpPr>
          <p:cNvPr id="39" name="Rectangle 38"/>
          <p:cNvSpPr/>
          <p:nvPr/>
        </p:nvSpPr>
        <p:spPr>
          <a:xfrm>
            <a:off x="796747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796747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10158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CVR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10158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N/C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10158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10158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10158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—</a:t>
            </a:r>
          </a:p>
        </p:txBody>
      </p:sp>
      <p:sp>
        <p:nvSpPr>
          <p:cNvPr id="46" name="Rectangle 45"/>
          <p:cNvSpPr/>
          <p:nvPr/>
        </p:nvSpPr>
        <p:spPr>
          <a:xfrm>
            <a:off x="982675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982675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996086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ROAS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96086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N/C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996086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96086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96086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—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30352" y="332232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INSIGHTS QUALITATIFS · ANALYSE DES RECHERCHES</a:t>
            </a:r>
          </a:p>
        </p:txBody>
      </p:sp>
      <p:sp>
        <p:nvSpPr>
          <p:cNvPr id="54" name="Rectangle 53"/>
          <p:cNvSpPr/>
          <p:nvPr/>
        </p:nvSpPr>
        <p:spPr>
          <a:xfrm>
            <a:off x="530352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4194048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7857744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774192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CHAMP LEXICAL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774192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Termes les plus fréquents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774192" y="4236720"/>
            <a:ext cx="298704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1800" b="1" i="0">
                <a:solidFill>
                  <a:srgbClr val="EE6A2C"/>
                </a:solidFill>
                <a:latin typeface="Arial"/>
              </a:rPr>
              <a:t>abonnement magazine</a:t>
            </a:r>
            <a:r>
              <a:rPr sz="1600" b="1" i="0">
                <a:solidFill>
                  <a:srgbClr val="111111"/>
                </a:solidFill>
                <a:latin typeface="Arial"/>
              </a:rPr>
              <a:t>   J'aime lire</a:t>
            </a:r>
          </a:p>
          <a:p>
            <a:pPr algn="l">
              <a:spcAft>
                <a:spcPts val="500"/>
              </a:spcAft>
            </a:pPr>
            <a:r>
              <a:rPr sz="1500" b="1" i="0">
                <a:solidFill>
                  <a:srgbClr val="555B66"/>
                </a:solidFill>
                <a:latin typeface="Arial"/>
              </a:rPr>
              <a:t>Pomme d'Api</a:t>
            </a:r>
            <a:r>
              <a:rPr sz="1400" b="1" i="0">
                <a:solidFill>
                  <a:srgbClr val="111111"/>
                </a:solidFill>
                <a:latin typeface="Arial"/>
              </a:rPr>
              <a:t>   Phosphore</a:t>
            </a:r>
          </a:p>
          <a:p>
            <a:pPr algn="l">
              <a:spcAft>
                <a:spcPts val="500"/>
              </a:spcAft>
            </a:pPr>
            <a:r>
              <a:rPr sz="1300" b="1" i="0">
                <a:solidFill>
                  <a:srgbClr val="EE6A2C"/>
                </a:solidFill>
                <a:latin typeface="Arial"/>
              </a:rPr>
              <a:t>Images Doc</a:t>
            </a:r>
            <a:r>
              <a:rPr sz="1200" b="0" i="0">
                <a:solidFill>
                  <a:srgbClr val="555B66"/>
                </a:solidFill>
                <a:latin typeface="Arial"/>
              </a:rPr>
              <a:t>   Popi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EE6A2C"/>
                </a:solidFill>
                <a:latin typeface="Arial"/>
              </a:rPr>
              <a:t>I Love English</a:t>
            </a:r>
            <a:r>
              <a:rPr sz="1100" b="1" i="0">
                <a:solidFill>
                  <a:srgbClr val="111111"/>
                </a:solidFill>
                <a:latin typeface="Arial"/>
              </a:rPr>
              <a:t>   So Foot Club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Okapi</a:t>
            </a:r>
            <a:r>
              <a:rPr sz="1100" b="0" i="0">
                <a:solidFill>
                  <a:srgbClr val="555B66"/>
                </a:solidFill>
                <a:latin typeface="Arial"/>
              </a:rPr>
              <a:t>   Astrapi</a:t>
            </a:r>
            <a:r>
              <a:rPr sz="1100" b="1" i="0">
                <a:solidFill>
                  <a:srgbClr val="EE6A2C"/>
                </a:solidFill>
                <a:latin typeface="Arial"/>
              </a:rPr>
              <a:t>   Youpi Doc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livré à la maison</a:t>
            </a:r>
            <a:r>
              <a:rPr sz="1100" b="0" i="0">
                <a:solidFill>
                  <a:srgbClr val="555B66"/>
                </a:solidFill>
                <a:latin typeface="Arial"/>
              </a:rPr>
              <a:t>   numérique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4437888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EXEMPLES DE REQUÊTES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4437888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Questions posées aux IA</a:t>
            </a:r>
          </a:p>
        </p:txBody>
      </p:sp>
      <p:sp>
        <p:nvSpPr>
          <p:cNvPr id="62" name="Rectangle 61"/>
          <p:cNvSpPr/>
          <p:nvPr/>
        </p:nvSpPr>
        <p:spPr>
          <a:xfrm>
            <a:off x="4437888" y="426720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4559808" y="426720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4791456" y="426720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Comment je m'abonne pour accéder aux numéros numériques ?</a:t>
            </a:r>
          </a:p>
        </p:txBody>
      </p:sp>
      <p:sp>
        <p:nvSpPr>
          <p:cNvPr id="65" name="Rectangle 64"/>
          <p:cNvSpPr/>
          <p:nvPr/>
        </p:nvSpPr>
        <p:spPr>
          <a:xfrm>
            <a:off x="4437888" y="463296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4559808" y="463296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4791456" y="463296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Comment je reçois le magazine papier chez moi ?</a:t>
            </a:r>
          </a:p>
        </p:txBody>
      </p:sp>
      <p:sp>
        <p:nvSpPr>
          <p:cNvPr id="68" name="Rectangle 67"/>
          <p:cNvSpPr/>
          <p:nvPr/>
        </p:nvSpPr>
        <p:spPr>
          <a:xfrm>
            <a:off x="4437888" y="499872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4559808" y="499872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4791456" y="499872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Ça vaut le coup en audiobook ou mieux en lecture papier ?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8101584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CATÉGORIES DE PRODUITS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101584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Répartition des requêtes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10607040" y="4175760"/>
            <a:ext cx="51816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111111"/>
                </a:solidFill>
                <a:latin typeface="Arial"/>
              </a:rPr>
              <a:t>100%</a:t>
            </a:r>
          </a:p>
        </p:txBody>
      </p:sp>
      <p:sp>
        <p:nvSpPr>
          <p:cNvPr id="74" name="Rectangle 73"/>
          <p:cNvSpPr/>
          <p:nvPr/>
        </p:nvSpPr>
        <p:spPr>
          <a:xfrm>
            <a:off x="8077200" y="4407408"/>
            <a:ext cx="121920" cy="121920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8296656" y="4389120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Lecture et découverte 6-10 ans</a:t>
            </a:r>
          </a:p>
        </p:txBody>
      </p:sp>
      <p:sp>
        <p:nvSpPr>
          <p:cNvPr id="76" name="Rectangle 75"/>
          <p:cNvSpPr/>
          <p:nvPr/>
        </p:nvSpPr>
        <p:spPr>
          <a:xfrm>
            <a:off x="8077200" y="4675632"/>
            <a:ext cx="121920" cy="121920"/>
          </a:xfrm>
          <a:prstGeom prst="rect">
            <a:avLst/>
          </a:prstGeom>
          <a:solidFill>
            <a:srgbClr val="7A4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8296656" y="4657344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Apprentissage de l'anglais · 8 %</a:t>
            </a:r>
          </a:p>
        </p:txBody>
      </p:sp>
      <p:sp>
        <p:nvSpPr>
          <p:cNvPr id="78" name="Rectangle 77"/>
          <p:cNvSpPr/>
          <p:nvPr/>
        </p:nvSpPr>
        <p:spPr>
          <a:xfrm>
            <a:off x="8077200" y="4943856"/>
            <a:ext cx="121920" cy="121920"/>
          </a:xfrm>
          <a:prstGeom prst="rect">
            <a:avLst/>
          </a:prstGeom>
          <a:solidFill>
            <a:srgbClr val="EB9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8296656" y="4925568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Magazines pour adolescents · 19 %</a:t>
            </a:r>
          </a:p>
        </p:txBody>
      </p:sp>
      <p:sp>
        <p:nvSpPr>
          <p:cNvPr id="80" name="Rectangle 79"/>
          <p:cNvSpPr/>
          <p:nvPr/>
        </p:nvSpPr>
        <p:spPr>
          <a:xfrm>
            <a:off x="8077200" y="5212080"/>
            <a:ext cx="121920" cy="12192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8296656" y="5193792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Éveil et petite enfance · 40 %</a:t>
            </a:r>
          </a:p>
        </p:txBody>
      </p:sp>
      <p:sp>
        <p:nvSpPr>
          <p:cNvPr id="82" name="Rectangle 81"/>
          <p:cNvSpPr/>
          <p:nvPr/>
        </p:nvSpPr>
        <p:spPr>
          <a:xfrm>
            <a:off x="10564368" y="4450080"/>
            <a:ext cx="475488" cy="442569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10564368" y="4450080"/>
            <a:ext cx="475488" cy="44256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Arial"/>
              </a:rPr>
              <a:t>33 %</a:t>
            </a:r>
          </a:p>
        </p:txBody>
      </p:sp>
      <p:sp>
        <p:nvSpPr>
          <p:cNvPr id="84" name="Rectangle 83"/>
          <p:cNvSpPr/>
          <p:nvPr/>
        </p:nvSpPr>
        <p:spPr>
          <a:xfrm>
            <a:off x="10564368" y="4892649"/>
            <a:ext cx="475488" cy="107289"/>
          </a:xfrm>
          <a:prstGeom prst="rect">
            <a:avLst/>
          </a:prstGeom>
          <a:solidFill>
            <a:srgbClr val="7A4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Rectangle 84"/>
          <p:cNvSpPr/>
          <p:nvPr/>
        </p:nvSpPr>
        <p:spPr>
          <a:xfrm>
            <a:off x="10564368" y="4999939"/>
            <a:ext cx="475488" cy="254812"/>
          </a:xfrm>
          <a:prstGeom prst="rect">
            <a:avLst/>
          </a:prstGeom>
          <a:solidFill>
            <a:srgbClr val="EB9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Rectangle 85"/>
          <p:cNvSpPr/>
          <p:nvPr/>
        </p:nvSpPr>
        <p:spPr>
          <a:xfrm>
            <a:off x="10564368" y="5254752"/>
            <a:ext cx="475488" cy="536448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10564368" y="5254752"/>
            <a:ext cx="475488" cy="5364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Arial"/>
              </a:rPr>
              <a:t>40 %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" y="121920"/>
            <a:ext cx="11612880" cy="8534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79120" y="42672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INSIGHTS QUALITATIFS · SEPTEMBRE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79120" y="609600"/>
            <a:ext cx="73152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111111"/>
                </a:solidFill>
                <a:latin typeface="Arial"/>
              </a:rPr>
              <a:t>Bayard Jeunesse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0" y="499872"/>
            <a:ext cx="18897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111111"/>
                </a:solidFill>
                <a:latin typeface="Arial"/>
              </a:rPr>
              <a:t>Lemrock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9120" y="1219200"/>
            <a:ext cx="91440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OBJECTIF   </a:t>
            </a:r>
            <a:r>
              <a:rPr sz="1300" b="0" i="0">
                <a:solidFill>
                  <a:srgbClr val="111111"/>
                </a:solidFill>
                <a:latin typeface="Arial"/>
              </a:rPr>
              <a:t>À définir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9120" y="1524000"/>
            <a:ext cx="48768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555B66"/>
                </a:solidFill>
                <a:latin typeface="Arial"/>
              </a:rPr>
              <a:t>INSIGHTS QUALITATIFS</a:t>
            </a:r>
          </a:p>
        </p:txBody>
      </p:sp>
      <p:sp>
        <p:nvSpPr>
          <p:cNvPr id="9" name="Rectangle 8"/>
          <p:cNvSpPr/>
          <p:nvPr/>
        </p:nvSpPr>
        <p:spPr>
          <a:xfrm>
            <a:off x="579120" y="181660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35152" y="202996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83792" y="204825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Mettre en avant les magazines ados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5152" y="260908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Les magazines pour adolescents (Phosphore, Okapi, So Foot Club, Je bouquine) atteignent 1,39 fois le CTR moyen. Phosphore atteint même 2,23 fois.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5152" y="331012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Donner plus de place aux titres ados dans la diffusion.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992368" y="181660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48400" y="202996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797040" y="204825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Les magazines documentaires surperforment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48400" y="260908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Images Doc (magazine découvertes 8-12 ans) atteint 2,28 fois le CTR moyen, le meilleur score de la campagne.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48400" y="331012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Mettre en avant les titres qui aident à comprendre le monde.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79120" y="413308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35152" y="434644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83792" y="436473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Revoir les annonces petite enfance et génériques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5152" y="492556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L'éveil et la petite enfance représentent 40 % de la diffusion mais restent à 0,92 fois la moyenne (Les Belles Histoires 0,62 fois, Babar 0,67 fois). Les annonces génériques sont à 0,89 fois.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5152" y="562660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Parler aux parents d'un moment précis (histoire du soir, premiers apprentissages) plutôt que de l'abonnement en général.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992368" y="413308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48400" y="434644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797040" y="436473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Les clics triplent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248400" y="492556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Les clics passent de 722 à 2 277 pour 7 % d'impressions en plus. Le CTR passe de 0,19 % à 0,56 %.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248400" y="562660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Prolonger la campagne au-delà du 11/10, pour la période des cadeaux de fin d'année.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" y="121920"/>
            <a:ext cx="11612880" cy="8534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48768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RAPPORT DE PERFORMANCE · 01/09/2026 → 30/09/2026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640080"/>
            <a:ext cx="73152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111111"/>
                </a:solidFill>
                <a:latin typeface="Arial"/>
              </a:rPr>
              <a:t>Bosch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24800" y="591312"/>
            <a:ext cx="3304032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200" b="1" i="0">
                <a:solidFill>
                  <a:srgbClr val="8A93A6"/>
                </a:solidFill>
                <a:latin typeface="Arial"/>
              </a:rPr>
              <a:t>COMPARAISON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24800" y="780288"/>
            <a:ext cx="3304032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111111"/>
                </a:solidFill>
                <a:latin typeface="Arial"/>
              </a:rPr>
              <a:t>vs 01/08/2026 → 31/08/2026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DIFFUSION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38963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ENGAGEMENT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0819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CONVERSION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3035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3035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6446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IMPRESSIONS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446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351 012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446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B04837"/>
                </a:solidFill>
                <a:latin typeface="Arial"/>
              </a:rPr>
              <a:t>▼ −44 %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446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446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1 531 995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38963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238963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52374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CLICS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52374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1 740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52374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+20 %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52374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52374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4 227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24891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24891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38302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CTR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38302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0,50 %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38302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+0,27 pt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38302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38302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0,28 %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10819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10819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24230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CONVERSIONS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24230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N/C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24230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24230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24230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—</a:t>
            </a:r>
          </a:p>
        </p:txBody>
      </p:sp>
      <p:sp>
        <p:nvSpPr>
          <p:cNvPr id="39" name="Rectangle 38"/>
          <p:cNvSpPr/>
          <p:nvPr/>
        </p:nvSpPr>
        <p:spPr>
          <a:xfrm>
            <a:off x="796747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796747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10158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CVR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10158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N/C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10158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10158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10158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—</a:t>
            </a:r>
          </a:p>
        </p:txBody>
      </p:sp>
      <p:sp>
        <p:nvSpPr>
          <p:cNvPr id="46" name="Rectangle 45"/>
          <p:cNvSpPr/>
          <p:nvPr/>
        </p:nvSpPr>
        <p:spPr>
          <a:xfrm>
            <a:off x="982675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982675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996086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ROAS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96086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N/C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996086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96086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96086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—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30352" y="332232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INSIGHTS QUALITATIFS · ANALYSE DES RECHERCHES</a:t>
            </a:r>
          </a:p>
        </p:txBody>
      </p:sp>
      <p:sp>
        <p:nvSpPr>
          <p:cNvPr id="54" name="Rectangle 53"/>
          <p:cNvSpPr/>
          <p:nvPr/>
        </p:nvSpPr>
        <p:spPr>
          <a:xfrm>
            <a:off x="530352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4194048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7857744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774192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CHAMP LEXICAL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774192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Termes les plus fréquents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774192" y="4236720"/>
            <a:ext cx="298704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2000" b="1" i="0">
                <a:solidFill>
                  <a:srgbClr val="EE6A2C"/>
                </a:solidFill>
                <a:latin typeface="Arial"/>
              </a:rPr>
              <a:t>lave-vaisselle</a:t>
            </a:r>
            <a:r>
              <a:rPr sz="1800" b="1" i="0">
                <a:solidFill>
                  <a:srgbClr val="111111"/>
                </a:solidFill>
                <a:latin typeface="Arial"/>
              </a:rPr>
              <a:t>   encastrable</a:t>
            </a:r>
          </a:p>
          <a:p>
            <a:pPr algn="l">
              <a:spcAft>
                <a:spcPts val="500"/>
              </a:spcAft>
            </a:pPr>
            <a:r>
              <a:rPr sz="1500" b="1" i="0">
                <a:solidFill>
                  <a:srgbClr val="555B66"/>
                </a:solidFill>
                <a:latin typeface="Arial"/>
              </a:rPr>
              <a:t>pose libre</a:t>
            </a:r>
            <a:r>
              <a:rPr sz="1400" b="1" i="0">
                <a:solidFill>
                  <a:srgbClr val="111111"/>
                </a:solidFill>
                <a:latin typeface="Arial"/>
              </a:rPr>
              <a:t>   60 cm</a:t>
            </a:r>
          </a:p>
          <a:p>
            <a:pPr algn="l">
              <a:spcAft>
                <a:spcPts val="500"/>
              </a:spcAft>
            </a:pPr>
            <a:r>
              <a:rPr sz="1300" b="1" i="0">
                <a:solidFill>
                  <a:srgbClr val="EE6A2C"/>
                </a:solidFill>
                <a:latin typeface="Arial"/>
              </a:rPr>
              <a:t>45 cm</a:t>
            </a:r>
            <a:r>
              <a:rPr sz="1200" b="0" i="0">
                <a:solidFill>
                  <a:srgbClr val="555B66"/>
                </a:solidFill>
                <a:latin typeface="Arial"/>
              </a:rPr>
              <a:t>   Série 2</a:t>
            </a:r>
            <a:r>
              <a:rPr sz="1200" b="1" i="0">
                <a:solidFill>
                  <a:srgbClr val="111111"/>
                </a:solidFill>
                <a:latin typeface="Arial"/>
              </a:rPr>
              <a:t>   Série 4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EE6A2C"/>
                </a:solidFill>
                <a:latin typeface="Arial"/>
              </a:rPr>
              <a:t>EcoSilence Drive</a:t>
            </a:r>
            <a:r>
              <a:rPr sz="1100" b="1" i="0">
                <a:solidFill>
                  <a:srgbClr val="111111"/>
                </a:solidFill>
                <a:latin typeface="Arial"/>
              </a:rPr>
              <a:t>   tiroir à couverts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13 couverts</a:t>
            </a:r>
            <a:r>
              <a:rPr sz="1100" b="0" i="0">
                <a:solidFill>
                  <a:srgbClr val="555B66"/>
                </a:solidFill>
                <a:latin typeface="Arial"/>
              </a:rPr>
              <a:t>   14 couverts</a:t>
            </a:r>
            <a:r>
              <a:rPr sz="1100" b="1" i="0">
                <a:solidFill>
                  <a:srgbClr val="EE6A2C"/>
                </a:solidFill>
                <a:latin typeface="Arial"/>
              </a:rPr>
              <a:t>   dB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livraison gratuite</a:t>
            </a:r>
            <a:r>
              <a:rPr sz="1100" b="0" i="0">
                <a:solidFill>
                  <a:srgbClr val="555B66"/>
                </a:solidFill>
                <a:latin typeface="Arial"/>
              </a:rPr>
              <a:t>   Black Friday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4437888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EXEMPLES DE REQUÊTES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4437888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Questions posées aux IA</a:t>
            </a:r>
          </a:p>
        </p:txBody>
      </p:sp>
      <p:sp>
        <p:nvSpPr>
          <p:cNvPr id="62" name="Rectangle 61"/>
          <p:cNvSpPr/>
          <p:nvPr/>
        </p:nvSpPr>
        <p:spPr>
          <a:xfrm>
            <a:off x="4437888" y="426720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4559808" y="426720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4791456" y="426720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Je veux un lave-vaisselle 60 cm à bandeau apparent à ~500 €</a:t>
            </a:r>
          </a:p>
        </p:txBody>
      </p:sp>
      <p:sp>
        <p:nvSpPr>
          <p:cNvPr id="65" name="Rectangle 64"/>
          <p:cNvSpPr/>
          <p:nvPr/>
        </p:nvSpPr>
        <p:spPr>
          <a:xfrm>
            <a:off x="4437888" y="463296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4559808" y="463296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4791456" y="463296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Un lave-vaisselle bon rapport qualité-prix pour moins de 600 € ?</a:t>
            </a:r>
          </a:p>
        </p:txBody>
      </p:sp>
      <p:sp>
        <p:nvSpPr>
          <p:cNvPr id="68" name="Rectangle 67"/>
          <p:cNvSpPr/>
          <p:nvPr/>
        </p:nvSpPr>
        <p:spPr>
          <a:xfrm>
            <a:off x="4437888" y="499872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4559808" y="499872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4791456" y="499872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L'entretien et la fiabilité sont-ils simples sur le long terme ?</a:t>
            </a:r>
          </a:p>
        </p:txBody>
      </p:sp>
      <p:sp>
        <p:nvSpPr>
          <p:cNvPr id="71" name="Rectangle 70"/>
          <p:cNvSpPr/>
          <p:nvPr/>
        </p:nvSpPr>
        <p:spPr>
          <a:xfrm>
            <a:off x="4437888" y="536448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4559808" y="536448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4791456" y="536448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Est-ce qu'il vaut mieux attendre le Black Friday ?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8101584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CATÉGORIES DE PRODUITS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8101584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Répartition des requêtes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10607040" y="4175760"/>
            <a:ext cx="51816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111111"/>
                </a:solidFill>
                <a:latin typeface="Arial"/>
              </a:rPr>
              <a:t>100%</a:t>
            </a:r>
          </a:p>
        </p:txBody>
      </p:sp>
      <p:sp>
        <p:nvSpPr>
          <p:cNvPr id="77" name="Rectangle 76"/>
          <p:cNvSpPr/>
          <p:nvPr/>
        </p:nvSpPr>
        <p:spPr>
          <a:xfrm>
            <a:off x="8077200" y="4407408"/>
            <a:ext cx="121920" cy="121920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8296656" y="4389120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0">
                <a:solidFill>
                  <a:srgbClr val="111111"/>
                </a:solidFill>
                <a:latin typeface="Arial"/>
              </a:rPr>
              <a:t>Comparaison marques et modèles · 5 %</a:t>
            </a:r>
          </a:p>
        </p:txBody>
      </p:sp>
      <p:sp>
        <p:nvSpPr>
          <p:cNvPr id="79" name="Rectangle 78"/>
          <p:cNvSpPr/>
          <p:nvPr/>
        </p:nvSpPr>
        <p:spPr>
          <a:xfrm>
            <a:off x="8077200" y="4675632"/>
            <a:ext cx="121920" cy="121920"/>
          </a:xfrm>
          <a:prstGeom prst="rect">
            <a:avLst/>
          </a:prstGeom>
          <a:solidFill>
            <a:srgbClr val="7A4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8296656" y="4657344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0">
                <a:solidFill>
                  <a:srgbClr val="111111"/>
                </a:solidFill>
                <a:latin typeface="Arial"/>
              </a:rPr>
              <a:t>Encastrables et intégrables · 46 %</a:t>
            </a:r>
          </a:p>
        </p:txBody>
      </p:sp>
      <p:sp>
        <p:nvSpPr>
          <p:cNvPr id="81" name="Rectangle 80"/>
          <p:cNvSpPr/>
          <p:nvPr/>
        </p:nvSpPr>
        <p:spPr>
          <a:xfrm>
            <a:off x="8077200" y="4943856"/>
            <a:ext cx="121920" cy="121920"/>
          </a:xfrm>
          <a:prstGeom prst="rect">
            <a:avLst/>
          </a:prstGeom>
          <a:solidFill>
            <a:srgbClr val="EB9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8296656" y="4925568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Compacts et largeur 45 cm · 15 %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8077200" y="5212080"/>
            <a:ext cx="121920" cy="12192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8296656" y="5193792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Grande capacité et 60 cm · 34 %</a:t>
            </a:r>
          </a:p>
        </p:txBody>
      </p:sp>
      <p:sp>
        <p:nvSpPr>
          <p:cNvPr id="85" name="Rectangle 84"/>
          <p:cNvSpPr/>
          <p:nvPr/>
        </p:nvSpPr>
        <p:spPr>
          <a:xfrm>
            <a:off x="8077200" y="5480304"/>
            <a:ext cx="121920" cy="121920"/>
          </a:xfrm>
          <a:prstGeom prst="rect">
            <a:avLst/>
          </a:prstGeom>
          <a:solidFill>
            <a:srgbClr val="3E5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TextBox 85"/>
          <p:cNvSpPr txBox="1"/>
          <p:nvPr/>
        </p:nvSpPr>
        <p:spPr>
          <a:xfrm>
            <a:off x="8296656" y="5462016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Lave-vaisselle silencieux · &lt; 1 %</a:t>
            </a:r>
          </a:p>
        </p:txBody>
      </p:sp>
      <p:sp>
        <p:nvSpPr>
          <p:cNvPr id="87" name="Rectangle 86"/>
          <p:cNvSpPr/>
          <p:nvPr/>
        </p:nvSpPr>
        <p:spPr>
          <a:xfrm>
            <a:off x="8077200" y="5748528"/>
            <a:ext cx="121920" cy="121920"/>
          </a:xfrm>
          <a:prstGeom prst="rect">
            <a:avLst/>
          </a:prstGeom>
          <a:solidFill>
            <a:srgbClr val="A092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TextBox 87"/>
          <p:cNvSpPr txBox="1"/>
          <p:nvPr/>
        </p:nvSpPr>
        <p:spPr>
          <a:xfrm>
            <a:off x="8296656" y="5730240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Lave-vaisselle connectés · &lt; 1 %</a:t>
            </a:r>
          </a:p>
        </p:txBody>
      </p:sp>
      <p:sp>
        <p:nvSpPr>
          <p:cNvPr id="89" name="Rectangle 88"/>
          <p:cNvSpPr/>
          <p:nvPr/>
        </p:nvSpPr>
        <p:spPr>
          <a:xfrm>
            <a:off x="10564368" y="4450080"/>
            <a:ext cx="475488" cy="67056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Rectangle 89"/>
          <p:cNvSpPr/>
          <p:nvPr/>
        </p:nvSpPr>
        <p:spPr>
          <a:xfrm>
            <a:off x="10564368" y="4517136"/>
            <a:ext cx="475488" cy="616915"/>
          </a:xfrm>
          <a:prstGeom prst="rect">
            <a:avLst/>
          </a:prstGeom>
          <a:solidFill>
            <a:srgbClr val="7A4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10564368" y="4517136"/>
            <a:ext cx="475488" cy="61691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Arial"/>
              </a:rPr>
              <a:t>46 %</a:t>
            </a:r>
          </a:p>
        </p:txBody>
      </p:sp>
      <p:sp>
        <p:nvSpPr>
          <p:cNvPr id="92" name="Rectangle 91"/>
          <p:cNvSpPr/>
          <p:nvPr/>
        </p:nvSpPr>
        <p:spPr>
          <a:xfrm>
            <a:off x="10564368" y="5134051"/>
            <a:ext cx="475488" cy="201168"/>
          </a:xfrm>
          <a:prstGeom prst="rect">
            <a:avLst/>
          </a:prstGeom>
          <a:solidFill>
            <a:srgbClr val="EB9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Rectangle 92"/>
          <p:cNvSpPr/>
          <p:nvPr/>
        </p:nvSpPr>
        <p:spPr>
          <a:xfrm>
            <a:off x="10564368" y="5335219"/>
            <a:ext cx="475488" cy="45598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TextBox 93"/>
          <p:cNvSpPr txBox="1"/>
          <p:nvPr/>
        </p:nvSpPr>
        <p:spPr>
          <a:xfrm>
            <a:off x="10564368" y="5335219"/>
            <a:ext cx="475488" cy="4559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Arial"/>
              </a:rPr>
              <a:t>34 %</a:t>
            </a:r>
          </a:p>
        </p:txBody>
      </p:sp>
      <p:sp>
        <p:nvSpPr>
          <p:cNvPr id="95" name="Rectangle 94"/>
          <p:cNvSpPr/>
          <p:nvPr/>
        </p:nvSpPr>
        <p:spPr>
          <a:xfrm>
            <a:off x="10564368" y="5791200"/>
            <a:ext cx="475488" cy="0"/>
          </a:xfrm>
          <a:prstGeom prst="rect">
            <a:avLst/>
          </a:prstGeom>
          <a:solidFill>
            <a:srgbClr val="3E5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Rectangle 95"/>
          <p:cNvSpPr/>
          <p:nvPr/>
        </p:nvSpPr>
        <p:spPr>
          <a:xfrm>
            <a:off x="10564368" y="5791200"/>
            <a:ext cx="475488" cy="0"/>
          </a:xfrm>
          <a:prstGeom prst="rect">
            <a:avLst/>
          </a:prstGeom>
          <a:solidFill>
            <a:srgbClr val="A092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" y="121920"/>
            <a:ext cx="11612880" cy="8534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79120" y="42672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INSIGHTS QUALITATIFS · SEPTEMBRE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79120" y="609600"/>
            <a:ext cx="73152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111111"/>
                </a:solidFill>
                <a:latin typeface="Arial"/>
              </a:rPr>
              <a:t>Bosch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0" y="499872"/>
            <a:ext cx="18897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111111"/>
                </a:solidFill>
                <a:latin typeface="Arial"/>
              </a:rPr>
              <a:t>Lemrock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9120" y="1219200"/>
            <a:ext cx="91440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OBJECTIF   </a:t>
            </a:r>
            <a:r>
              <a:rPr sz="1300" b="0" i="0">
                <a:solidFill>
                  <a:srgbClr val="111111"/>
                </a:solidFill>
                <a:latin typeface="Arial"/>
              </a:rPr>
              <a:t>À définir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9120" y="1524000"/>
            <a:ext cx="48768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555B66"/>
                </a:solidFill>
                <a:latin typeface="Arial"/>
              </a:rPr>
              <a:t>INSIGHTS QUALITATIFS</a:t>
            </a:r>
          </a:p>
        </p:txBody>
      </p:sp>
      <p:sp>
        <p:nvSpPr>
          <p:cNvPr id="9" name="Rectangle 8"/>
          <p:cNvSpPr/>
          <p:nvPr/>
        </p:nvSpPr>
        <p:spPr>
          <a:xfrm>
            <a:off x="579120" y="181660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35152" y="202996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83792" y="204825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Les modèles Série 2 cliquent le mieux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5152" y="260908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Les lave-vaisselle Série 2 atteignent 1,06 fois le CTR moyen, contre 0,95 fois pour les Série 4. Le Série 2 tout encastrable SMV2HTX02E atteint 1,41 fois.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5152" y="331012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Mettre en avant les Série 2 avec un argument prix.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992368" y="181660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48400" y="202996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797040" y="204825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Des écarts forts d'un modèle à l'autre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48400" y="260908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Avec la même description, les modèles vont de 0,60 fois (Série 4 SBV4HCX07E) à 1,41 fois la moyenne.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48400" y="331012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Concentrer la diffusion sur les modèles qui cliquent le plus et retirer les moins performants.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79120" y="413308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35152" y="434644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83792" y="436473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Varier les descriptions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5152" y="492556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52 des 53 annonces utilisent la même description (« Cdiscount Electroménager - Découvrez notre offre… »), qui reprend la fiche technique.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5152" y="562660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Tester des descriptions centrées sur un bénéfice (silence en cuisine ouverte, gain de place, économie d'eau).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992368" y="413308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48400" y="434644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797040" y="436473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Préparer le Black Friday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248400" y="492556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10,6 % des freins exprimés portent sur l'attente d'une promotion. Le CTR passe de 0,23 % à 0,50 %.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248400" y="562660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Préparer des messages promotionnels dès début novembre.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" y="121920"/>
            <a:ext cx="11612880" cy="8534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48768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RAPPORT DE PERFORMANCE · 01/09/2026 → 30/09/2026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640080"/>
            <a:ext cx="73152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111111"/>
                </a:solidFill>
                <a:latin typeface="Arial"/>
              </a:rPr>
              <a:t>Cdiscount Mobile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24800" y="591312"/>
            <a:ext cx="3304032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200" b="1" i="0">
                <a:solidFill>
                  <a:srgbClr val="8A93A6"/>
                </a:solidFill>
                <a:latin typeface="Arial"/>
              </a:rPr>
              <a:t>COMPARAISON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24800" y="780288"/>
            <a:ext cx="3304032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111111"/>
                </a:solidFill>
                <a:latin typeface="Arial"/>
              </a:rPr>
              <a:t>vs 01/08/2026 → 31/08/2026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DIFFUSION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38963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ENGAGEMENT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0819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CONVERSION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3035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3035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6446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IMPRESSIONS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446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11111"/>
                </a:solidFill>
                <a:latin typeface="Arial"/>
              </a:rPr>
              <a:t>1 760 935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446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+22 %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446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446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6 117 876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38963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238963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52374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CLICS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52374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9 138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52374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+207 %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52374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52374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17 884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24891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24891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38302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CTR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38302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0,52 %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38302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+0,31 pt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38302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38302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0,29 %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10819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10819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24230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CONVERSIONS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24230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4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24230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+4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24230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24230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8</a:t>
            </a:r>
          </a:p>
        </p:txBody>
      </p:sp>
      <p:sp>
        <p:nvSpPr>
          <p:cNvPr id="39" name="Rectangle 38"/>
          <p:cNvSpPr/>
          <p:nvPr/>
        </p:nvSpPr>
        <p:spPr>
          <a:xfrm>
            <a:off x="796747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796747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10158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CVR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10158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0,04 %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10158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+0,04 pt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10158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10158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0,04 %</a:t>
            </a:r>
          </a:p>
        </p:txBody>
      </p:sp>
      <p:sp>
        <p:nvSpPr>
          <p:cNvPr id="46" name="Rectangle 45"/>
          <p:cNvSpPr/>
          <p:nvPr/>
        </p:nvSpPr>
        <p:spPr>
          <a:xfrm>
            <a:off x="982675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982675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996086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ROAS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96086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0,02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996086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+0,02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96086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96086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0,02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30352" y="332232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INSIGHTS QUALITATIFS · ANALYSE DES RECHERCHES</a:t>
            </a:r>
          </a:p>
        </p:txBody>
      </p:sp>
      <p:sp>
        <p:nvSpPr>
          <p:cNvPr id="54" name="Rectangle 53"/>
          <p:cNvSpPr/>
          <p:nvPr/>
        </p:nvSpPr>
        <p:spPr>
          <a:xfrm>
            <a:off x="530352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4194048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7857744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774192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CHAMP LEXICAL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774192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Termes les plus fréquents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774192" y="4236720"/>
            <a:ext cx="298704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2000" b="1" i="0">
                <a:solidFill>
                  <a:srgbClr val="EE6A2C"/>
                </a:solidFill>
                <a:latin typeface="Arial"/>
              </a:rPr>
              <a:t>forfait mobile</a:t>
            </a:r>
          </a:p>
          <a:p>
            <a:pPr algn="l">
              <a:spcAft>
                <a:spcPts val="500"/>
              </a:spcAft>
            </a:pPr>
            <a:r>
              <a:rPr sz="1700" b="1" i="0">
                <a:solidFill>
                  <a:srgbClr val="111111"/>
                </a:solidFill>
                <a:latin typeface="Arial"/>
              </a:rPr>
              <a:t>sans engagement</a:t>
            </a:r>
            <a:r>
              <a:rPr sz="1500" b="0" i="0">
                <a:solidFill>
                  <a:srgbClr val="555B66"/>
                </a:solidFill>
                <a:latin typeface="Arial"/>
              </a:rPr>
              <a:t>      eSIM</a:t>
            </a:r>
          </a:p>
          <a:p>
            <a:pPr algn="l">
              <a:spcAft>
                <a:spcPts val="500"/>
              </a:spcAft>
            </a:pPr>
            <a:r>
              <a:rPr sz="1400" b="1" i="0">
                <a:solidFill>
                  <a:srgbClr val="EE6A2C"/>
                </a:solidFill>
                <a:latin typeface="Arial"/>
              </a:rPr>
              <a:t>40 Go</a:t>
            </a:r>
            <a:r>
              <a:rPr sz="1300" b="1" i="0">
                <a:solidFill>
                  <a:srgbClr val="111111"/>
                </a:solidFill>
                <a:latin typeface="Arial"/>
              </a:rPr>
              <a:t>   150 Go</a:t>
            </a:r>
            <a:r>
              <a:rPr sz="1300" b="0" i="0">
                <a:solidFill>
                  <a:srgbClr val="555B66"/>
                </a:solidFill>
                <a:latin typeface="Arial"/>
              </a:rPr>
              <a:t>   5G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EE6A2C"/>
                </a:solidFill>
                <a:latin typeface="Arial"/>
              </a:rPr>
              <a:t>carte SIM</a:t>
            </a:r>
            <a:r>
              <a:rPr sz="1100" b="1" i="0">
                <a:solidFill>
                  <a:srgbClr val="111111"/>
                </a:solidFill>
                <a:latin typeface="Arial"/>
              </a:rPr>
              <a:t>   code RIO</a:t>
            </a:r>
            <a:r>
              <a:rPr sz="1100" b="0" i="0">
                <a:solidFill>
                  <a:srgbClr val="555B66"/>
                </a:solidFill>
                <a:latin typeface="Arial"/>
              </a:rPr>
              <a:t>   portabilité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EE6A2C"/>
                </a:solidFill>
                <a:latin typeface="Arial"/>
              </a:rPr>
              <a:t>activation immédiate</a:t>
            </a:r>
            <a:r>
              <a:rPr sz="1100" b="1" i="0">
                <a:solidFill>
                  <a:srgbClr val="111111"/>
                </a:solidFill>
                <a:latin typeface="Arial"/>
              </a:rPr>
              <a:t>   partage de connexion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roaming</a:t>
            </a:r>
            <a:r>
              <a:rPr sz="1100" b="0" i="0">
                <a:solidFill>
                  <a:srgbClr val="555B66"/>
                </a:solidFill>
                <a:latin typeface="Arial"/>
              </a:rPr>
              <a:t>   meilleur prix</a:t>
            </a:r>
            <a:r>
              <a:rPr sz="1100" b="1" i="0">
                <a:solidFill>
                  <a:srgbClr val="EE6A2C"/>
                </a:solidFill>
                <a:latin typeface="Arial"/>
              </a:rPr>
              <a:t>   départ en vacances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4437888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EXEMPLES DE REQUÊTES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4437888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Questions posées aux IA</a:t>
            </a:r>
          </a:p>
        </p:txBody>
      </p:sp>
      <p:sp>
        <p:nvSpPr>
          <p:cNvPr id="62" name="Rectangle 61"/>
          <p:cNvSpPr/>
          <p:nvPr/>
        </p:nvSpPr>
        <p:spPr>
          <a:xfrm>
            <a:off x="4437888" y="426720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4559808" y="426720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4791456" y="426720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Quel forfait mobile sans engagement choisir ?</a:t>
            </a:r>
          </a:p>
        </p:txBody>
      </p:sp>
      <p:sp>
        <p:nvSpPr>
          <p:cNvPr id="65" name="Rectangle 64"/>
          <p:cNvSpPr/>
          <p:nvPr/>
        </p:nvSpPr>
        <p:spPr>
          <a:xfrm>
            <a:off x="4437888" y="463296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4559808" y="463296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4791456" y="463296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Puis-je utiliser une eSIM avec Cdiscount Mobile ?</a:t>
            </a:r>
          </a:p>
        </p:txBody>
      </p:sp>
      <p:sp>
        <p:nvSpPr>
          <p:cNvPr id="68" name="Rectangle 67"/>
          <p:cNvSpPr/>
          <p:nvPr/>
        </p:nvSpPr>
        <p:spPr>
          <a:xfrm>
            <a:off x="4437888" y="499872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4559808" y="499872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4791456" y="499872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Puis-je conserver mon numéro en changeant d'opérateur ?</a:t>
            </a:r>
          </a:p>
        </p:txBody>
      </p:sp>
      <p:sp>
        <p:nvSpPr>
          <p:cNvPr id="71" name="Rectangle 70"/>
          <p:cNvSpPr/>
          <p:nvPr/>
        </p:nvSpPr>
        <p:spPr>
          <a:xfrm>
            <a:off x="4437888" y="536448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4559808" y="536448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4791456" y="536448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Quel forfait pour faire du partage de connexion ?</a:t>
            </a:r>
          </a:p>
        </p:txBody>
      </p:sp>
      <p:sp>
        <p:nvSpPr>
          <p:cNvPr id="74" name="Rectangle 73"/>
          <p:cNvSpPr/>
          <p:nvPr/>
        </p:nvSpPr>
        <p:spPr>
          <a:xfrm>
            <a:off x="4437888" y="573024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4559808" y="573024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4791456" y="573024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Quel forfait prendre pour partir en vacances à l'étranger ?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8101584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CATÉGORIES DE PRODUITS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8101584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Répartition des requêtes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10607040" y="4175760"/>
            <a:ext cx="51816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111111"/>
                </a:solidFill>
                <a:latin typeface="Arial"/>
              </a:rPr>
              <a:t>100%</a:t>
            </a:r>
          </a:p>
        </p:txBody>
      </p:sp>
      <p:sp>
        <p:nvSpPr>
          <p:cNvPr id="80" name="Rectangle 79"/>
          <p:cNvSpPr/>
          <p:nvPr/>
        </p:nvSpPr>
        <p:spPr>
          <a:xfrm>
            <a:off x="8077200" y="4407408"/>
            <a:ext cx="121920" cy="121920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8296656" y="4389120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Recherche générale d'un forfait</a:t>
            </a:r>
          </a:p>
        </p:txBody>
      </p:sp>
      <p:sp>
        <p:nvSpPr>
          <p:cNvPr id="82" name="Rectangle 81"/>
          <p:cNvSpPr/>
          <p:nvPr/>
        </p:nvSpPr>
        <p:spPr>
          <a:xfrm>
            <a:off x="8077200" y="4626864"/>
            <a:ext cx="121920" cy="121920"/>
          </a:xfrm>
          <a:prstGeom prst="rect">
            <a:avLst/>
          </a:prstGeom>
          <a:solidFill>
            <a:srgbClr val="7A4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8296656" y="4608576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eSIM et carte SIM · 25 %</a:t>
            </a:r>
          </a:p>
        </p:txBody>
      </p:sp>
      <p:sp>
        <p:nvSpPr>
          <p:cNvPr id="84" name="Rectangle 83"/>
          <p:cNvSpPr/>
          <p:nvPr/>
        </p:nvSpPr>
        <p:spPr>
          <a:xfrm>
            <a:off x="8077200" y="4846320"/>
            <a:ext cx="121920" cy="121920"/>
          </a:xfrm>
          <a:prstGeom prst="rect">
            <a:avLst/>
          </a:prstGeom>
          <a:solidFill>
            <a:srgbClr val="EB9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8296656" y="4828032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Prix et sans engagement · 15 %</a:t>
            </a:r>
          </a:p>
        </p:txBody>
      </p:sp>
      <p:sp>
        <p:nvSpPr>
          <p:cNvPr id="86" name="Rectangle 85"/>
          <p:cNvSpPr/>
          <p:nvPr/>
        </p:nvSpPr>
        <p:spPr>
          <a:xfrm>
            <a:off x="8077200" y="5065776"/>
            <a:ext cx="121920" cy="12192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8296656" y="5047488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0">
                <a:solidFill>
                  <a:srgbClr val="111111"/>
                </a:solidFill>
                <a:latin typeface="Arial"/>
              </a:rPr>
              <a:t>Partage de connexion et nomade · 12 %</a:t>
            </a:r>
          </a:p>
        </p:txBody>
      </p:sp>
      <p:sp>
        <p:nvSpPr>
          <p:cNvPr id="88" name="Rectangle 87"/>
          <p:cNvSpPr/>
          <p:nvPr/>
        </p:nvSpPr>
        <p:spPr>
          <a:xfrm>
            <a:off x="8077200" y="5285232"/>
            <a:ext cx="121920" cy="121920"/>
          </a:xfrm>
          <a:prstGeom prst="rect">
            <a:avLst/>
          </a:prstGeom>
          <a:solidFill>
            <a:srgbClr val="3E5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8296656" y="5266944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5G et volume de data · 6 %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8077200" y="5504688"/>
            <a:ext cx="121920" cy="121920"/>
          </a:xfrm>
          <a:prstGeom prst="rect">
            <a:avLst/>
          </a:prstGeom>
          <a:solidFill>
            <a:srgbClr val="A092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8296656" y="5486400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International et roaming · 4 %</a:t>
            </a:r>
          </a:p>
        </p:txBody>
      </p:sp>
      <p:sp>
        <p:nvSpPr>
          <p:cNvPr id="92" name="Rectangle 91"/>
          <p:cNvSpPr/>
          <p:nvPr/>
        </p:nvSpPr>
        <p:spPr>
          <a:xfrm>
            <a:off x="8077200" y="5724144"/>
            <a:ext cx="121920" cy="121920"/>
          </a:xfrm>
          <a:prstGeom prst="rect">
            <a:avLst/>
          </a:prstGeom>
          <a:solidFill>
            <a:srgbClr val="8CB3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8296656" y="5705856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Changement d'opérateur · 1 %</a:t>
            </a:r>
          </a:p>
        </p:txBody>
      </p:sp>
      <p:sp>
        <p:nvSpPr>
          <p:cNvPr id="94" name="Rectangle 93"/>
          <p:cNvSpPr/>
          <p:nvPr/>
        </p:nvSpPr>
        <p:spPr>
          <a:xfrm>
            <a:off x="8077200" y="5943600"/>
            <a:ext cx="121920" cy="121920"/>
          </a:xfrm>
          <a:prstGeom prst="rect">
            <a:avLst/>
          </a:prstGeom>
          <a:solidFill>
            <a:srgbClr val="C95B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TextBox 94"/>
          <p:cNvSpPr txBox="1"/>
          <p:nvPr/>
        </p:nvSpPr>
        <p:spPr>
          <a:xfrm>
            <a:off x="8296656" y="5925312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Forfaits par profil · 1 %</a:t>
            </a:r>
          </a:p>
        </p:txBody>
      </p:sp>
      <p:sp>
        <p:nvSpPr>
          <p:cNvPr id="96" name="Rectangle 95"/>
          <p:cNvSpPr/>
          <p:nvPr/>
        </p:nvSpPr>
        <p:spPr>
          <a:xfrm>
            <a:off x="10564368" y="4450080"/>
            <a:ext cx="475488" cy="482803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10564368" y="4450080"/>
            <a:ext cx="475488" cy="4828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Arial"/>
              </a:rPr>
              <a:t>36 %</a:t>
            </a:r>
          </a:p>
        </p:txBody>
      </p:sp>
      <p:sp>
        <p:nvSpPr>
          <p:cNvPr id="98" name="Rectangle 97"/>
          <p:cNvSpPr/>
          <p:nvPr/>
        </p:nvSpPr>
        <p:spPr>
          <a:xfrm>
            <a:off x="10564368" y="4932883"/>
            <a:ext cx="475488" cy="335280"/>
          </a:xfrm>
          <a:prstGeom prst="rect">
            <a:avLst/>
          </a:prstGeom>
          <a:solidFill>
            <a:srgbClr val="7A4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TextBox 98"/>
          <p:cNvSpPr txBox="1"/>
          <p:nvPr/>
        </p:nvSpPr>
        <p:spPr>
          <a:xfrm>
            <a:off x="10564368" y="4932883"/>
            <a:ext cx="475488" cy="3352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Arial"/>
              </a:rPr>
              <a:t>25 %</a:t>
            </a:r>
          </a:p>
        </p:txBody>
      </p:sp>
      <p:sp>
        <p:nvSpPr>
          <p:cNvPr id="100" name="Rectangle 99"/>
          <p:cNvSpPr/>
          <p:nvPr/>
        </p:nvSpPr>
        <p:spPr>
          <a:xfrm>
            <a:off x="10564368" y="5268163"/>
            <a:ext cx="475488" cy="201168"/>
          </a:xfrm>
          <a:prstGeom prst="rect">
            <a:avLst/>
          </a:prstGeom>
          <a:solidFill>
            <a:srgbClr val="EB9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Rectangle 100"/>
          <p:cNvSpPr/>
          <p:nvPr/>
        </p:nvSpPr>
        <p:spPr>
          <a:xfrm>
            <a:off x="10564368" y="5469331"/>
            <a:ext cx="475488" cy="16093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Rectangle 101"/>
          <p:cNvSpPr/>
          <p:nvPr/>
        </p:nvSpPr>
        <p:spPr>
          <a:xfrm>
            <a:off x="10564368" y="5630265"/>
            <a:ext cx="475488" cy="80467"/>
          </a:xfrm>
          <a:prstGeom prst="rect">
            <a:avLst/>
          </a:prstGeom>
          <a:solidFill>
            <a:srgbClr val="3E5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Rectangle 102"/>
          <p:cNvSpPr/>
          <p:nvPr/>
        </p:nvSpPr>
        <p:spPr>
          <a:xfrm>
            <a:off x="10564368" y="5710732"/>
            <a:ext cx="475488" cy="53644"/>
          </a:xfrm>
          <a:prstGeom prst="rect">
            <a:avLst/>
          </a:prstGeom>
          <a:solidFill>
            <a:srgbClr val="A092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Rectangle 103"/>
          <p:cNvSpPr/>
          <p:nvPr/>
        </p:nvSpPr>
        <p:spPr>
          <a:xfrm>
            <a:off x="10564368" y="5764377"/>
            <a:ext cx="475488" cy="13411"/>
          </a:xfrm>
          <a:prstGeom prst="rect">
            <a:avLst/>
          </a:prstGeom>
          <a:solidFill>
            <a:srgbClr val="8CB3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Rectangle 104"/>
          <p:cNvSpPr/>
          <p:nvPr/>
        </p:nvSpPr>
        <p:spPr>
          <a:xfrm>
            <a:off x="10564368" y="5777788"/>
            <a:ext cx="475488" cy="13411"/>
          </a:xfrm>
          <a:prstGeom prst="rect">
            <a:avLst/>
          </a:prstGeom>
          <a:solidFill>
            <a:srgbClr val="C95B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" y="121920"/>
            <a:ext cx="11612880" cy="8534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79120" y="42672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INSIGHTS QUALITATIFS · SEPTEMBRE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79120" y="609600"/>
            <a:ext cx="73152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111111"/>
                </a:solidFill>
                <a:latin typeface="Arial"/>
              </a:rPr>
              <a:t>Cdiscount Mobile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0" y="499872"/>
            <a:ext cx="18897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111111"/>
                </a:solidFill>
                <a:latin typeface="Arial"/>
              </a:rPr>
              <a:t>Lemrock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9120" y="1219200"/>
            <a:ext cx="91440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OBJECTIF   </a:t>
            </a:r>
            <a:r>
              <a:rPr sz="1300" b="0" i="0">
                <a:solidFill>
                  <a:srgbClr val="111111"/>
                </a:solidFill>
                <a:latin typeface="Arial"/>
              </a:rPr>
              <a:t>Générer 550 nouvelles souscriptions.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9120" y="1524000"/>
            <a:ext cx="48768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555B66"/>
                </a:solidFill>
                <a:latin typeface="Arial"/>
              </a:rPr>
              <a:t>INSIGHTS QUALITATIFS</a:t>
            </a:r>
          </a:p>
        </p:txBody>
      </p:sp>
      <p:sp>
        <p:nvSpPr>
          <p:cNvPr id="9" name="Rectangle 8"/>
          <p:cNvSpPr/>
          <p:nvPr/>
        </p:nvSpPr>
        <p:spPr>
          <a:xfrm>
            <a:off x="579120" y="181660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35152" y="202996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83792" y="204825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Les forfaits 40 Go et 150 Go font jeu égal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5152" y="260908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 forfait 40 Go (deux tiers de la diffusion) et le forfait 150 Go obtiennent le même CTR (0,99 à 1,02 fois la moyenne).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5152" y="331012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Garder le 40 Go comme offre d'appel, au prix le plus bas.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992368" y="181660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48400" y="202996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797040" y="204825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Les trois annonces performent de la même façon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48400" y="260908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Les 3 annonces diffusées sont entre 0,99 et 1,02 fois la moyenne : elles ne permettent pas de tester d'autres messages.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48400" y="331012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Ajouter des annonces par profil (vacances et eSIM, étudiants, famille) pour trouver de nouveaux leviers.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79120" y="413308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35152" y="434644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83792" y="436473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Activer le départ en vacances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5152" y="492556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 départ en vacances déclenche 24 % des conversations du secteur, avec des recherches de forfait et d'eSIM.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5152" y="562660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Créer une annonce dédiée à l'eSIM et aux forfaits pour voyager.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992368" y="413308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48400" y="434644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797040" y="436473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Les clics triplent, les conversions restent rares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248400" y="492556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9 138 clics (+207 %) mais 4 conversions seulement, loin de l'objectif de 550 souscriptions.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248400" y="562660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Vérifier le tracking Awin et le parcours de souscription.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" y="121920"/>
            <a:ext cx="11612880" cy="8534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48768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RAPPORT DE PERFORMANCE · 01/09/2026 → 30/09/2026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640080"/>
            <a:ext cx="73152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111111"/>
                </a:solidFill>
                <a:latin typeface="Arial"/>
              </a:rPr>
              <a:t>Cdiscount Voyages – Séjours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24800" y="591312"/>
            <a:ext cx="3304032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200" b="1" i="0">
                <a:solidFill>
                  <a:srgbClr val="8A93A6"/>
                </a:solidFill>
                <a:latin typeface="Arial"/>
              </a:rPr>
              <a:t>COMPARAISON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24800" y="780288"/>
            <a:ext cx="3304032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111111"/>
                </a:solidFill>
                <a:latin typeface="Arial"/>
              </a:rPr>
              <a:t>vs 01/08/2026 → 31/08/2026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DIFFUSION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38963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ENGAGEMENT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0819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CONVERSION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3035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3035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6446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IMPRESSIONS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446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790 844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446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B04837"/>
                </a:solidFill>
                <a:latin typeface="Arial"/>
              </a:rPr>
              <a:t>▼ −52 %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446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446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5 924 632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38963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238963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52374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CLICS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52374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3 916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52374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+26 %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52374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52374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12 654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24891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24891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38302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CTR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38302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0,50 %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38302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+0,31 pt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38302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38302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0,21 %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10819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10819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24230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CONVERSIONS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24230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4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24230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+2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24230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24230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25</a:t>
            </a:r>
          </a:p>
        </p:txBody>
      </p:sp>
      <p:sp>
        <p:nvSpPr>
          <p:cNvPr id="39" name="Rectangle 38"/>
          <p:cNvSpPr/>
          <p:nvPr/>
        </p:nvSpPr>
        <p:spPr>
          <a:xfrm>
            <a:off x="796747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796747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10158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CVR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10158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0,10 %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10158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+0,04 pt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10158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10158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0,20 %</a:t>
            </a:r>
          </a:p>
        </p:txBody>
      </p:sp>
      <p:sp>
        <p:nvSpPr>
          <p:cNvPr id="46" name="Rectangle 45"/>
          <p:cNvSpPr/>
          <p:nvPr/>
        </p:nvSpPr>
        <p:spPr>
          <a:xfrm>
            <a:off x="982675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982675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996086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ROAS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96086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1,30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996086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+0,47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96086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96086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—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30352" y="332232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INSIGHTS QUALITATIFS · ANALYSE DES RECHERCHES</a:t>
            </a:r>
          </a:p>
        </p:txBody>
      </p:sp>
      <p:sp>
        <p:nvSpPr>
          <p:cNvPr id="54" name="Rectangle 53"/>
          <p:cNvSpPr/>
          <p:nvPr/>
        </p:nvSpPr>
        <p:spPr>
          <a:xfrm>
            <a:off x="530352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4194048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7857744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774192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CHAMP LEXICAL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774192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Termes les plus fréquents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774192" y="4236720"/>
            <a:ext cx="298704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2000" b="1" i="0">
                <a:solidFill>
                  <a:srgbClr val="EE6A2C"/>
                </a:solidFill>
                <a:latin typeface="Arial"/>
              </a:rPr>
              <a:t>hôtel</a:t>
            </a:r>
            <a:r>
              <a:rPr sz="1800" b="1" i="0">
                <a:solidFill>
                  <a:srgbClr val="111111"/>
                </a:solidFill>
                <a:latin typeface="Arial"/>
              </a:rPr>
              <a:t>   séjour</a:t>
            </a:r>
          </a:p>
          <a:p>
            <a:pPr algn="l">
              <a:spcAft>
                <a:spcPts val="500"/>
              </a:spcAft>
            </a:pPr>
            <a:r>
              <a:rPr sz="1500" b="1" i="0">
                <a:solidFill>
                  <a:srgbClr val="555B66"/>
                </a:solidFill>
                <a:latin typeface="Arial"/>
              </a:rPr>
              <a:t>Canaries</a:t>
            </a:r>
            <a:r>
              <a:rPr sz="1400" b="1" i="0">
                <a:solidFill>
                  <a:srgbClr val="111111"/>
                </a:solidFill>
                <a:latin typeface="Arial"/>
              </a:rPr>
              <a:t>   Baléares</a:t>
            </a:r>
          </a:p>
          <a:p>
            <a:pPr algn="l">
              <a:spcAft>
                <a:spcPts val="500"/>
              </a:spcAft>
            </a:pPr>
            <a:r>
              <a:rPr sz="1300" b="1" i="0">
                <a:solidFill>
                  <a:srgbClr val="EE6A2C"/>
                </a:solidFill>
                <a:latin typeface="Arial"/>
              </a:rPr>
              <a:t>tout compris</a:t>
            </a:r>
            <a:r>
              <a:rPr sz="1200" b="0" i="0">
                <a:solidFill>
                  <a:srgbClr val="555B66"/>
                </a:solidFill>
                <a:latin typeface="Arial"/>
              </a:rPr>
              <a:t>   club</a:t>
            </a:r>
            <a:r>
              <a:rPr sz="1200" b="1" i="0">
                <a:solidFill>
                  <a:srgbClr val="111111"/>
                </a:solidFill>
                <a:latin typeface="Arial"/>
              </a:rPr>
              <a:t>   soleil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EE6A2C"/>
                </a:solidFill>
                <a:latin typeface="Arial"/>
              </a:rPr>
              <a:t>Fuerteventura</a:t>
            </a:r>
            <a:r>
              <a:rPr sz="1100" b="1" i="0">
                <a:solidFill>
                  <a:srgbClr val="111111"/>
                </a:solidFill>
                <a:latin typeface="Arial"/>
              </a:rPr>
              <a:t>   Majorque</a:t>
            </a:r>
            <a:r>
              <a:rPr sz="1100" b="0" i="0">
                <a:solidFill>
                  <a:srgbClr val="555B66"/>
                </a:solidFill>
                <a:latin typeface="Arial"/>
              </a:rPr>
              <a:t>   Grèce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paiement en 4 fois</a:t>
            </a:r>
            <a:r>
              <a:rPr sz="1100" b="0" i="0">
                <a:solidFill>
                  <a:srgbClr val="555B66"/>
                </a:solidFill>
                <a:latin typeface="Arial"/>
              </a:rPr>
              <a:t>   plage</a:t>
            </a:r>
            <a:r>
              <a:rPr sz="1100" b="1" i="0">
                <a:solidFill>
                  <a:srgbClr val="EE6A2C"/>
                </a:solidFill>
                <a:latin typeface="Arial"/>
              </a:rPr>
              <a:t>   Dubaï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Tunisie</a:t>
            </a:r>
            <a:r>
              <a:rPr sz="1100" b="0" i="0">
                <a:solidFill>
                  <a:srgbClr val="555B66"/>
                </a:solidFill>
                <a:latin typeface="Arial"/>
              </a:rPr>
              <a:t>   petit prix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4437888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EXEMPLES DE REQUÊTES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4437888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Questions posées aux IA</a:t>
            </a:r>
          </a:p>
        </p:txBody>
      </p:sp>
      <p:sp>
        <p:nvSpPr>
          <p:cNvPr id="62" name="Rectangle 61"/>
          <p:cNvSpPr/>
          <p:nvPr/>
        </p:nvSpPr>
        <p:spPr>
          <a:xfrm>
            <a:off x="4437888" y="426720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4559808" y="426720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4791456" y="426720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Où partir au soleil en octobre ?</a:t>
            </a:r>
          </a:p>
        </p:txBody>
      </p:sp>
      <p:sp>
        <p:nvSpPr>
          <p:cNvPr id="65" name="Rectangle 64"/>
          <p:cNvSpPr/>
          <p:nvPr/>
        </p:nvSpPr>
        <p:spPr>
          <a:xfrm>
            <a:off x="4437888" y="463296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4559808" y="463296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4791456" y="463296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Quel séjour tout compris pour une famille ?</a:t>
            </a:r>
          </a:p>
        </p:txBody>
      </p:sp>
      <p:sp>
        <p:nvSpPr>
          <p:cNvPr id="68" name="Rectangle 67"/>
          <p:cNvSpPr/>
          <p:nvPr/>
        </p:nvSpPr>
        <p:spPr>
          <a:xfrm>
            <a:off x="4437888" y="499872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4559808" y="499872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4791456" y="499872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Peut-on payer un voyage en quatre fois ?</a:t>
            </a:r>
          </a:p>
        </p:txBody>
      </p:sp>
      <p:sp>
        <p:nvSpPr>
          <p:cNvPr id="71" name="Rectangle 70"/>
          <p:cNvSpPr/>
          <p:nvPr/>
        </p:nvSpPr>
        <p:spPr>
          <a:xfrm>
            <a:off x="4437888" y="536448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4559808" y="536448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4791456" y="536448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Quel hôtel choisir aux Canaries pour la Toussaint ?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8101584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CATÉGORIES DE PRODUITS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8101584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Répartition des requêtes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10607040" y="4175760"/>
            <a:ext cx="51816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111111"/>
                </a:solidFill>
                <a:latin typeface="Arial"/>
              </a:rPr>
              <a:t>100%</a:t>
            </a:r>
          </a:p>
        </p:txBody>
      </p:sp>
      <p:sp>
        <p:nvSpPr>
          <p:cNvPr id="77" name="Rectangle 76"/>
          <p:cNvSpPr/>
          <p:nvPr/>
        </p:nvSpPr>
        <p:spPr>
          <a:xfrm>
            <a:off x="8077200" y="4407408"/>
            <a:ext cx="121920" cy="121920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8296656" y="4389120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Campings et camping-cars · &lt; 1 %</a:t>
            </a:r>
          </a:p>
        </p:txBody>
      </p:sp>
      <p:sp>
        <p:nvSpPr>
          <p:cNvPr id="79" name="Rectangle 78"/>
          <p:cNvSpPr/>
          <p:nvPr/>
        </p:nvSpPr>
        <p:spPr>
          <a:xfrm>
            <a:off x="8077200" y="4626864"/>
            <a:ext cx="121920" cy="121920"/>
          </a:xfrm>
          <a:prstGeom prst="rect">
            <a:avLst/>
          </a:prstGeom>
          <a:solidFill>
            <a:srgbClr val="7A4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8296656" y="4608576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Hôtels et hébergements · 89 %</a:t>
            </a:r>
          </a:p>
        </p:txBody>
      </p:sp>
      <p:sp>
        <p:nvSpPr>
          <p:cNvPr id="81" name="Rectangle 80"/>
          <p:cNvSpPr/>
          <p:nvPr/>
        </p:nvSpPr>
        <p:spPr>
          <a:xfrm>
            <a:off x="8077200" y="4846320"/>
            <a:ext cx="121920" cy="121920"/>
          </a:xfrm>
          <a:prstGeom prst="rect">
            <a:avLst/>
          </a:prstGeom>
          <a:solidFill>
            <a:srgbClr val="EB9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8296656" y="4828032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0">
                <a:solidFill>
                  <a:srgbClr val="111111"/>
                </a:solidFill>
                <a:latin typeface="Arial"/>
              </a:rPr>
              <a:t>Croisières, ferries et trains · &lt; 1 %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8077200" y="5065776"/>
            <a:ext cx="121920" cy="12192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8296656" y="5047488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Séjours tout compris · 11 %</a:t>
            </a:r>
          </a:p>
        </p:txBody>
      </p:sp>
      <p:sp>
        <p:nvSpPr>
          <p:cNvPr id="85" name="Rectangle 84"/>
          <p:cNvSpPr/>
          <p:nvPr/>
        </p:nvSpPr>
        <p:spPr>
          <a:xfrm>
            <a:off x="8077200" y="5285232"/>
            <a:ext cx="121920" cy="121920"/>
          </a:xfrm>
          <a:prstGeom prst="rect">
            <a:avLst/>
          </a:prstGeom>
          <a:solidFill>
            <a:srgbClr val="3E5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TextBox 85"/>
          <p:cNvSpPr txBox="1"/>
          <p:nvPr/>
        </p:nvSpPr>
        <p:spPr>
          <a:xfrm>
            <a:off x="8296656" y="5266944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0">
                <a:solidFill>
                  <a:srgbClr val="111111"/>
                </a:solidFill>
                <a:latin typeface="Arial"/>
              </a:rPr>
              <a:t>Parcs et séjours en famille · &lt; 1 %</a:t>
            </a:r>
          </a:p>
        </p:txBody>
      </p:sp>
      <p:sp>
        <p:nvSpPr>
          <p:cNvPr id="87" name="Rectangle 86"/>
          <p:cNvSpPr/>
          <p:nvPr/>
        </p:nvSpPr>
        <p:spPr>
          <a:xfrm>
            <a:off x="8077200" y="5504688"/>
            <a:ext cx="121920" cy="121920"/>
          </a:xfrm>
          <a:prstGeom prst="rect">
            <a:avLst/>
          </a:prstGeom>
          <a:solidFill>
            <a:srgbClr val="A092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TextBox 87"/>
          <p:cNvSpPr txBox="1"/>
          <p:nvPr/>
        </p:nvSpPr>
        <p:spPr>
          <a:xfrm>
            <a:off x="8296656" y="5486400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Vols et billets d'avion · &lt; 1 %</a:t>
            </a:r>
          </a:p>
        </p:txBody>
      </p:sp>
      <p:sp>
        <p:nvSpPr>
          <p:cNvPr id="89" name="Rectangle 88"/>
          <p:cNvSpPr/>
          <p:nvPr/>
        </p:nvSpPr>
        <p:spPr>
          <a:xfrm>
            <a:off x="8077200" y="5724144"/>
            <a:ext cx="121920" cy="121920"/>
          </a:xfrm>
          <a:prstGeom prst="rect">
            <a:avLst/>
          </a:prstGeom>
          <a:solidFill>
            <a:srgbClr val="8CB3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8296656" y="5705856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Bien-être et thalasso · &lt; 1 %</a:t>
            </a:r>
          </a:p>
        </p:txBody>
      </p:sp>
      <p:sp>
        <p:nvSpPr>
          <p:cNvPr id="91" name="Rectangle 90"/>
          <p:cNvSpPr/>
          <p:nvPr/>
        </p:nvSpPr>
        <p:spPr>
          <a:xfrm>
            <a:off x="10564368" y="4450080"/>
            <a:ext cx="475488" cy="0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Rectangle 91"/>
          <p:cNvSpPr/>
          <p:nvPr/>
        </p:nvSpPr>
        <p:spPr>
          <a:xfrm>
            <a:off x="10564368" y="4450080"/>
            <a:ext cx="475488" cy="1193596"/>
          </a:xfrm>
          <a:prstGeom prst="rect">
            <a:avLst/>
          </a:prstGeom>
          <a:solidFill>
            <a:srgbClr val="7A4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10564368" y="4450080"/>
            <a:ext cx="475488" cy="11935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Arial"/>
              </a:rPr>
              <a:t>89 %</a:t>
            </a:r>
          </a:p>
        </p:txBody>
      </p:sp>
      <p:sp>
        <p:nvSpPr>
          <p:cNvPr id="94" name="Rectangle 93"/>
          <p:cNvSpPr/>
          <p:nvPr/>
        </p:nvSpPr>
        <p:spPr>
          <a:xfrm>
            <a:off x="10564368" y="5643676"/>
            <a:ext cx="475488" cy="0"/>
          </a:xfrm>
          <a:prstGeom prst="rect">
            <a:avLst/>
          </a:prstGeom>
          <a:solidFill>
            <a:srgbClr val="EB9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Rectangle 94"/>
          <p:cNvSpPr/>
          <p:nvPr/>
        </p:nvSpPr>
        <p:spPr>
          <a:xfrm>
            <a:off x="10564368" y="5643676"/>
            <a:ext cx="475488" cy="147523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Rectangle 95"/>
          <p:cNvSpPr/>
          <p:nvPr/>
        </p:nvSpPr>
        <p:spPr>
          <a:xfrm>
            <a:off x="10564368" y="5791200"/>
            <a:ext cx="475488" cy="0"/>
          </a:xfrm>
          <a:prstGeom prst="rect">
            <a:avLst/>
          </a:prstGeom>
          <a:solidFill>
            <a:srgbClr val="3E5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Rectangle 96"/>
          <p:cNvSpPr/>
          <p:nvPr/>
        </p:nvSpPr>
        <p:spPr>
          <a:xfrm>
            <a:off x="10564368" y="5791200"/>
            <a:ext cx="475488" cy="0"/>
          </a:xfrm>
          <a:prstGeom prst="rect">
            <a:avLst/>
          </a:prstGeom>
          <a:solidFill>
            <a:srgbClr val="A092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Rectangle 97"/>
          <p:cNvSpPr/>
          <p:nvPr/>
        </p:nvSpPr>
        <p:spPr>
          <a:xfrm>
            <a:off x="10564368" y="5791200"/>
            <a:ext cx="475488" cy="0"/>
          </a:xfrm>
          <a:prstGeom prst="rect">
            <a:avLst/>
          </a:prstGeom>
          <a:solidFill>
            <a:srgbClr val="8CB3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" y="121920"/>
            <a:ext cx="11612880" cy="8534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79120" y="42672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INSIGHTS QUALITATIFS · SEPTEMBRE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79120" y="609600"/>
            <a:ext cx="73152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111111"/>
                </a:solidFill>
                <a:latin typeface="Arial"/>
              </a:rPr>
              <a:t>Cdiscount Voyages – Séjours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0" y="499872"/>
            <a:ext cx="18897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111111"/>
                </a:solidFill>
                <a:latin typeface="Arial"/>
              </a:rPr>
              <a:t>Lemrock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9120" y="1219200"/>
            <a:ext cx="91440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OBJECTIF   </a:t>
            </a:r>
            <a:r>
              <a:rPr sz="1300" b="0" i="0">
                <a:solidFill>
                  <a:srgbClr val="111111"/>
                </a:solidFill>
                <a:latin typeface="Arial"/>
              </a:rPr>
              <a:t>Atteindre un ROI de 12 pour un CA de 30 k€.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9120" y="1524000"/>
            <a:ext cx="48768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555B66"/>
                </a:solidFill>
                <a:latin typeface="Arial"/>
              </a:rPr>
              <a:t>INSIGHTS QUALITATIFS</a:t>
            </a:r>
          </a:p>
        </p:txBody>
      </p:sp>
      <p:sp>
        <p:nvSpPr>
          <p:cNvPr id="9" name="Rectangle 8"/>
          <p:cNvSpPr/>
          <p:nvPr/>
        </p:nvSpPr>
        <p:spPr>
          <a:xfrm>
            <a:off x="579120" y="181660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35152" y="202996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83792" y="204825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Mettre en avant une destination précise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5152" y="260908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Les annonces qui décrivent un hôtel et sa destination (Fuerteventura, Majorque, Grèce, Dubaï) atteignent jusqu'à 1,23 fois le CTR moyen.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5152" y="331012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Construire chaque annonce autour d'un lieu et de ce qu'on y vit.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992368" y="181660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48400" y="202996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797040" y="204825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L'annonce générique sous-performe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48400" y="260908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L'annonce « Séjour pas cher – Paiement en 4x » reste à 0,86 fois la moyenne.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48400" y="331012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Garder le paiement en 4x comme argument secondaire, après la destination.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79120" y="413308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35152" y="434644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83792" y="436473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Les Canaries et les Baléares portent la campagne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5152" y="492556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Les Canaries et les Baléares représentent 29 % de la diffusion, avec des CTR au-dessus de la moyenne.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5152" y="562660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Préparer les séjours soleil d'hiver (Canaries, Égypte, Dubaï) pour la Toussaint et Noël.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992368" y="413308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48400" y="434644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797040" y="436473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Des réservations en hausse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248400" y="492556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4 réservations pour 1 119 € de GMV. Le ROAS passe de 0,82 à 1,30.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248400" y="562660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Concentrer le budget sur les offres qui convertissent.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" y="121920"/>
            <a:ext cx="11612880" cy="8534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48768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RAPPORT DE PERFORMANCE · 01/09/2026 → 30/09/2026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640080"/>
            <a:ext cx="73152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111111"/>
                </a:solidFill>
                <a:latin typeface="Arial"/>
              </a:rPr>
              <a:t>Cdiscount Voyages – Vols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24800" y="591312"/>
            <a:ext cx="3304032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200" b="1" i="0">
                <a:solidFill>
                  <a:srgbClr val="8A93A6"/>
                </a:solidFill>
                <a:latin typeface="Arial"/>
              </a:rPr>
              <a:t>COMPARAISON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24800" y="780288"/>
            <a:ext cx="3304032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111111"/>
                </a:solidFill>
                <a:latin typeface="Arial"/>
              </a:rPr>
              <a:t>vs 01/08/2026 → 31/08/2026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DIFFUSION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38963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ENGAGEMENT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0819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CONVERSION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3035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3035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6446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IMPRESSIONS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446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11111"/>
                </a:solidFill>
                <a:latin typeface="Arial"/>
              </a:rPr>
              <a:t>1 855 410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446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+92 %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446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446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10 029 893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38963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238963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52374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CLICS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52374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9 406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52374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+455 %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52374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52374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21 694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24891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24891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38302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CTR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38302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0,51 %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38302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+0,33 pt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38302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38302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0,22 %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10819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10819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24230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CONVERSIONS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24230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24230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24230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24230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0</a:t>
            </a:r>
          </a:p>
        </p:txBody>
      </p:sp>
      <p:sp>
        <p:nvSpPr>
          <p:cNvPr id="39" name="Rectangle 38"/>
          <p:cNvSpPr/>
          <p:nvPr/>
        </p:nvSpPr>
        <p:spPr>
          <a:xfrm>
            <a:off x="796747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796747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10158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CVR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10158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0,00 %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10158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10158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10158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0,00 %</a:t>
            </a:r>
          </a:p>
        </p:txBody>
      </p:sp>
      <p:sp>
        <p:nvSpPr>
          <p:cNvPr id="46" name="Rectangle 45"/>
          <p:cNvSpPr/>
          <p:nvPr/>
        </p:nvSpPr>
        <p:spPr>
          <a:xfrm>
            <a:off x="982675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982675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996086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ROAS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96086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0,00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996086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96086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96086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0,00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30352" y="332232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INSIGHTS QUALITATIFS · ANALYSE DES RECHERCHES</a:t>
            </a:r>
          </a:p>
        </p:txBody>
      </p:sp>
      <p:sp>
        <p:nvSpPr>
          <p:cNvPr id="54" name="Rectangle 53"/>
          <p:cNvSpPr/>
          <p:nvPr/>
        </p:nvSpPr>
        <p:spPr>
          <a:xfrm>
            <a:off x="530352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4194048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7857744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774192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CHAMP LEXICAL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774192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Termes les plus fréquents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774192" y="4236720"/>
            <a:ext cx="298704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2000" b="1" i="0">
                <a:solidFill>
                  <a:srgbClr val="EE6A2C"/>
                </a:solidFill>
                <a:latin typeface="Arial"/>
              </a:rPr>
              <a:t>billet d'avion</a:t>
            </a:r>
            <a:r>
              <a:rPr sz="1800" b="1" i="0">
                <a:solidFill>
                  <a:srgbClr val="111111"/>
                </a:solidFill>
                <a:latin typeface="Arial"/>
              </a:rPr>
              <a:t>   vol direct</a:t>
            </a:r>
          </a:p>
          <a:p>
            <a:pPr algn="l">
              <a:spcAft>
                <a:spcPts val="500"/>
              </a:spcAft>
            </a:pPr>
            <a:r>
              <a:rPr sz="1500" b="1" i="0">
                <a:solidFill>
                  <a:srgbClr val="555B66"/>
                </a:solidFill>
                <a:latin typeface="Arial"/>
              </a:rPr>
              <a:t>Afrique</a:t>
            </a:r>
            <a:r>
              <a:rPr sz="1400" b="1" i="0">
                <a:solidFill>
                  <a:srgbClr val="111111"/>
                </a:solidFill>
                <a:latin typeface="Arial"/>
              </a:rPr>
              <a:t>   Maghreb</a:t>
            </a:r>
          </a:p>
          <a:p>
            <a:pPr algn="l">
              <a:spcAft>
                <a:spcPts val="500"/>
              </a:spcAft>
            </a:pPr>
            <a:r>
              <a:rPr sz="1300" b="1" i="0">
                <a:solidFill>
                  <a:srgbClr val="EE6A2C"/>
                </a:solidFill>
                <a:latin typeface="Arial"/>
              </a:rPr>
              <a:t>Abidjan</a:t>
            </a:r>
            <a:r>
              <a:rPr sz="1200" b="0" i="0">
                <a:solidFill>
                  <a:srgbClr val="555B66"/>
                </a:solidFill>
                <a:latin typeface="Arial"/>
              </a:rPr>
              <a:t>   Thaïlande</a:t>
            </a:r>
            <a:r>
              <a:rPr sz="1200" b="1" i="0">
                <a:solidFill>
                  <a:srgbClr val="111111"/>
                </a:solidFill>
                <a:latin typeface="Arial"/>
              </a:rPr>
              <a:t>   Bali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EE6A2C"/>
                </a:solidFill>
                <a:latin typeface="Arial"/>
              </a:rPr>
              <a:t>Martinique</a:t>
            </a:r>
            <a:r>
              <a:rPr sz="1100" b="1" i="0">
                <a:solidFill>
                  <a:srgbClr val="111111"/>
                </a:solidFill>
                <a:latin typeface="Arial"/>
              </a:rPr>
              <a:t>   Guadeloupe</a:t>
            </a:r>
            <a:r>
              <a:rPr sz="1100" b="0" i="0">
                <a:solidFill>
                  <a:srgbClr val="555B66"/>
                </a:solidFill>
                <a:latin typeface="Arial"/>
              </a:rPr>
              <a:t>   Lanzarote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paiement en 4 fois</a:t>
            </a:r>
            <a:r>
              <a:rPr sz="1100" b="0" i="0">
                <a:solidFill>
                  <a:srgbClr val="555B66"/>
                </a:solidFill>
                <a:latin typeface="Arial"/>
              </a:rPr>
              <a:t>   prix bas</a:t>
            </a:r>
            <a:r>
              <a:rPr sz="1100" b="1" i="0">
                <a:solidFill>
                  <a:srgbClr val="EE6A2C"/>
                </a:solidFill>
                <a:latin typeface="Arial"/>
              </a:rPr>
              <a:t>   Lyon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Nice</a:t>
            </a:r>
            <a:r>
              <a:rPr sz="1100" b="0" i="0">
                <a:solidFill>
                  <a:srgbClr val="555B66"/>
                </a:solidFill>
                <a:latin typeface="Arial"/>
              </a:rPr>
              <a:t>   Marseille</a:t>
            </a:r>
            <a:r>
              <a:rPr sz="1100" b="1" i="0">
                <a:solidFill>
                  <a:srgbClr val="EE6A2C"/>
                </a:solidFill>
                <a:latin typeface="Arial"/>
              </a:rPr>
              <a:t>   Islande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4437888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EXEMPLES DE REQUÊTES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4437888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Questions posées aux IA</a:t>
            </a:r>
          </a:p>
        </p:txBody>
      </p:sp>
      <p:sp>
        <p:nvSpPr>
          <p:cNvPr id="62" name="Rectangle 61"/>
          <p:cNvSpPr/>
          <p:nvPr/>
        </p:nvSpPr>
        <p:spPr>
          <a:xfrm>
            <a:off x="4437888" y="426720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4559808" y="426720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4791456" y="426720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Quels vols au départ de Marseille vers Abidjan ?</a:t>
            </a:r>
          </a:p>
        </p:txBody>
      </p:sp>
      <p:sp>
        <p:nvSpPr>
          <p:cNvPr id="65" name="Rectangle 64"/>
          <p:cNvSpPr/>
          <p:nvPr/>
        </p:nvSpPr>
        <p:spPr>
          <a:xfrm>
            <a:off x="4437888" y="463296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4559808" y="463296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4791456" y="463296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Existe-t-il un vol direct entre Paris et Fort-de-France ?</a:t>
            </a:r>
          </a:p>
        </p:txBody>
      </p:sp>
      <p:sp>
        <p:nvSpPr>
          <p:cNvPr id="68" name="Rectangle 67"/>
          <p:cNvSpPr/>
          <p:nvPr/>
        </p:nvSpPr>
        <p:spPr>
          <a:xfrm>
            <a:off x="4437888" y="499872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4559808" y="499872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4791456" y="499872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Quel vol direct choisir entre Paris et Lisbonne ?</a:t>
            </a:r>
          </a:p>
        </p:txBody>
      </p:sp>
      <p:sp>
        <p:nvSpPr>
          <p:cNvPr id="71" name="Rectangle 70"/>
          <p:cNvSpPr/>
          <p:nvPr/>
        </p:nvSpPr>
        <p:spPr>
          <a:xfrm>
            <a:off x="4437888" y="536448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4559808" y="536448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4791456" y="536448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Où trouver un aller-retour Paris – Nice à un bon prix ?</a:t>
            </a:r>
          </a:p>
        </p:txBody>
      </p:sp>
      <p:sp>
        <p:nvSpPr>
          <p:cNvPr id="74" name="Rectangle 73"/>
          <p:cNvSpPr/>
          <p:nvPr/>
        </p:nvSpPr>
        <p:spPr>
          <a:xfrm>
            <a:off x="4437888" y="573024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4559808" y="573024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4791456" y="573024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Quelle destination pour un week-end en Europe ?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8101584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CATÉGORIES DE PRODUITS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8101584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Répartition des requêtes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10607040" y="4175760"/>
            <a:ext cx="51816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111111"/>
                </a:solidFill>
                <a:latin typeface="Arial"/>
              </a:rPr>
              <a:t>100%</a:t>
            </a:r>
          </a:p>
        </p:txBody>
      </p:sp>
      <p:sp>
        <p:nvSpPr>
          <p:cNvPr id="80" name="Rectangle 79"/>
          <p:cNvSpPr/>
          <p:nvPr/>
        </p:nvSpPr>
        <p:spPr>
          <a:xfrm>
            <a:off x="8077200" y="4407408"/>
            <a:ext cx="121920" cy="121920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8296656" y="4389120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Recherche générique</a:t>
            </a:r>
          </a:p>
        </p:txBody>
      </p:sp>
      <p:sp>
        <p:nvSpPr>
          <p:cNvPr id="82" name="Rectangle 81"/>
          <p:cNvSpPr/>
          <p:nvPr/>
        </p:nvSpPr>
        <p:spPr>
          <a:xfrm>
            <a:off x="8077200" y="4675632"/>
            <a:ext cx="121920" cy="121920"/>
          </a:xfrm>
          <a:prstGeom prst="rect">
            <a:avLst/>
          </a:prstGeom>
          <a:solidFill>
            <a:srgbClr val="7A4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8296656" y="4657344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Outre-mer et Caraïbes · 8 %</a:t>
            </a:r>
          </a:p>
        </p:txBody>
      </p:sp>
      <p:sp>
        <p:nvSpPr>
          <p:cNvPr id="84" name="Rectangle 83"/>
          <p:cNvSpPr/>
          <p:nvPr/>
        </p:nvSpPr>
        <p:spPr>
          <a:xfrm>
            <a:off x="8077200" y="4943856"/>
            <a:ext cx="121920" cy="121920"/>
          </a:xfrm>
          <a:prstGeom prst="rect">
            <a:avLst/>
          </a:prstGeom>
          <a:solidFill>
            <a:srgbClr val="EB9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8296656" y="4925568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Europe et city breaks · 8 %</a:t>
            </a:r>
          </a:p>
        </p:txBody>
      </p:sp>
      <p:sp>
        <p:nvSpPr>
          <p:cNvPr id="86" name="Rectangle 85"/>
          <p:cNvSpPr/>
          <p:nvPr/>
        </p:nvSpPr>
        <p:spPr>
          <a:xfrm>
            <a:off x="8077200" y="5212080"/>
            <a:ext cx="121920" cy="12192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8296656" y="5193792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Afrique du Nord et Afrique · 25 %</a:t>
            </a:r>
          </a:p>
        </p:txBody>
      </p:sp>
      <p:sp>
        <p:nvSpPr>
          <p:cNvPr id="88" name="Rectangle 87"/>
          <p:cNvSpPr/>
          <p:nvPr/>
        </p:nvSpPr>
        <p:spPr>
          <a:xfrm>
            <a:off x="8077200" y="5480304"/>
            <a:ext cx="121920" cy="121920"/>
          </a:xfrm>
          <a:prstGeom prst="rect">
            <a:avLst/>
          </a:prstGeom>
          <a:solidFill>
            <a:srgbClr val="3E5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8296656" y="5462016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0">
                <a:solidFill>
                  <a:srgbClr val="111111"/>
                </a:solidFill>
                <a:latin typeface="Arial"/>
              </a:rPr>
              <a:t>Long-courrier international · 33 %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8077200" y="5748528"/>
            <a:ext cx="121920" cy="121920"/>
          </a:xfrm>
          <a:prstGeom prst="rect">
            <a:avLst/>
          </a:prstGeom>
          <a:solidFill>
            <a:srgbClr val="A092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8296656" y="5730240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France métropolitaine · &lt; 1 %</a:t>
            </a:r>
          </a:p>
        </p:txBody>
      </p:sp>
      <p:sp>
        <p:nvSpPr>
          <p:cNvPr id="92" name="Rectangle 91"/>
          <p:cNvSpPr/>
          <p:nvPr/>
        </p:nvSpPr>
        <p:spPr>
          <a:xfrm>
            <a:off x="10564368" y="4450080"/>
            <a:ext cx="475488" cy="348691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10564368" y="4450080"/>
            <a:ext cx="475488" cy="34869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Arial"/>
              </a:rPr>
              <a:t>26 %</a:t>
            </a:r>
          </a:p>
        </p:txBody>
      </p:sp>
      <p:sp>
        <p:nvSpPr>
          <p:cNvPr id="94" name="Rectangle 93"/>
          <p:cNvSpPr/>
          <p:nvPr/>
        </p:nvSpPr>
        <p:spPr>
          <a:xfrm>
            <a:off x="10564368" y="4798771"/>
            <a:ext cx="475488" cy="107289"/>
          </a:xfrm>
          <a:prstGeom prst="rect">
            <a:avLst/>
          </a:prstGeom>
          <a:solidFill>
            <a:srgbClr val="7A4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Rectangle 94"/>
          <p:cNvSpPr/>
          <p:nvPr/>
        </p:nvSpPr>
        <p:spPr>
          <a:xfrm>
            <a:off x="10564368" y="4906060"/>
            <a:ext cx="475488" cy="107289"/>
          </a:xfrm>
          <a:prstGeom prst="rect">
            <a:avLst/>
          </a:prstGeom>
          <a:solidFill>
            <a:srgbClr val="EB9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Rectangle 95"/>
          <p:cNvSpPr/>
          <p:nvPr/>
        </p:nvSpPr>
        <p:spPr>
          <a:xfrm>
            <a:off x="10564368" y="5013350"/>
            <a:ext cx="475488" cy="33528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10564368" y="5013350"/>
            <a:ext cx="475488" cy="3352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Arial"/>
              </a:rPr>
              <a:t>25 %</a:t>
            </a:r>
          </a:p>
        </p:txBody>
      </p:sp>
      <p:sp>
        <p:nvSpPr>
          <p:cNvPr id="98" name="Rectangle 97"/>
          <p:cNvSpPr/>
          <p:nvPr/>
        </p:nvSpPr>
        <p:spPr>
          <a:xfrm>
            <a:off x="10564368" y="5348630"/>
            <a:ext cx="475488" cy="442569"/>
          </a:xfrm>
          <a:prstGeom prst="rect">
            <a:avLst/>
          </a:prstGeom>
          <a:solidFill>
            <a:srgbClr val="3E5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TextBox 98"/>
          <p:cNvSpPr txBox="1"/>
          <p:nvPr/>
        </p:nvSpPr>
        <p:spPr>
          <a:xfrm>
            <a:off x="10564368" y="5348630"/>
            <a:ext cx="475488" cy="44256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Arial"/>
              </a:rPr>
              <a:t>33 %</a:t>
            </a:r>
          </a:p>
        </p:txBody>
      </p:sp>
      <p:sp>
        <p:nvSpPr>
          <p:cNvPr id="100" name="Rectangle 99"/>
          <p:cNvSpPr/>
          <p:nvPr/>
        </p:nvSpPr>
        <p:spPr>
          <a:xfrm>
            <a:off x="10564368" y="5791200"/>
            <a:ext cx="475488" cy="0"/>
          </a:xfrm>
          <a:prstGeom prst="rect">
            <a:avLst/>
          </a:prstGeom>
          <a:solidFill>
            <a:srgbClr val="A092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" y="121920"/>
            <a:ext cx="11612880" cy="8534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79120" y="42672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INSIGHTS QUALITATIFS · SEPTEMBRE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79120" y="609600"/>
            <a:ext cx="73152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111111"/>
                </a:solidFill>
                <a:latin typeface="Arial"/>
              </a:rPr>
              <a:t>Cdiscount Voyages – Vols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0" y="499872"/>
            <a:ext cx="18897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111111"/>
                </a:solidFill>
                <a:latin typeface="Arial"/>
              </a:rPr>
              <a:t>Lemrock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9120" y="1219200"/>
            <a:ext cx="91440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OBJECTIF   </a:t>
            </a:r>
            <a:r>
              <a:rPr sz="1300" b="0" i="0">
                <a:solidFill>
                  <a:srgbClr val="111111"/>
                </a:solidFill>
                <a:latin typeface="Arial"/>
              </a:rPr>
              <a:t>Atteindre un ROI de 35 pour un CA de 87 k€.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9120" y="1524000"/>
            <a:ext cx="48768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555B66"/>
                </a:solidFill>
                <a:latin typeface="Arial"/>
              </a:rPr>
              <a:t>INSIGHTS QUALITATIFS</a:t>
            </a:r>
          </a:p>
        </p:txBody>
      </p:sp>
      <p:sp>
        <p:nvSpPr>
          <p:cNvPr id="9" name="Rectangle 8"/>
          <p:cNvSpPr/>
          <p:nvPr/>
        </p:nvSpPr>
        <p:spPr>
          <a:xfrm>
            <a:off x="579120" y="181660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35152" y="202996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83792" y="204825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Les vols vers l'Afrique cliquent le mieux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5152" y="260908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Les vols Paris – Afrique et Maghreb atteignent 1,06 fois le CTR moyen, et Lyon – Abidjan 1,15 fois.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5152" y="331012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Renforcer les liaisons vers l'Afrique et le Maghreb.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992368" y="181660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48400" y="202996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797040" y="204825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Mettre en avant une destination plutôt qu'un prix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48400" y="260908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Les annonces « destinations tendances » atteignent 1,08 fois la moyenne. Les vols court-courriers vers l'Europe restent à 0,94 fois.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48400" y="331012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Associer chaque annonce à une destination qui fait envie.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79120" y="413308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35152" y="434644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83792" y="436473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Revoir l'Outre-mer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5152" y="492556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Les vols vers les DOM-TOM restent à 0,58 fois la moyenne.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5152" y="562660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Tester des accroches vacances de fin d'année pour la Martinique et la Guadeloupe.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992368" y="413308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48400" y="434644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797040" y="436473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Aucune réservation attribuée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248400" y="492556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Aucune conversion n'est remontée par Awin en septembre malgré 9 406 clics.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248400" y="562660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Vérifier le tracking Awin et le parcours jusqu'à la réservation.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" y="121920"/>
            <a:ext cx="11612880" cy="8534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48768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RAPPORT DE PERFORMANCE · 01/09/2026 → 30/09/2026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640080"/>
            <a:ext cx="73152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111111"/>
                </a:solidFill>
                <a:latin typeface="Arial"/>
              </a:rPr>
              <a:t>Dorel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24800" y="591312"/>
            <a:ext cx="3304032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200" b="1" i="0">
                <a:solidFill>
                  <a:srgbClr val="8A93A6"/>
                </a:solidFill>
                <a:latin typeface="Arial"/>
              </a:rPr>
              <a:t>COMPARAISON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24800" y="780288"/>
            <a:ext cx="3304032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111111"/>
                </a:solidFill>
                <a:latin typeface="Arial"/>
              </a:rPr>
              <a:t>vs 01/08/2026 → 31/08/2026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DIFFUSION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38963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ENGAGEMENT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0819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CONVERSION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3035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3035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6446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IMPRESSIONS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446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392 251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446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+60 %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446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446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954 461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38963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238963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52374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CLICS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52374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1 990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52374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+247 %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52374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52374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3 100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24891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24891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38302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CTR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38302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0,51 %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38302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+0,27 pt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38302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38302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0,32 %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10819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10819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24230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CONVERSIONS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24230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N/C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24230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24230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24230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—</a:t>
            </a:r>
          </a:p>
        </p:txBody>
      </p:sp>
      <p:sp>
        <p:nvSpPr>
          <p:cNvPr id="39" name="Rectangle 38"/>
          <p:cNvSpPr/>
          <p:nvPr/>
        </p:nvSpPr>
        <p:spPr>
          <a:xfrm>
            <a:off x="796747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796747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10158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CVR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10158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N/C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10158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10158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10158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—</a:t>
            </a:r>
          </a:p>
        </p:txBody>
      </p:sp>
      <p:sp>
        <p:nvSpPr>
          <p:cNvPr id="46" name="Rectangle 45"/>
          <p:cNvSpPr/>
          <p:nvPr/>
        </p:nvSpPr>
        <p:spPr>
          <a:xfrm>
            <a:off x="982675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982675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996086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ROAS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96086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N/C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996086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96086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96086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—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30352" y="332232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INSIGHTS QUALITATIFS · ANALYSE DES RECHERCHES</a:t>
            </a:r>
          </a:p>
        </p:txBody>
      </p:sp>
      <p:sp>
        <p:nvSpPr>
          <p:cNvPr id="54" name="Rectangle 53"/>
          <p:cNvSpPr/>
          <p:nvPr/>
        </p:nvSpPr>
        <p:spPr>
          <a:xfrm>
            <a:off x="530352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4194048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7857744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774192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CHAMP LEXICAL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774192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Termes les plus fréquents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774192" y="4236720"/>
            <a:ext cx="298704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1800" b="1" i="0">
                <a:solidFill>
                  <a:srgbClr val="EE6A2C"/>
                </a:solidFill>
                <a:latin typeface="Arial"/>
              </a:rPr>
              <a:t>poussette</a:t>
            </a:r>
            <a:r>
              <a:rPr sz="1600" b="1" i="0">
                <a:solidFill>
                  <a:srgbClr val="111111"/>
                </a:solidFill>
                <a:latin typeface="Arial"/>
              </a:rPr>
              <a:t>   siège auto</a:t>
            </a:r>
          </a:p>
          <a:p>
            <a:pPr algn="l">
              <a:spcAft>
                <a:spcPts val="500"/>
              </a:spcAft>
            </a:pPr>
            <a:r>
              <a:rPr sz="1500" b="1" i="0">
                <a:solidFill>
                  <a:srgbClr val="555B66"/>
                </a:solidFill>
                <a:latin typeface="Arial"/>
              </a:rPr>
              <a:t>naissance</a:t>
            </a:r>
            <a:r>
              <a:rPr sz="1400" b="1" i="0">
                <a:solidFill>
                  <a:srgbClr val="111111"/>
                </a:solidFill>
                <a:latin typeface="Arial"/>
              </a:rPr>
              <a:t>   couches</a:t>
            </a:r>
          </a:p>
          <a:p>
            <a:pPr algn="l">
              <a:spcAft>
                <a:spcPts val="500"/>
              </a:spcAft>
            </a:pPr>
            <a:r>
              <a:rPr sz="1300" b="1" i="0">
                <a:solidFill>
                  <a:srgbClr val="EE6A2C"/>
                </a:solidFill>
                <a:latin typeface="Arial"/>
              </a:rPr>
              <a:t>biberons</a:t>
            </a:r>
            <a:r>
              <a:rPr sz="1200" b="0" i="0">
                <a:solidFill>
                  <a:srgbClr val="555B66"/>
                </a:solidFill>
                <a:latin typeface="Arial"/>
              </a:rPr>
              <a:t>   porte d'embarquement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EE6A2C"/>
                </a:solidFill>
                <a:latin typeface="Arial"/>
              </a:rPr>
              <a:t>nouveau-né</a:t>
            </a:r>
            <a:r>
              <a:rPr sz="1100" b="1" i="0">
                <a:solidFill>
                  <a:srgbClr val="111111"/>
                </a:solidFill>
                <a:latin typeface="Arial"/>
              </a:rPr>
              <a:t>   indispensable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tétine</a:t>
            </a:r>
            <a:r>
              <a:rPr sz="1100" b="0" i="0">
                <a:solidFill>
                  <a:srgbClr val="555B66"/>
                </a:solidFill>
                <a:latin typeface="Arial"/>
              </a:rPr>
              <a:t>   cadeau</a:t>
            </a:r>
            <a:r>
              <a:rPr sz="1100" b="1" i="0">
                <a:solidFill>
                  <a:srgbClr val="EE6A2C"/>
                </a:solidFill>
                <a:latin typeface="Arial"/>
              </a:rPr>
              <a:t>   vacances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Cybex</a:t>
            </a:r>
            <a:r>
              <a:rPr sz="1100" b="0" i="0">
                <a:solidFill>
                  <a:srgbClr val="555B66"/>
                </a:solidFill>
                <a:latin typeface="Arial"/>
              </a:rPr>
              <a:t>   Joie</a:t>
            </a:r>
            <a:r>
              <a:rPr sz="1100" b="0" i="0">
                <a:solidFill>
                  <a:srgbClr val="111111"/>
                </a:solidFill>
                <a:latin typeface="Arial"/>
              </a:rPr>
              <a:t>   Stokke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4437888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EXEMPLES DE REQUÊTES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4437888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Questions posées aux IA</a:t>
            </a:r>
          </a:p>
        </p:txBody>
      </p:sp>
      <p:sp>
        <p:nvSpPr>
          <p:cNvPr id="62" name="Rectangle 61"/>
          <p:cNvSpPr/>
          <p:nvPr/>
        </p:nvSpPr>
        <p:spPr>
          <a:xfrm>
            <a:off x="4437888" y="426720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4559808" y="426720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4791456" y="426720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Tu peux garder la poussette jusqu'à la porte d'embarquement ?</a:t>
            </a:r>
          </a:p>
        </p:txBody>
      </p:sp>
      <p:sp>
        <p:nvSpPr>
          <p:cNvPr id="65" name="Rectangle 64"/>
          <p:cNvSpPr/>
          <p:nvPr/>
        </p:nvSpPr>
        <p:spPr>
          <a:xfrm>
            <a:off x="4437888" y="463296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4559808" y="463296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4791456" y="463296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C'est quoi le matériel puériculture vraiment indispensable pour un nouveau-né ?</a:t>
            </a:r>
          </a:p>
        </p:txBody>
      </p:sp>
      <p:sp>
        <p:nvSpPr>
          <p:cNvPr id="68" name="Rectangle 67"/>
          <p:cNvSpPr/>
          <p:nvPr/>
        </p:nvSpPr>
        <p:spPr>
          <a:xfrm>
            <a:off x="4437888" y="499872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4559808" y="499872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4791456" y="499872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Ça affecte les dents si bébé garde la tétine trop longtemps ?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8101584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CATÉGORIES DE PRODUITS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101584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Répartition des requêtes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10607040" y="4175760"/>
            <a:ext cx="51816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111111"/>
                </a:solidFill>
                <a:latin typeface="Arial"/>
              </a:rPr>
              <a:t>100%</a:t>
            </a:r>
          </a:p>
        </p:txBody>
      </p:sp>
      <p:sp>
        <p:nvSpPr>
          <p:cNvPr id="74" name="Rectangle 73"/>
          <p:cNvSpPr/>
          <p:nvPr/>
        </p:nvSpPr>
        <p:spPr>
          <a:xfrm>
            <a:off x="8077200" y="4407408"/>
            <a:ext cx="121920" cy="121920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8296656" y="4389120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Sièges auto et rehausseurs · 4 %</a:t>
            </a:r>
          </a:p>
        </p:txBody>
      </p:sp>
      <p:sp>
        <p:nvSpPr>
          <p:cNvPr id="76" name="Rectangle 75"/>
          <p:cNvSpPr/>
          <p:nvPr/>
        </p:nvSpPr>
        <p:spPr>
          <a:xfrm>
            <a:off x="8077200" y="4675632"/>
            <a:ext cx="121920" cy="121920"/>
          </a:xfrm>
          <a:prstGeom prst="rect">
            <a:avLst/>
          </a:prstGeom>
          <a:solidFill>
            <a:srgbClr val="7A4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8296656" y="4657344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Sommeil et voyage · 11 %</a:t>
            </a:r>
          </a:p>
        </p:txBody>
      </p:sp>
      <p:sp>
        <p:nvSpPr>
          <p:cNvPr id="78" name="Rectangle 77"/>
          <p:cNvSpPr/>
          <p:nvPr/>
        </p:nvSpPr>
        <p:spPr>
          <a:xfrm>
            <a:off x="8077200" y="4943856"/>
            <a:ext cx="121920" cy="121920"/>
          </a:xfrm>
          <a:prstGeom prst="rect">
            <a:avLst/>
          </a:prstGeom>
          <a:solidFill>
            <a:srgbClr val="EB9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8296656" y="4925568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Poussettes et mobilité · 6 %</a:t>
            </a:r>
          </a:p>
        </p:txBody>
      </p:sp>
      <p:sp>
        <p:nvSpPr>
          <p:cNvPr id="80" name="Rectangle 79"/>
          <p:cNvSpPr/>
          <p:nvPr/>
        </p:nvSpPr>
        <p:spPr>
          <a:xfrm>
            <a:off x="8077200" y="5212080"/>
            <a:ext cx="121920" cy="12192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8296656" y="5193792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Sécurité de la maison · 62 %</a:t>
            </a:r>
          </a:p>
        </p:txBody>
      </p:sp>
      <p:sp>
        <p:nvSpPr>
          <p:cNvPr id="82" name="Rectangle 81"/>
          <p:cNvSpPr/>
          <p:nvPr/>
        </p:nvSpPr>
        <p:spPr>
          <a:xfrm>
            <a:off x="8077200" y="5480304"/>
            <a:ext cx="121920" cy="121920"/>
          </a:xfrm>
          <a:prstGeom prst="rect">
            <a:avLst/>
          </a:prstGeom>
          <a:solidFill>
            <a:srgbClr val="3E5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8296656" y="5462016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Repas, soin et toilette · 4 %</a:t>
            </a:r>
          </a:p>
        </p:txBody>
      </p:sp>
      <p:sp>
        <p:nvSpPr>
          <p:cNvPr id="84" name="Rectangle 83"/>
          <p:cNvSpPr/>
          <p:nvPr/>
        </p:nvSpPr>
        <p:spPr>
          <a:xfrm>
            <a:off x="8077200" y="5748528"/>
            <a:ext cx="121920" cy="121920"/>
          </a:xfrm>
          <a:prstGeom prst="rect">
            <a:avLst/>
          </a:prstGeom>
          <a:solidFill>
            <a:srgbClr val="A092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8296656" y="5730240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Éveil et confort · 13 %</a:t>
            </a:r>
          </a:p>
        </p:txBody>
      </p:sp>
      <p:sp>
        <p:nvSpPr>
          <p:cNvPr id="86" name="Rectangle 85"/>
          <p:cNvSpPr/>
          <p:nvPr/>
        </p:nvSpPr>
        <p:spPr>
          <a:xfrm>
            <a:off x="10564368" y="4450080"/>
            <a:ext cx="475488" cy="53644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Rectangle 86"/>
          <p:cNvSpPr/>
          <p:nvPr/>
        </p:nvSpPr>
        <p:spPr>
          <a:xfrm>
            <a:off x="10564368" y="4503724"/>
            <a:ext cx="475488" cy="147523"/>
          </a:xfrm>
          <a:prstGeom prst="rect">
            <a:avLst/>
          </a:prstGeom>
          <a:solidFill>
            <a:srgbClr val="7A4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Rectangle 87"/>
          <p:cNvSpPr/>
          <p:nvPr/>
        </p:nvSpPr>
        <p:spPr>
          <a:xfrm>
            <a:off x="10564368" y="4651248"/>
            <a:ext cx="475488" cy="80467"/>
          </a:xfrm>
          <a:prstGeom prst="rect">
            <a:avLst/>
          </a:prstGeom>
          <a:solidFill>
            <a:srgbClr val="EB9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Rectangle 88"/>
          <p:cNvSpPr/>
          <p:nvPr/>
        </p:nvSpPr>
        <p:spPr>
          <a:xfrm>
            <a:off x="10564368" y="4731715"/>
            <a:ext cx="475488" cy="83149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10564368" y="4731715"/>
            <a:ext cx="475488" cy="83149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Arial"/>
              </a:rPr>
              <a:t>62 %</a:t>
            </a:r>
          </a:p>
        </p:txBody>
      </p:sp>
      <p:sp>
        <p:nvSpPr>
          <p:cNvPr id="91" name="Rectangle 90"/>
          <p:cNvSpPr/>
          <p:nvPr/>
        </p:nvSpPr>
        <p:spPr>
          <a:xfrm>
            <a:off x="10564368" y="5563209"/>
            <a:ext cx="475488" cy="53644"/>
          </a:xfrm>
          <a:prstGeom prst="rect">
            <a:avLst/>
          </a:prstGeom>
          <a:solidFill>
            <a:srgbClr val="3E5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Rectangle 91"/>
          <p:cNvSpPr/>
          <p:nvPr/>
        </p:nvSpPr>
        <p:spPr>
          <a:xfrm>
            <a:off x="10564368" y="5616854"/>
            <a:ext cx="475488" cy="174345"/>
          </a:xfrm>
          <a:prstGeom prst="rect">
            <a:avLst/>
          </a:prstGeom>
          <a:solidFill>
            <a:srgbClr val="A092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" y="121920"/>
            <a:ext cx="11612880" cy="8534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79120" y="42672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INSIGHTS QUALITATIFS · SEPTEMBRE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79120" y="609600"/>
            <a:ext cx="73152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111111"/>
                </a:solidFill>
                <a:latin typeface="Arial"/>
              </a:rPr>
              <a:t>Dorel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0" y="499872"/>
            <a:ext cx="18897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111111"/>
                </a:solidFill>
                <a:latin typeface="Arial"/>
              </a:rPr>
              <a:t>Lemrock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9120" y="1219200"/>
            <a:ext cx="91440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OBJECTIF   </a:t>
            </a:r>
            <a:r>
              <a:rPr sz="1300" b="0" i="0">
                <a:solidFill>
                  <a:srgbClr val="111111"/>
                </a:solidFill>
                <a:latin typeface="Arial"/>
              </a:rPr>
              <a:t>À définir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9120" y="1524000"/>
            <a:ext cx="48768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555B66"/>
                </a:solidFill>
                <a:latin typeface="Arial"/>
              </a:rPr>
              <a:t>INSIGHTS QUALITATIFS</a:t>
            </a:r>
          </a:p>
        </p:txBody>
      </p:sp>
      <p:sp>
        <p:nvSpPr>
          <p:cNvPr id="9" name="Rectangle 8"/>
          <p:cNvSpPr/>
          <p:nvPr/>
        </p:nvSpPr>
        <p:spPr>
          <a:xfrm>
            <a:off x="579120" y="181660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35152" y="202996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83792" y="204825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Les jeux d'éveil cliquent le plus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5152" y="260908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 tapis d'éveil Gymini Tiny Love atteint 9,2 fois le CTR moyen, et le groupe jeux d'éveil 4,05 fois. Ils ne représentent pourtant que 3 % de la diffusion.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5152" y="331012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Augmenter fortement la part des jeux et tapis d'éveil dans la diffusion.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992368" y="181660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48400" y="202996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797040" y="204825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Afficher le prix dans l'annonce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48400" y="260908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Les annonces avec un prix précis (tapis à 69,63 €, trotteur à 44,99 €) font partie des meilleures.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48400" y="331012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Indiquer le prix et la livraison offerte dans les accroches.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79120" y="413308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35152" y="434644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83792" y="436473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Revoir le mobilier et le sommeil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5152" y="492556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La chaise haute Lily (0,36 fois), le siège auto EvoluFix (0,46 fois) et le lit parapluie (0,50 fois) restent nettement sous la moyenne.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5152" y="562660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Associer ces produits à un moment concret (premier repas, départ en vacances).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992368" y="413308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48400" y="434644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797040" y="436473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Un CTR qui double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248400" y="492556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Les clics sont multipliés par 3,5 (1 990) pour 60 % d'impressions en plus. Le CTR passe de 0,23 % à 0,51 %.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248400" y="562660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Concentrer le budget sur l'éveil et la sécurité de la maison.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" y="121920"/>
            <a:ext cx="11612880" cy="8534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48768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RAPPORT DE PERFORMANCE · 01/09/2026 → 30/09/2026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640080"/>
            <a:ext cx="73152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111111"/>
                </a:solidFill>
                <a:latin typeface="Arial"/>
              </a:rPr>
              <a:t>Sécurité Routière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24800" y="591312"/>
            <a:ext cx="3304032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200" b="1" i="0">
                <a:solidFill>
                  <a:srgbClr val="8A93A6"/>
                </a:solidFill>
                <a:latin typeface="Arial"/>
              </a:rPr>
              <a:t>COMPARAISON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24800" y="780288"/>
            <a:ext cx="3304032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111111"/>
                </a:solidFill>
                <a:latin typeface="Arial"/>
              </a:rPr>
              <a:t>vs 01/08/2026 → 31/08/2026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DIFFUSION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38963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ENGAGEMENT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0819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CONVERSION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3035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3035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6446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IMPRESSIONS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446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374 204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446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446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446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374 204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38963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238963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52374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CLICS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52374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1 591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52374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52374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52374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1 591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24891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24891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38302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CTR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38302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0,43 %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38302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38302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38302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0,43 %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10819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10819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24230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CONVERSIONS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24230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N/C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24230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24230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24230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—</a:t>
            </a:r>
          </a:p>
        </p:txBody>
      </p:sp>
      <p:sp>
        <p:nvSpPr>
          <p:cNvPr id="39" name="Rectangle 38"/>
          <p:cNvSpPr/>
          <p:nvPr/>
        </p:nvSpPr>
        <p:spPr>
          <a:xfrm>
            <a:off x="796747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796747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10158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CVR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10158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N/C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10158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10158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10158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—</a:t>
            </a:r>
          </a:p>
        </p:txBody>
      </p:sp>
      <p:sp>
        <p:nvSpPr>
          <p:cNvPr id="46" name="Rectangle 45"/>
          <p:cNvSpPr/>
          <p:nvPr/>
        </p:nvSpPr>
        <p:spPr>
          <a:xfrm>
            <a:off x="982675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982675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996086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ROAS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96086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N/C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996086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96086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96086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—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30352" y="332232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INSIGHTS QUALITATIFS · ANALYSE DES RECHERCHES</a:t>
            </a:r>
          </a:p>
        </p:txBody>
      </p:sp>
      <p:sp>
        <p:nvSpPr>
          <p:cNvPr id="54" name="Rectangle 53"/>
          <p:cNvSpPr/>
          <p:nvPr/>
        </p:nvSpPr>
        <p:spPr>
          <a:xfrm>
            <a:off x="530352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4194048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7857744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774192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CHAMP LEXICAL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774192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Termes les plus fréquents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774192" y="4236720"/>
            <a:ext cx="298704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1800" b="1" i="0">
                <a:solidFill>
                  <a:srgbClr val="EE6A2C"/>
                </a:solidFill>
                <a:latin typeface="Arial"/>
              </a:rPr>
              <a:t>conduite accompagnée</a:t>
            </a:r>
            <a:r>
              <a:rPr sz="1600" b="1" i="0">
                <a:solidFill>
                  <a:srgbClr val="111111"/>
                </a:solidFill>
                <a:latin typeface="Arial"/>
              </a:rPr>
              <a:t>   permis</a:t>
            </a:r>
          </a:p>
          <a:p>
            <a:pPr algn="l">
              <a:spcAft>
                <a:spcPts val="500"/>
              </a:spcAft>
            </a:pPr>
            <a:r>
              <a:rPr sz="1500" b="1" i="0">
                <a:solidFill>
                  <a:srgbClr val="555B66"/>
                </a:solidFill>
                <a:latin typeface="Arial"/>
              </a:rPr>
              <a:t>achat d'une voiture</a:t>
            </a:r>
            <a:r>
              <a:rPr sz="1400" b="1" i="0">
                <a:solidFill>
                  <a:srgbClr val="111111"/>
                </a:solidFill>
                <a:latin typeface="Arial"/>
              </a:rPr>
              <a:t>   15 ans</a:t>
            </a:r>
          </a:p>
          <a:p>
            <a:pPr algn="l">
              <a:spcAft>
                <a:spcPts val="500"/>
              </a:spcAft>
            </a:pPr>
            <a:r>
              <a:rPr sz="1300" b="1" i="0">
                <a:solidFill>
                  <a:srgbClr val="EE6A2C"/>
                </a:solidFill>
                <a:latin typeface="Arial"/>
              </a:rPr>
              <a:t>vie en van</a:t>
            </a:r>
            <a:r>
              <a:rPr sz="1200" b="0" i="0">
                <a:solidFill>
                  <a:srgbClr val="555B66"/>
                </a:solidFill>
                <a:latin typeface="Arial"/>
              </a:rPr>
              <a:t>   vacances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EE6A2C"/>
                </a:solidFill>
                <a:latin typeface="Arial"/>
              </a:rPr>
              <a:t>auto-école</a:t>
            </a:r>
            <a:r>
              <a:rPr sz="1100" b="1" i="0">
                <a:solidFill>
                  <a:srgbClr val="111111"/>
                </a:solidFill>
                <a:latin typeface="Arial"/>
              </a:rPr>
              <a:t>   3 000 km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raid en montagne</a:t>
            </a:r>
            <a:r>
              <a:rPr sz="1100" b="0" i="0">
                <a:solidFill>
                  <a:srgbClr val="555B66"/>
                </a:solidFill>
                <a:latin typeface="Arial"/>
              </a:rPr>
              <a:t>   accident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prévention</a:t>
            </a:r>
            <a:r>
              <a:rPr sz="1100" b="0" i="0">
                <a:solidFill>
                  <a:srgbClr val="555B66"/>
                </a:solidFill>
                <a:latin typeface="Arial"/>
              </a:rPr>
              <a:t>   sécurité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4437888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EXEMPLES DE REQUÊTES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4437888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Questions posées aux IA</a:t>
            </a:r>
          </a:p>
        </p:txBody>
      </p:sp>
      <p:sp>
        <p:nvSpPr>
          <p:cNvPr id="62" name="Rectangle 61"/>
          <p:cNvSpPr/>
          <p:nvPr/>
        </p:nvSpPr>
        <p:spPr>
          <a:xfrm>
            <a:off x="4437888" y="426720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4559808" y="426720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4791456" y="426720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À compléter : le rapport d'insights ne fournit pas d'exemples de requêtes pour la Sécurité Routière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8101584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MOMENTS DE VIE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8101584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Conversations déclenchées par un événement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10607040" y="4175760"/>
            <a:ext cx="51816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111111"/>
                </a:solidFill>
                <a:latin typeface="Arial"/>
              </a:rPr>
              <a:t>100%</a:t>
            </a:r>
          </a:p>
        </p:txBody>
      </p:sp>
      <p:sp>
        <p:nvSpPr>
          <p:cNvPr id="68" name="Rectangle 67"/>
          <p:cNvSpPr/>
          <p:nvPr/>
        </p:nvSpPr>
        <p:spPr>
          <a:xfrm>
            <a:off x="8077200" y="4407408"/>
            <a:ext cx="121920" cy="121920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8296656" y="4389120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Achat d'une voiture</a:t>
            </a:r>
          </a:p>
        </p:txBody>
      </p:sp>
      <p:sp>
        <p:nvSpPr>
          <p:cNvPr id="70" name="Rectangle 69"/>
          <p:cNvSpPr/>
          <p:nvPr/>
        </p:nvSpPr>
        <p:spPr>
          <a:xfrm>
            <a:off x="8077200" y="4675632"/>
            <a:ext cx="121920" cy="121920"/>
          </a:xfrm>
          <a:prstGeom prst="rect">
            <a:avLst/>
          </a:prstGeom>
          <a:solidFill>
            <a:srgbClr val="7A4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8296656" y="4657344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Vie en van · 17 %</a:t>
            </a:r>
          </a:p>
        </p:txBody>
      </p:sp>
      <p:sp>
        <p:nvSpPr>
          <p:cNvPr id="72" name="Rectangle 71"/>
          <p:cNvSpPr/>
          <p:nvPr/>
        </p:nvSpPr>
        <p:spPr>
          <a:xfrm>
            <a:off x="8077200" y="4943856"/>
            <a:ext cx="121920" cy="121920"/>
          </a:xfrm>
          <a:prstGeom prst="rect">
            <a:avLst/>
          </a:prstGeom>
          <a:solidFill>
            <a:srgbClr val="EB9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8296656" y="4925568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Départ en vacances · 17 %</a:t>
            </a:r>
          </a:p>
        </p:txBody>
      </p:sp>
      <p:sp>
        <p:nvSpPr>
          <p:cNvPr id="74" name="Rectangle 73"/>
          <p:cNvSpPr/>
          <p:nvPr/>
        </p:nvSpPr>
        <p:spPr>
          <a:xfrm>
            <a:off x="8077200" y="5212080"/>
            <a:ext cx="121920" cy="12192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8296656" y="5193792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Raid en montagne · 12 %</a:t>
            </a:r>
          </a:p>
        </p:txBody>
      </p:sp>
      <p:sp>
        <p:nvSpPr>
          <p:cNvPr id="76" name="Rectangle 75"/>
          <p:cNvSpPr/>
          <p:nvPr/>
        </p:nvSpPr>
        <p:spPr>
          <a:xfrm>
            <a:off x="8077200" y="5480304"/>
            <a:ext cx="121920" cy="121920"/>
          </a:xfrm>
          <a:prstGeom prst="rect">
            <a:avLst/>
          </a:prstGeom>
          <a:solidFill>
            <a:srgbClr val="3E5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8296656" y="5462016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Événement automobile · 6 %</a:t>
            </a:r>
          </a:p>
        </p:txBody>
      </p:sp>
      <p:sp>
        <p:nvSpPr>
          <p:cNvPr id="78" name="Rectangle 77"/>
          <p:cNvSpPr/>
          <p:nvPr/>
        </p:nvSpPr>
        <p:spPr>
          <a:xfrm>
            <a:off x="8077200" y="5748528"/>
            <a:ext cx="121920" cy="121920"/>
          </a:xfrm>
          <a:prstGeom prst="rect">
            <a:avLst/>
          </a:prstGeom>
          <a:solidFill>
            <a:srgbClr val="A092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8296656" y="5730240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Accident de voiture · 7 %</a:t>
            </a:r>
          </a:p>
        </p:txBody>
      </p:sp>
      <p:sp>
        <p:nvSpPr>
          <p:cNvPr id="80" name="Rectangle 79"/>
          <p:cNvSpPr/>
          <p:nvPr/>
        </p:nvSpPr>
        <p:spPr>
          <a:xfrm>
            <a:off x="10564368" y="4450080"/>
            <a:ext cx="475488" cy="549859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10564368" y="4450080"/>
            <a:ext cx="475488" cy="54985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Arial"/>
              </a:rPr>
              <a:t>41 %</a:t>
            </a:r>
          </a:p>
        </p:txBody>
      </p:sp>
      <p:sp>
        <p:nvSpPr>
          <p:cNvPr id="82" name="Rectangle 81"/>
          <p:cNvSpPr/>
          <p:nvPr/>
        </p:nvSpPr>
        <p:spPr>
          <a:xfrm>
            <a:off x="10564368" y="4999939"/>
            <a:ext cx="475488" cy="227990"/>
          </a:xfrm>
          <a:prstGeom prst="rect">
            <a:avLst/>
          </a:prstGeom>
          <a:solidFill>
            <a:srgbClr val="7A4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Rectangle 82"/>
          <p:cNvSpPr/>
          <p:nvPr/>
        </p:nvSpPr>
        <p:spPr>
          <a:xfrm>
            <a:off x="10564368" y="5227929"/>
            <a:ext cx="475488" cy="227990"/>
          </a:xfrm>
          <a:prstGeom prst="rect">
            <a:avLst/>
          </a:prstGeom>
          <a:solidFill>
            <a:srgbClr val="EB9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Rectangle 83"/>
          <p:cNvSpPr/>
          <p:nvPr/>
        </p:nvSpPr>
        <p:spPr>
          <a:xfrm>
            <a:off x="10564368" y="5455920"/>
            <a:ext cx="475488" cy="16093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Rectangle 84"/>
          <p:cNvSpPr/>
          <p:nvPr/>
        </p:nvSpPr>
        <p:spPr>
          <a:xfrm>
            <a:off x="10564368" y="5616854"/>
            <a:ext cx="475488" cy="80467"/>
          </a:xfrm>
          <a:prstGeom prst="rect">
            <a:avLst/>
          </a:prstGeom>
          <a:solidFill>
            <a:srgbClr val="3E5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Rectangle 85"/>
          <p:cNvSpPr/>
          <p:nvPr/>
        </p:nvSpPr>
        <p:spPr>
          <a:xfrm>
            <a:off x="10564368" y="5697321"/>
            <a:ext cx="475488" cy="93878"/>
          </a:xfrm>
          <a:prstGeom prst="rect">
            <a:avLst/>
          </a:prstGeom>
          <a:solidFill>
            <a:srgbClr val="A092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" y="121920"/>
            <a:ext cx="11612880" cy="8534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79120" y="42672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INSIGHTS QUALITATIFS · SEPTEMBRE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79120" y="609600"/>
            <a:ext cx="73152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111111"/>
                </a:solidFill>
                <a:latin typeface="Arial"/>
              </a:rPr>
              <a:t>Sécurité Routière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0" y="499872"/>
            <a:ext cx="18897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111111"/>
                </a:solidFill>
                <a:latin typeface="Arial"/>
              </a:rPr>
              <a:t>Lemrock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9120" y="1219200"/>
            <a:ext cx="91440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OBJECTIF   </a:t>
            </a:r>
            <a:r>
              <a:rPr sz="1300" b="0" i="0">
                <a:solidFill>
                  <a:srgbClr val="111111"/>
                </a:solidFill>
                <a:latin typeface="Arial"/>
              </a:rPr>
              <a:t>À définir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9120" y="1524000"/>
            <a:ext cx="48768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555B66"/>
                </a:solidFill>
                <a:latin typeface="Arial"/>
              </a:rPr>
              <a:t>INSIGHTS QUALITATIFS</a:t>
            </a:r>
          </a:p>
        </p:txBody>
      </p:sp>
      <p:sp>
        <p:nvSpPr>
          <p:cNvPr id="9" name="Rectangle 8"/>
          <p:cNvSpPr/>
          <p:nvPr/>
        </p:nvSpPr>
        <p:spPr>
          <a:xfrm>
            <a:off x="579120" y="181660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35152" y="202996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83792" y="204825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L'achat d'une voiture, premier déclencheur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5152" y="260908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41 % des conversations du secteur sont déclenchées par l'achat d'une voiture, devant la vie en van et les départs en vacances (17 % chacun).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5152" y="331012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Relier la conduite accompagnée au futur premier véhicule : « Préparez le permis avant la première voiture ».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992368" y="181660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48400" y="202996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797040" y="204825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Une seule annonce diffusée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48400" y="260908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Toute la campagne repose sur l'annonce « Conduite accompagnée : 15 ans, c'est le bon moment », qui génère 1 591 clics pour un CTR de 0,43 %.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48400" y="331012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Ajouter des annonces variées (parents, économies, réussite au permis) pour identifier les messages qui cliquent le plus.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79120" y="413308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35152" y="434644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83792" y="436473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Parler aux parents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5152" y="492556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Les bénéfices de l'annonce (3 000 km au volant, meilleurs résultats au permis, moins d'accidents, moins cher) s'adressent surtout aux parents.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5152" y="562660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Tester une version dédiée aux parents et une version dédiée aux jeunes de 15 ans.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992368" y="413308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48400" y="434644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797040" y="436473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Premier mois de diffusion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248400" y="492556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La campagne génère 374 204 impressions et 1 591 clics en septembre.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248400" y="562660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Définir un objectif de campagne (inscriptions, visites de la page) pour piloter la suite.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" y="121920"/>
            <a:ext cx="11612880" cy="8534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48768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RAPPORT DE PERFORMANCE · 01/09/2026 → 30/09/2026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640080"/>
            <a:ext cx="73152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111111"/>
                </a:solidFill>
                <a:latin typeface="Arial"/>
              </a:rPr>
              <a:t>FidMe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24800" y="591312"/>
            <a:ext cx="3304032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200" b="1" i="0">
                <a:solidFill>
                  <a:srgbClr val="8A93A6"/>
                </a:solidFill>
                <a:latin typeface="Arial"/>
              </a:rPr>
              <a:t>COMPARAISON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24800" y="780288"/>
            <a:ext cx="3304032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111111"/>
                </a:solidFill>
                <a:latin typeface="Arial"/>
              </a:rPr>
              <a:t>vs 01/08/2026 → 31/08/2026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DIFFUSION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38963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ENGAGEMENT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0819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CONVERSION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3035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3035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6446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IMPRESSIONS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446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705 558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446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+16 %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446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446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3 385 630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38963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238963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52374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CLICS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52374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3 086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52374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+124 %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52374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52374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8 342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24891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24891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38302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CTR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38302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0,44 %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38302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+0,21 pt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38302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38302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0,25 %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10819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10819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24230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CONVERSIONS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24230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N/C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24230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24230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24230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—</a:t>
            </a:r>
          </a:p>
        </p:txBody>
      </p:sp>
      <p:sp>
        <p:nvSpPr>
          <p:cNvPr id="39" name="Rectangle 38"/>
          <p:cNvSpPr/>
          <p:nvPr/>
        </p:nvSpPr>
        <p:spPr>
          <a:xfrm>
            <a:off x="796747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796747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10158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CVR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10158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N/C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10158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10158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10158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—</a:t>
            </a:r>
          </a:p>
        </p:txBody>
      </p:sp>
      <p:sp>
        <p:nvSpPr>
          <p:cNvPr id="46" name="Rectangle 45"/>
          <p:cNvSpPr/>
          <p:nvPr/>
        </p:nvSpPr>
        <p:spPr>
          <a:xfrm>
            <a:off x="982675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982675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996086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ROAS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96086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N/C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996086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96086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96086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—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30352" y="332232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INSIGHTS QUALITATIFS · ANALYSE DES RECHERCHES</a:t>
            </a:r>
          </a:p>
        </p:txBody>
      </p:sp>
      <p:sp>
        <p:nvSpPr>
          <p:cNvPr id="54" name="Rectangle 53"/>
          <p:cNvSpPr/>
          <p:nvPr/>
        </p:nvSpPr>
        <p:spPr>
          <a:xfrm>
            <a:off x="530352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4194048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7857744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774192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CHAMP LEXICAL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774192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Termes les plus fréquents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774192" y="4236720"/>
            <a:ext cx="298704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1800" b="1" i="0">
                <a:solidFill>
                  <a:srgbClr val="EE6A2C"/>
                </a:solidFill>
                <a:latin typeface="Arial"/>
              </a:rPr>
              <a:t>cadeau</a:t>
            </a:r>
            <a:r>
              <a:rPr sz="1600" b="1" i="0">
                <a:solidFill>
                  <a:srgbClr val="111111"/>
                </a:solidFill>
                <a:latin typeface="Arial"/>
              </a:rPr>
              <a:t>   LEGO</a:t>
            </a:r>
          </a:p>
          <a:p>
            <a:pPr algn="l">
              <a:spcAft>
                <a:spcPts val="500"/>
              </a:spcAft>
            </a:pPr>
            <a:r>
              <a:rPr sz="1500" b="1" i="0">
                <a:solidFill>
                  <a:srgbClr val="555B66"/>
                </a:solidFill>
                <a:latin typeface="Arial"/>
              </a:rPr>
              <a:t>Dealabs</a:t>
            </a:r>
            <a:r>
              <a:rPr sz="1400" b="1" i="0">
                <a:solidFill>
                  <a:srgbClr val="111111"/>
                </a:solidFill>
                <a:latin typeface="Arial"/>
              </a:rPr>
              <a:t>   iGraal</a:t>
            </a:r>
          </a:p>
          <a:p>
            <a:pPr algn="l">
              <a:spcAft>
                <a:spcPts val="500"/>
              </a:spcAft>
            </a:pPr>
            <a:r>
              <a:rPr sz="1300" b="1" i="0">
                <a:solidFill>
                  <a:srgbClr val="EE6A2C"/>
                </a:solidFill>
                <a:latin typeface="Arial"/>
              </a:rPr>
              <a:t>Google Wallet</a:t>
            </a:r>
            <a:r>
              <a:rPr sz="1200" b="0" i="0">
                <a:solidFill>
                  <a:srgbClr val="555B66"/>
                </a:solidFill>
                <a:latin typeface="Arial"/>
              </a:rPr>
              <a:t>   Apple Wallet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EE6A2C"/>
                </a:solidFill>
                <a:latin typeface="Arial"/>
              </a:rPr>
              <a:t>Shopmium</a:t>
            </a:r>
            <a:r>
              <a:rPr sz="1100" b="1" i="0">
                <a:solidFill>
                  <a:srgbClr val="111111"/>
                </a:solidFill>
                <a:latin typeface="Arial"/>
              </a:rPr>
              <a:t>   Coupon Network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Joko</a:t>
            </a:r>
            <a:r>
              <a:rPr sz="1100" b="0" i="0">
                <a:solidFill>
                  <a:srgbClr val="555B66"/>
                </a:solidFill>
                <a:latin typeface="Arial"/>
              </a:rPr>
              <a:t>   Poulpeo</a:t>
            </a:r>
            <a:r>
              <a:rPr sz="1100" b="1" i="0">
                <a:solidFill>
                  <a:srgbClr val="EE6A2C"/>
                </a:solidFill>
                <a:latin typeface="Arial"/>
              </a:rPr>
              <a:t>   eBuyClub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naissance</a:t>
            </a:r>
            <a:r>
              <a:rPr sz="1100" b="0" i="0">
                <a:solidFill>
                  <a:srgbClr val="555B66"/>
                </a:solidFill>
                <a:latin typeface="Arial"/>
              </a:rPr>
              <a:t>   Widilo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4437888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EXEMPLES DE REQUÊTES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4437888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Questions posées aux IA</a:t>
            </a:r>
          </a:p>
        </p:txBody>
      </p:sp>
      <p:sp>
        <p:nvSpPr>
          <p:cNvPr id="62" name="Rectangle 61"/>
          <p:cNvSpPr/>
          <p:nvPr/>
        </p:nvSpPr>
        <p:spPr>
          <a:xfrm>
            <a:off x="4437888" y="426720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4559808" y="426720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4791456" y="426720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À compléter : le rapport d'insights ne fournit pas d'exemples de requêtes pour FidMe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8101584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CATÉGORIES DE PRODUITS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8101584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Répartition des requêtes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10607040" y="4175760"/>
            <a:ext cx="51816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111111"/>
                </a:solidFill>
                <a:latin typeface="Arial"/>
              </a:rPr>
              <a:t>100%</a:t>
            </a:r>
          </a:p>
        </p:txBody>
      </p:sp>
      <p:sp>
        <p:nvSpPr>
          <p:cNvPr id="68" name="Rectangle 67"/>
          <p:cNvSpPr/>
          <p:nvPr/>
        </p:nvSpPr>
        <p:spPr>
          <a:xfrm>
            <a:off x="8077200" y="4407408"/>
            <a:ext cx="121920" cy="121920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8296656" y="4389120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Boissons · 24 %</a:t>
            </a:r>
          </a:p>
        </p:txBody>
      </p:sp>
      <p:sp>
        <p:nvSpPr>
          <p:cNvPr id="70" name="Rectangle 69"/>
          <p:cNvSpPr/>
          <p:nvPr/>
        </p:nvSpPr>
        <p:spPr>
          <a:xfrm>
            <a:off x="8077200" y="4675632"/>
            <a:ext cx="121920" cy="121920"/>
          </a:xfrm>
          <a:prstGeom prst="rect">
            <a:avLst/>
          </a:prstGeom>
          <a:solidFill>
            <a:srgbClr val="7A4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8296656" y="4657344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Produits frais et végétaux · 17 %</a:t>
            </a:r>
          </a:p>
        </p:txBody>
      </p:sp>
      <p:sp>
        <p:nvSpPr>
          <p:cNvPr id="72" name="Rectangle 71"/>
          <p:cNvSpPr/>
          <p:nvPr/>
        </p:nvSpPr>
        <p:spPr>
          <a:xfrm>
            <a:off x="8077200" y="4943856"/>
            <a:ext cx="121920" cy="121920"/>
          </a:xfrm>
          <a:prstGeom prst="rect">
            <a:avLst/>
          </a:prstGeom>
          <a:solidFill>
            <a:srgbClr val="EB9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8296656" y="4925568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Épicerie et snacking · 18 %</a:t>
            </a:r>
          </a:p>
        </p:txBody>
      </p:sp>
      <p:sp>
        <p:nvSpPr>
          <p:cNvPr id="74" name="Rectangle 73"/>
          <p:cNvSpPr/>
          <p:nvPr/>
        </p:nvSpPr>
        <p:spPr>
          <a:xfrm>
            <a:off x="8077200" y="5212080"/>
            <a:ext cx="121920" cy="12192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8296656" y="5193792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Cashback et coupons · 13 %</a:t>
            </a:r>
          </a:p>
        </p:txBody>
      </p:sp>
      <p:sp>
        <p:nvSpPr>
          <p:cNvPr id="76" name="Rectangle 75"/>
          <p:cNvSpPr/>
          <p:nvPr/>
        </p:nvSpPr>
        <p:spPr>
          <a:xfrm>
            <a:off x="8077200" y="5480304"/>
            <a:ext cx="121920" cy="121920"/>
          </a:xfrm>
          <a:prstGeom prst="rect">
            <a:avLst/>
          </a:prstGeom>
          <a:solidFill>
            <a:srgbClr val="3E5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8296656" y="5462016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Alimentation pour animaux · 4 %</a:t>
            </a:r>
          </a:p>
        </p:txBody>
      </p:sp>
      <p:sp>
        <p:nvSpPr>
          <p:cNvPr id="78" name="Rectangle 77"/>
          <p:cNvSpPr/>
          <p:nvPr/>
        </p:nvSpPr>
        <p:spPr>
          <a:xfrm>
            <a:off x="8077200" y="5748528"/>
            <a:ext cx="121920" cy="121920"/>
          </a:xfrm>
          <a:prstGeom prst="rect">
            <a:avLst/>
          </a:prstGeom>
          <a:solidFill>
            <a:srgbClr val="A092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8296656" y="5730240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Hygiène, entretien et bébé · 24 %</a:t>
            </a:r>
          </a:p>
        </p:txBody>
      </p:sp>
      <p:sp>
        <p:nvSpPr>
          <p:cNvPr id="80" name="Rectangle 79"/>
          <p:cNvSpPr/>
          <p:nvPr/>
        </p:nvSpPr>
        <p:spPr>
          <a:xfrm>
            <a:off x="10564368" y="4450080"/>
            <a:ext cx="475488" cy="321868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Rectangle 80"/>
          <p:cNvSpPr/>
          <p:nvPr/>
        </p:nvSpPr>
        <p:spPr>
          <a:xfrm>
            <a:off x="10564368" y="4771948"/>
            <a:ext cx="475488" cy="227990"/>
          </a:xfrm>
          <a:prstGeom prst="rect">
            <a:avLst/>
          </a:prstGeom>
          <a:solidFill>
            <a:srgbClr val="7A4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Rectangle 81"/>
          <p:cNvSpPr/>
          <p:nvPr/>
        </p:nvSpPr>
        <p:spPr>
          <a:xfrm>
            <a:off x="10564368" y="4999939"/>
            <a:ext cx="475488" cy="241401"/>
          </a:xfrm>
          <a:prstGeom prst="rect">
            <a:avLst/>
          </a:prstGeom>
          <a:solidFill>
            <a:srgbClr val="EB9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Rectangle 82"/>
          <p:cNvSpPr/>
          <p:nvPr/>
        </p:nvSpPr>
        <p:spPr>
          <a:xfrm>
            <a:off x="10564368" y="5241340"/>
            <a:ext cx="475488" cy="174345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Rectangle 83"/>
          <p:cNvSpPr/>
          <p:nvPr/>
        </p:nvSpPr>
        <p:spPr>
          <a:xfrm>
            <a:off x="10564368" y="5415686"/>
            <a:ext cx="475488" cy="53644"/>
          </a:xfrm>
          <a:prstGeom prst="rect">
            <a:avLst/>
          </a:prstGeom>
          <a:solidFill>
            <a:srgbClr val="3E5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Rectangle 84"/>
          <p:cNvSpPr/>
          <p:nvPr/>
        </p:nvSpPr>
        <p:spPr>
          <a:xfrm>
            <a:off x="10564368" y="5469331"/>
            <a:ext cx="475488" cy="321868"/>
          </a:xfrm>
          <a:prstGeom prst="rect">
            <a:avLst/>
          </a:prstGeom>
          <a:solidFill>
            <a:srgbClr val="A092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" y="121920"/>
            <a:ext cx="11612880" cy="8534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79120" y="42672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INSIGHTS QUALITATIFS · SEPTEMBRE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79120" y="609600"/>
            <a:ext cx="73152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111111"/>
                </a:solidFill>
                <a:latin typeface="Arial"/>
              </a:rPr>
              <a:t>FidMe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0" y="499872"/>
            <a:ext cx="18897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111111"/>
                </a:solidFill>
                <a:latin typeface="Arial"/>
              </a:rPr>
              <a:t>Lemrock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9120" y="1219200"/>
            <a:ext cx="91440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OBJECTIF   </a:t>
            </a:r>
            <a:r>
              <a:rPr sz="1300" b="0" i="0">
                <a:solidFill>
                  <a:srgbClr val="111111"/>
                </a:solidFill>
                <a:latin typeface="Arial"/>
              </a:rPr>
              <a:t>Acquérir de nouveaux clients.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9120" y="1524000"/>
            <a:ext cx="48768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555B66"/>
                </a:solidFill>
                <a:latin typeface="Arial"/>
              </a:rPr>
              <a:t>INSIGHTS QUALITATIFS</a:t>
            </a:r>
          </a:p>
        </p:txBody>
      </p:sp>
      <p:sp>
        <p:nvSpPr>
          <p:cNvPr id="9" name="Rectangle 8"/>
          <p:cNvSpPr/>
          <p:nvPr/>
        </p:nvSpPr>
        <p:spPr>
          <a:xfrm>
            <a:off x="579120" y="181660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35152" y="202996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83792" y="204825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Les offres concrètes cliquent le mieux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5152" y="260908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L'offre « 2 € pour l'achat d'un pack STABILO » atteint 2,07 fois le CTR moyen.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5152" y="331012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Mettre le montant remboursé dans le titre de l'annonce.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992368" y="181660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48400" y="202996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797040" y="204825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Les vins et les gourmandises surperforment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48400" y="260908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Les vins (1,28 fois), les snacks et confiseries (1,19 fois) et les boissons (1,18 fois) dépassent la moyenne.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48400" y="331012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Donner plus de place aux vins et gourmandises à l'approche des fêtes.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79120" y="413308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35152" y="434644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83792" y="436473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Revoir le végétal, le bébé et l'animalerie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5152" y="492556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Les boissons végétales Bjorg (0,56 fois), Le Gaulois Végétal (0,60 fois), Blédichef (0,64 fois) et Whiskas (0,70 fois) restent sous la moyenne.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5152" y="562660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Tester des accroches centrées sur l'économie réalisée.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992368" y="413308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48400" y="434644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797040" y="436473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Le CTR double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248400" y="492556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Les clics passent de 1 378 à 3 086. Le CTR passe de 0,23 % à 0,44 %. WaterWipes représente 16 % de la diffusion.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248400" y="562660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Poursuivre sur les offres qui performent et préparer les offres de Noël.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" y="121920"/>
            <a:ext cx="11612880" cy="8534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48768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PERFORMANCE REPORT · 01/09/2026 → 30/09/2026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640080"/>
            <a:ext cx="73152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111111"/>
                </a:solidFill>
                <a:latin typeface="Arial"/>
              </a:rPr>
              <a:t>Levi's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24800" y="591312"/>
            <a:ext cx="3304032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200" b="1" i="0">
                <a:solidFill>
                  <a:srgbClr val="8A93A6"/>
                </a:solidFill>
                <a:latin typeface="Arial"/>
              </a:rPr>
              <a:t>COMPARISON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24800" y="780288"/>
            <a:ext cx="3304032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111111"/>
                </a:solidFill>
                <a:latin typeface="Arial"/>
              </a:rPr>
              <a:t>vs 01/08/2026 → 31/08/2026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REACH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38963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ENGAGEMENT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0819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CONVERSION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3035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3035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6446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IMPRESSIONS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446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378 398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446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B04837"/>
                </a:solidFill>
                <a:latin typeface="Arial"/>
              </a:rPr>
              <a:t>▼ −29 %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446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prev. period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446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1 193 411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38963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238963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52374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CLICKS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52374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1 677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52374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+46 %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52374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prev. period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52374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3 370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24891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24891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38302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CTR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38302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0,44 %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38302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+0,23 pt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38302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prev. period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38302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0,28 %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10819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10819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24230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CONVERSIONS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24230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N/A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24230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24230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prev. period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24230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—</a:t>
            </a:r>
          </a:p>
        </p:txBody>
      </p:sp>
      <p:sp>
        <p:nvSpPr>
          <p:cNvPr id="39" name="Rectangle 38"/>
          <p:cNvSpPr/>
          <p:nvPr/>
        </p:nvSpPr>
        <p:spPr>
          <a:xfrm>
            <a:off x="796747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796747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10158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CVR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10158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N/A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10158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10158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prev. period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10158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—</a:t>
            </a:r>
          </a:p>
        </p:txBody>
      </p:sp>
      <p:sp>
        <p:nvSpPr>
          <p:cNvPr id="46" name="Rectangle 45"/>
          <p:cNvSpPr/>
          <p:nvPr/>
        </p:nvSpPr>
        <p:spPr>
          <a:xfrm>
            <a:off x="982675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982675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996086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ROAS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96086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N/A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996086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96086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prev. period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96086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—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30352" y="332232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QUALITATIVE INSIGHTS · SEARCH ANALYSIS</a:t>
            </a:r>
          </a:p>
        </p:txBody>
      </p:sp>
      <p:sp>
        <p:nvSpPr>
          <p:cNvPr id="54" name="Rectangle 53"/>
          <p:cNvSpPr/>
          <p:nvPr/>
        </p:nvSpPr>
        <p:spPr>
          <a:xfrm>
            <a:off x="530352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4194048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7857744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774192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LEXICAL FIELD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774192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Most frequent terms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774192" y="4236720"/>
            <a:ext cx="298704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1800" b="1" i="0">
                <a:solidFill>
                  <a:srgbClr val="EE6A2C"/>
                </a:solidFill>
                <a:latin typeface="Arial"/>
              </a:rPr>
              <a:t>jeans</a:t>
            </a:r>
            <a:r>
              <a:rPr sz="1600" b="1" i="0">
                <a:solidFill>
                  <a:srgbClr val="111111"/>
                </a:solidFill>
                <a:latin typeface="Arial"/>
              </a:rPr>
              <a:t>   501 Original Fit</a:t>
            </a:r>
          </a:p>
          <a:p>
            <a:pPr algn="l">
              <a:spcAft>
                <a:spcPts val="500"/>
              </a:spcAft>
            </a:pPr>
            <a:r>
              <a:rPr sz="1500" b="1" i="0">
                <a:solidFill>
                  <a:srgbClr val="555B66"/>
                </a:solidFill>
                <a:latin typeface="Arial"/>
              </a:rPr>
              <a:t>tulip jeans</a:t>
            </a:r>
            <a:r>
              <a:rPr sz="1400" b="1" i="0">
                <a:solidFill>
                  <a:srgbClr val="111111"/>
                </a:solidFill>
                <a:latin typeface="Arial"/>
              </a:rPr>
              <a:t>   stretch</a:t>
            </a:r>
          </a:p>
          <a:p>
            <a:pPr algn="l">
              <a:spcAft>
                <a:spcPts val="500"/>
              </a:spcAft>
            </a:pPr>
            <a:r>
              <a:rPr sz="1300" b="1" i="0">
                <a:solidFill>
                  <a:srgbClr val="EE6A2C"/>
                </a:solidFill>
                <a:latin typeface="Arial"/>
              </a:rPr>
              <a:t>fitted tops</a:t>
            </a:r>
            <a:r>
              <a:rPr sz="1200" b="0" i="0">
                <a:solidFill>
                  <a:srgbClr val="555B66"/>
                </a:solidFill>
                <a:latin typeface="Arial"/>
              </a:rPr>
              <a:t>   puffer jacket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EE6A2C"/>
                </a:solidFill>
                <a:latin typeface="Arial"/>
              </a:rPr>
              <a:t>denim skirt</a:t>
            </a:r>
            <a:r>
              <a:rPr sz="1100" b="1" i="0">
                <a:solidFill>
                  <a:srgbClr val="111111"/>
                </a:solidFill>
                <a:latin typeface="Arial"/>
              </a:rPr>
              <a:t>   jacket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Zara</a:t>
            </a:r>
            <a:r>
              <a:rPr sz="1100" b="0" i="0">
                <a:solidFill>
                  <a:srgbClr val="555B66"/>
                </a:solidFill>
                <a:latin typeface="Arial"/>
              </a:rPr>
              <a:t>   Uniqlo</a:t>
            </a:r>
            <a:r>
              <a:rPr sz="1100" b="1" i="0">
                <a:solidFill>
                  <a:srgbClr val="EE6A2C"/>
                </a:solidFill>
                <a:latin typeface="Arial"/>
              </a:rPr>
              <a:t>   Wrangler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tights</a:t>
            </a:r>
            <a:r>
              <a:rPr sz="1100" b="0" i="0">
                <a:solidFill>
                  <a:srgbClr val="555B66"/>
                </a:solidFill>
                <a:latin typeface="Arial"/>
              </a:rPr>
              <a:t>   Celio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4437888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SAMPLE QUERIES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4437888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Questions asked to AI</a:t>
            </a:r>
          </a:p>
        </p:txBody>
      </p:sp>
      <p:sp>
        <p:nvSpPr>
          <p:cNvPr id="62" name="Rectangle 61"/>
          <p:cNvSpPr/>
          <p:nvPr/>
        </p:nvSpPr>
        <p:spPr>
          <a:xfrm>
            <a:off x="4437888" y="426720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4559808" y="426720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4791456" y="426720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Show me fitted tops to go with these grey jeans</a:t>
            </a:r>
          </a:p>
        </p:txBody>
      </p:sp>
      <p:sp>
        <p:nvSpPr>
          <p:cNvPr id="65" name="Rectangle 64"/>
          <p:cNvSpPr/>
          <p:nvPr/>
        </p:nvSpPr>
        <p:spPr>
          <a:xfrm>
            <a:off x="4437888" y="463296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4559808" y="463296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4791456" y="463296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Where can I find comfortable tulip jeans with a little stretch?</a:t>
            </a:r>
          </a:p>
        </p:txBody>
      </p:sp>
      <p:sp>
        <p:nvSpPr>
          <p:cNvPr id="68" name="Rectangle 67"/>
          <p:cNvSpPr/>
          <p:nvPr/>
        </p:nvSpPr>
        <p:spPr>
          <a:xfrm>
            <a:off x="4437888" y="499872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4559808" y="499872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4791456" y="499872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Show me complete outfit ideas with a long denim skirt</a:t>
            </a:r>
          </a:p>
        </p:txBody>
      </p:sp>
      <p:sp>
        <p:nvSpPr>
          <p:cNvPr id="71" name="Rectangle 70"/>
          <p:cNvSpPr/>
          <p:nvPr/>
        </p:nvSpPr>
        <p:spPr>
          <a:xfrm>
            <a:off x="4437888" y="536448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4559808" y="536448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4791456" y="536448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What's the real difference between a softshell and a puffer jacket?</a:t>
            </a:r>
          </a:p>
        </p:txBody>
      </p:sp>
      <p:sp>
        <p:nvSpPr>
          <p:cNvPr id="74" name="Rectangle 73"/>
          <p:cNvSpPr/>
          <p:nvPr/>
        </p:nvSpPr>
        <p:spPr>
          <a:xfrm>
            <a:off x="4437888" y="573024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4559808" y="573024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4791456" y="573024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Can I wear these shorts to the office without looking too casual?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8101584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PRODUCT CATEGORIES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8101584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Campaign product mix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10607040" y="4175760"/>
            <a:ext cx="51816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111111"/>
                </a:solidFill>
                <a:latin typeface="Arial"/>
              </a:rPr>
              <a:t>100%</a:t>
            </a:r>
          </a:p>
        </p:txBody>
      </p:sp>
      <p:sp>
        <p:nvSpPr>
          <p:cNvPr id="80" name="Rectangle 79"/>
          <p:cNvSpPr/>
          <p:nvPr/>
        </p:nvSpPr>
        <p:spPr>
          <a:xfrm>
            <a:off x="8077200" y="4407408"/>
            <a:ext cx="121920" cy="121920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8296656" y="4389120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Jeans</a:t>
            </a:r>
          </a:p>
        </p:txBody>
      </p:sp>
      <p:sp>
        <p:nvSpPr>
          <p:cNvPr id="82" name="Rectangle 81"/>
          <p:cNvSpPr/>
          <p:nvPr/>
        </p:nvSpPr>
        <p:spPr>
          <a:xfrm>
            <a:off x="8077200" y="4626864"/>
            <a:ext cx="121920" cy="121920"/>
          </a:xfrm>
          <a:prstGeom prst="rect">
            <a:avLst/>
          </a:prstGeom>
          <a:solidFill>
            <a:srgbClr val="7A4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8296656" y="4608576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Tops and shirts · 23 %</a:t>
            </a:r>
          </a:p>
        </p:txBody>
      </p:sp>
      <p:sp>
        <p:nvSpPr>
          <p:cNvPr id="84" name="Rectangle 83"/>
          <p:cNvSpPr/>
          <p:nvPr/>
        </p:nvSpPr>
        <p:spPr>
          <a:xfrm>
            <a:off x="8077200" y="4846320"/>
            <a:ext cx="121920" cy="121920"/>
          </a:xfrm>
          <a:prstGeom prst="rect">
            <a:avLst/>
          </a:prstGeom>
          <a:solidFill>
            <a:srgbClr val="EB9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8296656" y="4828032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Dresses, skirts and shorts · 9 %</a:t>
            </a:r>
          </a:p>
        </p:txBody>
      </p:sp>
      <p:sp>
        <p:nvSpPr>
          <p:cNvPr id="86" name="Rectangle 85"/>
          <p:cNvSpPr/>
          <p:nvPr/>
        </p:nvSpPr>
        <p:spPr>
          <a:xfrm>
            <a:off x="8077200" y="5065776"/>
            <a:ext cx="121920" cy="12192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8296656" y="5047488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Accessories · 22 %</a:t>
            </a:r>
          </a:p>
        </p:txBody>
      </p:sp>
      <p:sp>
        <p:nvSpPr>
          <p:cNvPr id="88" name="Rectangle 87"/>
          <p:cNvSpPr/>
          <p:nvPr/>
        </p:nvSpPr>
        <p:spPr>
          <a:xfrm>
            <a:off x="8077200" y="5285232"/>
            <a:ext cx="121920" cy="121920"/>
          </a:xfrm>
          <a:prstGeom prst="rect">
            <a:avLst/>
          </a:prstGeom>
          <a:solidFill>
            <a:srgbClr val="3E5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8296656" y="5266944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Other relaxed bottoms · &lt; 1%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8077200" y="5504688"/>
            <a:ext cx="121920" cy="121920"/>
          </a:xfrm>
          <a:prstGeom prst="rect">
            <a:avLst/>
          </a:prstGeom>
          <a:solidFill>
            <a:srgbClr val="A092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8296656" y="5486400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Jackets · 6 %</a:t>
            </a:r>
          </a:p>
        </p:txBody>
      </p:sp>
      <p:sp>
        <p:nvSpPr>
          <p:cNvPr id="92" name="Rectangle 91"/>
          <p:cNvSpPr/>
          <p:nvPr/>
        </p:nvSpPr>
        <p:spPr>
          <a:xfrm>
            <a:off x="8077200" y="5724144"/>
            <a:ext cx="121920" cy="121920"/>
          </a:xfrm>
          <a:prstGeom prst="rect">
            <a:avLst/>
          </a:prstGeom>
          <a:solidFill>
            <a:srgbClr val="8CB3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8296656" y="5705856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Chinos and cargos · 1 %</a:t>
            </a:r>
          </a:p>
        </p:txBody>
      </p:sp>
      <p:sp>
        <p:nvSpPr>
          <p:cNvPr id="94" name="Rectangle 93"/>
          <p:cNvSpPr/>
          <p:nvPr/>
        </p:nvSpPr>
        <p:spPr>
          <a:xfrm>
            <a:off x="10564368" y="4450080"/>
            <a:ext cx="475488" cy="523036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TextBox 94"/>
          <p:cNvSpPr txBox="1"/>
          <p:nvPr/>
        </p:nvSpPr>
        <p:spPr>
          <a:xfrm>
            <a:off x="10564368" y="4450080"/>
            <a:ext cx="475488" cy="5230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Arial"/>
              </a:rPr>
              <a:t>39 %</a:t>
            </a:r>
          </a:p>
        </p:txBody>
      </p:sp>
      <p:sp>
        <p:nvSpPr>
          <p:cNvPr id="96" name="Rectangle 95"/>
          <p:cNvSpPr/>
          <p:nvPr/>
        </p:nvSpPr>
        <p:spPr>
          <a:xfrm>
            <a:off x="10564368" y="4973116"/>
            <a:ext cx="475488" cy="308457"/>
          </a:xfrm>
          <a:prstGeom prst="rect">
            <a:avLst/>
          </a:prstGeom>
          <a:solidFill>
            <a:srgbClr val="7A4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Rectangle 96"/>
          <p:cNvSpPr/>
          <p:nvPr/>
        </p:nvSpPr>
        <p:spPr>
          <a:xfrm>
            <a:off x="10564368" y="5281574"/>
            <a:ext cx="475488" cy="120700"/>
          </a:xfrm>
          <a:prstGeom prst="rect">
            <a:avLst/>
          </a:prstGeom>
          <a:solidFill>
            <a:srgbClr val="EB9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Rectangle 97"/>
          <p:cNvSpPr/>
          <p:nvPr/>
        </p:nvSpPr>
        <p:spPr>
          <a:xfrm>
            <a:off x="10564368" y="5402275"/>
            <a:ext cx="475488" cy="295046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Rectangle 98"/>
          <p:cNvSpPr/>
          <p:nvPr/>
        </p:nvSpPr>
        <p:spPr>
          <a:xfrm>
            <a:off x="10564368" y="5697321"/>
            <a:ext cx="475488" cy="0"/>
          </a:xfrm>
          <a:prstGeom prst="rect">
            <a:avLst/>
          </a:prstGeom>
          <a:solidFill>
            <a:srgbClr val="3E5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Rectangle 99"/>
          <p:cNvSpPr/>
          <p:nvPr/>
        </p:nvSpPr>
        <p:spPr>
          <a:xfrm>
            <a:off x="10564368" y="5697321"/>
            <a:ext cx="475488" cy="80467"/>
          </a:xfrm>
          <a:prstGeom prst="rect">
            <a:avLst/>
          </a:prstGeom>
          <a:solidFill>
            <a:srgbClr val="A092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Rectangle 100"/>
          <p:cNvSpPr/>
          <p:nvPr/>
        </p:nvSpPr>
        <p:spPr>
          <a:xfrm>
            <a:off x="10564368" y="5777788"/>
            <a:ext cx="475488" cy="13411"/>
          </a:xfrm>
          <a:prstGeom prst="rect">
            <a:avLst/>
          </a:prstGeom>
          <a:solidFill>
            <a:srgbClr val="8CB3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" y="121920"/>
            <a:ext cx="11612880" cy="8534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79120" y="42672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QUALITATIVE INSIGHTS · SEPTEMBER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79120" y="609600"/>
            <a:ext cx="73152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111111"/>
                </a:solidFill>
                <a:latin typeface="Arial"/>
              </a:rPr>
              <a:t>Levi's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0" y="499872"/>
            <a:ext cx="18897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111111"/>
                </a:solidFill>
                <a:latin typeface="Arial"/>
              </a:rPr>
              <a:t>Lemrock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9120" y="1219200"/>
            <a:ext cx="91440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OBJECTIVE   </a:t>
            </a:r>
            <a:r>
              <a:rPr sz="1300" b="0" i="0">
                <a:solidFill>
                  <a:srgbClr val="111111"/>
                </a:solidFill>
                <a:latin typeface="Arial"/>
              </a:rPr>
              <a:t>To be defined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9120" y="1524000"/>
            <a:ext cx="48768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555B66"/>
                </a:solidFill>
                <a:latin typeface="Arial"/>
              </a:rPr>
              <a:t>QUALITATIVE INSIGHTS</a:t>
            </a:r>
          </a:p>
        </p:txBody>
      </p:sp>
      <p:sp>
        <p:nvSpPr>
          <p:cNvPr id="9" name="Rectangle 8"/>
          <p:cNvSpPr/>
          <p:nvPr/>
        </p:nvSpPr>
        <p:spPr>
          <a:xfrm>
            <a:off x="579120" y="181660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35152" y="202996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83792" y="204825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Vintage and heritage pieces drive clicks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5152" y="260908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The Vintage Red Tab™ T-shirt reaches 1.84 times the average CTR, the Vintage Boxy sweatshirt 1.31 times and the Trucker jacket 1.38 times.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5152" y="331012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Put vintage and heritage pieces forward in the campaign.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992368" y="181660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48400" y="202996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797040" y="204825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Jeans stay above average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48400" y="260908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Men's jeans reach 1.13 times the average and women's jeans 1.05 times. The XL Straight jean reaches 1.28 times.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48400" y="331012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Keep jeans at the centre, with a focus on relaxed and straight fits.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79120" y="413308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35152" y="434644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83792" y="436473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Accessories underperform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5152" y="492556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Belts, beanies and caps stay at 0.49 times the average.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5152" y="562660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Show accessories as a complement once the shopper has found their jeans.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992368" y="413308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48400" y="434644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797040" y="436473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Jackets and sweats are rising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248400" y="492556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Jackets and sweats reach 1.24 times the average and skirts and dresses 1.20 times.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248400" y="562660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Push outerwear for the cold season (Trucker, sherpa, sweats).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" y="121920"/>
            <a:ext cx="11612880" cy="8534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48768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RAPPORT DE PERFORMANCE · 01/09/2026 → 30/09/2026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640080"/>
            <a:ext cx="73152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111111"/>
                </a:solidFill>
                <a:latin typeface="Arial"/>
              </a:rPr>
              <a:t>Mabex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24800" y="591312"/>
            <a:ext cx="3304032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200" b="1" i="0">
                <a:solidFill>
                  <a:srgbClr val="8A93A6"/>
                </a:solidFill>
                <a:latin typeface="Arial"/>
              </a:rPr>
              <a:t>COMPARAISON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24800" y="780288"/>
            <a:ext cx="3304032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111111"/>
                </a:solidFill>
                <a:latin typeface="Arial"/>
              </a:rPr>
              <a:t>vs 01/08/2026 → 31/08/2026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DIFFUSION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38963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ENGAGEMENT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0819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CONVERSION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3035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3035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6446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IMPRESSIONS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446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313 395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446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+259 %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446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446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426 644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38963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238963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52374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CLICS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52374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1 668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52374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+379 %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52374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52374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2 085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24891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24891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38302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CTR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38302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0,53 %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38302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+0,13 pt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38302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38302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0,49 %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10819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10819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24230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CONVERSIONS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24230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N/C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24230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24230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24230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—</a:t>
            </a:r>
          </a:p>
        </p:txBody>
      </p:sp>
      <p:sp>
        <p:nvSpPr>
          <p:cNvPr id="39" name="Rectangle 38"/>
          <p:cNvSpPr/>
          <p:nvPr/>
        </p:nvSpPr>
        <p:spPr>
          <a:xfrm>
            <a:off x="796747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796747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10158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CVR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10158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N/C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10158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10158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10158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—</a:t>
            </a:r>
          </a:p>
        </p:txBody>
      </p:sp>
      <p:sp>
        <p:nvSpPr>
          <p:cNvPr id="46" name="Rectangle 45"/>
          <p:cNvSpPr/>
          <p:nvPr/>
        </p:nvSpPr>
        <p:spPr>
          <a:xfrm>
            <a:off x="982675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982675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996086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ROAS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96086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N/C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996086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96086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96086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—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30352" y="332232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INSIGHTS QUALITATIFS · ANALYSE DES RECHERCHES</a:t>
            </a:r>
          </a:p>
        </p:txBody>
      </p:sp>
      <p:sp>
        <p:nvSpPr>
          <p:cNvPr id="54" name="Rectangle 53"/>
          <p:cNvSpPr/>
          <p:nvPr/>
        </p:nvSpPr>
        <p:spPr>
          <a:xfrm>
            <a:off x="530352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4194048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7857744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774192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CHAMP LEXICAL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774192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Termes les plus fréquents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774192" y="4236720"/>
            <a:ext cx="298704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1800" b="1" i="0">
                <a:solidFill>
                  <a:srgbClr val="EE6A2C"/>
                </a:solidFill>
                <a:latin typeface="Arial"/>
              </a:rPr>
              <a:t>prises connectées</a:t>
            </a:r>
            <a:r>
              <a:rPr sz="1600" b="1" i="0">
                <a:solidFill>
                  <a:srgbClr val="111111"/>
                </a:solidFill>
                <a:latin typeface="Arial"/>
              </a:rPr>
              <a:t>   canalisations</a:t>
            </a:r>
          </a:p>
          <a:p>
            <a:pPr algn="l">
              <a:spcAft>
                <a:spcPts val="500"/>
              </a:spcAft>
            </a:pPr>
            <a:r>
              <a:rPr sz="1500" b="1" i="0">
                <a:solidFill>
                  <a:srgbClr val="555B66"/>
                </a:solidFill>
                <a:latin typeface="Arial"/>
              </a:rPr>
              <a:t>outils</a:t>
            </a:r>
            <a:r>
              <a:rPr sz="1400" b="1" i="0">
                <a:solidFill>
                  <a:srgbClr val="111111"/>
                </a:solidFill>
                <a:latin typeface="Arial"/>
              </a:rPr>
              <a:t>   tuyaux PVC</a:t>
            </a:r>
          </a:p>
          <a:p>
            <a:pPr algn="l">
              <a:spcAft>
                <a:spcPts val="500"/>
              </a:spcAft>
            </a:pPr>
            <a:r>
              <a:rPr sz="1300" b="1" i="0">
                <a:solidFill>
                  <a:srgbClr val="EE6A2C"/>
                </a:solidFill>
                <a:latin typeface="Arial"/>
              </a:rPr>
              <a:t>gel</a:t>
            </a:r>
            <a:r>
              <a:rPr sz="1200" b="0" i="0">
                <a:solidFill>
                  <a:srgbClr val="555B66"/>
                </a:solidFill>
                <a:latin typeface="Arial"/>
              </a:rPr>
              <a:t>   humidimètre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EE6A2C"/>
                </a:solidFill>
                <a:latin typeface="Arial"/>
              </a:rPr>
              <a:t>Legrand</a:t>
            </a:r>
            <a:r>
              <a:rPr sz="1100" b="1" i="0">
                <a:solidFill>
                  <a:srgbClr val="111111"/>
                </a:solidFill>
                <a:latin typeface="Arial"/>
              </a:rPr>
              <a:t>   Bosch</a:t>
            </a:r>
            <a:r>
              <a:rPr sz="1100" b="0" i="0">
                <a:solidFill>
                  <a:srgbClr val="555B66"/>
                </a:solidFill>
                <a:latin typeface="Arial"/>
              </a:rPr>
              <a:t>   Makita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chantier</a:t>
            </a:r>
            <a:r>
              <a:rPr sz="1100" b="0" i="0">
                <a:solidFill>
                  <a:srgbClr val="555B66"/>
                </a:solidFill>
                <a:latin typeface="Arial"/>
              </a:rPr>
              <a:t>   peinture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Leroy Merlin</a:t>
            </a:r>
            <a:r>
              <a:rPr sz="1100" b="0" i="0">
                <a:solidFill>
                  <a:srgbClr val="555B66"/>
                </a:solidFill>
                <a:latin typeface="Arial"/>
              </a:rPr>
              <a:t>   Chausson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4437888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EXEMPLES DE REQUÊTES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4437888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Questions posées aux IA</a:t>
            </a:r>
          </a:p>
        </p:txBody>
      </p:sp>
      <p:sp>
        <p:nvSpPr>
          <p:cNvPr id="62" name="Rectangle 61"/>
          <p:cNvSpPr/>
          <p:nvPr/>
        </p:nvSpPr>
        <p:spPr>
          <a:xfrm>
            <a:off x="4437888" y="426720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4559808" y="426720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4791456" y="426720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Montre-moi des prises connectées compatibles avec ma box</a:t>
            </a:r>
          </a:p>
        </p:txBody>
      </p:sp>
      <p:sp>
        <p:nvSpPr>
          <p:cNvPr id="65" name="Rectangle 64"/>
          <p:cNvSpPr/>
          <p:nvPr/>
        </p:nvSpPr>
        <p:spPr>
          <a:xfrm>
            <a:off x="4437888" y="463296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4559808" y="463296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4791456" y="463296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Quelle puissance de prise renforcée recommandes-tu pour un usage quotidien ?</a:t>
            </a:r>
          </a:p>
        </p:txBody>
      </p:sp>
      <p:sp>
        <p:nvSpPr>
          <p:cNvPr id="68" name="Rectangle 67"/>
          <p:cNvSpPr/>
          <p:nvPr/>
        </p:nvSpPr>
        <p:spPr>
          <a:xfrm>
            <a:off x="4437888" y="499872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4559808" y="499872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4791456" y="499872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Comment protéger les canalisations et la pompe contre le gel ?</a:t>
            </a:r>
          </a:p>
        </p:txBody>
      </p:sp>
      <p:sp>
        <p:nvSpPr>
          <p:cNvPr id="71" name="Rectangle 70"/>
          <p:cNvSpPr/>
          <p:nvPr/>
        </p:nvSpPr>
        <p:spPr>
          <a:xfrm>
            <a:off x="4437888" y="536448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4559808" y="536448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4791456" y="536448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Quels risques pour les tuyaux PVC à long terme ?</a:t>
            </a:r>
          </a:p>
        </p:txBody>
      </p:sp>
      <p:sp>
        <p:nvSpPr>
          <p:cNvPr id="74" name="Rectangle 73"/>
          <p:cNvSpPr/>
          <p:nvPr/>
        </p:nvSpPr>
        <p:spPr>
          <a:xfrm>
            <a:off x="4437888" y="573024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4559808" y="573024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4791456" y="573024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Tu peux me recommander un bon humidimètre pour bois ?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8101584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CATÉGORIES DE PRODUITS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8101584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Répartition des requêtes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10607040" y="4175760"/>
            <a:ext cx="51816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111111"/>
                </a:solidFill>
                <a:latin typeface="Arial"/>
              </a:rPr>
              <a:t>100%</a:t>
            </a:r>
          </a:p>
        </p:txBody>
      </p:sp>
      <p:sp>
        <p:nvSpPr>
          <p:cNvPr id="80" name="Rectangle 79"/>
          <p:cNvSpPr/>
          <p:nvPr/>
        </p:nvSpPr>
        <p:spPr>
          <a:xfrm>
            <a:off x="8077200" y="4407408"/>
            <a:ext cx="121920" cy="121920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8296656" y="4389120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0">
                <a:solidFill>
                  <a:srgbClr val="111111"/>
                </a:solidFill>
                <a:latin typeface="Arial"/>
              </a:rPr>
              <a:t>Électricité, interrupteurs et prises · 4 %</a:t>
            </a:r>
          </a:p>
        </p:txBody>
      </p:sp>
      <p:sp>
        <p:nvSpPr>
          <p:cNvPr id="82" name="Rectangle 81"/>
          <p:cNvSpPr/>
          <p:nvPr/>
        </p:nvSpPr>
        <p:spPr>
          <a:xfrm>
            <a:off x="8077200" y="4675632"/>
            <a:ext cx="121920" cy="121920"/>
          </a:xfrm>
          <a:prstGeom prst="rect">
            <a:avLst/>
          </a:prstGeom>
          <a:solidFill>
            <a:srgbClr val="7A4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8296656" y="4657344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Chauffe-eau et eau chaude · 11 %</a:t>
            </a:r>
          </a:p>
        </p:txBody>
      </p:sp>
      <p:sp>
        <p:nvSpPr>
          <p:cNvPr id="84" name="Rectangle 83"/>
          <p:cNvSpPr/>
          <p:nvPr/>
        </p:nvSpPr>
        <p:spPr>
          <a:xfrm>
            <a:off x="8077200" y="4943856"/>
            <a:ext cx="121920" cy="121920"/>
          </a:xfrm>
          <a:prstGeom prst="rect">
            <a:avLst/>
          </a:prstGeom>
          <a:solidFill>
            <a:srgbClr val="EB9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8296656" y="4925568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Chauffage et radiateurs · 3 %</a:t>
            </a:r>
          </a:p>
        </p:txBody>
      </p:sp>
      <p:sp>
        <p:nvSpPr>
          <p:cNvPr id="86" name="Rectangle 85"/>
          <p:cNvSpPr/>
          <p:nvPr/>
        </p:nvSpPr>
        <p:spPr>
          <a:xfrm>
            <a:off x="8077200" y="5212080"/>
            <a:ext cx="121920" cy="12192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8296656" y="5193792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0">
                <a:solidFill>
                  <a:srgbClr val="111111"/>
                </a:solidFill>
                <a:latin typeface="Arial"/>
              </a:rPr>
              <a:t>EPI et vêtements de sécurité · 13 %</a:t>
            </a:r>
          </a:p>
        </p:txBody>
      </p:sp>
      <p:sp>
        <p:nvSpPr>
          <p:cNvPr id="88" name="Rectangle 87"/>
          <p:cNvSpPr/>
          <p:nvPr/>
        </p:nvSpPr>
        <p:spPr>
          <a:xfrm>
            <a:off x="8077200" y="5480304"/>
            <a:ext cx="121920" cy="121920"/>
          </a:xfrm>
          <a:prstGeom prst="rect">
            <a:avLst/>
          </a:prstGeom>
          <a:solidFill>
            <a:srgbClr val="3E5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8296656" y="5462016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Outillage et plomberie · 69 %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10564368" y="4450080"/>
            <a:ext cx="475488" cy="53644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Rectangle 90"/>
          <p:cNvSpPr/>
          <p:nvPr/>
        </p:nvSpPr>
        <p:spPr>
          <a:xfrm>
            <a:off x="10564368" y="4503724"/>
            <a:ext cx="475488" cy="147523"/>
          </a:xfrm>
          <a:prstGeom prst="rect">
            <a:avLst/>
          </a:prstGeom>
          <a:solidFill>
            <a:srgbClr val="7A4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Rectangle 91"/>
          <p:cNvSpPr/>
          <p:nvPr/>
        </p:nvSpPr>
        <p:spPr>
          <a:xfrm>
            <a:off x="10564368" y="4651248"/>
            <a:ext cx="475488" cy="40233"/>
          </a:xfrm>
          <a:prstGeom prst="rect">
            <a:avLst/>
          </a:prstGeom>
          <a:solidFill>
            <a:srgbClr val="EB9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Rectangle 92"/>
          <p:cNvSpPr/>
          <p:nvPr/>
        </p:nvSpPr>
        <p:spPr>
          <a:xfrm>
            <a:off x="10564368" y="4691481"/>
            <a:ext cx="475488" cy="174345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Rectangle 93"/>
          <p:cNvSpPr/>
          <p:nvPr/>
        </p:nvSpPr>
        <p:spPr>
          <a:xfrm>
            <a:off x="10564368" y="4865827"/>
            <a:ext cx="475488" cy="925372"/>
          </a:xfrm>
          <a:prstGeom prst="rect">
            <a:avLst/>
          </a:prstGeom>
          <a:solidFill>
            <a:srgbClr val="3E5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TextBox 94"/>
          <p:cNvSpPr txBox="1"/>
          <p:nvPr/>
        </p:nvSpPr>
        <p:spPr>
          <a:xfrm>
            <a:off x="10564368" y="4865827"/>
            <a:ext cx="475488" cy="9253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Arial"/>
              </a:rPr>
              <a:t>69 %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" y="121920"/>
            <a:ext cx="11612880" cy="8534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79120" y="42672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INSIGHTS QUALITATIFS · SEPTEMBRE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79120" y="609600"/>
            <a:ext cx="73152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111111"/>
                </a:solidFill>
                <a:latin typeface="Arial"/>
              </a:rPr>
              <a:t>Mabex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0" y="499872"/>
            <a:ext cx="18897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111111"/>
                </a:solidFill>
                <a:latin typeface="Arial"/>
              </a:rPr>
              <a:t>Lemrock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9120" y="1219200"/>
            <a:ext cx="91440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OBJECTIF   </a:t>
            </a:r>
            <a:r>
              <a:rPr sz="1300" b="0" i="0">
                <a:solidFill>
                  <a:srgbClr val="111111"/>
                </a:solidFill>
                <a:latin typeface="Arial"/>
              </a:rPr>
              <a:t>Atteindre un ROAS d'au moins 10 (idéalement 12).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9120" y="1524000"/>
            <a:ext cx="48768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555B66"/>
                </a:solidFill>
                <a:latin typeface="Arial"/>
              </a:rPr>
              <a:t>INSIGHTS QUALITATIFS</a:t>
            </a:r>
          </a:p>
        </p:txBody>
      </p:sp>
      <p:sp>
        <p:nvSpPr>
          <p:cNvPr id="9" name="Rectangle 8"/>
          <p:cNvSpPr/>
          <p:nvPr/>
        </p:nvSpPr>
        <p:spPr>
          <a:xfrm>
            <a:off x="579120" y="181660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35152" y="202996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83792" y="204825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La plomberie clique le plus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5152" y="260908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 groupe plomberie atteint 1,43 fois le CTR moyen. L'annonce sur les colliers monobloc Nicoll atteint 2,35 fois.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5152" y="331012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Donner plus de place à la plomberie et au chauffe-eau dans la diffusion.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992368" y="181660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48400" y="202996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797040" y="204825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Les packs d'outils séduisent les pros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48400" y="260908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Les packs d'outils électroportatifs (Milwaukee, Makita, Dewalt…) atteignent 1,87 fois la moyenne, avec la livraison offerte dès 120 € HT.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48400" y="331012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Mettre en avant les packs chantier et la livraison offerte.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79120" y="413308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35152" y="434644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83792" y="436473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Les interrupteurs restent un point fort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5152" y="492556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Les commandes d'éclairage Schneider Odace atteignent 1,36 fois la moyenne.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5152" y="562660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Conserver l'électricité comme univers clé de la campagne.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992368" y="413308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48400" y="434644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797040" y="436473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Revoir les fiches produit génériques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248400" y="492556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Les annonces au format « Référence + Tout l'équipement pro au meilleur prix » restent sous la moyenne (veste haute visibilité 0,52 fois, radiateur 0,58 fois).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248400" y="562660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Décrire le bénéfice pour le chantier plutôt que la seule référence.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" y="121920"/>
            <a:ext cx="11612880" cy="8534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48768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RAPPORT DE PERFORMANCE · 01/09/2026 → 30/09/2026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640080"/>
            <a:ext cx="73152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111111"/>
                </a:solidFill>
                <a:latin typeface="Arial"/>
              </a:rPr>
              <a:t>Marshall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24800" y="591312"/>
            <a:ext cx="3304032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200" b="1" i="0">
                <a:solidFill>
                  <a:srgbClr val="8A93A6"/>
                </a:solidFill>
                <a:latin typeface="Arial"/>
              </a:rPr>
              <a:t>COMPARAISON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24800" y="780288"/>
            <a:ext cx="3304032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111111"/>
                </a:solidFill>
                <a:latin typeface="Arial"/>
              </a:rPr>
              <a:t>vs 01/08/2026 → 31/08/2026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DIFFUSION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38963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ENGAGEMENT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0819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CONVERSION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3035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3035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6446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IMPRESSIONS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446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498 934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446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+15 %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446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446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1 490 670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38963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238963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52374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CLICS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52374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1 862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52374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+88 %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52374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52374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3 995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24891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24891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38302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CTR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38302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0,37 %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38302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+0,14 pt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38302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38302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0,27 %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10819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10819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24230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CONVERSIONS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24230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N/C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24230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24230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24230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—</a:t>
            </a:r>
          </a:p>
        </p:txBody>
      </p:sp>
      <p:sp>
        <p:nvSpPr>
          <p:cNvPr id="39" name="Rectangle 38"/>
          <p:cNvSpPr/>
          <p:nvPr/>
        </p:nvSpPr>
        <p:spPr>
          <a:xfrm>
            <a:off x="796747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796747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10158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CVR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10158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N/C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10158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10158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10158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—</a:t>
            </a:r>
          </a:p>
        </p:txBody>
      </p:sp>
      <p:sp>
        <p:nvSpPr>
          <p:cNvPr id="46" name="Rectangle 45"/>
          <p:cNvSpPr/>
          <p:nvPr/>
        </p:nvSpPr>
        <p:spPr>
          <a:xfrm>
            <a:off x="982675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982675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996086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ROAS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96086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N/C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996086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96086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96086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—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30352" y="332232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INSIGHTS QUALITATIFS · ANALYSE DES RECHERCHES</a:t>
            </a:r>
          </a:p>
        </p:txBody>
      </p:sp>
      <p:sp>
        <p:nvSpPr>
          <p:cNvPr id="54" name="Rectangle 53"/>
          <p:cNvSpPr/>
          <p:nvPr/>
        </p:nvSpPr>
        <p:spPr>
          <a:xfrm>
            <a:off x="530352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4194048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7857744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774192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CHAMP LEXICAL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774192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Termes les plus fréquents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774192" y="4236720"/>
            <a:ext cx="298704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1800" b="1" i="0">
                <a:solidFill>
                  <a:srgbClr val="EE6A2C"/>
                </a:solidFill>
                <a:latin typeface="Arial"/>
              </a:rPr>
              <a:t>enceinte</a:t>
            </a:r>
            <a:r>
              <a:rPr sz="1600" b="1" i="0">
                <a:solidFill>
                  <a:srgbClr val="111111"/>
                </a:solidFill>
                <a:latin typeface="Arial"/>
              </a:rPr>
              <a:t>   casque</a:t>
            </a:r>
          </a:p>
          <a:p>
            <a:pPr algn="l">
              <a:spcAft>
                <a:spcPts val="500"/>
              </a:spcAft>
            </a:pPr>
            <a:r>
              <a:rPr sz="1500" b="1" i="0">
                <a:solidFill>
                  <a:srgbClr val="555B66"/>
                </a:solidFill>
                <a:latin typeface="Arial"/>
              </a:rPr>
              <a:t>platine vinyle</a:t>
            </a:r>
            <a:r>
              <a:rPr sz="1400" b="1" i="0">
                <a:solidFill>
                  <a:srgbClr val="111111"/>
                </a:solidFill>
                <a:latin typeface="Arial"/>
              </a:rPr>
              <a:t>   ampli</a:t>
            </a:r>
          </a:p>
          <a:p>
            <a:pPr algn="l">
              <a:spcAft>
                <a:spcPts val="500"/>
              </a:spcAft>
            </a:pPr>
            <a:r>
              <a:rPr sz="1300" b="1" i="0">
                <a:solidFill>
                  <a:srgbClr val="EE6A2C"/>
                </a:solidFill>
                <a:latin typeface="Arial"/>
              </a:rPr>
              <a:t>budget 200 €</a:t>
            </a:r>
            <a:r>
              <a:rPr sz="1200" b="0" i="0">
                <a:solidFill>
                  <a:srgbClr val="555B66"/>
                </a:solidFill>
                <a:latin typeface="Arial"/>
              </a:rPr>
              <a:t>   sans fil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EE6A2C"/>
                </a:solidFill>
                <a:latin typeface="Arial"/>
              </a:rPr>
              <a:t>home cinéma</a:t>
            </a:r>
            <a:r>
              <a:rPr sz="1100" b="1" i="0">
                <a:solidFill>
                  <a:srgbClr val="111111"/>
                </a:solidFill>
                <a:latin typeface="Arial"/>
              </a:rPr>
              <a:t>   DAB+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étudiant</a:t>
            </a:r>
            <a:r>
              <a:rPr sz="1100" b="0" i="0">
                <a:solidFill>
                  <a:srgbClr val="555B66"/>
                </a:solidFill>
                <a:latin typeface="Arial"/>
              </a:rPr>
              <a:t>   vacances</a:t>
            </a:r>
            <a:r>
              <a:rPr sz="1100" b="1" i="0">
                <a:solidFill>
                  <a:srgbClr val="EE6A2C"/>
                </a:solidFill>
                <a:latin typeface="Arial"/>
              </a:rPr>
              <a:t>   French Days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Sony</a:t>
            </a:r>
            <a:r>
              <a:rPr sz="1100" b="0" i="0">
                <a:solidFill>
                  <a:srgbClr val="555B66"/>
                </a:solidFill>
                <a:latin typeface="Arial"/>
              </a:rPr>
              <a:t>   JBL</a:t>
            </a:r>
            <a:r>
              <a:rPr sz="1100" b="0" i="0">
                <a:solidFill>
                  <a:srgbClr val="111111"/>
                </a:solidFill>
                <a:latin typeface="Arial"/>
              </a:rPr>
              <a:t>   Bose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4437888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EXEMPLES DE REQUÊTES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4437888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Questions posées aux IA</a:t>
            </a:r>
          </a:p>
        </p:txBody>
      </p:sp>
      <p:sp>
        <p:nvSpPr>
          <p:cNvPr id="62" name="Rectangle 61"/>
          <p:cNvSpPr/>
          <p:nvPr/>
        </p:nvSpPr>
        <p:spPr>
          <a:xfrm>
            <a:off x="4437888" y="426720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4559808" y="426720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4791456" y="426720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Une enceinte pour la radio et Deezer avec un bon son, budget max 550 €</a:t>
            </a:r>
          </a:p>
        </p:txBody>
      </p:sp>
      <p:sp>
        <p:nvSpPr>
          <p:cNvPr id="65" name="Rectangle 64"/>
          <p:cNvSpPr/>
          <p:nvPr/>
        </p:nvSpPr>
        <p:spPr>
          <a:xfrm>
            <a:off x="4437888" y="463296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4559808" y="463296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4791456" y="463296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Quel casque le plus approprié si je ne veux pas dépasser 200 € ?</a:t>
            </a:r>
          </a:p>
        </p:txBody>
      </p:sp>
      <p:sp>
        <p:nvSpPr>
          <p:cNvPr id="68" name="Rectangle 67"/>
          <p:cNvSpPr/>
          <p:nvPr/>
        </p:nvSpPr>
        <p:spPr>
          <a:xfrm>
            <a:off x="4437888" y="499872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4559808" y="499872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4791456" y="499872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Si je reste à 400 €, quelle platine sans enceintes ?</a:t>
            </a:r>
          </a:p>
        </p:txBody>
      </p:sp>
      <p:sp>
        <p:nvSpPr>
          <p:cNvPr id="71" name="Rectangle 70"/>
          <p:cNvSpPr/>
          <p:nvPr/>
        </p:nvSpPr>
        <p:spPr>
          <a:xfrm>
            <a:off x="4437888" y="536448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4559808" y="536448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4791456" y="536448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Ça vaut le coup d'acheter des écouteurs filaires aujourd'hui ?</a:t>
            </a:r>
          </a:p>
        </p:txBody>
      </p:sp>
      <p:sp>
        <p:nvSpPr>
          <p:cNvPr id="74" name="Rectangle 73"/>
          <p:cNvSpPr/>
          <p:nvPr/>
        </p:nvSpPr>
        <p:spPr>
          <a:xfrm>
            <a:off x="4437888" y="573024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4559808" y="573024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4791456" y="573024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Quelles sont les meilleures offres sur les enceintes pour les French Days ?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8101584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CATÉGORIES DE PRODUITS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8101584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Répartition des requêtes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10607040" y="4175760"/>
            <a:ext cx="51816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111111"/>
                </a:solidFill>
                <a:latin typeface="Arial"/>
              </a:rPr>
              <a:t>100%</a:t>
            </a:r>
          </a:p>
        </p:txBody>
      </p:sp>
      <p:sp>
        <p:nvSpPr>
          <p:cNvPr id="80" name="Rectangle 79"/>
          <p:cNvSpPr/>
          <p:nvPr/>
        </p:nvSpPr>
        <p:spPr>
          <a:xfrm>
            <a:off x="8077200" y="4407408"/>
            <a:ext cx="121920" cy="121920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8296656" y="4389120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Casques et réduction de bruit</a:t>
            </a:r>
          </a:p>
        </p:txBody>
      </p:sp>
      <p:sp>
        <p:nvSpPr>
          <p:cNvPr id="82" name="Rectangle 81"/>
          <p:cNvSpPr/>
          <p:nvPr/>
        </p:nvSpPr>
        <p:spPr>
          <a:xfrm>
            <a:off x="8077200" y="4675632"/>
            <a:ext cx="121920" cy="121920"/>
          </a:xfrm>
          <a:prstGeom prst="rect">
            <a:avLst/>
          </a:prstGeom>
          <a:solidFill>
            <a:srgbClr val="7A4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8296656" y="4657344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0">
                <a:solidFill>
                  <a:srgbClr val="111111"/>
                </a:solidFill>
                <a:latin typeface="Arial"/>
              </a:rPr>
              <a:t>Enceintes Bluetooth portables · 33 %</a:t>
            </a:r>
          </a:p>
        </p:txBody>
      </p:sp>
      <p:sp>
        <p:nvSpPr>
          <p:cNvPr id="84" name="Rectangle 83"/>
          <p:cNvSpPr/>
          <p:nvPr/>
        </p:nvSpPr>
        <p:spPr>
          <a:xfrm>
            <a:off x="8077200" y="4943856"/>
            <a:ext cx="121920" cy="121920"/>
          </a:xfrm>
          <a:prstGeom prst="rect">
            <a:avLst/>
          </a:prstGeom>
          <a:solidFill>
            <a:srgbClr val="EB9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8296656" y="4925568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Enceintes pour le salon · &lt; 1 %</a:t>
            </a:r>
          </a:p>
        </p:txBody>
      </p:sp>
      <p:sp>
        <p:nvSpPr>
          <p:cNvPr id="86" name="Rectangle 85"/>
          <p:cNvSpPr/>
          <p:nvPr/>
        </p:nvSpPr>
        <p:spPr>
          <a:xfrm>
            <a:off x="8077200" y="5212080"/>
            <a:ext cx="121920" cy="12192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8296656" y="5193792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Enceintes de soirée · 31 %</a:t>
            </a:r>
          </a:p>
        </p:txBody>
      </p:sp>
      <p:sp>
        <p:nvSpPr>
          <p:cNvPr id="88" name="Rectangle 87"/>
          <p:cNvSpPr/>
          <p:nvPr/>
        </p:nvSpPr>
        <p:spPr>
          <a:xfrm>
            <a:off x="10564368" y="4450080"/>
            <a:ext cx="475488" cy="482803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10564368" y="4450080"/>
            <a:ext cx="475488" cy="4828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Arial"/>
              </a:rPr>
              <a:t>36 %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10564368" y="4932883"/>
            <a:ext cx="475488" cy="442569"/>
          </a:xfrm>
          <a:prstGeom prst="rect">
            <a:avLst/>
          </a:prstGeom>
          <a:solidFill>
            <a:srgbClr val="7A4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10564368" y="4932883"/>
            <a:ext cx="475488" cy="44256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Arial"/>
              </a:rPr>
              <a:t>33 %</a:t>
            </a:r>
          </a:p>
        </p:txBody>
      </p:sp>
      <p:sp>
        <p:nvSpPr>
          <p:cNvPr id="92" name="Rectangle 91"/>
          <p:cNvSpPr/>
          <p:nvPr/>
        </p:nvSpPr>
        <p:spPr>
          <a:xfrm>
            <a:off x="10564368" y="5375452"/>
            <a:ext cx="475488" cy="0"/>
          </a:xfrm>
          <a:prstGeom prst="rect">
            <a:avLst/>
          </a:prstGeom>
          <a:solidFill>
            <a:srgbClr val="EB9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Rectangle 92"/>
          <p:cNvSpPr/>
          <p:nvPr/>
        </p:nvSpPr>
        <p:spPr>
          <a:xfrm>
            <a:off x="10564368" y="5375452"/>
            <a:ext cx="475488" cy="415747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TextBox 93"/>
          <p:cNvSpPr txBox="1"/>
          <p:nvPr/>
        </p:nvSpPr>
        <p:spPr>
          <a:xfrm>
            <a:off x="10564368" y="5375452"/>
            <a:ext cx="475488" cy="41574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Arial"/>
              </a:rPr>
              <a:t>31 %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" y="121920"/>
            <a:ext cx="11612880" cy="8534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79120" y="42672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INSIGHTS QUALITATIFS · SEPTEMBRE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79120" y="609600"/>
            <a:ext cx="73152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111111"/>
                </a:solidFill>
                <a:latin typeface="Arial"/>
              </a:rPr>
              <a:t>Marshall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0" y="499872"/>
            <a:ext cx="18897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111111"/>
                </a:solidFill>
                <a:latin typeface="Arial"/>
              </a:rPr>
              <a:t>Lemrock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9120" y="1219200"/>
            <a:ext cx="91440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OBJECTIF   </a:t>
            </a:r>
            <a:r>
              <a:rPr sz="1300" b="0" i="0">
                <a:solidFill>
                  <a:srgbClr val="111111"/>
                </a:solidFill>
                <a:latin typeface="Arial"/>
              </a:rPr>
              <a:t>À définir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9120" y="1524000"/>
            <a:ext cx="48768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555B66"/>
                </a:solidFill>
                <a:latin typeface="Arial"/>
              </a:rPr>
              <a:t>INSIGHTS QUALITATIFS</a:t>
            </a:r>
          </a:p>
        </p:txBody>
      </p:sp>
      <p:sp>
        <p:nvSpPr>
          <p:cNvPr id="9" name="Rectangle 8"/>
          <p:cNvSpPr/>
          <p:nvPr/>
        </p:nvSpPr>
        <p:spPr>
          <a:xfrm>
            <a:off x="579120" y="181660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35152" y="202996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83792" y="204825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Mettre en avant les enceintes Bluetooth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5152" y="260908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Les enceintes sans fil Bluetooth atteignent 1,28 fois le CTR moyen. L'Acton III atteint 1,79 fois et l'Emberton III 1,32 fois.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5152" y="331012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Donner plus de place aux enceintes Bluetooth dans la diffusion.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992368" y="181660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48400" y="202996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797040" y="204825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Revoir les enceintes de soirée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48400" y="260908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Les enceintes sono et DJ Bromley restent à 0,63 fois la moyenne, alors qu'elles représentent 19 % de la diffusion.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48400" y="331012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Réduire leur part ou les associer à un usage précis (fête, extérieur).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79120" y="413308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35152" y="434644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83792" y="436473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Le prix aide à cliquer sur les casques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5152" y="492556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 casque Major V avec son prix (149,99 €) atteint 1,44 fois la moyenne. Sans prix, le même casque reste à 0,76 fois.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5152" y="562660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Afficher le prix dans les annonces casques.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992368" y="413308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48400" y="434644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797040" y="436473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Les clics doublent presque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248400" y="492556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Les clics passent de 991 à 1 862 (+88 %). Le CTR passe de 0,23 % à 0,37 %.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248400" y="562660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Concentrer le budget sur les enceintes Bluetooth et les casques avec prix.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" y="121920"/>
            <a:ext cx="11612880" cy="8534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48768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RAPPORT DE PERFORMANCE · 01/09/2026 → 30/09/2026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640080"/>
            <a:ext cx="73152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111111"/>
                </a:solidFill>
                <a:latin typeface="Arial"/>
              </a:rPr>
              <a:t>Monoprix Mode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24800" y="591312"/>
            <a:ext cx="3304032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200" b="1" i="0">
                <a:solidFill>
                  <a:srgbClr val="8A93A6"/>
                </a:solidFill>
                <a:latin typeface="Arial"/>
              </a:rPr>
              <a:t>COMPARAISON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24800" y="780288"/>
            <a:ext cx="3304032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111111"/>
                </a:solidFill>
                <a:latin typeface="Arial"/>
              </a:rPr>
              <a:t>vs 01/08/2026 → 31/08/2026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DIFFUSION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38963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ENGAGEMENT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0819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CONVERSION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3035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3035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6446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IMPRESSIONS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446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752 119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446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B04837"/>
                </a:solidFill>
                <a:latin typeface="Arial"/>
              </a:rPr>
              <a:t>▼ −52 %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446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446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9 956 850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38963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238963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52374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CLICS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52374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3 608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52374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+24 %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52374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52374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19 420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24891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24891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38302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CTR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38302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0,48 %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38302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+0,29 pt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38302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38302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0,20 %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10819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10819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24230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CONVERSIONS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24230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24230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24230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24230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0</a:t>
            </a:r>
          </a:p>
        </p:txBody>
      </p:sp>
      <p:sp>
        <p:nvSpPr>
          <p:cNvPr id="39" name="Rectangle 38"/>
          <p:cNvSpPr/>
          <p:nvPr/>
        </p:nvSpPr>
        <p:spPr>
          <a:xfrm>
            <a:off x="796747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796747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10158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CVR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10158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0,00 %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10158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10158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10158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0,00 %</a:t>
            </a:r>
          </a:p>
        </p:txBody>
      </p:sp>
      <p:sp>
        <p:nvSpPr>
          <p:cNvPr id="46" name="Rectangle 45"/>
          <p:cNvSpPr/>
          <p:nvPr/>
        </p:nvSpPr>
        <p:spPr>
          <a:xfrm>
            <a:off x="982675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982675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996086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ROAS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96086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0,00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996086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96086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96086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0,00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30352" y="332232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INSIGHTS QUALITATIFS · ANALYSE DES RECHERCHES</a:t>
            </a:r>
          </a:p>
        </p:txBody>
      </p:sp>
      <p:sp>
        <p:nvSpPr>
          <p:cNvPr id="54" name="Rectangle 53"/>
          <p:cNvSpPr/>
          <p:nvPr/>
        </p:nvSpPr>
        <p:spPr>
          <a:xfrm>
            <a:off x="530352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4194048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7857744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774192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CHAMP LEXICAL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774192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Termes les plus fréquents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774192" y="4236720"/>
            <a:ext cx="298704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1800" b="1" i="0">
                <a:solidFill>
                  <a:srgbClr val="EE6A2C"/>
                </a:solidFill>
                <a:latin typeface="Arial"/>
              </a:rPr>
              <a:t>chaussures</a:t>
            </a:r>
            <a:r>
              <a:rPr sz="1600" b="1" i="0">
                <a:solidFill>
                  <a:srgbClr val="111111"/>
                </a:solidFill>
                <a:latin typeface="Arial"/>
              </a:rPr>
              <a:t>   jean</a:t>
            </a:r>
          </a:p>
          <a:p>
            <a:pPr algn="l">
              <a:spcAft>
                <a:spcPts val="500"/>
              </a:spcAft>
            </a:pPr>
            <a:r>
              <a:rPr sz="1500" b="1" i="0">
                <a:solidFill>
                  <a:srgbClr val="555B66"/>
                </a:solidFill>
                <a:latin typeface="Arial"/>
              </a:rPr>
              <a:t>robe</a:t>
            </a:r>
            <a:r>
              <a:rPr sz="1400" b="1" i="0">
                <a:solidFill>
                  <a:srgbClr val="111111"/>
                </a:solidFill>
                <a:latin typeface="Arial"/>
              </a:rPr>
              <a:t>   veste</a:t>
            </a:r>
          </a:p>
          <a:p>
            <a:pPr algn="l">
              <a:spcAft>
                <a:spcPts val="500"/>
              </a:spcAft>
            </a:pPr>
            <a:r>
              <a:rPr sz="1300" b="1" i="0">
                <a:solidFill>
                  <a:srgbClr val="EE6A2C"/>
                </a:solidFill>
                <a:latin typeface="Arial"/>
              </a:rPr>
              <a:t>mariage</a:t>
            </a:r>
            <a:r>
              <a:rPr sz="1200" b="0" i="0">
                <a:solidFill>
                  <a:srgbClr val="555B66"/>
                </a:solidFill>
                <a:latin typeface="Arial"/>
              </a:rPr>
              <a:t>   doudoune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EE6A2C"/>
                </a:solidFill>
                <a:latin typeface="Arial"/>
              </a:rPr>
              <a:t>montre connectée</a:t>
            </a:r>
            <a:r>
              <a:rPr sz="1100" b="1" i="0">
                <a:solidFill>
                  <a:srgbClr val="111111"/>
                </a:solidFill>
                <a:latin typeface="Arial"/>
              </a:rPr>
              <a:t>   rentrée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collants</a:t>
            </a:r>
            <a:r>
              <a:rPr sz="1100" b="0" i="0">
                <a:solidFill>
                  <a:srgbClr val="555B66"/>
                </a:solidFill>
                <a:latin typeface="Arial"/>
              </a:rPr>
              <a:t>   jupe midi</a:t>
            </a:r>
            <a:r>
              <a:rPr sz="1100" b="1" i="0">
                <a:solidFill>
                  <a:srgbClr val="EE6A2C"/>
                </a:solidFill>
                <a:latin typeface="Arial"/>
              </a:rPr>
              <a:t>   livraison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ensemble vichy</a:t>
            </a:r>
            <a:r>
              <a:rPr sz="1100" b="0" i="0">
                <a:solidFill>
                  <a:srgbClr val="555B66"/>
                </a:solidFill>
                <a:latin typeface="Arial"/>
              </a:rPr>
              <a:t>   ceinture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4437888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EXEMPLES DE REQUÊTES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4437888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Questions posées aux IA</a:t>
            </a:r>
          </a:p>
        </p:txBody>
      </p:sp>
      <p:sp>
        <p:nvSpPr>
          <p:cNvPr id="62" name="Rectangle 61"/>
          <p:cNvSpPr/>
          <p:nvPr/>
        </p:nvSpPr>
        <p:spPr>
          <a:xfrm>
            <a:off x="4437888" y="426720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4559808" y="426720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4791456" y="426720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Montre-moi des hauts ajustés pour accompagner ce jean gris</a:t>
            </a:r>
          </a:p>
        </p:txBody>
      </p:sp>
      <p:sp>
        <p:nvSpPr>
          <p:cNvPr id="65" name="Rectangle 64"/>
          <p:cNvSpPr/>
          <p:nvPr/>
        </p:nvSpPr>
        <p:spPr>
          <a:xfrm>
            <a:off x="4437888" y="463296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4559808" y="463296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4791456" y="463296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Quelle coupe de robe convient le mieux aux petites poitrines ?</a:t>
            </a:r>
          </a:p>
        </p:txBody>
      </p:sp>
      <p:sp>
        <p:nvSpPr>
          <p:cNvPr id="68" name="Rectangle 67"/>
          <p:cNvSpPr/>
          <p:nvPr/>
        </p:nvSpPr>
        <p:spPr>
          <a:xfrm>
            <a:off x="4437888" y="499872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4559808" y="499872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4791456" y="499872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Que choisir pour un look mariage avec un ensemble vichy ?</a:t>
            </a:r>
          </a:p>
        </p:txBody>
      </p:sp>
      <p:sp>
        <p:nvSpPr>
          <p:cNvPr id="71" name="Rectangle 70"/>
          <p:cNvSpPr/>
          <p:nvPr/>
        </p:nvSpPr>
        <p:spPr>
          <a:xfrm>
            <a:off x="4437888" y="536448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4559808" y="536448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4791456" y="536448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Quels collants opaques tu recommandes pour l'hiver ?</a:t>
            </a:r>
          </a:p>
        </p:txBody>
      </p:sp>
      <p:sp>
        <p:nvSpPr>
          <p:cNvPr id="74" name="Rectangle 73"/>
          <p:cNvSpPr/>
          <p:nvPr/>
        </p:nvSpPr>
        <p:spPr>
          <a:xfrm>
            <a:off x="4437888" y="573024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4559808" y="573024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4791456" y="573024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Où trouver ces Skechers et la livraison la plus rapide ?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8101584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CATÉGORIES DE PRODUITS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8101584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Répartition des requêtes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10607040" y="4175760"/>
            <a:ext cx="51816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111111"/>
                </a:solidFill>
                <a:latin typeface="Arial"/>
              </a:rPr>
              <a:t>100%</a:t>
            </a:r>
          </a:p>
        </p:txBody>
      </p:sp>
      <p:sp>
        <p:nvSpPr>
          <p:cNvPr id="80" name="Rectangle 79"/>
          <p:cNvSpPr/>
          <p:nvPr/>
        </p:nvSpPr>
        <p:spPr>
          <a:xfrm>
            <a:off x="8077200" y="4407408"/>
            <a:ext cx="121920" cy="121920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8296656" y="4389120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0">
                <a:solidFill>
                  <a:srgbClr val="111111"/>
                </a:solidFill>
                <a:latin typeface="Arial"/>
              </a:rPr>
              <a:t>Collants, chaussettes et sous-vêtements</a:t>
            </a:r>
          </a:p>
        </p:txBody>
      </p:sp>
      <p:sp>
        <p:nvSpPr>
          <p:cNvPr id="82" name="Rectangle 81"/>
          <p:cNvSpPr/>
          <p:nvPr/>
        </p:nvSpPr>
        <p:spPr>
          <a:xfrm>
            <a:off x="8077200" y="4675632"/>
            <a:ext cx="121920" cy="121920"/>
          </a:xfrm>
          <a:prstGeom prst="rect">
            <a:avLst/>
          </a:prstGeom>
          <a:solidFill>
            <a:srgbClr val="7A4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8296656" y="4657344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0">
                <a:solidFill>
                  <a:srgbClr val="111111"/>
                </a:solidFill>
                <a:latin typeface="Arial"/>
              </a:rPr>
              <a:t>Petit équipement domestique · 15 %</a:t>
            </a:r>
          </a:p>
        </p:txBody>
      </p:sp>
      <p:sp>
        <p:nvSpPr>
          <p:cNvPr id="84" name="Rectangle 83"/>
          <p:cNvSpPr/>
          <p:nvPr/>
        </p:nvSpPr>
        <p:spPr>
          <a:xfrm>
            <a:off x="8077200" y="4943856"/>
            <a:ext cx="121920" cy="121920"/>
          </a:xfrm>
          <a:prstGeom prst="rect">
            <a:avLst/>
          </a:prstGeom>
          <a:solidFill>
            <a:srgbClr val="EB9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8296656" y="4925568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0">
                <a:solidFill>
                  <a:srgbClr val="111111"/>
                </a:solidFill>
                <a:latin typeface="Arial"/>
              </a:rPr>
              <a:t>Papeterie scolaire et créative · 23 %</a:t>
            </a:r>
          </a:p>
        </p:txBody>
      </p:sp>
      <p:sp>
        <p:nvSpPr>
          <p:cNvPr id="86" name="Rectangle 85"/>
          <p:cNvSpPr/>
          <p:nvPr/>
        </p:nvSpPr>
        <p:spPr>
          <a:xfrm>
            <a:off x="8077200" y="5212080"/>
            <a:ext cx="121920" cy="12192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8296656" y="5193792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0">
                <a:solidFill>
                  <a:srgbClr val="111111"/>
                </a:solidFill>
                <a:latin typeface="Arial"/>
              </a:rPr>
              <a:t>Vêtements et linge pour bébé · 18 %</a:t>
            </a:r>
          </a:p>
        </p:txBody>
      </p:sp>
      <p:sp>
        <p:nvSpPr>
          <p:cNvPr id="88" name="Rectangle 87"/>
          <p:cNvSpPr/>
          <p:nvPr/>
        </p:nvSpPr>
        <p:spPr>
          <a:xfrm>
            <a:off x="10564368" y="4450080"/>
            <a:ext cx="475488" cy="590092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10564368" y="4450080"/>
            <a:ext cx="475488" cy="5900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Arial"/>
              </a:rPr>
              <a:t>44 %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10564368" y="5040172"/>
            <a:ext cx="475488" cy="201168"/>
          </a:xfrm>
          <a:prstGeom prst="rect">
            <a:avLst/>
          </a:prstGeom>
          <a:solidFill>
            <a:srgbClr val="7A4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Rectangle 90"/>
          <p:cNvSpPr/>
          <p:nvPr/>
        </p:nvSpPr>
        <p:spPr>
          <a:xfrm>
            <a:off x="10564368" y="5241340"/>
            <a:ext cx="475488" cy="308457"/>
          </a:xfrm>
          <a:prstGeom prst="rect">
            <a:avLst/>
          </a:prstGeom>
          <a:solidFill>
            <a:srgbClr val="EB9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Rectangle 91"/>
          <p:cNvSpPr/>
          <p:nvPr/>
        </p:nvSpPr>
        <p:spPr>
          <a:xfrm>
            <a:off x="10564368" y="5549798"/>
            <a:ext cx="475488" cy="241401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" y="121920"/>
            <a:ext cx="11612880" cy="8534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79120" y="42672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INSIGHTS QUALITATIFS · SEPTEMBRE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79120" y="609600"/>
            <a:ext cx="73152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111111"/>
                </a:solidFill>
                <a:latin typeface="Arial"/>
              </a:rPr>
              <a:t>Monoprix Mode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0" y="499872"/>
            <a:ext cx="18897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111111"/>
                </a:solidFill>
                <a:latin typeface="Arial"/>
              </a:rPr>
              <a:t>Lemrock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9120" y="1219200"/>
            <a:ext cx="91440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OBJECTIF   </a:t>
            </a:r>
            <a:r>
              <a:rPr sz="1300" b="0" i="0">
                <a:solidFill>
                  <a:srgbClr val="111111"/>
                </a:solidFill>
                <a:latin typeface="Arial"/>
              </a:rPr>
              <a:t>À définir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9120" y="1524000"/>
            <a:ext cx="48768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555B66"/>
                </a:solidFill>
                <a:latin typeface="Arial"/>
              </a:rPr>
              <a:t>INSIGHTS QUALITATIFS</a:t>
            </a:r>
          </a:p>
        </p:txBody>
      </p:sp>
      <p:sp>
        <p:nvSpPr>
          <p:cNvPr id="9" name="Rectangle 8"/>
          <p:cNvSpPr/>
          <p:nvPr/>
        </p:nvSpPr>
        <p:spPr>
          <a:xfrm>
            <a:off x="579120" y="181660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35152" y="202996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83792" y="204825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Les collants restent le point fort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5152" y="260908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Les collants Sublim DIM et les bas nylon atteignent jusqu'à 1,26 fois le CTR moyen.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5152" y="331012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Garder les collants au cœur de la campagne, surtout avec l'arrivée du froid.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992368" y="181660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48400" y="202996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797040" y="204825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La papeterie scolaire surprend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48400" y="260908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Les pochettes de papier à dessin Canson atteignent 1,23 fois la moyenne, et les fournitures scolaires 1,15 fois.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48400" y="331012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Profiter de la rentrée pour garder la papeterie dans la diffusion.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79120" y="413308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35152" y="434644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83792" y="436473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Revoir la lingerie et le linge de maison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5152" y="492556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Les lots de slips DIM (0,86 fois) et le drap housse bio (0,77 fois) restent sous la moyenne.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5152" y="562660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Mettre en avant un bénéfice concret (confort, maintien) plutôt que le lot.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992368" y="413308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48400" y="434644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797040" y="436473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Moins d'impressions, plus de clics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248400" y="492556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Les impressions baissent de 52 % mais les clics progressent de 24 %. Le CTR passe de 0,19 % à 0,48 %.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248400" y="562660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Vérifier le tracking des conversions.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" y="121920"/>
            <a:ext cx="11612880" cy="8534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48768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RAPPORT DE PERFORMANCE · 01/09/2026 → 30/09/2026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640080"/>
            <a:ext cx="73152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111111"/>
                </a:solidFill>
                <a:latin typeface="Arial"/>
              </a:rPr>
              <a:t>Pierre &amp; Vacances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24800" y="591312"/>
            <a:ext cx="3304032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200" b="1" i="0">
                <a:solidFill>
                  <a:srgbClr val="8A93A6"/>
                </a:solidFill>
                <a:latin typeface="Arial"/>
              </a:rPr>
              <a:t>COMPARAISON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24800" y="780288"/>
            <a:ext cx="3304032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111111"/>
                </a:solidFill>
                <a:latin typeface="Arial"/>
              </a:rPr>
              <a:t>vs 01/08/2026 → 31/08/2026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DIFFUSION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38963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ENGAGEMENT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0819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CONVERSION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3035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3035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6446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IMPRESSIONS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446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638 950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446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446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446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638 950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38963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238963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52374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CLICS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52374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3 144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52374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52374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52374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3 144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24891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24891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38302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CTR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38302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0,49 %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38302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38302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38302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0,49 %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10819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10819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24230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CONVERSIONS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24230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N/C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24230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24230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24230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—</a:t>
            </a:r>
          </a:p>
        </p:txBody>
      </p:sp>
      <p:sp>
        <p:nvSpPr>
          <p:cNvPr id="39" name="Rectangle 38"/>
          <p:cNvSpPr/>
          <p:nvPr/>
        </p:nvSpPr>
        <p:spPr>
          <a:xfrm>
            <a:off x="796747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796747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10158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CVR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10158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N/C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10158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10158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10158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—</a:t>
            </a:r>
          </a:p>
        </p:txBody>
      </p:sp>
      <p:sp>
        <p:nvSpPr>
          <p:cNvPr id="46" name="Rectangle 45"/>
          <p:cNvSpPr/>
          <p:nvPr/>
        </p:nvSpPr>
        <p:spPr>
          <a:xfrm>
            <a:off x="982675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982675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996086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ROAS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96086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N/C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996086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96086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96086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—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30352" y="332232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INSIGHTS QUALITATIFS · ANALYSE DES RECHERCHES</a:t>
            </a:r>
          </a:p>
        </p:txBody>
      </p:sp>
      <p:sp>
        <p:nvSpPr>
          <p:cNvPr id="54" name="Rectangle 53"/>
          <p:cNvSpPr/>
          <p:nvPr/>
        </p:nvSpPr>
        <p:spPr>
          <a:xfrm>
            <a:off x="530352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4194048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7857744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774192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CHAMP LEXICAL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774192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Termes les plus fréquents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774192" y="4236720"/>
            <a:ext cx="298704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1800" b="1" i="0">
                <a:solidFill>
                  <a:srgbClr val="EE6A2C"/>
                </a:solidFill>
                <a:latin typeface="Arial"/>
              </a:rPr>
              <a:t>départ en vacances</a:t>
            </a:r>
            <a:r>
              <a:rPr sz="1600" b="1" i="0">
                <a:solidFill>
                  <a:srgbClr val="111111"/>
                </a:solidFill>
                <a:latin typeface="Arial"/>
              </a:rPr>
              <a:t>   résidence</a:t>
            </a:r>
          </a:p>
          <a:p>
            <a:pPr algn="l">
              <a:spcAft>
                <a:spcPts val="500"/>
              </a:spcAft>
            </a:pPr>
            <a:r>
              <a:rPr sz="1500" b="1" i="0">
                <a:solidFill>
                  <a:srgbClr val="555B66"/>
                </a:solidFill>
                <a:latin typeface="Arial"/>
              </a:rPr>
              <a:t>Airbnb</a:t>
            </a:r>
            <a:r>
              <a:rPr sz="1400" b="1" i="0">
                <a:solidFill>
                  <a:srgbClr val="111111"/>
                </a:solidFill>
                <a:latin typeface="Arial"/>
              </a:rPr>
              <a:t>   Booking</a:t>
            </a:r>
          </a:p>
          <a:p>
            <a:pPr algn="l">
              <a:spcAft>
                <a:spcPts val="500"/>
              </a:spcAft>
            </a:pPr>
            <a:r>
              <a:rPr sz="1300" b="1" i="0">
                <a:solidFill>
                  <a:srgbClr val="EE6A2C"/>
                </a:solidFill>
                <a:latin typeface="Arial"/>
              </a:rPr>
              <a:t>Gîtes de France</a:t>
            </a:r>
            <a:r>
              <a:rPr sz="1200" b="0" i="0">
                <a:solidFill>
                  <a:srgbClr val="555B66"/>
                </a:solidFill>
                <a:latin typeface="Arial"/>
              </a:rPr>
              <a:t>   Abritel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EE6A2C"/>
                </a:solidFill>
                <a:latin typeface="Arial"/>
              </a:rPr>
              <a:t>vie en van</a:t>
            </a:r>
            <a:r>
              <a:rPr sz="1100" b="1" i="0">
                <a:solidFill>
                  <a:srgbClr val="111111"/>
                </a:solidFill>
                <a:latin typeface="Arial"/>
              </a:rPr>
              <a:t>   Odalys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Club Med</a:t>
            </a:r>
            <a:r>
              <a:rPr sz="1100" b="0" i="0">
                <a:solidFill>
                  <a:srgbClr val="555B66"/>
                </a:solidFill>
                <a:latin typeface="Arial"/>
              </a:rPr>
              <a:t>   Center Parcs</a:t>
            </a:r>
            <a:r>
              <a:rPr sz="1100" b="0" i="0">
                <a:solidFill>
                  <a:srgbClr val="EE6A2C"/>
                </a:solidFill>
                <a:latin typeface="Arial"/>
              </a:rPr>
              <a:t>   Lagrange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Maeva</a:t>
            </a:r>
            <a:r>
              <a:rPr sz="1100" b="0" i="0">
                <a:solidFill>
                  <a:srgbClr val="555B66"/>
                </a:solidFill>
                <a:latin typeface="Arial"/>
              </a:rPr>
              <a:t>   VVF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4437888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EXEMPLES DE REQUÊTES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4437888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Questions posées aux IA</a:t>
            </a:r>
          </a:p>
        </p:txBody>
      </p:sp>
      <p:sp>
        <p:nvSpPr>
          <p:cNvPr id="62" name="Rectangle 61"/>
          <p:cNvSpPr/>
          <p:nvPr/>
        </p:nvSpPr>
        <p:spPr>
          <a:xfrm>
            <a:off x="4437888" y="426720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4559808" y="426720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4791456" y="426720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Comment choisir un sac cabine conforme aux dimensions des compagnies ?</a:t>
            </a:r>
          </a:p>
        </p:txBody>
      </p:sp>
      <p:sp>
        <p:nvSpPr>
          <p:cNvPr id="65" name="Rectangle 64"/>
          <p:cNvSpPr/>
          <p:nvPr/>
        </p:nvSpPr>
        <p:spPr>
          <a:xfrm>
            <a:off x="4437888" y="463296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4559808" y="463296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4791456" y="463296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Quel sac choisir pour combo randonnée et ski de rando ?</a:t>
            </a:r>
          </a:p>
        </p:txBody>
      </p:sp>
      <p:sp>
        <p:nvSpPr>
          <p:cNvPr id="68" name="Rectangle 67"/>
          <p:cNvSpPr/>
          <p:nvPr/>
        </p:nvSpPr>
        <p:spPr>
          <a:xfrm>
            <a:off x="4437888" y="499872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4559808" y="499872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4791456" y="499872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Comment organiser une trousse de toilette conforme aux règles de sécurité ?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8101584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CATÉGORIES DE PRODUITS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101584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Répartition des requêtes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10607040" y="4175760"/>
            <a:ext cx="51816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111111"/>
                </a:solidFill>
                <a:latin typeface="Arial"/>
              </a:rPr>
              <a:t>100%</a:t>
            </a:r>
          </a:p>
        </p:txBody>
      </p:sp>
      <p:sp>
        <p:nvSpPr>
          <p:cNvPr id="74" name="Rectangle 73"/>
          <p:cNvSpPr/>
          <p:nvPr/>
        </p:nvSpPr>
        <p:spPr>
          <a:xfrm>
            <a:off x="8077200" y="4407408"/>
            <a:ext cx="121920" cy="121920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8296656" y="4389120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0">
                <a:solidFill>
                  <a:srgbClr val="111111"/>
                </a:solidFill>
                <a:latin typeface="Arial"/>
              </a:rPr>
              <a:t>Location de vacances France et Europe</a:t>
            </a:r>
          </a:p>
        </p:txBody>
      </p:sp>
      <p:sp>
        <p:nvSpPr>
          <p:cNvPr id="76" name="Rectangle 75"/>
          <p:cNvSpPr/>
          <p:nvPr/>
        </p:nvSpPr>
        <p:spPr>
          <a:xfrm>
            <a:off x="8077200" y="4675632"/>
            <a:ext cx="121920" cy="121920"/>
          </a:xfrm>
          <a:prstGeom prst="rect">
            <a:avLst/>
          </a:prstGeom>
          <a:solidFill>
            <a:srgbClr val="7A4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8296656" y="4657344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Séjours montagne en hiver · 50 %</a:t>
            </a:r>
          </a:p>
        </p:txBody>
      </p:sp>
      <p:sp>
        <p:nvSpPr>
          <p:cNvPr id="78" name="Rectangle 77"/>
          <p:cNvSpPr/>
          <p:nvPr/>
        </p:nvSpPr>
        <p:spPr>
          <a:xfrm>
            <a:off x="10564368" y="4450080"/>
            <a:ext cx="475488" cy="670560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10564368" y="4450080"/>
            <a:ext cx="475488" cy="670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Arial"/>
              </a:rPr>
              <a:t>50 %</a:t>
            </a:r>
          </a:p>
        </p:txBody>
      </p:sp>
      <p:sp>
        <p:nvSpPr>
          <p:cNvPr id="80" name="Rectangle 79"/>
          <p:cNvSpPr/>
          <p:nvPr/>
        </p:nvSpPr>
        <p:spPr>
          <a:xfrm>
            <a:off x="10564368" y="5120640"/>
            <a:ext cx="475488" cy="670560"/>
          </a:xfrm>
          <a:prstGeom prst="rect">
            <a:avLst/>
          </a:prstGeom>
          <a:solidFill>
            <a:srgbClr val="7A4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10564368" y="5120640"/>
            <a:ext cx="475488" cy="670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Arial"/>
              </a:rPr>
              <a:t>50 %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" y="121920"/>
            <a:ext cx="11612880" cy="8534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79120" y="42672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INSIGHTS QUALITATIFS · SEPTEMBRE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79120" y="609600"/>
            <a:ext cx="73152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111111"/>
                </a:solidFill>
                <a:latin typeface="Arial"/>
              </a:rPr>
              <a:t>Pierre &amp; Vacances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0" y="499872"/>
            <a:ext cx="18897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111111"/>
                </a:solidFill>
                <a:latin typeface="Arial"/>
              </a:rPr>
              <a:t>Lemrock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9120" y="1219200"/>
            <a:ext cx="91440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OBJECTIF   </a:t>
            </a:r>
            <a:r>
              <a:rPr sz="1300" b="0" i="0">
                <a:solidFill>
                  <a:srgbClr val="111111"/>
                </a:solidFill>
                <a:latin typeface="Arial"/>
              </a:rPr>
              <a:t>À définir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9120" y="1524000"/>
            <a:ext cx="48768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555B66"/>
                </a:solidFill>
                <a:latin typeface="Arial"/>
              </a:rPr>
              <a:t>INSIGHTS QUALITATIFS</a:t>
            </a:r>
          </a:p>
        </p:txBody>
      </p:sp>
      <p:sp>
        <p:nvSpPr>
          <p:cNvPr id="9" name="Rectangle 8"/>
          <p:cNvSpPr/>
          <p:nvPr/>
        </p:nvSpPr>
        <p:spPr>
          <a:xfrm>
            <a:off x="579120" y="181660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35152" y="202996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83792" y="204825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Deux annonces au même niveau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5152" y="260908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L'annonce location France et Europe (1,03 fois le CTR moyen) et l'annonce montagne en hiver (0,97 fois) se partagent la diffusion à parts égales.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5152" y="331012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Ajouter des annonces par destination pour identifier ce qui clique le plus.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992368" y="181660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48400" y="202996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797040" y="204825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Préparer la saison d'hiver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48400" y="260908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La moitié de la diffusion porte déjà sur les séjours à la montagne cet hiver.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48400" y="331012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Mettre en avant les résidences près des pistes pour les vacances de Noël et d'hiver.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79120" y="413308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35152" y="434644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83792" y="436473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91 % des conversations partent d'un départ en vacances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5152" y="492556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 départ en vacances déclenche presque toutes les conversations du secteur.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5152" y="562660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Associer chaque résidence à une période de départ : Noël, vacances d'hiver, week-ends prolongés.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992368" y="413308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48400" y="434644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797040" y="436473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Un premier mois encourageant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248400" y="492556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Lancée le 15/09, la campagne génère 3 144 clics en 16 jours, pour un CTR de 0,49 %.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248400" y="562660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Poursuivre la diffusion sur la saison d'hiver.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" y="121920"/>
            <a:ext cx="11612880" cy="8534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48768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RAPPORT DE PERFORMANCE · 01/09/2026 → 30/09/2026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640080"/>
            <a:ext cx="73152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111111"/>
                </a:solidFill>
                <a:latin typeface="Arial"/>
              </a:rPr>
              <a:t>Pour de Bon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24800" y="591312"/>
            <a:ext cx="3304032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200" b="1" i="0">
                <a:solidFill>
                  <a:srgbClr val="8A93A6"/>
                </a:solidFill>
                <a:latin typeface="Arial"/>
              </a:rPr>
              <a:t>COMPARAISON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24800" y="780288"/>
            <a:ext cx="3304032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111111"/>
                </a:solidFill>
                <a:latin typeface="Arial"/>
              </a:rPr>
              <a:t>vs 01/08/2026 → 31/08/2026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DIFFUSION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38963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ENGAGEMENT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0819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CONVERSION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3035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3035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6446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IMPRESSIONS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446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701 502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446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B04837"/>
                </a:solidFill>
                <a:latin typeface="Arial"/>
              </a:rPr>
              <a:t>▼ −31 %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446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446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2 476 488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38963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238963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52374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CLICS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52374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3 334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52374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+32 %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52374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52374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7 502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24891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24891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38302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CTR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38302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0,48 %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38302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+0,23 pt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38302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38302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0,30 %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10819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10819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24230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CONVERSIONS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24230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N/C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24230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24230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24230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—</a:t>
            </a:r>
          </a:p>
        </p:txBody>
      </p:sp>
      <p:sp>
        <p:nvSpPr>
          <p:cNvPr id="39" name="Rectangle 38"/>
          <p:cNvSpPr/>
          <p:nvPr/>
        </p:nvSpPr>
        <p:spPr>
          <a:xfrm>
            <a:off x="796747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796747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10158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CVR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10158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N/C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10158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10158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10158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—</a:t>
            </a:r>
          </a:p>
        </p:txBody>
      </p:sp>
      <p:sp>
        <p:nvSpPr>
          <p:cNvPr id="46" name="Rectangle 45"/>
          <p:cNvSpPr/>
          <p:nvPr/>
        </p:nvSpPr>
        <p:spPr>
          <a:xfrm>
            <a:off x="982675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982675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996086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ROAS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96086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N/C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996086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96086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96086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—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30352" y="332232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INSIGHTS QUALITATIFS · ANALYSE DES RECHERCHES</a:t>
            </a:r>
          </a:p>
        </p:txBody>
      </p:sp>
      <p:sp>
        <p:nvSpPr>
          <p:cNvPr id="54" name="Rectangle 53"/>
          <p:cNvSpPr/>
          <p:nvPr/>
        </p:nvSpPr>
        <p:spPr>
          <a:xfrm>
            <a:off x="530352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4194048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7857744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774192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CHAMP LEXICAL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774192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Termes les plus fréquents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774192" y="4236720"/>
            <a:ext cx="298704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1800" b="1" i="0">
                <a:solidFill>
                  <a:srgbClr val="EE6A2C"/>
                </a:solidFill>
                <a:latin typeface="Arial"/>
              </a:rPr>
              <a:t>sans additifs</a:t>
            </a:r>
            <a:r>
              <a:rPr sz="1600" b="1" i="0">
                <a:solidFill>
                  <a:srgbClr val="111111"/>
                </a:solidFill>
                <a:latin typeface="Arial"/>
              </a:rPr>
              <a:t>   étiquette</a:t>
            </a:r>
          </a:p>
          <a:p>
            <a:pPr algn="l">
              <a:spcAft>
                <a:spcPts val="500"/>
              </a:spcAft>
            </a:pPr>
            <a:r>
              <a:rPr sz="1500" b="1" i="0">
                <a:solidFill>
                  <a:srgbClr val="555B66"/>
                </a:solidFill>
                <a:latin typeface="Arial"/>
              </a:rPr>
              <a:t>fleur de sel</a:t>
            </a:r>
            <a:r>
              <a:rPr sz="1400" b="1" i="0">
                <a:solidFill>
                  <a:srgbClr val="111111"/>
                </a:solidFill>
                <a:latin typeface="Arial"/>
              </a:rPr>
              <a:t>   huile d'olive</a:t>
            </a:r>
          </a:p>
          <a:p>
            <a:pPr algn="l">
              <a:spcAft>
                <a:spcPts val="500"/>
              </a:spcAft>
            </a:pPr>
            <a:r>
              <a:rPr sz="1300" b="1" i="0">
                <a:solidFill>
                  <a:srgbClr val="EE6A2C"/>
                </a:solidFill>
                <a:latin typeface="Arial"/>
              </a:rPr>
              <a:t>fromage</a:t>
            </a:r>
            <a:r>
              <a:rPr sz="1200" b="0" i="0">
                <a:solidFill>
                  <a:srgbClr val="555B66"/>
                </a:solidFill>
                <a:latin typeface="Arial"/>
              </a:rPr>
              <a:t>   épices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EE6A2C"/>
                </a:solidFill>
                <a:latin typeface="Arial"/>
              </a:rPr>
              <a:t>bio</a:t>
            </a:r>
            <a:r>
              <a:rPr sz="1100" b="1" i="0">
                <a:solidFill>
                  <a:srgbClr val="111111"/>
                </a:solidFill>
                <a:latin typeface="Arial"/>
              </a:rPr>
              <a:t>   chocolat 70 %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frais de livraison</a:t>
            </a:r>
            <a:r>
              <a:rPr sz="1100" b="0" i="0">
                <a:solidFill>
                  <a:srgbClr val="555B66"/>
                </a:solidFill>
                <a:latin typeface="Arial"/>
              </a:rPr>
              <a:t>   vinaigre</a:t>
            </a:r>
            <a:r>
              <a:rPr sz="1100" b="1" i="0">
                <a:solidFill>
                  <a:srgbClr val="EE6A2C"/>
                </a:solidFill>
                <a:latin typeface="Arial"/>
              </a:rPr>
              <a:t>   comté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Picard</a:t>
            </a:r>
            <a:r>
              <a:rPr sz="1100" b="0" i="0">
                <a:solidFill>
                  <a:srgbClr val="555B66"/>
                </a:solidFill>
                <a:latin typeface="Arial"/>
              </a:rPr>
              <a:t>   La Grande Épicerie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4437888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EXEMPLES DE REQUÊTES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4437888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Questions posées aux IA</a:t>
            </a:r>
          </a:p>
        </p:txBody>
      </p:sp>
      <p:sp>
        <p:nvSpPr>
          <p:cNvPr id="62" name="Rectangle 61"/>
          <p:cNvSpPr/>
          <p:nvPr/>
        </p:nvSpPr>
        <p:spPr>
          <a:xfrm>
            <a:off x="4437888" y="426720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4559808" y="426720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4791456" y="426720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Comment repérer une vraie tablette sans additifs sur l'étiquette ?</a:t>
            </a:r>
          </a:p>
        </p:txBody>
      </p:sp>
      <p:sp>
        <p:nvSpPr>
          <p:cNvPr id="65" name="Rectangle 64"/>
          <p:cNvSpPr/>
          <p:nvPr/>
        </p:nvSpPr>
        <p:spPr>
          <a:xfrm>
            <a:off x="4437888" y="463296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4559808" y="463296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4791456" y="463296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Le sel marin, fleur de sel : c'est juste du marketing ?</a:t>
            </a:r>
          </a:p>
        </p:txBody>
      </p:sp>
      <p:sp>
        <p:nvSpPr>
          <p:cNvPr id="68" name="Rectangle 67"/>
          <p:cNvSpPr/>
          <p:nvPr/>
        </p:nvSpPr>
        <p:spPr>
          <a:xfrm>
            <a:off x="4437888" y="499872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4559808" y="499872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4791456" y="499872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Les mentions « vierge extra » sont-elles vraiment fiables ?</a:t>
            </a:r>
          </a:p>
        </p:txBody>
      </p:sp>
      <p:sp>
        <p:nvSpPr>
          <p:cNvPr id="71" name="Rectangle 70"/>
          <p:cNvSpPr/>
          <p:nvPr/>
        </p:nvSpPr>
        <p:spPr>
          <a:xfrm>
            <a:off x="4437888" y="536448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4559808" y="536448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4791456" y="536448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Où je peux l'acheter en ligne et y a-t-il des frais de livraison ?</a:t>
            </a:r>
          </a:p>
        </p:txBody>
      </p:sp>
      <p:sp>
        <p:nvSpPr>
          <p:cNvPr id="74" name="Rectangle 73"/>
          <p:cNvSpPr/>
          <p:nvPr/>
        </p:nvSpPr>
        <p:spPr>
          <a:xfrm>
            <a:off x="4437888" y="573024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4559808" y="573024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4791456" y="573024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Comment savoir si un chocolat est vraiment bio ou équitable ?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8101584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CATÉGORIES DE PRODUITS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8101584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Répartition des requêtes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10607040" y="4175760"/>
            <a:ext cx="51816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111111"/>
                </a:solidFill>
                <a:latin typeface="Arial"/>
              </a:rPr>
              <a:t>100%</a:t>
            </a:r>
          </a:p>
        </p:txBody>
      </p:sp>
      <p:sp>
        <p:nvSpPr>
          <p:cNvPr id="80" name="Rectangle 79"/>
          <p:cNvSpPr/>
          <p:nvPr/>
        </p:nvSpPr>
        <p:spPr>
          <a:xfrm>
            <a:off x="8077200" y="4407408"/>
            <a:ext cx="121920" cy="121920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8296656" y="4389120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0">
                <a:solidFill>
                  <a:srgbClr val="111111"/>
                </a:solidFill>
                <a:latin typeface="Arial"/>
              </a:rPr>
              <a:t>Viandes, volailles et charcuterie · 19 %</a:t>
            </a:r>
          </a:p>
        </p:txBody>
      </p:sp>
      <p:sp>
        <p:nvSpPr>
          <p:cNvPr id="82" name="Rectangle 81"/>
          <p:cNvSpPr/>
          <p:nvPr/>
        </p:nvSpPr>
        <p:spPr>
          <a:xfrm>
            <a:off x="8077200" y="4675632"/>
            <a:ext cx="121920" cy="121920"/>
          </a:xfrm>
          <a:prstGeom prst="rect">
            <a:avLst/>
          </a:prstGeom>
          <a:solidFill>
            <a:srgbClr val="7A4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8296656" y="4657344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0">
                <a:solidFill>
                  <a:srgbClr val="111111"/>
                </a:solidFill>
                <a:latin typeface="Arial"/>
              </a:rPr>
              <a:t>Champagnes, vins et cadeaux · 31 %</a:t>
            </a:r>
          </a:p>
        </p:txBody>
      </p:sp>
      <p:sp>
        <p:nvSpPr>
          <p:cNvPr id="84" name="Rectangle 83"/>
          <p:cNvSpPr/>
          <p:nvPr/>
        </p:nvSpPr>
        <p:spPr>
          <a:xfrm>
            <a:off x="8077200" y="4943856"/>
            <a:ext cx="121920" cy="121920"/>
          </a:xfrm>
          <a:prstGeom prst="rect">
            <a:avLst/>
          </a:prstGeom>
          <a:solidFill>
            <a:srgbClr val="EB9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8296656" y="4925568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0">
                <a:solidFill>
                  <a:srgbClr val="111111"/>
                </a:solidFill>
                <a:latin typeface="Arial"/>
              </a:rPr>
              <a:t>Poissons et produits de la mer · 18 %</a:t>
            </a:r>
          </a:p>
        </p:txBody>
      </p:sp>
      <p:sp>
        <p:nvSpPr>
          <p:cNvPr id="86" name="Rectangle 85"/>
          <p:cNvSpPr/>
          <p:nvPr/>
        </p:nvSpPr>
        <p:spPr>
          <a:xfrm>
            <a:off x="8077200" y="5212080"/>
            <a:ext cx="121920" cy="12192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8296656" y="5193792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0">
                <a:solidFill>
                  <a:srgbClr val="111111"/>
                </a:solidFill>
                <a:latin typeface="Arial"/>
              </a:rPr>
              <a:t>Fromages et produits laitiers · 16 %</a:t>
            </a:r>
          </a:p>
        </p:txBody>
      </p:sp>
      <p:sp>
        <p:nvSpPr>
          <p:cNvPr id="88" name="Rectangle 87"/>
          <p:cNvSpPr/>
          <p:nvPr/>
        </p:nvSpPr>
        <p:spPr>
          <a:xfrm>
            <a:off x="8077200" y="5480304"/>
            <a:ext cx="121920" cy="121920"/>
          </a:xfrm>
          <a:prstGeom prst="rect">
            <a:avLst/>
          </a:prstGeom>
          <a:solidFill>
            <a:srgbClr val="3E5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8296656" y="5462016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Épicerie sucrée et miel · 11 %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8077200" y="5748528"/>
            <a:ext cx="121920" cy="121920"/>
          </a:xfrm>
          <a:prstGeom prst="rect">
            <a:avLst/>
          </a:prstGeom>
          <a:solidFill>
            <a:srgbClr val="A092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8296656" y="5730240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0">
                <a:solidFill>
                  <a:srgbClr val="111111"/>
                </a:solidFill>
                <a:latin typeface="Arial"/>
              </a:rPr>
              <a:t>Plats préparés et spécialités · 5 %</a:t>
            </a:r>
          </a:p>
        </p:txBody>
      </p:sp>
      <p:sp>
        <p:nvSpPr>
          <p:cNvPr id="92" name="Rectangle 91"/>
          <p:cNvSpPr/>
          <p:nvPr/>
        </p:nvSpPr>
        <p:spPr>
          <a:xfrm>
            <a:off x="10564368" y="4450080"/>
            <a:ext cx="475488" cy="254812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Rectangle 92"/>
          <p:cNvSpPr/>
          <p:nvPr/>
        </p:nvSpPr>
        <p:spPr>
          <a:xfrm>
            <a:off x="10564368" y="4704892"/>
            <a:ext cx="475488" cy="415747"/>
          </a:xfrm>
          <a:prstGeom prst="rect">
            <a:avLst/>
          </a:prstGeom>
          <a:solidFill>
            <a:srgbClr val="7A4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TextBox 93"/>
          <p:cNvSpPr txBox="1"/>
          <p:nvPr/>
        </p:nvSpPr>
        <p:spPr>
          <a:xfrm>
            <a:off x="10564368" y="4704892"/>
            <a:ext cx="475488" cy="41574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Arial"/>
              </a:rPr>
              <a:t>31 %</a:t>
            </a:r>
          </a:p>
        </p:txBody>
      </p:sp>
      <p:sp>
        <p:nvSpPr>
          <p:cNvPr id="95" name="Rectangle 94"/>
          <p:cNvSpPr/>
          <p:nvPr/>
        </p:nvSpPr>
        <p:spPr>
          <a:xfrm>
            <a:off x="10564368" y="5120640"/>
            <a:ext cx="475488" cy="241401"/>
          </a:xfrm>
          <a:prstGeom prst="rect">
            <a:avLst/>
          </a:prstGeom>
          <a:solidFill>
            <a:srgbClr val="EB9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Rectangle 95"/>
          <p:cNvSpPr/>
          <p:nvPr/>
        </p:nvSpPr>
        <p:spPr>
          <a:xfrm>
            <a:off x="10564368" y="5362041"/>
            <a:ext cx="475488" cy="214579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Rectangle 96"/>
          <p:cNvSpPr/>
          <p:nvPr/>
        </p:nvSpPr>
        <p:spPr>
          <a:xfrm>
            <a:off x="10564368" y="5576620"/>
            <a:ext cx="475488" cy="147523"/>
          </a:xfrm>
          <a:prstGeom prst="rect">
            <a:avLst/>
          </a:prstGeom>
          <a:solidFill>
            <a:srgbClr val="3E5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Rectangle 97"/>
          <p:cNvSpPr/>
          <p:nvPr/>
        </p:nvSpPr>
        <p:spPr>
          <a:xfrm>
            <a:off x="10564368" y="5724144"/>
            <a:ext cx="475488" cy="67056"/>
          </a:xfrm>
          <a:prstGeom prst="rect">
            <a:avLst/>
          </a:prstGeom>
          <a:solidFill>
            <a:srgbClr val="A092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" y="121920"/>
            <a:ext cx="11612880" cy="8534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79120" y="42672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INSIGHTS QUALITATIFS · SEPTEMBRE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79120" y="609600"/>
            <a:ext cx="73152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111111"/>
                </a:solidFill>
                <a:latin typeface="Arial"/>
              </a:rPr>
              <a:t>Pour de Bon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0" y="499872"/>
            <a:ext cx="18897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111111"/>
                </a:solidFill>
                <a:latin typeface="Arial"/>
              </a:rPr>
              <a:t>Lemrock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9120" y="1219200"/>
            <a:ext cx="91440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OBJECTIF   </a:t>
            </a:r>
            <a:r>
              <a:rPr sz="1300" b="0" i="0">
                <a:solidFill>
                  <a:srgbClr val="111111"/>
                </a:solidFill>
                <a:latin typeface="Arial"/>
              </a:rPr>
              <a:t>À définir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9120" y="1524000"/>
            <a:ext cx="48768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555B66"/>
                </a:solidFill>
                <a:latin typeface="Arial"/>
              </a:rPr>
              <a:t>INSIGHTS QUALITATIFS</a:t>
            </a:r>
          </a:p>
        </p:txBody>
      </p:sp>
      <p:sp>
        <p:nvSpPr>
          <p:cNvPr id="9" name="Rectangle 8"/>
          <p:cNvSpPr/>
          <p:nvPr/>
        </p:nvSpPr>
        <p:spPr>
          <a:xfrm>
            <a:off x="579120" y="181660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35152" y="202996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83792" y="204825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Mettre en avant les coffrets cadeaux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5152" y="260908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 coffret Champagne et Safran atteint 1,96 fois le CTR moyen, le meilleur score du mois.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5152" y="331012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Préparer les coffrets cadeaux pour les fêtes de fin d'année.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992368" y="181660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48400" y="202996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797040" y="204825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Les légumes de saison et les fromages cliquent bien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48400" y="260908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Les légumes de saison atteignent 1,42 fois la moyenne, le comté 12 mois AOP 1,24 fois.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48400" y="331012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Associer chaque produit à son producteur et à sa saison.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79120" y="413308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35152" y="434644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83792" y="436473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Revoir les poissons et fruits de mer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5152" y="492556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Les poissons et fruits de mer restent à 0,52 fois la moyenne (huîtres gratinées 0,44 fois, saumon au miel 0,46 fois), alors qu'ils représentent 14 % de la diffusion.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5152" y="562660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Réduire leur part ou les présenter comme une idée de repas de fête.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992368" y="413308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48400" y="434644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797040" y="436473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Moins d'impressions, plus de clics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248400" y="492556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Les impressions baissent de 31 % mais les clics progressent de 32 %. Le CTR passe de 0,25 % à 0,48 %.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248400" y="562660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Prolonger le ciblage resserré.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" y="121920"/>
            <a:ext cx="11612880" cy="8534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48768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RAPPORT DE PERFORMANCE · 01/09/2026 → 30/09/2026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640080"/>
            <a:ext cx="73152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111111"/>
                </a:solidFill>
                <a:latin typeface="Arial"/>
              </a:rPr>
              <a:t>Qonto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24800" y="591312"/>
            <a:ext cx="3304032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200" b="1" i="0">
                <a:solidFill>
                  <a:srgbClr val="8A93A6"/>
                </a:solidFill>
                <a:latin typeface="Arial"/>
              </a:rPr>
              <a:t>COMPARAISON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24800" y="780288"/>
            <a:ext cx="3304032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111111"/>
                </a:solidFill>
                <a:latin typeface="Arial"/>
              </a:rPr>
              <a:t>vs 01/08/2026 → 31/08/2026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DIFFUSION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38963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ENGAGEMENT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0819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CONVERSION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3035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3035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6446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IMPRESSIONS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446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11111"/>
                </a:solidFill>
                <a:latin typeface="Arial"/>
              </a:rPr>
              <a:t>1 094 021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446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446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446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1 094 021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38963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238963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52374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CLICS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52374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4 757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52374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52374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52374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4 757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24891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24891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38302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CTR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38302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0,43 %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38302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38302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38302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0,43 %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10819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10819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24230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CONVERSIONS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24230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N/C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24230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24230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24230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—</a:t>
            </a:r>
          </a:p>
        </p:txBody>
      </p:sp>
      <p:sp>
        <p:nvSpPr>
          <p:cNvPr id="39" name="Rectangle 38"/>
          <p:cNvSpPr/>
          <p:nvPr/>
        </p:nvSpPr>
        <p:spPr>
          <a:xfrm>
            <a:off x="796747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796747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10158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CVR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10158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N/C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10158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10158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10158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—</a:t>
            </a:r>
          </a:p>
        </p:txBody>
      </p:sp>
      <p:sp>
        <p:nvSpPr>
          <p:cNvPr id="46" name="Rectangle 45"/>
          <p:cNvSpPr/>
          <p:nvPr/>
        </p:nvSpPr>
        <p:spPr>
          <a:xfrm>
            <a:off x="982675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982675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996086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ROAS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96086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N/C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996086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96086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96086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—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30352" y="332232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INSIGHTS QUALITATIFS · ANALYSE DES RECHERCHES</a:t>
            </a:r>
          </a:p>
        </p:txBody>
      </p:sp>
      <p:sp>
        <p:nvSpPr>
          <p:cNvPr id="54" name="Rectangle 53"/>
          <p:cNvSpPr/>
          <p:nvPr/>
        </p:nvSpPr>
        <p:spPr>
          <a:xfrm>
            <a:off x="530352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4194048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7857744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774192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CHAMP LEXICAL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774192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Termes les plus fréquents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774192" y="4236720"/>
            <a:ext cx="298704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1800" b="1" i="0">
                <a:solidFill>
                  <a:srgbClr val="EE6A2C"/>
                </a:solidFill>
                <a:latin typeface="Arial"/>
              </a:rPr>
              <a:t>création d'entreprise</a:t>
            </a:r>
            <a:r>
              <a:rPr sz="1600" b="1" i="0">
                <a:solidFill>
                  <a:srgbClr val="111111"/>
                </a:solidFill>
                <a:latin typeface="Arial"/>
              </a:rPr>
              <a:t>   compte pro</a:t>
            </a:r>
          </a:p>
          <a:p>
            <a:pPr algn="l">
              <a:spcAft>
                <a:spcPts val="500"/>
              </a:spcAft>
            </a:pPr>
            <a:r>
              <a:rPr sz="1500" b="1" i="0">
                <a:solidFill>
                  <a:srgbClr val="555B66"/>
                </a:solidFill>
                <a:latin typeface="Arial"/>
              </a:rPr>
              <a:t>Boursorama</a:t>
            </a:r>
            <a:r>
              <a:rPr sz="1400" b="1" i="0">
                <a:solidFill>
                  <a:srgbClr val="111111"/>
                </a:solidFill>
                <a:latin typeface="Arial"/>
              </a:rPr>
              <a:t>   BNP Paribas</a:t>
            </a:r>
          </a:p>
          <a:p>
            <a:pPr algn="l">
              <a:spcAft>
                <a:spcPts val="500"/>
              </a:spcAft>
            </a:pPr>
            <a:r>
              <a:rPr sz="1300" b="1" i="0">
                <a:solidFill>
                  <a:srgbClr val="EE6A2C"/>
                </a:solidFill>
                <a:latin typeface="Arial"/>
              </a:rPr>
              <a:t>Revolut Business</a:t>
            </a:r>
            <a:r>
              <a:rPr sz="1200" b="0" i="0">
                <a:solidFill>
                  <a:srgbClr val="555B66"/>
                </a:solidFill>
                <a:latin typeface="Arial"/>
              </a:rPr>
              <a:t>   Shine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EE6A2C"/>
                </a:solidFill>
                <a:latin typeface="Arial"/>
              </a:rPr>
              <a:t>retraite</a:t>
            </a:r>
            <a:r>
              <a:rPr sz="1100" b="1" i="0">
                <a:solidFill>
                  <a:srgbClr val="111111"/>
                </a:solidFill>
                <a:latin typeface="Arial"/>
              </a:rPr>
              <a:t>   vol de portefeuille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carte perdue</a:t>
            </a:r>
            <a:r>
              <a:rPr sz="1100" b="0" i="0">
                <a:solidFill>
                  <a:srgbClr val="555B66"/>
                </a:solidFill>
                <a:latin typeface="Arial"/>
              </a:rPr>
              <a:t>   LCL</a:t>
            </a:r>
            <a:r>
              <a:rPr sz="1100" b="0" i="0">
                <a:solidFill>
                  <a:srgbClr val="EE6A2C"/>
                </a:solidFill>
                <a:latin typeface="Arial"/>
              </a:rPr>
              <a:t>   Crédit Agricole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banque en ligne</a:t>
            </a:r>
            <a:r>
              <a:rPr sz="1100" b="0" i="0">
                <a:solidFill>
                  <a:srgbClr val="555B66"/>
                </a:solidFill>
                <a:latin typeface="Arial"/>
              </a:rPr>
              <a:t>   professionnels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4437888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EXEMPLES DE REQUÊTES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4437888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Questions posées aux IA</a:t>
            </a:r>
          </a:p>
        </p:txBody>
      </p:sp>
      <p:sp>
        <p:nvSpPr>
          <p:cNvPr id="62" name="Rectangle 61"/>
          <p:cNvSpPr/>
          <p:nvPr/>
        </p:nvSpPr>
        <p:spPr>
          <a:xfrm>
            <a:off x="4437888" y="426720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4559808" y="426720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4791456" y="426720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À compléter : le rapport d'insights ne fournit pas d'exemples de requêtes pour Qonto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8101584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CATÉGORIES DE PRODUITS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8101584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Répartition des requêtes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10607040" y="4175760"/>
            <a:ext cx="51816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111111"/>
                </a:solidFill>
                <a:latin typeface="Arial"/>
              </a:rPr>
              <a:t>100%</a:t>
            </a:r>
          </a:p>
        </p:txBody>
      </p:sp>
      <p:sp>
        <p:nvSpPr>
          <p:cNvPr id="68" name="Rectangle 67"/>
          <p:cNvSpPr/>
          <p:nvPr/>
        </p:nvSpPr>
        <p:spPr>
          <a:xfrm>
            <a:off x="8077200" y="4407408"/>
            <a:ext cx="121920" cy="121920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8296656" y="4389120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Compte pro</a:t>
            </a:r>
          </a:p>
        </p:txBody>
      </p:sp>
      <p:sp>
        <p:nvSpPr>
          <p:cNvPr id="70" name="Rectangle 69"/>
          <p:cNvSpPr/>
          <p:nvPr/>
        </p:nvSpPr>
        <p:spPr>
          <a:xfrm>
            <a:off x="8077200" y="4675632"/>
            <a:ext cx="121920" cy="121920"/>
          </a:xfrm>
          <a:prstGeom prst="rect">
            <a:avLst/>
          </a:prstGeom>
          <a:solidFill>
            <a:srgbClr val="7A4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8296656" y="4657344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Création d'entreprise · 30 %</a:t>
            </a:r>
          </a:p>
        </p:txBody>
      </p:sp>
      <p:sp>
        <p:nvSpPr>
          <p:cNvPr id="72" name="Rectangle 71"/>
          <p:cNvSpPr/>
          <p:nvPr/>
        </p:nvSpPr>
        <p:spPr>
          <a:xfrm>
            <a:off x="8077200" y="4943856"/>
            <a:ext cx="121920" cy="121920"/>
          </a:xfrm>
          <a:prstGeom prst="rect">
            <a:avLst/>
          </a:prstGeom>
          <a:solidFill>
            <a:srgbClr val="EB9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8296656" y="4925568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Facturation · 29 %</a:t>
            </a:r>
          </a:p>
        </p:txBody>
      </p:sp>
      <p:sp>
        <p:nvSpPr>
          <p:cNvPr id="74" name="Rectangle 73"/>
          <p:cNvSpPr/>
          <p:nvPr/>
        </p:nvSpPr>
        <p:spPr>
          <a:xfrm>
            <a:off x="10564368" y="4450080"/>
            <a:ext cx="475488" cy="549859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10564368" y="4450080"/>
            <a:ext cx="475488" cy="54985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Arial"/>
              </a:rPr>
              <a:t>41 %</a:t>
            </a:r>
          </a:p>
        </p:txBody>
      </p:sp>
      <p:sp>
        <p:nvSpPr>
          <p:cNvPr id="76" name="Rectangle 75"/>
          <p:cNvSpPr/>
          <p:nvPr/>
        </p:nvSpPr>
        <p:spPr>
          <a:xfrm>
            <a:off x="10564368" y="4999939"/>
            <a:ext cx="475488" cy="402336"/>
          </a:xfrm>
          <a:prstGeom prst="rect">
            <a:avLst/>
          </a:prstGeom>
          <a:solidFill>
            <a:srgbClr val="7A4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10564368" y="4999939"/>
            <a:ext cx="475488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Arial"/>
              </a:rPr>
              <a:t>30 %</a:t>
            </a:r>
          </a:p>
        </p:txBody>
      </p:sp>
      <p:sp>
        <p:nvSpPr>
          <p:cNvPr id="78" name="Rectangle 77"/>
          <p:cNvSpPr/>
          <p:nvPr/>
        </p:nvSpPr>
        <p:spPr>
          <a:xfrm>
            <a:off x="10564368" y="5402275"/>
            <a:ext cx="475488" cy="388924"/>
          </a:xfrm>
          <a:prstGeom prst="rect">
            <a:avLst/>
          </a:prstGeom>
          <a:solidFill>
            <a:srgbClr val="EB9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10564368" y="5402275"/>
            <a:ext cx="475488" cy="3889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Arial"/>
              </a:rPr>
              <a:t>29 %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" y="121920"/>
            <a:ext cx="11612880" cy="8534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79120" y="42672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INSIGHTS QUALITATIFS · SEPTEMBRE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79120" y="609600"/>
            <a:ext cx="73152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111111"/>
                </a:solidFill>
                <a:latin typeface="Arial"/>
              </a:rPr>
              <a:t>Qonto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0" y="499872"/>
            <a:ext cx="18897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111111"/>
                </a:solidFill>
                <a:latin typeface="Arial"/>
              </a:rPr>
              <a:t>Lemrock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9120" y="1219200"/>
            <a:ext cx="91440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OBJECTIF   </a:t>
            </a:r>
            <a:r>
              <a:rPr sz="1300" b="0" i="0">
                <a:solidFill>
                  <a:srgbClr val="111111"/>
                </a:solidFill>
                <a:latin typeface="Arial"/>
              </a:rPr>
              <a:t>À définir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9120" y="1524000"/>
            <a:ext cx="48768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555B66"/>
                </a:solidFill>
                <a:latin typeface="Arial"/>
              </a:rPr>
              <a:t>INSIGHTS QUALITATIFS</a:t>
            </a:r>
          </a:p>
        </p:txBody>
      </p:sp>
      <p:sp>
        <p:nvSpPr>
          <p:cNvPr id="9" name="Rectangle 8"/>
          <p:cNvSpPr/>
          <p:nvPr/>
        </p:nvSpPr>
        <p:spPr>
          <a:xfrm>
            <a:off x="579120" y="181660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35152" y="202996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83792" y="204825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La facturation clique le plus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5152" y="260908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L'annonce « Logiciel de facturation gratuit » atteint 1,13 fois le CTR moyen.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5152" y="331012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Mettre en avant la facturation électronique, à l'approche de la réforme.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992368" y="181660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48400" y="202996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797040" y="204825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La création d'entreprise fonctionne bien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48400" y="260908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L'annonce création d'entreprise atteint 1,06 fois la moyenne.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48400" y="331012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Cibler les moments de création (statuts, dépôt de capital, immatriculation).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79120" y="413308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35152" y="434644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83792" y="436473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Revoir l'annonce compte pro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5152" y="492556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 compte pro représente 41 % de la diffusion mais reste à 0,86 fois la moyenne.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5152" y="562660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Tester une accroche plus concrète (ouverture en quelques minutes, cartes, virements instantanés).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992368" y="413308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48400" y="434644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797040" y="436473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Un premier mois solide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248400" y="492556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Lancée le 03/09, la campagne génère 4 757 clics pour un CTR de 0,43 %.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248400" y="562660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Mesurer les ouvertures de compte pour piloter la campagne.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" y="121920"/>
            <a:ext cx="11612880" cy="8534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48768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RAPPORT DE PERFORMANCE · 01/09/2026 → 30/09/2026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640080"/>
            <a:ext cx="73152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111111"/>
                </a:solidFill>
                <a:latin typeface="Arial"/>
              </a:rPr>
              <a:t>Smartphone ID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24800" y="591312"/>
            <a:ext cx="3304032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200" b="1" i="0">
                <a:solidFill>
                  <a:srgbClr val="8A93A6"/>
                </a:solidFill>
                <a:latin typeface="Arial"/>
              </a:rPr>
              <a:t>COMPARAISON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24800" y="780288"/>
            <a:ext cx="3304032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111111"/>
                </a:solidFill>
                <a:latin typeface="Arial"/>
              </a:rPr>
              <a:t>vs 01/08/2026 → 31/08/2026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DIFFUSION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38963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ENGAGEMENT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0819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CONVERSION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3035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3035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6446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IMPRESSIONS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446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240 223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446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B04837"/>
                </a:solidFill>
                <a:latin typeface="Arial"/>
              </a:rPr>
              <a:t>▼ −24 %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446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446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558 183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38963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238963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52374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CLICS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52374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1 240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52374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+90 %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52374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52374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1 893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24891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24891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38302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CTR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38302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0,52 %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38302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+0,31 pt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38302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38302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0,34 %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10819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10819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24230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CONVERSIONS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24230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N/C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24230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24230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24230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—</a:t>
            </a:r>
          </a:p>
        </p:txBody>
      </p:sp>
      <p:sp>
        <p:nvSpPr>
          <p:cNvPr id="39" name="Rectangle 38"/>
          <p:cNvSpPr/>
          <p:nvPr/>
        </p:nvSpPr>
        <p:spPr>
          <a:xfrm>
            <a:off x="796747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796747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10158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CVR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10158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N/C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10158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10158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10158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—</a:t>
            </a:r>
          </a:p>
        </p:txBody>
      </p:sp>
      <p:sp>
        <p:nvSpPr>
          <p:cNvPr id="46" name="Rectangle 45"/>
          <p:cNvSpPr/>
          <p:nvPr/>
        </p:nvSpPr>
        <p:spPr>
          <a:xfrm>
            <a:off x="982675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982675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996086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ROAS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96086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N/C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996086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96086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96086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—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30352" y="332232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INSIGHTS QUALITATIFS · ANALYSE DES RECHERCHES</a:t>
            </a:r>
          </a:p>
        </p:txBody>
      </p:sp>
      <p:sp>
        <p:nvSpPr>
          <p:cNvPr id="54" name="Rectangle 53"/>
          <p:cNvSpPr/>
          <p:nvPr/>
        </p:nvSpPr>
        <p:spPr>
          <a:xfrm>
            <a:off x="530352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4194048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7857744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774192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CHAMP LEXICAL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774192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Termes les plus fréquents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774192" y="4236720"/>
            <a:ext cx="298704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1600" b="1" i="0">
                <a:solidFill>
                  <a:srgbClr val="555B66"/>
                </a:solidFill>
                <a:latin typeface="Arial"/>
              </a:rPr>
              <a:t>À compléter</a:t>
            </a:r>
          </a:p>
          <a:p>
            <a:pPr algn="l">
              <a:spcAft>
                <a:spcPts val="500"/>
              </a:spcAft>
            </a:pPr>
            <a:r>
              <a:rPr sz="1100" b="0" i="0">
                <a:solidFill>
                  <a:srgbClr val="555B66"/>
                </a:solidFill>
                <a:latin typeface="Arial"/>
              </a:rPr>
              <a:t>Rapport d'insights de septembre</a:t>
            </a:r>
          </a:p>
          <a:p>
            <a:pPr algn="l">
              <a:spcAft>
                <a:spcPts val="500"/>
              </a:spcAft>
            </a:pPr>
            <a:r>
              <a:rPr sz="1100" b="0" i="0">
                <a:solidFill>
                  <a:srgbClr val="555B66"/>
                </a:solidFill>
                <a:latin typeface="Arial"/>
              </a:rPr>
              <a:t>hors sujet (smartphones reconditionnés)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4437888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EXEMPLES DE REQUÊTES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4437888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Questions posées aux IA</a:t>
            </a:r>
          </a:p>
        </p:txBody>
      </p:sp>
      <p:sp>
        <p:nvSpPr>
          <p:cNvPr id="62" name="Rectangle 61"/>
          <p:cNvSpPr/>
          <p:nvPr/>
        </p:nvSpPr>
        <p:spPr>
          <a:xfrm>
            <a:off x="4437888" y="426720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4559808" y="426720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4791456" y="426720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À compléter : le rapport d'insights de septembre porte sur les smartphones reconditionnés, pas sur la photo d'identité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8101584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CATÉGORIES DE PRODUITS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8101584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Répartition des requêtes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10607040" y="4175760"/>
            <a:ext cx="51816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111111"/>
                </a:solidFill>
                <a:latin typeface="Arial"/>
              </a:rPr>
              <a:t>100%</a:t>
            </a:r>
          </a:p>
        </p:txBody>
      </p:sp>
      <p:sp>
        <p:nvSpPr>
          <p:cNvPr id="68" name="Rectangle 67"/>
          <p:cNvSpPr/>
          <p:nvPr/>
        </p:nvSpPr>
        <p:spPr>
          <a:xfrm>
            <a:off x="8077200" y="4407408"/>
            <a:ext cx="121920" cy="121920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8296656" y="4389120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Carte d'identité et passeport</a:t>
            </a:r>
          </a:p>
        </p:txBody>
      </p:sp>
      <p:sp>
        <p:nvSpPr>
          <p:cNvPr id="70" name="Rectangle 69"/>
          <p:cNvSpPr/>
          <p:nvPr/>
        </p:nvSpPr>
        <p:spPr>
          <a:xfrm>
            <a:off x="8077200" y="4675632"/>
            <a:ext cx="121920" cy="121920"/>
          </a:xfrm>
          <a:prstGeom prst="rect">
            <a:avLst/>
          </a:prstGeom>
          <a:solidFill>
            <a:srgbClr val="7A4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8296656" y="4657344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0">
                <a:solidFill>
                  <a:srgbClr val="111111"/>
                </a:solidFill>
                <a:latin typeface="Arial"/>
              </a:rPr>
              <a:t>Permis de conduire et e-photo ANTS · 24 %</a:t>
            </a:r>
          </a:p>
        </p:txBody>
      </p:sp>
      <p:sp>
        <p:nvSpPr>
          <p:cNvPr id="72" name="Rectangle 71"/>
          <p:cNvSpPr/>
          <p:nvPr/>
        </p:nvSpPr>
        <p:spPr>
          <a:xfrm>
            <a:off x="8077200" y="4943856"/>
            <a:ext cx="121920" cy="121920"/>
          </a:xfrm>
          <a:prstGeom prst="rect">
            <a:avLst/>
          </a:prstGeom>
          <a:solidFill>
            <a:srgbClr val="EB9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8296656" y="4925568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Visa et titre de séjour · 15 %</a:t>
            </a:r>
          </a:p>
        </p:txBody>
      </p:sp>
      <p:sp>
        <p:nvSpPr>
          <p:cNvPr id="74" name="Rectangle 73"/>
          <p:cNvSpPr/>
          <p:nvPr/>
        </p:nvSpPr>
        <p:spPr>
          <a:xfrm>
            <a:off x="8077200" y="5212080"/>
            <a:ext cx="121920" cy="12192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8296656" y="5193792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0">
                <a:solidFill>
                  <a:srgbClr val="111111"/>
                </a:solidFill>
                <a:latin typeface="Arial"/>
              </a:rPr>
              <a:t>Création et contrôle de conformité · 10 %</a:t>
            </a:r>
          </a:p>
        </p:txBody>
      </p:sp>
      <p:sp>
        <p:nvSpPr>
          <p:cNvPr id="76" name="Rectangle 75"/>
          <p:cNvSpPr/>
          <p:nvPr/>
        </p:nvSpPr>
        <p:spPr>
          <a:xfrm>
            <a:off x="8077200" y="5480304"/>
            <a:ext cx="121920" cy="121920"/>
          </a:xfrm>
          <a:prstGeom prst="rect">
            <a:avLst/>
          </a:prstGeom>
          <a:solidFill>
            <a:srgbClr val="3E5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8296656" y="5462016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0">
                <a:solidFill>
                  <a:srgbClr val="111111"/>
                </a:solidFill>
                <a:latin typeface="Arial"/>
              </a:rPr>
              <a:t>Photos de bébé, d'enfant et publics empêchés · 5 %</a:t>
            </a:r>
          </a:p>
        </p:txBody>
      </p:sp>
      <p:sp>
        <p:nvSpPr>
          <p:cNvPr id="78" name="Rectangle 77"/>
          <p:cNvSpPr/>
          <p:nvPr/>
        </p:nvSpPr>
        <p:spPr>
          <a:xfrm>
            <a:off x="8077200" y="5748528"/>
            <a:ext cx="121920" cy="121920"/>
          </a:xfrm>
          <a:prstGeom prst="rect">
            <a:avLst/>
          </a:prstGeom>
          <a:solidFill>
            <a:srgbClr val="A092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8296656" y="5730240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0">
                <a:solidFill>
                  <a:srgbClr val="111111"/>
                </a:solidFill>
                <a:latin typeface="Arial"/>
              </a:rPr>
              <a:t>Impression et livraison à domicile · 5 %</a:t>
            </a:r>
          </a:p>
        </p:txBody>
      </p:sp>
      <p:sp>
        <p:nvSpPr>
          <p:cNvPr id="80" name="Rectangle 79"/>
          <p:cNvSpPr/>
          <p:nvPr/>
        </p:nvSpPr>
        <p:spPr>
          <a:xfrm>
            <a:off x="10564368" y="4450080"/>
            <a:ext cx="475488" cy="549859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10564368" y="4450080"/>
            <a:ext cx="475488" cy="54985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Arial"/>
              </a:rPr>
              <a:t>41 %</a:t>
            </a:r>
          </a:p>
        </p:txBody>
      </p:sp>
      <p:sp>
        <p:nvSpPr>
          <p:cNvPr id="82" name="Rectangle 81"/>
          <p:cNvSpPr/>
          <p:nvPr/>
        </p:nvSpPr>
        <p:spPr>
          <a:xfrm>
            <a:off x="10564368" y="4999939"/>
            <a:ext cx="475488" cy="321868"/>
          </a:xfrm>
          <a:prstGeom prst="rect">
            <a:avLst/>
          </a:prstGeom>
          <a:solidFill>
            <a:srgbClr val="7A4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Rectangle 82"/>
          <p:cNvSpPr/>
          <p:nvPr/>
        </p:nvSpPr>
        <p:spPr>
          <a:xfrm>
            <a:off x="10564368" y="5321808"/>
            <a:ext cx="475488" cy="201168"/>
          </a:xfrm>
          <a:prstGeom prst="rect">
            <a:avLst/>
          </a:prstGeom>
          <a:solidFill>
            <a:srgbClr val="EB9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Rectangle 83"/>
          <p:cNvSpPr/>
          <p:nvPr/>
        </p:nvSpPr>
        <p:spPr>
          <a:xfrm>
            <a:off x="10564368" y="5522976"/>
            <a:ext cx="475488" cy="134112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Rectangle 84"/>
          <p:cNvSpPr/>
          <p:nvPr/>
        </p:nvSpPr>
        <p:spPr>
          <a:xfrm>
            <a:off x="10564368" y="5657088"/>
            <a:ext cx="475488" cy="67056"/>
          </a:xfrm>
          <a:prstGeom prst="rect">
            <a:avLst/>
          </a:prstGeom>
          <a:solidFill>
            <a:srgbClr val="3E5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Rectangle 85"/>
          <p:cNvSpPr/>
          <p:nvPr/>
        </p:nvSpPr>
        <p:spPr>
          <a:xfrm>
            <a:off x="10564368" y="5724144"/>
            <a:ext cx="475488" cy="67056"/>
          </a:xfrm>
          <a:prstGeom prst="rect">
            <a:avLst/>
          </a:prstGeom>
          <a:solidFill>
            <a:srgbClr val="A092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" y="121920"/>
            <a:ext cx="11612880" cy="8534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79120" y="42672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INSIGHTS QUALITATIFS · SEPTEMBRE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79120" y="609600"/>
            <a:ext cx="73152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111111"/>
                </a:solidFill>
                <a:latin typeface="Arial"/>
              </a:rPr>
              <a:t>Smartphone ID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0" y="499872"/>
            <a:ext cx="18897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111111"/>
                </a:solidFill>
                <a:latin typeface="Arial"/>
              </a:rPr>
              <a:t>Lemrock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9120" y="1219200"/>
            <a:ext cx="91440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OBJECTIF   </a:t>
            </a:r>
            <a:r>
              <a:rPr sz="1300" b="0" i="0">
                <a:solidFill>
                  <a:srgbClr val="111111"/>
                </a:solidFill>
                <a:latin typeface="Arial"/>
              </a:rPr>
              <a:t>À définir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9120" y="1524000"/>
            <a:ext cx="48768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555B66"/>
                </a:solidFill>
                <a:latin typeface="Arial"/>
              </a:rPr>
              <a:t>INSIGHTS QUALITATIFS</a:t>
            </a:r>
          </a:p>
        </p:txBody>
      </p:sp>
      <p:sp>
        <p:nvSpPr>
          <p:cNvPr id="9" name="Rectangle 8"/>
          <p:cNvSpPr/>
          <p:nvPr/>
        </p:nvSpPr>
        <p:spPr>
          <a:xfrm>
            <a:off x="579120" y="181660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35152" y="202996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83792" y="204825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Une promesse simple qui fonctionne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5152" y="260908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L'annonce « Photo d'identité en ligne en 2 minutes » génère 1 240 clics. Le CTR passe de 0,21 % à 0,52 %.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5152" y="331012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Garder la rapidité et la conformité comme arguments principaux.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992368" y="181660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48400" y="202996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797040" y="204825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Une seule accroche diffusée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48400" y="260908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Les 2 annonces diffusées portent le même message et obtiennent le même CTR (0,98 à 1,02 fois la moyenne).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48400" y="331012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Ajouter des annonces par démarche (passeport, permis ANTS, visa, photo de bébé) pour identifier celles qui cliquent le plus.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79120" y="413308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35152" y="434644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83792" y="436473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À compléter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5152" y="492556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 rapport d'insights de septembre porte sur un autre secteur (smartphones reconditionnés).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5152" y="562660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À compléter avec un rapport sur la photo d'identité.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992368" y="413308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48400" y="434644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797040" y="436473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Moins d'impressions, plus de clics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248400" y="492556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Les impressions baissent de 24 % mais les clics progressent de 90 %.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248400" y="562660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Définir un objectif de campagne (photos réalisées, téléchargements, CPA cible).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" y="121920"/>
            <a:ext cx="11612880" cy="8534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48768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RAPPORT DE PERFORMANCE · 01/09/2026 → 30/09/2026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640080"/>
            <a:ext cx="73152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111111"/>
                </a:solidFill>
                <a:latin typeface="Arial"/>
              </a:rPr>
              <a:t>SNCF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24800" y="591312"/>
            <a:ext cx="3304032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200" b="1" i="0">
                <a:solidFill>
                  <a:srgbClr val="8A93A6"/>
                </a:solidFill>
                <a:latin typeface="Arial"/>
              </a:rPr>
              <a:t>COMPARAISON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24800" y="780288"/>
            <a:ext cx="3304032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111111"/>
                </a:solidFill>
                <a:latin typeface="Arial"/>
              </a:rPr>
              <a:t>vs 01/08/2026 → 31/08/2026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DIFFUSION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38963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ENGAGEMENT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0819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CONVERSION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3035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3035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6446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IMPRESSIONS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446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139 036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446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446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446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139 036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38963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238963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52374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CLICS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52374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788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52374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52374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52374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788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24891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24891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38302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CTR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38302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0,57 %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38302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38302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38302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0,57 %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10819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10819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24230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CONVERSIONS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24230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N/C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24230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24230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24230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—</a:t>
            </a:r>
          </a:p>
        </p:txBody>
      </p:sp>
      <p:sp>
        <p:nvSpPr>
          <p:cNvPr id="39" name="Rectangle 38"/>
          <p:cNvSpPr/>
          <p:nvPr/>
        </p:nvSpPr>
        <p:spPr>
          <a:xfrm>
            <a:off x="796747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796747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10158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CVR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10158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N/C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10158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10158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10158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—</a:t>
            </a:r>
          </a:p>
        </p:txBody>
      </p:sp>
      <p:sp>
        <p:nvSpPr>
          <p:cNvPr id="46" name="Rectangle 45"/>
          <p:cNvSpPr/>
          <p:nvPr/>
        </p:nvSpPr>
        <p:spPr>
          <a:xfrm>
            <a:off x="982675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982675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996086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ROAS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96086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N/C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996086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96086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96086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—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30352" y="332232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INSIGHTS QUALITATIFS · ANALYSE DES RECHERCHES</a:t>
            </a:r>
          </a:p>
        </p:txBody>
      </p:sp>
      <p:sp>
        <p:nvSpPr>
          <p:cNvPr id="54" name="Rectangle 53"/>
          <p:cNvSpPr/>
          <p:nvPr/>
        </p:nvSpPr>
        <p:spPr>
          <a:xfrm>
            <a:off x="530352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4194048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7857744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774192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CHAMP LEXICAL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774192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Termes les plus fréquents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774192" y="4236720"/>
            <a:ext cx="298704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1800" b="1" i="0">
                <a:solidFill>
                  <a:srgbClr val="EE6A2C"/>
                </a:solidFill>
                <a:latin typeface="Arial"/>
              </a:rPr>
              <a:t>départ en vacances</a:t>
            </a:r>
            <a:r>
              <a:rPr sz="1600" b="1" i="0">
                <a:solidFill>
                  <a:srgbClr val="111111"/>
                </a:solidFill>
                <a:latin typeface="Arial"/>
              </a:rPr>
              <a:t>   train</a:t>
            </a:r>
          </a:p>
          <a:p>
            <a:pPr algn="l">
              <a:spcAft>
                <a:spcPts val="500"/>
              </a:spcAft>
            </a:pPr>
            <a:r>
              <a:rPr sz="1500" b="1" i="0">
                <a:solidFill>
                  <a:srgbClr val="555B66"/>
                </a:solidFill>
                <a:latin typeface="Arial"/>
              </a:rPr>
              <a:t>easyJet</a:t>
            </a:r>
            <a:r>
              <a:rPr sz="1400" b="1" i="0">
                <a:solidFill>
                  <a:srgbClr val="111111"/>
                </a:solidFill>
                <a:latin typeface="Arial"/>
              </a:rPr>
              <a:t>   Ryanair</a:t>
            </a:r>
          </a:p>
          <a:p>
            <a:pPr algn="l">
              <a:spcAft>
                <a:spcPts val="500"/>
              </a:spcAft>
            </a:pPr>
            <a:r>
              <a:rPr sz="1300" b="1" i="0">
                <a:solidFill>
                  <a:srgbClr val="EE6A2C"/>
                </a:solidFill>
                <a:latin typeface="Arial"/>
              </a:rPr>
              <a:t>Air France</a:t>
            </a:r>
            <a:r>
              <a:rPr sz="1200" b="0" i="0">
                <a:solidFill>
                  <a:srgbClr val="555B66"/>
                </a:solidFill>
                <a:latin typeface="Arial"/>
              </a:rPr>
              <a:t>   FlixBus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EE6A2C"/>
                </a:solidFill>
                <a:latin typeface="Arial"/>
              </a:rPr>
              <a:t>Trainline</a:t>
            </a:r>
            <a:r>
              <a:rPr sz="1100" b="1" i="0">
                <a:solidFill>
                  <a:srgbClr val="111111"/>
                </a:solidFill>
                <a:latin typeface="Arial"/>
              </a:rPr>
              <a:t>   Eurostar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BlaBlaCar</a:t>
            </a:r>
            <a:r>
              <a:rPr sz="1100" b="0" i="0">
                <a:solidFill>
                  <a:srgbClr val="555B66"/>
                </a:solidFill>
                <a:latin typeface="Arial"/>
              </a:rPr>
              <a:t>   Trenitalia</a:t>
            </a:r>
            <a:r>
              <a:rPr sz="1100" b="0" i="0">
                <a:solidFill>
                  <a:srgbClr val="EE6A2C"/>
                </a:solidFill>
                <a:latin typeface="Arial"/>
              </a:rPr>
              <a:t>   Kombo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valise</a:t>
            </a:r>
            <a:r>
              <a:rPr sz="1100" b="0" i="0">
                <a:solidFill>
                  <a:srgbClr val="555B66"/>
                </a:solidFill>
                <a:latin typeface="Arial"/>
              </a:rPr>
              <a:t>   sac cabine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4437888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EXEMPLES DE REQUÊTES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4437888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Questions posées aux IA</a:t>
            </a:r>
          </a:p>
        </p:txBody>
      </p:sp>
      <p:sp>
        <p:nvSpPr>
          <p:cNvPr id="62" name="Rectangle 61"/>
          <p:cNvSpPr/>
          <p:nvPr/>
        </p:nvSpPr>
        <p:spPr>
          <a:xfrm>
            <a:off x="4437888" y="426720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4559808" y="426720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4791456" y="426720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Comment choisir un sac cabine conforme aux dimensions des compagnies ?</a:t>
            </a:r>
          </a:p>
        </p:txBody>
      </p:sp>
      <p:sp>
        <p:nvSpPr>
          <p:cNvPr id="65" name="Rectangle 64"/>
          <p:cNvSpPr/>
          <p:nvPr/>
        </p:nvSpPr>
        <p:spPr>
          <a:xfrm>
            <a:off x="4437888" y="463296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4559808" y="463296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4791456" y="463296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Quel sac choisir pour combo randonnée et ski de rando ?</a:t>
            </a:r>
          </a:p>
        </p:txBody>
      </p:sp>
      <p:sp>
        <p:nvSpPr>
          <p:cNvPr id="68" name="Rectangle 67"/>
          <p:cNvSpPr/>
          <p:nvPr/>
        </p:nvSpPr>
        <p:spPr>
          <a:xfrm>
            <a:off x="4437888" y="499872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4559808" y="499872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4791456" y="499872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Comment organiser une trousse de toilette conforme aux règles de sécurité ?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8101584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CATÉGORIES DE PRODUITS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101584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Répartition des requêtes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10607040" y="4175760"/>
            <a:ext cx="51816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111111"/>
                </a:solidFill>
                <a:latin typeface="Arial"/>
              </a:rPr>
              <a:t>100%</a:t>
            </a:r>
          </a:p>
        </p:txBody>
      </p:sp>
      <p:sp>
        <p:nvSpPr>
          <p:cNvPr id="74" name="Rectangle 73"/>
          <p:cNvSpPr/>
          <p:nvPr/>
        </p:nvSpPr>
        <p:spPr>
          <a:xfrm>
            <a:off x="8077200" y="4407408"/>
            <a:ext cx="121920" cy="121920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8296656" y="4389120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Paris – Rennes · 23 %</a:t>
            </a:r>
          </a:p>
        </p:txBody>
      </p:sp>
      <p:sp>
        <p:nvSpPr>
          <p:cNvPr id="76" name="Rectangle 75"/>
          <p:cNvSpPr/>
          <p:nvPr/>
        </p:nvSpPr>
        <p:spPr>
          <a:xfrm>
            <a:off x="8077200" y="4675632"/>
            <a:ext cx="121920" cy="121920"/>
          </a:xfrm>
          <a:prstGeom prst="rect">
            <a:avLst/>
          </a:prstGeom>
          <a:solidFill>
            <a:srgbClr val="7A4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8296656" y="4657344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0">
                <a:solidFill>
                  <a:srgbClr val="111111"/>
                </a:solidFill>
                <a:latin typeface="Arial"/>
              </a:rPr>
              <a:t>Paris – Lyon / Marseille / Nice · 23 %</a:t>
            </a:r>
          </a:p>
        </p:txBody>
      </p:sp>
      <p:sp>
        <p:nvSpPr>
          <p:cNvPr id="78" name="Rectangle 77"/>
          <p:cNvSpPr/>
          <p:nvPr/>
        </p:nvSpPr>
        <p:spPr>
          <a:xfrm>
            <a:off x="8077200" y="4943856"/>
            <a:ext cx="121920" cy="121920"/>
          </a:xfrm>
          <a:prstGeom prst="rect">
            <a:avLst/>
          </a:prstGeom>
          <a:solidFill>
            <a:srgbClr val="EB9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8296656" y="4925568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0">
                <a:solidFill>
                  <a:srgbClr val="111111"/>
                </a:solidFill>
                <a:latin typeface="Arial"/>
              </a:rPr>
              <a:t>Paris – Bordeaux / Toulouse · 17 %</a:t>
            </a:r>
          </a:p>
        </p:txBody>
      </p:sp>
      <p:sp>
        <p:nvSpPr>
          <p:cNvPr id="80" name="Rectangle 79"/>
          <p:cNvSpPr/>
          <p:nvPr/>
        </p:nvSpPr>
        <p:spPr>
          <a:xfrm>
            <a:off x="8077200" y="5212080"/>
            <a:ext cx="121920" cy="12192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8296656" y="5193792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0">
                <a:solidFill>
                  <a:srgbClr val="111111"/>
                </a:solidFill>
                <a:latin typeface="Arial"/>
              </a:rPr>
              <a:t>Paris – Nantes / Lille / Strasbourg · 21 %</a:t>
            </a:r>
          </a:p>
        </p:txBody>
      </p:sp>
      <p:sp>
        <p:nvSpPr>
          <p:cNvPr id="82" name="Rectangle 81"/>
          <p:cNvSpPr/>
          <p:nvPr/>
        </p:nvSpPr>
        <p:spPr>
          <a:xfrm>
            <a:off x="8077200" y="5480304"/>
            <a:ext cx="121920" cy="121920"/>
          </a:xfrm>
          <a:prstGeom prst="rect">
            <a:avLst/>
          </a:prstGeom>
          <a:solidFill>
            <a:srgbClr val="3E5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8296656" y="5462016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0">
                <a:solidFill>
                  <a:srgbClr val="111111"/>
                </a:solidFill>
                <a:latin typeface="Arial"/>
              </a:rPr>
              <a:t>International (Amsterdam, Barcelone) · 9 %</a:t>
            </a:r>
          </a:p>
        </p:txBody>
      </p:sp>
      <p:sp>
        <p:nvSpPr>
          <p:cNvPr id="84" name="Rectangle 83"/>
          <p:cNvSpPr/>
          <p:nvPr/>
        </p:nvSpPr>
        <p:spPr>
          <a:xfrm>
            <a:off x="8077200" y="5748528"/>
            <a:ext cx="121920" cy="121920"/>
          </a:xfrm>
          <a:prstGeom prst="rect">
            <a:avLst/>
          </a:prstGeom>
          <a:solidFill>
            <a:srgbClr val="A092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8296656" y="5730240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Autres liaisons · 7 %</a:t>
            </a:r>
          </a:p>
        </p:txBody>
      </p:sp>
      <p:sp>
        <p:nvSpPr>
          <p:cNvPr id="86" name="Rectangle 85"/>
          <p:cNvSpPr/>
          <p:nvPr/>
        </p:nvSpPr>
        <p:spPr>
          <a:xfrm>
            <a:off x="10564368" y="4450080"/>
            <a:ext cx="475488" cy="308457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Rectangle 86"/>
          <p:cNvSpPr/>
          <p:nvPr/>
        </p:nvSpPr>
        <p:spPr>
          <a:xfrm>
            <a:off x="10564368" y="4758537"/>
            <a:ext cx="475488" cy="308457"/>
          </a:xfrm>
          <a:prstGeom prst="rect">
            <a:avLst/>
          </a:prstGeom>
          <a:solidFill>
            <a:srgbClr val="7A4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Rectangle 87"/>
          <p:cNvSpPr/>
          <p:nvPr/>
        </p:nvSpPr>
        <p:spPr>
          <a:xfrm>
            <a:off x="10564368" y="5066995"/>
            <a:ext cx="475488" cy="227990"/>
          </a:xfrm>
          <a:prstGeom prst="rect">
            <a:avLst/>
          </a:prstGeom>
          <a:solidFill>
            <a:srgbClr val="EB9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Rectangle 88"/>
          <p:cNvSpPr/>
          <p:nvPr/>
        </p:nvSpPr>
        <p:spPr>
          <a:xfrm>
            <a:off x="10564368" y="5294985"/>
            <a:ext cx="475488" cy="281635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Rectangle 89"/>
          <p:cNvSpPr/>
          <p:nvPr/>
        </p:nvSpPr>
        <p:spPr>
          <a:xfrm>
            <a:off x="10564368" y="5576620"/>
            <a:ext cx="475488" cy="120700"/>
          </a:xfrm>
          <a:prstGeom prst="rect">
            <a:avLst/>
          </a:prstGeom>
          <a:solidFill>
            <a:srgbClr val="3E5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Rectangle 90"/>
          <p:cNvSpPr/>
          <p:nvPr/>
        </p:nvSpPr>
        <p:spPr>
          <a:xfrm>
            <a:off x="10564368" y="5697321"/>
            <a:ext cx="475488" cy="93878"/>
          </a:xfrm>
          <a:prstGeom prst="rect">
            <a:avLst/>
          </a:prstGeom>
          <a:solidFill>
            <a:srgbClr val="A092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" y="121920"/>
            <a:ext cx="11612880" cy="8534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79120" y="42672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INSIGHTS QUALITATIFS · SEPTEMBRE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79120" y="609600"/>
            <a:ext cx="73152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111111"/>
                </a:solidFill>
                <a:latin typeface="Arial"/>
              </a:rPr>
              <a:t>SNCF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0" y="499872"/>
            <a:ext cx="18897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111111"/>
                </a:solidFill>
                <a:latin typeface="Arial"/>
              </a:rPr>
              <a:t>Lemrock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9120" y="1219200"/>
            <a:ext cx="91440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OBJECTIF   </a:t>
            </a:r>
            <a:r>
              <a:rPr sz="1300" b="0" i="0">
                <a:solidFill>
                  <a:srgbClr val="111111"/>
                </a:solidFill>
                <a:latin typeface="Arial"/>
              </a:rPr>
              <a:t>À définir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9120" y="1524000"/>
            <a:ext cx="48768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555B66"/>
                </a:solidFill>
                <a:latin typeface="Arial"/>
              </a:rPr>
              <a:t>INSIGHTS QUALITATIFS</a:t>
            </a:r>
          </a:p>
        </p:txBody>
      </p:sp>
      <p:sp>
        <p:nvSpPr>
          <p:cNvPr id="9" name="Rectangle 8"/>
          <p:cNvSpPr/>
          <p:nvPr/>
        </p:nvSpPr>
        <p:spPr>
          <a:xfrm>
            <a:off x="579120" y="181660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35152" y="202996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83792" y="204825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Les trajets vers Paris cliquent le mieux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5152" y="260908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Les trajets Lille – Paris, Marseille – Paris et Lyon – Paris atteignent plus de 1,3 fois le CTR moyen.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5152" y="331012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Mettre en avant les trajets retour vers Paris.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992368" y="181660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48400" y="202996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797040" y="204825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Revoir Paris – Rennes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48400" y="260908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Paris – Rennes représente 23 % de la diffusion mais reste à 0,54 fois la moyenne.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48400" y="331012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Rééquilibrer la diffusion vers les liaisons qui cliquent le plus (Lyon, Toulouse, Lille).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79120" y="413308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35152" y="434644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83792" y="436473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Les liaisons internationales intéressent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5152" y="492556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Paris – Barcelone (1,17 fois) et Paris – Amsterdam (1,10 fois) dépassent la moyenne.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5152" y="562660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Tester davantage de liaisons internationales.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992368" y="413308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48400" y="434644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797040" y="436473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Premier jour de diffusion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248400" y="492556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Lancée le 30/09, la campagne génère 788 clics sur la journée, pour un CTR de 0,57 %.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248400" y="562660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Premier bilan complet sur le mois d'octobre.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