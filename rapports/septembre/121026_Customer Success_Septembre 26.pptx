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6F2"/>
          </a:solidFill>
          <a:ln>
            <a:noFill/>
          </a:ln>
          <a:effectLst/>
        </p:spPr>
        <p:txBody>
          <a:bodyPr rtlCol="0" anchor="ctr"/>
          <a:lstStyle/>
          <a:p>
            <a:pPr algn="ctr"/>
          </a:p>
        </p:txBody>
      </p:sp>
      <p:sp>
        <p:nvSpPr>
          <p:cNvPr id="3" name="TextBox 2"/>
          <p:cNvSpPr txBox="1"/>
          <p:nvPr/>
        </p:nvSpPr>
        <p:spPr>
          <a:xfrm>
            <a:off x="530352" y="487680"/>
            <a:ext cx="7315200" cy="182880"/>
          </a:xfrm>
          <a:prstGeom prst="rect">
            <a:avLst/>
          </a:prstGeom>
          <a:noFill/>
        </p:spPr>
        <p:txBody>
          <a:bodyPr wrap="square" anchor="t" lIns="0" rIns="0" tIns="0" bIns="0">
            <a:spAutoFit/>
          </a:bodyPr>
          <a:lstStyle/>
          <a:p>
            <a:pPr algn="l"/>
            <a:r>
              <a:rPr sz="1300" b="1" i="0">
                <a:solidFill>
                  <a:srgbClr val="EE6A2C"/>
                </a:solidFill>
                <a:latin typeface="Arial"/>
              </a:rPr>
              <a:t>RAPPORT DE PERFORMANCE · 01/09/2026 → 30/09/2026</a:t>
            </a:r>
          </a:p>
        </p:txBody>
      </p:sp>
      <p:sp>
        <p:nvSpPr>
          <p:cNvPr id="4" name="TextBox 3"/>
          <p:cNvSpPr txBox="1"/>
          <p:nvPr/>
        </p:nvSpPr>
        <p:spPr>
          <a:xfrm>
            <a:off x="530352" y="640080"/>
            <a:ext cx="7315200" cy="487680"/>
          </a:xfrm>
          <a:prstGeom prst="rect">
            <a:avLst/>
          </a:prstGeom>
          <a:noFill/>
        </p:spPr>
        <p:txBody>
          <a:bodyPr wrap="square" anchor="t" lIns="0" rIns="0" tIns="0" bIns="0">
            <a:spAutoFit/>
          </a:bodyPr>
          <a:lstStyle/>
          <a:p>
            <a:pPr algn="l"/>
            <a:r>
              <a:rPr sz="3600" b="1" i="0">
                <a:solidFill>
                  <a:srgbClr val="111111"/>
                </a:solidFill>
                <a:latin typeface="Arial"/>
              </a:rPr>
              <a:t>Allo Pneus</a:t>
            </a:r>
          </a:p>
        </p:txBody>
      </p:sp>
      <p:sp>
        <p:nvSpPr>
          <p:cNvPr id="5" name="TextBox 4"/>
          <p:cNvSpPr txBox="1"/>
          <p:nvPr/>
        </p:nvSpPr>
        <p:spPr>
          <a:xfrm>
            <a:off x="7924800" y="591312"/>
            <a:ext cx="3304032" cy="152400"/>
          </a:xfrm>
          <a:prstGeom prst="rect">
            <a:avLst/>
          </a:prstGeom>
          <a:noFill/>
        </p:spPr>
        <p:txBody>
          <a:bodyPr wrap="square" anchor="t" lIns="0" rIns="0" tIns="0" bIns="0">
            <a:spAutoFit/>
          </a:bodyPr>
          <a:lstStyle/>
          <a:p>
            <a:pPr algn="r"/>
            <a:r>
              <a:rPr sz="1200" b="1" i="0">
                <a:solidFill>
                  <a:srgbClr val="8A93A6"/>
                </a:solidFill>
                <a:latin typeface="Arial"/>
              </a:rPr>
              <a:t>COMPARAISON</a:t>
            </a:r>
          </a:p>
        </p:txBody>
      </p:sp>
      <p:sp>
        <p:nvSpPr>
          <p:cNvPr id="6" name="TextBox 5"/>
          <p:cNvSpPr txBox="1"/>
          <p:nvPr/>
        </p:nvSpPr>
        <p:spPr>
          <a:xfrm>
            <a:off x="7924800" y="780288"/>
            <a:ext cx="3304032" cy="182880"/>
          </a:xfrm>
          <a:prstGeom prst="rect">
            <a:avLst/>
          </a:prstGeom>
          <a:noFill/>
        </p:spPr>
        <p:txBody>
          <a:bodyPr wrap="square" anchor="t" lIns="0" rIns="0" tIns="0" bIns="0">
            <a:spAutoFit/>
          </a:bodyPr>
          <a:lstStyle/>
          <a:p>
            <a:pPr algn="r"/>
            <a:r>
              <a:rPr sz="1500" b="1" i="0">
                <a:solidFill>
                  <a:srgbClr val="111111"/>
                </a:solidFill>
                <a:latin typeface="Arial"/>
              </a:rPr>
              <a:t>vs 01/08/2026 → 31/08/2026</a:t>
            </a:r>
          </a:p>
        </p:txBody>
      </p:sp>
      <p:sp>
        <p:nvSpPr>
          <p:cNvPr id="7" name="TextBox 6"/>
          <p:cNvSpPr txBox="1"/>
          <p:nvPr/>
        </p:nvSpPr>
        <p:spPr>
          <a:xfrm>
            <a:off x="530352" y="1280160"/>
            <a:ext cx="2438400" cy="182880"/>
          </a:xfrm>
          <a:prstGeom prst="rect">
            <a:avLst/>
          </a:prstGeom>
          <a:noFill/>
        </p:spPr>
        <p:txBody>
          <a:bodyPr wrap="square" anchor="t" lIns="0" rIns="0" tIns="0" bIns="0">
            <a:spAutoFit/>
          </a:bodyPr>
          <a:lstStyle/>
          <a:p>
            <a:pPr algn="l"/>
            <a:r>
              <a:rPr sz="1400" b="1" i="0">
                <a:solidFill>
                  <a:srgbClr val="EE6A2C"/>
                </a:solidFill>
                <a:latin typeface="Arial"/>
              </a:rPr>
              <a:t>DIFFUSION</a:t>
            </a:r>
          </a:p>
        </p:txBody>
      </p:sp>
      <p:sp>
        <p:nvSpPr>
          <p:cNvPr id="8" name="TextBox 7"/>
          <p:cNvSpPr txBox="1"/>
          <p:nvPr/>
        </p:nvSpPr>
        <p:spPr>
          <a:xfrm>
            <a:off x="2389632" y="1280160"/>
            <a:ext cx="2438400" cy="182880"/>
          </a:xfrm>
          <a:prstGeom prst="rect">
            <a:avLst/>
          </a:prstGeom>
          <a:noFill/>
        </p:spPr>
        <p:txBody>
          <a:bodyPr wrap="square" anchor="t" lIns="0" rIns="0" tIns="0" bIns="0">
            <a:spAutoFit/>
          </a:bodyPr>
          <a:lstStyle/>
          <a:p>
            <a:pPr algn="l"/>
            <a:r>
              <a:rPr sz="1400" b="1" i="0">
                <a:solidFill>
                  <a:srgbClr val="EE6A2C"/>
                </a:solidFill>
                <a:latin typeface="Arial"/>
              </a:rPr>
              <a:t>ENGAGEMENT</a:t>
            </a:r>
          </a:p>
        </p:txBody>
      </p:sp>
      <p:sp>
        <p:nvSpPr>
          <p:cNvPr id="9" name="TextBox 8"/>
          <p:cNvSpPr txBox="1"/>
          <p:nvPr/>
        </p:nvSpPr>
        <p:spPr>
          <a:xfrm>
            <a:off x="6108192" y="1280160"/>
            <a:ext cx="2438400" cy="182880"/>
          </a:xfrm>
          <a:prstGeom prst="rect">
            <a:avLst/>
          </a:prstGeom>
          <a:noFill/>
        </p:spPr>
        <p:txBody>
          <a:bodyPr wrap="square" anchor="t" lIns="0" rIns="0" tIns="0" bIns="0">
            <a:spAutoFit/>
          </a:bodyPr>
          <a:lstStyle/>
          <a:p>
            <a:pPr algn="l"/>
            <a:r>
              <a:rPr sz="1400" b="1" i="0">
                <a:solidFill>
                  <a:srgbClr val="EE6A2C"/>
                </a:solidFill>
                <a:latin typeface="Arial"/>
              </a:rPr>
              <a:t>CONVERSION</a:t>
            </a:r>
          </a:p>
        </p:txBody>
      </p:sp>
      <p:sp>
        <p:nvSpPr>
          <p:cNvPr id="10" name="Rectangle 9"/>
          <p:cNvSpPr/>
          <p:nvPr/>
        </p:nvSpPr>
        <p:spPr>
          <a:xfrm>
            <a:off x="530352" y="1536192"/>
            <a:ext cx="1389888" cy="1127760"/>
          </a:xfrm>
          <a:prstGeom prst="rect">
            <a:avLst/>
          </a:prstGeom>
          <a:solidFill>
            <a:srgbClr val="FFFFFF"/>
          </a:solidFill>
          <a:ln>
            <a:noFill/>
          </a:ln>
          <a:effectLst/>
        </p:spPr>
        <p:txBody>
          <a:bodyPr rtlCol="0" anchor="ctr"/>
          <a:lstStyle/>
          <a:p>
            <a:pPr algn="ctr"/>
          </a:p>
        </p:txBody>
      </p:sp>
      <p:sp>
        <p:nvSpPr>
          <p:cNvPr id="11" name="Rectangle 10"/>
          <p:cNvSpPr/>
          <p:nvPr/>
        </p:nvSpPr>
        <p:spPr>
          <a:xfrm>
            <a:off x="530352" y="1536192"/>
            <a:ext cx="24384" cy="1127760"/>
          </a:xfrm>
          <a:prstGeom prst="rect">
            <a:avLst/>
          </a:prstGeom>
          <a:solidFill>
            <a:srgbClr val="EE6A2C"/>
          </a:solidFill>
          <a:ln>
            <a:noFill/>
          </a:ln>
          <a:effectLst/>
        </p:spPr>
        <p:txBody>
          <a:bodyPr rtlCol="0" anchor="ctr"/>
          <a:lstStyle/>
          <a:p>
            <a:pPr algn="ctr"/>
          </a:p>
        </p:txBody>
      </p:sp>
      <p:sp>
        <p:nvSpPr>
          <p:cNvPr id="12" name="TextBox 11"/>
          <p:cNvSpPr txBox="1"/>
          <p:nvPr/>
        </p:nvSpPr>
        <p:spPr>
          <a:xfrm>
            <a:off x="664464" y="1615440"/>
            <a:ext cx="1219200" cy="121920"/>
          </a:xfrm>
          <a:prstGeom prst="rect">
            <a:avLst/>
          </a:prstGeom>
          <a:noFill/>
        </p:spPr>
        <p:txBody>
          <a:bodyPr wrap="square" anchor="t" lIns="0" rIns="0" tIns="0" bIns="0">
            <a:spAutoFit/>
          </a:bodyPr>
          <a:lstStyle/>
          <a:p>
            <a:pPr algn="l"/>
            <a:r>
              <a:rPr sz="1000" b="1" i="0">
                <a:solidFill>
                  <a:srgbClr val="555B66"/>
                </a:solidFill>
                <a:latin typeface="Arial"/>
              </a:rPr>
              <a:t>IMPRESSIONS</a:t>
            </a:r>
          </a:p>
        </p:txBody>
      </p:sp>
      <p:sp>
        <p:nvSpPr>
          <p:cNvPr id="13" name="TextBox 12"/>
          <p:cNvSpPr txBox="1"/>
          <p:nvPr/>
        </p:nvSpPr>
        <p:spPr>
          <a:xfrm>
            <a:off x="664464" y="1889760"/>
            <a:ext cx="1219200" cy="274320"/>
          </a:xfrm>
          <a:prstGeom prst="rect">
            <a:avLst/>
          </a:prstGeom>
          <a:noFill/>
        </p:spPr>
        <p:txBody>
          <a:bodyPr wrap="square" anchor="t" lIns="0" rIns="0" tIns="0" bIns="0">
            <a:spAutoFit/>
          </a:bodyPr>
          <a:lstStyle/>
          <a:p>
            <a:pPr algn="l"/>
            <a:r>
              <a:rPr sz="2200" b="1" i="0">
                <a:solidFill>
                  <a:srgbClr val="111111"/>
                </a:solidFill>
                <a:latin typeface="Arial"/>
              </a:rPr>
              <a:t>577 195</a:t>
            </a:r>
          </a:p>
        </p:txBody>
      </p:sp>
      <p:sp>
        <p:nvSpPr>
          <p:cNvPr id="14" name="TextBox 13"/>
          <p:cNvSpPr txBox="1"/>
          <p:nvPr/>
        </p:nvSpPr>
        <p:spPr>
          <a:xfrm>
            <a:off x="664464" y="2243328"/>
            <a:ext cx="1219200" cy="109728"/>
          </a:xfrm>
          <a:prstGeom prst="rect">
            <a:avLst/>
          </a:prstGeom>
          <a:noFill/>
        </p:spPr>
        <p:txBody>
          <a:bodyPr wrap="square" anchor="t" lIns="0" rIns="0" tIns="0" bIns="0">
            <a:spAutoFit/>
          </a:bodyPr>
          <a:lstStyle/>
          <a:p>
            <a:pPr algn="l"/>
            <a:r>
              <a:rPr sz="1000" b="1" i="0">
                <a:solidFill>
                  <a:srgbClr val="B04837"/>
                </a:solidFill>
                <a:latin typeface="Arial"/>
              </a:rPr>
              <a:t>▼ −59 %</a:t>
            </a:r>
          </a:p>
        </p:txBody>
      </p:sp>
      <p:sp>
        <p:nvSpPr>
          <p:cNvPr id="15" name="TextBox 14"/>
          <p:cNvSpPr txBox="1"/>
          <p:nvPr/>
        </p:nvSpPr>
        <p:spPr>
          <a:xfrm>
            <a:off x="664464" y="2499360"/>
            <a:ext cx="1219200" cy="91440"/>
          </a:xfrm>
          <a:prstGeom prst="rect">
            <a:avLst/>
          </a:prstGeom>
          <a:noFill/>
        </p:spPr>
        <p:txBody>
          <a:bodyPr wrap="square" anchor="t" lIns="0" rIns="0" tIns="0" bIns="0">
            <a:spAutoFit/>
          </a:bodyPr>
          <a:lstStyle/>
          <a:p>
            <a:pPr algn="l"/>
            <a:r>
              <a:rPr sz="800" b="0" i="1">
                <a:solidFill>
                  <a:srgbClr val="555B66"/>
                </a:solidFill>
                <a:latin typeface="Arial"/>
              </a:rPr>
              <a:t>YTD 3 845 061</a:t>
            </a:r>
          </a:p>
        </p:txBody>
      </p:sp>
      <p:sp>
        <p:nvSpPr>
          <p:cNvPr id="16" name="Rectangle 15"/>
          <p:cNvSpPr/>
          <p:nvPr/>
        </p:nvSpPr>
        <p:spPr>
          <a:xfrm>
            <a:off x="2389632" y="1536192"/>
            <a:ext cx="1389888" cy="1127760"/>
          </a:xfrm>
          <a:prstGeom prst="rect">
            <a:avLst/>
          </a:prstGeom>
          <a:solidFill>
            <a:srgbClr val="FFFFFF"/>
          </a:solidFill>
          <a:ln>
            <a:noFill/>
          </a:ln>
          <a:effectLst/>
        </p:spPr>
        <p:txBody>
          <a:bodyPr rtlCol="0" anchor="ctr"/>
          <a:lstStyle/>
          <a:p>
            <a:pPr algn="ctr"/>
          </a:p>
        </p:txBody>
      </p:sp>
      <p:sp>
        <p:nvSpPr>
          <p:cNvPr id="17" name="Rectangle 16"/>
          <p:cNvSpPr/>
          <p:nvPr/>
        </p:nvSpPr>
        <p:spPr>
          <a:xfrm>
            <a:off x="2389632" y="1536192"/>
            <a:ext cx="24384" cy="1127760"/>
          </a:xfrm>
          <a:prstGeom prst="rect">
            <a:avLst/>
          </a:prstGeom>
          <a:solidFill>
            <a:srgbClr val="EE6A2C"/>
          </a:solidFill>
          <a:ln>
            <a:noFill/>
          </a:ln>
          <a:effectLst/>
        </p:spPr>
        <p:txBody>
          <a:bodyPr rtlCol="0" anchor="ctr"/>
          <a:lstStyle/>
          <a:p>
            <a:pPr algn="ctr"/>
          </a:p>
        </p:txBody>
      </p:sp>
      <p:sp>
        <p:nvSpPr>
          <p:cNvPr id="18" name="TextBox 17"/>
          <p:cNvSpPr txBox="1"/>
          <p:nvPr/>
        </p:nvSpPr>
        <p:spPr>
          <a:xfrm>
            <a:off x="2523744" y="1615440"/>
            <a:ext cx="1219200" cy="121920"/>
          </a:xfrm>
          <a:prstGeom prst="rect">
            <a:avLst/>
          </a:prstGeom>
          <a:noFill/>
        </p:spPr>
        <p:txBody>
          <a:bodyPr wrap="square" anchor="t" lIns="0" rIns="0" tIns="0" bIns="0">
            <a:spAutoFit/>
          </a:bodyPr>
          <a:lstStyle/>
          <a:p>
            <a:pPr algn="l"/>
            <a:r>
              <a:rPr sz="1000" b="1" i="0">
                <a:solidFill>
                  <a:srgbClr val="555B66"/>
                </a:solidFill>
                <a:latin typeface="Arial"/>
              </a:rPr>
              <a:t>CLICS</a:t>
            </a:r>
          </a:p>
        </p:txBody>
      </p:sp>
      <p:sp>
        <p:nvSpPr>
          <p:cNvPr id="19" name="TextBox 18"/>
          <p:cNvSpPr txBox="1"/>
          <p:nvPr/>
        </p:nvSpPr>
        <p:spPr>
          <a:xfrm>
            <a:off x="2523744" y="1889760"/>
            <a:ext cx="1219200" cy="274320"/>
          </a:xfrm>
          <a:prstGeom prst="rect">
            <a:avLst/>
          </a:prstGeom>
          <a:noFill/>
        </p:spPr>
        <p:txBody>
          <a:bodyPr wrap="square" anchor="t" lIns="0" rIns="0" tIns="0" bIns="0">
            <a:spAutoFit/>
          </a:bodyPr>
          <a:lstStyle/>
          <a:p>
            <a:pPr algn="l"/>
            <a:r>
              <a:rPr sz="2200" b="1" i="0">
                <a:solidFill>
                  <a:srgbClr val="111111"/>
                </a:solidFill>
                <a:latin typeface="Arial"/>
              </a:rPr>
              <a:t>2 287</a:t>
            </a:r>
          </a:p>
        </p:txBody>
      </p:sp>
      <p:sp>
        <p:nvSpPr>
          <p:cNvPr id="20" name="TextBox 19"/>
          <p:cNvSpPr txBox="1"/>
          <p:nvPr/>
        </p:nvSpPr>
        <p:spPr>
          <a:xfrm>
            <a:off x="2523744" y="2243328"/>
            <a:ext cx="1219200" cy="109728"/>
          </a:xfrm>
          <a:prstGeom prst="rect">
            <a:avLst/>
          </a:prstGeom>
          <a:noFill/>
        </p:spPr>
        <p:txBody>
          <a:bodyPr wrap="square" anchor="t" lIns="0" rIns="0" tIns="0" bIns="0">
            <a:spAutoFit/>
          </a:bodyPr>
          <a:lstStyle/>
          <a:p>
            <a:pPr algn="l"/>
            <a:r>
              <a:rPr sz="1000" b="1" i="0">
                <a:solidFill>
                  <a:srgbClr val="1E7B34"/>
                </a:solidFill>
                <a:latin typeface="Arial"/>
              </a:rPr>
              <a:t>▲ +6 %</a:t>
            </a:r>
          </a:p>
        </p:txBody>
      </p:sp>
      <p:sp>
        <p:nvSpPr>
          <p:cNvPr id="21" name="TextBox 20"/>
          <p:cNvSpPr txBox="1"/>
          <p:nvPr/>
        </p:nvSpPr>
        <p:spPr>
          <a:xfrm>
            <a:off x="2523744" y="2499360"/>
            <a:ext cx="1219200" cy="91440"/>
          </a:xfrm>
          <a:prstGeom prst="rect">
            <a:avLst/>
          </a:prstGeom>
          <a:noFill/>
        </p:spPr>
        <p:txBody>
          <a:bodyPr wrap="square" anchor="t" lIns="0" rIns="0" tIns="0" bIns="0">
            <a:spAutoFit/>
          </a:bodyPr>
          <a:lstStyle/>
          <a:p>
            <a:pPr algn="l"/>
            <a:r>
              <a:rPr sz="800" b="0" i="1">
                <a:solidFill>
                  <a:srgbClr val="555B66"/>
                </a:solidFill>
                <a:latin typeface="Arial"/>
              </a:rPr>
              <a:t>YTD 6 845</a:t>
            </a:r>
          </a:p>
        </p:txBody>
      </p:sp>
      <p:sp>
        <p:nvSpPr>
          <p:cNvPr id="22" name="Rectangle 21"/>
          <p:cNvSpPr/>
          <p:nvPr/>
        </p:nvSpPr>
        <p:spPr>
          <a:xfrm>
            <a:off x="4248912" y="1536192"/>
            <a:ext cx="1389888" cy="1127760"/>
          </a:xfrm>
          <a:prstGeom prst="rect">
            <a:avLst/>
          </a:prstGeom>
          <a:solidFill>
            <a:srgbClr val="FFFFFF"/>
          </a:solidFill>
          <a:ln>
            <a:noFill/>
          </a:ln>
          <a:effectLst/>
        </p:spPr>
        <p:txBody>
          <a:bodyPr rtlCol="0" anchor="ctr"/>
          <a:lstStyle/>
          <a:p>
            <a:pPr algn="ctr"/>
          </a:p>
        </p:txBody>
      </p:sp>
      <p:sp>
        <p:nvSpPr>
          <p:cNvPr id="23" name="Rectangle 22"/>
          <p:cNvSpPr/>
          <p:nvPr/>
        </p:nvSpPr>
        <p:spPr>
          <a:xfrm>
            <a:off x="4248912" y="1536192"/>
            <a:ext cx="24384" cy="1127760"/>
          </a:xfrm>
          <a:prstGeom prst="rect">
            <a:avLst/>
          </a:prstGeom>
          <a:solidFill>
            <a:srgbClr val="EE6A2C"/>
          </a:solidFill>
          <a:ln>
            <a:noFill/>
          </a:ln>
          <a:effectLst/>
        </p:spPr>
        <p:txBody>
          <a:bodyPr rtlCol="0" anchor="ctr"/>
          <a:lstStyle/>
          <a:p>
            <a:pPr algn="ctr"/>
          </a:p>
        </p:txBody>
      </p:sp>
      <p:sp>
        <p:nvSpPr>
          <p:cNvPr id="24" name="TextBox 23"/>
          <p:cNvSpPr txBox="1"/>
          <p:nvPr/>
        </p:nvSpPr>
        <p:spPr>
          <a:xfrm>
            <a:off x="4383024" y="1615440"/>
            <a:ext cx="1219200" cy="121920"/>
          </a:xfrm>
          <a:prstGeom prst="rect">
            <a:avLst/>
          </a:prstGeom>
          <a:noFill/>
        </p:spPr>
        <p:txBody>
          <a:bodyPr wrap="square" anchor="t" lIns="0" rIns="0" tIns="0" bIns="0">
            <a:spAutoFit/>
          </a:bodyPr>
          <a:lstStyle/>
          <a:p>
            <a:pPr algn="l"/>
            <a:r>
              <a:rPr sz="1000" b="1" i="0">
                <a:solidFill>
                  <a:srgbClr val="555B66"/>
                </a:solidFill>
                <a:latin typeface="Arial"/>
              </a:rPr>
              <a:t>CTR</a:t>
            </a:r>
          </a:p>
        </p:txBody>
      </p:sp>
      <p:sp>
        <p:nvSpPr>
          <p:cNvPr id="25" name="TextBox 24"/>
          <p:cNvSpPr txBox="1"/>
          <p:nvPr/>
        </p:nvSpPr>
        <p:spPr>
          <a:xfrm>
            <a:off x="4383024" y="1889760"/>
            <a:ext cx="1219200" cy="274320"/>
          </a:xfrm>
          <a:prstGeom prst="rect">
            <a:avLst/>
          </a:prstGeom>
          <a:noFill/>
        </p:spPr>
        <p:txBody>
          <a:bodyPr wrap="square" anchor="t" lIns="0" rIns="0" tIns="0" bIns="0">
            <a:spAutoFit/>
          </a:bodyPr>
          <a:lstStyle/>
          <a:p>
            <a:pPr algn="l"/>
            <a:r>
              <a:rPr sz="2200" b="1" i="0">
                <a:solidFill>
                  <a:srgbClr val="111111"/>
                </a:solidFill>
                <a:latin typeface="Arial"/>
              </a:rPr>
              <a:t>0,40 %</a:t>
            </a:r>
          </a:p>
        </p:txBody>
      </p:sp>
      <p:sp>
        <p:nvSpPr>
          <p:cNvPr id="26" name="TextBox 25"/>
          <p:cNvSpPr txBox="1"/>
          <p:nvPr/>
        </p:nvSpPr>
        <p:spPr>
          <a:xfrm>
            <a:off x="4383024" y="2243328"/>
            <a:ext cx="1219200" cy="109728"/>
          </a:xfrm>
          <a:prstGeom prst="rect">
            <a:avLst/>
          </a:prstGeom>
          <a:noFill/>
        </p:spPr>
        <p:txBody>
          <a:bodyPr wrap="square" anchor="t" lIns="0" rIns="0" tIns="0" bIns="0">
            <a:spAutoFit/>
          </a:bodyPr>
          <a:lstStyle/>
          <a:p>
            <a:pPr algn="l"/>
            <a:r>
              <a:rPr sz="1000" b="1" i="0">
                <a:solidFill>
                  <a:srgbClr val="1E7B34"/>
                </a:solidFill>
                <a:latin typeface="Arial"/>
              </a:rPr>
              <a:t>▲ +0,24 pt</a:t>
            </a:r>
          </a:p>
        </p:txBody>
      </p:sp>
      <p:sp>
        <p:nvSpPr>
          <p:cNvPr id="27" name="TextBox 26"/>
          <p:cNvSpPr txBox="1"/>
          <p:nvPr/>
        </p:nvSpPr>
        <p:spPr>
          <a:xfrm>
            <a:off x="4383024" y="2499360"/>
            <a:ext cx="1219200" cy="91440"/>
          </a:xfrm>
          <a:prstGeom prst="rect">
            <a:avLst/>
          </a:prstGeom>
          <a:noFill/>
        </p:spPr>
        <p:txBody>
          <a:bodyPr wrap="square" anchor="t" lIns="0" rIns="0" tIns="0" bIns="0">
            <a:spAutoFit/>
          </a:bodyPr>
          <a:lstStyle/>
          <a:p>
            <a:pPr algn="l"/>
            <a:r>
              <a:rPr sz="800" b="0" i="1">
                <a:solidFill>
                  <a:srgbClr val="555B66"/>
                </a:solidFill>
                <a:latin typeface="Arial"/>
              </a:rPr>
              <a:t>YTD 0,18 %</a:t>
            </a:r>
          </a:p>
        </p:txBody>
      </p:sp>
      <p:sp>
        <p:nvSpPr>
          <p:cNvPr id="28" name="Rectangle 27"/>
          <p:cNvSpPr/>
          <p:nvPr/>
        </p:nvSpPr>
        <p:spPr>
          <a:xfrm>
            <a:off x="6108192" y="1536192"/>
            <a:ext cx="1389888" cy="1127760"/>
          </a:xfrm>
          <a:prstGeom prst="rect">
            <a:avLst/>
          </a:prstGeom>
          <a:solidFill>
            <a:srgbClr val="F1EFEB"/>
          </a:solidFill>
          <a:ln>
            <a:noFill/>
          </a:ln>
          <a:effectLst/>
        </p:spPr>
        <p:txBody>
          <a:bodyPr rtlCol="0" anchor="ctr"/>
          <a:lstStyle/>
          <a:p>
            <a:pPr algn="ctr"/>
          </a:p>
        </p:txBody>
      </p:sp>
      <p:sp>
        <p:nvSpPr>
          <p:cNvPr id="29" name="Rounded Rectangle 28"/>
          <p:cNvSpPr/>
          <p:nvPr/>
        </p:nvSpPr>
        <p:spPr>
          <a:xfrm>
            <a:off x="6827520" y="1450848"/>
            <a:ext cx="609600" cy="170688"/>
          </a:xfrm>
          <a:prstGeom prst="roundRect">
            <a:avLst>
              <a:gd name="adj" fmla="val 50000"/>
            </a:avLst>
          </a:prstGeom>
          <a:solidFill>
            <a:srgbClr val="D9D6D1"/>
          </a:solidFill>
          <a:ln>
            <a:noFill/>
          </a:ln>
          <a:effectLst/>
        </p:spPr>
        <p:txBody>
          <a:bodyPr rtlCol="0" anchor="ctr"/>
          <a:lstStyle/>
          <a:p>
            <a:pPr algn="ctr"/>
          </a:p>
        </p:txBody>
      </p:sp>
      <p:sp>
        <p:nvSpPr>
          <p:cNvPr id="30" name="TextBox 29"/>
          <p:cNvSpPr txBox="1"/>
          <p:nvPr/>
        </p:nvSpPr>
        <p:spPr>
          <a:xfrm>
            <a:off x="6827520" y="1450848"/>
            <a:ext cx="609600" cy="170688"/>
          </a:xfrm>
          <a:prstGeom prst="rect">
            <a:avLst/>
          </a:prstGeom>
          <a:noFill/>
        </p:spPr>
        <p:txBody>
          <a:bodyPr wrap="square" anchor="ctr" lIns="0" rIns="0" tIns="0" bIns="0">
            <a:spAutoFit/>
          </a:bodyPr>
          <a:lstStyle/>
          <a:p>
            <a:pPr algn="ctr"/>
            <a:r>
              <a:rPr sz="800" b="1" i="0">
                <a:solidFill>
                  <a:srgbClr val="555B66"/>
                </a:solidFill>
                <a:latin typeface="Arial"/>
              </a:rPr>
              <a:t>INDICATIF</a:t>
            </a:r>
          </a:p>
        </p:txBody>
      </p:sp>
      <p:sp>
        <p:nvSpPr>
          <p:cNvPr id="31" name="TextBox 30"/>
          <p:cNvSpPr txBox="1"/>
          <p:nvPr/>
        </p:nvSpPr>
        <p:spPr>
          <a:xfrm>
            <a:off x="6242304" y="1706880"/>
            <a:ext cx="1219200" cy="121920"/>
          </a:xfrm>
          <a:prstGeom prst="rect">
            <a:avLst/>
          </a:prstGeom>
          <a:noFill/>
        </p:spPr>
        <p:txBody>
          <a:bodyPr wrap="square" anchor="t" lIns="0" rIns="0" tIns="0" bIns="0">
            <a:spAutoFit/>
          </a:bodyPr>
          <a:lstStyle/>
          <a:p>
            <a:pPr algn="l"/>
            <a:r>
              <a:rPr sz="1000" b="1" i="0">
                <a:solidFill>
                  <a:srgbClr val="8A93A6"/>
                </a:solidFill>
                <a:latin typeface="Arial"/>
              </a:rPr>
              <a:t>CONVERSIONS</a:t>
            </a:r>
          </a:p>
        </p:txBody>
      </p:sp>
      <p:sp>
        <p:nvSpPr>
          <p:cNvPr id="32" name="TextBox 31"/>
          <p:cNvSpPr txBox="1"/>
          <p:nvPr/>
        </p:nvSpPr>
        <p:spPr>
          <a:xfrm>
            <a:off x="6242304" y="1889760"/>
            <a:ext cx="1219200" cy="274320"/>
          </a:xfrm>
          <a:prstGeom prst="rect">
            <a:avLst/>
          </a:prstGeom>
          <a:noFill/>
        </p:spPr>
        <p:txBody>
          <a:bodyPr wrap="square" anchor="t" lIns="0" rIns="0" tIns="0" bIns="0">
            <a:spAutoFit/>
          </a:bodyPr>
          <a:lstStyle/>
          <a:p>
            <a:pPr algn="l"/>
            <a:r>
              <a:rPr sz="2200" b="1" i="0">
                <a:solidFill>
                  <a:srgbClr val="8A93A6"/>
                </a:solidFill>
                <a:latin typeface="Arial"/>
              </a:rPr>
              <a:t>N/C</a:t>
            </a:r>
          </a:p>
        </p:txBody>
      </p:sp>
      <p:sp>
        <p:nvSpPr>
          <p:cNvPr id="33" name="TextBox 32"/>
          <p:cNvSpPr txBox="1"/>
          <p:nvPr/>
        </p:nvSpPr>
        <p:spPr>
          <a:xfrm>
            <a:off x="6242304" y="2243328"/>
            <a:ext cx="1219200" cy="109728"/>
          </a:xfrm>
          <a:prstGeom prst="rect">
            <a:avLst/>
          </a:prstGeom>
          <a:noFill/>
        </p:spPr>
        <p:txBody>
          <a:bodyPr wrap="square" anchor="t" lIns="0" rIns="0" tIns="0" bIns="0">
            <a:spAutoFit/>
          </a:bodyPr>
          <a:lstStyle/>
          <a:p>
            <a:pPr algn="l"/>
            <a:r>
              <a:rPr sz="1000" b="1" i="0">
                <a:solidFill>
                  <a:srgbClr val="8A93A6"/>
                </a:solidFill>
                <a:latin typeface="Arial"/>
              </a:rPr>
              <a:t>—</a:t>
            </a:r>
          </a:p>
        </p:txBody>
      </p:sp>
      <p:sp>
        <p:nvSpPr>
          <p:cNvPr id="34" name="TextBox 33"/>
          <p:cNvSpPr txBox="1"/>
          <p:nvPr/>
        </p:nvSpPr>
        <p:spPr>
          <a:xfrm>
            <a:off x="6242304" y="2499360"/>
            <a:ext cx="1219200" cy="91440"/>
          </a:xfrm>
          <a:prstGeom prst="rect">
            <a:avLst/>
          </a:prstGeom>
          <a:noFill/>
        </p:spPr>
        <p:txBody>
          <a:bodyPr wrap="square" anchor="t" lIns="0" rIns="0" tIns="0" bIns="0">
            <a:spAutoFit/>
          </a:bodyPr>
          <a:lstStyle/>
          <a:p>
            <a:pPr algn="l"/>
            <a:r>
              <a:rPr sz="800" b="0" i="1">
                <a:solidFill>
                  <a:srgbClr val="8A93A6"/>
                </a:solidFill>
                <a:latin typeface="Arial"/>
              </a:rPr>
              <a:t>YTD —</a:t>
            </a:r>
          </a:p>
        </p:txBody>
      </p:sp>
      <p:sp>
        <p:nvSpPr>
          <p:cNvPr id="35" name="Rectangle 34"/>
          <p:cNvSpPr/>
          <p:nvPr/>
        </p:nvSpPr>
        <p:spPr>
          <a:xfrm>
            <a:off x="7967472" y="1536192"/>
            <a:ext cx="1389888" cy="1127760"/>
          </a:xfrm>
          <a:prstGeom prst="rect">
            <a:avLst/>
          </a:prstGeom>
          <a:solidFill>
            <a:srgbClr val="F1EFEB"/>
          </a:solidFill>
          <a:ln>
            <a:noFill/>
          </a:ln>
          <a:effectLst/>
        </p:spPr>
        <p:txBody>
          <a:bodyPr rtlCol="0" anchor="ctr"/>
          <a:lstStyle/>
          <a:p>
            <a:pPr algn="ctr"/>
          </a:p>
        </p:txBody>
      </p:sp>
      <p:sp>
        <p:nvSpPr>
          <p:cNvPr id="36" name="Rounded Rectangle 35"/>
          <p:cNvSpPr/>
          <p:nvPr/>
        </p:nvSpPr>
        <p:spPr>
          <a:xfrm>
            <a:off x="8686800" y="1450848"/>
            <a:ext cx="609600" cy="170688"/>
          </a:xfrm>
          <a:prstGeom prst="roundRect">
            <a:avLst>
              <a:gd name="adj" fmla="val 50000"/>
            </a:avLst>
          </a:prstGeom>
          <a:solidFill>
            <a:srgbClr val="D9D6D1"/>
          </a:solidFill>
          <a:ln>
            <a:noFill/>
          </a:ln>
          <a:effectLst/>
        </p:spPr>
        <p:txBody>
          <a:bodyPr rtlCol="0" anchor="ctr"/>
          <a:lstStyle/>
          <a:p>
            <a:pPr algn="ctr"/>
          </a:p>
        </p:txBody>
      </p:sp>
      <p:sp>
        <p:nvSpPr>
          <p:cNvPr id="37" name="TextBox 36"/>
          <p:cNvSpPr txBox="1"/>
          <p:nvPr/>
        </p:nvSpPr>
        <p:spPr>
          <a:xfrm>
            <a:off x="8686800" y="1450848"/>
            <a:ext cx="609600" cy="170688"/>
          </a:xfrm>
          <a:prstGeom prst="rect">
            <a:avLst/>
          </a:prstGeom>
          <a:noFill/>
        </p:spPr>
        <p:txBody>
          <a:bodyPr wrap="square" anchor="ctr" lIns="0" rIns="0" tIns="0" bIns="0">
            <a:spAutoFit/>
          </a:bodyPr>
          <a:lstStyle/>
          <a:p>
            <a:pPr algn="ctr"/>
            <a:r>
              <a:rPr sz="800" b="1" i="0">
                <a:solidFill>
                  <a:srgbClr val="555B66"/>
                </a:solidFill>
                <a:latin typeface="Arial"/>
              </a:rPr>
              <a:t>INDICATIF</a:t>
            </a:r>
          </a:p>
        </p:txBody>
      </p:sp>
      <p:sp>
        <p:nvSpPr>
          <p:cNvPr id="38" name="TextBox 37"/>
          <p:cNvSpPr txBox="1"/>
          <p:nvPr/>
        </p:nvSpPr>
        <p:spPr>
          <a:xfrm>
            <a:off x="8101584" y="1706880"/>
            <a:ext cx="1219200" cy="121920"/>
          </a:xfrm>
          <a:prstGeom prst="rect">
            <a:avLst/>
          </a:prstGeom>
          <a:noFill/>
        </p:spPr>
        <p:txBody>
          <a:bodyPr wrap="square" anchor="t" lIns="0" rIns="0" tIns="0" bIns="0">
            <a:spAutoFit/>
          </a:bodyPr>
          <a:lstStyle/>
          <a:p>
            <a:pPr algn="l"/>
            <a:r>
              <a:rPr sz="1000" b="1" i="0">
                <a:solidFill>
                  <a:srgbClr val="8A93A6"/>
                </a:solidFill>
                <a:latin typeface="Arial"/>
              </a:rPr>
              <a:t>CVR</a:t>
            </a:r>
          </a:p>
        </p:txBody>
      </p:sp>
      <p:sp>
        <p:nvSpPr>
          <p:cNvPr id="39" name="TextBox 38"/>
          <p:cNvSpPr txBox="1"/>
          <p:nvPr/>
        </p:nvSpPr>
        <p:spPr>
          <a:xfrm>
            <a:off x="8101584" y="1889760"/>
            <a:ext cx="1219200" cy="274320"/>
          </a:xfrm>
          <a:prstGeom prst="rect">
            <a:avLst/>
          </a:prstGeom>
          <a:noFill/>
        </p:spPr>
        <p:txBody>
          <a:bodyPr wrap="square" anchor="t" lIns="0" rIns="0" tIns="0" bIns="0">
            <a:spAutoFit/>
          </a:bodyPr>
          <a:lstStyle/>
          <a:p>
            <a:pPr algn="l"/>
            <a:r>
              <a:rPr sz="2200" b="1" i="0">
                <a:solidFill>
                  <a:srgbClr val="8A93A6"/>
                </a:solidFill>
                <a:latin typeface="Arial"/>
              </a:rPr>
              <a:t>N/C</a:t>
            </a:r>
          </a:p>
        </p:txBody>
      </p:sp>
      <p:sp>
        <p:nvSpPr>
          <p:cNvPr id="40" name="TextBox 39"/>
          <p:cNvSpPr txBox="1"/>
          <p:nvPr/>
        </p:nvSpPr>
        <p:spPr>
          <a:xfrm>
            <a:off x="8101584" y="2243328"/>
            <a:ext cx="1219200" cy="109728"/>
          </a:xfrm>
          <a:prstGeom prst="rect">
            <a:avLst/>
          </a:prstGeom>
          <a:noFill/>
        </p:spPr>
        <p:txBody>
          <a:bodyPr wrap="square" anchor="t" lIns="0" rIns="0" tIns="0" bIns="0">
            <a:spAutoFit/>
          </a:bodyPr>
          <a:lstStyle/>
          <a:p>
            <a:pPr algn="l"/>
            <a:r>
              <a:rPr sz="1000" b="1" i="0">
                <a:solidFill>
                  <a:srgbClr val="8A93A6"/>
                </a:solidFill>
                <a:latin typeface="Arial"/>
              </a:rPr>
              <a:t>—</a:t>
            </a:r>
          </a:p>
        </p:txBody>
      </p:sp>
      <p:sp>
        <p:nvSpPr>
          <p:cNvPr id="41" name="TextBox 40"/>
          <p:cNvSpPr txBox="1"/>
          <p:nvPr/>
        </p:nvSpPr>
        <p:spPr>
          <a:xfrm>
            <a:off x="8101584" y="2499360"/>
            <a:ext cx="1219200" cy="91440"/>
          </a:xfrm>
          <a:prstGeom prst="rect">
            <a:avLst/>
          </a:prstGeom>
          <a:noFill/>
        </p:spPr>
        <p:txBody>
          <a:bodyPr wrap="square" anchor="t" lIns="0" rIns="0" tIns="0" bIns="0">
            <a:spAutoFit/>
          </a:bodyPr>
          <a:lstStyle/>
          <a:p>
            <a:pPr algn="l"/>
            <a:r>
              <a:rPr sz="800" b="0" i="1">
                <a:solidFill>
                  <a:srgbClr val="8A93A6"/>
                </a:solidFill>
                <a:latin typeface="Arial"/>
              </a:rPr>
              <a:t>YTD —</a:t>
            </a:r>
          </a:p>
        </p:txBody>
      </p:sp>
      <p:sp>
        <p:nvSpPr>
          <p:cNvPr id="42" name="Rectangle 41"/>
          <p:cNvSpPr/>
          <p:nvPr/>
        </p:nvSpPr>
        <p:spPr>
          <a:xfrm>
            <a:off x="9826752" y="1536192"/>
            <a:ext cx="1389888" cy="1127760"/>
          </a:xfrm>
          <a:prstGeom prst="rect">
            <a:avLst/>
          </a:prstGeom>
          <a:solidFill>
            <a:srgbClr val="F1EFEB"/>
          </a:solidFill>
          <a:ln>
            <a:noFill/>
          </a:ln>
          <a:effectLst/>
        </p:spPr>
        <p:txBody>
          <a:bodyPr rtlCol="0" anchor="ctr"/>
          <a:lstStyle/>
          <a:p>
            <a:pPr algn="ctr"/>
          </a:p>
        </p:txBody>
      </p:sp>
      <p:sp>
        <p:nvSpPr>
          <p:cNvPr id="43" name="Rounded Rectangle 42"/>
          <p:cNvSpPr/>
          <p:nvPr/>
        </p:nvSpPr>
        <p:spPr>
          <a:xfrm>
            <a:off x="10546080" y="1450848"/>
            <a:ext cx="609600" cy="170688"/>
          </a:xfrm>
          <a:prstGeom prst="roundRect">
            <a:avLst>
              <a:gd name="adj" fmla="val 50000"/>
            </a:avLst>
          </a:prstGeom>
          <a:solidFill>
            <a:srgbClr val="D9D6D1"/>
          </a:solidFill>
          <a:ln>
            <a:noFill/>
          </a:ln>
          <a:effectLst/>
        </p:spPr>
        <p:txBody>
          <a:bodyPr rtlCol="0" anchor="ctr"/>
          <a:lstStyle/>
          <a:p>
            <a:pPr algn="ctr"/>
          </a:p>
        </p:txBody>
      </p:sp>
      <p:sp>
        <p:nvSpPr>
          <p:cNvPr id="44" name="TextBox 43"/>
          <p:cNvSpPr txBox="1"/>
          <p:nvPr/>
        </p:nvSpPr>
        <p:spPr>
          <a:xfrm>
            <a:off x="10546080" y="1450848"/>
            <a:ext cx="609600" cy="170688"/>
          </a:xfrm>
          <a:prstGeom prst="rect">
            <a:avLst/>
          </a:prstGeom>
          <a:noFill/>
        </p:spPr>
        <p:txBody>
          <a:bodyPr wrap="square" anchor="ctr" lIns="0" rIns="0" tIns="0" bIns="0">
            <a:spAutoFit/>
          </a:bodyPr>
          <a:lstStyle/>
          <a:p>
            <a:pPr algn="ctr"/>
            <a:r>
              <a:rPr sz="800" b="1" i="0">
                <a:solidFill>
                  <a:srgbClr val="555B66"/>
                </a:solidFill>
                <a:latin typeface="Arial"/>
              </a:rPr>
              <a:t>INDICATIF</a:t>
            </a:r>
          </a:p>
        </p:txBody>
      </p:sp>
      <p:sp>
        <p:nvSpPr>
          <p:cNvPr id="45" name="TextBox 44"/>
          <p:cNvSpPr txBox="1"/>
          <p:nvPr/>
        </p:nvSpPr>
        <p:spPr>
          <a:xfrm>
            <a:off x="9960864" y="1706880"/>
            <a:ext cx="1219200" cy="121920"/>
          </a:xfrm>
          <a:prstGeom prst="rect">
            <a:avLst/>
          </a:prstGeom>
          <a:noFill/>
        </p:spPr>
        <p:txBody>
          <a:bodyPr wrap="square" anchor="t" lIns="0" rIns="0" tIns="0" bIns="0">
            <a:spAutoFit/>
          </a:bodyPr>
          <a:lstStyle/>
          <a:p>
            <a:pPr algn="l"/>
            <a:r>
              <a:rPr sz="1000" b="1" i="0">
                <a:solidFill>
                  <a:srgbClr val="8A93A6"/>
                </a:solidFill>
                <a:latin typeface="Arial"/>
              </a:rPr>
              <a:t>ROAS</a:t>
            </a:r>
          </a:p>
        </p:txBody>
      </p:sp>
      <p:sp>
        <p:nvSpPr>
          <p:cNvPr id="46" name="TextBox 45"/>
          <p:cNvSpPr txBox="1"/>
          <p:nvPr/>
        </p:nvSpPr>
        <p:spPr>
          <a:xfrm>
            <a:off x="9960864" y="1889760"/>
            <a:ext cx="1219200" cy="274320"/>
          </a:xfrm>
          <a:prstGeom prst="rect">
            <a:avLst/>
          </a:prstGeom>
          <a:noFill/>
        </p:spPr>
        <p:txBody>
          <a:bodyPr wrap="square" anchor="t" lIns="0" rIns="0" tIns="0" bIns="0">
            <a:spAutoFit/>
          </a:bodyPr>
          <a:lstStyle/>
          <a:p>
            <a:pPr algn="l"/>
            <a:r>
              <a:rPr sz="2200" b="1" i="0">
                <a:solidFill>
                  <a:srgbClr val="8A93A6"/>
                </a:solidFill>
                <a:latin typeface="Arial"/>
              </a:rPr>
              <a:t>N/C</a:t>
            </a:r>
          </a:p>
        </p:txBody>
      </p:sp>
      <p:sp>
        <p:nvSpPr>
          <p:cNvPr id="47" name="TextBox 46"/>
          <p:cNvSpPr txBox="1"/>
          <p:nvPr/>
        </p:nvSpPr>
        <p:spPr>
          <a:xfrm>
            <a:off x="9960864" y="2243328"/>
            <a:ext cx="1219200" cy="109728"/>
          </a:xfrm>
          <a:prstGeom prst="rect">
            <a:avLst/>
          </a:prstGeom>
          <a:noFill/>
        </p:spPr>
        <p:txBody>
          <a:bodyPr wrap="square" anchor="t" lIns="0" rIns="0" tIns="0" bIns="0">
            <a:spAutoFit/>
          </a:bodyPr>
          <a:lstStyle/>
          <a:p>
            <a:pPr algn="l"/>
            <a:r>
              <a:rPr sz="1000" b="1" i="0">
                <a:solidFill>
                  <a:srgbClr val="8A93A6"/>
                </a:solidFill>
                <a:latin typeface="Arial"/>
              </a:rPr>
              <a:t>—</a:t>
            </a:r>
          </a:p>
        </p:txBody>
      </p:sp>
      <p:sp>
        <p:nvSpPr>
          <p:cNvPr id="48" name="TextBox 47"/>
          <p:cNvSpPr txBox="1"/>
          <p:nvPr/>
        </p:nvSpPr>
        <p:spPr>
          <a:xfrm>
            <a:off x="9960864" y="2499360"/>
            <a:ext cx="1219200" cy="91440"/>
          </a:xfrm>
          <a:prstGeom prst="rect">
            <a:avLst/>
          </a:prstGeom>
          <a:noFill/>
        </p:spPr>
        <p:txBody>
          <a:bodyPr wrap="square" anchor="t" lIns="0" rIns="0" tIns="0" bIns="0">
            <a:spAutoFit/>
          </a:bodyPr>
          <a:lstStyle/>
          <a:p>
            <a:pPr algn="l"/>
            <a:r>
              <a:rPr sz="800" b="0" i="1">
                <a:solidFill>
                  <a:srgbClr val="8A93A6"/>
                </a:solidFill>
                <a:latin typeface="Arial"/>
              </a:rPr>
              <a:t>YTD —</a:t>
            </a:r>
          </a:p>
        </p:txBody>
      </p:sp>
      <p:sp>
        <p:nvSpPr>
          <p:cNvPr id="49" name="Isosceles Triangle 48"/>
          <p:cNvSpPr/>
          <p:nvPr/>
        </p:nvSpPr>
        <p:spPr>
          <a:xfrm>
            <a:off x="8564880" y="2688336"/>
            <a:ext cx="182880" cy="85344"/>
          </a:xfrm>
          <a:prstGeom prst="triangle">
            <a:avLst/>
          </a:prstGeom>
          <a:solidFill>
            <a:srgbClr val="EBE9E5"/>
          </a:solidFill>
          <a:ln>
            <a:noFill/>
          </a:ln>
          <a:effectLst/>
        </p:spPr>
        <p:txBody>
          <a:bodyPr rtlCol="0" anchor="ctr"/>
          <a:lstStyle/>
          <a:p>
            <a:pPr algn="ctr"/>
          </a:p>
        </p:txBody>
      </p:sp>
      <p:sp>
        <p:nvSpPr>
          <p:cNvPr id="50" name="Rounded Rectangle 49"/>
          <p:cNvSpPr/>
          <p:nvPr/>
        </p:nvSpPr>
        <p:spPr>
          <a:xfrm>
            <a:off x="6108192" y="2773680"/>
            <a:ext cx="5108448" cy="438912"/>
          </a:xfrm>
          <a:prstGeom prst="roundRect">
            <a:avLst>
              <a:gd name="adj" fmla="val 15000"/>
            </a:avLst>
          </a:prstGeom>
          <a:solidFill>
            <a:srgbClr val="EBE9E5"/>
          </a:solidFill>
          <a:ln>
            <a:noFill/>
          </a:ln>
          <a:effectLst/>
        </p:spPr>
        <p:txBody>
          <a:bodyPr rtlCol="0" anchor="ctr"/>
          <a:lstStyle/>
          <a:p>
            <a:pPr algn="ctr"/>
          </a:p>
        </p:txBody>
      </p:sp>
      <p:sp>
        <p:nvSpPr>
          <p:cNvPr id="51" name="TextBox 50"/>
          <p:cNvSpPr txBox="1"/>
          <p:nvPr/>
        </p:nvSpPr>
        <p:spPr>
          <a:xfrm>
            <a:off x="6230112" y="2816352"/>
            <a:ext cx="4864608" cy="365760"/>
          </a:xfrm>
          <a:prstGeom prst="rect">
            <a:avLst/>
          </a:prstGeom>
          <a:noFill/>
        </p:spPr>
        <p:txBody>
          <a:bodyPr wrap="square" anchor="ctr" lIns="0" rIns="0" tIns="0" bIns="0">
            <a:spAutoFit/>
          </a:bodyPr>
          <a:lstStyle/>
          <a:p>
            <a:pPr algn="l"/>
            <a:r>
              <a:rPr sz="900" b="0" i="0">
                <a:solidFill>
                  <a:srgbClr val="555B66"/>
                </a:solidFill>
                <a:latin typeface="Arial"/>
              </a:rPr>
              <a:t>Le Conversion Tracker n'est pas encore installé. Les conversions apparaîtront dans ce rapport dès son intégration.</a:t>
            </a:r>
          </a:p>
        </p:txBody>
      </p:sp>
      <p:sp>
        <p:nvSpPr>
          <p:cNvPr id="52" name="TextBox 51"/>
          <p:cNvSpPr txBox="1"/>
          <p:nvPr/>
        </p:nvSpPr>
        <p:spPr>
          <a:xfrm>
            <a:off x="530352" y="3322320"/>
            <a:ext cx="7315200" cy="182880"/>
          </a:xfrm>
          <a:prstGeom prst="rect">
            <a:avLst/>
          </a:prstGeom>
          <a:noFill/>
        </p:spPr>
        <p:txBody>
          <a:bodyPr wrap="square" anchor="t" lIns="0" rIns="0" tIns="0" bIns="0">
            <a:spAutoFit/>
          </a:bodyPr>
          <a:lstStyle/>
          <a:p>
            <a:pPr algn="l"/>
            <a:r>
              <a:rPr sz="1400" b="1" i="0">
                <a:solidFill>
                  <a:srgbClr val="EE6A2C"/>
                </a:solidFill>
                <a:latin typeface="Arial"/>
              </a:rPr>
              <a:t>INSIGHTS QUALITATIFS · ANALYSE DES RECHERCHES</a:t>
            </a:r>
          </a:p>
        </p:txBody>
      </p:sp>
      <p:sp>
        <p:nvSpPr>
          <p:cNvPr id="53" name="Rectangle 52"/>
          <p:cNvSpPr/>
          <p:nvPr/>
        </p:nvSpPr>
        <p:spPr>
          <a:xfrm>
            <a:off x="530352" y="3584448"/>
            <a:ext cx="3401568" cy="2560320"/>
          </a:xfrm>
          <a:prstGeom prst="rect">
            <a:avLst/>
          </a:prstGeom>
          <a:solidFill>
            <a:srgbClr val="FFFFFF"/>
          </a:solidFill>
          <a:ln>
            <a:noFill/>
          </a:ln>
          <a:effectLst/>
        </p:spPr>
        <p:txBody>
          <a:bodyPr rtlCol="0" anchor="ctr"/>
          <a:lstStyle/>
          <a:p>
            <a:pPr algn="ctr"/>
          </a:p>
        </p:txBody>
      </p:sp>
      <p:sp>
        <p:nvSpPr>
          <p:cNvPr id="54" name="Rectangle 53"/>
          <p:cNvSpPr/>
          <p:nvPr/>
        </p:nvSpPr>
        <p:spPr>
          <a:xfrm>
            <a:off x="4194048" y="3584448"/>
            <a:ext cx="3401568" cy="2560320"/>
          </a:xfrm>
          <a:prstGeom prst="rect">
            <a:avLst/>
          </a:prstGeom>
          <a:solidFill>
            <a:srgbClr val="FFFFFF"/>
          </a:solidFill>
          <a:ln>
            <a:noFill/>
          </a:ln>
          <a:effectLst/>
        </p:spPr>
        <p:txBody>
          <a:bodyPr rtlCol="0" anchor="ctr"/>
          <a:lstStyle/>
          <a:p>
            <a:pPr algn="ctr"/>
          </a:p>
        </p:txBody>
      </p:sp>
      <p:sp>
        <p:nvSpPr>
          <p:cNvPr id="55" name="Rectangle 54"/>
          <p:cNvSpPr/>
          <p:nvPr/>
        </p:nvSpPr>
        <p:spPr>
          <a:xfrm>
            <a:off x="7857744" y="3584448"/>
            <a:ext cx="3401568" cy="2560320"/>
          </a:xfrm>
          <a:prstGeom prst="rect">
            <a:avLst/>
          </a:prstGeom>
          <a:solidFill>
            <a:srgbClr val="FFFFFF"/>
          </a:solidFill>
          <a:ln>
            <a:noFill/>
          </a:ln>
          <a:effectLst/>
        </p:spPr>
        <p:txBody>
          <a:bodyPr rtlCol="0" anchor="ctr"/>
          <a:lstStyle/>
          <a:p>
            <a:pPr algn="ctr"/>
          </a:p>
        </p:txBody>
      </p:sp>
      <p:sp>
        <p:nvSpPr>
          <p:cNvPr id="56" name="TextBox 55"/>
          <p:cNvSpPr txBox="1"/>
          <p:nvPr/>
        </p:nvSpPr>
        <p:spPr>
          <a:xfrm>
            <a:off x="774192" y="3767328"/>
            <a:ext cx="2926080" cy="152400"/>
          </a:xfrm>
          <a:prstGeom prst="rect">
            <a:avLst/>
          </a:prstGeom>
          <a:noFill/>
        </p:spPr>
        <p:txBody>
          <a:bodyPr wrap="square" anchor="t" lIns="0" rIns="0" tIns="0" bIns="0">
            <a:spAutoFit/>
          </a:bodyPr>
          <a:lstStyle/>
          <a:p>
            <a:pPr algn="l"/>
            <a:r>
              <a:rPr sz="1300" b="1" i="0">
                <a:solidFill>
                  <a:srgbClr val="555B66"/>
                </a:solidFill>
                <a:latin typeface="Arial"/>
              </a:rPr>
              <a:t>CHAMP LEXICAL</a:t>
            </a:r>
          </a:p>
        </p:txBody>
      </p:sp>
      <p:sp>
        <p:nvSpPr>
          <p:cNvPr id="57" name="TextBox 56"/>
          <p:cNvSpPr txBox="1"/>
          <p:nvPr/>
        </p:nvSpPr>
        <p:spPr>
          <a:xfrm>
            <a:off x="774192" y="3992880"/>
            <a:ext cx="2926080" cy="121920"/>
          </a:xfrm>
          <a:prstGeom prst="rect">
            <a:avLst/>
          </a:prstGeom>
          <a:noFill/>
        </p:spPr>
        <p:txBody>
          <a:bodyPr wrap="square" anchor="t" lIns="0" rIns="0" tIns="0" bIns="0">
            <a:spAutoFit/>
          </a:bodyPr>
          <a:lstStyle/>
          <a:p>
            <a:pPr algn="l"/>
            <a:r>
              <a:rPr sz="1000" b="0" i="1">
                <a:solidFill>
                  <a:srgbClr val="8A93A6"/>
                </a:solidFill>
                <a:latin typeface="Arial"/>
              </a:rPr>
              <a:t>Termes les plus fréquents</a:t>
            </a:r>
          </a:p>
        </p:txBody>
      </p:sp>
      <p:sp>
        <p:nvSpPr>
          <p:cNvPr id="58" name="TextBox 57"/>
          <p:cNvSpPr txBox="1"/>
          <p:nvPr/>
        </p:nvSpPr>
        <p:spPr>
          <a:xfrm>
            <a:off x="774192" y="4236720"/>
            <a:ext cx="2987040" cy="1828800"/>
          </a:xfrm>
          <a:prstGeom prst="rect">
            <a:avLst/>
          </a:prstGeom>
          <a:noFill/>
        </p:spPr>
        <p:txBody>
          <a:bodyPr wrap="square" anchor="t" lIns="0" rIns="0" tIns="0" bIns="0">
            <a:spAutoFit/>
          </a:bodyPr>
          <a:lstStyle/>
          <a:p>
            <a:pPr algn="l">
              <a:spcAft>
                <a:spcPts val="500"/>
              </a:spcAft>
            </a:pPr>
            <a:r>
              <a:rPr sz="2000" b="1" i="0">
                <a:solidFill>
                  <a:srgbClr val="EE6A2C"/>
                </a:solidFill>
                <a:latin typeface="Arial"/>
              </a:rPr>
              <a:t>toutes saisons</a:t>
            </a:r>
            <a:r>
              <a:rPr sz="1800" b="1" i="0">
                <a:solidFill>
                  <a:srgbClr val="111111"/>
                </a:solidFill>
                <a:latin typeface="Arial"/>
              </a:rPr>
              <a:t>    3PMSF</a:t>
            </a:r>
          </a:p>
          <a:p>
            <a:pPr algn="l">
              <a:spcAft>
                <a:spcPts val="500"/>
              </a:spcAft>
            </a:pPr>
            <a:r>
              <a:rPr sz="1600" b="1" i="0">
                <a:solidFill>
                  <a:srgbClr val="111111"/>
                </a:solidFill>
                <a:latin typeface="Arial"/>
              </a:rPr>
              <a:t>loi montagne</a:t>
            </a:r>
            <a:r>
              <a:rPr sz="1400" b="1" i="0">
                <a:solidFill>
                  <a:srgbClr val="111111"/>
                </a:solidFill>
                <a:latin typeface="Arial"/>
              </a:rPr>
              <a:t>    freinage</a:t>
            </a:r>
          </a:p>
          <a:p>
            <a:pPr algn="l">
              <a:spcAft>
                <a:spcPts val="500"/>
              </a:spcAft>
            </a:pPr>
            <a:r>
              <a:rPr sz="1400" b="1" i="0">
                <a:solidFill>
                  <a:srgbClr val="EE6A2C"/>
                </a:solidFill>
                <a:latin typeface="Arial"/>
              </a:rPr>
              <a:t>pas chers</a:t>
            </a:r>
            <a:r>
              <a:rPr sz="1300" b="0" i="0">
                <a:solidFill>
                  <a:srgbClr val="111111"/>
                </a:solidFill>
                <a:latin typeface="Arial"/>
              </a:rPr>
              <a:t>    sûrs</a:t>
            </a:r>
          </a:p>
          <a:p>
            <a:pPr algn="l">
              <a:spcAft>
                <a:spcPts val="500"/>
              </a:spcAft>
            </a:pPr>
            <a:r>
              <a:rPr sz="1200" b="1" i="0">
                <a:solidFill>
                  <a:srgbClr val="EE6A2C"/>
                </a:solidFill>
                <a:latin typeface="Arial"/>
              </a:rPr>
              <a:t>voiture électrique</a:t>
            </a:r>
            <a:r>
              <a:rPr sz="1200" b="1" i="0">
                <a:solidFill>
                  <a:srgbClr val="111111"/>
                </a:solidFill>
                <a:latin typeface="Arial"/>
              </a:rPr>
              <a:t>    MG4 EV</a:t>
            </a:r>
          </a:p>
          <a:p>
            <a:pPr algn="l">
              <a:spcAft>
                <a:spcPts val="500"/>
              </a:spcAft>
            </a:pPr>
            <a:r>
              <a:rPr sz="1100" b="1" i="0">
                <a:solidFill>
                  <a:srgbClr val="111111"/>
                </a:solidFill>
                <a:latin typeface="Arial"/>
              </a:rPr>
              <a:t>Zoé</a:t>
            </a:r>
            <a:r>
              <a:rPr sz="1100" b="0" i="0">
                <a:solidFill>
                  <a:srgbClr val="111111"/>
                </a:solidFill>
                <a:latin typeface="Arial"/>
              </a:rPr>
              <a:t>    pneus hiver</a:t>
            </a:r>
            <a:r>
              <a:rPr sz="1100" b="1" i="0">
                <a:solidFill>
                  <a:srgbClr val="EE6A2C"/>
                </a:solidFill>
                <a:latin typeface="Arial"/>
              </a:rPr>
              <a:t>    chaînes à neige</a:t>
            </a:r>
          </a:p>
          <a:p>
            <a:pPr algn="l">
              <a:spcAft>
                <a:spcPts val="500"/>
              </a:spcAft>
            </a:pPr>
            <a:r>
              <a:rPr sz="1100" b="1" i="0">
                <a:solidFill>
                  <a:srgbClr val="111111"/>
                </a:solidFill>
                <a:latin typeface="Arial"/>
              </a:rPr>
              <a:t>dimensions</a:t>
            </a:r>
            <a:r>
              <a:rPr sz="1100" b="0" i="0">
                <a:solidFill>
                  <a:srgbClr val="111111"/>
                </a:solidFill>
                <a:latin typeface="Arial"/>
              </a:rPr>
              <a:t>    Continental</a:t>
            </a:r>
          </a:p>
        </p:txBody>
      </p:sp>
      <p:sp>
        <p:nvSpPr>
          <p:cNvPr id="59" name="TextBox 58"/>
          <p:cNvSpPr txBox="1"/>
          <p:nvPr/>
        </p:nvSpPr>
        <p:spPr>
          <a:xfrm>
            <a:off x="4437888" y="3767328"/>
            <a:ext cx="2926080" cy="152400"/>
          </a:xfrm>
          <a:prstGeom prst="rect">
            <a:avLst/>
          </a:prstGeom>
          <a:noFill/>
        </p:spPr>
        <p:txBody>
          <a:bodyPr wrap="square" anchor="t" lIns="0" rIns="0" tIns="0" bIns="0">
            <a:spAutoFit/>
          </a:bodyPr>
          <a:lstStyle/>
          <a:p>
            <a:pPr algn="l"/>
            <a:r>
              <a:rPr sz="1300" b="1" i="0">
                <a:solidFill>
                  <a:srgbClr val="555B66"/>
                </a:solidFill>
                <a:latin typeface="Arial"/>
              </a:rPr>
              <a:t>EXEMPLES DE REQUÊTES</a:t>
            </a:r>
          </a:p>
        </p:txBody>
      </p:sp>
      <p:sp>
        <p:nvSpPr>
          <p:cNvPr id="60" name="TextBox 59"/>
          <p:cNvSpPr txBox="1"/>
          <p:nvPr/>
        </p:nvSpPr>
        <p:spPr>
          <a:xfrm>
            <a:off x="4437888" y="3992880"/>
            <a:ext cx="2926080" cy="121920"/>
          </a:xfrm>
          <a:prstGeom prst="rect">
            <a:avLst/>
          </a:prstGeom>
          <a:noFill/>
        </p:spPr>
        <p:txBody>
          <a:bodyPr wrap="square" anchor="t" lIns="0" rIns="0" tIns="0" bIns="0">
            <a:spAutoFit/>
          </a:bodyPr>
          <a:lstStyle/>
          <a:p>
            <a:pPr algn="l"/>
            <a:r>
              <a:rPr sz="1000" b="0" i="1">
                <a:solidFill>
                  <a:srgbClr val="8A93A6"/>
                </a:solidFill>
                <a:latin typeface="Arial"/>
              </a:rPr>
              <a:t>Questions posées aux IA</a:t>
            </a:r>
          </a:p>
        </p:txBody>
      </p:sp>
      <p:sp>
        <p:nvSpPr>
          <p:cNvPr id="61" name="TextBox 60"/>
          <p:cNvSpPr txBox="1"/>
          <p:nvPr/>
        </p:nvSpPr>
        <p:spPr>
          <a:xfrm>
            <a:off x="4437888" y="4267200"/>
            <a:ext cx="2913888" cy="304800"/>
          </a:xfrm>
          <a:prstGeom prst="rect">
            <a:avLst/>
          </a:prstGeom>
          <a:noFill/>
        </p:spPr>
        <p:txBody>
          <a:bodyPr wrap="square" anchor="ctr" lIns="0" rIns="0" tIns="0" bIns="0">
            <a:spAutoFit/>
          </a:bodyPr>
          <a:lstStyle/>
          <a:p>
            <a:pPr algn="l"/>
            <a:r>
              <a:rPr sz="1000" b="0" i="0">
                <a:solidFill>
                  <a:srgbClr val="111111"/>
                </a:solidFill>
                <a:latin typeface="Arial"/>
              </a:rPr>
              <a:t>Quels pneus 4 saisons pour rouler toute l'année ?</a:t>
            </a:r>
          </a:p>
        </p:txBody>
      </p:sp>
      <p:sp>
        <p:nvSpPr>
          <p:cNvPr id="62" name="Rectangle 61"/>
          <p:cNvSpPr/>
          <p:nvPr/>
        </p:nvSpPr>
        <p:spPr>
          <a:xfrm>
            <a:off x="4437888" y="4602480"/>
            <a:ext cx="2913888" cy="6096"/>
          </a:xfrm>
          <a:prstGeom prst="rect">
            <a:avLst/>
          </a:prstGeom>
          <a:solidFill>
            <a:srgbClr val="E6E3DE"/>
          </a:solidFill>
          <a:ln>
            <a:noFill/>
          </a:ln>
          <a:effectLst/>
        </p:spPr>
        <p:txBody>
          <a:bodyPr rtlCol="0" anchor="ctr"/>
          <a:lstStyle/>
          <a:p>
            <a:pPr algn="ctr"/>
          </a:p>
        </p:txBody>
      </p:sp>
      <p:sp>
        <p:nvSpPr>
          <p:cNvPr id="63" name="TextBox 62"/>
          <p:cNvSpPr txBox="1"/>
          <p:nvPr/>
        </p:nvSpPr>
        <p:spPr>
          <a:xfrm>
            <a:off x="4437888" y="4632960"/>
            <a:ext cx="2913888" cy="304800"/>
          </a:xfrm>
          <a:prstGeom prst="rect">
            <a:avLst/>
          </a:prstGeom>
          <a:noFill/>
        </p:spPr>
        <p:txBody>
          <a:bodyPr wrap="square" anchor="ctr" lIns="0" rIns="0" tIns="0" bIns="0">
            <a:spAutoFit/>
          </a:bodyPr>
          <a:lstStyle/>
          <a:p>
            <a:pPr algn="l"/>
            <a:r>
              <a:rPr sz="1000" b="0" i="0">
                <a:solidFill>
                  <a:srgbClr val="111111"/>
                </a:solidFill>
                <a:latin typeface="Arial"/>
              </a:rPr>
              <a:t>Quels pneus pour un SUV qui roule souvent sous la pluie ?</a:t>
            </a:r>
          </a:p>
        </p:txBody>
      </p:sp>
      <p:sp>
        <p:nvSpPr>
          <p:cNvPr id="64" name="Rectangle 63"/>
          <p:cNvSpPr/>
          <p:nvPr/>
        </p:nvSpPr>
        <p:spPr>
          <a:xfrm>
            <a:off x="4437888" y="4968240"/>
            <a:ext cx="2913888" cy="6096"/>
          </a:xfrm>
          <a:prstGeom prst="rect">
            <a:avLst/>
          </a:prstGeom>
          <a:solidFill>
            <a:srgbClr val="E6E3DE"/>
          </a:solidFill>
          <a:ln>
            <a:noFill/>
          </a:ln>
          <a:effectLst/>
        </p:spPr>
        <p:txBody>
          <a:bodyPr rtlCol="0" anchor="ctr"/>
          <a:lstStyle/>
          <a:p>
            <a:pPr algn="ctr"/>
          </a:p>
        </p:txBody>
      </p:sp>
      <p:sp>
        <p:nvSpPr>
          <p:cNvPr id="65" name="TextBox 64"/>
          <p:cNvSpPr txBox="1"/>
          <p:nvPr/>
        </p:nvSpPr>
        <p:spPr>
          <a:xfrm>
            <a:off x="4437888" y="4998720"/>
            <a:ext cx="2913888" cy="304800"/>
          </a:xfrm>
          <a:prstGeom prst="rect">
            <a:avLst/>
          </a:prstGeom>
          <a:noFill/>
        </p:spPr>
        <p:txBody>
          <a:bodyPr wrap="square" anchor="ctr" lIns="0" rIns="0" tIns="0" bIns="0">
            <a:spAutoFit/>
          </a:bodyPr>
          <a:lstStyle/>
          <a:p>
            <a:pPr algn="l"/>
            <a:r>
              <a:rPr sz="1000" b="0" i="0">
                <a:solidFill>
                  <a:srgbClr val="111111"/>
                </a:solidFill>
                <a:latin typeface="Arial"/>
              </a:rPr>
              <a:t>Quel pneu pour un utilitaire qui transporte lourd ?</a:t>
            </a:r>
          </a:p>
        </p:txBody>
      </p:sp>
      <p:sp>
        <p:nvSpPr>
          <p:cNvPr id="66" name="Rectangle 65"/>
          <p:cNvSpPr/>
          <p:nvPr/>
        </p:nvSpPr>
        <p:spPr>
          <a:xfrm>
            <a:off x="4437888" y="5334000"/>
            <a:ext cx="2913888" cy="6096"/>
          </a:xfrm>
          <a:prstGeom prst="rect">
            <a:avLst/>
          </a:prstGeom>
          <a:solidFill>
            <a:srgbClr val="E6E3DE"/>
          </a:solidFill>
          <a:ln>
            <a:noFill/>
          </a:ln>
          <a:effectLst/>
        </p:spPr>
        <p:txBody>
          <a:bodyPr rtlCol="0" anchor="ctr"/>
          <a:lstStyle/>
          <a:p>
            <a:pPr algn="ctr"/>
          </a:p>
        </p:txBody>
      </p:sp>
      <p:sp>
        <p:nvSpPr>
          <p:cNvPr id="67" name="TextBox 66"/>
          <p:cNvSpPr txBox="1"/>
          <p:nvPr/>
        </p:nvSpPr>
        <p:spPr>
          <a:xfrm>
            <a:off x="4437888" y="5364480"/>
            <a:ext cx="2913888" cy="304800"/>
          </a:xfrm>
          <a:prstGeom prst="rect">
            <a:avLst/>
          </a:prstGeom>
          <a:noFill/>
        </p:spPr>
        <p:txBody>
          <a:bodyPr wrap="square" anchor="ctr" lIns="0" rIns="0" tIns="0" bIns="0">
            <a:spAutoFit/>
          </a:bodyPr>
          <a:lstStyle/>
          <a:p>
            <a:pPr algn="l"/>
            <a:r>
              <a:rPr sz="1000" b="0" i="0">
                <a:solidFill>
                  <a:srgbClr val="111111"/>
                </a:solidFill>
                <a:latin typeface="Arial"/>
              </a:rPr>
              <a:t>Quelle dimension de pneu est compatible avec mon véhicule ?</a:t>
            </a:r>
          </a:p>
        </p:txBody>
      </p:sp>
      <p:sp>
        <p:nvSpPr>
          <p:cNvPr id="68" name="Rectangle 67"/>
          <p:cNvSpPr/>
          <p:nvPr/>
        </p:nvSpPr>
        <p:spPr>
          <a:xfrm>
            <a:off x="4437888" y="5699760"/>
            <a:ext cx="2913888" cy="6096"/>
          </a:xfrm>
          <a:prstGeom prst="rect">
            <a:avLst/>
          </a:prstGeom>
          <a:solidFill>
            <a:srgbClr val="E6E3DE"/>
          </a:solidFill>
          <a:ln>
            <a:noFill/>
          </a:ln>
          <a:effectLst/>
        </p:spPr>
        <p:txBody>
          <a:bodyPr rtlCol="0" anchor="ctr"/>
          <a:lstStyle/>
          <a:p>
            <a:pPr algn="ctr"/>
          </a:p>
        </p:txBody>
      </p:sp>
      <p:sp>
        <p:nvSpPr>
          <p:cNvPr id="69" name="TextBox 68"/>
          <p:cNvSpPr txBox="1"/>
          <p:nvPr/>
        </p:nvSpPr>
        <p:spPr>
          <a:xfrm>
            <a:off x="4437888" y="5730240"/>
            <a:ext cx="2913888" cy="304800"/>
          </a:xfrm>
          <a:prstGeom prst="rect">
            <a:avLst/>
          </a:prstGeom>
          <a:noFill/>
        </p:spPr>
        <p:txBody>
          <a:bodyPr wrap="square" anchor="ctr" lIns="0" rIns="0" tIns="0" bIns="0">
            <a:spAutoFit/>
          </a:bodyPr>
          <a:lstStyle/>
          <a:p>
            <a:pPr algn="l"/>
            <a:r>
              <a:rPr sz="1000" b="0" i="0">
                <a:solidFill>
                  <a:srgbClr val="111111"/>
                </a:solidFill>
                <a:latin typeface="Arial"/>
              </a:rPr>
              <a:t>Où faire monter mes pneus commandés en ligne ?</a:t>
            </a:r>
          </a:p>
        </p:txBody>
      </p:sp>
      <p:sp>
        <p:nvSpPr>
          <p:cNvPr id="70" name="TextBox 69"/>
          <p:cNvSpPr txBox="1"/>
          <p:nvPr/>
        </p:nvSpPr>
        <p:spPr>
          <a:xfrm>
            <a:off x="8101584" y="3767328"/>
            <a:ext cx="2926080" cy="152400"/>
          </a:xfrm>
          <a:prstGeom prst="rect">
            <a:avLst/>
          </a:prstGeom>
          <a:noFill/>
        </p:spPr>
        <p:txBody>
          <a:bodyPr wrap="square" anchor="t" lIns="0" rIns="0" tIns="0" bIns="0">
            <a:spAutoFit/>
          </a:bodyPr>
          <a:lstStyle/>
          <a:p>
            <a:pPr algn="l"/>
            <a:r>
              <a:rPr sz="1300" b="1" i="0">
                <a:solidFill>
                  <a:srgbClr val="555B66"/>
                </a:solidFill>
                <a:latin typeface="Arial"/>
              </a:rPr>
              <a:t>CATÉGORIES DE PRODUITS</a:t>
            </a:r>
          </a:p>
        </p:txBody>
      </p:sp>
      <p:sp>
        <p:nvSpPr>
          <p:cNvPr id="71" name="TextBox 70"/>
          <p:cNvSpPr txBox="1"/>
          <p:nvPr/>
        </p:nvSpPr>
        <p:spPr>
          <a:xfrm>
            <a:off x="8101584" y="3992880"/>
            <a:ext cx="2926080" cy="121920"/>
          </a:xfrm>
          <a:prstGeom prst="rect">
            <a:avLst/>
          </a:prstGeom>
          <a:noFill/>
        </p:spPr>
        <p:txBody>
          <a:bodyPr wrap="square" anchor="t" lIns="0" rIns="0" tIns="0" bIns="0">
            <a:spAutoFit/>
          </a:bodyPr>
          <a:lstStyle/>
          <a:p>
            <a:pPr algn="l"/>
            <a:r>
              <a:rPr sz="1000" b="0" i="1">
                <a:solidFill>
                  <a:srgbClr val="8A93A6"/>
                </a:solidFill>
                <a:latin typeface="Arial"/>
              </a:rPr>
              <a:t>Répartition des requêtes</a:t>
            </a:r>
          </a:p>
        </p:txBody>
      </p:sp>
      <p:sp>
        <p:nvSpPr>
          <p:cNvPr id="72" name="TextBox 71"/>
          <p:cNvSpPr txBox="1"/>
          <p:nvPr/>
        </p:nvSpPr>
        <p:spPr>
          <a:xfrm>
            <a:off x="8101584" y="4267200"/>
            <a:ext cx="2194560" cy="134112"/>
          </a:xfrm>
          <a:prstGeom prst="rect">
            <a:avLst/>
          </a:prstGeom>
          <a:noFill/>
        </p:spPr>
        <p:txBody>
          <a:bodyPr wrap="square" anchor="t" lIns="0" rIns="0" tIns="0" bIns="0">
            <a:spAutoFit/>
          </a:bodyPr>
          <a:lstStyle/>
          <a:p>
            <a:pPr algn="l"/>
            <a:r>
              <a:rPr sz="1000" b="0" i="0">
                <a:solidFill>
                  <a:srgbClr val="111111"/>
                </a:solidFill>
                <a:latin typeface="Arial"/>
              </a:rPr>
              <a:t>Pneus auto et dimensions</a:t>
            </a:r>
          </a:p>
        </p:txBody>
      </p:sp>
      <p:sp>
        <p:nvSpPr>
          <p:cNvPr id="73" name="Rectangle 72"/>
          <p:cNvSpPr/>
          <p:nvPr/>
        </p:nvSpPr>
        <p:spPr>
          <a:xfrm>
            <a:off x="8101584" y="4419600"/>
            <a:ext cx="2011680" cy="54864"/>
          </a:xfrm>
          <a:prstGeom prst="rect">
            <a:avLst/>
          </a:prstGeom>
          <a:solidFill>
            <a:srgbClr val="ECEAE5"/>
          </a:solidFill>
          <a:ln>
            <a:noFill/>
          </a:ln>
          <a:effectLst/>
        </p:spPr>
        <p:txBody>
          <a:bodyPr rtlCol="0" anchor="ctr"/>
          <a:lstStyle/>
          <a:p>
            <a:pPr algn="ctr"/>
          </a:p>
        </p:txBody>
      </p:sp>
      <p:sp>
        <p:nvSpPr>
          <p:cNvPr id="74" name="Rectangle 73"/>
          <p:cNvSpPr/>
          <p:nvPr/>
        </p:nvSpPr>
        <p:spPr>
          <a:xfrm>
            <a:off x="8101584" y="4419600"/>
            <a:ext cx="824788" cy="54864"/>
          </a:xfrm>
          <a:prstGeom prst="rect">
            <a:avLst/>
          </a:prstGeom>
          <a:solidFill>
            <a:srgbClr val="EE6A2C"/>
          </a:solidFill>
          <a:ln>
            <a:noFill/>
          </a:ln>
          <a:effectLst/>
        </p:spPr>
        <p:txBody>
          <a:bodyPr rtlCol="0" anchor="ctr"/>
          <a:lstStyle/>
          <a:p>
            <a:pPr algn="ctr"/>
          </a:p>
        </p:txBody>
      </p:sp>
      <p:sp>
        <p:nvSpPr>
          <p:cNvPr id="75" name="TextBox 74"/>
          <p:cNvSpPr txBox="1"/>
          <p:nvPr/>
        </p:nvSpPr>
        <p:spPr>
          <a:xfrm>
            <a:off x="10241280" y="4340352"/>
            <a:ext cx="792480" cy="182880"/>
          </a:xfrm>
          <a:prstGeom prst="rect">
            <a:avLst/>
          </a:prstGeom>
          <a:noFill/>
        </p:spPr>
        <p:txBody>
          <a:bodyPr wrap="square" anchor="ctr" lIns="0" rIns="0" tIns="0" bIns="0">
            <a:spAutoFit/>
          </a:bodyPr>
          <a:lstStyle/>
          <a:p>
            <a:pPr algn="r"/>
            <a:r>
              <a:rPr sz="1300" b="1" i="0">
                <a:solidFill>
                  <a:srgbClr val="111111"/>
                </a:solidFill>
                <a:latin typeface="Arial"/>
              </a:rPr>
              <a:t>41 %</a:t>
            </a:r>
          </a:p>
        </p:txBody>
      </p:sp>
      <p:sp>
        <p:nvSpPr>
          <p:cNvPr id="76" name="TextBox 75"/>
          <p:cNvSpPr txBox="1"/>
          <p:nvPr/>
        </p:nvSpPr>
        <p:spPr>
          <a:xfrm>
            <a:off x="8101584" y="4572000"/>
            <a:ext cx="2194560" cy="134112"/>
          </a:xfrm>
          <a:prstGeom prst="rect">
            <a:avLst/>
          </a:prstGeom>
          <a:noFill/>
        </p:spPr>
        <p:txBody>
          <a:bodyPr wrap="square" anchor="t" lIns="0" rIns="0" tIns="0" bIns="0">
            <a:spAutoFit/>
          </a:bodyPr>
          <a:lstStyle/>
          <a:p>
            <a:pPr algn="l"/>
            <a:r>
              <a:rPr sz="1000" b="0" i="0">
                <a:solidFill>
                  <a:srgbClr val="111111"/>
                </a:solidFill>
                <a:latin typeface="Arial"/>
              </a:rPr>
              <a:t>Pneus SUV et utilitaires</a:t>
            </a:r>
          </a:p>
        </p:txBody>
      </p:sp>
      <p:sp>
        <p:nvSpPr>
          <p:cNvPr id="77" name="Rectangle 76"/>
          <p:cNvSpPr/>
          <p:nvPr/>
        </p:nvSpPr>
        <p:spPr>
          <a:xfrm>
            <a:off x="8101584" y="4724400"/>
            <a:ext cx="2011680" cy="54864"/>
          </a:xfrm>
          <a:prstGeom prst="rect">
            <a:avLst/>
          </a:prstGeom>
          <a:solidFill>
            <a:srgbClr val="ECEAE5"/>
          </a:solidFill>
          <a:ln>
            <a:noFill/>
          </a:ln>
          <a:effectLst/>
        </p:spPr>
        <p:txBody>
          <a:bodyPr rtlCol="0" anchor="ctr"/>
          <a:lstStyle/>
          <a:p>
            <a:pPr algn="ctr"/>
          </a:p>
        </p:txBody>
      </p:sp>
      <p:sp>
        <p:nvSpPr>
          <p:cNvPr id="78" name="Rectangle 77"/>
          <p:cNvSpPr/>
          <p:nvPr/>
        </p:nvSpPr>
        <p:spPr>
          <a:xfrm>
            <a:off x="8101584" y="4724400"/>
            <a:ext cx="784555" cy="54864"/>
          </a:xfrm>
          <a:prstGeom prst="rect">
            <a:avLst/>
          </a:prstGeom>
          <a:solidFill>
            <a:srgbClr val="9AA3B2"/>
          </a:solidFill>
          <a:ln>
            <a:noFill/>
          </a:ln>
          <a:effectLst/>
        </p:spPr>
        <p:txBody>
          <a:bodyPr rtlCol="0" anchor="ctr"/>
          <a:lstStyle/>
          <a:p>
            <a:pPr algn="ctr"/>
          </a:p>
        </p:txBody>
      </p:sp>
      <p:sp>
        <p:nvSpPr>
          <p:cNvPr id="79" name="TextBox 78"/>
          <p:cNvSpPr txBox="1"/>
          <p:nvPr/>
        </p:nvSpPr>
        <p:spPr>
          <a:xfrm>
            <a:off x="10241280" y="4645152"/>
            <a:ext cx="792480" cy="182880"/>
          </a:xfrm>
          <a:prstGeom prst="rect">
            <a:avLst/>
          </a:prstGeom>
          <a:noFill/>
        </p:spPr>
        <p:txBody>
          <a:bodyPr wrap="square" anchor="ctr" lIns="0" rIns="0" tIns="0" bIns="0">
            <a:spAutoFit/>
          </a:bodyPr>
          <a:lstStyle/>
          <a:p>
            <a:pPr algn="r"/>
            <a:r>
              <a:rPr sz="1300" b="1" i="0">
                <a:solidFill>
                  <a:srgbClr val="111111"/>
                </a:solidFill>
                <a:latin typeface="Arial"/>
              </a:rPr>
              <a:t>39 %</a:t>
            </a:r>
          </a:p>
        </p:txBody>
      </p:sp>
      <p:sp>
        <p:nvSpPr>
          <p:cNvPr id="80" name="TextBox 79"/>
          <p:cNvSpPr txBox="1"/>
          <p:nvPr/>
        </p:nvSpPr>
        <p:spPr>
          <a:xfrm>
            <a:off x="8101584" y="4876800"/>
            <a:ext cx="2194560" cy="134112"/>
          </a:xfrm>
          <a:prstGeom prst="rect">
            <a:avLst/>
          </a:prstGeom>
          <a:noFill/>
        </p:spPr>
        <p:txBody>
          <a:bodyPr wrap="square" anchor="t" lIns="0" rIns="0" tIns="0" bIns="0">
            <a:spAutoFit/>
          </a:bodyPr>
          <a:lstStyle/>
          <a:p>
            <a:pPr algn="l"/>
            <a:r>
              <a:rPr sz="1000" b="0" i="0">
                <a:solidFill>
                  <a:srgbClr val="111111"/>
                </a:solidFill>
                <a:latin typeface="Arial"/>
              </a:rPr>
              <a:t>Pneus moto et scooter</a:t>
            </a:r>
          </a:p>
        </p:txBody>
      </p:sp>
      <p:sp>
        <p:nvSpPr>
          <p:cNvPr id="81" name="Rectangle 80"/>
          <p:cNvSpPr/>
          <p:nvPr/>
        </p:nvSpPr>
        <p:spPr>
          <a:xfrm>
            <a:off x="8101584" y="5029200"/>
            <a:ext cx="2011680" cy="54864"/>
          </a:xfrm>
          <a:prstGeom prst="rect">
            <a:avLst/>
          </a:prstGeom>
          <a:solidFill>
            <a:srgbClr val="ECEAE5"/>
          </a:solidFill>
          <a:ln>
            <a:noFill/>
          </a:ln>
          <a:effectLst/>
        </p:spPr>
        <p:txBody>
          <a:bodyPr rtlCol="0" anchor="ctr"/>
          <a:lstStyle/>
          <a:p>
            <a:pPr algn="ctr"/>
          </a:p>
        </p:txBody>
      </p:sp>
      <p:sp>
        <p:nvSpPr>
          <p:cNvPr id="82" name="Rectangle 81"/>
          <p:cNvSpPr/>
          <p:nvPr/>
        </p:nvSpPr>
        <p:spPr>
          <a:xfrm>
            <a:off x="8101584" y="5029200"/>
            <a:ext cx="362102" cy="54864"/>
          </a:xfrm>
          <a:prstGeom prst="rect">
            <a:avLst/>
          </a:prstGeom>
          <a:solidFill>
            <a:srgbClr val="9AA3B2"/>
          </a:solidFill>
          <a:ln>
            <a:noFill/>
          </a:ln>
          <a:effectLst/>
        </p:spPr>
        <p:txBody>
          <a:bodyPr rtlCol="0" anchor="ctr"/>
          <a:lstStyle/>
          <a:p>
            <a:pPr algn="ctr"/>
          </a:p>
        </p:txBody>
      </p:sp>
      <p:sp>
        <p:nvSpPr>
          <p:cNvPr id="83" name="TextBox 82"/>
          <p:cNvSpPr txBox="1"/>
          <p:nvPr/>
        </p:nvSpPr>
        <p:spPr>
          <a:xfrm>
            <a:off x="10241280" y="4949952"/>
            <a:ext cx="792480" cy="182880"/>
          </a:xfrm>
          <a:prstGeom prst="rect">
            <a:avLst/>
          </a:prstGeom>
          <a:noFill/>
        </p:spPr>
        <p:txBody>
          <a:bodyPr wrap="square" anchor="ctr" lIns="0" rIns="0" tIns="0" bIns="0">
            <a:spAutoFit/>
          </a:bodyPr>
          <a:lstStyle/>
          <a:p>
            <a:pPr algn="r"/>
            <a:r>
              <a:rPr sz="1300" b="1" i="0">
                <a:solidFill>
                  <a:srgbClr val="111111"/>
                </a:solidFill>
                <a:latin typeface="Arial"/>
              </a:rPr>
              <a:t>18 %</a:t>
            </a:r>
          </a:p>
        </p:txBody>
      </p:sp>
      <p:sp>
        <p:nvSpPr>
          <p:cNvPr id="84" name="TextBox 83"/>
          <p:cNvSpPr txBox="1"/>
          <p:nvPr/>
        </p:nvSpPr>
        <p:spPr>
          <a:xfrm>
            <a:off x="8101584" y="5181600"/>
            <a:ext cx="2194560" cy="134112"/>
          </a:xfrm>
          <a:prstGeom prst="rect">
            <a:avLst/>
          </a:prstGeom>
          <a:noFill/>
        </p:spPr>
        <p:txBody>
          <a:bodyPr wrap="square" anchor="t" lIns="0" rIns="0" tIns="0" bIns="0">
            <a:spAutoFit/>
          </a:bodyPr>
          <a:lstStyle/>
          <a:p>
            <a:pPr algn="l"/>
            <a:r>
              <a:rPr sz="1000" b="0" i="0">
                <a:solidFill>
                  <a:srgbClr val="111111"/>
                </a:solidFill>
                <a:latin typeface="Arial"/>
              </a:rPr>
              <a:t>Pneus toutes saisons</a:t>
            </a:r>
          </a:p>
        </p:txBody>
      </p:sp>
      <p:sp>
        <p:nvSpPr>
          <p:cNvPr id="85" name="Rectangle 84"/>
          <p:cNvSpPr/>
          <p:nvPr/>
        </p:nvSpPr>
        <p:spPr>
          <a:xfrm>
            <a:off x="8101584" y="5334000"/>
            <a:ext cx="2011680" cy="54864"/>
          </a:xfrm>
          <a:prstGeom prst="rect">
            <a:avLst/>
          </a:prstGeom>
          <a:solidFill>
            <a:srgbClr val="ECEAE5"/>
          </a:solidFill>
          <a:ln>
            <a:noFill/>
          </a:ln>
          <a:effectLst/>
        </p:spPr>
        <p:txBody>
          <a:bodyPr rtlCol="0" anchor="ctr"/>
          <a:lstStyle/>
          <a:p>
            <a:pPr algn="ctr"/>
          </a:p>
        </p:txBody>
      </p:sp>
      <p:sp>
        <p:nvSpPr>
          <p:cNvPr id="86" name="Rectangle 85"/>
          <p:cNvSpPr/>
          <p:nvPr/>
        </p:nvSpPr>
        <p:spPr>
          <a:xfrm>
            <a:off x="8101584" y="5334000"/>
            <a:ext cx="24384" cy="54864"/>
          </a:xfrm>
          <a:prstGeom prst="rect">
            <a:avLst/>
          </a:prstGeom>
          <a:solidFill>
            <a:srgbClr val="9AA3B2"/>
          </a:solidFill>
          <a:ln>
            <a:noFill/>
          </a:ln>
          <a:effectLst/>
        </p:spPr>
        <p:txBody>
          <a:bodyPr rtlCol="0" anchor="ctr"/>
          <a:lstStyle/>
          <a:p>
            <a:pPr algn="ctr"/>
          </a:p>
        </p:txBody>
      </p:sp>
      <p:sp>
        <p:nvSpPr>
          <p:cNvPr id="87" name="TextBox 86"/>
          <p:cNvSpPr txBox="1"/>
          <p:nvPr/>
        </p:nvSpPr>
        <p:spPr>
          <a:xfrm>
            <a:off x="10241280" y="5254752"/>
            <a:ext cx="792480" cy="182880"/>
          </a:xfrm>
          <a:prstGeom prst="rect">
            <a:avLst/>
          </a:prstGeom>
          <a:noFill/>
        </p:spPr>
        <p:txBody>
          <a:bodyPr wrap="square" anchor="ctr" lIns="0" rIns="0" tIns="0" bIns="0">
            <a:spAutoFit/>
          </a:bodyPr>
          <a:lstStyle/>
          <a:p>
            <a:pPr algn="r"/>
            <a:r>
              <a:rPr sz="1300" b="1" i="0">
                <a:solidFill>
                  <a:srgbClr val="111111"/>
                </a:solidFill>
                <a:latin typeface="Arial"/>
              </a:rPr>
              <a:t>1 %</a:t>
            </a:r>
          </a:p>
        </p:txBody>
      </p:sp>
      <p:sp>
        <p:nvSpPr>
          <p:cNvPr id="88" name="TextBox 87"/>
          <p:cNvSpPr txBox="1"/>
          <p:nvPr/>
        </p:nvSpPr>
        <p:spPr>
          <a:xfrm>
            <a:off x="8101584" y="5486400"/>
            <a:ext cx="2194560" cy="134112"/>
          </a:xfrm>
          <a:prstGeom prst="rect">
            <a:avLst/>
          </a:prstGeom>
          <a:noFill/>
        </p:spPr>
        <p:txBody>
          <a:bodyPr wrap="square" anchor="t" lIns="0" rIns="0" tIns="0" bIns="0">
            <a:spAutoFit/>
          </a:bodyPr>
          <a:lstStyle/>
          <a:p>
            <a:pPr algn="l"/>
            <a:r>
              <a:rPr sz="1000" b="0" i="0">
                <a:solidFill>
                  <a:srgbClr val="111111"/>
                </a:solidFill>
                <a:latin typeface="Arial"/>
              </a:rPr>
              <a:t>Pneus hiver et neige</a:t>
            </a:r>
          </a:p>
        </p:txBody>
      </p:sp>
      <p:sp>
        <p:nvSpPr>
          <p:cNvPr id="89" name="Rectangle 88"/>
          <p:cNvSpPr/>
          <p:nvPr/>
        </p:nvSpPr>
        <p:spPr>
          <a:xfrm>
            <a:off x="8101584" y="5638800"/>
            <a:ext cx="2011680" cy="54864"/>
          </a:xfrm>
          <a:prstGeom prst="rect">
            <a:avLst/>
          </a:prstGeom>
          <a:solidFill>
            <a:srgbClr val="ECEAE5"/>
          </a:solidFill>
          <a:ln>
            <a:noFill/>
          </a:ln>
          <a:effectLst/>
        </p:spPr>
        <p:txBody>
          <a:bodyPr rtlCol="0" anchor="ctr"/>
          <a:lstStyle/>
          <a:p>
            <a:pPr algn="ctr"/>
          </a:p>
        </p:txBody>
      </p:sp>
      <p:sp>
        <p:nvSpPr>
          <p:cNvPr id="90" name="Rectangle 89"/>
          <p:cNvSpPr/>
          <p:nvPr/>
        </p:nvSpPr>
        <p:spPr>
          <a:xfrm>
            <a:off x="8101584" y="5638800"/>
            <a:ext cx="24384" cy="54864"/>
          </a:xfrm>
          <a:prstGeom prst="rect">
            <a:avLst/>
          </a:prstGeom>
          <a:solidFill>
            <a:srgbClr val="9AA3B2"/>
          </a:solidFill>
          <a:ln>
            <a:noFill/>
          </a:ln>
          <a:effectLst/>
        </p:spPr>
        <p:txBody>
          <a:bodyPr rtlCol="0" anchor="ctr"/>
          <a:lstStyle/>
          <a:p>
            <a:pPr algn="ctr"/>
          </a:p>
        </p:txBody>
      </p:sp>
      <p:sp>
        <p:nvSpPr>
          <p:cNvPr id="91" name="TextBox 90"/>
          <p:cNvSpPr txBox="1"/>
          <p:nvPr/>
        </p:nvSpPr>
        <p:spPr>
          <a:xfrm>
            <a:off x="10241280" y="5559552"/>
            <a:ext cx="792480" cy="182880"/>
          </a:xfrm>
          <a:prstGeom prst="rect">
            <a:avLst/>
          </a:prstGeom>
          <a:noFill/>
        </p:spPr>
        <p:txBody>
          <a:bodyPr wrap="square" anchor="ctr" lIns="0" rIns="0" tIns="0" bIns="0">
            <a:spAutoFit/>
          </a:bodyPr>
          <a:lstStyle/>
          <a:p>
            <a:pPr algn="r"/>
            <a:r>
              <a:rPr sz="1300" b="1" i="0">
                <a:solidFill>
                  <a:srgbClr val="111111"/>
                </a:solidFill>
                <a:latin typeface="Arial"/>
              </a:rPr>
              <a:t>1 %</a:t>
            </a:r>
          </a:p>
        </p:txBody>
      </p:sp>
      <p:sp>
        <p:nvSpPr>
          <p:cNvPr id="92" name="TextBox 91"/>
          <p:cNvSpPr txBox="1"/>
          <p:nvPr/>
        </p:nvSpPr>
        <p:spPr>
          <a:xfrm>
            <a:off x="8101584" y="5791200"/>
            <a:ext cx="2194560" cy="134112"/>
          </a:xfrm>
          <a:prstGeom prst="rect">
            <a:avLst/>
          </a:prstGeom>
          <a:noFill/>
        </p:spPr>
        <p:txBody>
          <a:bodyPr wrap="square" anchor="t" lIns="0" rIns="0" tIns="0" bIns="0">
            <a:spAutoFit/>
          </a:bodyPr>
          <a:lstStyle/>
          <a:p>
            <a:pPr algn="l"/>
            <a:r>
              <a:rPr sz="1000" b="0" i="0">
                <a:solidFill>
                  <a:srgbClr val="111111"/>
                </a:solidFill>
                <a:latin typeface="Arial"/>
              </a:rPr>
              <a:t>Accessoires et entretien</a:t>
            </a:r>
          </a:p>
        </p:txBody>
      </p:sp>
      <p:sp>
        <p:nvSpPr>
          <p:cNvPr id="93" name="Rectangle 92"/>
          <p:cNvSpPr/>
          <p:nvPr/>
        </p:nvSpPr>
        <p:spPr>
          <a:xfrm>
            <a:off x="8101584" y="5943600"/>
            <a:ext cx="2011680" cy="54864"/>
          </a:xfrm>
          <a:prstGeom prst="rect">
            <a:avLst/>
          </a:prstGeom>
          <a:solidFill>
            <a:srgbClr val="ECEAE5"/>
          </a:solidFill>
          <a:ln>
            <a:noFill/>
          </a:ln>
          <a:effectLst/>
        </p:spPr>
        <p:txBody>
          <a:bodyPr rtlCol="0" anchor="ctr"/>
          <a:lstStyle/>
          <a:p>
            <a:pPr algn="ctr"/>
          </a:p>
        </p:txBody>
      </p:sp>
      <p:sp>
        <p:nvSpPr>
          <p:cNvPr id="94" name="TextBox 93"/>
          <p:cNvSpPr txBox="1"/>
          <p:nvPr/>
        </p:nvSpPr>
        <p:spPr>
          <a:xfrm>
            <a:off x="10241280" y="5864352"/>
            <a:ext cx="792480" cy="182880"/>
          </a:xfrm>
          <a:prstGeom prst="rect">
            <a:avLst/>
          </a:prstGeom>
          <a:noFill/>
        </p:spPr>
        <p:txBody>
          <a:bodyPr wrap="square" anchor="ctr" lIns="0" rIns="0" tIns="0" bIns="0">
            <a:spAutoFit/>
          </a:bodyPr>
          <a:lstStyle/>
          <a:p>
            <a:pPr algn="r"/>
            <a:r>
              <a:rPr sz="1000" b="1" i="0">
                <a:solidFill>
                  <a:srgbClr val="8A93A6"/>
                </a:solidFill>
                <a:latin typeface="Arial"/>
              </a:rPr>
              <a:t>&lt; 1 %</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6F2"/>
          </a:solidFill>
          <a:ln>
            <a:noFill/>
          </a:ln>
          <a:effectLst/>
        </p:spPr>
        <p:txBody>
          <a:bodyPr rtlCol="0" anchor="ctr"/>
          <a:lstStyle/>
          <a:p>
            <a:pPr algn="ctr"/>
          </a:p>
        </p:txBody>
      </p:sp>
      <p:sp>
        <p:nvSpPr>
          <p:cNvPr id="3" name="TextBox 2"/>
          <p:cNvSpPr txBox="1"/>
          <p:nvPr/>
        </p:nvSpPr>
        <p:spPr>
          <a:xfrm>
            <a:off x="579120" y="426720"/>
            <a:ext cx="7315200" cy="182880"/>
          </a:xfrm>
          <a:prstGeom prst="rect">
            <a:avLst/>
          </a:prstGeom>
          <a:noFill/>
        </p:spPr>
        <p:txBody>
          <a:bodyPr wrap="square" anchor="t" lIns="0" rIns="0" tIns="0" bIns="0">
            <a:spAutoFit/>
          </a:bodyPr>
          <a:lstStyle/>
          <a:p>
            <a:pPr algn="l"/>
            <a:r>
              <a:rPr sz="1300" b="1" i="0">
                <a:solidFill>
                  <a:srgbClr val="EE6A2C"/>
                </a:solidFill>
                <a:latin typeface="Arial"/>
              </a:rPr>
              <a:t>INSIGHTS QUALITATIFS · SEPTEMBRE 2026</a:t>
            </a:r>
          </a:p>
        </p:txBody>
      </p:sp>
      <p:sp>
        <p:nvSpPr>
          <p:cNvPr id="4" name="TextBox 3"/>
          <p:cNvSpPr txBox="1"/>
          <p:nvPr/>
        </p:nvSpPr>
        <p:spPr>
          <a:xfrm>
            <a:off x="579120" y="609600"/>
            <a:ext cx="7315200" cy="487680"/>
          </a:xfrm>
          <a:prstGeom prst="rect">
            <a:avLst/>
          </a:prstGeom>
          <a:noFill/>
        </p:spPr>
        <p:txBody>
          <a:bodyPr wrap="square" anchor="t" lIns="0" rIns="0" tIns="0" bIns="0">
            <a:spAutoFit/>
          </a:bodyPr>
          <a:lstStyle/>
          <a:p>
            <a:pPr algn="l"/>
            <a:r>
              <a:rPr sz="3600" b="1" i="0">
                <a:solidFill>
                  <a:srgbClr val="111111"/>
                </a:solidFill>
                <a:latin typeface="Arial"/>
              </a:rPr>
              <a:t>Allo Pneus</a:t>
            </a:r>
          </a:p>
        </p:txBody>
      </p:sp>
      <p:sp>
        <p:nvSpPr>
          <p:cNvPr id="5" name="TextBox 4"/>
          <p:cNvSpPr txBox="1"/>
          <p:nvPr/>
        </p:nvSpPr>
        <p:spPr>
          <a:xfrm>
            <a:off x="9144000" y="499872"/>
            <a:ext cx="1889760" cy="182880"/>
          </a:xfrm>
          <a:prstGeom prst="rect">
            <a:avLst/>
          </a:prstGeom>
          <a:noFill/>
        </p:spPr>
        <p:txBody>
          <a:bodyPr wrap="square" anchor="t" lIns="0" rIns="0" tIns="0" bIns="0">
            <a:spAutoFit/>
          </a:bodyPr>
          <a:lstStyle/>
          <a:p>
            <a:pPr algn="r"/>
            <a:r>
              <a:rPr sz="1500" b="1" i="0">
                <a:solidFill>
                  <a:srgbClr val="111111"/>
                </a:solidFill>
                <a:latin typeface="Arial"/>
              </a:rPr>
              <a:t>Lemrock</a:t>
            </a:r>
          </a:p>
        </p:txBody>
      </p:sp>
      <p:sp>
        <p:nvSpPr>
          <p:cNvPr id="6" name="TextBox 5"/>
          <p:cNvSpPr txBox="1"/>
          <p:nvPr/>
        </p:nvSpPr>
        <p:spPr>
          <a:xfrm>
            <a:off x="579120" y="1219200"/>
            <a:ext cx="9144000" cy="182880"/>
          </a:xfrm>
          <a:prstGeom prst="rect">
            <a:avLst/>
          </a:prstGeom>
          <a:noFill/>
        </p:spPr>
        <p:txBody>
          <a:bodyPr wrap="square" anchor="t" lIns="0" rIns="0" tIns="0" bIns="0">
            <a:spAutoFit/>
          </a:bodyPr>
          <a:lstStyle/>
          <a:p>
            <a:pPr algn="l"/>
            <a:r>
              <a:rPr sz="1300" b="1" i="0">
                <a:solidFill>
                  <a:srgbClr val="EE6A2C"/>
                </a:solidFill>
                <a:latin typeface="Arial"/>
              </a:rPr>
              <a:t>OBJECTIF   </a:t>
            </a:r>
            <a:r>
              <a:rPr sz="1300" b="0" i="0">
                <a:solidFill>
                  <a:srgbClr val="111111"/>
                </a:solidFill>
                <a:latin typeface="Arial"/>
              </a:rPr>
              <a:t>À définir</a:t>
            </a:r>
          </a:p>
        </p:txBody>
      </p:sp>
      <p:sp>
        <p:nvSpPr>
          <p:cNvPr id="7" name="TextBox 6"/>
          <p:cNvSpPr txBox="1"/>
          <p:nvPr/>
        </p:nvSpPr>
        <p:spPr>
          <a:xfrm>
            <a:off x="579120" y="1524000"/>
            <a:ext cx="4876800" cy="182880"/>
          </a:xfrm>
          <a:prstGeom prst="rect">
            <a:avLst/>
          </a:prstGeom>
          <a:noFill/>
        </p:spPr>
        <p:txBody>
          <a:bodyPr wrap="square" anchor="t" lIns="0" rIns="0" tIns="0" bIns="0">
            <a:spAutoFit/>
          </a:bodyPr>
          <a:lstStyle/>
          <a:p>
            <a:pPr algn="l"/>
            <a:r>
              <a:rPr sz="1400" b="1" i="0">
                <a:solidFill>
                  <a:srgbClr val="555B66"/>
                </a:solidFill>
                <a:latin typeface="Arial"/>
              </a:rPr>
              <a:t>INSIGHTS QUALITATIFS</a:t>
            </a:r>
          </a:p>
        </p:txBody>
      </p:sp>
      <p:sp>
        <p:nvSpPr>
          <p:cNvPr id="8" name="Rectangle 7"/>
          <p:cNvSpPr/>
          <p:nvPr/>
        </p:nvSpPr>
        <p:spPr>
          <a:xfrm>
            <a:off x="579120" y="1816608"/>
            <a:ext cx="5071872" cy="2121408"/>
          </a:xfrm>
          <a:prstGeom prst="rect">
            <a:avLst/>
          </a:prstGeom>
          <a:solidFill>
            <a:srgbClr val="FFFFFF"/>
          </a:solidFill>
          <a:ln>
            <a:noFill/>
          </a:ln>
          <a:effectLst/>
        </p:spPr>
        <p:txBody>
          <a:bodyPr rtlCol="0" anchor="ctr"/>
          <a:lstStyle/>
          <a:p>
            <a:pPr algn="ctr"/>
          </a:p>
        </p:txBody>
      </p:sp>
      <p:sp>
        <p:nvSpPr>
          <p:cNvPr id="9" name="TextBox 8"/>
          <p:cNvSpPr txBox="1"/>
          <p:nvPr/>
        </p:nvSpPr>
        <p:spPr>
          <a:xfrm>
            <a:off x="835152" y="2029968"/>
            <a:ext cx="487680" cy="243840"/>
          </a:xfrm>
          <a:prstGeom prst="rect">
            <a:avLst/>
          </a:prstGeom>
          <a:noFill/>
        </p:spPr>
        <p:txBody>
          <a:bodyPr wrap="square" anchor="t" lIns="0" rIns="0" tIns="0" bIns="0">
            <a:spAutoFit/>
          </a:bodyPr>
          <a:lstStyle/>
          <a:p>
            <a:pPr algn="l"/>
            <a:r>
              <a:rPr sz="2000" b="1" i="0">
                <a:solidFill>
                  <a:srgbClr val="EE6A2C"/>
                </a:solidFill>
                <a:latin typeface="Arial"/>
              </a:rPr>
              <a:t>01</a:t>
            </a:r>
          </a:p>
        </p:txBody>
      </p:sp>
      <p:sp>
        <p:nvSpPr>
          <p:cNvPr id="10" name="TextBox 9"/>
          <p:cNvSpPr txBox="1"/>
          <p:nvPr/>
        </p:nvSpPr>
        <p:spPr>
          <a:xfrm>
            <a:off x="1383792" y="2048256"/>
            <a:ext cx="4023360" cy="365760"/>
          </a:xfrm>
          <a:prstGeom prst="rect">
            <a:avLst/>
          </a:prstGeom>
          <a:noFill/>
        </p:spPr>
        <p:txBody>
          <a:bodyPr wrap="square" anchor="t" lIns="0" rIns="0" tIns="0" bIns="0">
            <a:spAutoFit/>
          </a:bodyPr>
          <a:lstStyle/>
          <a:p>
            <a:pPr algn="l"/>
            <a:r>
              <a:rPr sz="1400" b="1" i="0">
                <a:solidFill>
                  <a:srgbClr val="111111"/>
                </a:solidFill>
                <a:latin typeface="Arial"/>
              </a:rPr>
              <a:t>Mettre davantage en avant les pneus hiver</a:t>
            </a:r>
          </a:p>
        </p:txBody>
      </p:sp>
      <p:sp>
        <p:nvSpPr>
          <p:cNvPr id="11" name="TextBox 10"/>
          <p:cNvSpPr txBox="1"/>
          <p:nvPr/>
        </p:nvSpPr>
        <p:spPr>
          <a:xfrm>
            <a:off x="835152" y="2609088"/>
            <a:ext cx="4572000" cy="731520"/>
          </a:xfrm>
          <a:prstGeom prst="rect">
            <a:avLst/>
          </a:prstGeom>
          <a:noFill/>
        </p:spPr>
        <p:txBody>
          <a:bodyPr wrap="square" anchor="t" lIns="0" rIns="0" tIns="0" bIns="0">
            <a:spAutoFit/>
          </a:bodyPr>
          <a:lstStyle/>
          <a:p>
            <a:pPr algn="l"/>
            <a:r>
              <a:rPr sz="1100" b="0" i="0">
                <a:solidFill>
                  <a:srgbClr val="555B66"/>
                </a:solidFill>
                <a:latin typeface="Arial"/>
              </a:rPr>
              <a:t>Les annonces de pneus hiver atteignent 1,15 fois le CTR moyen, le meilleur score du mois. Elles ne représentent pourtant que 8 % de la diffusion.</a:t>
            </a:r>
          </a:p>
        </p:txBody>
      </p:sp>
      <p:sp>
        <p:nvSpPr>
          <p:cNvPr id="12" name="TextBox 11"/>
          <p:cNvSpPr txBox="1"/>
          <p:nvPr/>
        </p:nvSpPr>
        <p:spPr>
          <a:xfrm>
            <a:off x="835152" y="3310128"/>
            <a:ext cx="4572000" cy="487680"/>
          </a:xfrm>
          <a:prstGeom prst="rect">
            <a:avLst/>
          </a:prstGeom>
          <a:noFill/>
        </p:spPr>
        <p:txBody>
          <a:bodyPr wrap="square" anchor="t" lIns="0" rIns="0" tIns="0" bIns="0">
            <a:spAutoFit/>
          </a:bodyPr>
          <a:lstStyle/>
          <a:p>
            <a:pPr algn="l"/>
            <a:r>
              <a:rPr sz="900" b="1" i="0">
                <a:solidFill>
                  <a:srgbClr val="555B66"/>
                </a:solidFill>
                <a:latin typeface="Arial"/>
              </a:rPr>
              <a:t>→  Augmenter la part des pneus hiver et 4 saisons en octobre, au moment où les conducteurs changent leurs pneus.</a:t>
            </a:r>
          </a:p>
        </p:txBody>
      </p:sp>
      <p:sp>
        <p:nvSpPr>
          <p:cNvPr id="13" name="Rectangle 12"/>
          <p:cNvSpPr/>
          <p:nvPr/>
        </p:nvSpPr>
        <p:spPr>
          <a:xfrm>
            <a:off x="5992368" y="1816608"/>
            <a:ext cx="5071872" cy="2121408"/>
          </a:xfrm>
          <a:prstGeom prst="rect">
            <a:avLst/>
          </a:prstGeom>
          <a:solidFill>
            <a:srgbClr val="FFFFFF"/>
          </a:solidFill>
          <a:ln>
            <a:noFill/>
          </a:ln>
          <a:effectLst/>
        </p:spPr>
        <p:txBody>
          <a:bodyPr rtlCol="0" anchor="ctr"/>
          <a:lstStyle/>
          <a:p>
            <a:pPr algn="ctr"/>
          </a:p>
        </p:txBody>
      </p:sp>
      <p:sp>
        <p:nvSpPr>
          <p:cNvPr id="14" name="TextBox 13"/>
          <p:cNvSpPr txBox="1"/>
          <p:nvPr/>
        </p:nvSpPr>
        <p:spPr>
          <a:xfrm>
            <a:off x="6248400" y="2029968"/>
            <a:ext cx="487680" cy="243840"/>
          </a:xfrm>
          <a:prstGeom prst="rect">
            <a:avLst/>
          </a:prstGeom>
          <a:noFill/>
        </p:spPr>
        <p:txBody>
          <a:bodyPr wrap="square" anchor="t" lIns="0" rIns="0" tIns="0" bIns="0">
            <a:spAutoFit/>
          </a:bodyPr>
          <a:lstStyle/>
          <a:p>
            <a:pPr algn="l"/>
            <a:r>
              <a:rPr sz="2000" b="1" i="0">
                <a:solidFill>
                  <a:srgbClr val="EE6A2C"/>
                </a:solidFill>
                <a:latin typeface="Arial"/>
              </a:rPr>
              <a:t>02</a:t>
            </a:r>
          </a:p>
        </p:txBody>
      </p:sp>
      <p:sp>
        <p:nvSpPr>
          <p:cNvPr id="15" name="TextBox 14"/>
          <p:cNvSpPr txBox="1"/>
          <p:nvPr/>
        </p:nvSpPr>
        <p:spPr>
          <a:xfrm>
            <a:off x="6797040" y="2048256"/>
            <a:ext cx="4023360" cy="365760"/>
          </a:xfrm>
          <a:prstGeom prst="rect">
            <a:avLst/>
          </a:prstGeom>
          <a:noFill/>
        </p:spPr>
        <p:txBody>
          <a:bodyPr wrap="square" anchor="t" lIns="0" rIns="0" tIns="0" bIns="0">
            <a:spAutoFit/>
          </a:bodyPr>
          <a:lstStyle/>
          <a:p>
            <a:pPr algn="l"/>
            <a:r>
              <a:rPr sz="1400" b="1" i="0">
                <a:solidFill>
                  <a:srgbClr val="111111"/>
                </a:solidFill>
                <a:latin typeface="Arial"/>
              </a:rPr>
              <a:t>Renforcer les pneus SUV</a:t>
            </a:r>
          </a:p>
        </p:txBody>
      </p:sp>
      <p:sp>
        <p:nvSpPr>
          <p:cNvPr id="16" name="TextBox 15"/>
          <p:cNvSpPr txBox="1"/>
          <p:nvPr/>
        </p:nvSpPr>
        <p:spPr>
          <a:xfrm>
            <a:off x="6248400" y="2609088"/>
            <a:ext cx="4572000" cy="731520"/>
          </a:xfrm>
          <a:prstGeom prst="rect">
            <a:avLst/>
          </a:prstGeom>
          <a:noFill/>
        </p:spPr>
        <p:txBody>
          <a:bodyPr wrap="square" anchor="t" lIns="0" rIns="0" tIns="0" bIns="0">
            <a:spAutoFit/>
          </a:bodyPr>
          <a:lstStyle/>
          <a:p>
            <a:pPr algn="l"/>
            <a:r>
              <a:rPr sz="1100" b="0" i="0">
                <a:solidFill>
                  <a:srgbClr val="555B66"/>
                </a:solidFill>
                <a:latin typeface="Arial"/>
              </a:rPr>
              <a:t>Les pneus SUV et 4x4 atteignent 1,09 fois le CTR moyen, et jusqu'à 1,43 fois pour le Kleber Quadraxer SUV. Les pneus utilitaires restent sous la moyenne (0,87 fois).</a:t>
            </a:r>
          </a:p>
        </p:txBody>
      </p:sp>
      <p:sp>
        <p:nvSpPr>
          <p:cNvPr id="17" name="TextBox 16"/>
          <p:cNvSpPr txBox="1"/>
          <p:nvPr/>
        </p:nvSpPr>
        <p:spPr>
          <a:xfrm>
            <a:off x="6248400" y="3310128"/>
            <a:ext cx="4572000" cy="487680"/>
          </a:xfrm>
          <a:prstGeom prst="rect">
            <a:avLst/>
          </a:prstGeom>
          <a:noFill/>
        </p:spPr>
        <p:txBody>
          <a:bodyPr wrap="square" anchor="t" lIns="0" rIns="0" tIns="0" bIns="0">
            <a:spAutoFit/>
          </a:bodyPr>
          <a:lstStyle/>
          <a:p>
            <a:pPr algn="l"/>
            <a:r>
              <a:rPr sz="900" b="1" i="0">
                <a:solidFill>
                  <a:srgbClr val="555B66"/>
                </a:solidFill>
                <a:latin typeface="Arial"/>
              </a:rPr>
              <a:t>→  Donner plus de visibilité aux références SUV et retravailler les messages utilitaires autour d'un usage concret (chantier, camping-car).</a:t>
            </a:r>
          </a:p>
        </p:txBody>
      </p:sp>
      <p:sp>
        <p:nvSpPr>
          <p:cNvPr id="18" name="Rectangle 17"/>
          <p:cNvSpPr/>
          <p:nvPr/>
        </p:nvSpPr>
        <p:spPr>
          <a:xfrm>
            <a:off x="579120" y="4133088"/>
            <a:ext cx="5071872" cy="2121408"/>
          </a:xfrm>
          <a:prstGeom prst="rect">
            <a:avLst/>
          </a:prstGeom>
          <a:solidFill>
            <a:srgbClr val="FFFFFF"/>
          </a:solidFill>
          <a:ln>
            <a:noFill/>
          </a:ln>
          <a:effectLst/>
        </p:spPr>
        <p:txBody>
          <a:bodyPr rtlCol="0" anchor="ctr"/>
          <a:lstStyle/>
          <a:p>
            <a:pPr algn="ctr"/>
          </a:p>
        </p:txBody>
      </p:sp>
      <p:sp>
        <p:nvSpPr>
          <p:cNvPr id="19" name="TextBox 18"/>
          <p:cNvSpPr txBox="1"/>
          <p:nvPr/>
        </p:nvSpPr>
        <p:spPr>
          <a:xfrm>
            <a:off x="835152" y="4346448"/>
            <a:ext cx="487680" cy="243840"/>
          </a:xfrm>
          <a:prstGeom prst="rect">
            <a:avLst/>
          </a:prstGeom>
          <a:noFill/>
        </p:spPr>
        <p:txBody>
          <a:bodyPr wrap="square" anchor="t" lIns="0" rIns="0" tIns="0" bIns="0">
            <a:spAutoFit/>
          </a:bodyPr>
          <a:lstStyle/>
          <a:p>
            <a:pPr algn="l"/>
            <a:r>
              <a:rPr sz="2000" b="1" i="0">
                <a:solidFill>
                  <a:srgbClr val="EE6A2C"/>
                </a:solidFill>
                <a:latin typeface="Arial"/>
              </a:rPr>
              <a:t>03</a:t>
            </a:r>
          </a:p>
        </p:txBody>
      </p:sp>
      <p:sp>
        <p:nvSpPr>
          <p:cNvPr id="20" name="TextBox 19"/>
          <p:cNvSpPr txBox="1"/>
          <p:nvPr/>
        </p:nvSpPr>
        <p:spPr>
          <a:xfrm>
            <a:off x="1383792" y="4364736"/>
            <a:ext cx="4023360" cy="365760"/>
          </a:xfrm>
          <a:prstGeom prst="rect">
            <a:avLst/>
          </a:prstGeom>
          <a:noFill/>
        </p:spPr>
        <p:txBody>
          <a:bodyPr wrap="square" anchor="t" lIns="0" rIns="0" tIns="0" bIns="0">
            <a:spAutoFit/>
          </a:bodyPr>
          <a:lstStyle/>
          <a:p>
            <a:pPr algn="l"/>
            <a:r>
              <a:rPr sz="1400" b="1" i="0">
                <a:solidFill>
                  <a:srgbClr val="111111"/>
                </a:solidFill>
                <a:latin typeface="Arial"/>
              </a:rPr>
              <a:t>Privilégier les marques au bon rapport qualité-prix</a:t>
            </a:r>
          </a:p>
        </p:txBody>
      </p:sp>
      <p:sp>
        <p:nvSpPr>
          <p:cNvPr id="21" name="TextBox 20"/>
          <p:cNvSpPr txBox="1"/>
          <p:nvPr/>
        </p:nvSpPr>
        <p:spPr>
          <a:xfrm>
            <a:off x="835152" y="4925568"/>
            <a:ext cx="4572000" cy="731520"/>
          </a:xfrm>
          <a:prstGeom prst="rect">
            <a:avLst/>
          </a:prstGeom>
          <a:noFill/>
        </p:spPr>
        <p:txBody>
          <a:bodyPr wrap="square" anchor="t" lIns="0" rIns="0" tIns="0" bIns="0">
            <a:spAutoFit/>
          </a:bodyPr>
          <a:lstStyle/>
          <a:p>
            <a:pPr algn="l"/>
            <a:r>
              <a:rPr sz="1100" b="0" i="0">
                <a:solidFill>
                  <a:srgbClr val="555B66"/>
                </a:solidFill>
                <a:latin typeface="Arial"/>
              </a:rPr>
              <a:t>Les marques à prix accessible cliquent mieux, Hankook atteint 1,22 fois le CTR moyen. Les marques premium comme Goodyear restent en dessous (0,69 fois).</a:t>
            </a:r>
          </a:p>
        </p:txBody>
      </p:sp>
      <p:sp>
        <p:nvSpPr>
          <p:cNvPr id="22" name="TextBox 21"/>
          <p:cNvSpPr txBox="1"/>
          <p:nvPr/>
        </p:nvSpPr>
        <p:spPr>
          <a:xfrm>
            <a:off x="835152" y="5626608"/>
            <a:ext cx="4572000" cy="487680"/>
          </a:xfrm>
          <a:prstGeom prst="rect">
            <a:avLst/>
          </a:prstGeom>
          <a:noFill/>
        </p:spPr>
        <p:txBody>
          <a:bodyPr wrap="square" anchor="t" lIns="0" rIns="0" tIns="0" bIns="0">
            <a:spAutoFit/>
          </a:bodyPr>
          <a:lstStyle/>
          <a:p>
            <a:pPr algn="l"/>
            <a:r>
              <a:rPr sz="900" b="1" i="0">
                <a:solidFill>
                  <a:srgbClr val="555B66"/>
                </a:solidFill>
                <a:latin typeface="Arial"/>
              </a:rPr>
              <a:t>→  Mettre en avant les marques accessibles avec le message « pas cher mais sûr ».</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6F2"/>
          </a:solidFill>
          <a:ln>
            <a:noFill/>
          </a:ln>
          <a:effectLst/>
        </p:spPr>
        <p:txBody>
          <a:bodyPr rtlCol="0" anchor="ctr"/>
          <a:lstStyle/>
          <a:p>
            <a:pPr algn="ctr"/>
          </a:p>
        </p:txBody>
      </p:sp>
      <p:sp>
        <p:nvSpPr>
          <p:cNvPr id="3" name="TextBox 2"/>
          <p:cNvSpPr txBox="1"/>
          <p:nvPr/>
        </p:nvSpPr>
        <p:spPr>
          <a:xfrm>
            <a:off x="530352" y="487680"/>
            <a:ext cx="7315200" cy="182880"/>
          </a:xfrm>
          <a:prstGeom prst="rect">
            <a:avLst/>
          </a:prstGeom>
          <a:noFill/>
        </p:spPr>
        <p:txBody>
          <a:bodyPr wrap="square" anchor="t" lIns="0" rIns="0" tIns="0" bIns="0">
            <a:spAutoFit/>
          </a:bodyPr>
          <a:lstStyle/>
          <a:p>
            <a:pPr algn="l"/>
            <a:r>
              <a:rPr sz="1300" b="1" i="0">
                <a:solidFill>
                  <a:srgbClr val="EE6A2C"/>
                </a:solidFill>
                <a:latin typeface="Arial"/>
              </a:rPr>
              <a:t>RAPPORT DE PERFORMANCE · 01/09/2026 → 30/09/2026</a:t>
            </a:r>
          </a:p>
        </p:txBody>
      </p:sp>
      <p:sp>
        <p:nvSpPr>
          <p:cNvPr id="4" name="TextBox 3"/>
          <p:cNvSpPr txBox="1"/>
          <p:nvPr/>
        </p:nvSpPr>
        <p:spPr>
          <a:xfrm>
            <a:off x="530352" y="640080"/>
            <a:ext cx="7315200" cy="487680"/>
          </a:xfrm>
          <a:prstGeom prst="rect">
            <a:avLst/>
          </a:prstGeom>
          <a:noFill/>
        </p:spPr>
        <p:txBody>
          <a:bodyPr wrap="square" anchor="t" lIns="0" rIns="0" tIns="0" bIns="0">
            <a:spAutoFit/>
          </a:bodyPr>
          <a:lstStyle/>
          <a:p>
            <a:pPr algn="l"/>
            <a:r>
              <a:rPr sz="3600" b="1" i="0">
                <a:solidFill>
                  <a:srgbClr val="111111"/>
                </a:solidFill>
                <a:latin typeface="Arial"/>
              </a:rPr>
              <a:t>Archipel Kombucha</a:t>
            </a:r>
          </a:p>
        </p:txBody>
      </p:sp>
      <p:sp>
        <p:nvSpPr>
          <p:cNvPr id="5" name="TextBox 4"/>
          <p:cNvSpPr txBox="1"/>
          <p:nvPr/>
        </p:nvSpPr>
        <p:spPr>
          <a:xfrm>
            <a:off x="7924800" y="591312"/>
            <a:ext cx="3304032" cy="152400"/>
          </a:xfrm>
          <a:prstGeom prst="rect">
            <a:avLst/>
          </a:prstGeom>
          <a:noFill/>
        </p:spPr>
        <p:txBody>
          <a:bodyPr wrap="square" anchor="t" lIns="0" rIns="0" tIns="0" bIns="0">
            <a:spAutoFit/>
          </a:bodyPr>
          <a:lstStyle/>
          <a:p>
            <a:pPr algn="r"/>
            <a:r>
              <a:rPr sz="1200" b="1" i="0">
                <a:solidFill>
                  <a:srgbClr val="8A93A6"/>
                </a:solidFill>
                <a:latin typeface="Arial"/>
              </a:rPr>
              <a:t>COMPARAISON</a:t>
            </a:r>
          </a:p>
        </p:txBody>
      </p:sp>
      <p:sp>
        <p:nvSpPr>
          <p:cNvPr id="6" name="TextBox 5"/>
          <p:cNvSpPr txBox="1"/>
          <p:nvPr/>
        </p:nvSpPr>
        <p:spPr>
          <a:xfrm>
            <a:off x="7924800" y="780288"/>
            <a:ext cx="3304032" cy="182880"/>
          </a:xfrm>
          <a:prstGeom prst="rect">
            <a:avLst/>
          </a:prstGeom>
          <a:noFill/>
        </p:spPr>
        <p:txBody>
          <a:bodyPr wrap="square" anchor="t" lIns="0" rIns="0" tIns="0" bIns="0">
            <a:spAutoFit/>
          </a:bodyPr>
          <a:lstStyle/>
          <a:p>
            <a:pPr algn="r"/>
            <a:r>
              <a:rPr sz="1500" b="1" i="0">
                <a:solidFill>
                  <a:srgbClr val="111111"/>
                </a:solidFill>
                <a:latin typeface="Arial"/>
              </a:rPr>
              <a:t>vs 01/08/2026 → 31/08/2026</a:t>
            </a:r>
          </a:p>
        </p:txBody>
      </p:sp>
      <p:sp>
        <p:nvSpPr>
          <p:cNvPr id="7" name="TextBox 6"/>
          <p:cNvSpPr txBox="1"/>
          <p:nvPr/>
        </p:nvSpPr>
        <p:spPr>
          <a:xfrm>
            <a:off x="530352" y="1280160"/>
            <a:ext cx="2438400" cy="182880"/>
          </a:xfrm>
          <a:prstGeom prst="rect">
            <a:avLst/>
          </a:prstGeom>
          <a:noFill/>
        </p:spPr>
        <p:txBody>
          <a:bodyPr wrap="square" anchor="t" lIns="0" rIns="0" tIns="0" bIns="0">
            <a:spAutoFit/>
          </a:bodyPr>
          <a:lstStyle/>
          <a:p>
            <a:pPr algn="l"/>
            <a:r>
              <a:rPr sz="1400" b="1" i="0">
                <a:solidFill>
                  <a:srgbClr val="EE6A2C"/>
                </a:solidFill>
                <a:latin typeface="Arial"/>
              </a:rPr>
              <a:t>DIFFUSION</a:t>
            </a:r>
          </a:p>
        </p:txBody>
      </p:sp>
      <p:sp>
        <p:nvSpPr>
          <p:cNvPr id="8" name="TextBox 7"/>
          <p:cNvSpPr txBox="1"/>
          <p:nvPr/>
        </p:nvSpPr>
        <p:spPr>
          <a:xfrm>
            <a:off x="2389632" y="1280160"/>
            <a:ext cx="2438400" cy="182880"/>
          </a:xfrm>
          <a:prstGeom prst="rect">
            <a:avLst/>
          </a:prstGeom>
          <a:noFill/>
        </p:spPr>
        <p:txBody>
          <a:bodyPr wrap="square" anchor="t" lIns="0" rIns="0" tIns="0" bIns="0">
            <a:spAutoFit/>
          </a:bodyPr>
          <a:lstStyle/>
          <a:p>
            <a:pPr algn="l"/>
            <a:r>
              <a:rPr sz="1400" b="1" i="0">
                <a:solidFill>
                  <a:srgbClr val="EE6A2C"/>
                </a:solidFill>
                <a:latin typeface="Arial"/>
              </a:rPr>
              <a:t>ENGAGEMENT</a:t>
            </a:r>
          </a:p>
        </p:txBody>
      </p:sp>
      <p:sp>
        <p:nvSpPr>
          <p:cNvPr id="9" name="TextBox 8"/>
          <p:cNvSpPr txBox="1"/>
          <p:nvPr/>
        </p:nvSpPr>
        <p:spPr>
          <a:xfrm>
            <a:off x="6108192" y="1280160"/>
            <a:ext cx="2438400" cy="182880"/>
          </a:xfrm>
          <a:prstGeom prst="rect">
            <a:avLst/>
          </a:prstGeom>
          <a:noFill/>
        </p:spPr>
        <p:txBody>
          <a:bodyPr wrap="square" anchor="t" lIns="0" rIns="0" tIns="0" bIns="0">
            <a:spAutoFit/>
          </a:bodyPr>
          <a:lstStyle/>
          <a:p>
            <a:pPr algn="l"/>
            <a:r>
              <a:rPr sz="1400" b="1" i="0">
                <a:solidFill>
                  <a:srgbClr val="EE6A2C"/>
                </a:solidFill>
                <a:latin typeface="Arial"/>
              </a:rPr>
              <a:t>CONVERSION</a:t>
            </a:r>
          </a:p>
        </p:txBody>
      </p:sp>
      <p:sp>
        <p:nvSpPr>
          <p:cNvPr id="10" name="Rectangle 9"/>
          <p:cNvSpPr/>
          <p:nvPr/>
        </p:nvSpPr>
        <p:spPr>
          <a:xfrm>
            <a:off x="530352" y="1536192"/>
            <a:ext cx="1389888" cy="1127760"/>
          </a:xfrm>
          <a:prstGeom prst="rect">
            <a:avLst/>
          </a:prstGeom>
          <a:solidFill>
            <a:srgbClr val="FFFFFF"/>
          </a:solidFill>
          <a:ln>
            <a:noFill/>
          </a:ln>
          <a:effectLst/>
        </p:spPr>
        <p:txBody>
          <a:bodyPr rtlCol="0" anchor="ctr"/>
          <a:lstStyle/>
          <a:p>
            <a:pPr algn="ctr"/>
          </a:p>
        </p:txBody>
      </p:sp>
      <p:sp>
        <p:nvSpPr>
          <p:cNvPr id="11" name="Rectangle 10"/>
          <p:cNvSpPr/>
          <p:nvPr/>
        </p:nvSpPr>
        <p:spPr>
          <a:xfrm>
            <a:off x="530352" y="1536192"/>
            <a:ext cx="24384" cy="1127760"/>
          </a:xfrm>
          <a:prstGeom prst="rect">
            <a:avLst/>
          </a:prstGeom>
          <a:solidFill>
            <a:srgbClr val="EE6A2C"/>
          </a:solidFill>
          <a:ln>
            <a:noFill/>
          </a:ln>
          <a:effectLst/>
        </p:spPr>
        <p:txBody>
          <a:bodyPr rtlCol="0" anchor="ctr"/>
          <a:lstStyle/>
          <a:p>
            <a:pPr algn="ctr"/>
          </a:p>
        </p:txBody>
      </p:sp>
      <p:sp>
        <p:nvSpPr>
          <p:cNvPr id="12" name="TextBox 11"/>
          <p:cNvSpPr txBox="1"/>
          <p:nvPr/>
        </p:nvSpPr>
        <p:spPr>
          <a:xfrm>
            <a:off x="664464" y="1615440"/>
            <a:ext cx="1219200" cy="121920"/>
          </a:xfrm>
          <a:prstGeom prst="rect">
            <a:avLst/>
          </a:prstGeom>
          <a:noFill/>
        </p:spPr>
        <p:txBody>
          <a:bodyPr wrap="square" anchor="t" lIns="0" rIns="0" tIns="0" bIns="0">
            <a:spAutoFit/>
          </a:bodyPr>
          <a:lstStyle/>
          <a:p>
            <a:pPr algn="l"/>
            <a:r>
              <a:rPr sz="1000" b="1" i="0">
                <a:solidFill>
                  <a:srgbClr val="555B66"/>
                </a:solidFill>
                <a:latin typeface="Arial"/>
              </a:rPr>
              <a:t>IMPRESSIONS</a:t>
            </a:r>
          </a:p>
        </p:txBody>
      </p:sp>
      <p:sp>
        <p:nvSpPr>
          <p:cNvPr id="13" name="TextBox 12"/>
          <p:cNvSpPr txBox="1"/>
          <p:nvPr/>
        </p:nvSpPr>
        <p:spPr>
          <a:xfrm>
            <a:off x="664464" y="1889760"/>
            <a:ext cx="1219200" cy="274320"/>
          </a:xfrm>
          <a:prstGeom prst="rect">
            <a:avLst/>
          </a:prstGeom>
          <a:noFill/>
        </p:spPr>
        <p:txBody>
          <a:bodyPr wrap="square" anchor="t" lIns="0" rIns="0" tIns="0" bIns="0">
            <a:spAutoFit/>
          </a:bodyPr>
          <a:lstStyle/>
          <a:p>
            <a:pPr algn="l"/>
            <a:r>
              <a:rPr sz="2200" b="1" i="0">
                <a:solidFill>
                  <a:srgbClr val="111111"/>
                </a:solidFill>
                <a:latin typeface="Arial"/>
              </a:rPr>
              <a:t>222 268</a:t>
            </a:r>
          </a:p>
        </p:txBody>
      </p:sp>
      <p:sp>
        <p:nvSpPr>
          <p:cNvPr id="14" name="TextBox 13"/>
          <p:cNvSpPr txBox="1"/>
          <p:nvPr/>
        </p:nvSpPr>
        <p:spPr>
          <a:xfrm>
            <a:off x="664464" y="2243328"/>
            <a:ext cx="1219200" cy="109728"/>
          </a:xfrm>
          <a:prstGeom prst="rect">
            <a:avLst/>
          </a:prstGeom>
          <a:noFill/>
        </p:spPr>
        <p:txBody>
          <a:bodyPr wrap="square" anchor="t" lIns="0" rIns="0" tIns="0" bIns="0">
            <a:spAutoFit/>
          </a:bodyPr>
          <a:lstStyle/>
          <a:p>
            <a:pPr algn="l"/>
            <a:r>
              <a:rPr sz="1000" b="1" i="0">
                <a:solidFill>
                  <a:srgbClr val="1E7B34"/>
                </a:solidFill>
                <a:latin typeface="Arial"/>
              </a:rPr>
              <a:t>▲ +177 %</a:t>
            </a:r>
          </a:p>
        </p:txBody>
      </p:sp>
      <p:sp>
        <p:nvSpPr>
          <p:cNvPr id="15" name="TextBox 14"/>
          <p:cNvSpPr txBox="1"/>
          <p:nvPr/>
        </p:nvSpPr>
        <p:spPr>
          <a:xfrm>
            <a:off x="664464" y="2499360"/>
            <a:ext cx="1219200" cy="91440"/>
          </a:xfrm>
          <a:prstGeom prst="rect">
            <a:avLst/>
          </a:prstGeom>
          <a:noFill/>
        </p:spPr>
        <p:txBody>
          <a:bodyPr wrap="square" anchor="t" lIns="0" rIns="0" tIns="0" bIns="0">
            <a:spAutoFit/>
          </a:bodyPr>
          <a:lstStyle/>
          <a:p>
            <a:pPr algn="l"/>
            <a:r>
              <a:rPr sz="800" b="0" i="1">
                <a:solidFill>
                  <a:srgbClr val="555B66"/>
                </a:solidFill>
                <a:latin typeface="Arial"/>
              </a:rPr>
              <a:t>YTD 302 404</a:t>
            </a:r>
          </a:p>
        </p:txBody>
      </p:sp>
      <p:sp>
        <p:nvSpPr>
          <p:cNvPr id="16" name="Rectangle 15"/>
          <p:cNvSpPr/>
          <p:nvPr/>
        </p:nvSpPr>
        <p:spPr>
          <a:xfrm>
            <a:off x="2389632" y="1536192"/>
            <a:ext cx="1389888" cy="1127760"/>
          </a:xfrm>
          <a:prstGeom prst="rect">
            <a:avLst/>
          </a:prstGeom>
          <a:solidFill>
            <a:srgbClr val="FFFFFF"/>
          </a:solidFill>
          <a:ln>
            <a:noFill/>
          </a:ln>
          <a:effectLst/>
        </p:spPr>
        <p:txBody>
          <a:bodyPr rtlCol="0" anchor="ctr"/>
          <a:lstStyle/>
          <a:p>
            <a:pPr algn="ctr"/>
          </a:p>
        </p:txBody>
      </p:sp>
      <p:sp>
        <p:nvSpPr>
          <p:cNvPr id="17" name="Rectangle 16"/>
          <p:cNvSpPr/>
          <p:nvPr/>
        </p:nvSpPr>
        <p:spPr>
          <a:xfrm>
            <a:off x="2389632" y="1536192"/>
            <a:ext cx="24384" cy="1127760"/>
          </a:xfrm>
          <a:prstGeom prst="rect">
            <a:avLst/>
          </a:prstGeom>
          <a:solidFill>
            <a:srgbClr val="EE6A2C"/>
          </a:solidFill>
          <a:ln>
            <a:noFill/>
          </a:ln>
          <a:effectLst/>
        </p:spPr>
        <p:txBody>
          <a:bodyPr rtlCol="0" anchor="ctr"/>
          <a:lstStyle/>
          <a:p>
            <a:pPr algn="ctr"/>
          </a:p>
        </p:txBody>
      </p:sp>
      <p:sp>
        <p:nvSpPr>
          <p:cNvPr id="18" name="TextBox 17"/>
          <p:cNvSpPr txBox="1"/>
          <p:nvPr/>
        </p:nvSpPr>
        <p:spPr>
          <a:xfrm>
            <a:off x="2523744" y="1615440"/>
            <a:ext cx="1219200" cy="121920"/>
          </a:xfrm>
          <a:prstGeom prst="rect">
            <a:avLst/>
          </a:prstGeom>
          <a:noFill/>
        </p:spPr>
        <p:txBody>
          <a:bodyPr wrap="square" anchor="t" lIns="0" rIns="0" tIns="0" bIns="0">
            <a:spAutoFit/>
          </a:bodyPr>
          <a:lstStyle/>
          <a:p>
            <a:pPr algn="l"/>
            <a:r>
              <a:rPr sz="1000" b="1" i="0">
                <a:solidFill>
                  <a:srgbClr val="555B66"/>
                </a:solidFill>
                <a:latin typeface="Arial"/>
              </a:rPr>
              <a:t>CLICS</a:t>
            </a:r>
          </a:p>
        </p:txBody>
      </p:sp>
      <p:sp>
        <p:nvSpPr>
          <p:cNvPr id="19" name="TextBox 18"/>
          <p:cNvSpPr txBox="1"/>
          <p:nvPr/>
        </p:nvSpPr>
        <p:spPr>
          <a:xfrm>
            <a:off x="2523744" y="1889760"/>
            <a:ext cx="1219200" cy="274320"/>
          </a:xfrm>
          <a:prstGeom prst="rect">
            <a:avLst/>
          </a:prstGeom>
          <a:noFill/>
        </p:spPr>
        <p:txBody>
          <a:bodyPr wrap="square" anchor="t" lIns="0" rIns="0" tIns="0" bIns="0">
            <a:spAutoFit/>
          </a:bodyPr>
          <a:lstStyle/>
          <a:p>
            <a:pPr algn="l"/>
            <a:r>
              <a:rPr sz="2200" b="1" i="0">
                <a:solidFill>
                  <a:srgbClr val="111111"/>
                </a:solidFill>
                <a:latin typeface="Arial"/>
              </a:rPr>
              <a:t>1 136</a:t>
            </a:r>
          </a:p>
        </p:txBody>
      </p:sp>
      <p:sp>
        <p:nvSpPr>
          <p:cNvPr id="20" name="TextBox 19"/>
          <p:cNvSpPr txBox="1"/>
          <p:nvPr/>
        </p:nvSpPr>
        <p:spPr>
          <a:xfrm>
            <a:off x="2523744" y="2243328"/>
            <a:ext cx="1219200" cy="109728"/>
          </a:xfrm>
          <a:prstGeom prst="rect">
            <a:avLst/>
          </a:prstGeom>
          <a:noFill/>
        </p:spPr>
        <p:txBody>
          <a:bodyPr wrap="square" anchor="t" lIns="0" rIns="0" tIns="0" bIns="0">
            <a:spAutoFit/>
          </a:bodyPr>
          <a:lstStyle/>
          <a:p>
            <a:pPr algn="l"/>
            <a:r>
              <a:rPr sz="1000" b="1" i="0">
                <a:solidFill>
                  <a:srgbClr val="1E7B34"/>
                </a:solidFill>
                <a:latin typeface="Arial"/>
              </a:rPr>
              <a:t>▲ +245 %</a:t>
            </a:r>
          </a:p>
        </p:txBody>
      </p:sp>
      <p:sp>
        <p:nvSpPr>
          <p:cNvPr id="21" name="TextBox 20"/>
          <p:cNvSpPr txBox="1"/>
          <p:nvPr/>
        </p:nvSpPr>
        <p:spPr>
          <a:xfrm>
            <a:off x="2523744" y="2499360"/>
            <a:ext cx="1219200" cy="91440"/>
          </a:xfrm>
          <a:prstGeom prst="rect">
            <a:avLst/>
          </a:prstGeom>
          <a:noFill/>
        </p:spPr>
        <p:txBody>
          <a:bodyPr wrap="square" anchor="t" lIns="0" rIns="0" tIns="0" bIns="0">
            <a:spAutoFit/>
          </a:bodyPr>
          <a:lstStyle/>
          <a:p>
            <a:pPr algn="l"/>
            <a:r>
              <a:rPr sz="800" b="0" i="1">
                <a:solidFill>
                  <a:srgbClr val="555B66"/>
                </a:solidFill>
                <a:latin typeface="Arial"/>
              </a:rPr>
              <a:t>YTD 1 465</a:t>
            </a:r>
          </a:p>
        </p:txBody>
      </p:sp>
      <p:sp>
        <p:nvSpPr>
          <p:cNvPr id="22" name="Rectangle 21"/>
          <p:cNvSpPr/>
          <p:nvPr/>
        </p:nvSpPr>
        <p:spPr>
          <a:xfrm>
            <a:off x="4248912" y="1536192"/>
            <a:ext cx="1389888" cy="1127760"/>
          </a:xfrm>
          <a:prstGeom prst="rect">
            <a:avLst/>
          </a:prstGeom>
          <a:solidFill>
            <a:srgbClr val="FFFFFF"/>
          </a:solidFill>
          <a:ln>
            <a:noFill/>
          </a:ln>
          <a:effectLst/>
        </p:spPr>
        <p:txBody>
          <a:bodyPr rtlCol="0" anchor="ctr"/>
          <a:lstStyle/>
          <a:p>
            <a:pPr algn="ctr"/>
          </a:p>
        </p:txBody>
      </p:sp>
      <p:sp>
        <p:nvSpPr>
          <p:cNvPr id="23" name="Rectangle 22"/>
          <p:cNvSpPr/>
          <p:nvPr/>
        </p:nvSpPr>
        <p:spPr>
          <a:xfrm>
            <a:off x="4248912" y="1536192"/>
            <a:ext cx="24384" cy="1127760"/>
          </a:xfrm>
          <a:prstGeom prst="rect">
            <a:avLst/>
          </a:prstGeom>
          <a:solidFill>
            <a:srgbClr val="EE6A2C"/>
          </a:solidFill>
          <a:ln>
            <a:noFill/>
          </a:ln>
          <a:effectLst/>
        </p:spPr>
        <p:txBody>
          <a:bodyPr rtlCol="0" anchor="ctr"/>
          <a:lstStyle/>
          <a:p>
            <a:pPr algn="ctr"/>
          </a:p>
        </p:txBody>
      </p:sp>
      <p:sp>
        <p:nvSpPr>
          <p:cNvPr id="24" name="TextBox 23"/>
          <p:cNvSpPr txBox="1"/>
          <p:nvPr/>
        </p:nvSpPr>
        <p:spPr>
          <a:xfrm>
            <a:off x="4383024" y="1615440"/>
            <a:ext cx="1219200" cy="121920"/>
          </a:xfrm>
          <a:prstGeom prst="rect">
            <a:avLst/>
          </a:prstGeom>
          <a:noFill/>
        </p:spPr>
        <p:txBody>
          <a:bodyPr wrap="square" anchor="t" lIns="0" rIns="0" tIns="0" bIns="0">
            <a:spAutoFit/>
          </a:bodyPr>
          <a:lstStyle/>
          <a:p>
            <a:pPr algn="l"/>
            <a:r>
              <a:rPr sz="1000" b="1" i="0">
                <a:solidFill>
                  <a:srgbClr val="555B66"/>
                </a:solidFill>
                <a:latin typeface="Arial"/>
              </a:rPr>
              <a:t>CTR</a:t>
            </a:r>
          </a:p>
        </p:txBody>
      </p:sp>
      <p:sp>
        <p:nvSpPr>
          <p:cNvPr id="25" name="TextBox 24"/>
          <p:cNvSpPr txBox="1"/>
          <p:nvPr/>
        </p:nvSpPr>
        <p:spPr>
          <a:xfrm>
            <a:off x="4383024" y="1889760"/>
            <a:ext cx="1219200" cy="274320"/>
          </a:xfrm>
          <a:prstGeom prst="rect">
            <a:avLst/>
          </a:prstGeom>
          <a:noFill/>
        </p:spPr>
        <p:txBody>
          <a:bodyPr wrap="square" anchor="t" lIns="0" rIns="0" tIns="0" bIns="0">
            <a:spAutoFit/>
          </a:bodyPr>
          <a:lstStyle/>
          <a:p>
            <a:pPr algn="l"/>
            <a:r>
              <a:rPr sz="2200" b="1" i="0">
                <a:solidFill>
                  <a:srgbClr val="111111"/>
                </a:solidFill>
                <a:latin typeface="Arial"/>
              </a:rPr>
              <a:t>0,51 %</a:t>
            </a:r>
          </a:p>
        </p:txBody>
      </p:sp>
      <p:sp>
        <p:nvSpPr>
          <p:cNvPr id="26" name="TextBox 25"/>
          <p:cNvSpPr txBox="1"/>
          <p:nvPr/>
        </p:nvSpPr>
        <p:spPr>
          <a:xfrm>
            <a:off x="4383024" y="2243328"/>
            <a:ext cx="1219200" cy="109728"/>
          </a:xfrm>
          <a:prstGeom prst="rect">
            <a:avLst/>
          </a:prstGeom>
          <a:noFill/>
        </p:spPr>
        <p:txBody>
          <a:bodyPr wrap="square" anchor="t" lIns="0" rIns="0" tIns="0" bIns="0">
            <a:spAutoFit/>
          </a:bodyPr>
          <a:lstStyle/>
          <a:p>
            <a:pPr algn="l"/>
            <a:r>
              <a:rPr sz="1000" b="1" i="0">
                <a:solidFill>
                  <a:srgbClr val="1E7B34"/>
                </a:solidFill>
                <a:latin typeface="Arial"/>
              </a:rPr>
              <a:t>▲ +0,10 pt</a:t>
            </a:r>
          </a:p>
        </p:txBody>
      </p:sp>
      <p:sp>
        <p:nvSpPr>
          <p:cNvPr id="27" name="TextBox 26"/>
          <p:cNvSpPr txBox="1"/>
          <p:nvPr/>
        </p:nvSpPr>
        <p:spPr>
          <a:xfrm>
            <a:off x="4383024" y="2499360"/>
            <a:ext cx="1219200" cy="91440"/>
          </a:xfrm>
          <a:prstGeom prst="rect">
            <a:avLst/>
          </a:prstGeom>
          <a:noFill/>
        </p:spPr>
        <p:txBody>
          <a:bodyPr wrap="square" anchor="t" lIns="0" rIns="0" tIns="0" bIns="0">
            <a:spAutoFit/>
          </a:bodyPr>
          <a:lstStyle/>
          <a:p>
            <a:pPr algn="l"/>
            <a:r>
              <a:rPr sz="800" b="0" i="1">
                <a:solidFill>
                  <a:srgbClr val="555B66"/>
                </a:solidFill>
                <a:latin typeface="Arial"/>
              </a:rPr>
              <a:t>YTD 0,48 %</a:t>
            </a:r>
          </a:p>
        </p:txBody>
      </p:sp>
      <p:sp>
        <p:nvSpPr>
          <p:cNvPr id="28" name="Rectangle 27"/>
          <p:cNvSpPr/>
          <p:nvPr/>
        </p:nvSpPr>
        <p:spPr>
          <a:xfrm>
            <a:off x="6108192" y="1536192"/>
            <a:ext cx="1389888" cy="1127760"/>
          </a:xfrm>
          <a:prstGeom prst="rect">
            <a:avLst/>
          </a:prstGeom>
          <a:solidFill>
            <a:srgbClr val="F1EFEB"/>
          </a:solidFill>
          <a:ln>
            <a:noFill/>
          </a:ln>
          <a:effectLst/>
        </p:spPr>
        <p:txBody>
          <a:bodyPr rtlCol="0" anchor="ctr"/>
          <a:lstStyle/>
          <a:p>
            <a:pPr algn="ctr"/>
          </a:p>
        </p:txBody>
      </p:sp>
      <p:sp>
        <p:nvSpPr>
          <p:cNvPr id="29" name="Rounded Rectangle 28"/>
          <p:cNvSpPr/>
          <p:nvPr/>
        </p:nvSpPr>
        <p:spPr>
          <a:xfrm>
            <a:off x="6827520" y="1450848"/>
            <a:ext cx="609600" cy="170688"/>
          </a:xfrm>
          <a:prstGeom prst="roundRect">
            <a:avLst>
              <a:gd name="adj" fmla="val 50000"/>
            </a:avLst>
          </a:prstGeom>
          <a:solidFill>
            <a:srgbClr val="D9D6D1"/>
          </a:solidFill>
          <a:ln>
            <a:noFill/>
          </a:ln>
          <a:effectLst/>
        </p:spPr>
        <p:txBody>
          <a:bodyPr rtlCol="0" anchor="ctr"/>
          <a:lstStyle/>
          <a:p>
            <a:pPr algn="ctr"/>
          </a:p>
        </p:txBody>
      </p:sp>
      <p:sp>
        <p:nvSpPr>
          <p:cNvPr id="30" name="TextBox 29"/>
          <p:cNvSpPr txBox="1"/>
          <p:nvPr/>
        </p:nvSpPr>
        <p:spPr>
          <a:xfrm>
            <a:off x="6827520" y="1450848"/>
            <a:ext cx="609600" cy="170688"/>
          </a:xfrm>
          <a:prstGeom prst="rect">
            <a:avLst/>
          </a:prstGeom>
          <a:noFill/>
        </p:spPr>
        <p:txBody>
          <a:bodyPr wrap="square" anchor="ctr" lIns="0" rIns="0" tIns="0" bIns="0">
            <a:spAutoFit/>
          </a:bodyPr>
          <a:lstStyle/>
          <a:p>
            <a:pPr algn="ctr"/>
            <a:r>
              <a:rPr sz="800" b="1" i="0">
                <a:solidFill>
                  <a:srgbClr val="555B66"/>
                </a:solidFill>
                <a:latin typeface="Arial"/>
              </a:rPr>
              <a:t>INDICATIF</a:t>
            </a:r>
          </a:p>
        </p:txBody>
      </p:sp>
      <p:sp>
        <p:nvSpPr>
          <p:cNvPr id="31" name="TextBox 30"/>
          <p:cNvSpPr txBox="1"/>
          <p:nvPr/>
        </p:nvSpPr>
        <p:spPr>
          <a:xfrm>
            <a:off x="6242304" y="1706880"/>
            <a:ext cx="1219200" cy="121920"/>
          </a:xfrm>
          <a:prstGeom prst="rect">
            <a:avLst/>
          </a:prstGeom>
          <a:noFill/>
        </p:spPr>
        <p:txBody>
          <a:bodyPr wrap="square" anchor="t" lIns="0" rIns="0" tIns="0" bIns="0">
            <a:spAutoFit/>
          </a:bodyPr>
          <a:lstStyle/>
          <a:p>
            <a:pPr algn="l"/>
            <a:r>
              <a:rPr sz="1000" b="1" i="0">
                <a:solidFill>
                  <a:srgbClr val="8A93A6"/>
                </a:solidFill>
                <a:latin typeface="Arial"/>
              </a:rPr>
              <a:t>CONVERSIONS</a:t>
            </a:r>
          </a:p>
        </p:txBody>
      </p:sp>
      <p:sp>
        <p:nvSpPr>
          <p:cNvPr id="32" name="TextBox 31"/>
          <p:cNvSpPr txBox="1"/>
          <p:nvPr/>
        </p:nvSpPr>
        <p:spPr>
          <a:xfrm>
            <a:off x="6242304" y="1889760"/>
            <a:ext cx="1219200" cy="274320"/>
          </a:xfrm>
          <a:prstGeom prst="rect">
            <a:avLst/>
          </a:prstGeom>
          <a:noFill/>
        </p:spPr>
        <p:txBody>
          <a:bodyPr wrap="square" anchor="t" lIns="0" rIns="0" tIns="0" bIns="0">
            <a:spAutoFit/>
          </a:bodyPr>
          <a:lstStyle/>
          <a:p>
            <a:pPr algn="l"/>
            <a:r>
              <a:rPr sz="2200" b="1" i="0">
                <a:solidFill>
                  <a:srgbClr val="8A93A6"/>
                </a:solidFill>
                <a:latin typeface="Arial"/>
              </a:rPr>
              <a:t>N/C</a:t>
            </a:r>
          </a:p>
        </p:txBody>
      </p:sp>
      <p:sp>
        <p:nvSpPr>
          <p:cNvPr id="33" name="TextBox 32"/>
          <p:cNvSpPr txBox="1"/>
          <p:nvPr/>
        </p:nvSpPr>
        <p:spPr>
          <a:xfrm>
            <a:off x="6242304" y="2243328"/>
            <a:ext cx="1219200" cy="109728"/>
          </a:xfrm>
          <a:prstGeom prst="rect">
            <a:avLst/>
          </a:prstGeom>
          <a:noFill/>
        </p:spPr>
        <p:txBody>
          <a:bodyPr wrap="square" anchor="t" lIns="0" rIns="0" tIns="0" bIns="0">
            <a:spAutoFit/>
          </a:bodyPr>
          <a:lstStyle/>
          <a:p>
            <a:pPr algn="l"/>
            <a:r>
              <a:rPr sz="1000" b="1" i="0">
                <a:solidFill>
                  <a:srgbClr val="8A93A6"/>
                </a:solidFill>
                <a:latin typeface="Arial"/>
              </a:rPr>
              <a:t>—</a:t>
            </a:r>
          </a:p>
        </p:txBody>
      </p:sp>
      <p:sp>
        <p:nvSpPr>
          <p:cNvPr id="34" name="TextBox 33"/>
          <p:cNvSpPr txBox="1"/>
          <p:nvPr/>
        </p:nvSpPr>
        <p:spPr>
          <a:xfrm>
            <a:off x="6242304" y="2499360"/>
            <a:ext cx="1219200" cy="91440"/>
          </a:xfrm>
          <a:prstGeom prst="rect">
            <a:avLst/>
          </a:prstGeom>
          <a:noFill/>
        </p:spPr>
        <p:txBody>
          <a:bodyPr wrap="square" anchor="t" lIns="0" rIns="0" tIns="0" bIns="0">
            <a:spAutoFit/>
          </a:bodyPr>
          <a:lstStyle/>
          <a:p>
            <a:pPr algn="l"/>
            <a:r>
              <a:rPr sz="800" b="0" i="1">
                <a:solidFill>
                  <a:srgbClr val="8A93A6"/>
                </a:solidFill>
                <a:latin typeface="Arial"/>
              </a:rPr>
              <a:t>YTD —</a:t>
            </a:r>
          </a:p>
        </p:txBody>
      </p:sp>
      <p:sp>
        <p:nvSpPr>
          <p:cNvPr id="35" name="Rectangle 34"/>
          <p:cNvSpPr/>
          <p:nvPr/>
        </p:nvSpPr>
        <p:spPr>
          <a:xfrm>
            <a:off x="7967472" y="1536192"/>
            <a:ext cx="1389888" cy="1127760"/>
          </a:xfrm>
          <a:prstGeom prst="rect">
            <a:avLst/>
          </a:prstGeom>
          <a:solidFill>
            <a:srgbClr val="F1EFEB"/>
          </a:solidFill>
          <a:ln>
            <a:noFill/>
          </a:ln>
          <a:effectLst/>
        </p:spPr>
        <p:txBody>
          <a:bodyPr rtlCol="0" anchor="ctr"/>
          <a:lstStyle/>
          <a:p>
            <a:pPr algn="ctr"/>
          </a:p>
        </p:txBody>
      </p:sp>
      <p:sp>
        <p:nvSpPr>
          <p:cNvPr id="36" name="Rounded Rectangle 35"/>
          <p:cNvSpPr/>
          <p:nvPr/>
        </p:nvSpPr>
        <p:spPr>
          <a:xfrm>
            <a:off x="8686800" y="1450848"/>
            <a:ext cx="609600" cy="170688"/>
          </a:xfrm>
          <a:prstGeom prst="roundRect">
            <a:avLst>
              <a:gd name="adj" fmla="val 50000"/>
            </a:avLst>
          </a:prstGeom>
          <a:solidFill>
            <a:srgbClr val="D9D6D1"/>
          </a:solidFill>
          <a:ln>
            <a:noFill/>
          </a:ln>
          <a:effectLst/>
        </p:spPr>
        <p:txBody>
          <a:bodyPr rtlCol="0" anchor="ctr"/>
          <a:lstStyle/>
          <a:p>
            <a:pPr algn="ctr"/>
          </a:p>
        </p:txBody>
      </p:sp>
      <p:sp>
        <p:nvSpPr>
          <p:cNvPr id="37" name="TextBox 36"/>
          <p:cNvSpPr txBox="1"/>
          <p:nvPr/>
        </p:nvSpPr>
        <p:spPr>
          <a:xfrm>
            <a:off x="8686800" y="1450848"/>
            <a:ext cx="609600" cy="170688"/>
          </a:xfrm>
          <a:prstGeom prst="rect">
            <a:avLst/>
          </a:prstGeom>
          <a:noFill/>
        </p:spPr>
        <p:txBody>
          <a:bodyPr wrap="square" anchor="ctr" lIns="0" rIns="0" tIns="0" bIns="0">
            <a:spAutoFit/>
          </a:bodyPr>
          <a:lstStyle/>
          <a:p>
            <a:pPr algn="ctr"/>
            <a:r>
              <a:rPr sz="800" b="1" i="0">
                <a:solidFill>
                  <a:srgbClr val="555B66"/>
                </a:solidFill>
                <a:latin typeface="Arial"/>
              </a:rPr>
              <a:t>INDICATIF</a:t>
            </a:r>
          </a:p>
        </p:txBody>
      </p:sp>
      <p:sp>
        <p:nvSpPr>
          <p:cNvPr id="38" name="TextBox 37"/>
          <p:cNvSpPr txBox="1"/>
          <p:nvPr/>
        </p:nvSpPr>
        <p:spPr>
          <a:xfrm>
            <a:off x="8101584" y="1706880"/>
            <a:ext cx="1219200" cy="121920"/>
          </a:xfrm>
          <a:prstGeom prst="rect">
            <a:avLst/>
          </a:prstGeom>
          <a:noFill/>
        </p:spPr>
        <p:txBody>
          <a:bodyPr wrap="square" anchor="t" lIns="0" rIns="0" tIns="0" bIns="0">
            <a:spAutoFit/>
          </a:bodyPr>
          <a:lstStyle/>
          <a:p>
            <a:pPr algn="l"/>
            <a:r>
              <a:rPr sz="1000" b="1" i="0">
                <a:solidFill>
                  <a:srgbClr val="8A93A6"/>
                </a:solidFill>
                <a:latin typeface="Arial"/>
              </a:rPr>
              <a:t>CVR</a:t>
            </a:r>
          </a:p>
        </p:txBody>
      </p:sp>
      <p:sp>
        <p:nvSpPr>
          <p:cNvPr id="39" name="TextBox 38"/>
          <p:cNvSpPr txBox="1"/>
          <p:nvPr/>
        </p:nvSpPr>
        <p:spPr>
          <a:xfrm>
            <a:off x="8101584" y="1889760"/>
            <a:ext cx="1219200" cy="274320"/>
          </a:xfrm>
          <a:prstGeom prst="rect">
            <a:avLst/>
          </a:prstGeom>
          <a:noFill/>
        </p:spPr>
        <p:txBody>
          <a:bodyPr wrap="square" anchor="t" lIns="0" rIns="0" tIns="0" bIns="0">
            <a:spAutoFit/>
          </a:bodyPr>
          <a:lstStyle/>
          <a:p>
            <a:pPr algn="l"/>
            <a:r>
              <a:rPr sz="2200" b="1" i="0">
                <a:solidFill>
                  <a:srgbClr val="8A93A6"/>
                </a:solidFill>
                <a:latin typeface="Arial"/>
              </a:rPr>
              <a:t>N/C</a:t>
            </a:r>
          </a:p>
        </p:txBody>
      </p:sp>
      <p:sp>
        <p:nvSpPr>
          <p:cNvPr id="40" name="TextBox 39"/>
          <p:cNvSpPr txBox="1"/>
          <p:nvPr/>
        </p:nvSpPr>
        <p:spPr>
          <a:xfrm>
            <a:off x="8101584" y="2243328"/>
            <a:ext cx="1219200" cy="109728"/>
          </a:xfrm>
          <a:prstGeom prst="rect">
            <a:avLst/>
          </a:prstGeom>
          <a:noFill/>
        </p:spPr>
        <p:txBody>
          <a:bodyPr wrap="square" anchor="t" lIns="0" rIns="0" tIns="0" bIns="0">
            <a:spAutoFit/>
          </a:bodyPr>
          <a:lstStyle/>
          <a:p>
            <a:pPr algn="l"/>
            <a:r>
              <a:rPr sz="1000" b="1" i="0">
                <a:solidFill>
                  <a:srgbClr val="8A93A6"/>
                </a:solidFill>
                <a:latin typeface="Arial"/>
              </a:rPr>
              <a:t>—</a:t>
            </a:r>
          </a:p>
        </p:txBody>
      </p:sp>
      <p:sp>
        <p:nvSpPr>
          <p:cNvPr id="41" name="TextBox 40"/>
          <p:cNvSpPr txBox="1"/>
          <p:nvPr/>
        </p:nvSpPr>
        <p:spPr>
          <a:xfrm>
            <a:off x="8101584" y="2499360"/>
            <a:ext cx="1219200" cy="91440"/>
          </a:xfrm>
          <a:prstGeom prst="rect">
            <a:avLst/>
          </a:prstGeom>
          <a:noFill/>
        </p:spPr>
        <p:txBody>
          <a:bodyPr wrap="square" anchor="t" lIns="0" rIns="0" tIns="0" bIns="0">
            <a:spAutoFit/>
          </a:bodyPr>
          <a:lstStyle/>
          <a:p>
            <a:pPr algn="l"/>
            <a:r>
              <a:rPr sz="800" b="0" i="1">
                <a:solidFill>
                  <a:srgbClr val="8A93A6"/>
                </a:solidFill>
                <a:latin typeface="Arial"/>
              </a:rPr>
              <a:t>YTD —</a:t>
            </a:r>
          </a:p>
        </p:txBody>
      </p:sp>
      <p:sp>
        <p:nvSpPr>
          <p:cNvPr id="42" name="Rectangle 41"/>
          <p:cNvSpPr/>
          <p:nvPr/>
        </p:nvSpPr>
        <p:spPr>
          <a:xfrm>
            <a:off x="9826752" y="1536192"/>
            <a:ext cx="1389888" cy="1127760"/>
          </a:xfrm>
          <a:prstGeom prst="rect">
            <a:avLst/>
          </a:prstGeom>
          <a:solidFill>
            <a:srgbClr val="F1EFEB"/>
          </a:solidFill>
          <a:ln>
            <a:noFill/>
          </a:ln>
          <a:effectLst/>
        </p:spPr>
        <p:txBody>
          <a:bodyPr rtlCol="0" anchor="ctr"/>
          <a:lstStyle/>
          <a:p>
            <a:pPr algn="ctr"/>
          </a:p>
        </p:txBody>
      </p:sp>
      <p:sp>
        <p:nvSpPr>
          <p:cNvPr id="43" name="Rounded Rectangle 42"/>
          <p:cNvSpPr/>
          <p:nvPr/>
        </p:nvSpPr>
        <p:spPr>
          <a:xfrm>
            <a:off x="10546080" y="1450848"/>
            <a:ext cx="609600" cy="170688"/>
          </a:xfrm>
          <a:prstGeom prst="roundRect">
            <a:avLst>
              <a:gd name="adj" fmla="val 50000"/>
            </a:avLst>
          </a:prstGeom>
          <a:solidFill>
            <a:srgbClr val="D9D6D1"/>
          </a:solidFill>
          <a:ln>
            <a:noFill/>
          </a:ln>
          <a:effectLst/>
        </p:spPr>
        <p:txBody>
          <a:bodyPr rtlCol="0" anchor="ctr"/>
          <a:lstStyle/>
          <a:p>
            <a:pPr algn="ctr"/>
          </a:p>
        </p:txBody>
      </p:sp>
      <p:sp>
        <p:nvSpPr>
          <p:cNvPr id="44" name="TextBox 43"/>
          <p:cNvSpPr txBox="1"/>
          <p:nvPr/>
        </p:nvSpPr>
        <p:spPr>
          <a:xfrm>
            <a:off x="10546080" y="1450848"/>
            <a:ext cx="609600" cy="170688"/>
          </a:xfrm>
          <a:prstGeom prst="rect">
            <a:avLst/>
          </a:prstGeom>
          <a:noFill/>
        </p:spPr>
        <p:txBody>
          <a:bodyPr wrap="square" anchor="ctr" lIns="0" rIns="0" tIns="0" bIns="0">
            <a:spAutoFit/>
          </a:bodyPr>
          <a:lstStyle/>
          <a:p>
            <a:pPr algn="ctr"/>
            <a:r>
              <a:rPr sz="800" b="1" i="0">
                <a:solidFill>
                  <a:srgbClr val="555B66"/>
                </a:solidFill>
                <a:latin typeface="Arial"/>
              </a:rPr>
              <a:t>INDICATIF</a:t>
            </a:r>
          </a:p>
        </p:txBody>
      </p:sp>
      <p:sp>
        <p:nvSpPr>
          <p:cNvPr id="45" name="TextBox 44"/>
          <p:cNvSpPr txBox="1"/>
          <p:nvPr/>
        </p:nvSpPr>
        <p:spPr>
          <a:xfrm>
            <a:off x="9960864" y="1706880"/>
            <a:ext cx="1219200" cy="121920"/>
          </a:xfrm>
          <a:prstGeom prst="rect">
            <a:avLst/>
          </a:prstGeom>
          <a:noFill/>
        </p:spPr>
        <p:txBody>
          <a:bodyPr wrap="square" anchor="t" lIns="0" rIns="0" tIns="0" bIns="0">
            <a:spAutoFit/>
          </a:bodyPr>
          <a:lstStyle/>
          <a:p>
            <a:pPr algn="l"/>
            <a:r>
              <a:rPr sz="1000" b="1" i="0">
                <a:solidFill>
                  <a:srgbClr val="8A93A6"/>
                </a:solidFill>
                <a:latin typeface="Arial"/>
              </a:rPr>
              <a:t>ROAS</a:t>
            </a:r>
          </a:p>
        </p:txBody>
      </p:sp>
      <p:sp>
        <p:nvSpPr>
          <p:cNvPr id="46" name="TextBox 45"/>
          <p:cNvSpPr txBox="1"/>
          <p:nvPr/>
        </p:nvSpPr>
        <p:spPr>
          <a:xfrm>
            <a:off x="9960864" y="1889760"/>
            <a:ext cx="1219200" cy="274320"/>
          </a:xfrm>
          <a:prstGeom prst="rect">
            <a:avLst/>
          </a:prstGeom>
          <a:noFill/>
        </p:spPr>
        <p:txBody>
          <a:bodyPr wrap="square" anchor="t" lIns="0" rIns="0" tIns="0" bIns="0">
            <a:spAutoFit/>
          </a:bodyPr>
          <a:lstStyle/>
          <a:p>
            <a:pPr algn="l"/>
            <a:r>
              <a:rPr sz="2200" b="1" i="0">
                <a:solidFill>
                  <a:srgbClr val="8A93A6"/>
                </a:solidFill>
                <a:latin typeface="Arial"/>
              </a:rPr>
              <a:t>N/C</a:t>
            </a:r>
          </a:p>
        </p:txBody>
      </p:sp>
      <p:sp>
        <p:nvSpPr>
          <p:cNvPr id="47" name="TextBox 46"/>
          <p:cNvSpPr txBox="1"/>
          <p:nvPr/>
        </p:nvSpPr>
        <p:spPr>
          <a:xfrm>
            <a:off x="9960864" y="2243328"/>
            <a:ext cx="1219200" cy="109728"/>
          </a:xfrm>
          <a:prstGeom prst="rect">
            <a:avLst/>
          </a:prstGeom>
          <a:noFill/>
        </p:spPr>
        <p:txBody>
          <a:bodyPr wrap="square" anchor="t" lIns="0" rIns="0" tIns="0" bIns="0">
            <a:spAutoFit/>
          </a:bodyPr>
          <a:lstStyle/>
          <a:p>
            <a:pPr algn="l"/>
            <a:r>
              <a:rPr sz="1000" b="1" i="0">
                <a:solidFill>
                  <a:srgbClr val="8A93A6"/>
                </a:solidFill>
                <a:latin typeface="Arial"/>
              </a:rPr>
              <a:t>—</a:t>
            </a:r>
          </a:p>
        </p:txBody>
      </p:sp>
      <p:sp>
        <p:nvSpPr>
          <p:cNvPr id="48" name="TextBox 47"/>
          <p:cNvSpPr txBox="1"/>
          <p:nvPr/>
        </p:nvSpPr>
        <p:spPr>
          <a:xfrm>
            <a:off x="9960864" y="2499360"/>
            <a:ext cx="1219200" cy="91440"/>
          </a:xfrm>
          <a:prstGeom prst="rect">
            <a:avLst/>
          </a:prstGeom>
          <a:noFill/>
        </p:spPr>
        <p:txBody>
          <a:bodyPr wrap="square" anchor="t" lIns="0" rIns="0" tIns="0" bIns="0">
            <a:spAutoFit/>
          </a:bodyPr>
          <a:lstStyle/>
          <a:p>
            <a:pPr algn="l"/>
            <a:r>
              <a:rPr sz="800" b="0" i="1">
                <a:solidFill>
                  <a:srgbClr val="8A93A6"/>
                </a:solidFill>
                <a:latin typeface="Arial"/>
              </a:rPr>
              <a:t>YTD —</a:t>
            </a:r>
          </a:p>
        </p:txBody>
      </p:sp>
      <p:sp>
        <p:nvSpPr>
          <p:cNvPr id="49" name="Isosceles Triangle 48"/>
          <p:cNvSpPr/>
          <p:nvPr/>
        </p:nvSpPr>
        <p:spPr>
          <a:xfrm>
            <a:off x="8564880" y="2688336"/>
            <a:ext cx="182880" cy="85344"/>
          </a:xfrm>
          <a:prstGeom prst="triangle">
            <a:avLst/>
          </a:prstGeom>
          <a:solidFill>
            <a:srgbClr val="EBE9E5"/>
          </a:solidFill>
          <a:ln>
            <a:noFill/>
          </a:ln>
          <a:effectLst/>
        </p:spPr>
        <p:txBody>
          <a:bodyPr rtlCol="0" anchor="ctr"/>
          <a:lstStyle/>
          <a:p>
            <a:pPr algn="ctr"/>
          </a:p>
        </p:txBody>
      </p:sp>
      <p:sp>
        <p:nvSpPr>
          <p:cNvPr id="50" name="Rounded Rectangle 49"/>
          <p:cNvSpPr/>
          <p:nvPr/>
        </p:nvSpPr>
        <p:spPr>
          <a:xfrm>
            <a:off x="6108192" y="2773680"/>
            <a:ext cx="5108448" cy="438912"/>
          </a:xfrm>
          <a:prstGeom prst="roundRect">
            <a:avLst>
              <a:gd name="adj" fmla="val 15000"/>
            </a:avLst>
          </a:prstGeom>
          <a:solidFill>
            <a:srgbClr val="EBE9E5"/>
          </a:solidFill>
          <a:ln>
            <a:noFill/>
          </a:ln>
          <a:effectLst/>
        </p:spPr>
        <p:txBody>
          <a:bodyPr rtlCol="0" anchor="ctr"/>
          <a:lstStyle/>
          <a:p>
            <a:pPr algn="ctr"/>
          </a:p>
        </p:txBody>
      </p:sp>
      <p:sp>
        <p:nvSpPr>
          <p:cNvPr id="51" name="TextBox 50"/>
          <p:cNvSpPr txBox="1"/>
          <p:nvPr/>
        </p:nvSpPr>
        <p:spPr>
          <a:xfrm>
            <a:off x="6230112" y="2816352"/>
            <a:ext cx="4864608" cy="365760"/>
          </a:xfrm>
          <a:prstGeom prst="rect">
            <a:avLst/>
          </a:prstGeom>
          <a:noFill/>
        </p:spPr>
        <p:txBody>
          <a:bodyPr wrap="square" anchor="ctr" lIns="0" rIns="0" tIns="0" bIns="0">
            <a:spAutoFit/>
          </a:bodyPr>
          <a:lstStyle/>
          <a:p>
            <a:pPr algn="l"/>
            <a:r>
              <a:rPr sz="900" b="1" i="0">
                <a:solidFill>
                  <a:srgbClr val="555B66"/>
                </a:solidFill>
                <a:latin typeface="Arial"/>
              </a:rPr>
              <a:t>Le Conversion Tracker est en cours de validation : </a:t>
            </a:r>
            <a:r>
              <a:rPr sz="900" b="0" i="0">
                <a:solidFill>
                  <a:srgbClr val="555B66"/>
                </a:solidFill>
                <a:latin typeface="Arial"/>
              </a:rPr>
              <a:t>l'intégration a été réalisée le 30 septembre. Les conversions apparaîtront dans ce rapport dès que la remontée des données sera validée.</a:t>
            </a:r>
          </a:p>
        </p:txBody>
      </p:sp>
      <p:sp>
        <p:nvSpPr>
          <p:cNvPr id="52" name="TextBox 51"/>
          <p:cNvSpPr txBox="1"/>
          <p:nvPr/>
        </p:nvSpPr>
        <p:spPr>
          <a:xfrm>
            <a:off x="530352" y="3322320"/>
            <a:ext cx="7315200" cy="182880"/>
          </a:xfrm>
          <a:prstGeom prst="rect">
            <a:avLst/>
          </a:prstGeom>
          <a:noFill/>
        </p:spPr>
        <p:txBody>
          <a:bodyPr wrap="square" anchor="t" lIns="0" rIns="0" tIns="0" bIns="0">
            <a:spAutoFit/>
          </a:bodyPr>
          <a:lstStyle/>
          <a:p>
            <a:pPr algn="l"/>
            <a:r>
              <a:rPr sz="1400" b="1" i="0">
                <a:solidFill>
                  <a:srgbClr val="EE6A2C"/>
                </a:solidFill>
                <a:latin typeface="Arial"/>
              </a:rPr>
              <a:t>INSIGHTS QUALITATIFS · ANALYSE DES RECHERCHES</a:t>
            </a:r>
          </a:p>
        </p:txBody>
      </p:sp>
      <p:sp>
        <p:nvSpPr>
          <p:cNvPr id="53" name="Rectangle 52"/>
          <p:cNvSpPr/>
          <p:nvPr/>
        </p:nvSpPr>
        <p:spPr>
          <a:xfrm>
            <a:off x="530352" y="3584448"/>
            <a:ext cx="3401568" cy="2560320"/>
          </a:xfrm>
          <a:prstGeom prst="rect">
            <a:avLst/>
          </a:prstGeom>
          <a:solidFill>
            <a:srgbClr val="FFFFFF"/>
          </a:solidFill>
          <a:ln>
            <a:noFill/>
          </a:ln>
          <a:effectLst/>
        </p:spPr>
        <p:txBody>
          <a:bodyPr rtlCol="0" anchor="ctr"/>
          <a:lstStyle/>
          <a:p>
            <a:pPr algn="ctr"/>
          </a:p>
        </p:txBody>
      </p:sp>
      <p:sp>
        <p:nvSpPr>
          <p:cNvPr id="54" name="Rectangle 53"/>
          <p:cNvSpPr/>
          <p:nvPr/>
        </p:nvSpPr>
        <p:spPr>
          <a:xfrm>
            <a:off x="4194048" y="3584448"/>
            <a:ext cx="3401568" cy="2560320"/>
          </a:xfrm>
          <a:prstGeom prst="rect">
            <a:avLst/>
          </a:prstGeom>
          <a:solidFill>
            <a:srgbClr val="FFFFFF"/>
          </a:solidFill>
          <a:ln>
            <a:noFill/>
          </a:ln>
          <a:effectLst/>
        </p:spPr>
        <p:txBody>
          <a:bodyPr rtlCol="0" anchor="ctr"/>
          <a:lstStyle/>
          <a:p>
            <a:pPr algn="ctr"/>
          </a:p>
        </p:txBody>
      </p:sp>
      <p:sp>
        <p:nvSpPr>
          <p:cNvPr id="55" name="Rectangle 54"/>
          <p:cNvSpPr/>
          <p:nvPr/>
        </p:nvSpPr>
        <p:spPr>
          <a:xfrm>
            <a:off x="7857744" y="3584448"/>
            <a:ext cx="3401568" cy="2560320"/>
          </a:xfrm>
          <a:prstGeom prst="rect">
            <a:avLst/>
          </a:prstGeom>
          <a:solidFill>
            <a:srgbClr val="FFFFFF"/>
          </a:solidFill>
          <a:ln>
            <a:noFill/>
          </a:ln>
          <a:effectLst/>
        </p:spPr>
        <p:txBody>
          <a:bodyPr rtlCol="0" anchor="ctr"/>
          <a:lstStyle/>
          <a:p>
            <a:pPr algn="ctr"/>
          </a:p>
        </p:txBody>
      </p:sp>
      <p:sp>
        <p:nvSpPr>
          <p:cNvPr id="56" name="TextBox 55"/>
          <p:cNvSpPr txBox="1"/>
          <p:nvPr/>
        </p:nvSpPr>
        <p:spPr>
          <a:xfrm>
            <a:off x="774192" y="3767328"/>
            <a:ext cx="2926080" cy="152400"/>
          </a:xfrm>
          <a:prstGeom prst="rect">
            <a:avLst/>
          </a:prstGeom>
          <a:noFill/>
        </p:spPr>
        <p:txBody>
          <a:bodyPr wrap="square" anchor="t" lIns="0" rIns="0" tIns="0" bIns="0">
            <a:spAutoFit/>
          </a:bodyPr>
          <a:lstStyle/>
          <a:p>
            <a:pPr algn="l"/>
            <a:r>
              <a:rPr sz="1300" b="1" i="0">
                <a:solidFill>
                  <a:srgbClr val="555B66"/>
                </a:solidFill>
                <a:latin typeface="Arial"/>
              </a:rPr>
              <a:t>CHAMP LEXICAL</a:t>
            </a:r>
          </a:p>
        </p:txBody>
      </p:sp>
      <p:sp>
        <p:nvSpPr>
          <p:cNvPr id="57" name="TextBox 56"/>
          <p:cNvSpPr txBox="1"/>
          <p:nvPr/>
        </p:nvSpPr>
        <p:spPr>
          <a:xfrm>
            <a:off x="774192" y="3992880"/>
            <a:ext cx="2926080" cy="121920"/>
          </a:xfrm>
          <a:prstGeom prst="rect">
            <a:avLst/>
          </a:prstGeom>
          <a:noFill/>
        </p:spPr>
        <p:txBody>
          <a:bodyPr wrap="square" anchor="t" lIns="0" rIns="0" tIns="0" bIns="0">
            <a:spAutoFit/>
          </a:bodyPr>
          <a:lstStyle/>
          <a:p>
            <a:pPr algn="l"/>
            <a:r>
              <a:rPr sz="1000" b="0" i="1">
                <a:solidFill>
                  <a:srgbClr val="8A93A6"/>
                </a:solidFill>
                <a:latin typeface="Arial"/>
              </a:rPr>
              <a:t>Termes les plus fréquents</a:t>
            </a:r>
          </a:p>
        </p:txBody>
      </p:sp>
      <p:sp>
        <p:nvSpPr>
          <p:cNvPr id="58" name="TextBox 57"/>
          <p:cNvSpPr txBox="1"/>
          <p:nvPr/>
        </p:nvSpPr>
        <p:spPr>
          <a:xfrm>
            <a:off x="774192" y="4236720"/>
            <a:ext cx="2987040" cy="1828800"/>
          </a:xfrm>
          <a:prstGeom prst="rect">
            <a:avLst/>
          </a:prstGeom>
          <a:noFill/>
        </p:spPr>
        <p:txBody>
          <a:bodyPr wrap="square" anchor="t" lIns="0" rIns="0" tIns="0" bIns="0">
            <a:spAutoFit/>
          </a:bodyPr>
          <a:lstStyle/>
          <a:p>
            <a:pPr algn="l">
              <a:spcAft>
                <a:spcPts val="500"/>
              </a:spcAft>
            </a:pPr>
            <a:r>
              <a:rPr sz="2000" b="1" i="0">
                <a:solidFill>
                  <a:srgbClr val="EE6A2C"/>
                </a:solidFill>
                <a:latin typeface="Arial"/>
              </a:rPr>
              <a:t>kombucha bio</a:t>
            </a:r>
            <a:r>
              <a:rPr sz="1800" b="1" i="0">
                <a:solidFill>
                  <a:srgbClr val="111111"/>
                </a:solidFill>
                <a:latin typeface="Arial"/>
              </a:rPr>
              <a:t>   sans alcool</a:t>
            </a:r>
          </a:p>
          <a:p>
            <a:pPr algn="l">
              <a:spcAft>
                <a:spcPts val="500"/>
              </a:spcAft>
            </a:pPr>
            <a:r>
              <a:rPr sz="1500" b="1" i="0">
                <a:solidFill>
                  <a:srgbClr val="111111"/>
                </a:solidFill>
                <a:latin typeface="Arial"/>
              </a:rPr>
              <a:t>boissons fermentées</a:t>
            </a:r>
            <a:r>
              <a:rPr sz="1400" b="1" i="0">
                <a:solidFill>
                  <a:srgbClr val="111111"/>
                </a:solidFill>
                <a:latin typeface="Arial"/>
              </a:rPr>
              <a:t>   33 cl</a:t>
            </a:r>
          </a:p>
          <a:p>
            <a:pPr algn="l">
              <a:spcAft>
                <a:spcPts val="500"/>
              </a:spcAft>
            </a:pPr>
            <a:r>
              <a:rPr sz="1300" b="1" i="0">
                <a:solidFill>
                  <a:srgbClr val="EE6A2C"/>
                </a:solidFill>
                <a:latin typeface="Arial"/>
              </a:rPr>
              <a:t>cassis</a:t>
            </a:r>
            <a:r>
              <a:rPr sz="1200" b="0" i="0">
                <a:solidFill>
                  <a:srgbClr val="111111"/>
                </a:solidFill>
                <a:latin typeface="Arial"/>
              </a:rPr>
              <a:t>   figuier</a:t>
            </a:r>
            <a:r>
              <a:rPr sz="1200" b="1" i="0">
                <a:solidFill>
                  <a:srgbClr val="111111"/>
                </a:solidFill>
                <a:latin typeface="Arial"/>
              </a:rPr>
              <a:t>   clémentine</a:t>
            </a:r>
          </a:p>
          <a:p>
            <a:pPr algn="l">
              <a:spcAft>
                <a:spcPts val="500"/>
              </a:spcAft>
            </a:pPr>
            <a:r>
              <a:rPr sz="1100" b="1" i="0">
                <a:solidFill>
                  <a:srgbClr val="EE6A2C"/>
                </a:solidFill>
                <a:latin typeface="Arial"/>
              </a:rPr>
              <a:t>pomelo gingembre</a:t>
            </a:r>
            <a:r>
              <a:rPr sz="1100" b="1" i="0">
                <a:solidFill>
                  <a:srgbClr val="111111"/>
                </a:solidFill>
                <a:latin typeface="Arial"/>
              </a:rPr>
              <a:t>   framboise</a:t>
            </a:r>
          </a:p>
          <a:p>
            <a:pPr algn="l">
              <a:spcAft>
                <a:spcPts val="500"/>
              </a:spcAft>
            </a:pPr>
            <a:r>
              <a:rPr sz="1100" b="1" i="0">
                <a:solidFill>
                  <a:srgbClr val="111111"/>
                </a:solidFill>
                <a:latin typeface="Arial"/>
              </a:rPr>
              <a:t>apéritif</a:t>
            </a:r>
            <a:r>
              <a:rPr sz="1100" b="0" i="0">
                <a:solidFill>
                  <a:srgbClr val="111111"/>
                </a:solidFill>
                <a:latin typeface="Arial"/>
              </a:rPr>
              <a:t>   mocktail</a:t>
            </a:r>
            <a:r>
              <a:rPr sz="1100" b="1" i="0">
                <a:solidFill>
                  <a:srgbClr val="EE6A2C"/>
                </a:solidFill>
                <a:latin typeface="Arial"/>
              </a:rPr>
              <a:t>   pack</a:t>
            </a:r>
          </a:p>
          <a:p>
            <a:pPr algn="l">
              <a:spcAft>
                <a:spcPts val="500"/>
              </a:spcAft>
            </a:pPr>
            <a:r>
              <a:rPr sz="1100" b="1" i="0">
                <a:solidFill>
                  <a:srgbClr val="111111"/>
                </a:solidFill>
                <a:latin typeface="Arial"/>
              </a:rPr>
              <a:t>direct producteur</a:t>
            </a:r>
            <a:r>
              <a:rPr sz="1100" b="0" i="0">
                <a:solidFill>
                  <a:srgbClr val="111111"/>
                </a:solidFill>
                <a:latin typeface="Arial"/>
              </a:rPr>
              <a:t>   fraîcheur</a:t>
            </a:r>
          </a:p>
        </p:txBody>
      </p:sp>
      <p:sp>
        <p:nvSpPr>
          <p:cNvPr id="59" name="TextBox 58"/>
          <p:cNvSpPr txBox="1"/>
          <p:nvPr/>
        </p:nvSpPr>
        <p:spPr>
          <a:xfrm>
            <a:off x="4437888" y="3767328"/>
            <a:ext cx="2926080" cy="152400"/>
          </a:xfrm>
          <a:prstGeom prst="rect">
            <a:avLst/>
          </a:prstGeom>
          <a:noFill/>
        </p:spPr>
        <p:txBody>
          <a:bodyPr wrap="square" anchor="t" lIns="0" rIns="0" tIns="0" bIns="0">
            <a:spAutoFit/>
          </a:bodyPr>
          <a:lstStyle/>
          <a:p>
            <a:pPr algn="l"/>
            <a:r>
              <a:rPr sz="1300" b="1" i="0">
                <a:solidFill>
                  <a:srgbClr val="555B66"/>
                </a:solidFill>
                <a:latin typeface="Arial"/>
              </a:rPr>
              <a:t>EXEMPLES DE REQUÊTES</a:t>
            </a:r>
          </a:p>
        </p:txBody>
      </p:sp>
      <p:sp>
        <p:nvSpPr>
          <p:cNvPr id="60" name="TextBox 59"/>
          <p:cNvSpPr txBox="1"/>
          <p:nvPr/>
        </p:nvSpPr>
        <p:spPr>
          <a:xfrm>
            <a:off x="4437888" y="3992880"/>
            <a:ext cx="2926080" cy="121920"/>
          </a:xfrm>
          <a:prstGeom prst="rect">
            <a:avLst/>
          </a:prstGeom>
          <a:noFill/>
        </p:spPr>
        <p:txBody>
          <a:bodyPr wrap="square" anchor="t" lIns="0" rIns="0" tIns="0" bIns="0">
            <a:spAutoFit/>
          </a:bodyPr>
          <a:lstStyle/>
          <a:p>
            <a:pPr algn="l"/>
            <a:r>
              <a:rPr sz="1000" b="0" i="1">
                <a:solidFill>
                  <a:srgbClr val="8A93A6"/>
                </a:solidFill>
                <a:latin typeface="Arial"/>
              </a:rPr>
              <a:t>Questions posées aux IA</a:t>
            </a:r>
          </a:p>
        </p:txBody>
      </p:sp>
      <p:sp>
        <p:nvSpPr>
          <p:cNvPr id="61" name="TextBox 60"/>
          <p:cNvSpPr txBox="1"/>
          <p:nvPr/>
        </p:nvSpPr>
        <p:spPr>
          <a:xfrm>
            <a:off x="4437888" y="4267200"/>
            <a:ext cx="2913888" cy="304800"/>
          </a:xfrm>
          <a:prstGeom prst="rect">
            <a:avLst/>
          </a:prstGeom>
          <a:noFill/>
        </p:spPr>
        <p:txBody>
          <a:bodyPr wrap="square" anchor="ctr" lIns="0" rIns="0" tIns="0" bIns="0">
            <a:spAutoFit/>
          </a:bodyPr>
          <a:lstStyle/>
          <a:p>
            <a:pPr algn="l"/>
            <a:r>
              <a:rPr sz="1000" b="0" i="0">
                <a:solidFill>
                  <a:srgbClr val="111111"/>
                </a:solidFill>
                <a:latin typeface="Arial"/>
              </a:rPr>
              <a:t>Où acheter de la ginger beer ?</a:t>
            </a:r>
          </a:p>
        </p:txBody>
      </p:sp>
      <p:sp>
        <p:nvSpPr>
          <p:cNvPr id="62" name="Rectangle 61"/>
          <p:cNvSpPr/>
          <p:nvPr/>
        </p:nvSpPr>
        <p:spPr>
          <a:xfrm>
            <a:off x="4437888" y="4602480"/>
            <a:ext cx="2913888" cy="6096"/>
          </a:xfrm>
          <a:prstGeom prst="rect">
            <a:avLst/>
          </a:prstGeom>
          <a:solidFill>
            <a:srgbClr val="E6E3DE"/>
          </a:solidFill>
          <a:ln>
            <a:noFill/>
          </a:ln>
          <a:effectLst/>
        </p:spPr>
        <p:txBody>
          <a:bodyPr rtlCol="0" anchor="ctr"/>
          <a:lstStyle/>
          <a:p>
            <a:pPr algn="ctr"/>
          </a:p>
        </p:txBody>
      </p:sp>
      <p:sp>
        <p:nvSpPr>
          <p:cNvPr id="63" name="TextBox 62"/>
          <p:cNvSpPr txBox="1"/>
          <p:nvPr/>
        </p:nvSpPr>
        <p:spPr>
          <a:xfrm>
            <a:off x="4437888" y="4632960"/>
            <a:ext cx="2913888" cy="304800"/>
          </a:xfrm>
          <a:prstGeom prst="rect">
            <a:avLst/>
          </a:prstGeom>
          <a:noFill/>
        </p:spPr>
        <p:txBody>
          <a:bodyPr wrap="square" anchor="ctr" lIns="0" rIns="0" tIns="0" bIns="0">
            <a:spAutoFit/>
          </a:bodyPr>
          <a:lstStyle/>
          <a:p>
            <a:pPr algn="l"/>
            <a:r>
              <a:rPr sz="1000" b="0" i="0">
                <a:solidFill>
                  <a:srgbClr val="111111"/>
                </a:solidFill>
                <a:latin typeface="Arial"/>
              </a:rPr>
              <a:t>Comment faire son kéfir de fruits maison ?</a:t>
            </a:r>
          </a:p>
        </p:txBody>
      </p:sp>
      <p:sp>
        <p:nvSpPr>
          <p:cNvPr id="64" name="Rectangle 63"/>
          <p:cNvSpPr/>
          <p:nvPr/>
        </p:nvSpPr>
        <p:spPr>
          <a:xfrm>
            <a:off x="4437888" y="4968240"/>
            <a:ext cx="2913888" cy="6096"/>
          </a:xfrm>
          <a:prstGeom prst="rect">
            <a:avLst/>
          </a:prstGeom>
          <a:solidFill>
            <a:srgbClr val="E6E3DE"/>
          </a:solidFill>
          <a:ln>
            <a:noFill/>
          </a:ln>
          <a:effectLst/>
        </p:spPr>
        <p:txBody>
          <a:bodyPr rtlCol="0" anchor="ctr"/>
          <a:lstStyle/>
          <a:p>
            <a:pPr algn="ctr"/>
          </a:p>
        </p:txBody>
      </p:sp>
      <p:sp>
        <p:nvSpPr>
          <p:cNvPr id="65" name="TextBox 64"/>
          <p:cNvSpPr txBox="1"/>
          <p:nvPr/>
        </p:nvSpPr>
        <p:spPr>
          <a:xfrm>
            <a:off x="4437888" y="4998720"/>
            <a:ext cx="2913888" cy="304800"/>
          </a:xfrm>
          <a:prstGeom prst="rect">
            <a:avLst/>
          </a:prstGeom>
          <a:noFill/>
        </p:spPr>
        <p:txBody>
          <a:bodyPr wrap="square" anchor="ctr" lIns="0" rIns="0" tIns="0" bIns="0">
            <a:spAutoFit/>
          </a:bodyPr>
          <a:lstStyle/>
          <a:p>
            <a:pPr algn="l"/>
            <a:r>
              <a:rPr sz="1000" b="0" i="0">
                <a:solidFill>
                  <a:srgbClr val="111111"/>
                </a:solidFill>
                <a:latin typeface="Arial"/>
              </a:rPr>
              <a:t>Quels sont les bienfaits du kéfir ?</a:t>
            </a:r>
          </a:p>
        </p:txBody>
      </p:sp>
      <p:sp>
        <p:nvSpPr>
          <p:cNvPr id="66" name="Rectangle 65"/>
          <p:cNvSpPr/>
          <p:nvPr/>
        </p:nvSpPr>
        <p:spPr>
          <a:xfrm>
            <a:off x="4437888" y="5334000"/>
            <a:ext cx="2913888" cy="6096"/>
          </a:xfrm>
          <a:prstGeom prst="rect">
            <a:avLst/>
          </a:prstGeom>
          <a:solidFill>
            <a:srgbClr val="E6E3DE"/>
          </a:solidFill>
          <a:ln>
            <a:noFill/>
          </a:ln>
          <a:effectLst/>
        </p:spPr>
        <p:txBody>
          <a:bodyPr rtlCol="0" anchor="ctr"/>
          <a:lstStyle/>
          <a:p>
            <a:pPr algn="ctr"/>
          </a:p>
        </p:txBody>
      </p:sp>
      <p:sp>
        <p:nvSpPr>
          <p:cNvPr id="67" name="TextBox 66"/>
          <p:cNvSpPr txBox="1"/>
          <p:nvPr/>
        </p:nvSpPr>
        <p:spPr>
          <a:xfrm>
            <a:off x="4437888" y="5364480"/>
            <a:ext cx="2913888" cy="304800"/>
          </a:xfrm>
          <a:prstGeom prst="rect">
            <a:avLst/>
          </a:prstGeom>
          <a:noFill/>
        </p:spPr>
        <p:txBody>
          <a:bodyPr wrap="square" anchor="ctr" lIns="0" rIns="0" tIns="0" bIns="0">
            <a:spAutoFit/>
          </a:bodyPr>
          <a:lstStyle/>
          <a:p>
            <a:pPr algn="l"/>
            <a:r>
              <a:rPr sz="1000" b="0" i="0">
                <a:solidFill>
                  <a:srgbClr val="111111"/>
                </a:solidFill>
                <a:latin typeface="Arial"/>
              </a:rPr>
              <a:t>Quelle recette pour un kombucha maison ?</a:t>
            </a:r>
          </a:p>
        </p:txBody>
      </p:sp>
      <p:sp>
        <p:nvSpPr>
          <p:cNvPr id="68" name="Rectangle 67"/>
          <p:cNvSpPr/>
          <p:nvPr/>
        </p:nvSpPr>
        <p:spPr>
          <a:xfrm>
            <a:off x="4437888" y="5699760"/>
            <a:ext cx="2913888" cy="6096"/>
          </a:xfrm>
          <a:prstGeom prst="rect">
            <a:avLst/>
          </a:prstGeom>
          <a:solidFill>
            <a:srgbClr val="E6E3DE"/>
          </a:solidFill>
          <a:ln>
            <a:noFill/>
          </a:ln>
          <a:effectLst/>
        </p:spPr>
        <p:txBody>
          <a:bodyPr rtlCol="0" anchor="ctr"/>
          <a:lstStyle/>
          <a:p>
            <a:pPr algn="ctr"/>
          </a:p>
        </p:txBody>
      </p:sp>
      <p:sp>
        <p:nvSpPr>
          <p:cNvPr id="69" name="TextBox 68"/>
          <p:cNvSpPr txBox="1"/>
          <p:nvPr/>
        </p:nvSpPr>
        <p:spPr>
          <a:xfrm>
            <a:off x="4437888" y="5730240"/>
            <a:ext cx="2913888" cy="304800"/>
          </a:xfrm>
          <a:prstGeom prst="rect">
            <a:avLst/>
          </a:prstGeom>
          <a:noFill/>
        </p:spPr>
        <p:txBody>
          <a:bodyPr wrap="square" anchor="ctr" lIns="0" rIns="0" tIns="0" bIns="0">
            <a:spAutoFit/>
          </a:bodyPr>
          <a:lstStyle/>
          <a:p>
            <a:pPr algn="l"/>
            <a:r>
              <a:rPr sz="1000" b="0" i="0">
                <a:solidFill>
                  <a:srgbClr val="111111"/>
                </a:solidFill>
                <a:latin typeface="Arial"/>
              </a:rPr>
              <a:t>Quel cocktail ou spritz sans alcool préparer ?</a:t>
            </a:r>
          </a:p>
        </p:txBody>
      </p:sp>
      <p:sp>
        <p:nvSpPr>
          <p:cNvPr id="70" name="TextBox 69"/>
          <p:cNvSpPr txBox="1"/>
          <p:nvPr/>
        </p:nvSpPr>
        <p:spPr>
          <a:xfrm>
            <a:off x="8101584" y="3767328"/>
            <a:ext cx="2926080" cy="152400"/>
          </a:xfrm>
          <a:prstGeom prst="rect">
            <a:avLst/>
          </a:prstGeom>
          <a:noFill/>
        </p:spPr>
        <p:txBody>
          <a:bodyPr wrap="square" anchor="t" lIns="0" rIns="0" tIns="0" bIns="0">
            <a:spAutoFit/>
          </a:bodyPr>
          <a:lstStyle/>
          <a:p>
            <a:pPr algn="l"/>
            <a:r>
              <a:rPr sz="1300" b="1" i="0">
                <a:solidFill>
                  <a:srgbClr val="555B66"/>
                </a:solidFill>
                <a:latin typeface="Arial"/>
              </a:rPr>
              <a:t>CATÉGORIES DE PRODUITS</a:t>
            </a:r>
          </a:p>
        </p:txBody>
      </p:sp>
      <p:sp>
        <p:nvSpPr>
          <p:cNvPr id="71" name="TextBox 70"/>
          <p:cNvSpPr txBox="1"/>
          <p:nvPr/>
        </p:nvSpPr>
        <p:spPr>
          <a:xfrm>
            <a:off x="8101584" y="3992880"/>
            <a:ext cx="2926080" cy="121920"/>
          </a:xfrm>
          <a:prstGeom prst="rect">
            <a:avLst/>
          </a:prstGeom>
          <a:noFill/>
        </p:spPr>
        <p:txBody>
          <a:bodyPr wrap="square" anchor="t" lIns="0" rIns="0" tIns="0" bIns="0">
            <a:spAutoFit/>
          </a:bodyPr>
          <a:lstStyle/>
          <a:p>
            <a:pPr algn="l"/>
            <a:r>
              <a:rPr sz="1000" b="0" i="1">
                <a:solidFill>
                  <a:srgbClr val="8A93A6"/>
                </a:solidFill>
                <a:latin typeface="Arial"/>
              </a:rPr>
              <a:t>Répartition des requêtes</a:t>
            </a:r>
          </a:p>
        </p:txBody>
      </p:sp>
      <p:sp>
        <p:nvSpPr>
          <p:cNvPr id="72" name="TextBox 71"/>
          <p:cNvSpPr txBox="1"/>
          <p:nvPr/>
        </p:nvSpPr>
        <p:spPr>
          <a:xfrm>
            <a:off x="8101584" y="4267200"/>
            <a:ext cx="2194560" cy="134112"/>
          </a:xfrm>
          <a:prstGeom prst="rect">
            <a:avLst/>
          </a:prstGeom>
          <a:noFill/>
        </p:spPr>
        <p:txBody>
          <a:bodyPr wrap="square" anchor="t" lIns="0" rIns="0" tIns="0" bIns="0">
            <a:spAutoFit/>
          </a:bodyPr>
          <a:lstStyle/>
          <a:p>
            <a:pPr algn="l"/>
            <a:r>
              <a:rPr sz="1000" b="0" i="0">
                <a:solidFill>
                  <a:srgbClr val="111111"/>
                </a:solidFill>
                <a:latin typeface="Arial"/>
              </a:rPr>
              <a:t>Thés, infusions et plantes</a:t>
            </a:r>
          </a:p>
        </p:txBody>
      </p:sp>
      <p:sp>
        <p:nvSpPr>
          <p:cNvPr id="73" name="Rectangle 72"/>
          <p:cNvSpPr/>
          <p:nvPr/>
        </p:nvSpPr>
        <p:spPr>
          <a:xfrm>
            <a:off x="8101584" y="4419600"/>
            <a:ext cx="2011680" cy="54864"/>
          </a:xfrm>
          <a:prstGeom prst="rect">
            <a:avLst/>
          </a:prstGeom>
          <a:solidFill>
            <a:srgbClr val="ECEAE5"/>
          </a:solidFill>
          <a:ln>
            <a:noFill/>
          </a:ln>
          <a:effectLst/>
        </p:spPr>
        <p:txBody>
          <a:bodyPr rtlCol="0" anchor="ctr"/>
          <a:lstStyle/>
          <a:p>
            <a:pPr algn="ctr"/>
          </a:p>
        </p:txBody>
      </p:sp>
      <p:sp>
        <p:nvSpPr>
          <p:cNvPr id="74" name="Rectangle 73"/>
          <p:cNvSpPr/>
          <p:nvPr/>
        </p:nvSpPr>
        <p:spPr>
          <a:xfrm>
            <a:off x="8101584" y="4419600"/>
            <a:ext cx="965606" cy="54864"/>
          </a:xfrm>
          <a:prstGeom prst="rect">
            <a:avLst/>
          </a:prstGeom>
          <a:solidFill>
            <a:srgbClr val="EE6A2C"/>
          </a:solidFill>
          <a:ln>
            <a:noFill/>
          </a:ln>
          <a:effectLst/>
        </p:spPr>
        <p:txBody>
          <a:bodyPr rtlCol="0" anchor="ctr"/>
          <a:lstStyle/>
          <a:p>
            <a:pPr algn="ctr"/>
          </a:p>
        </p:txBody>
      </p:sp>
      <p:sp>
        <p:nvSpPr>
          <p:cNvPr id="75" name="TextBox 74"/>
          <p:cNvSpPr txBox="1"/>
          <p:nvPr/>
        </p:nvSpPr>
        <p:spPr>
          <a:xfrm>
            <a:off x="10241280" y="4340352"/>
            <a:ext cx="792480" cy="182880"/>
          </a:xfrm>
          <a:prstGeom prst="rect">
            <a:avLst/>
          </a:prstGeom>
          <a:noFill/>
        </p:spPr>
        <p:txBody>
          <a:bodyPr wrap="square" anchor="ctr" lIns="0" rIns="0" tIns="0" bIns="0">
            <a:spAutoFit/>
          </a:bodyPr>
          <a:lstStyle/>
          <a:p>
            <a:pPr algn="r"/>
            <a:r>
              <a:rPr sz="1300" b="1" i="0">
                <a:solidFill>
                  <a:srgbClr val="111111"/>
                </a:solidFill>
                <a:latin typeface="Arial"/>
              </a:rPr>
              <a:t>48 %</a:t>
            </a:r>
          </a:p>
        </p:txBody>
      </p:sp>
      <p:sp>
        <p:nvSpPr>
          <p:cNvPr id="76" name="TextBox 75"/>
          <p:cNvSpPr txBox="1"/>
          <p:nvPr/>
        </p:nvSpPr>
        <p:spPr>
          <a:xfrm>
            <a:off x="8101584" y="4584192"/>
            <a:ext cx="2194560" cy="134112"/>
          </a:xfrm>
          <a:prstGeom prst="rect">
            <a:avLst/>
          </a:prstGeom>
          <a:noFill/>
        </p:spPr>
        <p:txBody>
          <a:bodyPr wrap="square" anchor="t" lIns="0" rIns="0" tIns="0" bIns="0">
            <a:spAutoFit/>
          </a:bodyPr>
          <a:lstStyle/>
          <a:p>
            <a:pPr algn="l"/>
            <a:r>
              <a:rPr sz="1000" b="0" i="0">
                <a:solidFill>
                  <a:srgbClr val="111111"/>
                </a:solidFill>
                <a:latin typeface="Arial"/>
              </a:rPr>
              <a:t>Cocktails et boissons sans alcool</a:t>
            </a:r>
          </a:p>
        </p:txBody>
      </p:sp>
      <p:sp>
        <p:nvSpPr>
          <p:cNvPr id="77" name="Rectangle 76"/>
          <p:cNvSpPr/>
          <p:nvPr/>
        </p:nvSpPr>
        <p:spPr>
          <a:xfrm>
            <a:off x="8101584" y="4736592"/>
            <a:ext cx="2011680" cy="54864"/>
          </a:xfrm>
          <a:prstGeom prst="rect">
            <a:avLst/>
          </a:prstGeom>
          <a:solidFill>
            <a:srgbClr val="ECEAE5"/>
          </a:solidFill>
          <a:ln>
            <a:noFill/>
          </a:ln>
          <a:effectLst/>
        </p:spPr>
        <p:txBody>
          <a:bodyPr rtlCol="0" anchor="ctr"/>
          <a:lstStyle/>
          <a:p>
            <a:pPr algn="ctr"/>
          </a:p>
        </p:txBody>
      </p:sp>
      <p:sp>
        <p:nvSpPr>
          <p:cNvPr id="78" name="Rectangle 77"/>
          <p:cNvSpPr/>
          <p:nvPr/>
        </p:nvSpPr>
        <p:spPr>
          <a:xfrm>
            <a:off x="8101584" y="4736592"/>
            <a:ext cx="442569" cy="54864"/>
          </a:xfrm>
          <a:prstGeom prst="rect">
            <a:avLst/>
          </a:prstGeom>
          <a:solidFill>
            <a:srgbClr val="9AA3B2"/>
          </a:solidFill>
          <a:ln>
            <a:noFill/>
          </a:ln>
          <a:effectLst/>
        </p:spPr>
        <p:txBody>
          <a:bodyPr rtlCol="0" anchor="ctr"/>
          <a:lstStyle/>
          <a:p>
            <a:pPr algn="ctr"/>
          </a:p>
        </p:txBody>
      </p:sp>
      <p:sp>
        <p:nvSpPr>
          <p:cNvPr id="79" name="TextBox 78"/>
          <p:cNvSpPr txBox="1"/>
          <p:nvPr/>
        </p:nvSpPr>
        <p:spPr>
          <a:xfrm>
            <a:off x="10241280" y="4657344"/>
            <a:ext cx="792480" cy="182880"/>
          </a:xfrm>
          <a:prstGeom prst="rect">
            <a:avLst/>
          </a:prstGeom>
          <a:noFill/>
        </p:spPr>
        <p:txBody>
          <a:bodyPr wrap="square" anchor="ctr" lIns="0" rIns="0" tIns="0" bIns="0">
            <a:spAutoFit/>
          </a:bodyPr>
          <a:lstStyle/>
          <a:p>
            <a:pPr algn="r"/>
            <a:r>
              <a:rPr sz="1300" b="1" i="0">
                <a:solidFill>
                  <a:srgbClr val="111111"/>
                </a:solidFill>
                <a:latin typeface="Arial"/>
              </a:rPr>
              <a:t>22 %</a:t>
            </a:r>
          </a:p>
        </p:txBody>
      </p:sp>
      <p:sp>
        <p:nvSpPr>
          <p:cNvPr id="80" name="TextBox 79"/>
          <p:cNvSpPr txBox="1"/>
          <p:nvPr/>
        </p:nvSpPr>
        <p:spPr>
          <a:xfrm>
            <a:off x="8101584" y="4901184"/>
            <a:ext cx="2194560" cy="134112"/>
          </a:xfrm>
          <a:prstGeom prst="rect">
            <a:avLst/>
          </a:prstGeom>
          <a:noFill/>
        </p:spPr>
        <p:txBody>
          <a:bodyPr wrap="square" anchor="t" lIns="0" rIns="0" tIns="0" bIns="0">
            <a:spAutoFit/>
          </a:bodyPr>
          <a:lstStyle/>
          <a:p>
            <a:pPr algn="l"/>
            <a:r>
              <a:rPr sz="1000" b="0" i="0">
                <a:solidFill>
                  <a:srgbClr val="111111"/>
                </a:solidFill>
                <a:latin typeface="Arial"/>
              </a:rPr>
              <a:t>Bienfaits et santé</a:t>
            </a:r>
          </a:p>
        </p:txBody>
      </p:sp>
      <p:sp>
        <p:nvSpPr>
          <p:cNvPr id="81" name="Rectangle 80"/>
          <p:cNvSpPr/>
          <p:nvPr/>
        </p:nvSpPr>
        <p:spPr>
          <a:xfrm>
            <a:off x="8101584" y="5053584"/>
            <a:ext cx="2011680" cy="54864"/>
          </a:xfrm>
          <a:prstGeom prst="rect">
            <a:avLst/>
          </a:prstGeom>
          <a:solidFill>
            <a:srgbClr val="ECEAE5"/>
          </a:solidFill>
          <a:ln>
            <a:noFill/>
          </a:ln>
          <a:effectLst/>
        </p:spPr>
        <p:txBody>
          <a:bodyPr rtlCol="0" anchor="ctr"/>
          <a:lstStyle/>
          <a:p>
            <a:pPr algn="ctr"/>
          </a:p>
        </p:txBody>
      </p:sp>
      <p:sp>
        <p:nvSpPr>
          <p:cNvPr id="82" name="Rectangle 81"/>
          <p:cNvSpPr/>
          <p:nvPr/>
        </p:nvSpPr>
        <p:spPr>
          <a:xfrm>
            <a:off x="8101584" y="5053584"/>
            <a:ext cx="362102" cy="54864"/>
          </a:xfrm>
          <a:prstGeom prst="rect">
            <a:avLst/>
          </a:prstGeom>
          <a:solidFill>
            <a:srgbClr val="9AA3B2"/>
          </a:solidFill>
          <a:ln>
            <a:noFill/>
          </a:ln>
          <a:effectLst/>
        </p:spPr>
        <p:txBody>
          <a:bodyPr rtlCol="0" anchor="ctr"/>
          <a:lstStyle/>
          <a:p>
            <a:pPr algn="ctr"/>
          </a:p>
        </p:txBody>
      </p:sp>
      <p:sp>
        <p:nvSpPr>
          <p:cNvPr id="83" name="TextBox 82"/>
          <p:cNvSpPr txBox="1"/>
          <p:nvPr/>
        </p:nvSpPr>
        <p:spPr>
          <a:xfrm>
            <a:off x="10241280" y="4974336"/>
            <a:ext cx="792480" cy="182880"/>
          </a:xfrm>
          <a:prstGeom prst="rect">
            <a:avLst/>
          </a:prstGeom>
          <a:noFill/>
        </p:spPr>
        <p:txBody>
          <a:bodyPr wrap="square" anchor="ctr" lIns="0" rIns="0" tIns="0" bIns="0">
            <a:spAutoFit/>
          </a:bodyPr>
          <a:lstStyle/>
          <a:p>
            <a:pPr algn="r"/>
            <a:r>
              <a:rPr sz="1300" b="1" i="0">
                <a:solidFill>
                  <a:srgbClr val="111111"/>
                </a:solidFill>
                <a:latin typeface="Arial"/>
              </a:rPr>
              <a:t>18 %</a:t>
            </a:r>
          </a:p>
        </p:txBody>
      </p:sp>
      <p:sp>
        <p:nvSpPr>
          <p:cNvPr id="84" name="TextBox 83"/>
          <p:cNvSpPr txBox="1"/>
          <p:nvPr/>
        </p:nvSpPr>
        <p:spPr>
          <a:xfrm>
            <a:off x="8101584" y="5218176"/>
            <a:ext cx="2194560" cy="134112"/>
          </a:xfrm>
          <a:prstGeom prst="rect">
            <a:avLst/>
          </a:prstGeom>
          <a:noFill/>
        </p:spPr>
        <p:txBody>
          <a:bodyPr wrap="square" anchor="t" lIns="0" rIns="0" tIns="0" bIns="0">
            <a:spAutoFit/>
          </a:bodyPr>
          <a:lstStyle/>
          <a:p>
            <a:pPr algn="l"/>
            <a:r>
              <a:rPr sz="1000" b="0" i="0">
                <a:solidFill>
                  <a:srgbClr val="111111"/>
                </a:solidFill>
                <a:latin typeface="Arial"/>
              </a:rPr>
              <a:t>Recettes et fermentation maison</a:t>
            </a:r>
          </a:p>
        </p:txBody>
      </p:sp>
      <p:sp>
        <p:nvSpPr>
          <p:cNvPr id="85" name="Rectangle 84"/>
          <p:cNvSpPr/>
          <p:nvPr/>
        </p:nvSpPr>
        <p:spPr>
          <a:xfrm>
            <a:off x="8101584" y="5370576"/>
            <a:ext cx="2011680" cy="54864"/>
          </a:xfrm>
          <a:prstGeom prst="rect">
            <a:avLst/>
          </a:prstGeom>
          <a:solidFill>
            <a:srgbClr val="ECEAE5"/>
          </a:solidFill>
          <a:ln>
            <a:noFill/>
          </a:ln>
          <a:effectLst/>
        </p:spPr>
        <p:txBody>
          <a:bodyPr rtlCol="0" anchor="ctr"/>
          <a:lstStyle/>
          <a:p>
            <a:pPr algn="ctr"/>
          </a:p>
        </p:txBody>
      </p:sp>
      <p:sp>
        <p:nvSpPr>
          <p:cNvPr id="86" name="Rectangle 85"/>
          <p:cNvSpPr/>
          <p:nvPr/>
        </p:nvSpPr>
        <p:spPr>
          <a:xfrm>
            <a:off x="8101584" y="5370576"/>
            <a:ext cx="241401" cy="54864"/>
          </a:xfrm>
          <a:prstGeom prst="rect">
            <a:avLst/>
          </a:prstGeom>
          <a:solidFill>
            <a:srgbClr val="9AA3B2"/>
          </a:solidFill>
          <a:ln>
            <a:noFill/>
          </a:ln>
          <a:effectLst/>
        </p:spPr>
        <p:txBody>
          <a:bodyPr rtlCol="0" anchor="ctr"/>
          <a:lstStyle/>
          <a:p>
            <a:pPr algn="ctr"/>
          </a:p>
        </p:txBody>
      </p:sp>
      <p:sp>
        <p:nvSpPr>
          <p:cNvPr id="87" name="TextBox 86"/>
          <p:cNvSpPr txBox="1"/>
          <p:nvPr/>
        </p:nvSpPr>
        <p:spPr>
          <a:xfrm>
            <a:off x="10241280" y="5291328"/>
            <a:ext cx="792480" cy="182880"/>
          </a:xfrm>
          <a:prstGeom prst="rect">
            <a:avLst/>
          </a:prstGeom>
          <a:noFill/>
        </p:spPr>
        <p:txBody>
          <a:bodyPr wrap="square" anchor="ctr" lIns="0" rIns="0" tIns="0" bIns="0">
            <a:spAutoFit/>
          </a:bodyPr>
          <a:lstStyle/>
          <a:p>
            <a:pPr algn="r"/>
            <a:r>
              <a:rPr sz="1300" b="1" i="0">
                <a:solidFill>
                  <a:srgbClr val="111111"/>
                </a:solidFill>
                <a:latin typeface="Arial"/>
              </a:rPr>
              <a:t>12 %</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6F2"/>
          </a:solidFill>
          <a:ln>
            <a:noFill/>
          </a:ln>
          <a:effectLst/>
        </p:spPr>
        <p:txBody>
          <a:bodyPr rtlCol="0" anchor="ctr"/>
          <a:lstStyle/>
          <a:p>
            <a:pPr algn="ctr"/>
          </a:p>
        </p:txBody>
      </p:sp>
      <p:sp>
        <p:nvSpPr>
          <p:cNvPr id="3" name="TextBox 2"/>
          <p:cNvSpPr txBox="1"/>
          <p:nvPr/>
        </p:nvSpPr>
        <p:spPr>
          <a:xfrm>
            <a:off x="579120" y="426720"/>
            <a:ext cx="7315200" cy="182880"/>
          </a:xfrm>
          <a:prstGeom prst="rect">
            <a:avLst/>
          </a:prstGeom>
          <a:noFill/>
        </p:spPr>
        <p:txBody>
          <a:bodyPr wrap="square" anchor="t" lIns="0" rIns="0" tIns="0" bIns="0">
            <a:spAutoFit/>
          </a:bodyPr>
          <a:lstStyle/>
          <a:p>
            <a:pPr algn="l"/>
            <a:r>
              <a:rPr sz="1300" b="1" i="0">
                <a:solidFill>
                  <a:srgbClr val="EE6A2C"/>
                </a:solidFill>
                <a:latin typeface="Arial"/>
              </a:rPr>
              <a:t>INSIGHTS QUALITATIFS · SEPTEMBRE 2026</a:t>
            </a:r>
          </a:p>
        </p:txBody>
      </p:sp>
      <p:sp>
        <p:nvSpPr>
          <p:cNvPr id="4" name="TextBox 3"/>
          <p:cNvSpPr txBox="1"/>
          <p:nvPr/>
        </p:nvSpPr>
        <p:spPr>
          <a:xfrm>
            <a:off x="579120" y="609600"/>
            <a:ext cx="7315200" cy="487680"/>
          </a:xfrm>
          <a:prstGeom prst="rect">
            <a:avLst/>
          </a:prstGeom>
          <a:noFill/>
        </p:spPr>
        <p:txBody>
          <a:bodyPr wrap="square" anchor="t" lIns="0" rIns="0" tIns="0" bIns="0">
            <a:spAutoFit/>
          </a:bodyPr>
          <a:lstStyle/>
          <a:p>
            <a:pPr algn="l"/>
            <a:r>
              <a:rPr sz="3600" b="1" i="0">
                <a:solidFill>
                  <a:srgbClr val="111111"/>
                </a:solidFill>
                <a:latin typeface="Arial"/>
              </a:rPr>
              <a:t>Archipel Kombucha</a:t>
            </a:r>
          </a:p>
        </p:txBody>
      </p:sp>
      <p:sp>
        <p:nvSpPr>
          <p:cNvPr id="5" name="TextBox 4"/>
          <p:cNvSpPr txBox="1"/>
          <p:nvPr/>
        </p:nvSpPr>
        <p:spPr>
          <a:xfrm>
            <a:off x="9144000" y="499872"/>
            <a:ext cx="1889760" cy="182880"/>
          </a:xfrm>
          <a:prstGeom prst="rect">
            <a:avLst/>
          </a:prstGeom>
          <a:noFill/>
        </p:spPr>
        <p:txBody>
          <a:bodyPr wrap="square" anchor="t" lIns="0" rIns="0" tIns="0" bIns="0">
            <a:spAutoFit/>
          </a:bodyPr>
          <a:lstStyle/>
          <a:p>
            <a:pPr algn="r"/>
            <a:r>
              <a:rPr sz="1500" b="1" i="0">
                <a:solidFill>
                  <a:srgbClr val="111111"/>
                </a:solidFill>
                <a:latin typeface="Arial"/>
              </a:rPr>
              <a:t>Lemrock</a:t>
            </a:r>
          </a:p>
        </p:txBody>
      </p:sp>
      <p:sp>
        <p:nvSpPr>
          <p:cNvPr id="6" name="TextBox 5"/>
          <p:cNvSpPr txBox="1"/>
          <p:nvPr/>
        </p:nvSpPr>
        <p:spPr>
          <a:xfrm>
            <a:off x="579120" y="1219200"/>
            <a:ext cx="9144000" cy="182880"/>
          </a:xfrm>
          <a:prstGeom prst="rect">
            <a:avLst/>
          </a:prstGeom>
          <a:noFill/>
        </p:spPr>
        <p:txBody>
          <a:bodyPr wrap="square" anchor="t" lIns="0" rIns="0" tIns="0" bIns="0">
            <a:spAutoFit/>
          </a:bodyPr>
          <a:lstStyle/>
          <a:p>
            <a:pPr algn="l"/>
            <a:r>
              <a:rPr sz="1300" b="1" i="0">
                <a:solidFill>
                  <a:srgbClr val="EE6A2C"/>
                </a:solidFill>
                <a:latin typeface="Arial"/>
              </a:rPr>
              <a:t>OBJECTIF   </a:t>
            </a:r>
            <a:r>
              <a:rPr sz="1300" b="0" i="0">
                <a:solidFill>
                  <a:srgbClr val="111111"/>
                </a:solidFill>
                <a:latin typeface="Arial"/>
              </a:rPr>
              <a:t>À définir</a:t>
            </a:r>
          </a:p>
        </p:txBody>
      </p:sp>
      <p:sp>
        <p:nvSpPr>
          <p:cNvPr id="7" name="TextBox 6"/>
          <p:cNvSpPr txBox="1"/>
          <p:nvPr/>
        </p:nvSpPr>
        <p:spPr>
          <a:xfrm>
            <a:off x="579120" y="1524000"/>
            <a:ext cx="4876800" cy="182880"/>
          </a:xfrm>
          <a:prstGeom prst="rect">
            <a:avLst/>
          </a:prstGeom>
          <a:noFill/>
        </p:spPr>
        <p:txBody>
          <a:bodyPr wrap="square" anchor="t" lIns="0" rIns="0" tIns="0" bIns="0">
            <a:spAutoFit/>
          </a:bodyPr>
          <a:lstStyle/>
          <a:p>
            <a:pPr algn="l"/>
            <a:r>
              <a:rPr sz="1400" b="1" i="0">
                <a:solidFill>
                  <a:srgbClr val="555B66"/>
                </a:solidFill>
                <a:latin typeface="Arial"/>
              </a:rPr>
              <a:t>INSIGHTS QUALITATIFS</a:t>
            </a:r>
          </a:p>
        </p:txBody>
      </p:sp>
      <p:sp>
        <p:nvSpPr>
          <p:cNvPr id="8" name="Rectangle 7"/>
          <p:cNvSpPr/>
          <p:nvPr/>
        </p:nvSpPr>
        <p:spPr>
          <a:xfrm>
            <a:off x="579120" y="1816608"/>
            <a:ext cx="5071872" cy="2121408"/>
          </a:xfrm>
          <a:prstGeom prst="rect">
            <a:avLst/>
          </a:prstGeom>
          <a:solidFill>
            <a:srgbClr val="FFFFFF"/>
          </a:solidFill>
          <a:ln>
            <a:noFill/>
          </a:ln>
          <a:effectLst/>
        </p:spPr>
        <p:txBody>
          <a:bodyPr rtlCol="0" anchor="ctr"/>
          <a:lstStyle/>
          <a:p>
            <a:pPr algn="ctr"/>
          </a:p>
        </p:txBody>
      </p:sp>
      <p:sp>
        <p:nvSpPr>
          <p:cNvPr id="9" name="TextBox 8"/>
          <p:cNvSpPr txBox="1"/>
          <p:nvPr/>
        </p:nvSpPr>
        <p:spPr>
          <a:xfrm>
            <a:off x="835152" y="2029968"/>
            <a:ext cx="487680" cy="243840"/>
          </a:xfrm>
          <a:prstGeom prst="rect">
            <a:avLst/>
          </a:prstGeom>
          <a:noFill/>
        </p:spPr>
        <p:txBody>
          <a:bodyPr wrap="square" anchor="t" lIns="0" rIns="0" tIns="0" bIns="0">
            <a:spAutoFit/>
          </a:bodyPr>
          <a:lstStyle/>
          <a:p>
            <a:pPr algn="l"/>
            <a:r>
              <a:rPr sz="2000" b="1" i="0">
                <a:solidFill>
                  <a:srgbClr val="EE6A2C"/>
                </a:solidFill>
                <a:latin typeface="Arial"/>
              </a:rPr>
              <a:t>01</a:t>
            </a:r>
          </a:p>
        </p:txBody>
      </p:sp>
      <p:sp>
        <p:nvSpPr>
          <p:cNvPr id="10" name="TextBox 9"/>
          <p:cNvSpPr txBox="1"/>
          <p:nvPr/>
        </p:nvSpPr>
        <p:spPr>
          <a:xfrm>
            <a:off x="1383792" y="2048256"/>
            <a:ext cx="4023360" cy="365760"/>
          </a:xfrm>
          <a:prstGeom prst="rect">
            <a:avLst/>
          </a:prstGeom>
          <a:noFill/>
        </p:spPr>
        <p:txBody>
          <a:bodyPr wrap="square" anchor="t" lIns="0" rIns="0" tIns="0" bIns="0">
            <a:spAutoFit/>
          </a:bodyPr>
          <a:lstStyle/>
          <a:p>
            <a:pPr algn="l"/>
            <a:r>
              <a:rPr sz="1400" b="1" i="0">
                <a:solidFill>
                  <a:srgbClr val="111111"/>
                </a:solidFill>
                <a:latin typeface="Arial"/>
              </a:rPr>
              <a:t>Parler de boissons fermentées sans alcool</a:t>
            </a:r>
          </a:p>
        </p:txBody>
      </p:sp>
      <p:sp>
        <p:nvSpPr>
          <p:cNvPr id="11" name="TextBox 10"/>
          <p:cNvSpPr txBox="1"/>
          <p:nvPr/>
        </p:nvSpPr>
        <p:spPr>
          <a:xfrm>
            <a:off x="835152" y="2609088"/>
            <a:ext cx="4572000" cy="731520"/>
          </a:xfrm>
          <a:prstGeom prst="rect">
            <a:avLst/>
          </a:prstGeom>
          <a:noFill/>
        </p:spPr>
        <p:txBody>
          <a:bodyPr wrap="square" anchor="t" lIns="0" rIns="0" tIns="0" bIns="0">
            <a:spAutoFit/>
          </a:bodyPr>
          <a:lstStyle/>
          <a:p>
            <a:pPr algn="l"/>
            <a:r>
              <a:rPr sz="1100" b="0" i="0">
                <a:solidFill>
                  <a:srgbClr val="555B66"/>
                </a:solidFill>
                <a:latin typeface="Arial"/>
              </a:rPr>
              <a:t>L'annonce « Boissons fermentées sans alcool » atteint 1,53 fois le CTR moyen, le meilleur score du mois.</a:t>
            </a:r>
          </a:p>
        </p:txBody>
      </p:sp>
      <p:sp>
        <p:nvSpPr>
          <p:cNvPr id="12" name="TextBox 11"/>
          <p:cNvSpPr txBox="1"/>
          <p:nvPr/>
        </p:nvSpPr>
        <p:spPr>
          <a:xfrm>
            <a:off x="835152" y="3310128"/>
            <a:ext cx="4572000" cy="487680"/>
          </a:xfrm>
          <a:prstGeom prst="rect">
            <a:avLst/>
          </a:prstGeom>
          <a:noFill/>
        </p:spPr>
        <p:txBody>
          <a:bodyPr wrap="square" anchor="t" lIns="0" rIns="0" tIns="0" bIns="0">
            <a:spAutoFit/>
          </a:bodyPr>
          <a:lstStyle/>
          <a:p>
            <a:pPr algn="l"/>
            <a:r>
              <a:rPr sz="900" b="1" i="0">
                <a:solidFill>
                  <a:srgbClr val="555B66"/>
                </a:solidFill>
                <a:latin typeface="Arial"/>
              </a:rPr>
              <a:t>→  Mettre l'alternative sans alcool au cœur des accroches : apéritif, repas, pause.</a:t>
            </a:r>
          </a:p>
        </p:txBody>
      </p:sp>
      <p:sp>
        <p:nvSpPr>
          <p:cNvPr id="13" name="Rectangle 12"/>
          <p:cNvSpPr/>
          <p:nvPr/>
        </p:nvSpPr>
        <p:spPr>
          <a:xfrm>
            <a:off x="5992368" y="1816608"/>
            <a:ext cx="5071872" cy="2121408"/>
          </a:xfrm>
          <a:prstGeom prst="rect">
            <a:avLst/>
          </a:prstGeom>
          <a:solidFill>
            <a:srgbClr val="FFFFFF"/>
          </a:solidFill>
          <a:ln>
            <a:noFill/>
          </a:ln>
          <a:effectLst/>
        </p:spPr>
        <p:txBody>
          <a:bodyPr rtlCol="0" anchor="ctr"/>
          <a:lstStyle/>
          <a:p>
            <a:pPr algn="ctr"/>
          </a:p>
        </p:txBody>
      </p:sp>
      <p:sp>
        <p:nvSpPr>
          <p:cNvPr id="14" name="TextBox 13"/>
          <p:cNvSpPr txBox="1"/>
          <p:nvPr/>
        </p:nvSpPr>
        <p:spPr>
          <a:xfrm>
            <a:off x="6248400" y="2029968"/>
            <a:ext cx="487680" cy="243840"/>
          </a:xfrm>
          <a:prstGeom prst="rect">
            <a:avLst/>
          </a:prstGeom>
          <a:noFill/>
        </p:spPr>
        <p:txBody>
          <a:bodyPr wrap="square" anchor="t" lIns="0" rIns="0" tIns="0" bIns="0">
            <a:spAutoFit/>
          </a:bodyPr>
          <a:lstStyle/>
          <a:p>
            <a:pPr algn="l"/>
            <a:r>
              <a:rPr sz="2000" b="1" i="0">
                <a:solidFill>
                  <a:srgbClr val="EE6A2C"/>
                </a:solidFill>
                <a:latin typeface="Arial"/>
              </a:rPr>
              <a:t>02</a:t>
            </a:r>
          </a:p>
        </p:txBody>
      </p:sp>
      <p:sp>
        <p:nvSpPr>
          <p:cNvPr id="15" name="TextBox 14"/>
          <p:cNvSpPr txBox="1"/>
          <p:nvPr/>
        </p:nvSpPr>
        <p:spPr>
          <a:xfrm>
            <a:off x="6797040" y="2048256"/>
            <a:ext cx="4023360" cy="365760"/>
          </a:xfrm>
          <a:prstGeom prst="rect">
            <a:avLst/>
          </a:prstGeom>
          <a:noFill/>
        </p:spPr>
        <p:txBody>
          <a:bodyPr wrap="square" anchor="t" lIns="0" rIns="0" tIns="0" bIns="0">
            <a:spAutoFit/>
          </a:bodyPr>
          <a:lstStyle/>
          <a:p>
            <a:pPr algn="l"/>
            <a:r>
              <a:rPr sz="1400" b="1" i="0">
                <a:solidFill>
                  <a:srgbClr val="111111"/>
                </a:solidFill>
                <a:latin typeface="Arial"/>
              </a:rPr>
              <a:t>Mettre en avant les formats 33 cl</a:t>
            </a:r>
          </a:p>
        </p:txBody>
      </p:sp>
      <p:sp>
        <p:nvSpPr>
          <p:cNvPr id="16" name="TextBox 15"/>
          <p:cNvSpPr txBox="1"/>
          <p:nvPr/>
        </p:nvSpPr>
        <p:spPr>
          <a:xfrm>
            <a:off x="6248400" y="2609088"/>
            <a:ext cx="4572000" cy="731520"/>
          </a:xfrm>
          <a:prstGeom prst="rect">
            <a:avLst/>
          </a:prstGeom>
          <a:noFill/>
        </p:spPr>
        <p:txBody>
          <a:bodyPr wrap="square" anchor="t" lIns="0" rIns="0" tIns="0" bIns="0">
            <a:spAutoFit/>
          </a:bodyPr>
          <a:lstStyle/>
          <a:p>
            <a:pPr algn="l"/>
            <a:r>
              <a:rPr sz="1100" b="0" i="0">
                <a:solidFill>
                  <a:srgbClr val="555B66"/>
                </a:solidFill>
                <a:latin typeface="Arial"/>
              </a:rPr>
              <a:t>Les packs de 12 kombuchas de 33 cl dépassent la moyenne (jusqu'à 1,30 fois). Le pack de 6 bouteilles de 75 cl tombe à 0,66 fois.</a:t>
            </a:r>
          </a:p>
        </p:txBody>
      </p:sp>
      <p:sp>
        <p:nvSpPr>
          <p:cNvPr id="17" name="TextBox 16"/>
          <p:cNvSpPr txBox="1"/>
          <p:nvPr/>
        </p:nvSpPr>
        <p:spPr>
          <a:xfrm>
            <a:off x="6248400" y="3310128"/>
            <a:ext cx="4572000" cy="487680"/>
          </a:xfrm>
          <a:prstGeom prst="rect">
            <a:avLst/>
          </a:prstGeom>
          <a:noFill/>
        </p:spPr>
        <p:txBody>
          <a:bodyPr wrap="square" anchor="t" lIns="0" rIns="0" tIns="0" bIns="0">
            <a:spAutoFit/>
          </a:bodyPr>
          <a:lstStyle/>
          <a:p>
            <a:pPr algn="l"/>
            <a:r>
              <a:rPr sz="900" b="1" i="0">
                <a:solidFill>
                  <a:srgbClr val="555B66"/>
                </a:solidFill>
                <a:latin typeface="Arial"/>
              </a:rPr>
              <a:t>→  Faire des formats 33 cl le produit d'appel et garder les 75 cl pour la page produit.</a:t>
            </a:r>
          </a:p>
        </p:txBody>
      </p:sp>
      <p:sp>
        <p:nvSpPr>
          <p:cNvPr id="18" name="Rectangle 17"/>
          <p:cNvSpPr/>
          <p:nvPr/>
        </p:nvSpPr>
        <p:spPr>
          <a:xfrm>
            <a:off x="579120" y="4133088"/>
            <a:ext cx="5071872" cy="2121408"/>
          </a:xfrm>
          <a:prstGeom prst="rect">
            <a:avLst/>
          </a:prstGeom>
          <a:solidFill>
            <a:srgbClr val="FFFFFF"/>
          </a:solidFill>
          <a:ln>
            <a:noFill/>
          </a:ln>
          <a:effectLst/>
        </p:spPr>
        <p:txBody>
          <a:bodyPr rtlCol="0" anchor="ctr"/>
          <a:lstStyle/>
          <a:p>
            <a:pPr algn="ctr"/>
          </a:p>
        </p:txBody>
      </p:sp>
      <p:sp>
        <p:nvSpPr>
          <p:cNvPr id="19" name="TextBox 18"/>
          <p:cNvSpPr txBox="1"/>
          <p:nvPr/>
        </p:nvSpPr>
        <p:spPr>
          <a:xfrm>
            <a:off x="835152" y="4346448"/>
            <a:ext cx="487680" cy="243840"/>
          </a:xfrm>
          <a:prstGeom prst="rect">
            <a:avLst/>
          </a:prstGeom>
          <a:noFill/>
        </p:spPr>
        <p:txBody>
          <a:bodyPr wrap="square" anchor="t" lIns="0" rIns="0" tIns="0" bIns="0">
            <a:spAutoFit/>
          </a:bodyPr>
          <a:lstStyle/>
          <a:p>
            <a:pPr algn="l"/>
            <a:r>
              <a:rPr sz="2000" b="1" i="0">
                <a:solidFill>
                  <a:srgbClr val="EE6A2C"/>
                </a:solidFill>
                <a:latin typeface="Arial"/>
              </a:rPr>
              <a:t>03</a:t>
            </a:r>
          </a:p>
        </p:txBody>
      </p:sp>
      <p:sp>
        <p:nvSpPr>
          <p:cNvPr id="20" name="TextBox 19"/>
          <p:cNvSpPr txBox="1"/>
          <p:nvPr/>
        </p:nvSpPr>
        <p:spPr>
          <a:xfrm>
            <a:off x="1383792" y="4364736"/>
            <a:ext cx="4023360" cy="365760"/>
          </a:xfrm>
          <a:prstGeom prst="rect">
            <a:avLst/>
          </a:prstGeom>
          <a:noFill/>
        </p:spPr>
        <p:txBody>
          <a:bodyPr wrap="square" anchor="t" lIns="0" rIns="0" tIns="0" bIns="0">
            <a:spAutoFit/>
          </a:bodyPr>
          <a:lstStyle/>
          <a:p>
            <a:pPr algn="l"/>
            <a:r>
              <a:rPr sz="1400" b="1" i="0">
                <a:solidFill>
                  <a:srgbClr val="111111"/>
                </a:solidFill>
                <a:latin typeface="Arial"/>
              </a:rPr>
              <a:t>Mettre le cassis et le pomelo gingembre en avant</a:t>
            </a:r>
          </a:p>
        </p:txBody>
      </p:sp>
      <p:sp>
        <p:nvSpPr>
          <p:cNvPr id="21" name="TextBox 20"/>
          <p:cNvSpPr txBox="1"/>
          <p:nvPr/>
        </p:nvSpPr>
        <p:spPr>
          <a:xfrm>
            <a:off x="835152" y="4925568"/>
            <a:ext cx="4572000" cy="731520"/>
          </a:xfrm>
          <a:prstGeom prst="rect">
            <a:avLst/>
          </a:prstGeom>
          <a:noFill/>
        </p:spPr>
        <p:txBody>
          <a:bodyPr wrap="square" anchor="t" lIns="0" rIns="0" tIns="0" bIns="0">
            <a:spAutoFit/>
          </a:bodyPr>
          <a:lstStyle/>
          <a:p>
            <a:pPr algn="l"/>
            <a:r>
              <a:rPr sz="1100" b="0" i="0">
                <a:solidFill>
                  <a:srgbClr val="555B66"/>
                </a:solidFill>
                <a:latin typeface="Arial"/>
              </a:rPr>
              <a:t>Les annonces pomelo gingembre (1,23 fois le CTR moyen) et cassis (1,15 fois) font mieux que la moyenne. Framboise, figuier et clémentine restent juste en dessous (0,93 fois).</a:t>
            </a:r>
          </a:p>
        </p:txBody>
      </p:sp>
      <p:sp>
        <p:nvSpPr>
          <p:cNvPr id="22" name="TextBox 21"/>
          <p:cNvSpPr txBox="1"/>
          <p:nvPr/>
        </p:nvSpPr>
        <p:spPr>
          <a:xfrm>
            <a:off x="835152" y="5626608"/>
            <a:ext cx="4572000" cy="487680"/>
          </a:xfrm>
          <a:prstGeom prst="rect">
            <a:avLst/>
          </a:prstGeom>
          <a:noFill/>
        </p:spPr>
        <p:txBody>
          <a:bodyPr wrap="square" anchor="t" lIns="0" rIns="0" tIns="0" bIns="0">
            <a:spAutoFit/>
          </a:bodyPr>
          <a:lstStyle/>
          <a:p>
            <a:pPr algn="l"/>
            <a:r>
              <a:rPr sz="900" b="1" i="0">
                <a:solidFill>
                  <a:srgbClr val="555B66"/>
                </a:solidFill>
                <a:latin typeface="Arial"/>
              </a:rPr>
              <a:t>→  Donner plus de visibilité au cassis et au pomelo gingembre.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6F2"/>
          </a:solidFill>
          <a:ln>
            <a:noFill/>
          </a:ln>
          <a:effectLst/>
        </p:spPr>
        <p:txBody>
          <a:bodyPr rtlCol="0" anchor="ctr"/>
          <a:lstStyle/>
          <a:p>
            <a:pPr algn="ctr"/>
          </a:p>
        </p:txBody>
      </p:sp>
      <p:sp>
        <p:nvSpPr>
          <p:cNvPr id="3" name="TextBox 2"/>
          <p:cNvSpPr txBox="1"/>
          <p:nvPr/>
        </p:nvSpPr>
        <p:spPr>
          <a:xfrm>
            <a:off x="530352" y="487680"/>
            <a:ext cx="7315200" cy="182880"/>
          </a:xfrm>
          <a:prstGeom prst="rect">
            <a:avLst/>
          </a:prstGeom>
          <a:noFill/>
        </p:spPr>
        <p:txBody>
          <a:bodyPr wrap="square" anchor="t" lIns="0" rIns="0" tIns="0" bIns="0">
            <a:spAutoFit/>
          </a:bodyPr>
          <a:lstStyle/>
          <a:p>
            <a:pPr algn="l"/>
            <a:r>
              <a:rPr sz="1300" b="1" i="0">
                <a:solidFill>
                  <a:srgbClr val="EE6A2C"/>
                </a:solidFill>
                <a:latin typeface="Arial"/>
              </a:rPr>
              <a:t>RAPPORT DE PERFORMANCE · 01/09/2026 → 30/09/2026</a:t>
            </a:r>
          </a:p>
        </p:txBody>
      </p:sp>
      <p:sp>
        <p:nvSpPr>
          <p:cNvPr id="4" name="TextBox 3"/>
          <p:cNvSpPr txBox="1"/>
          <p:nvPr/>
        </p:nvSpPr>
        <p:spPr>
          <a:xfrm>
            <a:off x="530352" y="640080"/>
            <a:ext cx="7315200" cy="487680"/>
          </a:xfrm>
          <a:prstGeom prst="rect">
            <a:avLst/>
          </a:prstGeom>
          <a:noFill/>
        </p:spPr>
        <p:txBody>
          <a:bodyPr wrap="square" anchor="t" lIns="0" rIns="0" tIns="0" bIns="0">
            <a:spAutoFit/>
          </a:bodyPr>
          <a:lstStyle/>
          <a:p>
            <a:pPr algn="l"/>
            <a:r>
              <a:rPr sz="3600" b="1" i="0">
                <a:solidFill>
                  <a:srgbClr val="111111"/>
                </a:solidFill>
                <a:latin typeface="Arial"/>
              </a:rPr>
              <a:t>Basket4Ballers</a:t>
            </a:r>
          </a:p>
        </p:txBody>
      </p:sp>
      <p:sp>
        <p:nvSpPr>
          <p:cNvPr id="5" name="TextBox 4"/>
          <p:cNvSpPr txBox="1"/>
          <p:nvPr/>
        </p:nvSpPr>
        <p:spPr>
          <a:xfrm>
            <a:off x="7924800" y="591312"/>
            <a:ext cx="3304032" cy="152400"/>
          </a:xfrm>
          <a:prstGeom prst="rect">
            <a:avLst/>
          </a:prstGeom>
          <a:noFill/>
        </p:spPr>
        <p:txBody>
          <a:bodyPr wrap="square" anchor="t" lIns="0" rIns="0" tIns="0" bIns="0">
            <a:spAutoFit/>
          </a:bodyPr>
          <a:lstStyle/>
          <a:p>
            <a:pPr algn="r"/>
            <a:r>
              <a:rPr sz="1200" b="1" i="0">
                <a:solidFill>
                  <a:srgbClr val="8A93A6"/>
                </a:solidFill>
                <a:latin typeface="Arial"/>
              </a:rPr>
              <a:t>COMPARAISON</a:t>
            </a:r>
          </a:p>
        </p:txBody>
      </p:sp>
      <p:sp>
        <p:nvSpPr>
          <p:cNvPr id="6" name="TextBox 5"/>
          <p:cNvSpPr txBox="1"/>
          <p:nvPr/>
        </p:nvSpPr>
        <p:spPr>
          <a:xfrm>
            <a:off x="7924800" y="780288"/>
            <a:ext cx="3304032" cy="182880"/>
          </a:xfrm>
          <a:prstGeom prst="rect">
            <a:avLst/>
          </a:prstGeom>
          <a:noFill/>
        </p:spPr>
        <p:txBody>
          <a:bodyPr wrap="square" anchor="t" lIns="0" rIns="0" tIns="0" bIns="0">
            <a:spAutoFit/>
          </a:bodyPr>
          <a:lstStyle/>
          <a:p>
            <a:pPr algn="r"/>
            <a:r>
              <a:rPr sz="1500" b="1" i="0">
                <a:solidFill>
                  <a:srgbClr val="111111"/>
                </a:solidFill>
                <a:latin typeface="Arial"/>
              </a:rPr>
              <a:t>vs 01/08/2026 → 31/08/2026</a:t>
            </a:r>
          </a:p>
        </p:txBody>
      </p:sp>
      <p:sp>
        <p:nvSpPr>
          <p:cNvPr id="7" name="TextBox 6"/>
          <p:cNvSpPr txBox="1"/>
          <p:nvPr/>
        </p:nvSpPr>
        <p:spPr>
          <a:xfrm>
            <a:off x="530352" y="1280160"/>
            <a:ext cx="2438400" cy="182880"/>
          </a:xfrm>
          <a:prstGeom prst="rect">
            <a:avLst/>
          </a:prstGeom>
          <a:noFill/>
        </p:spPr>
        <p:txBody>
          <a:bodyPr wrap="square" anchor="t" lIns="0" rIns="0" tIns="0" bIns="0">
            <a:spAutoFit/>
          </a:bodyPr>
          <a:lstStyle/>
          <a:p>
            <a:pPr algn="l"/>
            <a:r>
              <a:rPr sz="1400" b="1" i="0">
                <a:solidFill>
                  <a:srgbClr val="EE6A2C"/>
                </a:solidFill>
                <a:latin typeface="Arial"/>
              </a:rPr>
              <a:t>DIFFUSION</a:t>
            </a:r>
          </a:p>
        </p:txBody>
      </p:sp>
      <p:sp>
        <p:nvSpPr>
          <p:cNvPr id="8" name="TextBox 7"/>
          <p:cNvSpPr txBox="1"/>
          <p:nvPr/>
        </p:nvSpPr>
        <p:spPr>
          <a:xfrm>
            <a:off x="2389632" y="1280160"/>
            <a:ext cx="2438400" cy="182880"/>
          </a:xfrm>
          <a:prstGeom prst="rect">
            <a:avLst/>
          </a:prstGeom>
          <a:noFill/>
        </p:spPr>
        <p:txBody>
          <a:bodyPr wrap="square" anchor="t" lIns="0" rIns="0" tIns="0" bIns="0">
            <a:spAutoFit/>
          </a:bodyPr>
          <a:lstStyle/>
          <a:p>
            <a:pPr algn="l"/>
            <a:r>
              <a:rPr sz="1400" b="1" i="0">
                <a:solidFill>
                  <a:srgbClr val="EE6A2C"/>
                </a:solidFill>
                <a:latin typeface="Arial"/>
              </a:rPr>
              <a:t>ENGAGEMENT</a:t>
            </a:r>
          </a:p>
        </p:txBody>
      </p:sp>
      <p:sp>
        <p:nvSpPr>
          <p:cNvPr id="9" name="TextBox 8"/>
          <p:cNvSpPr txBox="1"/>
          <p:nvPr/>
        </p:nvSpPr>
        <p:spPr>
          <a:xfrm>
            <a:off x="6108192" y="1280160"/>
            <a:ext cx="2438400" cy="182880"/>
          </a:xfrm>
          <a:prstGeom prst="rect">
            <a:avLst/>
          </a:prstGeom>
          <a:noFill/>
        </p:spPr>
        <p:txBody>
          <a:bodyPr wrap="square" anchor="t" lIns="0" rIns="0" tIns="0" bIns="0">
            <a:spAutoFit/>
          </a:bodyPr>
          <a:lstStyle/>
          <a:p>
            <a:pPr algn="l"/>
            <a:r>
              <a:rPr sz="1400" b="1" i="0">
                <a:solidFill>
                  <a:srgbClr val="EE6A2C"/>
                </a:solidFill>
                <a:latin typeface="Arial"/>
              </a:rPr>
              <a:t>CONVERSION</a:t>
            </a:r>
          </a:p>
        </p:txBody>
      </p:sp>
      <p:sp>
        <p:nvSpPr>
          <p:cNvPr id="10" name="Rectangle 9"/>
          <p:cNvSpPr/>
          <p:nvPr/>
        </p:nvSpPr>
        <p:spPr>
          <a:xfrm>
            <a:off x="530352" y="1536192"/>
            <a:ext cx="1389888" cy="1127760"/>
          </a:xfrm>
          <a:prstGeom prst="rect">
            <a:avLst/>
          </a:prstGeom>
          <a:solidFill>
            <a:srgbClr val="FFFFFF"/>
          </a:solidFill>
          <a:ln>
            <a:noFill/>
          </a:ln>
          <a:effectLst/>
        </p:spPr>
        <p:txBody>
          <a:bodyPr rtlCol="0" anchor="ctr"/>
          <a:lstStyle/>
          <a:p>
            <a:pPr algn="ctr"/>
          </a:p>
        </p:txBody>
      </p:sp>
      <p:sp>
        <p:nvSpPr>
          <p:cNvPr id="11" name="Rectangle 10"/>
          <p:cNvSpPr/>
          <p:nvPr/>
        </p:nvSpPr>
        <p:spPr>
          <a:xfrm>
            <a:off x="530352" y="1536192"/>
            <a:ext cx="24384" cy="1127760"/>
          </a:xfrm>
          <a:prstGeom prst="rect">
            <a:avLst/>
          </a:prstGeom>
          <a:solidFill>
            <a:srgbClr val="EE6A2C"/>
          </a:solidFill>
          <a:ln>
            <a:noFill/>
          </a:ln>
          <a:effectLst/>
        </p:spPr>
        <p:txBody>
          <a:bodyPr rtlCol="0" anchor="ctr"/>
          <a:lstStyle/>
          <a:p>
            <a:pPr algn="ctr"/>
          </a:p>
        </p:txBody>
      </p:sp>
      <p:sp>
        <p:nvSpPr>
          <p:cNvPr id="12" name="TextBox 11"/>
          <p:cNvSpPr txBox="1"/>
          <p:nvPr/>
        </p:nvSpPr>
        <p:spPr>
          <a:xfrm>
            <a:off x="664464" y="1615440"/>
            <a:ext cx="1219200" cy="121920"/>
          </a:xfrm>
          <a:prstGeom prst="rect">
            <a:avLst/>
          </a:prstGeom>
          <a:noFill/>
        </p:spPr>
        <p:txBody>
          <a:bodyPr wrap="square" anchor="t" lIns="0" rIns="0" tIns="0" bIns="0">
            <a:spAutoFit/>
          </a:bodyPr>
          <a:lstStyle/>
          <a:p>
            <a:pPr algn="l"/>
            <a:r>
              <a:rPr sz="1000" b="1" i="0">
                <a:solidFill>
                  <a:srgbClr val="555B66"/>
                </a:solidFill>
                <a:latin typeface="Arial"/>
              </a:rPr>
              <a:t>IMPRESSIONS</a:t>
            </a:r>
          </a:p>
        </p:txBody>
      </p:sp>
      <p:sp>
        <p:nvSpPr>
          <p:cNvPr id="13" name="TextBox 12"/>
          <p:cNvSpPr txBox="1"/>
          <p:nvPr/>
        </p:nvSpPr>
        <p:spPr>
          <a:xfrm>
            <a:off x="664464" y="1889760"/>
            <a:ext cx="1219200" cy="274320"/>
          </a:xfrm>
          <a:prstGeom prst="rect">
            <a:avLst/>
          </a:prstGeom>
          <a:noFill/>
        </p:spPr>
        <p:txBody>
          <a:bodyPr wrap="square" anchor="t" lIns="0" rIns="0" tIns="0" bIns="0">
            <a:spAutoFit/>
          </a:bodyPr>
          <a:lstStyle/>
          <a:p>
            <a:pPr algn="l"/>
            <a:r>
              <a:rPr sz="2200" b="1" i="0">
                <a:solidFill>
                  <a:srgbClr val="111111"/>
                </a:solidFill>
                <a:latin typeface="Arial"/>
              </a:rPr>
              <a:t>705 874</a:t>
            </a:r>
          </a:p>
        </p:txBody>
      </p:sp>
      <p:sp>
        <p:nvSpPr>
          <p:cNvPr id="14" name="TextBox 13"/>
          <p:cNvSpPr txBox="1"/>
          <p:nvPr/>
        </p:nvSpPr>
        <p:spPr>
          <a:xfrm>
            <a:off x="664464" y="2243328"/>
            <a:ext cx="1219200" cy="109728"/>
          </a:xfrm>
          <a:prstGeom prst="rect">
            <a:avLst/>
          </a:prstGeom>
          <a:noFill/>
        </p:spPr>
        <p:txBody>
          <a:bodyPr wrap="square" anchor="t" lIns="0" rIns="0" tIns="0" bIns="0">
            <a:spAutoFit/>
          </a:bodyPr>
          <a:lstStyle/>
          <a:p>
            <a:pPr algn="l"/>
            <a:r>
              <a:rPr sz="1000" b="1" i="0">
                <a:solidFill>
                  <a:srgbClr val="1E7B34"/>
                </a:solidFill>
                <a:latin typeface="Arial"/>
              </a:rPr>
              <a:t>▲ +33 %</a:t>
            </a:r>
          </a:p>
        </p:txBody>
      </p:sp>
      <p:sp>
        <p:nvSpPr>
          <p:cNvPr id="15" name="TextBox 14"/>
          <p:cNvSpPr txBox="1"/>
          <p:nvPr/>
        </p:nvSpPr>
        <p:spPr>
          <a:xfrm>
            <a:off x="664464" y="2499360"/>
            <a:ext cx="1219200" cy="91440"/>
          </a:xfrm>
          <a:prstGeom prst="rect">
            <a:avLst/>
          </a:prstGeom>
          <a:noFill/>
        </p:spPr>
        <p:txBody>
          <a:bodyPr wrap="square" anchor="t" lIns="0" rIns="0" tIns="0" bIns="0">
            <a:spAutoFit/>
          </a:bodyPr>
          <a:lstStyle/>
          <a:p>
            <a:pPr algn="l"/>
            <a:r>
              <a:rPr sz="800" b="0" i="1">
                <a:solidFill>
                  <a:srgbClr val="555B66"/>
                </a:solidFill>
                <a:latin typeface="Arial"/>
              </a:rPr>
              <a:t>YTD 1 702 639</a:t>
            </a:r>
          </a:p>
        </p:txBody>
      </p:sp>
      <p:sp>
        <p:nvSpPr>
          <p:cNvPr id="16" name="Rectangle 15"/>
          <p:cNvSpPr/>
          <p:nvPr/>
        </p:nvSpPr>
        <p:spPr>
          <a:xfrm>
            <a:off x="2389632" y="1536192"/>
            <a:ext cx="1389888" cy="1127760"/>
          </a:xfrm>
          <a:prstGeom prst="rect">
            <a:avLst/>
          </a:prstGeom>
          <a:solidFill>
            <a:srgbClr val="FFFFFF"/>
          </a:solidFill>
          <a:ln>
            <a:noFill/>
          </a:ln>
          <a:effectLst/>
        </p:spPr>
        <p:txBody>
          <a:bodyPr rtlCol="0" anchor="ctr"/>
          <a:lstStyle/>
          <a:p>
            <a:pPr algn="ctr"/>
          </a:p>
        </p:txBody>
      </p:sp>
      <p:sp>
        <p:nvSpPr>
          <p:cNvPr id="17" name="Rectangle 16"/>
          <p:cNvSpPr/>
          <p:nvPr/>
        </p:nvSpPr>
        <p:spPr>
          <a:xfrm>
            <a:off x="2389632" y="1536192"/>
            <a:ext cx="24384" cy="1127760"/>
          </a:xfrm>
          <a:prstGeom prst="rect">
            <a:avLst/>
          </a:prstGeom>
          <a:solidFill>
            <a:srgbClr val="EE6A2C"/>
          </a:solidFill>
          <a:ln>
            <a:noFill/>
          </a:ln>
          <a:effectLst/>
        </p:spPr>
        <p:txBody>
          <a:bodyPr rtlCol="0" anchor="ctr"/>
          <a:lstStyle/>
          <a:p>
            <a:pPr algn="ctr"/>
          </a:p>
        </p:txBody>
      </p:sp>
      <p:sp>
        <p:nvSpPr>
          <p:cNvPr id="18" name="TextBox 17"/>
          <p:cNvSpPr txBox="1"/>
          <p:nvPr/>
        </p:nvSpPr>
        <p:spPr>
          <a:xfrm>
            <a:off x="2523744" y="1615440"/>
            <a:ext cx="1219200" cy="121920"/>
          </a:xfrm>
          <a:prstGeom prst="rect">
            <a:avLst/>
          </a:prstGeom>
          <a:noFill/>
        </p:spPr>
        <p:txBody>
          <a:bodyPr wrap="square" anchor="t" lIns="0" rIns="0" tIns="0" bIns="0">
            <a:spAutoFit/>
          </a:bodyPr>
          <a:lstStyle/>
          <a:p>
            <a:pPr algn="l"/>
            <a:r>
              <a:rPr sz="1000" b="1" i="0">
                <a:solidFill>
                  <a:srgbClr val="555B66"/>
                </a:solidFill>
                <a:latin typeface="Arial"/>
              </a:rPr>
              <a:t>CLICS</a:t>
            </a:r>
          </a:p>
        </p:txBody>
      </p:sp>
      <p:sp>
        <p:nvSpPr>
          <p:cNvPr id="19" name="TextBox 18"/>
          <p:cNvSpPr txBox="1"/>
          <p:nvPr/>
        </p:nvSpPr>
        <p:spPr>
          <a:xfrm>
            <a:off x="2523744" y="1889760"/>
            <a:ext cx="1219200" cy="274320"/>
          </a:xfrm>
          <a:prstGeom prst="rect">
            <a:avLst/>
          </a:prstGeom>
          <a:noFill/>
        </p:spPr>
        <p:txBody>
          <a:bodyPr wrap="square" anchor="t" lIns="0" rIns="0" tIns="0" bIns="0">
            <a:spAutoFit/>
          </a:bodyPr>
          <a:lstStyle/>
          <a:p>
            <a:pPr algn="l"/>
            <a:r>
              <a:rPr sz="2200" b="1" i="0">
                <a:solidFill>
                  <a:srgbClr val="111111"/>
                </a:solidFill>
                <a:latin typeface="Arial"/>
              </a:rPr>
              <a:t>3 198</a:t>
            </a:r>
          </a:p>
        </p:txBody>
      </p:sp>
      <p:sp>
        <p:nvSpPr>
          <p:cNvPr id="20" name="TextBox 19"/>
          <p:cNvSpPr txBox="1"/>
          <p:nvPr/>
        </p:nvSpPr>
        <p:spPr>
          <a:xfrm>
            <a:off x="2523744" y="2243328"/>
            <a:ext cx="1219200" cy="109728"/>
          </a:xfrm>
          <a:prstGeom prst="rect">
            <a:avLst/>
          </a:prstGeom>
          <a:noFill/>
        </p:spPr>
        <p:txBody>
          <a:bodyPr wrap="square" anchor="t" lIns="0" rIns="0" tIns="0" bIns="0">
            <a:spAutoFit/>
          </a:bodyPr>
          <a:lstStyle/>
          <a:p>
            <a:pPr algn="l"/>
            <a:r>
              <a:rPr sz="1000" b="1" i="0">
                <a:solidFill>
                  <a:srgbClr val="1E7B34"/>
                </a:solidFill>
                <a:latin typeface="Arial"/>
              </a:rPr>
              <a:t>▲ +195 %</a:t>
            </a:r>
          </a:p>
        </p:txBody>
      </p:sp>
      <p:sp>
        <p:nvSpPr>
          <p:cNvPr id="21" name="TextBox 20"/>
          <p:cNvSpPr txBox="1"/>
          <p:nvPr/>
        </p:nvSpPr>
        <p:spPr>
          <a:xfrm>
            <a:off x="2523744" y="2499360"/>
            <a:ext cx="1219200" cy="91440"/>
          </a:xfrm>
          <a:prstGeom prst="rect">
            <a:avLst/>
          </a:prstGeom>
          <a:noFill/>
        </p:spPr>
        <p:txBody>
          <a:bodyPr wrap="square" anchor="t" lIns="0" rIns="0" tIns="0" bIns="0">
            <a:spAutoFit/>
          </a:bodyPr>
          <a:lstStyle/>
          <a:p>
            <a:pPr algn="l"/>
            <a:r>
              <a:rPr sz="800" b="0" i="1">
                <a:solidFill>
                  <a:srgbClr val="555B66"/>
                </a:solidFill>
                <a:latin typeface="Arial"/>
              </a:rPr>
              <a:t>YTD 5 040</a:t>
            </a:r>
          </a:p>
        </p:txBody>
      </p:sp>
      <p:sp>
        <p:nvSpPr>
          <p:cNvPr id="22" name="Rectangle 21"/>
          <p:cNvSpPr/>
          <p:nvPr/>
        </p:nvSpPr>
        <p:spPr>
          <a:xfrm>
            <a:off x="4248912" y="1536192"/>
            <a:ext cx="1389888" cy="1127760"/>
          </a:xfrm>
          <a:prstGeom prst="rect">
            <a:avLst/>
          </a:prstGeom>
          <a:solidFill>
            <a:srgbClr val="FFFFFF"/>
          </a:solidFill>
          <a:ln>
            <a:noFill/>
          </a:ln>
          <a:effectLst/>
        </p:spPr>
        <p:txBody>
          <a:bodyPr rtlCol="0" anchor="ctr"/>
          <a:lstStyle/>
          <a:p>
            <a:pPr algn="ctr"/>
          </a:p>
        </p:txBody>
      </p:sp>
      <p:sp>
        <p:nvSpPr>
          <p:cNvPr id="23" name="Rectangle 22"/>
          <p:cNvSpPr/>
          <p:nvPr/>
        </p:nvSpPr>
        <p:spPr>
          <a:xfrm>
            <a:off x="4248912" y="1536192"/>
            <a:ext cx="24384" cy="1127760"/>
          </a:xfrm>
          <a:prstGeom prst="rect">
            <a:avLst/>
          </a:prstGeom>
          <a:solidFill>
            <a:srgbClr val="EE6A2C"/>
          </a:solidFill>
          <a:ln>
            <a:noFill/>
          </a:ln>
          <a:effectLst/>
        </p:spPr>
        <p:txBody>
          <a:bodyPr rtlCol="0" anchor="ctr"/>
          <a:lstStyle/>
          <a:p>
            <a:pPr algn="ctr"/>
          </a:p>
        </p:txBody>
      </p:sp>
      <p:sp>
        <p:nvSpPr>
          <p:cNvPr id="24" name="TextBox 23"/>
          <p:cNvSpPr txBox="1"/>
          <p:nvPr/>
        </p:nvSpPr>
        <p:spPr>
          <a:xfrm>
            <a:off x="4383024" y="1615440"/>
            <a:ext cx="1219200" cy="121920"/>
          </a:xfrm>
          <a:prstGeom prst="rect">
            <a:avLst/>
          </a:prstGeom>
          <a:noFill/>
        </p:spPr>
        <p:txBody>
          <a:bodyPr wrap="square" anchor="t" lIns="0" rIns="0" tIns="0" bIns="0">
            <a:spAutoFit/>
          </a:bodyPr>
          <a:lstStyle/>
          <a:p>
            <a:pPr algn="l"/>
            <a:r>
              <a:rPr sz="1000" b="1" i="0">
                <a:solidFill>
                  <a:srgbClr val="555B66"/>
                </a:solidFill>
                <a:latin typeface="Arial"/>
              </a:rPr>
              <a:t>CTR</a:t>
            </a:r>
          </a:p>
        </p:txBody>
      </p:sp>
      <p:sp>
        <p:nvSpPr>
          <p:cNvPr id="25" name="TextBox 24"/>
          <p:cNvSpPr txBox="1"/>
          <p:nvPr/>
        </p:nvSpPr>
        <p:spPr>
          <a:xfrm>
            <a:off x="4383024" y="1889760"/>
            <a:ext cx="1219200" cy="274320"/>
          </a:xfrm>
          <a:prstGeom prst="rect">
            <a:avLst/>
          </a:prstGeom>
          <a:noFill/>
        </p:spPr>
        <p:txBody>
          <a:bodyPr wrap="square" anchor="t" lIns="0" rIns="0" tIns="0" bIns="0">
            <a:spAutoFit/>
          </a:bodyPr>
          <a:lstStyle/>
          <a:p>
            <a:pPr algn="l"/>
            <a:r>
              <a:rPr sz="2200" b="1" i="0">
                <a:solidFill>
                  <a:srgbClr val="111111"/>
                </a:solidFill>
                <a:latin typeface="Arial"/>
              </a:rPr>
              <a:t>0,45 %</a:t>
            </a:r>
          </a:p>
        </p:txBody>
      </p:sp>
      <p:sp>
        <p:nvSpPr>
          <p:cNvPr id="26" name="TextBox 25"/>
          <p:cNvSpPr txBox="1"/>
          <p:nvPr/>
        </p:nvSpPr>
        <p:spPr>
          <a:xfrm>
            <a:off x="4383024" y="2243328"/>
            <a:ext cx="1219200" cy="109728"/>
          </a:xfrm>
          <a:prstGeom prst="rect">
            <a:avLst/>
          </a:prstGeom>
          <a:noFill/>
        </p:spPr>
        <p:txBody>
          <a:bodyPr wrap="square" anchor="t" lIns="0" rIns="0" tIns="0" bIns="0">
            <a:spAutoFit/>
          </a:bodyPr>
          <a:lstStyle/>
          <a:p>
            <a:pPr algn="l"/>
            <a:r>
              <a:rPr sz="1000" b="1" i="0">
                <a:solidFill>
                  <a:srgbClr val="1E7B34"/>
                </a:solidFill>
                <a:latin typeface="Arial"/>
              </a:rPr>
              <a:t>▲ +0,25 pt</a:t>
            </a:r>
          </a:p>
        </p:txBody>
      </p:sp>
      <p:sp>
        <p:nvSpPr>
          <p:cNvPr id="27" name="TextBox 26"/>
          <p:cNvSpPr txBox="1"/>
          <p:nvPr/>
        </p:nvSpPr>
        <p:spPr>
          <a:xfrm>
            <a:off x="4383024" y="2499360"/>
            <a:ext cx="1219200" cy="91440"/>
          </a:xfrm>
          <a:prstGeom prst="rect">
            <a:avLst/>
          </a:prstGeom>
          <a:noFill/>
        </p:spPr>
        <p:txBody>
          <a:bodyPr wrap="square" anchor="t" lIns="0" rIns="0" tIns="0" bIns="0">
            <a:spAutoFit/>
          </a:bodyPr>
          <a:lstStyle/>
          <a:p>
            <a:pPr algn="l"/>
            <a:r>
              <a:rPr sz="800" b="0" i="1">
                <a:solidFill>
                  <a:srgbClr val="555B66"/>
                </a:solidFill>
                <a:latin typeface="Arial"/>
              </a:rPr>
              <a:t>YTD 0,30 %</a:t>
            </a:r>
          </a:p>
        </p:txBody>
      </p:sp>
      <p:sp>
        <p:nvSpPr>
          <p:cNvPr id="28" name="Rectangle 27"/>
          <p:cNvSpPr/>
          <p:nvPr/>
        </p:nvSpPr>
        <p:spPr>
          <a:xfrm>
            <a:off x="6108192" y="1536192"/>
            <a:ext cx="1389888" cy="1127760"/>
          </a:xfrm>
          <a:prstGeom prst="rect">
            <a:avLst/>
          </a:prstGeom>
          <a:solidFill>
            <a:srgbClr val="F1EFEB"/>
          </a:solidFill>
          <a:ln>
            <a:noFill/>
          </a:ln>
          <a:effectLst/>
        </p:spPr>
        <p:txBody>
          <a:bodyPr rtlCol="0" anchor="ctr"/>
          <a:lstStyle/>
          <a:p>
            <a:pPr algn="ctr"/>
          </a:p>
        </p:txBody>
      </p:sp>
      <p:sp>
        <p:nvSpPr>
          <p:cNvPr id="29" name="Rounded Rectangle 28"/>
          <p:cNvSpPr/>
          <p:nvPr/>
        </p:nvSpPr>
        <p:spPr>
          <a:xfrm>
            <a:off x="6827520" y="1450848"/>
            <a:ext cx="609600" cy="170688"/>
          </a:xfrm>
          <a:prstGeom prst="roundRect">
            <a:avLst>
              <a:gd name="adj" fmla="val 50000"/>
            </a:avLst>
          </a:prstGeom>
          <a:solidFill>
            <a:srgbClr val="D9D6D1"/>
          </a:solidFill>
          <a:ln>
            <a:noFill/>
          </a:ln>
          <a:effectLst/>
        </p:spPr>
        <p:txBody>
          <a:bodyPr rtlCol="0" anchor="ctr"/>
          <a:lstStyle/>
          <a:p>
            <a:pPr algn="ctr"/>
          </a:p>
        </p:txBody>
      </p:sp>
      <p:sp>
        <p:nvSpPr>
          <p:cNvPr id="30" name="TextBox 29"/>
          <p:cNvSpPr txBox="1"/>
          <p:nvPr/>
        </p:nvSpPr>
        <p:spPr>
          <a:xfrm>
            <a:off x="6827520" y="1450848"/>
            <a:ext cx="609600" cy="170688"/>
          </a:xfrm>
          <a:prstGeom prst="rect">
            <a:avLst/>
          </a:prstGeom>
          <a:noFill/>
        </p:spPr>
        <p:txBody>
          <a:bodyPr wrap="square" anchor="ctr" lIns="0" rIns="0" tIns="0" bIns="0">
            <a:spAutoFit/>
          </a:bodyPr>
          <a:lstStyle/>
          <a:p>
            <a:pPr algn="ctr"/>
            <a:r>
              <a:rPr sz="800" b="1" i="0">
                <a:solidFill>
                  <a:srgbClr val="555B66"/>
                </a:solidFill>
                <a:latin typeface="Arial"/>
              </a:rPr>
              <a:t>INDICATIF</a:t>
            </a:r>
          </a:p>
        </p:txBody>
      </p:sp>
      <p:sp>
        <p:nvSpPr>
          <p:cNvPr id="31" name="TextBox 30"/>
          <p:cNvSpPr txBox="1"/>
          <p:nvPr/>
        </p:nvSpPr>
        <p:spPr>
          <a:xfrm>
            <a:off x="6242304" y="1706880"/>
            <a:ext cx="1219200" cy="121920"/>
          </a:xfrm>
          <a:prstGeom prst="rect">
            <a:avLst/>
          </a:prstGeom>
          <a:noFill/>
        </p:spPr>
        <p:txBody>
          <a:bodyPr wrap="square" anchor="t" lIns="0" rIns="0" tIns="0" bIns="0">
            <a:spAutoFit/>
          </a:bodyPr>
          <a:lstStyle/>
          <a:p>
            <a:pPr algn="l"/>
            <a:r>
              <a:rPr sz="1000" b="1" i="0">
                <a:solidFill>
                  <a:srgbClr val="8A93A6"/>
                </a:solidFill>
                <a:latin typeface="Arial"/>
              </a:rPr>
              <a:t>CONVERSIONS</a:t>
            </a:r>
          </a:p>
        </p:txBody>
      </p:sp>
      <p:sp>
        <p:nvSpPr>
          <p:cNvPr id="32" name="TextBox 31"/>
          <p:cNvSpPr txBox="1"/>
          <p:nvPr/>
        </p:nvSpPr>
        <p:spPr>
          <a:xfrm>
            <a:off x="6242304" y="1889760"/>
            <a:ext cx="1219200" cy="274320"/>
          </a:xfrm>
          <a:prstGeom prst="rect">
            <a:avLst/>
          </a:prstGeom>
          <a:noFill/>
        </p:spPr>
        <p:txBody>
          <a:bodyPr wrap="square" anchor="t" lIns="0" rIns="0" tIns="0" bIns="0">
            <a:spAutoFit/>
          </a:bodyPr>
          <a:lstStyle/>
          <a:p>
            <a:pPr algn="l"/>
            <a:r>
              <a:rPr sz="2200" b="1" i="0">
                <a:solidFill>
                  <a:srgbClr val="8A93A6"/>
                </a:solidFill>
                <a:latin typeface="Arial"/>
              </a:rPr>
              <a:t>N/C</a:t>
            </a:r>
          </a:p>
        </p:txBody>
      </p:sp>
      <p:sp>
        <p:nvSpPr>
          <p:cNvPr id="33" name="TextBox 32"/>
          <p:cNvSpPr txBox="1"/>
          <p:nvPr/>
        </p:nvSpPr>
        <p:spPr>
          <a:xfrm>
            <a:off x="6242304" y="2243328"/>
            <a:ext cx="1219200" cy="109728"/>
          </a:xfrm>
          <a:prstGeom prst="rect">
            <a:avLst/>
          </a:prstGeom>
          <a:noFill/>
        </p:spPr>
        <p:txBody>
          <a:bodyPr wrap="square" anchor="t" lIns="0" rIns="0" tIns="0" bIns="0">
            <a:spAutoFit/>
          </a:bodyPr>
          <a:lstStyle/>
          <a:p>
            <a:pPr algn="l"/>
            <a:r>
              <a:rPr sz="1000" b="1" i="0">
                <a:solidFill>
                  <a:srgbClr val="8A93A6"/>
                </a:solidFill>
                <a:latin typeface="Arial"/>
              </a:rPr>
              <a:t>—</a:t>
            </a:r>
          </a:p>
        </p:txBody>
      </p:sp>
      <p:sp>
        <p:nvSpPr>
          <p:cNvPr id="34" name="TextBox 33"/>
          <p:cNvSpPr txBox="1"/>
          <p:nvPr/>
        </p:nvSpPr>
        <p:spPr>
          <a:xfrm>
            <a:off x="6242304" y="2499360"/>
            <a:ext cx="1219200" cy="91440"/>
          </a:xfrm>
          <a:prstGeom prst="rect">
            <a:avLst/>
          </a:prstGeom>
          <a:noFill/>
        </p:spPr>
        <p:txBody>
          <a:bodyPr wrap="square" anchor="t" lIns="0" rIns="0" tIns="0" bIns="0">
            <a:spAutoFit/>
          </a:bodyPr>
          <a:lstStyle/>
          <a:p>
            <a:pPr algn="l"/>
            <a:r>
              <a:rPr sz="800" b="0" i="1">
                <a:solidFill>
                  <a:srgbClr val="8A93A6"/>
                </a:solidFill>
                <a:latin typeface="Arial"/>
              </a:rPr>
              <a:t>YTD —</a:t>
            </a:r>
          </a:p>
        </p:txBody>
      </p:sp>
      <p:sp>
        <p:nvSpPr>
          <p:cNvPr id="35" name="Rectangle 34"/>
          <p:cNvSpPr/>
          <p:nvPr/>
        </p:nvSpPr>
        <p:spPr>
          <a:xfrm>
            <a:off x="7967472" y="1536192"/>
            <a:ext cx="1389888" cy="1127760"/>
          </a:xfrm>
          <a:prstGeom prst="rect">
            <a:avLst/>
          </a:prstGeom>
          <a:solidFill>
            <a:srgbClr val="F1EFEB"/>
          </a:solidFill>
          <a:ln>
            <a:noFill/>
          </a:ln>
          <a:effectLst/>
        </p:spPr>
        <p:txBody>
          <a:bodyPr rtlCol="0" anchor="ctr"/>
          <a:lstStyle/>
          <a:p>
            <a:pPr algn="ctr"/>
          </a:p>
        </p:txBody>
      </p:sp>
      <p:sp>
        <p:nvSpPr>
          <p:cNvPr id="36" name="Rounded Rectangle 35"/>
          <p:cNvSpPr/>
          <p:nvPr/>
        </p:nvSpPr>
        <p:spPr>
          <a:xfrm>
            <a:off x="8686800" y="1450848"/>
            <a:ext cx="609600" cy="170688"/>
          </a:xfrm>
          <a:prstGeom prst="roundRect">
            <a:avLst>
              <a:gd name="adj" fmla="val 50000"/>
            </a:avLst>
          </a:prstGeom>
          <a:solidFill>
            <a:srgbClr val="D9D6D1"/>
          </a:solidFill>
          <a:ln>
            <a:noFill/>
          </a:ln>
          <a:effectLst/>
        </p:spPr>
        <p:txBody>
          <a:bodyPr rtlCol="0" anchor="ctr"/>
          <a:lstStyle/>
          <a:p>
            <a:pPr algn="ctr"/>
          </a:p>
        </p:txBody>
      </p:sp>
      <p:sp>
        <p:nvSpPr>
          <p:cNvPr id="37" name="TextBox 36"/>
          <p:cNvSpPr txBox="1"/>
          <p:nvPr/>
        </p:nvSpPr>
        <p:spPr>
          <a:xfrm>
            <a:off x="8686800" y="1450848"/>
            <a:ext cx="609600" cy="170688"/>
          </a:xfrm>
          <a:prstGeom prst="rect">
            <a:avLst/>
          </a:prstGeom>
          <a:noFill/>
        </p:spPr>
        <p:txBody>
          <a:bodyPr wrap="square" anchor="ctr" lIns="0" rIns="0" tIns="0" bIns="0">
            <a:spAutoFit/>
          </a:bodyPr>
          <a:lstStyle/>
          <a:p>
            <a:pPr algn="ctr"/>
            <a:r>
              <a:rPr sz="800" b="1" i="0">
                <a:solidFill>
                  <a:srgbClr val="555B66"/>
                </a:solidFill>
                <a:latin typeface="Arial"/>
              </a:rPr>
              <a:t>INDICATIF</a:t>
            </a:r>
          </a:p>
        </p:txBody>
      </p:sp>
      <p:sp>
        <p:nvSpPr>
          <p:cNvPr id="38" name="TextBox 37"/>
          <p:cNvSpPr txBox="1"/>
          <p:nvPr/>
        </p:nvSpPr>
        <p:spPr>
          <a:xfrm>
            <a:off x="8101584" y="1706880"/>
            <a:ext cx="1219200" cy="121920"/>
          </a:xfrm>
          <a:prstGeom prst="rect">
            <a:avLst/>
          </a:prstGeom>
          <a:noFill/>
        </p:spPr>
        <p:txBody>
          <a:bodyPr wrap="square" anchor="t" lIns="0" rIns="0" tIns="0" bIns="0">
            <a:spAutoFit/>
          </a:bodyPr>
          <a:lstStyle/>
          <a:p>
            <a:pPr algn="l"/>
            <a:r>
              <a:rPr sz="1000" b="1" i="0">
                <a:solidFill>
                  <a:srgbClr val="8A93A6"/>
                </a:solidFill>
                <a:latin typeface="Arial"/>
              </a:rPr>
              <a:t>CVR</a:t>
            </a:r>
          </a:p>
        </p:txBody>
      </p:sp>
      <p:sp>
        <p:nvSpPr>
          <p:cNvPr id="39" name="TextBox 38"/>
          <p:cNvSpPr txBox="1"/>
          <p:nvPr/>
        </p:nvSpPr>
        <p:spPr>
          <a:xfrm>
            <a:off x="8101584" y="1889760"/>
            <a:ext cx="1219200" cy="274320"/>
          </a:xfrm>
          <a:prstGeom prst="rect">
            <a:avLst/>
          </a:prstGeom>
          <a:noFill/>
        </p:spPr>
        <p:txBody>
          <a:bodyPr wrap="square" anchor="t" lIns="0" rIns="0" tIns="0" bIns="0">
            <a:spAutoFit/>
          </a:bodyPr>
          <a:lstStyle/>
          <a:p>
            <a:pPr algn="l"/>
            <a:r>
              <a:rPr sz="2200" b="1" i="0">
                <a:solidFill>
                  <a:srgbClr val="8A93A6"/>
                </a:solidFill>
                <a:latin typeface="Arial"/>
              </a:rPr>
              <a:t>N/C</a:t>
            </a:r>
          </a:p>
        </p:txBody>
      </p:sp>
      <p:sp>
        <p:nvSpPr>
          <p:cNvPr id="40" name="TextBox 39"/>
          <p:cNvSpPr txBox="1"/>
          <p:nvPr/>
        </p:nvSpPr>
        <p:spPr>
          <a:xfrm>
            <a:off x="8101584" y="2243328"/>
            <a:ext cx="1219200" cy="109728"/>
          </a:xfrm>
          <a:prstGeom prst="rect">
            <a:avLst/>
          </a:prstGeom>
          <a:noFill/>
        </p:spPr>
        <p:txBody>
          <a:bodyPr wrap="square" anchor="t" lIns="0" rIns="0" tIns="0" bIns="0">
            <a:spAutoFit/>
          </a:bodyPr>
          <a:lstStyle/>
          <a:p>
            <a:pPr algn="l"/>
            <a:r>
              <a:rPr sz="1000" b="1" i="0">
                <a:solidFill>
                  <a:srgbClr val="8A93A6"/>
                </a:solidFill>
                <a:latin typeface="Arial"/>
              </a:rPr>
              <a:t>—</a:t>
            </a:r>
          </a:p>
        </p:txBody>
      </p:sp>
      <p:sp>
        <p:nvSpPr>
          <p:cNvPr id="41" name="TextBox 40"/>
          <p:cNvSpPr txBox="1"/>
          <p:nvPr/>
        </p:nvSpPr>
        <p:spPr>
          <a:xfrm>
            <a:off x="8101584" y="2499360"/>
            <a:ext cx="1219200" cy="91440"/>
          </a:xfrm>
          <a:prstGeom prst="rect">
            <a:avLst/>
          </a:prstGeom>
          <a:noFill/>
        </p:spPr>
        <p:txBody>
          <a:bodyPr wrap="square" anchor="t" lIns="0" rIns="0" tIns="0" bIns="0">
            <a:spAutoFit/>
          </a:bodyPr>
          <a:lstStyle/>
          <a:p>
            <a:pPr algn="l"/>
            <a:r>
              <a:rPr sz="800" b="0" i="1">
                <a:solidFill>
                  <a:srgbClr val="8A93A6"/>
                </a:solidFill>
                <a:latin typeface="Arial"/>
              </a:rPr>
              <a:t>YTD —</a:t>
            </a:r>
          </a:p>
        </p:txBody>
      </p:sp>
      <p:sp>
        <p:nvSpPr>
          <p:cNvPr id="42" name="Rectangle 41"/>
          <p:cNvSpPr/>
          <p:nvPr/>
        </p:nvSpPr>
        <p:spPr>
          <a:xfrm>
            <a:off x="9826752" y="1536192"/>
            <a:ext cx="1389888" cy="1127760"/>
          </a:xfrm>
          <a:prstGeom prst="rect">
            <a:avLst/>
          </a:prstGeom>
          <a:solidFill>
            <a:srgbClr val="F1EFEB"/>
          </a:solidFill>
          <a:ln>
            <a:noFill/>
          </a:ln>
          <a:effectLst/>
        </p:spPr>
        <p:txBody>
          <a:bodyPr rtlCol="0" anchor="ctr"/>
          <a:lstStyle/>
          <a:p>
            <a:pPr algn="ctr"/>
          </a:p>
        </p:txBody>
      </p:sp>
      <p:sp>
        <p:nvSpPr>
          <p:cNvPr id="43" name="Rounded Rectangle 42"/>
          <p:cNvSpPr/>
          <p:nvPr/>
        </p:nvSpPr>
        <p:spPr>
          <a:xfrm>
            <a:off x="10546080" y="1450848"/>
            <a:ext cx="609600" cy="170688"/>
          </a:xfrm>
          <a:prstGeom prst="roundRect">
            <a:avLst>
              <a:gd name="adj" fmla="val 50000"/>
            </a:avLst>
          </a:prstGeom>
          <a:solidFill>
            <a:srgbClr val="D9D6D1"/>
          </a:solidFill>
          <a:ln>
            <a:noFill/>
          </a:ln>
          <a:effectLst/>
        </p:spPr>
        <p:txBody>
          <a:bodyPr rtlCol="0" anchor="ctr"/>
          <a:lstStyle/>
          <a:p>
            <a:pPr algn="ctr"/>
          </a:p>
        </p:txBody>
      </p:sp>
      <p:sp>
        <p:nvSpPr>
          <p:cNvPr id="44" name="TextBox 43"/>
          <p:cNvSpPr txBox="1"/>
          <p:nvPr/>
        </p:nvSpPr>
        <p:spPr>
          <a:xfrm>
            <a:off x="10546080" y="1450848"/>
            <a:ext cx="609600" cy="170688"/>
          </a:xfrm>
          <a:prstGeom prst="rect">
            <a:avLst/>
          </a:prstGeom>
          <a:noFill/>
        </p:spPr>
        <p:txBody>
          <a:bodyPr wrap="square" anchor="ctr" lIns="0" rIns="0" tIns="0" bIns="0">
            <a:spAutoFit/>
          </a:bodyPr>
          <a:lstStyle/>
          <a:p>
            <a:pPr algn="ctr"/>
            <a:r>
              <a:rPr sz="800" b="1" i="0">
                <a:solidFill>
                  <a:srgbClr val="555B66"/>
                </a:solidFill>
                <a:latin typeface="Arial"/>
              </a:rPr>
              <a:t>INDICATIF</a:t>
            </a:r>
          </a:p>
        </p:txBody>
      </p:sp>
      <p:sp>
        <p:nvSpPr>
          <p:cNvPr id="45" name="TextBox 44"/>
          <p:cNvSpPr txBox="1"/>
          <p:nvPr/>
        </p:nvSpPr>
        <p:spPr>
          <a:xfrm>
            <a:off x="9960864" y="1706880"/>
            <a:ext cx="1219200" cy="121920"/>
          </a:xfrm>
          <a:prstGeom prst="rect">
            <a:avLst/>
          </a:prstGeom>
          <a:noFill/>
        </p:spPr>
        <p:txBody>
          <a:bodyPr wrap="square" anchor="t" lIns="0" rIns="0" tIns="0" bIns="0">
            <a:spAutoFit/>
          </a:bodyPr>
          <a:lstStyle/>
          <a:p>
            <a:pPr algn="l"/>
            <a:r>
              <a:rPr sz="1000" b="1" i="0">
                <a:solidFill>
                  <a:srgbClr val="8A93A6"/>
                </a:solidFill>
                <a:latin typeface="Arial"/>
              </a:rPr>
              <a:t>ROAS</a:t>
            </a:r>
          </a:p>
        </p:txBody>
      </p:sp>
      <p:sp>
        <p:nvSpPr>
          <p:cNvPr id="46" name="TextBox 45"/>
          <p:cNvSpPr txBox="1"/>
          <p:nvPr/>
        </p:nvSpPr>
        <p:spPr>
          <a:xfrm>
            <a:off x="9960864" y="1889760"/>
            <a:ext cx="1219200" cy="274320"/>
          </a:xfrm>
          <a:prstGeom prst="rect">
            <a:avLst/>
          </a:prstGeom>
          <a:noFill/>
        </p:spPr>
        <p:txBody>
          <a:bodyPr wrap="square" anchor="t" lIns="0" rIns="0" tIns="0" bIns="0">
            <a:spAutoFit/>
          </a:bodyPr>
          <a:lstStyle/>
          <a:p>
            <a:pPr algn="l"/>
            <a:r>
              <a:rPr sz="2200" b="1" i="0">
                <a:solidFill>
                  <a:srgbClr val="8A93A6"/>
                </a:solidFill>
                <a:latin typeface="Arial"/>
              </a:rPr>
              <a:t>N/C</a:t>
            </a:r>
          </a:p>
        </p:txBody>
      </p:sp>
      <p:sp>
        <p:nvSpPr>
          <p:cNvPr id="47" name="TextBox 46"/>
          <p:cNvSpPr txBox="1"/>
          <p:nvPr/>
        </p:nvSpPr>
        <p:spPr>
          <a:xfrm>
            <a:off x="9960864" y="2243328"/>
            <a:ext cx="1219200" cy="109728"/>
          </a:xfrm>
          <a:prstGeom prst="rect">
            <a:avLst/>
          </a:prstGeom>
          <a:noFill/>
        </p:spPr>
        <p:txBody>
          <a:bodyPr wrap="square" anchor="t" lIns="0" rIns="0" tIns="0" bIns="0">
            <a:spAutoFit/>
          </a:bodyPr>
          <a:lstStyle/>
          <a:p>
            <a:pPr algn="l"/>
            <a:r>
              <a:rPr sz="1000" b="1" i="0">
                <a:solidFill>
                  <a:srgbClr val="8A93A6"/>
                </a:solidFill>
                <a:latin typeface="Arial"/>
              </a:rPr>
              <a:t>—</a:t>
            </a:r>
          </a:p>
        </p:txBody>
      </p:sp>
      <p:sp>
        <p:nvSpPr>
          <p:cNvPr id="48" name="TextBox 47"/>
          <p:cNvSpPr txBox="1"/>
          <p:nvPr/>
        </p:nvSpPr>
        <p:spPr>
          <a:xfrm>
            <a:off x="9960864" y="2499360"/>
            <a:ext cx="1219200" cy="91440"/>
          </a:xfrm>
          <a:prstGeom prst="rect">
            <a:avLst/>
          </a:prstGeom>
          <a:noFill/>
        </p:spPr>
        <p:txBody>
          <a:bodyPr wrap="square" anchor="t" lIns="0" rIns="0" tIns="0" bIns="0">
            <a:spAutoFit/>
          </a:bodyPr>
          <a:lstStyle/>
          <a:p>
            <a:pPr algn="l"/>
            <a:r>
              <a:rPr sz="800" b="0" i="1">
                <a:solidFill>
                  <a:srgbClr val="8A93A6"/>
                </a:solidFill>
                <a:latin typeface="Arial"/>
              </a:rPr>
              <a:t>YTD —</a:t>
            </a:r>
          </a:p>
        </p:txBody>
      </p:sp>
      <p:sp>
        <p:nvSpPr>
          <p:cNvPr id="49" name="Isosceles Triangle 48"/>
          <p:cNvSpPr/>
          <p:nvPr/>
        </p:nvSpPr>
        <p:spPr>
          <a:xfrm>
            <a:off x="8564880" y="2688336"/>
            <a:ext cx="182880" cy="85344"/>
          </a:xfrm>
          <a:prstGeom prst="triangle">
            <a:avLst/>
          </a:prstGeom>
          <a:solidFill>
            <a:srgbClr val="EBE9E5"/>
          </a:solidFill>
          <a:ln>
            <a:noFill/>
          </a:ln>
          <a:effectLst/>
        </p:spPr>
        <p:txBody>
          <a:bodyPr rtlCol="0" anchor="ctr"/>
          <a:lstStyle/>
          <a:p>
            <a:pPr algn="ctr"/>
          </a:p>
        </p:txBody>
      </p:sp>
      <p:sp>
        <p:nvSpPr>
          <p:cNvPr id="50" name="Rounded Rectangle 49"/>
          <p:cNvSpPr/>
          <p:nvPr/>
        </p:nvSpPr>
        <p:spPr>
          <a:xfrm>
            <a:off x="6108192" y="2773680"/>
            <a:ext cx="5108448" cy="438912"/>
          </a:xfrm>
          <a:prstGeom prst="roundRect">
            <a:avLst>
              <a:gd name="adj" fmla="val 15000"/>
            </a:avLst>
          </a:prstGeom>
          <a:solidFill>
            <a:srgbClr val="EBE9E5"/>
          </a:solidFill>
          <a:ln>
            <a:noFill/>
          </a:ln>
          <a:effectLst/>
        </p:spPr>
        <p:txBody>
          <a:bodyPr rtlCol="0" anchor="ctr"/>
          <a:lstStyle/>
          <a:p>
            <a:pPr algn="ctr"/>
          </a:p>
        </p:txBody>
      </p:sp>
      <p:sp>
        <p:nvSpPr>
          <p:cNvPr id="51" name="TextBox 50"/>
          <p:cNvSpPr txBox="1"/>
          <p:nvPr/>
        </p:nvSpPr>
        <p:spPr>
          <a:xfrm>
            <a:off x="6230112" y="2816352"/>
            <a:ext cx="4864608" cy="365760"/>
          </a:xfrm>
          <a:prstGeom prst="rect">
            <a:avLst/>
          </a:prstGeom>
          <a:noFill/>
        </p:spPr>
        <p:txBody>
          <a:bodyPr wrap="square" anchor="ctr" lIns="0" rIns="0" tIns="0" bIns="0">
            <a:spAutoFit/>
          </a:bodyPr>
          <a:lstStyle/>
          <a:p>
            <a:pPr algn="l"/>
            <a:r>
              <a:rPr sz="900" b="0" i="0">
                <a:solidFill>
                  <a:srgbClr val="555B66"/>
                </a:solidFill>
                <a:latin typeface="Arial"/>
              </a:rPr>
              <a:t>Le Conversion Tracker est en cours d'implémentation. Les conversions apparaîtront dans ce rapport dès que la remontée des données sera validée.</a:t>
            </a:r>
          </a:p>
        </p:txBody>
      </p:sp>
      <p:sp>
        <p:nvSpPr>
          <p:cNvPr id="52" name="TextBox 51"/>
          <p:cNvSpPr txBox="1"/>
          <p:nvPr/>
        </p:nvSpPr>
        <p:spPr>
          <a:xfrm>
            <a:off x="530352" y="3322320"/>
            <a:ext cx="7315200" cy="182880"/>
          </a:xfrm>
          <a:prstGeom prst="rect">
            <a:avLst/>
          </a:prstGeom>
          <a:noFill/>
        </p:spPr>
        <p:txBody>
          <a:bodyPr wrap="square" anchor="t" lIns="0" rIns="0" tIns="0" bIns="0">
            <a:spAutoFit/>
          </a:bodyPr>
          <a:lstStyle/>
          <a:p>
            <a:pPr algn="l"/>
            <a:r>
              <a:rPr sz="1400" b="1" i="0">
                <a:solidFill>
                  <a:srgbClr val="EE6A2C"/>
                </a:solidFill>
                <a:latin typeface="Arial"/>
              </a:rPr>
              <a:t>INSIGHTS QUALITATIFS · ANALYSE DES RECHERCHES</a:t>
            </a:r>
          </a:p>
        </p:txBody>
      </p:sp>
      <p:sp>
        <p:nvSpPr>
          <p:cNvPr id="53" name="Rectangle 52"/>
          <p:cNvSpPr/>
          <p:nvPr/>
        </p:nvSpPr>
        <p:spPr>
          <a:xfrm>
            <a:off x="530352" y="3584448"/>
            <a:ext cx="3401568" cy="2560320"/>
          </a:xfrm>
          <a:prstGeom prst="rect">
            <a:avLst/>
          </a:prstGeom>
          <a:solidFill>
            <a:srgbClr val="FFFFFF"/>
          </a:solidFill>
          <a:ln>
            <a:noFill/>
          </a:ln>
          <a:effectLst/>
        </p:spPr>
        <p:txBody>
          <a:bodyPr rtlCol="0" anchor="ctr"/>
          <a:lstStyle/>
          <a:p>
            <a:pPr algn="ctr"/>
          </a:p>
        </p:txBody>
      </p:sp>
      <p:sp>
        <p:nvSpPr>
          <p:cNvPr id="54" name="Rectangle 53"/>
          <p:cNvSpPr/>
          <p:nvPr/>
        </p:nvSpPr>
        <p:spPr>
          <a:xfrm>
            <a:off x="4194048" y="3584448"/>
            <a:ext cx="3401568" cy="2560320"/>
          </a:xfrm>
          <a:prstGeom prst="rect">
            <a:avLst/>
          </a:prstGeom>
          <a:solidFill>
            <a:srgbClr val="FFFFFF"/>
          </a:solidFill>
          <a:ln>
            <a:noFill/>
          </a:ln>
          <a:effectLst/>
        </p:spPr>
        <p:txBody>
          <a:bodyPr rtlCol="0" anchor="ctr"/>
          <a:lstStyle/>
          <a:p>
            <a:pPr algn="ctr"/>
          </a:p>
        </p:txBody>
      </p:sp>
      <p:sp>
        <p:nvSpPr>
          <p:cNvPr id="55" name="Rectangle 54"/>
          <p:cNvSpPr/>
          <p:nvPr/>
        </p:nvSpPr>
        <p:spPr>
          <a:xfrm>
            <a:off x="7857744" y="3584448"/>
            <a:ext cx="3401568" cy="2560320"/>
          </a:xfrm>
          <a:prstGeom prst="rect">
            <a:avLst/>
          </a:prstGeom>
          <a:solidFill>
            <a:srgbClr val="FFFFFF"/>
          </a:solidFill>
          <a:ln>
            <a:noFill/>
          </a:ln>
          <a:effectLst/>
        </p:spPr>
        <p:txBody>
          <a:bodyPr rtlCol="0" anchor="ctr"/>
          <a:lstStyle/>
          <a:p>
            <a:pPr algn="ctr"/>
          </a:p>
        </p:txBody>
      </p:sp>
      <p:sp>
        <p:nvSpPr>
          <p:cNvPr id="56" name="TextBox 55"/>
          <p:cNvSpPr txBox="1"/>
          <p:nvPr/>
        </p:nvSpPr>
        <p:spPr>
          <a:xfrm>
            <a:off x="774192" y="3767328"/>
            <a:ext cx="2926080" cy="152400"/>
          </a:xfrm>
          <a:prstGeom prst="rect">
            <a:avLst/>
          </a:prstGeom>
          <a:noFill/>
        </p:spPr>
        <p:txBody>
          <a:bodyPr wrap="square" anchor="t" lIns="0" rIns="0" tIns="0" bIns="0">
            <a:spAutoFit/>
          </a:bodyPr>
          <a:lstStyle/>
          <a:p>
            <a:pPr algn="l"/>
            <a:r>
              <a:rPr sz="1300" b="1" i="0">
                <a:solidFill>
                  <a:srgbClr val="555B66"/>
                </a:solidFill>
                <a:latin typeface="Arial"/>
              </a:rPr>
              <a:t>CHAMP LEXICAL</a:t>
            </a:r>
          </a:p>
        </p:txBody>
      </p:sp>
      <p:sp>
        <p:nvSpPr>
          <p:cNvPr id="57" name="TextBox 56"/>
          <p:cNvSpPr txBox="1"/>
          <p:nvPr/>
        </p:nvSpPr>
        <p:spPr>
          <a:xfrm>
            <a:off x="774192" y="3992880"/>
            <a:ext cx="2926080" cy="121920"/>
          </a:xfrm>
          <a:prstGeom prst="rect">
            <a:avLst/>
          </a:prstGeom>
          <a:noFill/>
        </p:spPr>
        <p:txBody>
          <a:bodyPr wrap="square" anchor="t" lIns="0" rIns="0" tIns="0" bIns="0">
            <a:spAutoFit/>
          </a:bodyPr>
          <a:lstStyle/>
          <a:p>
            <a:pPr algn="l"/>
            <a:r>
              <a:rPr sz="1000" b="0" i="1">
                <a:solidFill>
                  <a:srgbClr val="8A93A6"/>
                </a:solidFill>
                <a:latin typeface="Arial"/>
              </a:rPr>
              <a:t>Termes les plus fréquents</a:t>
            </a:r>
          </a:p>
        </p:txBody>
      </p:sp>
      <p:sp>
        <p:nvSpPr>
          <p:cNvPr id="58" name="TextBox 57"/>
          <p:cNvSpPr txBox="1"/>
          <p:nvPr/>
        </p:nvSpPr>
        <p:spPr>
          <a:xfrm>
            <a:off x="774192" y="4236720"/>
            <a:ext cx="2987040" cy="1828800"/>
          </a:xfrm>
          <a:prstGeom prst="rect">
            <a:avLst/>
          </a:prstGeom>
          <a:noFill/>
        </p:spPr>
        <p:txBody>
          <a:bodyPr wrap="square" anchor="t" lIns="0" rIns="0" tIns="0" bIns="0">
            <a:spAutoFit/>
          </a:bodyPr>
          <a:lstStyle/>
          <a:p>
            <a:pPr algn="l">
              <a:spcAft>
                <a:spcPts val="500"/>
              </a:spcAft>
            </a:pPr>
            <a:r>
              <a:rPr sz="2000" b="1" i="0">
                <a:solidFill>
                  <a:srgbClr val="EE6A2C"/>
                </a:solidFill>
                <a:latin typeface="Arial"/>
              </a:rPr>
              <a:t>Jordan</a:t>
            </a:r>
            <a:r>
              <a:rPr sz="1800" b="1" i="0">
                <a:solidFill>
                  <a:srgbClr val="111111"/>
                </a:solidFill>
                <a:latin typeface="Arial"/>
              </a:rPr>
              <a:t>   Nike</a:t>
            </a:r>
          </a:p>
          <a:p>
            <a:pPr algn="l">
              <a:spcAft>
                <a:spcPts val="500"/>
              </a:spcAft>
            </a:pPr>
            <a:r>
              <a:rPr sz="1500" b="1" i="0">
                <a:solidFill>
                  <a:srgbClr val="111111"/>
                </a:solidFill>
                <a:latin typeface="Arial"/>
              </a:rPr>
              <a:t>genouillères</a:t>
            </a:r>
            <a:r>
              <a:rPr sz="1400" b="1" i="0">
                <a:solidFill>
                  <a:srgbClr val="111111"/>
                </a:solidFill>
                <a:latin typeface="Arial"/>
              </a:rPr>
              <a:t>   ballon de basket</a:t>
            </a:r>
          </a:p>
          <a:p>
            <a:pPr algn="l">
              <a:spcAft>
                <a:spcPts val="500"/>
              </a:spcAft>
            </a:pPr>
            <a:r>
              <a:rPr sz="1300" b="1" i="0">
                <a:solidFill>
                  <a:srgbClr val="EE6A2C"/>
                </a:solidFill>
                <a:latin typeface="Arial"/>
              </a:rPr>
              <a:t>maillots NBA</a:t>
            </a:r>
            <a:r>
              <a:rPr sz="1200" b="0" i="0">
                <a:solidFill>
                  <a:srgbClr val="111111"/>
                </a:solidFill>
                <a:latin typeface="Arial"/>
              </a:rPr>
              <a:t>   survêtements</a:t>
            </a:r>
          </a:p>
          <a:p>
            <a:pPr algn="l">
              <a:spcAft>
                <a:spcPts val="500"/>
              </a:spcAft>
            </a:pPr>
            <a:r>
              <a:rPr sz="1100" b="1" i="0">
                <a:solidFill>
                  <a:srgbClr val="EE6A2C"/>
                </a:solidFill>
                <a:latin typeface="Arial"/>
              </a:rPr>
              <a:t>Air Force 1</a:t>
            </a:r>
            <a:r>
              <a:rPr sz="1100" b="1" i="0">
                <a:solidFill>
                  <a:srgbClr val="111111"/>
                </a:solidFill>
                <a:latin typeface="Arial"/>
              </a:rPr>
              <a:t>   short de compression</a:t>
            </a:r>
          </a:p>
          <a:p>
            <a:pPr algn="l">
              <a:spcAft>
                <a:spcPts val="500"/>
              </a:spcAft>
            </a:pPr>
            <a:r>
              <a:rPr sz="1100" b="1" i="0">
                <a:solidFill>
                  <a:srgbClr val="111111"/>
                </a:solidFill>
                <a:latin typeface="Arial"/>
              </a:rPr>
              <a:t>Équipe de France</a:t>
            </a:r>
            <a:r>
              <a:rPr sz="1100" b="0" i="0">
                <a:solidFill>
                  <a:srgbClr val="111111"/>
                </a:solidFill>
                <a:latin typeface="Arial"/>
              </a:rPr>
              <a:t>   Paris Basketball</a:t>
            </a:r>
            <a:r>
              <a:rPr sz="1100" b="1" i="0">
                <a:solidFill>
                  <a:srgbClr val="EE6A2C"/>
                </a:solidFill>
                <a:latin typeface="Arial"/>
              </a:rPr>
              <a:t>   McDavid</a:t>
            </a:r>
          </a:p>
          <a:p>
            <a:pPr algn="l">
              <a:spcAft>
                <a:spcPts val="500"/>
              </a:spcAft>
            </a:pPr>
            <a:r>
              <a:rPr sz="1100" b="1" i="0">
                <a:solidFill>
                  <a:srgbClr val="111111"/>
                </a:solidFill>
                <a:latin typeface="Arial"/>
              </a:rPr>
              <a:t>enfant</a:t>
            </a:r>
            <a:r>
              <a:rPr sz="1100" b="0" i="0">
                <a:solidFill>
                  <a:srgbClr val="111111"/>
                </a:solidFill>
                <a:latin typeface="Arial"/>
              </a:rPr>
              <a:t>   sneakers</a:t>
            </a:r>
          </a:p>
        </p:txBody>
      </p:sp>
      <p:sp>
        <p:nvSpPr>
          <p:cNvPr id="59" name="TextBox 58"/>
          <p:cNvSpPr txBox="1"/>
          <p:nvPr/>
        </p:nvSpPr>
        <p:spPr>
          <a:xfrm>
            <a:off x="4437888" y="3767328"/>
            <a:ext cx="2926080" cy="152400"/>
          </a:xfrm>
          <a:prstGeom prst="rect">
            <a:avLst/>
          </a:prstGeom>
          <a:noFill/>
        </p:spPr>
        <p:txBody>
          <a:bodyPr wrap="square" anchor="t" lIns="0" rIns="0" tIns="0" bIns="0">
            <a:spAutoFit/>
          </a:bodyPr>
          <a:lstStyle/>
          <a:p>
            <a:pPr algn="l"/>
            <a:r>
              <a:rPr sz="1300" b="1" i="0">
                <a:solidFill>
                  <a:srgbClr val="555B66"/>
                </a:solidFill>
                <a:latin typeface="Arial"/>
              </a:rPr>
              <a:t>EXEMPLES DE REQUÊTES</a:t>
            </a:r>
          </a:p>
        </p:txBody>
      </p:sp>
      <p:sp>
        <p:nvSpPr>
          <p:cNvPr id="60" name="TextBox 59"/>
          <p:cNvSpPr txBox="1"/>
          <p:nvPr/>
        </p:nvSpPr>
        <p:spPr>
          <a:xfrm>
            <a:off x="4437888" y="3992880"/>
            <a:ext cx="2926080" cy="121920"/>
          </a:xfrm>
          <a:prstGeom prst="rect">
            <a:avLst/>
          </a:prstGeom>
          <a:noFill/>
        </p:spPr>
        <p:txBody>
          <a:bodyPr wrap="square" anchor="t" lIns="0" rIns="0" tIns="0" bIns="0">
            <a:spAutoFit/>
          </a:bodyPr>
          <a:lstStyle/>
          <a:p>
            <a:pPr algn="l"/>
            <a:r>
              <a:rPr sz="1000" b="0" i="1">
                <a:solidFill>
                  <a:srgbClr val="8A93A6"/>
                </a:solidFill>
                <a:latin typeface="Arial"/>
              </a:rPr>
              <a:t>Questions posées aux IA</a:t>
            </a:r>
          </a:p>
        </p:txBody>
      </p:sp>
      <p:sp>
        <p:nvSpPr>
          <p:cNvPr id="61" name="TextBox 60"/>
          <p:cNvSpPr txBox="1"/>
          <p:nvPr/>
        </p:nvSpPr>
        <p:spPr>
          <a:xfrm>
            <a:off x="4437888" y="4267200"/>
            <a:ext cx="2913888" cy="304800"/>
          </a:xfrm>
          <a:prstGeom prst="rect">
            <a:avLst/>
          </a:prstGeom>
          <a:noFill/>
        </p:spPr>
        <p:txBody>
          <a:bodyPr wrap="square" anchor="ctr" lIns="0" rIns="0" tIns="0" bIns="0">
            <a:spAutoFit/>
          </a:bodyPr>
          <a:lstStyle/>
          <a:p>
            <a:pPr algn="l"/>
            <a:r>
              <a:rPr sz="1000" b="0" i="0">
                <a:solidFill>
                  <a:srgbClr val="111111"/>
                </a:solidFill>
                <a:latin typeface="Arial"/>
              </a:rPr>
              <a:t>Où acheter des Adidas Samba ou des New Balance 530 ?</a:t>
            </a:r>
          </a:p>
        </p:txBody>
      </p:sp>
      <p:sp>
        <p:nvSpPr>
          <p:cNvPr id="62" name="Rectangle 61"/>
          <p:cNvSpPr/>
          <p:nvPr/>
        </p:nvSpPr>
        <p:spPr>
          <a:xfrm>
            <a:off x="4437888" y="4602480"/>
            <a:ext cx="2913888" cy="6096"/>
          </a:xfrm>
          <a:prstGeom prst="rect">
            <a:avLst/>
          </a:prstGeom>
          <a:solidFill>
            <a:srgbClr val="E6E3DE"/>
          </a:solidFill>
          <a:ln>
            <a:noFill/>
          </a:ln>
          <a:effectLst/>
        </p:spPr>
        <p:txBody>
          <a:bodyPr rtlCol="0" anchor="ctr"/>
          <a:lstStyle/>
          <a:p>
            <a:pPr algn="ctr"/>
          </a:p>
        </p:txBody>
      </p:sp>
      <p:sp>
        <p:nvSpPr>
          <p:cNvPr id="63" name="TextBox 62"/>
          <p:cNvSpPr txBox="1"/>
          <p:nvPr/>
        </p:nvSpPr>
        <p:spPr>
          <a:xfrm>
            <a:off x="4437888" y="4632960"/>
            <a:ext cx="2913888" cy="304800"/>
          </a:xfrm>
          <a:prstGeom prst="rect">
            <a:avLst/>
          </a:prstGeom>
          <a:noFill/>
        </p:spPr>
        <p:txBody>
          <a:bodyPr wrap="square" anchor="ctr" lIns="0" rIns="0" tIns="0" bIns="0">
            <a:spAutoFit/>
          </a:bodyPr>
          <a:lstStyle/>
          <a:p>
            <a:pPr algn="l"/>
            <a:r>
              <a:rPr sz="1000" b="0" i="0">
                <a:solidFill>
                  <a:srgbClr val="111111"/>
                </a:solidFill>
                <a:latin typeface="Arial"/>
              </a:rPr>
              <a:t>Quel modèle choisir entre Jordan 4 et Nike Air Max ?</a:t>
            </a:r>
          </a:p>
        </p:txBody>
      </p:sp>
      <p:sp>
        <p:nvSpPr>
          <p:cNvPr id="64" name="Rectangle 63"/>
          <p:cNvSpPr/>
          <p:nvPr/>
        </p:nvSpPr>
        <p:spPr>
          <a:xfrm>
            <a:off x="4437888" y="4968240"/>
            <a:ext cx="2913888" cy="6096"/>
          </a:xfrm>
          <a:prstGeom prst="rect">
            <a:avLst/>
          </a:prstGeom>
          <a:solidFill>
            <a:srgbClr val="E6E3DE"/>
          </a:solidFill>
          <a:ln>
            <a:noFill/>
          </a:ln>
          <a:effectLst/>
        </p:spPr>
        <p:txBody>
          <a:bodyPr rtlCol="0" anchor="ctr"/>
          <a:lstStyle/>
          <a:p>
            <a:pPr algn="ctr"/>
          </a:p>
        </p:txBody>
      </p:sp>
      <p:sp>
        <p:nvSpPr>
          <p:cNvPr id="65" name="TextBox 64"/>
          <p:cNvSpPr txBox="1"/>
          <p:nvPr/>
        </p:nvSpPr>
        <p:spPr>
          <a:xfrm>
            <a:off x="4437888" y="4998720"/>
            <a:ext cx="2913888" cy="304800"/>
          </a:xfrm>
          <a:prstGeom prst="rect">
            <a:avLst/>
          </a:prstGeom>
          <a:noFill/>
        </p:spPr>
        <p:txBody>
          <a:bodyPr wrap="square" anchor="ctr" lIns="0" rIns="0" tIns="0" bIns="0">
            <a:spAutoFit/>
          </a:bodyPr>
          <a:lstStyle/>
          <a:p>
            <a:pPr algn="l"/>
            <a:r>
              <a:rPr sz="1000" b="0" i="0">
                <a:solidFill>
                  <a:srgbClr val="111111"/>
                </a:solidFill>
                <a:latin typeface="Arial"/>
              </a:rPr>
              <a:t>Où trouver un maillot NBA officiel ou vintage ?</a:t>
            </a:r>
          </a:p>
        </p:txBody>
      </p:sp>
      <p:sp>
        <p:nvSpPr>
          <p:cNvPr id="66" name="Rectangle 65"/>
          <p:cNvSpPr/>
          <p:nvPr/>
        </p:nvSpPr>
        <p:spPr>
          <a:xfrm>
            <a:off x="4437888" y="5334000"/>
            <a:ext cx="2913888" cy="6096"/>
          </a:xfrm>
          <a:prstGeom prst="rect">
            <a:avLst/>
          </a:prstGeom>
          <a:solidFill>
            <a:srgbClr val="E6E3DE"/>
          </a:solidFill>
          <a:ln>
            <a:noFill/>
          </a:ln>
          <a:effectLst/>
        </p:spPr>
        <p:txBody>
          <a:bodyPr rtlCol="0" anchor="ctr"/>
          <a:lstStyle/>
          <a:p>
            <a:pPr algn="ctr"/>
          </a:p>
        </p:txBody>
      </p:sp>
      <p:sp>
        <p:nvSpPr>
          <p:cNvPr id="67" name="TextBox 66"/>
          <p:cNvSpPr txBox="1"/>
          <p:nvPr/>
        </p:nvSpPr>
        <p:spPr>
          <a:xfrm>
            <a:off x="4437888" y="5364480"/>
            <a:ext cx="2913888" cy="304800"/>
          </a:xfrm>
          <a:prstGeom prst="rect">
            <a:avLst/>
          </a:prstGeom>
          <a:noFill/>
        </p:spPr>
        <p:txBody>
          <a:bodyPr wrap="square" anchor="ctr" lIns="0" rIns="0" tIns="0" bIns="0">
            <a:spAutoFit/>
          </a:bodyPr>
          <a:lstStyle/>
          <a:p>
            <a:pPr algn="l"/>
            <a:r>
              <a:rPr sz="1000" b="0" i="0">
                <a:solidFill>
                  <a:srgbClr val="111111"/>
                </a:solidFill>
                <a:latin typeface="Arial"/>
              </a:rPr>
              <a:t>Où acheter le maillot de Wembanyama aux Spurs ?</a:t>
            </a:r>
          </a:p>
        </p:txBody>
      </p:sp>
      <p:sp>
        <p:nvSpPr>
          <p:cNvPr id="68" name="Rectangle 67"/>
          <p:cNvSpPr/>
          <p:nvPr/>
        </p:nvSpPr>
        <p:spPr>
          <a:xfrm>
            <a:off x="4437888" y="5699760"/>
            <a:ext cx="2913888" cy="6096"/>
          </a:xfrm>
          <a:prstGeom prst="rect">
            <a:avLst/>
          </a:prstGeom>
          <a:solidFill>
            <a:srgbClr val="E6E3DE"/>
          </a:solidFill>
          <a:ln>
            <a:noFill/>
          </a:ln>
          <a:effectLst/>
        </p:spPr>
        <p:txBody>
          <a:bodyPr rtlCol="0" anchor="ctr"/>
          <a:lstStyle/>
          <a:p>
            <a:pPr algn="ctr"/>
          </a:p>
        </p:txBody>
      </p:sp>
      <p:sp>
        <p:nvSpPr>
          <p:cNvPr id="69" name="TextBox 68"/>
          <p:cNvSpPr txBox="1"/>
          <p:nvPr/>
        </p:nvSpPr>
        <p:spPr>
          <a:xfrm>
            <a:off x="4437888" y="5730240"/>
            <a:ext cx="2913888" cy="304800"/>
          </a:xfrm>
          <a:prstGeom prst="rect">
            <a:avLst/>
          </a:prstGeom>
          <a:noFill/>
        </p:spPr>
        <p:txBody>
          <a:bodyPr wrap="square" anchor="ctr" lIns="0" rIns="0" tIns="0" bIns="0">
            <a:spAutoFit/>
          </a:bodyPr>
          <a:lstStyle/>
          <a:p>
            <a:pPr algn="l"/>
            <a:r>
              <a:rPr sz="1000" b="0" i="0">
                <a:solidFill>
                  <a:srgbClr val="111111"/>
                </a:solidFill>
                <a:latin typeface="Arial"/>
              </a:rPr>
              <a:t>Quel ballon et quelle tenue de basket pour un enfant ?</a:t>
            </a:r>
          </a:p>
        </p:txBody>
      </p:sp>
      <p:sp>
        <p:nvSpPr>
          <p:cNvPr id="70" name="TextBox 69"/>
          <p:cNvSpPr txBox="1"/>
          <p:nvPr/>
        </p:nvSpPr>
        <p:spPr>
          <a:xfrm>
            <a:off x="8101584" y="3767328"/>
            <a:ext cx="2926080" cy="152400"/>
          </a:xfrm>
          <a:prstGeom prst="rect">
            <a:avLst/>
          </a:prstGeom>
          <a:noFill/>
        </p:spPr>
        <p:txBody>
          <a:bodyPr wrap="square" anchor="t" lIns="0" rIns="0" tIns="0" bIns="0">
            <a:spAutoFit/>
          </a:bodyPr>
          <a:lstStyle/>
          <a:p>
            <a:pPr algn="l"/>
            <a:r>
              <a:rPr sz="1300" b="1" i="0">
                <a:solidFill>
                  <a:srgbClr val="555B66"/>
                </a:solidFill>
                <a:latin typeface="Arial"/>
              </a:rPr>
              <a:t>CATÉGORIES DE PRODUITS</a:t>
            </a:r>
          </a:p>
        </p:txBody>
      </p:sp>
      <p:sp>
        <p:nvSpPr>
          <p:cNvPr id="71" name="TextBox 70"/>
          <p:cNvSpPr txBox="1"/>
          <p:nvPr/>
        </p:nvSpPr>
        <p:spPr>
          <a:xfrm>
            <a:off x="8101584" y="3992880"/>
            <a:ext cx="2926080" cy="121920"/>
          </a:xfrm>
          <a:prstGeom prst="rect">
            <a:avLst/>
          </a:prstGeom>
          <a:noFill/>
        </p:spPr>
        <p:txBody>
          <a:bodyPr wrap="square" anchor="t" lIns="0" rIns="0" tIns="0" bIns="0">
            <a:spAutoFit/>
          </a:bodyPr>
          <a:lstStyle/>
          <a:p>
            <a:pPr algn="l"/>
            <a:r>
              <a:rPr sz="1000" b="0" i="1">
                <a:solidFill>
                  <a:srgbClr val="8A93A6"/>
                </a:solidFill>
                <a:latin typeface="Arial"/>
              </a:rPr>
              <a:t>Répartition des requêtes</a:t>
            </a:r>
          </a:p>
        </p:txBody>
      </p:sp>
      <p:sp>
        <p:nvSpPr>
          <p:cNvPr id="72" name="TextBox 71"/>
          <p:cNvSpPr txBox="1"/>
          <p:nvPr/>
        </p:nvSpPr>
        <p:spPr>
          <a:xfrm>
            <a:off x="8101584" y="4267200"/>
            <a:ext cx="2194560" cy="134112"/>
          </a:xfrm>
          <a:prstGeom prst="rect">
            <a:avLst/>
          </a:prstGeom>
          <a:noFill/>
        </p:spPr>
        <p:txBody>
          <a:bodyPr wrap="square" anchor="t" lIns="0" rIns="0" tIns="0" bIns="0">
            <a:spAutoFit/>
          </a:bodyPr>
          <a:lstStyle/>
          <a:p>
            <a:pPr algn="l"/>
            <a:r>
              <a:rPr sz="1000" b="0" i="0">
                <a:solidFill>
                  <a:srgbClr val="111111"/>
                </a:solidFill>
                <a:latin typeface="Arial"/>
              </a:rPr>
              <a:t>Chaussures et sneakers</a:t>
            </a:r>
          </a:p>
        </p:txBody>
      </p:sp>
      <p:sp>
        <p:nvSpPr>
          <p:cNvPr id="73" name="Rectangle 72"/>
          <p:cNvSpPr/>
          <p:nvPr/>
        </p:nvSpPr>
        <p:spPr>
          <a:xfrm>
            <a:off x="8101584" y="4419600"/>
            <a:ext cx="2011680" cy="54864"/>
          </a:xfrm>
          <a:prstGeom prst="rect">
            <a:avLst/>
          </a:prstGeom>
          <a:solidFill>
            <a:srgbClr val="ECEAE5"/>
          </a:solidFill>
          <a:ln>
            <a:noFill/>
          </a:ln>
          <a:effectLst/>
        </p:spPr>
        <p:txBody>
          <a:bodyPr rtlCol="0" anchor="ctr"/>
          <a:lstStyle/>
          <a:p>
            <a:pPr algn="ctr"/>
          </a:p>
        </p:txBody>
      </p:sp>
      <p:sp>
        <p:nvSpPr>
          <p:cNvPr id="74" name="Rectangle 73"/>
          <p:cNvSpPr/>
          <p:nvPr/>
        </p:nvSpPr>
        <p:spPr>
          <a:xfrm>
            <a:off x="8101584" y="4419600"/>
            <a:ext cx="281635" cy="54864"/>
          </a:xfrm>
          <a:prstGeom prst="rect">
            <a:avLst/>
          </a:prstGeom>
          <a:solidFill>
            <a:srgbClr val="9AA3B2"/>
          </a:solidFill>
          <a:ln>
            <a:noFill/>
          </a:ln>
          <a:effectLst/>
        </p:spPr>
        <p:txBody>
          <a:bodyPr rtlCol="0" anchor="ctr"/>
          <a:lstStyle/>
          <a:p>
            <a:pPr algn="ctr"/>
          </a:p>
        </p:txBody>
      </p:sp>
      <p:sp>
        <p:nvSpPr>
          <p:cNvPr id="75" name="TextBox 74"/>
          <p:cNvSpPr txBox="1"/>
          <p:nvPr/>
        </p:nvSpPr>
        <p:spPr>
          <a:xfrm>
            <a:off x="10241280" y="4340352"/>
            <a:ext cx="792480" cy="182880"/>
          </a:xfrm>
          <a:prstGeom prst="rect">
            <a:avLst/>
          </a:prstGeom>
          <a:noFill/>
        </p:spPr>
        <p:txBody>
          <a:bodyPr wrap="square" anchor="ctr" lIns="0" rIns="0" tIns="0" bIns="0">
            <a:spAutoFit/>
          </a:bodyPr>
          <a:lstStyle/>
          <a:p>
            <a:pPr algn="r"/>
            <a:r>
              <a:rPr sz="1300" b="1" i="0">
                <a:solidFill>
                  <a:srgbClr val="111111"/>
                </a:solidFill>
                <a:latin typeface="Arial"/>
              </a:rPr>
              <a:t>14 %</a:t>
            </a:r>
          </a:p>
        </p:txBody>
      </p:sp>
      <p:sp>
        <p:nvSpPr>
          <p:cNvPr id="76" name="TextBox 75"/>
          <p:cNvSpPr txBox="1"/>
          <p:nvPr/>
        </p:nvSpPr>
        <p:spPr>
          <a:xfrm>
            <a:off x="8101584" y="4584192"/>
            <a:ext cx="2194560" cy="134112"/>
          </a:xfrm>
          <a:prstGeom prst="rect">
            <a:avLst/>
          </a:prstGeom>
          <a:noFill/>
        </p:spPr>
        <p:txBody>
          <a:bodyPr wrap="square" anchor="t" lIns="0" rIns="0" tIns="0" bIns="0">
            <a:spAutoFit/>
          </a:bodyPr>
          <a:lstStyle/>
          <a:p>
            <a:pPr algn="l"/>
            <a:r>
              <a:rPr sz="1000" b="0" i="0">
                <a:solidFill>
                  <a:srgbClr val="111111"/>
                </a:solidFill>
                <a:latin typeface="Arial"/>
              </a:rPr>
              <a:t>Équipement de basketball</a:t>
            </a:r>
          </a:p>
        </p:txBody>
      </p:sp>
      <p:sp>
        <p:nvSpPr>
          <p:cNvPr id="77" name="Rectangle 76"/>
          <p:cNvSpPr/>
          <p:nvPr/>
        </p:nvSpPr>
        <p:spPr>
          <a:xfrm>
            <a:off x="8101584" y="4736592"/>
            <a:ext cx="2011680" cy="54864"/>
          </a:xfrm>
          <a:prstGeom prst="rect">
            <a:avLst/>
          </a:prstGeom>
          <a:solidFill>
            <a:srgbClr val="ECEAE5"/>
          </a:solidFill>
          <a:ln>
            <a:noFill/>
          </a:ln>
          <a:effectLst/>
        </p:spPr>
        <p:txBody>
          <a:bodyPr rtlCol="0" anchor="ctr"/>
          <a:lstStyle/>
          <a:p>
            <a:pPr algn="ctr"/>
          </a:p>
        </p:txBody>
      </p:sp>
      <p:sp>
        <p:nvSpPr>
          <p:cNvPr id="78" name="Rectangle 77"/>
          <p:cNvSpPr/>
          <p:nvPr/>
        </p:nvSpPr>
        <p:spPr>
          <a:xfrm>
            <a:off x="8101584" y="4736592"/>
            <a:ext cx="945489" cy="54864"/>
          </a:xfrm>
          <a:prstGeom prst="rect">
            <a:avLst/>
          </a:prstGeom>
          <a:solidFill>
            <a:srgbClr val="EE6A2C"/>
          </a:solidFill>
          <a:ln>
            <a:noFill/>
          </a:ln>
          <a:effectLst/>
        </p:spPr>
        <p:txBody>
          <a:bodyPr rtlCol="0" anchor="ctr"/>
          <a:lstStyle/>
          <a:p>
            <a:pPr algn="ctr"/>
          </a:p>
        </p:txBody>
      </p:sp>
      <p:sp>
        <p:nvSpPr>
          <p:cNvPr id="79" name="TextBox 78"/>
          <p:cNvSpPr txBox="1"/>
          <p:nvPr/>
        </p:nvSpPr>
        <p:spPr>
          <a:xfrm>
            <a:off x="10241280" y="4657344"/>
            <a:ext cx="792480" cy="182880"/>
          </a:xfrm>
          <a:prstGeom prst="rect">
            <a:avLst/>
          </a:prstGeom>
          <a:noFill/>
        </p:spPr>
        <p:txBody>
          <a:bodyPr wrap="square" anchor="ctr" lIns="0" rIns="0" tIns="0" bIns="0">
            <a:spAutoFit/>
          </a:bodyPr>
          <a:lstStyle/>
          <a:p>
            <a:pPr algn="r"/>
            <a:r>
              <a:rPr sz="1300" b="1" i="0">
                <a:solidFill>
                  <a:srgbClr val="111111"/>
                </a:solidFill>
                <a:latin typeface="Arial"/>
              </a:rPr>
              <a:t>47 %</a:t>
            </a:r>
          </a:p>
        </p:txBody>
      </p:sp>
      <p:sp>
        <p:nvSpPr>
          <p:cNvPr id="80" name="TextBox 79"/>
          <p:cNvSpPr txBox="1"/>
          <p:nvPr/>
        </p:nvSpPr>
        <p:spPr>
          <a:xfrm>
            <a:off x="8101584" y="4901184"/>
            <a:ext cx="2194560" cy="134112"/>
          </a:xfrm>
          <a:prstGeom prst="rect">
            <a:avLst/>
          </a:prstGeom>
          <a:noFill/>
        </p:spPr>
        <p:txBody>
          <a:bodyPr wrap="square" anchor="t" lIns="0" rIns="0" tIns="0" bIns="0">
            <a:spAutoFit/>
          </a:bodyPr>
          <a:lstStyle/>
          <a:p>
            <a:pPr algn="l"/>
            <a:r>
              <a:rPr sz="1000" b="0" i="0">
                <a:solidFill>
                  <a:srgbClr val="111111"/>
                </a:solidFill>
                <a:latin typeface="Arial"/>
              </a:rPr>
              <a:t>Maillots et fanwear NBA</a:t>
            </a:r>
          </a:p>
        </p:txBody>
      </p:sp>
      <p:sp>
        <p:nvSpPr>
          <p:cNvPr id="81" name="Rectangle 80"/>
          <p:cNvSpPr/>
          <p:nvPr/>
        </p:nvSpPr>
        <p:spPr>
          <a:xfrm>
            <a:off x="8101584" y="5053584"/>
            <a:ext cx="2011680" cy="54864"/>
          </a:xfrm>
          <a:prstGeom prst="rect">
            <a:avLst/>
          </a:prstGeom>
          <a:solidFill>
            <a:srgbClr val="ECEAE5"/>
          </a:solidFill>
          <a:ln>
            <a:noFill/>
          </a:ln>
          <a:effectLst/>
        </p:spPr>
        <p:txBody>
          <a:bodyPr rtlCol="0" anchor="ctr"/>
          <a:lstStyle/>
          <a:p>
            <a:pPr algn="ctr"/>
          </a:p>
        </p:txBody>
      </p:sp>
      <p:sp>
        <p:nvSpPr>
          <p:cNvPr id="82" name="Rectangle 81"/>
          <p:cNvSpPr/>
          <p:nvPr/>
        </p:nvSpPr>
        <p:spPr>
          <a:xfrm>
            <a:off x="8101584" y="5053584"/>
            <a:ext cx="181051" cy="54864"/>
          </a:xfrm>
          <a:prstGeom prst="rect">
            <a:avLst/>
          </a:prstGeom>
          <a:solidFill>
            <a:srgbClr val="9AA3B2"/>
          </a:solidFill>
          <a:ln>
            <a:noFill/>
          </a:ln>
          <a:effectLst/>
        </p:spPr>
        <p:txBody>
          <a:bodyPr rtlCol="0" anchor="ctr"/>
          <a:lstStyle/>
          <a:p>
            <a:pPr algn="ctr"/>
          </a:p>
        </p:txBody>
      </p:sp>
      <p:sp>
        <p:nvSpPr>
          <p:cNvPr id="83" name="TextBox 82"/>
          <p:cNvSpPr txBox="1"/>
          <p:nvPr/>
        </p:nvSpPr>
        <p:spPr>
          <a:xfrm>
            <a:off x="10241280" y="4974336"/>
            <a:ext cx="792480" cy="182880"/>
          </a:xfrm>
          <a:prstGeom prst="rect">
            <a:avLst/>
          </a:prstGeom>
          <a:noFill/>
        </p:spPr>
        <p:txBody>
          <a:bodyPr wrap="square" anchor="ctr" lIns="0" rIns="0" tIns="0" bIns="0">
            <a:spAutoFit/>
          </a:bodyPr>
          <a:lstStyle/>
          <a:p>
            <a:pPr algn="r"/>
            <a:r>
              <a:rPr sz="1300" b="1" i="0">
                <a:solidFill>
                  <a:srgbClr val="111111"/>
                </a:solidFill>
                <a:latin typeface="Arial"/>
              </a:rPr>
              <a:t>9 %</a:t>
            </a:r>
          </a:p>
        </p:txBody>
      </p:sp>
      <p:sp>
        <p:nvSpPr>
          <p:cNvPr id="84" name="TextBox 83"/>
          <p:cNvSpPr txBox="1"/>
          <p:nvPr/>
        </p:nvSpPr>
        <p:spPr>
          <a:xfrm>
            <a:off x="8101584" y="5218176"/>
            <a:ext cx="2194560" cy="134112"/>
          </a:xfrm>
          <a:prstGeom prst="rect">
            <a:avLst/>
          </a:prstGeom>
          <a:noFill/>
        </p:spPr>
        <p:txBody>
          <a:bodyPr wrap="square" anchor="t" lIns="0" rIns="0" tIns="0" bIns="0">
            <a:spAutoFit/>
          </a:bodyPr>
          <a:lstStyle/>
          <a:p>
            <a:pPr algn="l"/>
            <a:r>
              <a:rPr sz="1000" b="0" i="0">
                <a:solidFill>
                  <a:srgbClr val="111111"/>
                </a:solidFill>
                <a:latin typeface="Arial"/>
              </a:rPr>
              <a:t>Vêtements de basketball</a:t>
            </a:r>
          </a:p>
        </p:txBody>
      </p:sp>
      <p:sp>
        <p:nvSpPr>
          <p:cNvPr id="85" name="Rectangle 84"/>
          <p:cNvSpPr/>
          <p:nvPr/>
        </p:nvSpPr>
        <p:spPr>
          <a:xfrm>
            <a:off x="8101584" y="5370576"/>
            <a:ext cx="2011680" cy="54864"/>
          </a:xfrm>
          <a:prstGeom prst="rect">
            <a:avLst/>
          </a:prstGeom>
          <a:solidFill>
            <a:srgbClr val="ECEAE5"/>
          </a:solidFill>
          <a:ln>
            <a:noFill/>
          </a:ln>
          <a:effectLst/>
        </p:spPr>
        <p:txBody>
          <a:bodyPr rtlCol="0" anchor="ctr"/>
          <a:lstStyle/>
          <a:p>
            <a:pPr algn="ctr"/>
          </a:p>
        </p:txBody>
      </p:sp>
      <p:sp>
        <p:nvSpPr>
          <p:cNvPr id="86" name="Rectangle 85"/>
          <p:cNvSpPr/>
          <p:nvPr/>
        </p:nvSpPr>
        <p:spPr>
          <a:xfrm>
            <a:off x="8101584" y="5370576"/>
            <a:ext cx="603504" cy="54864"/>
          </a:xfrm>
          <a:prstGeom prst="rect">
            <a:avLst/>
          </a:prstGeom>
          <a:solidFill>
            <a:srgbClr val="9AA3B2"/>
          </a:solidFill>
          <a:ln>
            <a:noFill/>
          </a:ln>
          <a:effectLst/>
        </p:spPr>
        <p:txBody>
          <a:bodyPr rtlCol="0" anchor="ctr"/>
          <a:lstStyle/>
          <a:p>
            <a:pPr algn="ctr"/>
          </a:p>
        </p:txBody>
      </p:sp>
      <p:sp>
        <p:nvSpPr>
          <p:cNvPr id="87" name="TextBox 86"/>
          <p:cNvSpPr txBox="1"/>
          <p:nvPr/>
        </p:nvSpPr>
        <p:spPr>
          <a:xfrm>
            <a:off x="10241280" y="5291328"/>
            <a:ext cx="792480" cy="182880"/>
          </a:xfrm>
          <a:prstGeom prst="rect">
            <a:avLst/>
          </a:prstGeom>
          <a:noFill/>
        </p:spPr>
        <p:txBody>
          <a:bodyPr wrap="square" anchor="ctr" lIns="0" rIns="0" tIns="0" bIns="0">
            <a:spAutoFit/>
          </a:bodyPr>
          <a:lstStyle/>
          <a:p>
            <a:pPr algn="r"/>
            <a:r>
              <a:rPr sz="1300" b="1" i="0">
                <a:solidFill>
                  <a:srgbClr val="111111"/>
                </a:solidFill>
                <a:latin typeface="Arial"/>
              </a:rPr>
              <a:t>30 %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6F2"/>
          </a:solidFill>
          <a:ln>
            <a:noFill/>
          </a:ln>
          <a:effectLst/>
        </p:spPr>
        <p:txBody>
          <a:bodyPr rtlCol="0" anchor="ctr"/>
          <a:lstStyle/>
          <a:p>
            <a:pPr algn="ctr"/>
          </a:p>
        </p:txBody>
      </p:sp>
      <p:sp>
        <p:nvSpPr>
          <p:cNvPr id="3" name="TextBox 2"/>
          <p:cNvSpPr txBox="1"/>
          <p:nvPr/>
        </p:nvSpPr>
        <p:spPr>
          <a:xfrm>
            <a:off x="579120" y="426720"/>
            <a:ext cx="7315200" cy="182880"/>
          </a:xfrm>
          <a:prstGeom prst="rect">
            <a:avLst/>
          </a:prstGeom>
          <a:noFill/>
        </p:spPr>
        <p:txBody>
          <a:bodyPr wrap="square" anchor="t" lIns="0" rIns="0" tIns="0" bIns="0">
            <a:spAutoFit/>
          </a:bodyPr>
          <a:lstStyle/>
          <a:p>
            <a:pPr algn="l"/>
            <a:r>
              <a:rPr sz="1300" b="1" i="0">
                <a:solidFill>
                  <a:srgbClr val="EE6A2C"/>
                </a:solidFill>
                <a:latin typeface="Arial"/>
              </a:rPr>
              <a:t>INSIGHTS QUALITATIFS · SEPTEMBRE 2026</a:t>
            </a:r>
          </a:p>
        </p:txBody>
      </p:sp>
      <p:sp>
        <p:nvSpPr>
          <p:cNvPr id="4" name="TextBox 3"/>
          <p:cNvSpPr txBox="1"/>
          <p:nvPr/>
        </p:nvSpPr>
        <p:spPr>
          <a:xfrm>
            <a:off x="579120" y="609600"/>
            <a:ext cx="7315200" cy="487680"/>
          </a:xfrm>
          <a:prstGeom prst="rect">
            <a:avLst/>
          </a:prstGeom>
          <a:noFill/>
        </p:spPr>
        <p:txBody>
          <a:bodyPr wrap="square" anchor="t" lIns="0" rIns="0" tIns="0" bIns="0">
            <a:spAutoFit/>
          </a:bodyPr>
          <a:lstStyle/>
          <a:p>
            <a:pPr algn="l"/>
            <a:r>
              <a:rPr sz="3600" b="1" i="0">
                <a:solidFill>
                  <a:srgbClr val="111111"/>
                </a:solidFill>
                <a:latin typeface="Arial"/>
              </a:rPr>
              <a:t>Basket4Ballers</a:t>
            </a:r>
          </a:p>
        </p:txBody>
      </p:sp>
      <p:sp>
        <p:nvSpPr>
          <p:cNvPr id="5" name="TextBox 4"/>
          <p:cNvSpPr txBox="1"/>
          <p:nvPr/>
        </p:nvSpPr>
        <p:spPr>
          <a:xfrm>
            <a:off x="9144000" y="499872"/>
            <a:ext cx="1889760" cy="182880"/>
          </a:xfrm>
          <a:prstGeom prst="rect">
            <a:avLst/>
          </a:prstGeom>
          <a:noFill/>
        </p:spPr>
        <p:txBody>
          <a:bodyPr wrap="square" anchor="t" lIns="0" rIns="0" tIns="0" bIns="0">
            <a:spAutoFit/>
          </a:bodyPr>
          <a:lstStyle/>
          <a:p>
            <a:pPr algn="r"/>
            <a:r>
              <a:rPr sz="1500" b="1" i="0">
                <a:solidFill>
                  <a:srgbClr val="111111"/>
                </a:solidFill>
                <a:latin typeface="Arial"/>
              </a:rPr>
              <a:t>Lemrock</a:t>
            </a:r>
          </a:p>
        </p:txBody>
      </p:sp>
      <p:sp>
        <p:nvSpPr>
          <p:cNvPr id="6" name="TextBox 5"/>
          <p:cNvSpPr txBox="1"/>
          <p:nvPr/>
        </p:nvSpPr>
        <p:spPr>
          <a:xfrm>
            <a:off x="579120" y="1219200"/>
            <a:ext cx="9144000" cy="182880"/>
          </a:xfrm>
          <a:prstGeom prst="rect">
            <a:avLst/>
          </a:prstGeom>
          <a:noFill/>
        </p:spPr>
        <p:txBody>
          <a:bodyPr wrap="square" anchor="t" lIns="0" rIns="0" tIns="0" bIns="0">
            <a:spAutoFit/>
          </a:bodyPr>
          <a:lstStyle/>
          <a:p>
            <a:pPr algn="l"/>
            <a:r>
              <a:rPr sz="1300" b="1" i="0">
                <a:solidFill>
                  <a:srgbClr val="EE6A2C"/>
                </a:solidFill>
                <a:latin typeface="Arial"/>
              </a:rPr>
              <a:t>OBJECTIF   </a:t>
            </a:r>
            <a:r>
              <a:rPr sz="1300" b="0" i="0">
                <a:solidFill>
                  <a:srgbClr val="111111"/>
                </a:solidFill>
                <a:latin typeface="Arial"/>
              </a:rPr>
              <a:t>À définir</a:t>
            </a:r>
          </a:p>
        </p:txBody>
      </p:sp>
      <p:sp>
        <p:nvSpPr>
          <p:cNvPr id="7" name="TextBox 6"/>
          <p:cNvSpPr txBox="1"/>
          <p:nvPr/>
        </p:nvSpPr>
        <p:spPr>
          <a:xfrm>
            <a:off x="579120" y="1524000"/>
            <a:ext cx="4876800" cy="182880"/>
          </a:xfrm>
          <a:prstGeom prst="rect">
            <a:avLst/>
          </a:prstGeom>
          <a:noFill/>
        </p:spPr>
        <p:txBody>
          <a:bodyPr wrap="square" anchor="t" lIns="0" rIns="0" tIns="0" bIns="0">
            <a:spAutoFit/>
          </a:bodyPr>
          <a:lstStyle/>
          <a:p>
            <a:pPr algn="l"/>
            <a:r>
              <a:rPr sz="1400" b="1" i="0">
                <a:solidFill>
                  <a:srgbClr val="555B66"/>
                </a:solidFill>
                <a:latin typeface="Arial"/>
              </a:rPr>
              <a:t>INSIGHTS QUALITATIFS</a:t>
            </a:r>
          </a:p>
        </p:txBody>
      </p:sp>
      <p:sp>
        <p:nvSpPr>
          <p:cNvPr id="8" name="Rectangle 7"/>
          <p:cNvSpPr/>
          <p:nvPr/>
        </p:nvSpPr>
        <p:spPr>
          <a:xfrm>
            <a:off x="579120" y="1816608"/>
            <a:ext cx="5071872" cy="2121408"/>
          </a:xfrm>
          <a:prstGeom prst="rect">
            <a:avLst/>
          </a:prstGeom>
          <a:solidFill>
            <a:srgbClr val="FFFFFF"/>
          </a:solidFill>
          <a:ln>
            <a:noFill/>
          </a:ln>
          <a:effectLst/>
        </p:spPr>
        <p:txBody>
          <a:bodyPr rtlCol="0" anchor="ctr"/>
          <a:lstStyle/>
          <a:p>
            <a:pPr algn="ctr"/>
          </a:p>
        </p:txBody>
      </p:sp>
      <p:sp>
        <p:nvSpPr>
          <p:cNvPr id="9" name="TextBox 8"/>
          <p:cNvSpPr txBox="1"/>
          <p:nvPr/>
        </p:nvSpPr>
        <p:spPr>
          <a:xfrm>
            <a:off x="835152" y="2029968"/>
            <a:ext cx="487680" cy="243840"/>
          </a:xfrm>
          <a:prstGeom prst="rect">
            <a:avLst/>
          </a:prstGeom>
          <a:noFill/>
        </p:spPr>
        <p:txBody>
          <a:bodyPr wrap="square" anchor="t" lIns="0" rIns="0" tIns="0" bIns="0">
            <a:spAutoFit/>
          </a:bodyPr>
          <a:lstStyle/>
          <a:p>
            <a:pPr algn="l"/>
            <a:r>
              <a:rPr sz="2000" b="1" i="0">
                <a:solidFill>
                  <a:srgbClr val="EE6A2C"/>
                </a:solidFill>
                <a:latin typeface="Arial"/>
              </a:rPr>
              <a:t>01</a:t>
            </a:r>
          </a:p>
        </p:txBody>
      </p:sp>
      <p:sp>
        <p:nvSpPr>
          <p:cNvPr id="10" name="TextBox 9"/>
          <p:cNvSpPr txBox="1"/>
          <p:nvPr/>
        </p:nvSpPr>
        <p:spPr>
          <a:xfrm>
            <a:off x="1383792" y="2048256"/>
            <a:ext cx="4023360" cy="365760"/>
          </a:xfrm>
          <a:prstGeom prst="rect">
            <a:avLst/>
          </a:prstGeom>
          <a:noFill/>
        </p:spPr>
        <p:txBody>
          <a:bodyPr wrap="square" anchor="t" lIns="0" rIns="0" tIns="0" bIns="0">
            <a:spAutoFit/>
          </a:bodyPr>
          <a:lstStyle/>
          <a:p>
            <a:pPr algn="l"/>
            <a:r>
              <a:rPr sz="1400" b="1" i="0">
                <a:solidFill>
                  <a:srgbClr val="111111"/>
                </a:solidFill>
                <a:latin typeface="Arial"/>
              </a:rPr>
              <a:t>Parler du jeu, pas seulement du produit</a:t>
            </a:r>
          </a:p>
        </p:txBody>
      </p:sp>
      <p:sp>
        <p:nvSpPr>
          <p:cNvPr id="11" name="TextBox 10"/>
          <p:cNvSpPr txBox="1"/>
          <p:nvPr/>
        </p:nvSpPr>
        <p:spPr>
          <a:xfrm>
            <a:off x="835152" y="2609088"/>
            <a:ext cx="4572000" cy="731520"/>
          </a:xfrm>
          <a:prstGeom prst="rect">
            <a:avLst/>
          </a:prstGeom>
          <a:noFill/>
        </p:spPr>
        <p:txBody>
          <a:bodyPr wrap="square" anchor="t" lIns="0" rIns="0" tIns="0" bIns="0">
            <a:spAutoFit/>
          </a:bodyPr>
          <a:lstStyle/>
          <a:p>
            <a:pPr algn="l"/>
            <a:r>
              <a:rPr sz="1100" b="0" i="0">
                <a:solidFill>
                  <a:srgbClr val="555B66"/>
                </a:solidFill>
                <a:latin typeface="Arial"/>
              </a:rPr>
              <a:t>Les accroches qui évoquent la pratique (jouer, match, entraînement, terrain) atteignent 1,28 fois le CTR moyen. Elles ne représentent pourtant que 2 % de la diffusion.</a:t>
            </a:r>
          </a:p>
        </p:txBody>
      </p:sp>
      <p:sp>
        <p:nvSpPr>
          <p:cNvPr id="12" name="TextBox 11"/>
          <p:cNvSpPr txBox="1"/>
          <p:nvPr/>
        </p:nvSpPr>
        <p:spPr>
          <a:xfrm>
            <a:off x="835152" y="3310128"/>
            <a:ext cx="4572000" cy="487680"/>
          </a:xfrm>
          <a:prstGeom prst="rect">
            <a:avLst/>
          </a:prstGeom>
          <a:noFill/>
        </p:spPr>
        <p:txBody>
          <a:bodyPr wrap="square" anchor="t" lIns="0" rIns="0" tIns="0" bIns="0">
            <a:spAutoFit/>
          </a:bodyPr>
          <a:lstStyle/>
          <a:p>
            <a:pPr algn="l"/>
            <a:r>
              <a:rPr sz="900" b="1" i="0">
                <a:solidFill>
                  <a:srgbClr val="555B66"/>
                </a:solidFill>
                <a:latin typeface="Arial"/>
              </a:rPr>
              <a:t>→  Présenter chaque produit dans son usage : match, entraînement, playground.</a:t>
            </a:r>
          </a:p>
        </p:txBody>
      </p:sp>
      <p:sp>
        <p:nvSpPr>
          <p:cNvPr id="13" name="Rectangle 12"/>
          <p:cNvSpPr/>
          <p:nvPr/>
        </p:nvSpPr>
        <p:spPr>
          <a:xfrm>
            <a:off x="5992368" y="1816608"/>
            <a:ext cx="5071872" cy="2121408"/>
          </a:xfrm>
          <a:prstGeom prst="rect">
            <a:avLst/>
          </a:prstGeom>
          <a:solidFill>
            <a:srgbClr val="FFFFFF"/>
          </a:solidFill>
          <a:ln>
            <a:noFill/>
          </a:ln>
          <a:effectLst/>
        </p:spPr>
        <p:txBody>
          <a:bodyPr rtlCol="0" anchor="ctr"/>
          <a:lstStyle/>
          <a:p>
            <a:pPr algn="ctr"/>
          </a:p>
        </p:txBody>
      </p:sp>
      <p:sp>
        <p:nvSpPr>
          <p:cNvPr id="14" name="TextBox 13"/>
          <p:cNvSpPr txBox="1"/>
          <p:nvPr/>
        </p:nvSpPr>
        <p:spPr>
          <a:xfrm>
            <a:off x="6248400" y="2029968"/>
            <a:ext cx="487680" cy="243840"/>
          </a:xfrm>
          <a:prstGeom prst="rect">
            <a:avLst/>
          </a:prstGeom>
          <a:noFill/>
        </p:spPr>
        <p:txBody>
          <a:bodyPr wrap="square" anchor="t" lIns="0" rIns="0" tIns="0" bIns="0">
            <a:spAutoFit/>
          </a:bodyPr>
          <a:lstStyle/>
          <a:p>
            <a:pPr algn="l"/>
            <a:r>
              <a:rPr sz="2000" b="1" i="0">
                <a:solidFill>
                  <a:srgbClr val="EE6A2C"/>
                </a:solidFill>
                <a:latin typeface="Arial"/>
              </a:rPr>
              <a:t>02</a:t>
            </a:r>
          </a:p>
        </p:txBody>
      </p:sp>
      <p:sp>
        <p:nvSpPr>
          <p:cNvPr id="15" name="TextBox 14"/>
          <p:cNvSpPr txBox="1"/>
          <p:nvPr/>
        </p:nvSpPr>
        <p:spPr>
          <a:xfrm>
            <a:off x="6797040" y="2048256"/>
            <a:ext cx="4023360" cy="365760"/>
          </a:xfrm>
          <a:prstGeom prst="rect">
            <a:avLst/>
          </a:prstGeom>
          <a:noFill/>
        </p:spPr>
        <p:txBody>
          <a:bodyPr wrap="square" anchor="t" lIns="0" rIns="0" tIns="0" bIns="0">
            <a:spAutoFit/>
          </a:bodyPr>
          <a:lstStyle/>
          <a:p>
            <a:pPr algn="l"/>
            <a:r>
              <a:rPr sz="1400" b="1" i="0">
                <a:solidFill>
                  <a:srgbClr val="111111"/>
                </a:solidFill>
                <a:latin typeface="Arial"/>
              </a:rPr>
              <a:t>Les ballons et accessoires restent porteurs</a:t>
            </a:r>
          </a:p>
        </p:txBody>
      </p:sp>
      <p:sp>
        <p:nvSpPr>
          <p:cNvPr id="16" name="TextBox 15"/>
          <p:cNvSpPr txBox="1"/>
          <p:nvPr/>
        </p:nvSpPr>
        <p:spPr>
          <a:xfrm>
            <a:off x="6248400" y="2609088"/>
            <a:ext cx="4572000" cy="731520"/>
          </a:xfrm>
          <a:prstGeom prst="rect">
            <a:avLst/>
          </a:prstGeom>
          <a:noFill/>
        </p:spPr>
        <p:txBody>
          <a:bodyPr wrap="square" anchor="t" lIns="0" rIns="0" tIns="0" bIns="0">
            <a:spAutoFit/>
          </a:bodyPr>
          <a:lstStyle/>
          <a:p>
            <a:pPr algn="l"/>
            <a:r>
              <a:rPr sz="1100" b="0" i="0">
                <a:solidFill>
                  <a:srgbClr val="555B66"/>
                </a:solidFill>
                <a:latin typeface="Arial"/>
              </a:rPr>
              <a:t>Les ballons atteignent 1,27 fois le CTR moyen et les accessoires et petits équipements 1,12 fois, devant les chaussures et les maillots.</a:t>
            </a:r>
          </a:p>
        </p:txBody>
      </p:sp>
      <p:sp>
        <p:nvSpPr>
          <p:cNvPr id="17" name="TextBox 16"/>
          <p:cNvSpPr txBox="1"/>
          <p:nvPr/>
        </p:nvSpPr>
        <p:spPr>
          <a:xfrm>
            <a:off x="6248400" y="3310128"/>
            <a:ext cx="4572000" cy="487680"/>
          </a:xfrm>
          <a:prstGeom prst="rect">
            <a:avLst/>
          </a:prstGeom>
          <a:noFill/>
        </p:spPr>
        <p:txBody>
          <a:bodyPr wrap="square" anchor="t" lIns="0" rIns="0" tIns="0" bIns="0">
            <a:spAutoFit/>
          </a:bodyPr>
          <a:lstStyle/>
          <a:p>
            <a:pPr algn="l"/>
            <a:r>
              <a:rPr sz="900" b="1" i="0">
                <a:solidFill>
                  <a:srgbClr val="555B66"/>
                </a:solidFill>
                <a:latin typeface="Arial"/>
              </a:rPr>
              <a:t>→  Renforcer la visibilité des ballons, chaussettes techniques, manchons et sacs de sport.</a:t>
            </a:r>
          </a:p>
        </p:txBody>
      </p:sp>
      <p:sp>
        <p:nvSpPr>
          <p:cNvPr id="18" name="Rectangle 17"/>
          <p:cNvSpPr/>
          <p:nvPr/>
        </p:nvSpPr>
        <p:spPr>
          <a:xfrm>
            <a:off x="579120" y="4133088"/>
            <a:ext cx="5071872" cy="2121408"/>
          </a:xfrm>
          <a:prstGeom prst="rect">
            <a:avLst/>
          </a:prstGeom>
          <a:solidFill>
            <a:srgbClr val="FFFFFF"/>
          </a:solidFill>
          <a:ln>
            <a:noFill/>
          </a:ln>
          <a:effectLst/>
        </p:spPr>
        <p:txBody>
          <a:bodyPr rtlCol="0" anchor="ctr"/>
          <a:lstStyle/>
          <a:p>
            <a:pPr algn="ctr"/>
          </a:p>
        </p:txBody>
      </p:sp>
      <p:sp>
        <p:nvSpPr>
          <p:cNvPr id="19" name="TextBox 18"/>
          <p:cNvSpPr txBox="1"/>
          <p:nvPr/>
        </p:nvSpPr>
        <p:spPr>
          <a:xfrm>
            <a:off x="835152" y="4346448"/>
            <a:ext cx="487680" cy="243840"/>
          </a:xfrm>
          <a:prstGeom prst="rect">
            <a:avLst/>
          </a:prstGeom>
          <a:noFill/>
        </p:spPr>
        <p:txBody>
          <a:bodyPr wrap="square" anchor="t" lIns="0" rIns="0" tIns="0" bIns="0">
            <a:spAutoFit/>
          </a:bodyPr>
          <a:lstStyle/>
          <a:p>
            <a:pPr algn="l"/>
            <a:r>
              <a:rPr sz="2000" b="1" i="0">
                <a:solidFill>
                  <a:srgbClr val="EE6A2C"/>
                </a:solidFill>
                <a:latin typeface="Arial"/>
              </a:rPr>
              <a:t>03</a:t>
            </a:r>
          </a:p>
        </p:txBody>
      </p:sp>
      <p:sp>
        <p:nvSpPr>
          <p:cNvPr id="20" name="TextBox 19"/>
          <p:cNvSpPr txBox="1"/>
          <p:nvPr/>
        </p:nvSpPr>
        <p:spPr>
          <a:xfrm>
            <a:off x="1383792" y="4364736"/>
            <a:ext cx="4023360" cy="365760"/>
          </a:xfrm>
          <a:prstGeom prst="rect">
            <a:avLst/>
          </a:prstGeom>
          <a:noFill/>
        </p:spPr>
        <p:txBody>
          <a:bodyPr wrap="square" anchor="t" lIns="0" rIns="0" tIns="0" bIns="0">
            <a:spAutoFit/>
          </a:bodyPr>
          <a:lstStyle/>
          <a:p>
            <a:pPr algn="l"/>
            <a:r>
              <a:rPr sz="1400" b="1" i="0">
                <a:solidFill>
                  <a:srgbClr val="111111"/>
                </a:solidFill>
                <a:latin typeface="Arial"/>
              </a:rPr>
              <a:t>La promotion ne suffit toujours pas</a:t>
            </a:r>
          </a:p>
        </p:txBody>
      </p:sp>
      <p:sp>
        <p:nvSpPr>
          <p:cNvPr id="21" name="TextBox 20"/>
          <p:cNvSpPr txBox="1"/>
          <p:nvPr/>
        </p:nvSpPr>
        <p:spPr>
          <a:xfrm>
            <a:off x="835152" y="4925568"/>
            <a:ext cx="4572000" cy="731520"/>
          </a:xfrm>
          <a:prstGeom prst="rect">
            <a:avLst/>
          </a:prstGeom>
          <a:noFill/>
        </p:spPr>
        <p:txBody>
          <a:bodyPr wrap="square" anchor="t" lIns="0" rIns="0" tIns="0" bIns="0">
            <a:spAutoFit/>
          </a:bodyPr>
          <a:lstStyle/>
          <a:p>
            <a:pPr algn="l"/>
            <a:r>
              <a:rPr sz="1100" b="0" i="0">
                <a:solidFill>
                  <a:srgbClr val="555B66"/>
                </a:solidFill>
                <a:latin typeface="Arial"/>
              </a:rPr>
              <a:t>Les accroches centrées sur le prix (« pas cher », « prix bas », « promo ») restent à 0,85 fois le CTR moyen, alors qu'elles représentent 21 % de la diffusion.</a:t>
            </a:r>
          </a:p>
        </p:txBody>
      </p:sp>
      <p:sp>
        <p:nvSpPr>
          <p:cNvPr id="22" name="TextBox 21"/>
          <p:cNvSpPr txBox="1"/>
          <p:nvPr/>
        </p:nvSpPr>
        <p:spPr>
          <a:xfrm>
            <a:off x="835152" y="5626608"/>
            <a:ext cx="4572000" cy="487680"/>
          </a:xfrm>
          <a:prstGeom prst="rect">
            <a:avLst/>
          </a:prstGeom>
          <a:noFill/>
        </p:spPr>
        <p:txBody>
          <a:bodyPr wrap="square" anchor="t" lIns="0" rIns="0" tIns="0" bIns="0">
            <a:spAutoFit/>
          </a:bodyPr>
          <a:lstStyle/>
          <a:p>
            <a:pPr algn="l"/>
            <a:r>
              <a:rPr sz="900" b="1" i="0">
                <a:solidFill>
                  <a:srgbClr val="555B66"/>
                </a:solidFill>
                <a:latin typeface="Arial"/>
              </a:rPr>
              <a:t>→  Commencer par le produit, le joueur ou l'usage, puis présenter le prix comme un argument secondaire.</a:t>
            </a:r>
          </a:p>
        </p:txBody>
      </p:sp>
      <p:sp>
        <p:nvSpPr>
          <p:cNvPr id="23" name="Rectangle 22"/>
          <p:cNvSpPr/>
          <p:nvPr/>
        </p:nvSpPr>
        <p:spPr>
          <a:xfrm>
            <a:off x="5992368" y="4133088"/>
            <a:ext cx="5071872" cy="2121408"/>
          </a:xfrm>
          <a:prstGeom prst="rect">
            <a:avLst/>
          </a:prstGeom>
          <a:solidFill>
            <a:srgbClr val="FFFFFF"/>
          </a:solidFill>
          <a:ln>
            <a:noFill/>
          </a:ln>
          <a:effectLst/>
        </p:spPr>
        <p:txBody>
          <a:bodyPr rtlCol="0" anchor="ctr"/>
          <a:lstStyle/>
          <a:p>
            <a:pPr algn="ctr"/>
          </a:p>
        </p:txBody>
      </p:sp>
      <p:sp>
        <p:nvSpPr>
          <p:cNvPr id="24" name="TextBox 23"/>
          <p:cNvSpPr txBox="1"/>
          <p:nvPr/>
        </p:nvSpPr>
        <p:spPr>
          <a:xfrm>
            <a:off x="6248400" y="4346448"/>
            <a:ext cx="487680" cy="243840"/>
          </a:xfrm>
          <a:prstGeom prst="rect">
            <a:avLst/>
          </a:prstGeom>
          <a:noFill/>
        </p:spPr>
        <p:txBody>
          <a:bodyPr wrap="square" anchor="t" lIns="0" rIns="0" tIns="0" bIns="0">
            <a:spAutoFit/>
          </a:bodyPr>
          <a:lstStyle/>
          <a:p>
            <a:pPr algn="l"/>
            <a:r>
              <a:rPr sz="2000" b="1" i="0">
                <a:solidFill>
                  <a:srgbClr val="EE6A2C"/>
                </a:solidFill>
                <a:latin typeface="Arial"/>
              </a:rPr>
              <a:t>04</a:t>
            </a:r>
          </a:p>
        </p:txBody>
      </p:sp>
      <p:sp>
        <p:nvSpPr>
          <p:cNvPr id="25" name="TextBox 24"/>
          <p:cNvSpPr txBox="1"/>
          <p:nvPr/>
        </p:nvSpPr>
        <p:spPr>
          <a:xfrm>
            <a:off x="6797040" y="4364736"/>
            <a:ext cx="4023360" cy="365760"/>
          </a:xfrm>
          <a:prstGeom prst="rect">
            <a:avLst/>
          </a:prstGeom>
          <a:noFill/>
        </p:spPr>
        <p:txBody>
          <a:bodyPr wrap="square" anchor="t" lIns="0" rIns="0" tIns="0" bIns="0">
            <a:spAutoFit/>
          </a:bodyPr>
          <a:lstStyle/>
          <a:p>
            <a:pPr algn="l"/>
            <a:r>
              <a:rPr sz="1400" b="1" i="0">
                <a:solidFill>
                  <a:srgbClr val="111111"/>
                </a:solidFill>
                <a:latin typeface="Arial"/>
              </a:rPr>
              <a:t>Revoir les maillots et les tenues</a:t>
            </a:r>
          </a:p>
        </p:txBody>
      </p:sp>
      <p:sp>
        <p:nvSpPr>
          <p:cNvPr id="26" name="TextBox 25"/>
          <p:cNvSpPr txBox="1"/>
          <p:nvPr/>
        </p:nvSpPr>
        <p:spPr>
          <a:xfrm>
            <a:off x="6248400" y="4925568"/>
            <a:ext cx="4572000" cy="731520"/>
          </a:xfrm>
          <a:prstGeom prst="rect">
            <a:avLst/>
          </a:prstGeom>
          <a:noFill/>
        </p:spPr>
        <p:txBody>
          <a:bodyPr wrap="square" anchor="t" lIns="0" rIns="0" tIns="0" bIns="0">
            <a:spAutoFit/>
          </a:bodyPr>
          <a:lstStyle/>
          <a:p>
            <a:pPr algn="l"/>
            <a:r>
              <a:rPr sz="1100" b="0" i="0">
                <a:solidFill>
                  <a:srgbClr val="555B66"/>
                </a:solidFill>
                <a:latin typeface="Arial"/>
              </a:rPr>
              <a:t>Les maillots restent à 0,90 fois le CTR moyen, les tenues de basket à 0,58 fois et les casquettes à 0,41 fois.</a:t>
            </a:r>
          </a:p>
        </p:txBody>
      </p:sp>
      <p:sp>
        <p:nvSpPr>
          <p:cNvPr id="27" name="TextBox 26"/>
          <p:cNvSpPr txBox="1"/>
          <p:nvPr/>
        </p:nvSpPr>
        <p:spPr>
          <a:xfrm>
            <a:off x="6248400" y="5626608"/>
            <a:ext cx="4572000" cy="487680"/>
          </a:xfrm>
          <a:prstGeom prst="rect">
            <a:avLst/>
          </a:prstGeom>
          <a:noFill/>
        </p:spPr>
        <p:txBody>
          <a:bodyPr wrap="square" anchor="t" lIns="0" rIns="0" tIns="0" bIns="0">
            <a:spAutoFit/>
          </a:bodyPr>
          <a:lstStyle/>
          <a:p>
            <a:pPr algn="l"/>
            <a:r>
              <a:rPr sz="900" b="1" i="0">
                <a:solidFill>
                  <a:srgbClr val="555B66"/>
                </a:solidFill>
                <a:latin typeface="Arial"/>
              </a:rPr>
              <a:t>→  Associer les maillots à un joueur, une équipe ou un match, avec la reprise de la saison NBA en octobre.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6F2"/>
          </a:solidFill>
          <a:ln>
            <a:noFill/>
          </a:ln>
          <a:effectLst/>
        </p:spPr>
        <p:txBody>
          <a:bodyPr rtlCol="0" anchor="ctr"/>
          <a:lstStyle/>
          <a:p>
            <a:pPr algn="ctr"/>
          </a:p>
        </p:txBody>
      </p:sp>
      <p:sp>
        <p:nvSpPr>
          <p:cNvPr id="3" name="TextBox 2"/>
          <p:cNvSpPr txBox="1"/>
          <p:nvPr/>
        </p:nvSpPr>
        <p:spPr>
          <a:xfrm>
            <a:off x="530352" y="487680"/>
            <a:ext cx="7315200" cy="182880"/>
          </a:xfrm>
          <a:prstGeom prst="rect">
            <a:avLst/>
          </a:prstGeom>
          <a:noFill/>
        </p:spPr>
        <p:txBody>
          <a:bodyPr wrap="square" anchor="t" lIns="0" rIns="0" tIns="0" bIns="0">
            <a:spAutoFit/>
          </a:bodyPr>
          <a:lstStyle/>
          <a:p>
            <a:pPr algn="l"/>
            <a:r>
              <a:rPr sz="1300" b="1" i="0">
                <a:solidFill>
                  <a:srgbClr val="EE6A2C"/>
                </a:solidFill>
                <a:latin typeface="Arial"/>
              </a:rPr>
              <a:t>RAPPORT DE PERFORMANCE · 01/09/2026 → 30/09/2026</a:t>
            </a:r>
          </a:p>
        </p:txBody>
      </p:sp>
      <p:sp>
        <p:nvSpPr>
          <p:cNvPr id="4" name="TextBox 3"/>
          <p:cNvSpPr txBox="1"/>
          <p:nvPr/>
        </p:nvSpPr>
        <p:spPr>
          <a:xfrm>
            <a:off x="530352" y="640080"/>
            <a:ext cx="7315200" cy="487680"/>
          </a:xfrm>
          <a:prstGeom prst="rect">
            <a:avLst/>
          </a:prstGeom>
          <a:noFill/>
        </p:spPr>
        <p:txBody>
          <a:bodyPr wrap="square" anchor="t" lIns="0" rIns="0" tIns="0" bIns="0">
            <a:spAutoFit/>
          </a:bodyPr>
          <a:lstStyle/>
          <a:p>
            <a:pPr algn="l"/>
            <a:r>
              <a:rPr sz="3600" b="1" i="0">
                <a:solidFill>
                  <a:srgbClr val="111111"/>
                </a:solidFill>
                <a:latin typeface="Arial"/>
              </a:rPr>
              <a:t>Bayard Jeunesse</a:t>
            </a:r>
          </a:p>
        </p:txBody>
      </p:sp>
      <p:sp>
        <p:nvSpPr>
          <p:cNvPr id="5" name="TextBox 4"/>
          <p:cNvSpPr txBox="1"/>
          <p:nvPr/>
        </p:nvSpPr>
        <p:spPr>
          <a:xfrm>
            <a:off x="7924800" y="591312"/>
            <a:ext cx="3304032" cy="152400"/>
          </a:xfrm>
          <a:prstGeom prst="rect">
            <a:avLst/>
          </a:prstGeom>
          <a:noFill/>
        </p:spPr>
        <p:txBody>
          <a:bodyPr wrap="square" anchor="t" lIns="0" rIns="0" tIns="0" bIns="0">
            <a:spAutoFit/>
          </a:bodyPr>
          <a:lstStyle/>
          <a:p>
            <a:pPr algn="r"/>
            <a:r>
              <a:rPr sz="1200" b="1" i="0">
                <a:solidFill>
                  <a:srgbClr val="8A93A6"/>
                </a:solidFill>
                <a:latin typeface="Arial"/>
              </a:rPr>
              <a:t>COMPARAISON</a:t>
            </a:r>
          </a:p>
        </p:txBody>
      </p:sp>
      <p:sp>
        <p:nvSpPr>
          <p:cNvPr id="6" name="TextBox 5"/>
          <p:cNvSpPr txBox="1"/>
          <p:nvPr/>
        </p:nvSpPr>
        <p:spPr>
          <a:xfrm>
            <a:off x="7924800" y="780288"/>
            <a:ext cx="3304032" cy="182880"/>
          </a:xfrm>
          <a:prstGeom prst="rect">
            <a:avLst/>
          </a:prstGeom>
          <a:noFill/>
        </p:spPr>
        <p:txBody>
          <a:bodyPr wrap="square" anchor="t" lIns="0" rIns="0" tIns="0" bIns="0">
            <a:spAutoFit/>
          </a:bodyPr>
          <a:lstStyle/>
          <a:p>
            <a:pPr algn="r"/>
            <a:r>
              <a:rPr sz="1500" b="1" i="0">
                <a:solidFill>
                  <a:srgbClr val="111111"/>
                </a:solidFill>
                <a:latin typeface="Arial"/>
              </a:rPr>
              <a:t>vs 01/08/2026 → 31/08/2026</a:t>
            </a:r>
          </a:p>
        </p:txBody>
      </p:sp>
      <p:sp>
        <p:nvSpPr>
          <p:cNvPr id="7" name="TextBox 6"/>
          <p:cNvSpPr txBox="1"/>
          <p:nvPr/>
        </p:nvSpPr>
        <p:spPr>
          <a:xfrm>
            <a:off x="530352" y="1280160"/>
            <a:ext cx="2438400" cy="182880"/>
          </a:xfrm>
          <a:prstGeom prst="rect">
            <a:avLst/>
          </a:prstGeom>
          <a:noFill/>
        </p:spPr>
        <p:txBody>
          <a:bodyPr wrap="square" anchor="t" lIns="0" rIns="0" tIns="0" bIns="0">
            <a:spAutoFit/>
          </a:bodyPr>
          <a:lstStyle/>
          <a:p>
            <a:pPr algn="l"/>
            <a:r>
              <a:rPr sz="1400" b="1" i="0">
                <a:solidFill>
                  <a:srgbClr val="EE6A2C"/>
                </a:solidFill>
                <a:latin typeface="Arial"/>
              </a:rPr>
              <a:t>DIFFUSION</a:t>
            </a:r>
          </a:p>
        </p:txBody>
      </p:sp>
      <p:sp>
        <p:nvSpPr>
          <p:cNvPr id="8" name="TextBox 7"/>
          <p:cNvSpPr txBox="1"/>
          <p:nvPr/>
        </p:nvSpPr>
        <p:spPr>
          <a:xfrm>
            <a:off x="2389632" y="1280160"/>
            <a:ext cx="2438400" cy="182880"/>
          </a:xfrm>
          <a:prstGeom prst="rect">
            <a:avLst/>
          </a:prstGeom>
          <a:noFill/>
        </p:spPr>
        <p:txBody>
          <a:bodyPr wrap="square" anchor="t" lIns="0" rIns="0" tIns="0" bIns="0">
            <a:spAutoFit/>
          </a:bodyPr>
          <a:lstStyle/>
          <a:p>
            <a:pPr algn="l"/>
            <a:r>
              <a:rPr sz="1400" b="1" i="0">
                <a:solidFill>
                  <a:srgbClr val="EE6A2C"/>
                </a:solidFill>
                <a:latin typeface="Arial"/>
              </a:rPr>
              <a:t>ENGAGEMENT</a:t>
            </a:r>
          </a:p>
        </p:txBody>
      </p:sp>
      <p:sp>
        <p:nvSpPr>
          <p:cNvPr id="9" name="TextBox 8"/>
          <p:cNvSpPr txBox="1"/>
          <p:nvPr/>
        </p:nvSpPr>
        <p:spPr>
          <a:xfrm>
            <a:off x="6108192" y="1280160"/>
            <a:ext cx="2438400" cy="182880"/>
          </a:xfrm>
          <a:prstGeom prst="rect">
            <a:avLst/>
          </a:prstGeom>
          <a:noFill/>
        </p:spPr>
        <p:txBody>
          <a:bodyPr wrap="square" anchor="t" lIns="0" rIns="0" tIns="0" bIns="0">
            <a:spAutoFit/>
          </a:bodyPr>
          <a:lstStyle/>
          <a:p>
            <a:pPr algn="l"/>
            <a:r>
              <a:rPr sz="1400" b="1" i="0">
                <a:solidFill>
                  <a:srgbClr val="EE6A2C"/>
                </a:solidFill>
                <a:latin typeface="Arial"/>
              </a:rPr>
              <a:t>CONVERSION</a:t>
            </a:r>
          </a:p>
        </p:txBody>
      </p:sp>
      <p:sp>
        <p:nvSpPr>
          <p:cNvPr id="10" name="Rectangle 9"/>
          <p:cNvSpPr/>
          <p:nvPr/>
        </p:nvSpPr>
        <p:spPr>
          <a:xfrm>
            <a:off x="530352" y="1536192"/>
            <a:ext cx="1389888" cy="1127760"/>
          </a:xfrm>
          <a:prstGeom prst="rect">
            <a:avLst/>
          </a:prstGeom>
          <a:solidFill>
            <a:srgbClr val="FFFFFF"/>
          </a:solidFill>
          <a:ln>
            <a:noFill/>
          </a:ln>
          <a:effectLst/>
        </p:spPr>
        <p:txBody>
          <a:bodyPr rtlCol="0" anchor="ctr"/>
          <a:lstStyle/>
          <a:p>
            <a:pPr algn="ctr"/>
          </a:p>
        </p:txBody>
      </p:sp>
      <p:sp>
        <p:nvSpPr>
          <p:cNvPr id="11" name="Rectangle 10"/>
          <p:cNvSpPr/>
          <p:nvPr/>
        </p:nvSpPr>
        <p:spPr>
          <a:xfrm>
            <a:off x="530352" y="1536192"/>
            <a:ext cx="24384" cy="1127760"/>
          </a:xfrm>
          <a:prstGeom prst="rect">
            <a:avLst/>
          </a:prstGeom>
          <a:solidFill>
            <a:srgbClr val="EE6A2C"/>
          </a:solidFill>
          <a:ln>
            <a:noFill/>
          </a:ln>
          <a:effectLst/>
        </p:spPr>
        <p:txBody>
          <a:bodyPr rtlCol="0" anchor="ctr"/>
          <a:lstStyle/>
          <a:p>
            <a:pPr algn="ctr"/>
          </a:p>
        </p:txBody>
      </p:sp>
      <p:sp>
        <p:nvSpPr>
          <p:cNvPr id="12" name="TextBox 11"/>
          <p:cNvSpPr txBox="1"/>
          <p:nvPr/>
        </p:nvSpPr>
        <p:spPr>
          <a:xfrm>
            <a:off x="664464" y="1615440"/>
            <a:ext cx="1219200" cy="121920"/>
          </a:xfrm>
          <a:prstGeom prst="rect">
            <a:avLst/>
          </a:prstGeom>
          <a:noFill/>
        </p:spPr>
        <p:txBody>
          <a:bodyPr wrap="square" anchor="t" lIns="0" rIns="0" tIns="0" bIns="0">
            <a:spAutoFit/>
          </a:bodyPr>
          <a:lstStyle/>
          <a:p>
            <a:pPr algn="l"/>
            <a:r>
              <a:rPr sz="1000" b="1" i="0">
                <a:solidFill>
                  <a:srgbClr val="555B66"/>
                </a:solidFill>
                <a:latin typeface="Arial"/>
              </a:rPr>
              <a:t>IMPRESSIONS</a:t>
            </a:r>
          </a:p>
        </p:txBody>
      </p:sp>
      <p:sp>
        <p:nvSpPr>
          <p:cNvPr id="13" name="TextBox 12"/>
          <p:cNvSpPr txBox="1"/>
          <p:nvPr/>
        </p:nvSpPr>
        <p:spPr>
          <a:xfrm>
            <a:off x="664464" y="1889760"/>
            <a:ext cx="1219200" cy="274320"/>
          </a:xfrm>
          <a:prstGeom prst="rect">
            <a:avLst/>
          </a:prstGeom>
          <a:noFill/>
        </p:spPr>
        <p:txBody>
          <a:bodyPr wrap="square" anchor="t" lIns="0" rIns="0" tIns="0" bIns="0">
            <a:spAutoFit/>
          </a:bodyPr>
          <a:lstStyle/>
          <a:p>
            <a:pPr algn="l"/>
            <a:r>
              <a:rPr sz="2200" b="1" i="0">
                <a:solidFill>
                  <a:srgbClr val="111111"/>
                </a:solidFill>
                <a:latin typeface="Arial"/>
              </a:rPr>
              <a:t>408 434</a:t>
            </a:r>
          </a:p>
        </p:txBody>
      </p:sp>
      <p:sp>
        <p:nvSpPr>
          <p:cNvPr id="14" name="TextBox 13"/>
          <p:cNvSpPr txBox="1"/>
          <p:nvPr/>
        </p:nvSpPr>
        <p:spPr>
          <a:xfrm>
            <a:off x="664464" y="2243328"/>
            <a:ext cx="1219200" cy="109728"/>
          </a:xfrm>
          <a:prstGeom prst="rect">
            <a:avLst/>
          </a:prstGeom>
          <a:noFill/>
        </p:spPr>
        <p:txBody>
          <a:bodyPr wrap="square" anchor="t" lIns="0" rIns="0" tIns="0" bIns="0">
            <a:spAutoFit/>
          </a:bodyPr>
          <a:lstStyle/>
          <a:p>
            <a:pPr algn="l"/>
            <a:r>
              <a:rPr sz="1000" b="1" i="0">
                <a:solidFill>
                  <a:srgbClr val="1E7B34"/>
                </a:solidFill>
                <a:latin typeface="Arial"/>
              </a:rPr>
              <a:t>▲ +7 %</a:t>
            </a:r>
          </a:p>
        </p:txBody>
      </p:sp>
      <p:sp>
        <p:nvSpPr>
          <p:cNvPr id="15" name="TextBox 14"/>
          <p:cNvSpPr txBox="1"/>
          <p:nvPr/>
        </p:nvSpPr>
        <p:spPr>
          <a:xfrm>
            <a:off x="664464" y="2499360"/>
            <a:ext cx="1219200" cy="91440"/>
          </a:xfrm>
          <a:prstGeom prst="rect">
            <a:avLst/>
          </a:prstGeom>
          <a:noFill/>
        </p:spPr>
        <p:txBody>
          <a:bodyPr wrap="square" anchor="t" lIns="0" rIns="0" tIns="0" bIns="0">
            <a:spAutoFit/>
          </a:bodyPr>
          <a:lstStyle/>
          <a:p>
            <a:pPr algn="l"/>
            <a:r>
              <a:rPr sz="800" b="0" i="1">
                <a:solidFill>
                  <a:srgbClr val="555B66"/>
                </a:solidFill>
                <a:latin typeface="Arial"/>
              </a:rPr>
              <a:t>YTD 791 115</a:t>
            </a:r>
          </a:p>
        </p:txBody>
      </p:sp>
      <p:sp>
        <p:nvSpPr>
          <p:cNvPr id="16" name="Rectangle 15"/>
          <p:cNvSpPr/>
          <p:nvPr/>
        </p:nvSpPr>
        <p:spPr>
          <a:xfrm>
            <a:off x="2389632" y="1536192"/>
            <a:ext cx="1389888" cy="1127760"/>
          </a:xfrm>
          <a:prstGeom prst="rect">
            <a:avLst/>
          </a:prstGeom>
          <a:solidFill>
            <a:srgbClr val="FFFFFF"/>
          </a:solidFill>
          <a:ln>
            <a:noFill/>
          </a:ln>
          <a:effectLst/>
        </p:spPr>
        <p:txBody>
          <a:bodyPr rtlCol="0" anchor="ctr"/>
          <a:lstStyle/>
          <a:p>
            <a:pPr algn="ctr"/>
          </a:p>
        </p:txBody>
      </p:sp>
      <p:sp>
        <p:nvSpPr>
          <p:cNvPr id="17" name="Rectangle 16"/>
          <p:cNvSpPr/>
          <p:nvPr/>
        </p:nvSpPr>
        <p:spPr>
          <a:xfrm>
            <a:off x="2389632" y="1536192"/>
            <a:ext cx="24384" cy="1127760"/>
          </a:xfrm>
          <a:prstGeom prst="rect">
            <a:avLst/>
          </a:prstGeom>
          <a:solidFill>
            <a:srgbClr val="EE6A2C"/>
          </a:solidFill>
          <a:ln>
            <a:noFill/>
          </a:ln>
          <a:effectLst/>
        </p:spPr>
        <p:txBody>
          <a:bodyPr rtlCol="0" anchor="ctr"/>
          <a:lstStyle/>
          <a:p>
            <a:pPr algn="ctr"/>
          </a:p>
        </p:txBody>
      </p:sp>
      <p:sp>
        <p:nvSpPr>
          <p:cNvPr id="18" name="TextBox 17"/>
          <p:cNvSpPr txBox="1"/>
          <p:nvPr/>
        </p:nvSpPr>
        <p:spPr>
          <a:xfrm>
            <a:off x="2523744" y="1615440"/>
            <a:ext cx="1219200" cy="121920"/>
          </a:xfrm>
          <a:prstGeom prst="rect">
            <a:avLst/>
          </a:prstGeom>
          <a:noFill/>
        </p:spPr>
        <p:txBody>
          <a:bodyPr wrap="square" anchor="t" lIns="0" rIns="0" tIns="0" bIns="0">
            <a:spAutoFit/>
          </a:bodyPr>
          <a:lstStyle/>
          <a:p>
            <a:pPr algn="l"/>
            <a:r>
              <a:rPr sz="1000" b="1" i="0">
                <a:solidFill>
                  <a:srgbClr val="555B66"/>
                </a:solidFill>
                <a:latin typeface="Arial"/>
              </a:rPr>
              <a:t>CLICS</a:t>
            </a:r>
          </a:p>
        </p:txBody>
      </p:sp>
      <p:sp>
        <p:nvSpPr>
          <p:cNvPr id="19" name="TextBox 18"/>
          <p:cNvSpPr txBox="1"/>
          <p:nvPr/>
        </p:nvSpPr>
        <p:spPr>
          <a:xfrm>
            <a:off x="2523744" y="1889760"/>
            <a:ext cx="1219200" cy="274320"/>
          </a:xfrm>
          <a:prstGeom prst="rect">
            <a:avLst/>
          </a:prstGeom>
          <a:noFill/>
        </p:spPr>
        <p:txBody>
          <a:bodyPr wrap="square" anchor="t" lIns="0" rIns="0" tIns="0" bIns="0">
            <a:spAutoFit/>
          </a:bodyPr>
          <a:lstStyle/>
          <a:p>
            <a:pPr algn="l"/>
            <a:r>
              <a:rPr sz="2200" b="1" i="0">
                <a:solidFill>
                  <a:srgbClr val="111111"/>
                </a:solidFill>
                <a:latin typeface="Arial"/>
              </a:rPr>
              <a:t>2 277</a:t>
            </a:r>
          </a:p>
        </p:txBody>
      </p:sp>
      <p:sp>
        <p:nvSpPr>
          <p:cNvPr id="20" name="TextBox 19"/>
          <p:cNvSpPr txBox="1"/>
          <p:nvPr/>
        </p:nvSpPr>
        <p:spPr>
          <a:xfrm>
            <a:off x="2523744" y="2243328"/>
            <a:ext cx="1219200" cy="109728"/>
          </a:xfrm>
          <a:prstGeom prst="rect">
            <a:avLst/>
          </a:prstGeom>
          <a:noFill/>
        </p:spPr>
        <p:txBody>
          <a:bodyPr wrap="square" anchor="t" lIns="0" rIns="0" tIns="0" bIns="0">
            <a:spAutoFit/>
          </a:bodyPr>
          <a:lstStyle/>
          <a:p>
            <a:pPr algn="l"/>
            <a:r>
              <a:rPr sz="1000" b="1" i="0">
                <a:solidFill>
                  <a:srgbClr val="1E7B34"/>
                </a:solidFill>
                <a:latin typeface="Arial"/>
              </a:rPr>
              <a:t>▲ +215 %</a:t>
            </a:r>
          </a:p>
        </p:txBody>
      </p:sp>
      <p:sp>
        <p:nvSpPr>
          <p:cNvPr id="21" name="TextBox 20"/>
          <p:cNvSpPr txBox="1"/>
          <p:nvPr/>
        </p:nvSpPr>
        <p:spPr>
          <a:xfrm>
            <a:off x="2523744" y="2499360"/>
            <a:ext cx="1219200" cy="91440"/>
          </a:xfrm>
          <a:prstGeom prst="rect">
            <a:avLst/>
          </a:prstGeom>
          <a:noFill/>
        </p:spPr>
        <p:txBody>
          <a:bodyPr wrap="square" anchor="t" lIns="0" rIns="0" tIns="0" bIns="0">
            <a:spAutoFit/>
          </a:bodyPr>
          <a:lstStyle/>
          <a:p>
            <a:pPr algn="l"/>
            <a:r>
              <a:rPr sz="800" b="0" i="1">
                <a:solidFill>
                  <a:srgbClr val="555B66"/>
                </a:solidFill>
                <a:latin typeface="Arial"/>
              </a:rPr>
              <a:t>YTD 2 999</a:t>
            </a:r>
          </a:p>
        </p:txBody>
      </p:sp>
      <p:sp>
        <p:nvSpPr>
          <p:cNvPr id="22" name="Rectangle 21"/>
          <p:cNvSpPr/>
          <p:nvPr/>
        </p:nvSpPr>
        <p:spPr>
          <a:xfrm>
            <a:off x="4248912" y="1536192"/>
            <a:ext cx="1389888" cy="1127760"/>
          </a:xfrm>
          <a:prstGeom prst="rect">
            <a:avLst/>
          </a:prstGeom>
          <a:solidFill>
            <a:srgbClr val="FFFFFF"/>
          </a:solidFill>
          <a:ln>
            <a:noFill/>
          </a:ln>
          <a:effectLst/>
        </p:spPr>
        <p:txBody>
          <a:bodyPr rtlCol="0" anchor="ctr"/>
          <a:lstStyle/>
          <a:p>
            <a:pPr algn="ctr"/>
          </a:p>
        </p:txBody>
      </p:sp>
      <p:sp>
        <p:nvSpPr>
          <p:cNvPr id="23" name="Rectangle 22"/>
          <p:cNvSpPr/>
          <p:nvPr/>
        </p:nvSpPr>
        <p:spPr>
          <a:xfrm>
            <a:off x="4248912" y="1536192"/>
            <a:ext cx="24384" cy="1127760"/>
          </a:xfrm>
          <a:prstGeom prst="rect">
            <a:avLst/>
          </a:prstGeom>
          <a:solidFill>
            <a:srgbClr val="EE6A2C"/>
          </a:solidFill>
          <a:ln>
            <a:noFill/>
          </a:ln>
          <a:effectLst/>
        </p:spPr>
        <p:txBody>
          <a:bodyPr rtlCol="0" anchor="ctr"/>
          <a:lstStyle/>
          <a:p>
            <a:pPr algn="ctr"/>
          </a:p>
        </p:txBody>
      </p:sp>
      <p:sp>
        <p:nvSpPr>
          <p:cNvPr id="24" name="TextBox 23"/>
          <p:cNvSpPr txBox="1"/>
          <p:nvPr/>
        </p:nvSpPr>
        <p:spPr>
          <a:xfrm>
            <a:off x="4383024" y="1615440"/>
            <a:ext cx="1219200" cy="121920"/>
          </a:xfrm>
          <a:prstGeom prst="rect">
            <a:avLst/>
          </a:prstGeom>
          <a:noFill/>
        </p:spPr>
        <p:txBody>
          <a:bodyPr wrap="square" anchor="t" lIns="0" rIns="0" tIns="0" bIns="0">
            <a:spAutoFit/>
          </a:bodyPr>
          <a:lstStyle/>
          <a:p>
            <a:pPr algn="l"/>
            <a:r>
              <a:rPr sz="1000" b="1" i="0">
                <a:solidFill>
                  <a:srgbClr val="555B66"/>
                </a:solidFill>
                <a:latin typeface="Arial"/>
              </a:rPr>
              <a:t>CTR</a:t>
            </a:r>
          </a:p>
        </p:txBody>
      </p:sp>
      <p:sp>
        <p:nvSpPr>
          <p:cNvPr id="25" name="TextBox 24"/>
          <p:cNvSpPr txBox="1"/>
          <p:nvPr/>
        </p:nvSpPr>
        <p:spPr>
          <a:xfrm>
            <a:off x="4383024" y="1889760"/>
            <a:ext cx="1219200" cy="274320"/>
          </a:xfrm>
          <a:prstGeom prst="rect">
            <a:avLst/>
          </a:prstGeom>
          <a:noFill/>
        </p:spPr>
        <p:txBody>
          <a:bodyPr wrap="square" anchor="t" lIns="0" rIns="0" tIns="0" bIns="0">
            <a:spAutoFit/>
          </a:bodyPr>
          <a:lstStyle/>
          <a:p>
            <a:pPr algn="l"/>
            <a:r>
              <a:rPr sz="2200" b="1" i="0">
                <a:solidFill>
                  <a:srgbClr val="111111"/>
                </a:solidFill>
                <a:latin typeface="Arial"/>
              </a:rPr>
              <a:t>0,56 %</a:t>
            </a:r>
          </a:p>
        </p:txBody>
      </p:sp>
      <p:sp>
        <p:nvSpPr>
          <p:cNvPr id="26" name="TextBox 25"/>
          <p:cNvSpPr txBox="1"/>
          <p:nvPr/>
        </p:nvSpPr>
        <p:spPr>
          <a:xfrm>
            <a:off x="4383024" y="2243328"/>
            <a:ext cx="1219200" cy="109728"/>
          </a:xfrm>
          <a:prstGeom prst="rect">
            <a:avLst/>
          </a:prstGeom>
          <a:noFill/>
        </p:spPr>
        <p:txBody>
          <a:bodyPr wrap="square" anchor="t" lIns="0" rIns="0" tIns="0" bIns="0">
            <a:spAutoFit/>
          </a:bodyPr>
          <a:lstStyle/>
          <a:p>
            <a:pPr algn="l"/>
            <a:r>
              <a:rPr sz="1000" b="1" i="0">
                <a:solidFill>
                  <a:srgbClr val="1E7B34"/>
                </a:solidFill>
                <a:latin typeface="Arial"/>
              </a:rPr>
              <a:t>▲ +0,37 pt</a:t>
            </a:r>
          </a:p>
        </p:txBody>
      </p:sp>
      <p:sp>
        <p:nvSpPr>
          <p:cNvPr id="27" name="TextBox 26"/>
          <p:cNvSpPr txBox="1"/>
          <p:nvPr/>
        </p:nvSpPr>
        <p:spPr>
          <a:xfrm>
            <a:off x="4383024" y="2499360"/>
            <a:ext cx="1219200" cy="91440"/>
          </a:xfrm>
          <a:prstGeom prst="rect">
            <a:avLst/>
          </a:prstGeom>
          <a:noFill/>
        </p:spPr>
        <p:txBody>
          <a:bodyPr wrap="square" anchor="t" lIns="0" rIns="0" tIns="0" bIns="0">
            <a:spAutoFit/>
          </a:bodyPr>
          <a:lstStyle/>
          <a:p>
            <a:pPr algn="l"/>
            <a:r>
              <a:rPr sz="800" b="0" i="1">
                <a:solidFill>
                  <a:srgbClr val="555B66"/>
                </a:solidFill>
                <a:latin typeface="Arial"/>
              </a:rPr>
              <a:t>YTD 0,38 %</a:t>
            </a:r>
          </a:p>
        </p:txBody>
      </p:sp>
      <p:sp>
        <p:nvSpPr>
          <p:cNvPr id="28" name="Rectangle 27"/>
          <p:cNvSpPr/>
          <p:nvPr/>
        </p:nvSpPr>
        <p:spPr>
          <a:xfrm>
            <a:off x="6108192" y="1536192"/>
            <a:ext cx="1389888" cy="1127760"/>
          </a:xfrm>
          <a:prstGeom prst="rect">
            <a:avLst/>
          </a:prstGeom>
          <a:solidFill>
            <a:srgbClr val="F1EFEB"/>
          </a:solidFill>
          <a:ln>
            <a:noFill/>
          </a:ln>
          <a:effectLst/>
        </p:spPr>
        <p:txBody>
          <a:bodyPr rtlCol="0" anchor="ctr"/>
          <a:lstStyle/>
          <a:p>
            <a:pPr algn="ctr"/>
          </a:p>
        </p:txBody>
      </p:sp>
      <p:sp>
        <p:nvSpPr>
          <p:cNvPr id="29" name="Rounded Rectangle 28"/>
          <p:cNvSpPr/>
          <p:nvPr/>
        </p:nvSpPr>
        <p:spPr>
          <a:xfrm>
            <a:off x="6827520" y="1450848"/>
            <a:ext cx="609600" cy="170688"/>
          </a:xfrm>
          <a:prstGeom prst="roundRect">
            <a:avLst>
              <a:gd name="adj" fmla="val 50000"/>
            </a:avLst>
          </a:prstGeom>
          <a:solidFill>
            <a:srgbClr val="D9D6D1"/>
          </a:solidFill>
          <a:ln>
            <a:noFill/>
          </a:ln>
          <a:effectLst/>
        </p:spPr>
        <p:txBody>
          <a:bodyPr rtlCol="0" anchor="ctr"/>
          <a:lstStyle/>
          <a:p>
            <a:pPr algn="ctr"/>
          </a:p>
        </p:txBody>
      </p:sp>
      <p:sp>
        <p:nvSpPr>
          <p:cNvPr id="30" name="TextBox 29"/>
          <p:cNvSpPr txBox="1"/>
          <p:nvPr/>
        </p:nvSpPr>
        <p:spPr>
          <a:xfrm>
            <a:off x="6827520" y="1450848"/>
            <a:ext cx="609600" cy="170688"/>
          </a:xfrm>
          <a:prstGeom prst="rect">
            <a:avLst/>
          </a:prstGeom>
          <a:noFill/>
        </p:spPr>
        <p:txBody>
          <a:bodyPr wrap="square" anchor="ctr" lIns="0" rIns="0" tIns="0" bIns="0">
            <a:spAutoFit/>
          </a:bodyPr>
          <a:lstStyle/>
          <a:p>
            <a:pPr algn="ctr"/>
            <a:r>
              <a:rPr sz="800" b="1" i="0">
                <a:solidFill>
                  <a:srgbClr val="555B66"/>
                </a:solidFill>
                <a:latin typeface="Arial"/>
              </a:rPr>
              <a:t>INDICATIF</a:t>
            </a:r>
          </a:p>
        </p:txBody>
      </p:sp>
      <p:sp>
        <p:nvSpPr>
          <p:cNvPr id="31" name="TextBox 30"/>
          <p:cNvSpPr txBox="1"/>
          <p:nvPr/>
        </p:nvSpPr>
        <p:spPr>
          <a:xfrm>
            <a:off x="6242304" y="1706880"/>
            <a:ext cx="1219200" cy="121920"/>
          </a:xfrm>
          <a:prstGeom prst="rect">
            <a:avLst/>
          </a:prstGeom>
          <a:noFill/>
        </p:spPr>
        <p:txBody>
          <a:bodyPr wrap="square" anchor="t" lIns="0" rIns="0" tIns="0" bIns="0">
            <a:spAutoFit/>
          </a:bodyPr>
          <a:lstStyle/>
          <a:p>
            <a:pPr algn="l"/>
            <a:r>
              <a:rPr sz="1000" b="1" i="0">
                <a:solidFill>
                  <a:srgbClr val="8A93A6"/>
                </a:solidFill>
                <a:latin typeface="Arial"/>
              </a:rPr>
              <a:t>CONVERSIONS</a:t>
            </a:r>
          </a:p>
        </p:txBody>
      </p:sp>
      <p:sp>
        <p:nvSpPr>
          <p:cNvPr id="32" name="TextBox 31"/>
          <p:cNvSpPr txBox="1"/>
          <p:nvPr/>
        </p:nvSpPr>
        <p:spPr>
          <a:xfrm>
            <a:off x="6242304" y="1889760"/>
            <a:ext cx="1219200" cy="274320"/>
          </a:xfrm>
          <a:prstGeom prst="rect">
            <a:avLst/>
          </a:prstGeom>
          <a:noFill/>
        </p:spPr>
        <p:txBody>
          <a:bodyPr wrap="square" anchor="t" lIns="0" rIns="0" tIns="0" bIns="0">
            <a:spAutoFit/>
          </a:bodyPr>
          <a:lstStyle/>
          <a:p>
            <a:pPr algn="l"/>
            <a:r>
              <a:rPr sz="2200" b="1" i="0">
                <a:solidFill>
                  <a:srgbClr val="8A93A6"/>
                </a:solidFill>
                <a:latin typeface="Arial"/>
              </a:rPr>
              <a:t>N/C</a:t>
            </a:r>
          </a:p>
        </p:txBody>
      </p:sp>
      <p:sp>
        <p:nvSpPr>
          <p:cNvPr id="33" name="TextBox 32"/>
          <p:cNvSpPr txBox="1"/>
          <p:nvPr/>
        </p:nvSpPr>
        <p:spPr>
          <a:xfrm>
            <a:off x="6242304" y="2243328"/>
            <a:ext cx="1219200" cy="109728"/>
          </a:xfrm>
          <a:prstGeom prst="rect">
            <a:avLst/>
          </a:prstGeom>
          <a:noFill/>
        </p:spPr>
        <p:txBody>
          <a:bodyPr wrap="square" anchor="t" lIns="0" rIns="0" tIns="0" bIns="0">
            <a:spAutoFit/>
          </a:bodyPr>
          <a:lstStyle/>
          <a:p>
            <a:pPr algn="l"/>
            <a:r>
              <a:rPr sz="1000" b="1" i="0">
                <a:solidFill>
                  <a:srgbClr val="8A93A6"/>
                </a:solidFill>
                <a:latin typeface="Arial"/>
              </a:rPr>
              <a:t>—</a:t>
            </a:r>
          </a:p>
        </p:txBody>
      </p:sp>
      <p:sp>
        <p:nvSpPr>
          <p:cNvPr id="34" name="TextBox 33"/>
          <p:cNvSpPr txBox="1"/>
          <p:nvPr/>
        </p:nvSpPr>
        <p:spPr>
          <a:xfrm>
            <a:off x="6242304" y="2499360"/>
            <a:ext cx="1219200" cy="91440"/>
          </a:xfrm>
          <a:prstGeom prst="rect">
            <a:avLst/>
          </a:prstGeom>
          <a:noFill/>
        </p:spPr>
        <p:txBody>
          <a:bodyPr wrap="square" anchor="t" lIns="0" rIns="0" tIns="0" bIns="0">
            <a:spAutoFit/>
          </a:bodyPr>
          <a:lstStyle/>
          <a:p>
            <a:pPr algn="l"/>
            <a:r>
              <a:rPr sz="800" b="0" i="1">
                <a:solidFill>
                  <a:srgbClr val="8A93A6"/>
                </a:solidFill>
                <a:latin typeface="Arial"/>
              </a:rPr>
              <a:t>YTD —</a:t>
            </a:r>
          </a:p>
        </p:txBody>
      </p:sp>
      <p:sp>
        <p:nvSpPr>
          <p:cNvPr id="35" name="Rectangle 34"/>
          <p:cNvSpPr/>
          <p:nvPr/>
        </p:nvSpPr>
        <p:spPr>
          <a:xfrm>
            <a:off x="7967472" y="1536192"/>
            <a:ext cx="1389888" cy="1127760"/>
          </a:xfrm>
          <a:prstGeom prst="rect">
            <a:avLst/>
          </a:prstGeom>
          <a:solidFill>
            <a:srgbClr val="F1EFEB"/>
          </a:solidFill>
          <a:ln>
            <a:noFill/>
          </a:ln>
          <a:effectLst/>
        </p:spPr>
        <p:txBody>
          <a:bodyPr rtlCol="0" anchor="ctr"/>
          <a:lstStyle/>
          <a:p>
            <a:pPr algn="ctr"/>
          </a:p>
        </p:txBody>
      </p:sp>
      <p:sp>
        <p:nvSpPr>
          <p:cNvPr id="36" name="Rounded Rectangle 35"/>
          <p:cNvSpPr/>
          <p:nvPr/>
        </p:nvSpPr>
        <p:spPr>
          <a:xfrm>
            <a:off x="8686800" y="1450848"/>
            <a:ext cx="609600" cy="170688"/>
          </a:xfrm>
          <a:prstGeom prst="roundRect">
            <a:avLst>
              <a:gd name="adj" fmla="val 50000"/>
            </a:avLst>
          </a:prstGeom>
          <a:solidFill>
            <a:srgbClr val="D9D6D1"/>
          </a:solidFill>
          <a:ln>
            <a:noFill/>
          </a:ln>
          <a:effectLst/>
        </p:spPr>
        <p:txBody>
          <a:bodyPr rtlCol="0" anchor="ctr"/>
          <a:lstStyle/>
          <a:p>
            <a:pPr algn="ctr"/>
          </a:p>
        </p:txBody>
      </p:sp>
      <p:sp>
        <p:nvSpPr>
          <p:cNvPr id="37" name="TextBox 36"/>
          <p:cNvSpPr txBox="1"/>
          <p:nvPr/>
        </p:nvSpPr>
        <p:spPr>
          <a:xfrm>
            <a:off x="8686800" y="1450848"/>
            <a:ext cx="609600" cy="170688"/>
          </a:xfrm>
          <a:prstGeom prst="rect">
            <a:avLst/>
          </a:prstGeom>
          <a:noFill/>
        </p:spPr>
        <p:txBody>
          <a:bodyPr wrap="square" anchor="ctr" lIns="0" rIns="0" tIns="0" bIns="0">
            <a:spAutoFit/>
          </a:bodyPr>
          <a:lstStyle/>
          <a:p>
            <a:pPr algn="ctr"/>
            <a:r>
              <a:rPr sz="800" b="1" i="0">
                <a:solidFill>
                  <a:srgbClr val="555B66"/>
                </a:solidFill>
                <a:latin typeface="Arial"/>
              </a:rPr>
              <a:t>INDICATIF</a:t>
            </a:r>
          </a:p>
        </p:txBody>
      </p:sp>
      <p:sp>
        <p:nvSpPr>
          <p:cNvPr id="38" name="TextBox 37"/>
          <p:cNvSpPr txBox="1"/>
          <p:nvPr/>
        </p:nvSpPr>
        <p:spPr>
          <a:xfrm>
            <a:off x="8101584" y="1706880"/>
            <a:ext cx="1219200" cy="121920"/>
          </a:xfrm>
          <a:prstGeom prst="rect">
            <a:avLst/>
          </a:prstGeom>
          <a:noFill/>
        </p:spPr>
        <p:txBody>
          <a:bodyPr wrap="square" anchor="t" lIns="0" rIns="0" tIns="0" bIns="0">
            <a:spAutoFit/>
          </a:bodyPr>
          <a:lstStyle/>
          <a:p>
            <a:pPr algn="l"/>
            <a:r>
              <a:rPr sz="1000" b="1" i="0">
                <a:solidFill>
                  <a:srgbClr val="8A93A6"/>
                </a:solidFill>
                <a:latin typeface="Arial"/>
              </a:rPr>
              <a:t>CVR</a:t>
            </a:r>
          </a:p>
        </p:txBody>
      </p:sp>
      <p:sp>
        <p:nvSpPr>
          <p:cNvPr id="39" name="TextBox 38"/>
          <p:cNvSpPr txBox="1"/>
          <p:nvPr/>
        </p:nvSpPr>
        <p:spPr>
          <a:xfrm>
            <a:off x="8101584" y="1889760"/>
            <a:ext cx="1219200" cy="274320"/>
          </a:xfrm>
          <a:prstGeom prst="rect">
            <a:avLst/>
          </a:prstGeom>
          <a:noFill/>
        </p:spPr>
        <p:txBody>
          <a:bodyPr wrap="square" anchor="t" lIns="0" rIns="0" tIns="0" bIns="0">
            <a:spAutoFit/>
          </a:bodyPr>
          <a:lstStyle/>
          <a:p>
            <a:pPr algn="l"/>
            <a:r>
              <a:rPr sz="2200" b="1" i="0">
                <a:solidFill>
                  <a:srgbClr val="8A93A6"/>
                </a:solidFill>
                <a:latin typeface="Arial"/>
              </a:rPr>
              <a:t>N/C</a:t>
            </a:r>
          </a:p>
        </p:txBody>
      </p:sp>
      <p:sp>
        <p:nvSpPr>
          <p:cNvPr id="40" name="TextBox 39"/>
          <p:cNvSpPr txBox="1"/>
          <p:nvPr/>
        </p:nvSpPr>
        <p:spPr>
          <a:xfrm>
            <a:off x="8101584" y="2243328"/>
            <a:ext cx="1219200" cy="109728"/>
          </a:xfrm>
          <a:prstGeom prst="rect">
            <a:avLst/>
          </a:prstGeom>
          <a:noFill/>
        </p:spPr>
        <p:txBody>
          <a:bodyPr wrap="square" anchor="t" lIns="0" rIns="0" tIns="0" bIns="0">
            <a:spAutoFit/>
          </a:bodyPr>
          <a:lstStyle/>
          <a:p>
            <a:pPr algn="l"/>
            <a:r>
              <a:rPr sz="1000" b="1" i="0">
                <a:solidFill>
                  <a:srgbClr val="8A93A6"/>
                </a:solidFill>
                <a:latin typeface="Arial"/>
              </a:rPr>
              <a:t>—</a:t>
            </a:r>
          </a:p>
        </p:txBody>
      </p:sp>
      <p:sp>
        <p:nvSpPr>
          <p:cNvPr id="41" name="TextBox 40"/>
          <p:cNvSpPr txBox="1"/>
          <p:nvPr/>
        </p:nvSpPr>
        <p:spPr>
          <a:xfrm>
            <a:off x="8101584" y="2499360"/>
            <a:ext cx="1219200" cy="91440"/>
          </a:xfrm>
          <a:prstGeom prst="rect">
            <a:avLst/>
          </a:prstGeom>
          <a:noFill/>
        </p:spPr>
        <p:txBody>
          <a:bodyPr wrap="square" anchor="t" lIns="0" rIns="0" tIns="0" bIns="0">
            <a:spAutoFit/>
          </a:bodyPr>
          <a:lstStyle/>
          <a:p>
            <a:pPr algn="l"/>
            <a:r>
              <a:rPr sz="800" b="0" i="1">
                <a:solidFill>
                  <a:srgbClr val="8A93A6"/>
                </a:solidFill>
                <a:latin typeface="Arial"/>
              </a:rPr>
              <a:t>YTD —</a:t>
            </a:r>
          </a:p>
        </p:txBody>
      </p:sp>
      <p:sp>
        <p:nvSpPr>
          <p:cNvPr id="42" name="Rectangle 41"/>
          <p:cNvSpPr/>
          <p:nvPr/>
        </p:nvSpPr>
        <p:spPr>
          <a:xfrm>
            <a:off x="9826752" y="1536192"/>
            <a:ext cx="1389888" cy="1127760"/>
          </a:xfrm>
          <a:prstGeom prst="rect">
            <a:avLst/>
          </a:prstGeom>
          <a:solidFill>
            <a:srgbClr val="F1EFEB"/>
          </a:solidFill>
          <a:ln>
            <a:noFill/>
          </a:ln>
          <a:effectLst/>
        </p:spPr>
        <p:txBody>
          <a:bodyPr rtlCol="0" anchor="ctr"/>
          <a:lstStyle/>
          <a:p>
            <a:pPr algn="ctr"/>
          </a:p>
        </p:txBody>
      </p:sp>
      <p:sp>
        <p:nvSpPr>
          <p:cNvPr id="43" name="Rounded Rectangle 42"/>
          <p:cNvSpPr/>
          <p:nvPr/>
        </p:nvSpPr>
        <p:spPr>
          <a:xfrm>
            <a:off x="10546080" y="1450848"/>
            <a:ext cx="609600" cy="170688"/>
          </a:xfrm>
          <a:prstGeom prst="roundRect">
            <a:avLst>
              <a:gd name="adj" fmla="val 50000"/>
            </a:avLst>
          </a:prstGeom>
          <a:solidFill>
            <a:srgbClr val="D9D6D1"/>
          </a:solidFill>
          <a:ln>
            <a:noFill/>
          </a:ln>
          <a:effectLst/>
        </p:spPr>
        <p:txBody>
          <a:bodyPr rtlCol="0" anchor="ctr"/>
          <a:lstStyle/>
          <a:p>
            <a:pPr algn="ctr"/>
          </a:p>
        </p:txBody>
      </p:sp>
      <p:sp>
        <p:nvSpPr>
          <p:cNvPr id="44" name="TextBox 43"/>
          <p:cNvSpPr txBox="1"/>
          <p:nvPr/>
        </p:nvSpPr>
        <p:spPr>
          <a:xfrm>
            <a:off x="10546080" y="1450848"/>
            <a:ext cx="609600" cy="170688"/>
          </a:xfrm>
          <a:prstGeom prst="rect">
            <a:avLst/>
          </a:prstGeom>
          <a:noFill/>
        </p:spPr>
        <p:txBody>
          <a:bodyPr wrap="square" anchor="ctr" lIns="0" rIns="0" tIns="0" bIns="0">
            <a:spAutoFit/>
          </a:bodyPr>
          <a:lstStyle/>
          <a:p>
            <a:pPr algn="ctr"/>
            <a:r>
              <a:rPr sz="800" b="1" i="0">
                <a:solidFill>
                  <a:srgbClr val="555B66"/>
                </a:solidFill>
                <a:latin typeface="Arial"/>
              </a:rPr>
              <a:t>INDICATIF</a:t>
            </a:r>
          </a:p>
        </p:txBody>
      </p:sp>
      <p:sp>
        <p:nvSpPr>
          <p:cNvPr id="45" name="TextBox 44"/>
          <p:cNvSpPr txBox="1"/>
          <p:nvPr/>
        </p:nvSpPr>
        <p:spPr>
          <a:xfrm>
            <a:off x="9960864" y="1706880"/>
            <a:ext cx="1219200" cy="121920"/>
          </a:xfrm>
          <a:prstGeom prst="rect">
            <a:avLst/>
          </a:prstGeom>
          <a:noFill/>
        </p:spPr>
        <p:txBody>
          <a:bodyPr wrap="square" anchor="t" lIns="0" rIns="0" tIns="0" bIns="0">
            <a:spAutoFit/>
          </a:bodyPr>
          <a:lstStyle/>
          <a:p>
            <a:pPr algn="l"/>
            <a:r>
              <a:rPr sz="1000" b="1" i="0">
                <a:solidFill>
                  <a:srgbClr val="8A93A6"/>
                </a:solidFill>
                <a:latin typeface="Arial"/>
              </a:rPr>
              <a:t>ROAS</a:t>
            </a:r>
          </a:p>
        </p:txBody>
      </p:sp>
      <p:sp>
        <p:nvSpPr>
          <p:cNvPr id="46" name="TextBox 45"/>
          <p:cNvSpPr txBox="1"/>
          <p:nvPr/>
        </p:nvSpPr>
        <p:spPr>
          <a:xfrm>
            <a:off x="9960864" y="1889760"/>
            <a:ext cx="1219200" cy="274320"/>
          </a:xfrm>
          <a:prstGeom prst="rect">
            <a:avLst/>
          </a:prstGeom>
          <a:noFill/>
        </p:spPr>
        <p:txBody>
          <a:bodyPr wrap="square" anchor="t" lIns="0" rIns="0" tIns="0" bIns="0">
            <a:spAutoFit/>
          </a:bodyPr>
          <a:lstStyle/>
          <a:p>
            <a:pPr algn="l"/>
            <a:r>
              <a:rPr sz="2200" b="1" i="0">
                <a:solidFill>
                  <a:srgbClr val="8A93A6"/>
                </a:solidFill>
                <a:latin typeface="Arial"/>
              </a:rPr>
              <a:t>N/C</a:t>
            </a:r>
          </a:p>
        </p:txBody>
      </p:sp>
      <p:sp>
        <p:nvSpPr>
          <p:cNvPr id="47" name="TextBox 46"/>
          <p:cNvSpPr txBox="1"/>
          <p:nvPr/>
        </p:nvSpPr>
        <p:spPr>
          <a:xfrm>
            <a:off x="9960864" y="2243328"/>
            <a:ext cx="1219200" cy="109728"/>
          </a:xfrm>
          <a:prstGeom prst="rect">
            <a:avLst/>
          </a:prstGeom>
          <a:noFill/>
        </p:spPr>
        <p:txBody>
          <a:bodyPr wrap="square" anchor="t" lIns="0" rIns="0" tIns="0" bIns="0">
            <a:spAutoFit/>
          </a:bodyPr>
          <a:lstStyle/>
          <a:p>
            <a:pPr algn="l"/>
            <a:r>
              <a:rPr sz="1000" b="1" i="0">
                <a:solidFill>
                  <a:srgbClr val="8A93A6"/>
                </a:solidFill>
                <a:latin typeface="Arial"/>
              </a:rPr>
              <a:t>—</a:t>
            </a:r>
          </a:p>
        </p:txBody>
      </p:sp>
      <p:sp>
        <p:nvSpPr>
          <p:cNvPr id="48" name="TextBox 47"/>
          <p:cNvSpPr txBox="1"/>
          <p:nvPr/>
        </p:nvSpPr>
        <p:spPr>
          <a:xfrm>
            <a:off x="9960864" y="2499360"/>
            <a:ext cx="1219200" cy="91440"/>
          </a:xfrm>
          <a:prstGeom prst="rect">
            <a:avLst/>
          </a:prstGeom>
          <a:noFill/>
        </p:spPr>
        <p:txBody>
          <a:bodyPr wrap="square" anchor="t" lIns="0" rIns="0" tIns="0" bIns="0">
            <a:spAutoFit/>
          </a:bodyPr>
          <a:lstStyle/>
          <a:p>
            <a:pPr algn="l"/>
            <a:r>
              <a:rPr sz="800" b="0" i="1">
                <a:solidFill>
                  <a:srgbClr val="8A93A6"/>
                </a:solidFill>
                <a:latin typeface="Arial"/>
              </a:rPr>
              <a:t>YTD —</a:t>
            </a:r>
          </a:p>
        </p:txBody>
      </p:sp>
      <p:sp>
        <p:nvSpPr>
          <p:cNvPr id="49" name="Isosceles Triangle 48"/>
          <p:cNvSpPr/>
          <p:nvPr/>
        </p:nvSpPr>
        <p:spPr>
          <a:xfrm>
            <a:off x="8564880" y="2688336"/>
            <a:ext cx="182880" cy="85344"/>
          </a:xfrm>
          <a:prstGeom prst="triangle">
            <a:avLst/>
          </a:prstGeom>
          <a:solidFill>
            <a:srgbClr val="EBE9E5"/>
          </a:solidFill>
          <a:ln>
            <a:noFill/>
          </a:ln>
          <a:effectLst/>
        </p:spPr>
        <p:txBody>
          <a:bodyPr rtlCol="0" anchor="ctr"/>
          <a:lstStyle/>
          <a:p>
            <a:pPr algn="ctr"/>
          </a:p>
        </p:txBody>
      </p:sp>
      <p:sp>
        <p:nvSpPr>
          <p:cNvPr id="50" name="Rounded Rectangle 49"/>
          <p:cNvSpPr/>
          <p:nvPr/>
        </p:nvSpPr>
        <p:spPr>
          <a:xfrm>
            <a:off x="6108192" y="2773680"/>
            <a:ext cx="5108448" cy="438912"/>
          </a:xfrm>
          <a:prstGeom prst="roundRect">
            <a:avLst>
              <a:gd name="adj" fmla="val 15000"/>
            </a:avLst>
          </a:prstGeom>
          <a:solidFill>
            <a:srgbClr val="EBE9E5"/>
          </a:solidFill>
          <a:ln>
            <a:noFill/>
          </a:ln>
          <a:effectLst/>
        </p:spPr>
        <p:txBody>
          <a:bodyPr rtlCol="0" anchor="ctr"/>
          <a:lstStyle/>
          <a:p>
            <a:pPr algn="ctr"/>
          </a:p>
        </p:txBody>
      </p:sp>
      <p:sp>
        <p:nvSpPr>
          <p:cNvPr id="51" name="TextBox 50"/>
          <p:cNvSpPr txBox="1"/>
          <p:nvPr/>
        </p:nvSpPr>
        <p:spPr>
          <a:xfrm>
            <a:off x="6230112" y="2816352"/>
            <a:ext cx="4864608" cy="365760"/>
          </a:xfrm>
          <a:prstGeom prst="rect">
            <a:avLst/>
          </a:prstGeom>
          <a:noFill/>
        </p:spPr>
        <p:txBody>
          <a:bodyPr wrap="square" anchor="ctr" lIns="0" rIns="0" tIns="0" bIns="0">
            <a:spAutoFit/>
          </a:bodyPr>
          <a:lstStyle/>
          <a:p>
            <a:pPr algn="l"/>
            <a:r>
              <a:rPr sz="900" b="0" i="0">
                <a:solidFill>
                  <a:srgbClr val="555B66"/>
                </a:solidFill>
                <a:latin typeface="Arial"/>
              </a:rPr>
              <a:t>Le Conversion Tracker n'est pas encore installé. Les conversions apparaîtront dans ce rapport dès son intégration.</a:t>
            </a:r>
          </a:p>
        </p:txBody>
      </p:sp>
      <p:sp>
        <p:nvSpPr>
          <p:cNvPr id="52" name="TextBox 51"/>
          <p:cNvSpPr txBox="1"/>
          <p:nvPr/>
        </p:nvSpPr>
        <p:spPr>
          <a:xfrm>
            <a:off x="530352" y="3322320"/>
            <a:ext cx="7315200" cy="182880"/>
          </a:xfrm>
          <a:prstGeom prst="rect">
            <a:avLst/>
          </a:prstGeom>
          <a:noFill/>
        </p:spPr>
        <p:txBody>
          <a:bodyPr wrap="square" anchor="t" lIns="0" rIns="0" tIns="0" bIns="0">
            <a:spAutoFit/>
          </a:bodyPr>
          <a:lstStyle/>
          <a:p>
            <a:pPr algn="l"/>
            <a:r>
              <a:rPr sz="1400" b="1" i="0">
                <a:solidFill>
                  <a:srgbClr val="EE6A2C"/>
                </a:solidFill>
                <a:latin typeface="Arial"/>
              </a:rPr>
              <a:t>INSIGHTS QUALITATIFS · ANALYSE DES RECHERCHES</a:t>
            </a:r>
          </a:p>
        </p:txBody>
      </p:sp>
      <p:sp>
        <p:nvSpPr>
          <p:cNvPr id="53" name="Rectangle 52"/>
          <p:cNvSpPr/>
          <p:nvPr/>
        </p:nvSpPr>
        <p:spPr>
          <a:xfrm>
            <a:off x="530352" y="3584448"/>
            <a:ext cx="3401568" cy="2560320"/>
          </a:xfrm>
          <a:prstGeom prst="rect">
            <a:avLst/>
          </a:prstGeom>
          <a:solidFill>
            <a:srgbClr val="FFFFFF"/>
          </a:solidFill>
          <a:ln>
            <a:noFill/>
          </a:ln>
          <a:effectLst/>
        </p:spPr>
        <p:txBody>
          <a:bodyPr rtlCol="0" anchor="ctr"/>
          <a:lstStyle/>
          <a:p>
            <a:pPr algn="ctr"/>
          </a:p>
        </p:txBody>
      </p:sp>
      <p:sp>
        <p:nvSpPr>
          <p:cNvPr id="54" name="Rectangle 53"/>
          <p:cNvSpPr/>
          <p:nvPr/>
        </p:nvSpPr>
        <p:spPr>
          <a:xfrm>
            <a:off x="4194048" y="3584448"/>
            <a:ext cx="3401568" cy="2560320"/>
          </a:xfrm>
          <a:prstGeom prst="rect">
            <a:avLst/>
          </a:prstGeom>
          <a:solidFill>
            <a:srgbClr val="FFFFFF"/>
          </a:solidFill>
          <a:ln>
            <a:noFill/>
          </a:ln>
          <a:effectLst/>
        </p:spPr>
        <p:txBody>
          <a:bodyPr rtlCol="0" anchor="ctr"/>
          <a:lstStyle/>
          <a:p>
            <a:pPr algn="ctr"/>
          </a:p>
        </p:txBody>
      </p:sp>
      <p:sp>
        <p:nvSpPr>
          <p:cNvPr id="55" name="Rectangle 54"/>
          <p:cNvSpPr/>
          <p:nvPr/>
        </p:nvSpPr>
        <p:spPr>
          <a:xfrm>
            <a:off x="7857744" y="3584448"/>
            <a:ext cx="3401568" cy="2560320"/>
          </a:xfrm>
          <a:prstGeom prst="rect">
            <a:avLst/>
          </a:prstGeom>
          <a:solidFill>
            <a:srgbClr val="FFFFFF"/>
          </a:solidFill>
          <a:ln>
            <a:noFill/>
          </a:ln>
          <a:effectLst/>
        </p:spPr>
        <p:txBody>
          <a:bodyPr rtlCol="0" anchor="ctr"/>
          <a:lstStyle/>
          <a:p>
            <a:pPr algn="ctr"/>
          </a:p>
        </p:txBody>
      </p:sp>
      <p:sp>
        <p:nvSpPr>
          <p:cNvPr id="56" name="TextBox 55"/>
          <p:cNvSpPr txBox="1"/>
          <p:nvPr/>
        </p:nvSpPr>
        <p:spPr>
          <a:xfrm>
            <a:off x="774192" y="3767328"/>
            <a:ext cx="2926080" cy="152400"/>
          </a:xfrm>
          <a:prstGeom prst="rect">
            <a:avLst/>
          </a:prstGeom>
          <a:noFill/>
        </p:spPr>
        <p:txBody>
          <a:bodyPr wrap="square" anchor="t" lIns="0" rIns="0" tIns="0" bIns="0">
            <a:spAutoFit/>
          </a:bodyPr>
          <a:lstStyle/>
          <a:p>
            <a:pPr algn="l"/>
            <a:r>
              <a:rPr sz="1300" b="1" i="0">
                <a:solidFill>
                  <a:srgbClr val="555B66"/>
                </a:solidFill>
                <a:latin typeface="Arial"/>
              </a:rPr>
              <a:t>CHAMP LEXICAL</a:t>
            </a:r>
          </a:p>
        </p:txBody>
      </p:sp>
      <p:sp>
        <p:nvSpPr>
          <p:cNvPr id="57" name="TextBox 56"/>
          <p:cNvSpPr txBox="1"/>
          <p:nvPr/>
        </p:nvSpPr>
        <p:spPr>
          <a:xfrm>
            <a:off x="774192" y="3992880"/>
            <a:ext cx="2926080" cy="121920"/>
          </a:xfrm>
          <a:prstGeom prst="rect">
            <a:avLst/>
          </a:prstGeom>
          <a:noFill/>
        </p:spPr>
        <p:txBody>
          <a:bodyPr wrap="square" anchor="t" lIns="0" rIns="0" tIns="0" bIns="0">
            <a:spAutoFit/>
          </a:bodyPr>
          <a:lstStyle/>
          <a:p>
            <a:pPr algn="l"/>
            <a:r>
              <a:rPr sz="1000" b="0" i="1">
                <a:solidFill>
                  <a:srgbClr val="8A93A6"/>
                </a:solidFill>
                <a:latin typeface="Arial"/>
              </a:rPr>
              <a:t>Termes les plus fréquents</a:t>
            </a:r>
          </a:p>
        </p:txBody>
      </p:sp>
      <p:sp>
        <p:nvSpPr>
          <p:cNvPr id="58" name="TextBox 57"/>
          <p:cNvSpPr txBox="1"/>
          <p:nvPr/>
        </p:nvSpPr>
        <p:spPr>
          <a:xfrm>
            <a:off x="774192" y="4236720"/>
            <a:ext cx="2987040" cy="1828800"/>
          </a:xfrm>
          <a:prstGeom prst="rect">
            <a:avLst/>
          </a:prstGeom>
          <a:noFill/>
        </p:spPr>
        <p:txBody>
          <a:bodyPr wrap="square" anchor="t" lIns="0" rIns="0" tIns="0" bIns="0">
            <a:spAutoFit/>
          </a:bodyPr>
          <a:lstStyle/>
          <a:p>
            <a:pPr algn="l">
              <a:spcAft>
                <a:spcPts val="500"/>
              </a:spcAft>
            </a:pPr>
            <a:r>
              <a:rPr sz="1800" b="1" i="0">
                <a:solidFill>
                  <a:srgbClr val="EE6A2C"/>
                </a:solidFill>
                <a:latin typeface="Arial"/>
              </a:rPr>
              <a:t>abonnement magazine</a:t>
            </a:r>
            <a:r>
              <a:rPr sz="1600" b="1" i="0">
                <a:solidFill>
                  <a:srgbClr val="111111"/>
                </a:solidFill>
                <a:latin typeface="Arial"/>
              </a:rPr>
              <a:t>   J'aime lire</a:t>
            </a:r>
          </a:p>
          <a:p>
            <a:pPr algn="l">
              <a:spcAft>
                <a:spcPts val="500"/>
              </a:spcAft>
            </a:pPr>
            <a:r>
              <a:rPr sz="1500" b="1" i="0">
                <a:solidFill>
                  <a:srgbClr val="111111"/>
                </a:solidFill>
                <a:latin typeface="Arial"/>
              </a:rPr>
              <a:t>Pomme d'Api</a:t>
            </a:r>
            <a:r>
              <a:rPr sz="1400" b="1" i="0">
                <a:solidFill>
                  <a:srgbClr val="111111"/>
                </a:solidFill>
                <a:latin typeface="Arial"/>
              </a:rPr>
              <a:t>   Phosphore</a:t>
            </a:r>
          </a:p>
          <a:p>
            <a:pPr algn="l">
              <a:spcAft>
                <a:spcPts val="500"/>
              </a:spcAft>
            </a:pPr>
            <a:r>
              <a:rPr sz="1300" b="1" i="0">
                <a:solidFill>
                  <a:srgbClr val="EE6A2C"/>
                </a:solidFill>
                <a:latin typeface="Arial"/>
              </a:rPr>
              <a:t>Images Doc</a:t>
            </a:r>
            <a:r>
              <a:rPr sz="1200" b="0" i="0">
                <a:solidFill>
                  <a:srgbClr val="111111"/>
                </a:solidFill>
                <a:latin typeface="Arial"/>
              </a:rPr>
              <a:t>   Popi</a:t>
            </a:r>
          </a:p>
          <a:p>
            <a:pPr algn="l">
              <a:spcAft>
                <a:spcPts val="500"/>
              </a:spcAft>
            </a:pPr>
            <a:r>
              <a:rPr sz="1100" b="1" i="0">
                <a:solidFill>
                  <a:srgbClr val="EE6A2C"/>
                </a:solidFill>
                <a:latin typeface="Arial"/>
              </a:rPr>
              <a:t>I Love English</a:t>
            </a:r>
            <a:r>
              <a:rPr sz="1100" b="1" i="0">
                <a:solidFill>
                  <a:srgbClr val="111111"/>
                </a:solidFill>
                <a:latin typeface="Arial"/>
              </a:rPr>
              <a:t>   So Foot Club</a:t>
            </a:r>
          </a:p>
          <a:p>
            <a:pPr algn="l">
              <a:spcAft>
                <a:spcPts val="500"/>
              </a:spcAft>
            </a:pPr>
            <a:r>
              <a:rPr sz="1100" b="1" i="0">
                <a:solidFill>
                  <a:srgbClr val="111111"/>
                </a:solidFill>
                <a:latin typeface="Arial"/>
              </a:rPr>
              <a:t>Okapi</a:t>
            </a:r>
            <a:r>
              <a:rPr sz="1100" b="0" i="0">
                <a:solidFill>
                  <a:srgbClr val="111111"/>
                </a:solidFill>
                <a:latin typeface="Arial"/>
              </a:rPr>
              <a:t>   Astrapi</a:t>
            </a:r>
            <a:r>
              <a:rPr sz="1100" b="1" i="0">
                <a:solidFill>
                  <a:srgbClr val="EE6A2C"/>
                </a:solidFill>
                <a:latin typeface="Arial"/>
              </a:rPr>
              <a:t>   Youpi Doc</a:t>
            </a:r>
          </a:p>
          <a:p>
            <a:pPr algn="l">
              <a:spcAft>
                <a:spcPts val="500"/>
              </a:spcAft>
            </a:pPr>
            <a:r>
              <a:rPr sz="1100" b="1" i="0">
                <a:solidFill>
                  <a:srgbClr val="111111"/>
                </a:solidFill>
                <a:latin typeface="Arial"/>
              </a:rPr>
              <a:t>livré à la maison</a:t>
            </a:r>
            <a:r>
              <a:rPr sz="1100" b="0" i="0">
                <a:solidFill>
                  <a:srgbClr val="111111"/>
                </a:solidFill>
                <a:latin typeface="Arial"/>
              </a:rPr>
              <a:t>   numérique</a:t>
            </a:r>
          </a:p>
        </p:txBody>
      </p:sp>
      <p:sp>
        <p:nvSpPr>
          <p:cNvPr id="59" name="TextBox 58"/>
          <p:cNvSpPr txBox="1"/>
          <p:nvPr/>
        </p:nvSpPr>
        <p:spPr>
          <a:xfrm>
            <a:off x="4437888" y="3767328"/>
            <a:ext cx="2926080" cy="152400"/>
          </a:xfrm>
          <a:prstGeom prst="rect">
            <a:avLst/>
          </a:prstGeom>
          <a:noFill/>
        </p:spPr>
        <p:txBody>
          <a:bodyPr wrap="square" anchor="t" lIns="0" rIns="0" tIns="0" bIns="0">
            <a:spAutoFit/>
          </a:bodyPr>
          <a:lstStyle/>
          <a:p>
            <a:pPr algn="l"/>
            <a:r>
              <a:rPr sz="1300" b="1" i="0">
                <a:solidFill>
                  <a:srgbClr val="555B66"/>
                </a:solidFill>
                <a:latin typeface="Arial"/>
              </a:rPr>
              <a:t>EXEMPLES DE REQUÊTES</a:t>
            </a:r>
          </a:p>
        </p:txBody>
      </p:sp>
      <p:sp>
        <p:nvSpPr>
          <p:cNvPr id="60" name="TextBox 59"/>
          <p:cNvSpPr txBox="1"/>
          <p:nvPr/>
        </p:nvSpPr>
        <p:spPr>
          <a:xfrm>
            <a:off x="4437888" y="3992880"/>
            <a:ext cx="2926080" cy="121920"/>
          </a:xfrm>
          <a:prstGeom prst="rect">
            <a:avLst/>
          </a:prstGeom>
          <a:noFill/>
        </p:spPr>
        <p:txBody>
          <a:bodyPr wrap="square" anchor="t" lIns="0" rIns="0" tIns="0" bIns="0">
            <a:spAutoFit/>
          </a:bodyPr>
          <a:lstStyle/>
          <a:p>
            <a:pPr algn="l"/>
            <a:r>
              <a:rPr sz="1000" b="0" i="1">
                <a:solidFill>
                  <a:srgbClr val="8A93A6"/>
                </a:solidFill>
                <a:latin typeface="Arial"/>
              </a:rPr>
              <a:t>Questions posées aux IA</a:t>
            </a:r>
          </a:p>
        </p:txBody>
      </p:sp>
      <p:sp>
        <p:nvSpPr>
          <p:cNvPr id="61" name="TextBox 60"/>
          <p:cNvSpPr txBox="1"/>
          <p:nvPr/>
        </p:nvSpPr>
        <p:spPr>
          <a:xfrm>
            <a:off x="4437888" y="4267200"/>
            <a:ext cx="2913888" cy="304800"/>
          </a:xfrm>
          <a:prstGeom prst="rect">
            <a:avLst/>
          </a:prstGeom>
          <a:noFill/>
        </p:spPr>
        <p:txBody>
          <a:bodyPr wrap="square" anchor="ctr" lIns="0" rIns="0" tIns="0" bIns="0">
            <a:spAutoFit/>
          </a:bodyPr>
          <a:lstStyle/>
          <a:p>
            <a:pPr algn="l"/>
            <a:r>
              <a:rPr sz="1000" b="0" i="0">
                <a:solidFill>
                  <a:srgbClr val="111111"/>
                </a:solidFill>
                <a:latin typeface="Arial"/>
              </a:rPr>
              <a:t>Quel premier magazine pour un enfant d'un an ?</a:t>
            </a:r>
          </a:p>
        </p:txBody>
      </p:sp>
      <p:sp>
        <p:nvSpPr>
          <p:cNvPr id="62" name="Rectangle 61"/>
          <p:cNvSpPr/>
          <p:nvPr/>
        </p:nvSpPr>
        <p:spPr>
          <a:xfrm>
            <a:off x="4437888" y="4602480"/>
            <a:ext cx="2913888" cy="6096"/>
          </a:xfrm>
          <a:prstGeom prst="rect">
            <a:avLst/>
          </a:prstGeom>
          <a:solidFill>
            <a:srgbClr val="E6E3DE"/>
          </a:solidFill>
          <a:ln>
            <a:noFill/>
          </a:ln>
          <a:effectLst/>
        </p:spPr>
        <p:txBody>
          <a:bodyPr rtlCol="0" anchor="ctr"/>
          <a:lstStyle/>
          <a:p>
            <a:pPr algn="ctr"/>
          </a:p>
        </p:txBody>
      </p:sp>
      <p:sp>
        <p:nvSpPr>
          <p:cNvPr id="63" name="TextBox 62"/>
          <p:cNvSpPr txBox="1"/>
          <p:nvPr/>
        </p:nvSpPr>
        <p:spPr>
          <a:xfrm>
            <a:off x="4437888" y="4632960"/>
            <a:ext cx="2913888" cy="304800"/>
          </a:xfrm>
          <a:prstGeom prst="rect">
            <a:avLst/>
          </a:prstGeom>
          <a:noFill/>
        </p:spPr>
        <p:txBody>
          <a:bodyPr wrap="square" anchor="ctr" lIns="0" rIns="0" tIns="0" bIns="0">
            <a:spAutoFit/>
          </a:bodyPr>
          <a:lstStyle/>
          <a:p>
            <a:pPr algn="l"/>
            <a:r>
              <a:rPr sz="1000" b="0" i="0">
                <a:solidFill>
                  <a:srgbClr val="111111"/>
                </a:solidFill>
                <a:latin typeface="Arial"/>
              </a:rPr>
              <a:t>Quel magazine accompagne l'apprentissage de la lecture au CP ?</a:t>
            </a:r>
          </a:p>
        </p:txBody>
      </p:sp>
      <p:sp>
        <p:nvSpPr>
          <p:cNvPr id="64" name="Rectangle 63"/>
          <p:cNvSpPr/>
          <p:nvPr/>
        </p:nvSpPr>
        <p:spPr>
          <a:xfrm>
            <a:off x="4437888" y="4968240"/>
            <a:ext cx="2913888" cy="6096"/>
          </a:xfrm>
          <a:prstGeom prst="rect">
            <a:avLst/>
          </a:prstGeom>
          <a:solidFill>
            <a:srgbClr val="E6E3DE"/>
          </a:solidFill>
          <a:ln>
            <a:noFill/>
          </a:ln>
          <a:effectLst/>
        </p:spPr>
        <p:txBody>
          <a:bodyPr rtlCol="0" anchor="ctr"/>
          <a:lstStyle/>
          <a:p>
            <a:pPr algn="ctr"/>
          </a:p>
        </p:txBody>
      </p:sp>
      <p:sp>
        <p:nvSpPr>
          <p:cNvPr id="65" name="TextBox 64"/>
          <p:cNvSpPr txBox="1"/>
          <p:nvPr/>
        </p:nvSpPr>
        <p:spPr>
          <a:xfrm>
            <a:off x="4437888" y="4998720"/>
            <a:ext cx="2913888" cy="304800"/>
          </a:xfrm>
          <a:prstGeom prst="rect">
            <a:avLst/>
          </a:prstGeom>
          <a:noFill/>
        </p:spPr>
        <p:txBody>
          <a:bodyPr wrap="square" anchor="ctr" lIns="0" rIns="0" tIns="0" bIns="0">
            <a:spAutoFit/>
          </a:bodyPr>
          <a:lstStyle/>
          <a:p>
            <a:pPr algn="l"/>
            <a:r>
              <a:rPr sz="1000" b="0" i="0">
                <a:solidFill>
                  <a:srgbClr val="111111"/>
                </a:solidFill>
                <a:latin typeface="Arial"/>
              </a:rPr>
              <a:t>Comment aider mon enfant à apprendre l'anglais en s'amusant ?</a:t>
            </a:r>
          </a:p>
        </p:txBody>
      </p:sp>
      <p:sp>
        <p:nvSpPr>
          <p:cNvPr id="66" name="Rectangle 65"/>
          <p:cNvSpPr/>
          <p:nvPr/>
        </p:nvSpPr>
        <p:spPr>
          <a:xfrm>
            <a:off x="4437888" y="5334000"/>
            <a:ext cx="2913888" cy="6096"/>
          </a:xfrm>
          <a:prstGeom prst="rect">
            <a:avLst/>
          </a:prstGeom>
          <a:solidFill>
            <a:srgbClr val="E6E3DE"/>
          </a:solidFill>
          <a:ln>
            <a:noFill/>
          </a:ln>
          <a:effectLst/>
        </p:spPr>
        <p:txBody>
          <a:bodyPr rtlCol="0" anchor="ctr"/>
          <a:lstStyle/>
          <a:p>
            <a:pPr algn="ctr"/>
          </a:p>
        </p:txBody>
      </p:sp>
      <p:sp>
        <p:nvSpPr>
          <p:cNvPr id="67" name="TextBox 66"/>
          <p:cNvSpPr txBox="1"/>
          <p:nvPr/>
        </p:nvSpPr>
        <p:spPr>
          <a:xfrm>
            <a:off x="4437888" y="5364480"/>
            <a:ext cx="2913888" cy="304800"/>
          </a:xfrm>
          <a:prstGeom prst="rect">
            <a:avLst/>
          </a:prstGeom>
          <a:noFill/>
        </p:spPr>
        <p:txBody>
          <a:bodyPr wrap="square" anchor="ctr" lIns="0" rIns="0" tIns="0" bIns="0">
            <a:spAutoFit/>
          </a:bodyPr>
          <a:lstStyle/>
          <a:p>
            <a:pPr algn="l"/>
            <a:r>
              <a:rPr sz="1000" b="0" i="0">
                <a:solidFill>
                  <a:srgbClr val="111111"/>
                </a:solidFill>
                <a:latin typeface="Arial"/>
              </a:rPr>
              <a:t>Où trouver des histoires audio pour le coucher ?</a:t>
            </a:r>
          </a:p>
        </p:txBody>
      </p:sp>
      <p:sp>
        <p:nvSpPr>
          <p:cNvPr id="68" name="Rectangle 67"/>
          <p:cNvSpPr/>
          <p:nvPr/>
        </p:nvSpPr>
        <p:spPr>
          <a:xfrm>
            <a:off x="4437888" y="5699760"/>
            <a:ext cx="2913888" cy="6096"/>
          </a:xfrm>
          <a:prstGeom prst="rect">
            <a:avLst/>
          </a:prstGeom>
          <a:solidFill>
            <a:srgbClr val="E6E3DE"/>
          </a:solidFill>
          <a:ln>
            <a:noFill/>
          </a:ln>
          <a:effectLst/>
        </p:spPr>
        <p:txBody>
          <a:bodyPr rtlCol="0" anchor="ctr"/>
          <a:lstStyle/>
          <a:p>
            <a:pPr algn="ctr"/>
          </a:p>
        </p:txBody>
      </p:sp>
      <p:sp>
        <p:nvSpPr>
          <p:cNvPr id="69" name="TextBox 68"/>
          <p:cNvSpPr txBox="1"/>
          <p:nvPr/>
        </p:nvSpPr>
        <p:spPr>
          <a:xfrm>
            <a:off x="4437888" y="5730240"/>
            <a:ext cx="2913888" cy="304800"/>
          </a:xfrm>
          <a:prstGeom prst="rect">
            <a:avLst/>
          </a:prstGeom>
          <a:noFill/>
        </p:spPr>
        <p:txBody>
          <a:bodyPr wrap="square" anchor="ctr" lIns="0" rIns="0" tIns="0" bIns="0">
            <a:spAutoFit/>
          </a:bodyPr>
          <a:lstStyle/>
          <a:p>
            <a:pPr algn="l"/>
            <a:r>
              <a:rPr sz="1000" b="0" i="0">
                <a:solidFill>
                  <a:srgbClr val="111111"/>
                </a:solidFill>
                <a:latin typeface="Arial"/>
              </a:rPr>
              <a:t>Quel abonnement offrir pour l'anniversaire d'un enfant ?</a:t>
            </a:r>
          </a:p>
        </p:txBody>
      </p:sp>
      <p:sp>
        <p:nvSpPr>
          <p:cNvPr id="70" name="TextBox 69"/>
          <p:cNvSpPr txBox="1"/>
          <p:nvPr/>
        </p:nvSpPr>
        <p:spPr>
          <a:xfrm>
            <a:off x="8101584" y="3767328"/>
            <a:ext cx="2926080" cy="152400"/>
          </a:xfrm>
          <a:prstGeom prst="rect">
            <a:avLst/>
          </a:prstGeom>
          <a:noFill/>
        </p:spPr>
        <p:txBody>
          <a:bodyPr wrap="square" anchor="t" lIns="0" rIns="0" tIns="0" bIns="0">
            <a:spAutoFit/>
          </a:bodyPr>
          <a:lstStyle/>
          <a:p>
            <a:pPr algn="l"/>
            <a:r>
              <a:rPr sz="1300" b="1" i="0">
                <a:solidFill>
                  <a:srgbClr val="555B66"/>
                </a:solidFill>
                <a:latin typeface="Arial"/>
              </a:rPr>
              <a:t>CATÉGORIES DE PRODUITS</a:t>
            </a:r>
          </a:p>
        </p:txBody>
      </p:sp>
      <p:sp>
        <p:nvSpPr>
          <p:cNvPr id="71" name="TextBox 70"/>
          <p:cNvSpPr txBox="1"/>
          <p:nvPr/>
        </p:nvSpPr>
        <p:spPr>
          <a:xfrm>
            <a:off x="8101584" y="3992880"/>
            <a:ext cx="2926080" cy="121920"/>
          </a:xfrm>
          <a:prstGeom prst="rect">
            <a:avLst/>
          </a:prstGeom>
          <a:noFill/>
        </p:spPr>
        <p:txBody>
          <a:bodyPr wrap="square" anchor="t" lIns="0" rIns="0" tIns="0" bIns="0">
            <a:spAutoFit/>
          </a:bodyPr>
          <a:lstStyle/>
          <a:p>
            <a:pPr algn="l"/>
            <a:r>
              <a:rPr sz="1000" b="0" i="1">
                <a:solidFill>
                  <a:srgbClr val="8A93A6"/>
                </a:solidFill>
                <a:latin typeface="Arial"/>
              </a:rPr>
              <a:t>Répartition des requêtes</a:t>
            </a:r>
          </a:p>
        </p:txBody>
      </p:sp>
      <p:sp>
        <p:nvSpPr>
          <p:cNvPr id="72" name="TextBox 71"/>
          <p:cNvSpPr txBox="1"/>
          <p:nvPr/>
        </p:nvSpPr>
        <p:spPr>
          <a:xfrm>
            <a:off x="8101584" y="4267200"/>
            <a:ext cx="2194560" cy="134112"/>
          </a:xfrm>
          <a:prstGeom prst="rect">
            <a:avLst/>
          </a:prstGeom>
          <a:noFill/>
        </p:spPr>
        <p:txBody>
          <a:bodyPr wrap="square" anchor="t" lIns="0" rIns="0" tIns="0" bIns="0">
            <a:spAutoFit/>
          </a:bodyPr>
          <a:lstStyle/>
          <a:p>
            <a:pPr algn="l"/>
            <a:r>
              <a:rPr sz="1000" b="0" i="0">
                <a:solidFill>
                  <a:srgbClr val="111111"/>
                </a:solidFill>
                <a:latin typeface="Arial"/>
              </a:rPr>
              <a:t>Lecture et découverte 6-10 ans</a:t>
            </a:r>
          </a:p>
        </p:txBody>
      </p:sp>
      <p:sp>
        <p:nvSpPr>
          <p:cNvPr id="73" name="Rectangle 72"/>
          <p:cNvSpPr/>
          <p:nvPr/>
        </p:nvSpPr>
        <p:spPr>
          <a:xfrm>
            <a:off x="8101584" y="4419600"/>
            <a:ext cx="2011680" cy="54864"/>
          </a:xfrm>
          <a:prstGeom prst="rect">
            <a:avLst/>
          </a:prstGeom>
          <a:solidFill>
            <a:srgbClr val="ECEAE5"/>
          </a:solidFill>
          <a:ln>
            <a:noFill/>
          </a:ln>
          <a:effectLst/>
        </p:spPr>
        <p:txBody>
          <a:bodyPr rtlCol="0" anchor="ctr"/>
          <a:lstStyle/>
          <a:p>
            <a:pPr algn="ctr"/>
          </a:p>
        </p:txBody>
      </p:sp>
      <p:sp>
        <p:nvSpPr>
          <p:cNvPr id="74" name="Rectangle 73"/>
          <p:cNvSpPr/>
          <p:nvPr/>
        </p:nvSpPr>
        <p:spPr>
          <a:xfrm>
            <a:off x="8101584" y="4419600"/>
            <a:ext cx="663854" cy="54864"/>
          </a:xfrm>
          <a:prstGeom prst="rect">
            <a:avLst/>
          </a:prstGeom>
          <a:solidFill>
            <a:srgbClr val="9AA3B2"/>
          </a:solidFill>
          <a:ln>
            <a:noFill/>
          </a:ln>
          <a:effectLst/>
        </p:spPr>
        <p:txBody>
          <a:bodyPr rtlCol="0" anchor="ctr"/>
          <a:lstStyle/>
          <a:p>
            <a:pPr algn="ctr"/>
          </a:p>
        </p:txBody>
      </p:sp>
      <p:sp>
        <p:nvSpPr>
          <p:cNvPr id="75" name="TextBox 74"/>
          <p:cNvSpPr txBox="1"/>
          <p:nvPr/>
        </p:nvSpPr>
        <p:spPr>
          <a:xfrm>
            <a:off x="10241280" y="4340352"/>
            <a:ext cx="792480" cy="182880"/>
          </a:xfrm>
          <a:prstGeom prst="rect">
            <a:avLst/>
          </a:prstGeom>
          <a:noFill/>
        </p:spPr>
        <p:txBody>
          <a:bodyPr wrap="square" anchor="ctr" lIns="0" rIns="0" tIns="0" bIns="0">
            <a:spAutoFit/>
          </a:bodyPr>
          <a:lstStyle/>
          <a:p>
            <a:pPr algn="r"/>
            <a:r>
              <a:rPr sz="1300" b="1" i="0">
                <a:solidFill>
                  <a:srgbClr val="111111"/>
                </a:solidFill>
                <a:latin typeface="Arial"/>
              </a:rPr>
              <a:t>33 %</a:t>
            </a:r>
          </a:p>
        </p:txBody>
      </p:sp>
      <p:sp>
        <p:nvSpPr>
          <p:cNvPr id="76" name="TextBox 75"/>
          <p:cNvSpPr txBox="1"/>
          <p:nvPr/>
        </p:nvSpPr>
        <p:spPr>
          <a:xfrm>
            <a:off x="8101584" y="4584192"/>
            <a:ext cx="2194560" cy="134112"/>
          </a:xfrm>
          <a:prstGeom prst="rect">
            <a:avLst/>
          </a:prstGeom>
          <a:noFill/>
        </p:spPr>
        <p:txBody>
          <a:bodyPr wrap="square" anchor="t" lIns="0" rIns="0" tIns="0" bIns="0">
            <a:spAutoFit/>
          </a:bodyPr>
          <a:lstStyle/>
          <a:p>
            <a:pPr algn="l"/>
            <a:r>
              <a:rPr sz="1000" b="0" i="0">
                <a:solidFill>
                  <a:srgbClr val="111111"/>
                </a:solidFill>
                <a:latin typeface="Arial"/>
              </a:rPr>
              <a:t>Apprentissage de l'anglais</a:t>
            </a:r>
          </a:p>
        </p:txBody>
      </p:sp>
      <p:sp>
        <p:nvSpPr>
          <p:cNvPr id="77" name="Rectangle 76"/>
          <p:cNvSpPr/>
          <p:nvPr/>
        </p:nvSpPr>
        <p:spPr>
          <a:xfrm>
            <a:off x="8101584" y="4736592"/>
            <a:ext cx="2011680" cy="54864"/>
          </a:xfrm>
          <a:prstGeom prst="rect">
            <a:avLst/>
          </a:prstGeom>
          <a:solidFill>
            <a:srgbClr val="ECEAE5"/>
          </a:solidFill>
          <a:ln>
            <a:noFill/>
          </a:ln>
          <a:effectLst/>
        </p:spPr>
        <p:txBody>
          <a:bodyPr rtlCol="0" anchor="ctr"/>
          <a:lstStyle/>
          <a:p>
            <a:pPr algn="ctr"/>
          </a:p>
        </p:txBody>
      </p:sp>
      <p:sp>
        <p:nvSpPr>
          <p:cNvPr id="78" name="Rectangle 77"/>
          <p:cNvSpPr/>
          <p:nvPr/>
        </p:nvSpPr>
        <p:spPr>
          <a:xfrm>
            <a:off x="8101584" y="4736592"/>
            <a:ext cx="160934" cy="54864"/>
          </a:xfrm>
          <a:prstGeom prst="rect">
            <a:avLst/>
          </a:prstGeom>
          <a:solidFill>
            <a:srgbClr val="9AA3B2"/>
          </a:solidFill>
          <a:ln>
            <a:noFill/>
          </a:ln>
          <a:effectLst/>
        </p:spPr>
        <p:txBody>
          <a:bodyPr rtlCol="0" anchor="ctr"/>
          <a:lstStyle/>
          <a:p>
            <a:pPr algn="ctr"/>
          </a:p>
        </p:txBody>
      </p:sp>
      <p:sp>
        <p:nvSpPr>
          <p:cNvPr id="79" name="TextBox 78"/>
          <p:cNvSpPr txBox="1"/>
          <p:nvPr/>
        </p:nvSpPr>
        <p:spPr>
          <a:xfrm>
            <a:off x="10241280" y="4657344"/>
            <a:ext cx="792480" cy="182880"/>
          </a:xfrm>
          <a:prstGeom prst="rect">
            <a:avLst/>
          </a:prstGeom>
          <a:noFill/>
        </p:spPr>
        <p:txBody>
          <a:bodyPr wrap="square" anchor="ctr" lIns="0" rIns="0" tIns="0" bIns="0">
            <a:spAutoFit/>
          </a:bodyPr>
          <a:lstStyle/>
          <a:p>
            <a:pPr algn="r"/>
            <a:r>
              <a:rPr sz="1300" b="1" i="0">
                <a:solidFill>
                  <a:srgbClr val="111111"/>
                </a:solidFill>
                <a:latin typeface="Arial"/>
              </a:rPr>
              <a:t>8 %</a:t>
            </a:r>
          </a:p>
        </p:txBody>
      </p:sp>
      <p:sp>
        <p:nvSpPr>
          <p:cNvPr id="80" name="TextBox 79"/>
          <p:cNvSpPr txBox="1"/>
          <p:nvPr/>
        </p:nvSpPr>
        <p:spPr>
          <a:xfrm>
            <a:off x="8101584" y="4901184"/>
            <a:ext cx="2194560" cy="134112"/>
          </a:xfrm>
          <a:prstGeom prst="rect">
            <a:avLst/>
          </a:prstGeom>
          <a:noFill/>
        </p:spPr>
        <p:txBody>
          <a:bodyPr wrap="square" anchor="t" lIns="0" rIns="0" tIns="0" bIns="0">
            <a:spAutoFit/>
          </a:bodyPr>
          <a:lstStyle/>
          <a:p>
            <a:pPr algn="l"/>
            <a:r>
              <a:rPr sz="1000" b="0" i="0">
                <a:solidFill>
                  <a:srgbClr val="111111"/>
                </a:solidFill>
                <a:latin typeface="Arial"/>
              </a:rPr>
              <a:t>Magazines pour adolescents</a:t>
            </a:r>
          </a:p>
        </p:txBody>
      </p:sp>
      <p:sp>
        <p:nvSpPr>
          <p:cNvPr id="81" name="Rectangle 80"/>
          <p:cNvSpPr/>
          <p:nvPr/>
        </p:nvSpPr>
        <p:spPr>
          <a:xfrm>
            <a:off x="8101584" y="5053584"/>
            <a:ext cx="2011680" cy="54864"/>
          </a:xfrm>
          <a:prstGeom prst="rect">
            <a:avLst/>
          </a:prstGeom>
          <a:solidFill>
            <a:srgbClr val="ECEAE5"/>
          </a:solidFill>
          <a:ln>
            <a:noFill/>
          </a:ln>
          <a:effectLst/>
        </p:spPr>
        <p:txBody>
          <a:bodyPr rtlCol="0" anchor="ctr"/>
          <a:lstStyle/>
          <a:p>
            <a:pPr algn="ctr"/>
          </a:p>
        </p:txBody>
      </p:sp>
      <p:sp>
        <p:nvSpPr>
          <p:cNvPr id="82" name="Rectangle 81"/>
          <p:cNvSpPr/>
          <p:nvPr/>
        </p:nvSpPr>
        <p:spPr>
          <a:xfrm>
            <a:off x="8101584" y="5053584"/>
            <a:ext cx="382219" cy="54864"/>
          </a:xfrm>
          <a:prstGeom prst="rect">
            <a:avLst/>
          </a:prstGeom>
          <a:solidFill>
            <a:srgbClr val="9AA3B2"/>
          </a:solidFill>
          <a:ln>
            <a:noFill/>
          </a:ln>
          <a:effectLst/>
        </p:spPr>
        <p:txBody>
          <a:bodyPr rtlCol="0" anchor="ctr"/>
          <a:lstStyle/>
          <a:p>
            <a:pPr algn="ctr"/>
          </a:p>
        </p:txBody>
      </p:sp>
      <p:sp>
        <p:nvSpPr>
          <p:cNvPr id="83" name="TextBox 82"/>
          <p:cNvSpPr txBox="1"/>
          <p:nvPr/>
        </p:nvSpPr>
        <p:spPr>
          <a:xfrm>
            <a:off x="10241280" y="4974336"/>
            <a:ext cx="792480" cy="182880"/>
          </a:xfrm>
          <a:prstGeom prst="rect">
            <a:avLst/>
          </a:prstGeom>
          <a:noFill/>
        </p:spPr>
        <p:txBody>
          <a:bodyPr wrap="square" anchor="ctr" lIns="0" rIns="0" tIns="0" bIns="0">
            <a:spAutoFit/>
          </a:bodyPr>
          <a:lstStyle/>
          <a:p>
            <a:pPr algn="r"/>
            <a:r>
              <a:rPr sz="1300" b="1" i="0">
                <a:solidFill>
                  <a:srgbClr val="111111"/>
                </a:solidFill>
                <a:latin typeface="Arial"/>
              </a:rPr>
              <a:t>19 %</a:t>
            </a:r>
          </a:p>
        </p:txBody>
      </p:sp>
      <p:sp>
        <p:nvSpPr>
          <p:cNvPr id="84" name="TextBox 83"/>
          <p:cNvSpPr txBox="1"/>
          <p:nvPr/>
        </p:nvSpPr>
        <p:spPr>
          <a:xfrm>
            <a:off x="8101584" y="5218176"/>
            <a:ext cx="2194560" cy="134112"/>
          </a:xfrm>
          <a:prstGeom prst="rect">
            <a:avLst/>
          </a:prstGeom>
          <a:noFill/>
        </p:spPr>
        <p:txBody>
          <a:bodyPr wrap="square" anchor="t" lIns="0" rIns="0" tIns="0" bIns="0">
            <a:spAutoFit/>
          </a:bodyPr>
          <a:lstStyle/>
          <a:p>
            <a:pPr algn="l"/>
            <a:r>
              <a:rPr sz="1000" b="0" i="0">
                <a:solidFill>
                  <a:srgbClr val="111111"/>
                </a:solidFill>
                <a:latin typeface="Arial"/>
              </a:rPr>
              <a:t>Éveil et petite enfance</a:t>
            </a:r>
          </a:p>
        </p:txBody>
      </p:sp>
      <p:sp>
        <p:nvSpPr>
          <p:cNvPr id="85" name="Rectangle 84"/>
          <p:cNvSpPr/>
          <p:nvPr/>
        </p:nvSpPr>
        <p:spPr>
          <a:xfrm>
            <a:off x="8101584" y="5370576"/>
            <a:ext cx="2011680" cy="54864"/>
          </a:xfrm>
          <a:prstGeom prst="rect">
            <a:avLst/>
          </a:prstGeom>
          <a:solidFill>
            <a:srgbClr val="ECEAE5"/>
          </a:solidFill>
          <a:ln>
            <a:noFill/>
          </a:ln>
          <a:effectLst/>
        </p:spPr>
        <p:txBody>
          <a:bodyPr rtlCol="0" anchor="ctr"/>
          <a:lstStyle/>
          <a:p>
            <a:pPr algn="ctr"/>
          </a:p>
        </p:txBody>
      </p:sp>
      <p:sp>
        <p:nvSpPr>
          <p:cNvPr id="86" name="Rectangle 85"/>
          <p:cNvSpPr/>
          <p:nvPr/>
        </p:nvSpPr>
        <p:spPr>
          <a:xfrm>
            <a:off x="8101584" y="5370576"/>
            <a:ext cx="804672" cy="54864"/>
          </a:xfrm>
          <a:prstGeom prst="rect">
            <a:avLst/>
          </a:prstGeom>
          <a:solidFill>
            <a:srgbClr val="EE6A2C"/>
          </a:solidFill>
          <a:ln>
            <a:noFill/>
          </a:ln>
          <a:effectLst/>
        </p:spPr>
        <p:txBody>
          <a:bodyPr rtlCol="0" anchor="ctr"/>
          <a:lstStyle/>
          <a:p>
            <a:pPr algn="ctr"/>
          </a:p>
        </p:txBody>
      </p:sp>
      <p:sp>
        <p:nvSpPr>
          <p:cNvPr id="87" name="TextBox 86"/>
          <p:cNvSpPr txBox="1"/>
          <p:nvPr/>
        </p:nvSpPr>
        <p:spPr>
          <a:xfrm>
            <a:off x="10241280" y="5291328"/>
            <a:ext cx="792480" cy="182880"/>
          </a:xfrm>
          <a:prstGeom prst="rect">
            <a:avLst/>
          </a:prstGeom>
          <a:noFill/>
        </p:spPr>
        <p:txBody>
          <a:bodyPr wrap="square" anchor="ctr" lIns="0" rIns="0" tIns="0" bIns="0">
            <a:spAutoFit/>
          </a:bodyPr>
          <a:lstStyle/>
          <a:p>
            <a:pPr algn="r"/>
            <a:r>
              <a:rPr sz="1300" b="1" i="0">
                <a:solidFill>
                  <a:srgbClr val="111111"/>
                </a:solidFill>
                <a:latin typeface="Arial"/>
              </a:rPr>
              <a:t>40 %</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6F2"/>
          </a:solidFill>
          <a:ln>
            <a:noFill/>
          </a:ln>
          <a:effectLst/>
        </p:spPr>
        <p:txBody>
          <a:bodyPr rtlCol="0" anchor="ctr"/>
          <a:lstStyle/>
          <a:p>
            <a:pPr algn="ctr"/>
          </a:p>
        </p:txBody>
      </p:sp>
      <p:sp>
        <p:nvSpPr>
          <p:cNvPr id="3" name="TextBox 2"/>
          <p:cNvSpPr txBox="1"/>
          <p:nvPr/>
        </p:nvSpPr>
        <p:spPr>
          <a:xfrm>
            <a:off x="579120" y="426720"/>
            <a:ext cx="7315200" cy="182880"/>
          </a:xfrm>
          <a:prstGeom prst="rect">
            <a:avLst/>
          </a:prstGeom>
          <a:noFill/>
        </p:spPr>
        <p:txBody>
          <a:bodyPr wrap="square" anchor="t" lIns="0" rIns="0" tIns="0" bIns="0">
            <a:spAutoFit/>
          </a:bodyPr>
          <a:lstStyle/>
          <a:p>
            <a:pPr algn="l"/>
            <a:r>
              <a:rPr sz="1300" b="1" i="0">
                <a:solidFill>
                  <a:srgbClr val="EE6A2C"/>
                </a:solidFill>
                <a:latin typeface="Arial"/>
              </a:rPr>
              <a:t>INSIGHTS QUALITATIFS · SEPTEMBRE 2026</a:t>
            </a:r>
          </a:p>
        </p:txBody>
      </p:sp>
      <p:sp>
        <p:nvSpPr>
          <p:cNvPr id="4" name="TextBox 3"/>
          <p:cNvSpPr txBox="1"/>
          <p:nvPr/>
        </p:nvSpPr>
        <p:spPr>
          <a:xfrm>
            <a:off x="579120" y="609600"/>
            <a:ext cx="7315200" cy="487680"/>
          </a:xfrm>
          <a:prstGeom prst="rect">
            <a:avLst/>
          </a:prstGeom>
          <a:noFill/>
        </p:spPr>
        <p:txBody>
          <a:bodyPr wrap="square" anchor="t" lIns="0" rIns="0" tIns="0" bIns="0">
            <a:spAutoFit/>
          </a:bodyPr>
          <a:lstStyle/>
          <a:p>
            <a:pPr algn="l"/>
            <a:r>
              <a:rPr sz="3600" b="1" i="0">
                <a:solidFill>
                  <a:srgbClr val="111111"/>
                </a:solidFill>
                <a:latin typeface="Arial"/>
              </a:rPr>
              <a:t>Bayard Jeunesse</a:t>
            </a:r>
          </a:p>
        </p:txBody>
      </p:sp>
      <p:sp>
        <p:nvSpPr>
          <p:cNvPr id="5" name="TextBox 4"/>
          <p:cNvSpPr txBox="1"/>
          <p:nvPr/>
        </p:nvSpPr>
        <p:spPr>
          <a:xfrm>
            <a:off x="9144000" y="499872"/>
            <a:ext cx="1889760" cy="182880"/>
          </a:xfrm>
          <a:prstGeom prst="rect">
            <a:avLst/>
          </a:prstGeom>
          <a:noFill/>
        </p:spPr>
        <p:txBody>
          <a:bodyPr wrap="square" anchor="t" lIns="0" rIns="0" tIns="0" bIns="0">
            <a:spAutoFit/>
          </a:bodyPr>
          <a:lstStyle/>
          <a:p>
            <a:pPr algn="r"/>
            <a:r>
              <a:rPr sz="1500" b="1" i="0">
                <a:solidFill>
                  <a:srgbClr val="111111"/>
                </a:solidFill>
                <a:latin typeface="Arial"/>
              </a:rPr>
              <a:t>Lemrock</a:t>
            </a:r>
          </a:p>
        </p:txBody>
      </p:sp>
      <p:sp>
        <p:nvSpPr>
          <p:cNvPr id="6" name="TextBox 5"/>
          <p:cNvSpPr txBox="1"/>
          <p:nvPr/>
        </p:nvSpPr>
        <p:spPr>
          <a:xfrm>
            <a:off x="579120" y="1219200"/>
            <a:ext cx="9144000" cy="182880"/>
          </a:xfrm>
          <a:prstGeom prst="rect">
            <a:avLst/>
          </a:prstGeom>
          <a:noFill/>
        </p:spPr>
        <p:txBody>
          <a:bodyPr wrap="square" anchor="t" lIns="0" rIns="0" tIns="0" bIns="0">
            <a:spAutoFit/>
          </a:bodyPr>
          <a:lstStyle/>
          <a:p>
            <a:pPr algn="l"/>
            <a:r>
              <a:rPr sz="1300" b="1" i="0">
                <a:solidFill>
                  <a:srgbClr val="EE6A2C"/>
                </a:solidFill>
                <a:latin typeface="Arial"/>
              </a:rPr>
              <a:t>OBJECTIF   </a:t>
            </a:r>
            <a:r>
              <a:rPr sz="1300" b="0" i="0">
                <a:solidFill>
                  <a:srgbClr val="111111"/>
                </a:solidFill>
                <a:latin typeface="Arial"/>
              </a:rPr>
              <a:t>À définir</a:t>
            </a:r>
          </a:p>
        </p:txBody>
      </p:sp>
      <p:sp>
        <p:nvSpPr>
          <p:cNvPr id="7" name="TextBox 6"/>
          <p:cNvSpPr txBox="1"/>
          <p:nvPr/>
        </p:nvSpPr>
        <p:spPr>
          <a:xfrm>
            <a:off x="579120" y="1524000"/>
            <a:ext cx="4876800" cy="182880"/>
          </a:xfrm>
          <a:prstGeom prst="rect">
            <a:avLst/>
          </a:prstGeom>
          <a:noFill/>
        </p:spPr>
        <p:txBody>
          <a:bodyPr wrap="square" anchor="t" lIns="0" rIns="0" tIns="0" bIns="0">
            <a:spAutoFit/>
          </a:bodyPr>
          <a:lstStyle/>
          <a:p>
            <a:pPr algn="l"/>
            <a:r>
              <a:rPr sz="1400" b="1" i="0">
                <a:solidFill>
                  <a:srgbClr val="555B66"/>
                </a:solidFill>
                <a:latin typeface="Arial"/>
              </a:rPr>
              <a:t>INSIGHTS QUALITATIFS</a:t>
            </a:r>
          </a:p>
        </p:txBody>
      </p:sp>
      <p:sp>
        <p:nvSpPr>
          <p:cNvPr id="8" name="Rectangle 7"/>
          <p:cNvSpPr/>
          <p:nvPr/>
        </p:nvSpPr>
        <p:spPr>
          <a:xfrm>
            <a:off x="579120" y="1816608"/>
            <a:ext cx="5071872" cy="2121408"/>
          </a:xfrm>
          <a:prstGeom prst="rect">
            <a:avLst/>
          </a:prstGeom>
          <a:solidFill>
            <a:srgbClr val="FFFFFF"/>
          </a:solidFill>
          <a:ln>
            <a:noFill/>
          </a:ln>
          <a:effectLst/>
        </p:spPr>
        <p:txBody>
          <a:bodyPr rtlCol="0" anchor="ctr"/>
          <a:lstStyle/>
          <a:p>
            <a:pPr algn="ctr"/>
          </a:p>
        </p:txBody>
      </p:sp>
      <p:sp>
        <p:nvSpPr>
          <p:cNvPr id="9" name="TextBox 8"/>
          <p:cNvSpPr txBox="1"/>
          <p:nvPr/>
        </p:nvSpPr>
        <p:spPr>
          <a:xfrm>
            <a:off x="835152" y="2029968"/>
            <a:ext cx="487680" cy="243840"/>
          </a:xfrm>
          <a:prstGeom prst="rect">
            <a:avLst/>
          </a:prstGeom>
          <a:noFill/>
        </p:spPr>
        <p:txBody>
          <a:bodyPr wrap="square" anchor="t" lIns="0" rIns="0" tIns="0" bIns="0">
            <a:spAutoFit/>
          </a:bodyPr>
          <a:lstStyle/>
          <a:p>
            <a:pPr algn="l"/>
            <a:r>
              <a:rPr sz="2000" b="1" i="0">
                <a:solidFill>
                  <a:srgbClr val="EE6A2C"/>
                </a:solidFill>
                <a:latin typeface="Arial"/>
              </a:rPr>
              <a:t>01</a:t>
            </a:r>
          </a:p>
        </p:txBody>
      </p:sp>
      <p:sp>
        <p:nvSpPr>
          <p:cNvPr id="10" name="TextBox 9"/>
          <p:cNvSpPr txBox="1"/>
          <p:nvPr/>
        </p:nvSpPr>
        <p:spPr>
          <a:xfrm>
            <a:off x="1383792" y="2048256"/>
            <a:ext cx="4023360" cy="365760"/>
          </a:xfrm>
          <a:prstGeom prst="rect">
            <a:avLst/>
          </a:prstGeom>
          <a:noFill/>
        </p:spPr>
        <p:txBody>
          <a:bodyPr wrap="square" anchor="t" lIns="0" rIns="0" tIns="0" bIns="0">
            <a:spAutoFit/>
          </a:bodyPr>
          <a:lstStyle/>
          <a:p>
            <a:pPr algn="l"/>
            <a:r>
              <a:rPr sz="1400" b="1" i="0">
                <a:solidFill>
                  <a:srgbClr val="111111"/>
                </a:solidFill>
                <a:latin typeface="Arial"/>
              </a:rPr>
              <a:t>Mettre en avant les magazines ados</a:t>
            </a:r>
          </a:p>
        </p:txBody>
      </p:sp>
      <p:sp>
        <p:nvSpPr>
          <p:cNvPr id="11" name="TextBox 10"/>
          <p:cNvSpPr txBox="1"/>
          <p:nvPr/>
        </p:nvSpPr>
        <p:spPr>
          <a:xfrm>
            <a:off x="835152" y="2609088"/>
            <a:ext cx="4572000" cy="731520"/>
          </a:xfrm>
          <a:prstGeom prst="rect">
            <a:avLst/>
          </a:prstGeom>
          <a:noFill/>
        </p:spPr>
        <p:txBody>
          <a:bodyPr wrap="square" anchor="t" lIns="0" rIns="0" tIns="0" bIns="0">
            <a:spAutoFit/>
          </a:bodyPr>
          <a:lstStyle/>
          <a:p>
            <a:pPr algn="l"/>
            <a:r>
              <a:rPr sz="1100" b="0" i="0">
                <a:solidFill>
                  <a:srgbClr val="555B66"/>
                </a:solidFill>
                <a:latin typeface="Arial"/>
              </a:rPr>
              <a:t>Les magazines pour adolescents (Phosphore, Okapi, So Foot Club, Je bouquine) atteignent 1,39 fois le CTR moyen. Phosphore atteint même 2,23 fois.</a:t>
            </a:r>
          </a:p>
        </p:txBody>
      </p:sp>
      <p:sp>
        <p:nvSpPr>
          <p:cNvPr id="12" name="TextBox 11"/>
          <p:cNvSpPr txBox="1"/>
          <p:nvPr/>
        </p:nvSpPr>
        <p:spPr>
          <a:xfrm>
            <a:off x="835152" y="3310128"/>
            <a:ext cx="4572000" cy="487680"/>
          </a:xfrm>
          <a:prstGeom prst="rect">
            <a:avLst/>
          </a:prstGeom>
          <a:noFill/>
        </p:spPr>
        <p:txBody>
          <a:bodyPr wrap="square" anchor="t" lIns="0" rIns="0" tIns="0" bIns="0">
            <a:spAutoFit/>
          </a:bodyPr>
          <a:lstStyle/>
          <a:p>
            <a:pPr algn="l"/>
            <a:r>
              <a:rPr sz="900" b="1" i="0">
                <a:solidFill>
                  <a:srgbClr val="555B66"/>
                </a:solidFill>
                <a:latin typeface="Arial"/>
              </a:rPr>
              <a:t>→  Donner plus de place aux titres ados dans la diffusion.</a:t>
            </a:r>
          </a:p>
        </p:txBody>
      </p:sp>
      <p:sp>
        <p:nvSpPr>
          <p:cNvPr id="13" name="Rectangle 12"/>
          <p:cNvSpPr/>
          <p:nvPr/>
        </p:nvSpPr>
        <p:spPr>
          <a:xfrm>
            <a:off x="5992368" y="1816608"/>
            <a:ext cx="5071872" cy="2121408"/>
          </a:xfrm>
          <a:prstGeom prst="rect">
            <a:avLst/>
          </a:prstGeom>
          <a:solidFill>
            <a:srgbClr val="FFFFFF"/>
          </a:solidFill>
          <a:ln>
            <a:noFill/>
          </a:ln>
          <a:effectLst/>
        </p:spPr>
        <p:txBody>
          <a:bodyPr rtlCol="0" anchor="ctr"/>
          <a:lstStyle/>
          <a:p>
            <a:pPr algn="ctr"/>
          </a:p>
        </p:txBody>
      </p:sp>
      <p:sp>
        <p:nvSpPr>
          <p:cNvPr id="14" name="TextBox 13"/>
          <p:cNvSpPr txBox="1"/>
          <p:nvPr/>
        </p:nvSpPr>
        <p:spPr>
          <a:xfrm>
            <a:off x="6248400" y="2029968"/>
            <a:ext cx="487680" cy="243840"/>
          </a:xfrm>
          <a:prstGeom prst="rect">
            <a:avLst/>
          </a:prstGeom>
          <a:noFill/>
        </p:spPr>
        <p:txBody>
          <a:bodyPr wrap="square" anchor="t" lIns="0" rIns="0" tIns="0" bIns="0">
            <a:spAutoFit/>
          </a:bodyPr>
          <a:lstStyle/>
          <a:p>
            <a:pPr algn="l"/>
            <a:r>
              <a:rPr sz="2000" b="1" i="0">
                <a:solidFill>
                  <a:srgbClr val="EE6A2C"/>
                </a:solidFill>
                <a:latin typeface="Arial"/>
              </a:rPr>
              <a:t>02</a:t>
            </a:r>
          </a:p>
        </p:txBody>
      </p:sp>
      <p:sp>
        <p:nvSpPr>
          <p:cNvPr id="15" name="TextBox 14"/>
          <p:cNvSpPr txBox="1"/>
          <p:nvPr/>
        </p:nvSpPr>
        <p:spPr>
          <a:xfrm>
            <a:off x="6797040" y="2048256"/>
            <a:ext cx="4023360" cy="365760"/>
          </a:xfrm>
          <a:prstGeom prst="rect">
            <a:avLst/>
          </a:prstGeom>
          <a:noFill/>
        </p:spPr>
        <p:txBody>
          <a:bodyPr wrap="square" anchor="t" lIns="0" rIns="0" tIns="0" bIns="0">
            <a:spAutoFit/>
          </a:bodyPr>
          <a:lstStyle/>
          <a:p>
            <a:pPr algn="l"/>
            <a:r>
              <a:rPr sz="1400" b="1" i="0">
                <a:solidFill>
                  <a:srgbClr val="111111"/>
                </a:solidFill>
                <a:latin typeface="Arial"/>
              </a:rPr>
              <a:t>Les magazines documentaires surperforment</a:t>
            </a:r>
          </a:p>
        </p:txBody>
      </p:sp>
      <p:sp>
        <p:nvSpPr>
          <p:cNvPr id="16" name="TextBox 15"/>
          <p:cNvSpPr txBox="1"/>
          <p:nvPr/>
        </p:nvSpPr>
        <p:spPr>
          <a:xfrm>
            <a:off x="6248400" y="2609088"/>
            <a:ext cx="4572000" cy="731520"/>
          </a:xfrm>
          <a:prstGeom prst="rect">
            <a:avLst/>
          </a:prstGeom>
          <a:noFill/>
        </p:spPr>
        <p:txBody>
          <a:bodyPr wrap="square" anchor="t" lIns="0" rIns="0" tIns="0" bIns="0">
            <a:spAutoFit/>
          </a:bodyPr>
          <a:lstStyle/>
          <a:p>
            <a:pPr algn="l"/>
            <a:r>
              <a:rPr sz="1100" b="0" i="0">
                <a:solidFill>
                  <a:srgbClr val="555B66"/>
                </a:solidFill>
                <a:latin typeface="Arial"/>
              </a:rPr>
              <a:t>Images Doc (magazine découvertes 8-12 ans) atteint 2,28 fois le CTR moyen, le meilleur score de la campagne.</a:t>
            </a:r>
          </a:p>
        </p:txBody>
      </p:sp>
      <p:sp>
        <p:nvSpPr>
          <p:cNvPr id="17" name="TextBox 16"/>
          <p:cNvSpPr txBox="1"/>
          <p:nvPr/>
        </p:nvSpPr>
        <p:spPr>
          <a:xfrm>
            <a:off x="6248400" y="3310128"/>
            <a:ext cx="4572000" cy="487680"/>
          </a:xfrm>
          <a:prstGeom prst="rect">
            <a:avLst/>
          </a:prstGeom>
          <a:noFill/>
        </p:spPr>
        <p:txBody>
          <a:bodyPr wrap="square" anchor="t" lIns="0" rIns="0" tIns="0" bIns="0">
            <a:spAutoFit/>
          </a:bodyPr>
          <a:lstStyle/>
          <a:p>
            <a:pPr algn="l"/>
            <a:r>
              <a:rPr sz="900" b="1" i="0">
                <a:solidFill>
                  <a:srgbClr val="555B66"/>
                </a:solidFill>
                <a:latin typeface="Arial"/>
              </a:rPr>
              <a:t>→  Mettre en avant les titres qui aident à comprendre le monde.</a:t>
            </a:r>
          </a:p>
        </p:txBody>
      </p:sp>
      <p:sp>
        <p:nvSpPr>
          <p:cNvPr id="18" name="Rectangle 17"/>
          <p:cNvSpPr/>
          <p:nvPr/>
        </p:nvSpPr>
        <p:spPr>
          <a:xfrm>
            <a:off x="579120" y="4133088"/>
            <a:ext cx="5071872" cy="2121408"/>
          </a:xfrm>
          <a:prstGeom prst="rect">
            <a:avLst/>
          </a:prstGeom>
          <a:solidFill>
            <a:srgbClr val="FFFFFF"/>
          </a:solidFill>
          <a:ln>
            <a:noFill/>
          </a:ln>
          <a:effectLst/>
        </p:spPr>
        <p:txBody>
          <a:bodyPr rtlCol="0" anchor="ctr"/>
          <a:lstStyle/>
          <a:p>
            <a:pPr algn="ctr"/>
          </a:p>
        </p:txBody>
      </p:sp>
      <p:sp>
        <p:nvSpPr>
          <p:cNvPr id="19" name="TextBox 18"/>
          <p:cNvSpPr txBox="1"/>
          <p:nvPr/>
        </p:nvSpPr>
        <p:spPr>
          <a:xfrm>
            <a:off x="835152" y="4346448"/>
            <a:ext cx="487680" cy="243840"/>
          </a:xfrm>
          <a:prstGeom prst="rect">
            <a:avLst/>
          </a:prstGeom>
          <a:noFill/>
        </p:spPr>
        <p:txBody>
          <a:bodyPr wrap="square" anchor="t" lIns="0" rIns="0" tIns="0" bIns="0">
            <a:spAutoFit/>
          </a:bodyPr>
          <a:lstStyle/>
          <a:p>
            <a:pPr algn="l"/>
            <a:r>
              <a:rPr sz="2000" b="1" i="0">
                <a:solidFill>
                  <a:srgbClr val="EE6A2C"/>
                </a:solidFill>
                <a:latin typeface="Arial"/>
              </a:rPr>
              <a:t>03</a:t>
            </a:r>
          </a:p>
        </p:txBody>
      </p:sp>
      <p:sp>
        <p:nvSpPr>
          <p:cNvPr id="20" name="TextBox 19"/>
          <p:cNvSpPr txBox="1"/>
          <p:nvPr/>
        </p:nvSpPr>
        <p:spPr>
          <a:xfrm>
            <a:off x="1383792" y="4364736"/>
            <a:ext cx="4023360" cy="365760"/>
          </a:xfrm>
          <a:prstGeom prst="rect">
            <a:avLst/>
          </a:prstGeom>
          <a:noFill/>
        </p:spPr>
        <p:txBody>
          <a:bodyPr wrap="square" anchor="t" lIns="0" rIns="0" tIns="0" bIns="0">
            <a:spAutoFit/>
          </a:bodyPr>
          <a:lstStyle/>
          <a:p>
            <a:pPr algn="l"/>
            <a:r>
              <a:rPr sz="1400" b="1" i="0">
                <a:solidFill>
                  <a:srgbClr val="111111"/>
                </a:solidFill>
                <a:latin typeface="Arial"/>
              </a:rPr>
              <a:t>Revoir les annonces petite enfance et génériques</a:t>
            </a:r>
          </a:p>
        </p:txBody>
      </p:sp>
      <p:sp>
        <p:nvSpPr>
          <p:cNvPr id="21" name="TextBox 20"/>
          <p:cNvSpPr txBox="1"/>
          <p:nvPr/>
        </p:nvSpPr>
        <p:spPr>
          <a:xfrm>
            <a:off x="835152" y="4925568"/>
            <a:ext cx="4572000" cy="731520"/>
          </a:xfrm>
          <a:prstGeom prst="rect">
            <a:avLst/>
          </a:prstGeom>
          <a:noFill/>
        </p:spPr>
        <p:txBody>
          <a:bodyPr wrap="square" anchor="t" lIns="0" rIns="0" tIns="0" bIns="0">
            <a:spAutoFit/>
          </a:bodyPr>
          <a:lstStyle/>
          <a:p>
            <a:pPr algn="l"/>
            <a:r>
              <a:rPr sz="1100" b="0" i="0">
                <a:solidFill>
                  <a:srgbClr val="555B66"/>
                </a:solidFill>
                <a:latin typeface="Arial"/>
              </a:rPr>
              <a:t>L'éveil et la petite enfance représentent 40 % de la diffusion mais restent à 0,92 fois la moyenne (Les Belles Histoires 0,62 fois, Babar 0,67 fois). Les annonces génériques sont à 0,89 fois.</a:t>
            </a:r>
          </a:p>
        </p:txBody>
      </p:sp>
      <p:sp>
        <p:nvSpPr>
          <p:cNvPr id="22" name="TextBox 21"/>
          <p:cNvSpPr txBox="1"/>
          <p:nvPr/>
        </p:nvSpPr>
        <p:spPr>
          <a:xfrm>
            <a:off x="835152" y="5626608"/>
            <a:ext cx="4572000" cy="487680"/>
          </a:xfrm>
          <a:prstGeom prst="rect">
            <a:avLst/>
          </a:prstGeom>
          <a:noFill/>
        </p:spPr>
        <p:txBody>
          <a:bodyPr wrap="square" anchor="t" lIns="0" rIns="0" tIns="0" bIns="0">
            <a:spAutoFit/>
          </a:bodyPr>
          <a:lstStyle/>
          <a:p>
            <a:pPr algn="l"/>
            <a:r>
              <a:rPr sz="900" b="1" i="0">
                <a:solidFill>
                  <a:srgbClr val="555B66"/>
                </a:solidFill>
                <a:latin typeface="Arial"/>
              </a:rPr>
              <a:t>→  Parler aux parents d'un moment précis (histoire du soir, premiers apprentissages) plutôt que de l'abonnement en général.</a:t>
            </a:r>
          </a:p>
        </p:txBody>
      </p:sp>
      <p:sp>
        <p:nvSpPr>
          <p:cNvPr id="23" name="Rectangle 22"/>
          <p:cNvSpPr/>
          <p:nvPr/>
        </p:nvSpPr>
        <p:spPr>
          <a:xfrm>
            <a:off x="5992368" y="4133088"/>
            <a:ext cx="5071872" cy="2121408"/>
          </a:xfrm>
          <a:prstGeom prst="rect">
            <a:avLst/>
          </a:prstGeom>
          <a:solidFill>
            <a:srgbClr val="FFFFFF"/>
          </a:solidFill>
          <a:ln>
            <a:noFill/>
          </a:ln>
          <a:effectLst/>
        </p:spPr>
        <p:txBody>
          <a:bodyPr rtlCol="0" anchor="ctr"/>
          <a:lstStyle/>
          <a:p>
            <a:pPr algn="ctr"/>
          </a:p>
        </p:txBody>
      </p:sp>
      <p:sp>
        <p:nvSpPr>
          <p:cNvPr id="24" name="TextBox 23"/>
          <p:cNvSpPr txBox="1"/>
          <p:nvPr/>
        </p:nvSpPr>
        <p:spPr>
          <a:xfrm>
            <a:off x="6248400" y="4346448"/>
            <a:ext cx="487680" cy="243840"/>
          </a:xfrm>
          <a:prstGeom prst="rect">
            <a:avLst/>
          </a:prstGeom>
          <a:noFill/>
        </p:spPr>
        <p:txBody>
          <a:bodyPr wrap="square" anchor="t" lIns="0" rIns="0" tIns="0" bIns="0">
            <a:spAutoFit/>
          </a:bodyPr>
          <a:lstStyle/>
          <a:p>
            <a:pPr algn="l"/>
            <a:r>
              <a:rPr sz="2000" b="1" i="0">
                <a:solidFill>
                  <a:srgbClr val="EE6A2C"/>
                </a:solidFill>
                <a:latin typeface="Arial"/>
              </a:rPr>
              <a:t>04</a:t>
            </a:r>
          </a:p>
        </p:txBody>
      </p:sp>
      <p:sp>
        <p:nvSpPr>
          <p:cNvPr id="25" name="TextBox 24"/>
          <p:cNvSpPr txBox="1"/>
          <p:nvPr/>
        </p:nvSpPr>
        <p:spPr>
          <a:xfrm>
            <a:off x="6797040" y="4364736"/>
            <a:ext cx="4023360" cy="365760"/>
          </a:xfrm>
          <a:prstGeom prst="rect">
            <a:avLst/>
          </a:prstGeom>
          <a:noFill/>
        </p:spPr>
        <p:txBody>
          <a:bodyPr wrap="square" anchor="t" lIns="0" rIns="0" tIns="0" bIns="0">
            <a:spAutoFit/>
          </a:bodyPr>
          <a:lstStyle/>
          <a:p>
            <a:pPr algn="l"/>
            <a:r>
              <a:rPr sz="1400" b="1" i="0">
                <a:solidFill>
                  <a:srgbClr val="111111"/>
                </a:solidFill>
                <a:latin typeface="Arial"/>
              </a:rPr>
              <a:t>Les clics triplent</a:t>
            </a:r>
          </a:p>
        </p:txBody>
      </p:sp>
      <p:sp>
        <p:nvSpPr>
          <p:cNvPr id="26" name="TextBox 25"/>
          <p:cNvSpPr txBox="1"/>
          <p:nvPr/>
        </p:nvSpPr>
        <p:spPr>
          <a:xfrm>
            <a:off x="6248400" y="4925568"/>
            <a:ext cx="4572000" cy="731520"/>
          </a:xfrm>
          <a:prstGeom prst="rect">
            <a:avLst/>
          </a:prstGeom>
          <a:noFill/>
        </p:spPr>
        <p:txBody>
          <a:bodyPr wrap="square" anchor="t" lIns="0" rIns="0" tIns="0" bIns="0">
            <a:spAutoFit/>
          </a:bodyPr>
          <a:lstStyle/>
          <a:p>
            <a:pPr algn="l"/>
            <a:r>
              <a:rPr sz="1100" b="0" i="0">
                <a:solidFill>
                  <a:srgbClr val="555B66"/>
                </a:solidFill>
                <a:latin typeface="Arial"/>
              </a:rPr>
              <a:t>Les clics passent de 722 à 2 277 pour 7 % d'impressions en plus. Le CTR passe de 0,19 % à 0,56 %.</a:t>
            </a:r>
          </a:p>
        </p:txBody>
      </p:sp>
      <p:sp>
        <p:nvSpPr>
          <p:cNvPr id="27" name="TextBox 26"/>
          <p:cNvSpPr txBox="1"/>
          <p:nvPr/>
        </p:nvSpPr>
        <p:spPr>
          <a:xfrm>
            <a:off x="6248400" y="5626608"/>
            <a:ext cx="4572000" cy="487680"/>
          </a:xfrm>
          <a:prstGeom prst="rect">
            <a:avLst/>
          </a:prstGeom>
          <a:noFill/>
        </p:spPr>
        <p:txBody>
          <a:bodyPr wrap="square" anchor="t" lIns="0" rIns="0" tIns="0" bIns="0">
            <a:spAutoFit/>
          </a:bodyPr>
          <a:lstStyle/>
          <a:p>
            <a:pPr algn="l"/>
            <a:r>
              <a:rPr sz="900" b="1" i="0">
                <a:solidFill>
                  <a:srgbClr val="555B66"/>
                </a:solidFill>
                <a:latin typeface="Arial"/>
              </a:rPr>
              <a:t>→  Prolonger la campagne au-delà du 11/10, pour la période des cadeaux de fin d'année.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6F2"/>
          </a:solidFill>
          <a:ln>
            <a:noFill/>
          </a:ln>
          <a:effectLst/>
        </p:spPr>
        <p:txBody>
          <a:bodyPr rtlCol="0" anchor="ctr"/>
          <a:lstStyle/>
          <a:p>
            <a:pPr algn="ctr"/>
          </a:p>
        </p:txBody>
      </p:sp>
      <p:sp>
        <p:nvSpPr>
          <p:cNvPr id="3" name="TextBox 2"/>
          <p:cNvSpPr txBox="1"/>
          <p:nvPr/>
        </p:nvSpPr>
        <p:spPr>
          <a:xfrm>
            <a:off x="530352" y="487680"/>
            <a:ext cx="7315200" cy="182880"/>
          </a:xfrm>
          <a:prstGeom prst="rect">
            <a:avLst/>
          </a:prstGeom>
          <a:noFill/>
        </p:spPr>
        <p:txBody>
          <a:bodyPr wrap="square" anchor="t" lIns="0" rIns="0" tIns="0" bIns="0">
            <a:spAutoFit/>
          </a:bodyPr>
          <a:lstStyle/>
          <a:p>
            <a:pPr algn="l"/>
            <a:r>
              <a:rPr sz="1300" b="1" i="0">
                <a:solidFill>
                  <a:srgbClr val="EE6A2C"/>
                </a:solidFill>
                <a:latin typeface="Arial"/>
              </a:rPr>
              <a:t>RAPPORT DE PERFORMANCE · 01/09/2026 → 30/09/2026</a:t>
            </a:r>
          </a:p>
        </p:txBody>
      </p:sp>
      <p:sp>
        <p:nvSpPr>
          <p:cNvPr id="4" name="TextBox 3"/>
          <p:cNvSpPr txBox="1"/>
          <p:nvPr/>
        </p:nvSpPr>
        <p:spPr>
          <a:xfrm>
            <a:off x="530352" y="640080"/>
            <a:ext cx="7315200" cy="487680"/>
          </a:xfrm>
          <a:prstGeom prst="rect">
            <a:avLst/>
          </a:prstGeom>
          <a:noFill/>
        </p:spPr>
        <p:txBody>
          <a:bodyPr wrap="square" anchor="t" lIns="0" rIns="0" tIns="0" bIns="0">
            <a:spAutoFit/>
          </a:bodyPr>
          <a:lstStyle/>
          <a:p>
            <a:pPr algn="l"/>
            <a:r>
              <a:rPr sz="3600" b="1" i="0">
                <a:solidFill>
                  <a:srgbClr val="111111"/>
                </a:solidFill>
                <a:latin typeface="Arial"/>
              </a:rPr>
              <a:t>Bosch</a:t>
            </a:r>
          </a:p>
        </p:txBody>
      </p:sp>
      <p:sp>
        <p:nvSpPr>
          <p:cNvPr id="5" name="TextBox 4"/>
          <p:cNvSpPr txBox="1"/>
          <p:nvPr/>
        </p:nvSpPr>
        <p:spPr>
          <a:xfrm>
            <a:off x="7924800" y="591312"/>
            <a:ext cx="3304032" cy="152400"/>
          </a:xfrm>
          <a:prstGeom prst="rect">
            <a:avLst/>
          </a:prstGeom>
          <a:noFill/>
        </p:spPr>
        <p:txBody>
          <a:bodyPr wrap="square" anchor="t" lIns="0" rIns="0" tIns="0" bIns="0">
            <a:spAutoFit/>
          </a:bodyPr>
          <a:lstStyle/>
          <a:p>
            <a:pPr algn="r"/>
            <a:r>
              <a:rPr sz="1200" b="1" i="0">
                <a:solidFill>
                  <a:srgbClr val="8A93A6"/>
                </a:solidFill>
                <a:latin typeface="Arial"/>
              </a:rPr>
              <a:t>COMPARAISON</a:t>
            </a:r>
          </a:p>
        </p:txBody>
      </p:sp>
      <p:sp>
        <p:nvSpPr>
          <p:cNvPr id="6" name="TextBox 5"/>
          <p:cNvSpPr txBox="1"/>
          <p:nvPr/>
        </p:nvSpPr>
        <p:spPr>
          <a:xfrm>
            <a:off x="7924800" y="780288"/>
            <a:ext cx="3304032" cy="182880"/>
          </a:xfrm>
          <a:prstGeom prst="rect">
            <a:avLst/>
          </a:prstGeom>
          <a:noFill/>
        </p:spPr>
        <p:txBody>
          <a:bodyPr wrap="square" anchor="t" lIns="0" rIns="0" tIns="0" bIns="0">
            <a:spAutoFit/>
          </a:bodyPr>
          <a:lstStyle/>
          <a:p>
            <a:pPr algn="r"/>
            <a:r>
              <a:rPr sz="1500" b="1" i="0">
                <a:solidFill>
                  <a:srgbClr val="111111"/>
                </a:solidFill>
                <a:latin typeface="Arial"/>
              </a:rPr>
              <a:t>vs 01/08/2026 → 31/08/2026</a:t>
            </a:r>
          </a:p>
        </p:txBody>
      </p:sp>
      <p:sp>
        <p:nvSpPr>
          <p:cNvPr id="7" name="TextBox 6"/>
          <p:cNvSpPr txBox="1"/>
          <p:nvPr/>
        </p:nvSpPr>
        <p:spPr>
          <a:xfrm>
            <a:off x="530352" y="1280160"/>
            <a:ext cx="2438400" cy="182880"/>
          </a:xfrm>
          <a:prstGeom prst="rect">
            <a:avLst/>
          </a:prstGeom>
          <a:noFill/>
        </p:spPr>
        <p:txBody>
          <a:bodyPr wrap="square" anchor="t" lIns="0" rIns="0" tIns="0" bIns="0">
            <a:spAutoFit/>
          </a:bodyPr>
          <a:lstStyle/>
          <a:p>
            <a:pPr algn="l"/>
            <a:r>
              <a:rPr sz="1400" b="1" i="0">
                <a:solidFill>
                  <a:srgbClr val="EE6A2C"/>
                </a:solidFill>
                <a:latin typeface="Arial"/>
              </a:rPr>
              <a:t>DIFFUSION</a:t>
            </a:r>
          </a:p>
        </p:txBody>
      </p:sp>
      <p:sp>
        <p:nvSpPr>
          <p:cNvPr id="8" name="TextBox 7"/>
          <p:cNvSpPr txBox="1"/>
          <p:nvPr/>
        </p:nvSpPr>
        <p:spPr>
          <a:xfrm>
            <a:off x="2389632" y="1280160"/>
            <a:ext cx="2438400" cy="182880"/>
          </a:xfrm>
          <a:prstGeom prst="rect">
            <a:avLst/>
          </a:prstGeom>
          <a:noFill/>
        </p:spPr>
        <p:txBody>
          <a:bodyPr wrap="square" anchor="t" lIns="0" rIns="0" tIns="0" bIns="0">
            <a:spAutoFit/>
          </a:bodyPr>
          <a:lstStyle/>
          <a:p>
            <a:pPr algn="l"/>
            <a:r>
              <a:rPr sz="1400" b="1" i="0">
                <a:solidFill>
                  <a:srgbClr val="EE6A2C"/>
                </a:solidFill>
                <a:latin typeface="Arial"/>
              </a:rPr>
              <a:t>ENGAGEMENT</a:t>
            </a:r>
          </a:p>
        </p:txBody>
      </p:sp>
      <p:sp>
        <p:nvSpPr>
          <p:cNvPr id="9" name="TextBox 8"/>
          <p:cNvSpPr txBox="1"/>
          <p:nvPr/>
        </p:nvSpPr>
        <p:spPr>
          <a:xfrm>
            <a:off x="6108192" y="1280160"/>
            <a:ext cx="2438400" cy="182880"/>
          </a:xfrm>
          <a:prstGeom prst="rect">
            <a:avLst/>
          </a:prstGeom>
          <a:noFill/>
        </p:spPr>
        <p:txBody>
          <a:bodyPr wrap="square" anchor="t" lIns="0" rIns="0" tIns="0" bIns="0">
            <a:spAutoFit/>
          </a:bodyPr>
          <a:lstStyle/>
          <a:p>
            <a:pPr algn="l"/>
            <a:r>
              <a:rPr sz="1400" b="1" i="0">
                <a:solidFill>
                  <a:srgbClr val="EE6A2C"/>
                </a:solidFill>
                <a:latin typeface="Arial"/>
              </a:rPr>
              <a:t>CONVERSION</a:t>
            </a:r>
          </a:p>
        </p:txBody>
      </p:sp>
      <p:sp>
        <p:nvSpPr>
          <p:cNvPr id="10" name="Rectangle 9"/>
          <p:cNvSpPr/>
          <p:nvPr/>
        </p:nvSpPr>
        <p:spPr>
          <a:xfrm>
            <a:off x="530352" y="1536192"/>
            <a:ext cx="1389888" cy="1127760"/>
          </a:xfrm>
          <a:prstGeom prst="rect">
            <a:avLst/>
          </a:prstGeom>
          <a:solidFill>
            <a:srgbClr val="FFFFFF"/>
          </a:solidFill>
          <a:ln>
            <a:noFill/>
          </a:ln>
          <a:effectLst/>
        </p:spPr>
        <p:txBody>
          <a:bodyPr rtlCol="0" anchor="ctr"/>
          <a:lstStyle/>
          <a:p>
            <a:pPr algn="ctr"/>
          </a:p>
        </p:txBody>
      </p:sp>
      <p:sp>
        <p:nvSpPr>
          <p:cNvPr id="11" name="Rectangle 10"/>
          <p:cNvSpPr/>
          <p:nvPr/>
        </p:nvSpPr>
        <p:spPr>
          <a:xfrm>
            <a:off x="530352" y="1536192"/>
            <a:ext cx="24384" cy="1127760"/>
          </a:xfrm>
          <a:prstGeom prst="rect">
            <a:avLst/>
          </a:prstGeom>
          <a:solidFill>
            <a:srgbClr val="EE6A2C"/>
          </a:solidFill>
          <a:ln>
            <a:noFill/>
          </a:ln>
          <a:effectLst/>
        </p:spPr>
        <p:txBody>
          <a:bodyPr rtlCol="0" anchor="ctr"/>
          <a:lstStyle/>
          <a:p>
            <a:pPr algn="ctr"/>
          </a:p>
        </p:txBody>
      </p:sp>
      <p:sp>
        <p:nvSpPr>
          <p:cNvPr id="12" name="TextBox 11"/>
          <p:cNvSpPr txBox="1"/>
          <p:nvPr/>
        </p:nvSpPr>
        <p:spPr>
          <a:xfrm>
            <a:off x="664464" y="1615440"/>
            <a:ext cx="1219200" cy="121920"/>
          </a:xfrm>
          <a:prstGeom prst="rect">
            <a:avLst/>
          </a:prstGeom>
          <a:noFill/>
        </p:spPr>
        <p:txBody>
          <a:bodyPr wrap="square" anchor="t" lIns="0" rIns="0" tIns="0" bIns="0">
            <a:spAutoFit/>
          </a:bodyPr>
          <a:lstStyle/>
          <a:p>
            <a:pPr algn="l"/>
            <a:r>
              <a:rPr sz="1000" b="1" i="0">
                <a:solidFill>
                  <a:srgbClr val="555B66"/>
                </a:solidFill>
                <a:latin typeface="Arial"/>
              </a:rPr>
              <a:t>IMPRESSIONS</a:t>
            </a:r>
          </a:p>
        </p:txBody>
      </p:sp>
      <p:sp>
        <p:nvSpPr>
          <p:cNvPr id="13" name="TextBox 12"/>
          <p:cNvSpPr txBox="1"/>
          <p:nvPr/>
        </p:nvSpPr>
        <p:spPr>
          <a:xfrm>
            <a:off x="664464" y="1889760"/>
            <a:ext cx="1219200" cy="274320"/>
          </a:xfrm>
          <a:prstGeom prst="rect">
            <a:avLst/>
          </a:prstGeom>
          <a:noFill/>
        </p:spPr>
        <p:txBody>
          <a:bodyPr wrap="square" anchor="t" lIns="0" rIns="0" tIns="0" bIns="0">
            <a:spAutoFit/>
          </a:bodyPr>
          <a:lstStyle/>
          <a:p>
            <a:pPr algn="l"/>
            <a:r>
              <a:rPr sz="2200" b="1" i="0">
                <a:solidFill>
                  <a:srgbClr val="111111"/>
                </a:solidFill>
                <a:latin typeface="Arial"/>
              </a:rPr>
              <a:t>351 012</a:t>
            </a:r>
          </a:p>
        </p:txBody>
      </p:sp>
      <p:sp>
        <p:nvSpPr>
          <p:cNvPr id="14" name="TextBox 13"/>
          <p:cNvSpPr txBox="1"/>
          <p:nvPr/>
        </p:nvSpPr>
        <p:spPr>
          <a:xfrm>
            <a:off x="664464" y="2243328"/>
            <a:ext cx="1219200" cy="109728"/>
          </a:xfrm>
          <a:prstGeom prst="rect">
            <a:avLst/>
          </a:prstGeom>
          <a:noFill/>
        </p:spPr>
        <p:txBody>
          <a:bodyPr wrap="square" anchor="t" lIns="0" rIns="0" tIns="0" bIns="0">
            <a:spAutoFit/>
          </a:bodyPr>
          <a:lstStyle/>
          <a:p>
            <a:pPr algn="l"/>
            <a:r>
              <a:rPr sz="1000" b="1" i="0">
                <a:solidFill>
                  <a:srgbClr val="B04837"/>
                </a:solidFill>
                <a:latin typeface="Arial"/>
              </a:rPr>
              <a:t>▼ −44 %</a:t>
            </a:r>
          </a:p>
        </p:txBody>
      </p:sp>
      <p:sp>
        <p:nvSpPr>
          <p:cNvPr id="15" name="TextBox 14"/>
          <p:cNvSpPr txBox="1"/>
          <p:nvPr/>
        </p:nvSpPr>
        <p:spPr>
          <a:xfrm>
            <a:off x="664464" y="2499360"/>
            <a:ext cx="1219200" cy="91440"/>
          </a:xfrm>
          <a:prstGeom prst="rect">
            <a:avLst/>
          </a:prstGeom>
          <a:noFill/>
        </p:spPr>
        <p:txBody>
          <a:bodyPr wrap="square" anchor="t" lIns="0" rIns="0" tIns="0" bIns="0">
            <a:spAutoFit/>
          </a:bodyPr>
          <a:lstStyle/>
          <a:p>
            <a:pPr algn="l"/>
            <a:r>
              <a:rPr sz="800" b="0" i="1">
                <a:solidFill>
                  <a:srgbClr val="555B66"/>
                </a:solidFill>
                <a:latin typeface="Arial"/>
              </a:rPr>
              <a:t>YTD 1 531 995</a:t>
            </a:r>
          </a:p>
        </p:txBody>
      </p:sp>
      <p:sp>
        <p:nvSpPr>
          <p:cNvPr id="16" name="Rectangle 15"/>
          <p:cNvSpPr/>
          <p:nvPr/>
        </p:nvSpPr>
        <p:spPr>
          <a:xfrm>
            <a:off x="2389632" y="1536192"/>
            <a:ext cx="1389888" cy="1127760"/>
          </a:xfrm>
          <a:prstGeom prst="rect">
            <a:avLst/>
          </a:prstGeom>
          <a:solidFill>
            <a:srgbClr val="FFFFFF"/>
          </a:solidFill>
          <a:ln>
            <a:noFill/>
          </a:ln>
          <a:effectLst/>
        </p:spPr>
        <p:txBody>
          <a:bodyPr rtlCol="0" anchor="ctr"/>
          <a:lstStyle/>
          <a:p>
            <a:pPr algn="ctr"/>
          </a:p>
        </p:txBody>
      </p:sp>
      <p:sp>
        <p:nvSpPr>
          <p:cNvPr id="17" name="Rectangle 16"/>
          <p:cNvSpPr/>
          <p:nvPr/>
        </p:nvSpPr>
        <p:spPr>
          <a:xfrm>
            <a:off x="2389632" y="1536192"/>
            <a:ext cx="24384" cy="1127760"/>
          </a:xfrm>
          <a:prstGeom prst="rect">
            <a:avLst/>
          </a:prstGeom>
          <a:solidFill>
            <a:srgbClr val="EE6A2C"/>
          </a:solidFill>
          <a:ln>
            <a:noFill/>
          </a:ln>
          <a:effectLst/>
        </p:spPr>
        <p:txBody>
          <a:bodyPr rtlCol="0" anchor="ctr"/>
          <a:lstStyle/>
          <a:p>
            <a:pPr algn="ctr"/>
          </a:p>
        </p:txBody>
      </p:sp>
      <p:sp>
        <p:nvSpPr>
          <p:cNvPr id="18" name="TextBox 17"/>
          <p:cNvSpPr txBox="1"/>
          <p:nvPr/>
        </p:nvSpPr>
        <p:spPr>
          <a:xfrm>
            <a:off x="2523744" y="1615440"/>
            <a:ext cx="1219200" cy="121920"/>
          </a:xfrm>
          <a:prstGeom prst="rect">
            <a:avLst/>
          </a:prstGeom>
          <a:noFill/>
        </p:spPr>
        <p:txBody>
          <a:bodyPr wrap="square" anchor="t" lIns="0" rIns="0" tIns="0" bIns="0">
            <a:spAutoFit/>
          </a:bodyPr>
          <a:lstStyle/>
          <a:p>
            <a:pPr algn="l"/>
            <a:r>
              <a:rPr sz="1000" b="1" i="0">
                <a:solidFill>
                  <a:srgbClr val="555B66"/>
                </a:solidFill>
                <a:latin typeface="Arial"/>
              </a:rPr>
              <a:t>CLICS</a:t>
            </a:r>
          </a:p>
        </p:txBody>
      </p:sp>
      <p:sp>
        <p:nvSpPr>
          <p:cNvPr id="19" name="TextBox 18"/>
          <p:cNvSpPr txBox="1"/>
          <p:nvPr/>
        </p:nvSpPr>
        <p:spPr>
          <a:xfrm>
            <a:off x="2523744" y="1889760"/>
            <a:ext cx="1219200" cy="274320"/>
          </a:xfrm>
          <a:prstGeom prst="rect">
            <a:avLst/>
          </a:prstGeom>
          <a:noFill/>
        </p:spPr>
        <p:txBody>
          <a:bodyPr wrap="square" anchor="t" lIns="0" rIns="0" tIns="0" bIns="0">
            <a:spAutoFit/>
          </a:bodyPr>
          <a:lstStyle/>
          <a:p>
            <a:pPr algn="l"/>
            <a:r>
              <a:rPr sz="2200" b="1" i="0">
                <a:solidFill>
                  <a:srgbClr val="111111"/>
                </a:solidFill>
                <a:latin typeface="Arial"/>
              </a:rPr>
              <a:t>1 740</a:t>
            </a:r>
          </a:p>
        </p:txBody>
      </p:sp>
      <p:sp>
        <p:nvSpPr>
          <p:cNvPr id="20" name="TextBox 19"/>
          <p:cNvSpPr txBox="1"/>
          <p:nvPr/>
        </p:nvSpPr>
        <p:spPr>
          <a:xfrm>
            <a:off x="2523744" y="2243328"/>
            <a:ext cx="1219200" cy="109728"/>
          </a:xfrm>
          <a:prstGeom prst="rect">
            <a:avLst/>
          </a:prstGeom>
          <a:noFill/>
        </p:spPr>
        <p:txBody>
          <a:bodyPr wrap="square" anchor="t" lIns="0" rIns="0" tIns="0" bIns="0">
            <a:spAutoFit/>
          </a:bodyPr>
          <a:lstStyle/>
          <a:p>
            <a:pPr algn="l"/>
            <a:r>
              <a:rPr sz="1000" b="1" i="0">
                <a:solidFill>
                  <a:srgbClr val="1E7B34"/>
                </a:solidFill>
                <a:latin typeface="Arial"/>
              </a:rPr>
              <a:t>▲ +20 %</a:t>
            </a:r>
          </a:p>
        </p:txBody>
      </p:sp>
      <p:sp>
        <p:nvSpPr>
          <p:cNvPr id="21" name="TextBox 20"/>
          <p:cNvSpPr txBox="1"/>
          <p:nvPr/>
        </p:nvSpPr>
        <p:spPr>
          <a:xfrm>
            <a:off x="2523744" y="2499360"/>
            <a:ext cx="1219200" cy="91440"/>
          </a:xfrm>
          <a:prstGeom prst="rect">
            <a:avLst/>
          </a:prstGeom>
          <a:noFill/>
        </p:spPr>
        <p:txBody>
          <a:bodyPr wrap="square" anchor="t" lIns="0" rIns="0" tIns="0" bIns="0">
            <a:spAutoFit/>
          </a:bodyPr>
          <a:lstStyle/>
          <a:p>
            <a:pPr algn="l"/>
            <a:r>
              <a:rPr sz="800" b="0" i="1">
                <a:solidFill>
                  <a:srgbClr val="555B66"/>
                </a:solidFill>
                <a:latin typeface="Arial"/>
              </a:rPr>
              <a:t>YTD 4 227</a:t>
            </a:r>
          </a:p>
        </p:txBody>
      </p:sp>
      <p:sp>
        <p:nvSpPr>
          <p:cNvPr id="22" name="Rectangle 21"/>
          <p:cNvSpPr/>
          <p:nvPr/>
        </p:nvSpPr>
        <p:spPr>
          <a:xfrm>
            <a:off x="4248912" y="1536192"/>
            <a:ext cx="1389888" cy="1127760"/>
          </a:xfrm>
          <a:prstGeom prst="rect">
            <a:avLst/>
          </a:prstGeom>
          <a:solidFill>
            <a:srgbClr val="FFFFFF"/>
          </a:solidFill>
          <a:ln>
            <a:noFill/>
          </a:ln>
          <a:effectLst/>
        </p:spPr>
        <p:txBody>
          <a:bodyPr rtlCol="0" anchor="ctr"/>
          <a:lstStyle/>
          <a:p>
            <a:pPr algn="ctr"/>
          </a:p>
        </p:txBody>
      </p:sp>
      <p:sp>
        <p:nvSpPr>
          <p:cNvPr id="23" name="Rectangle 22"/>
          <p:cNvSpPr/>
          <p:nvPr/>
        </p:nvSpPr>
        <p:spPr>
          <a:xfrm>
            <a:off x="4248912" y="1536192"/>
            <a:ext cx="24384" cy="1127760"/>
          </a:xfrm>
          <a:prstGeom prst="rect">
            <a:avLst/>
          </a:prstGeom>
          <a:solidFill>
            <a:srgbClr val="EE6A2C"/>
          </a:solidFill>
          <a:ln>
            <a:noFill/>
          </a:ln>
          <a:effectLst/>
        </p:spPr>
        <p:txBody>
          <a:bodyPr rtlCol="0" anchor="ctr"/>
          <a:lstStyle/>
          <a:p>
            <a:pPr algn="ctr"/>
          </a:p>
        </p:txBody>
      </p:sp>
      <p:sp>
        <p:nvSpPr>
          <p:cNvPr id="24" name="TextBox 23"/>
          <p:cNvSpPr txBox="1"/>
          <p:nvPr/>
        </p:nvSpPr>
        <p:spPr>
          <a:xfrm>
            <a:off x="4383024" y="1615440"/>
            <a:ext cx="1219200" cy="121920"/>
          </a:xfrm>
          <a:prstGeom prst="rect">
            <a:avLst/>
          </a:prstGeom>
          <a:noFill/>
        </p:spPr>
        <p:txBody>
          <a:bodyPr wrap="square" anchor="t" lIns="0" rIns="0" tIns="0" bIns="0">
            <a:spAutoFit/>
          </a:bodyPr>
          <a:lstStyle/>
          <a:p>
            <a:pPr algn="l"/>
            <a:r>
              <a:rPr sz="1000" b="1" i="0">
                <a:solidFill>
                  <a:srgbClr val="555B66"/>
                </a:solidFill>
                <a:latin typeface="Arial"/>
              </a:rPr>
              <a:t>CTR</a:t>
            </a:r>
          </a:p>
        </p:txBody>
      </p:sp>
      <p:sp>
        <p:nvSpPr>
          <p:cNvPr id="25" name="TextBox 24"/>
          <p:cNvSpPr txBox="1"/>
          <p:nvPr/>
        </p:nvSpPr>
        <p:spPr>
          <a:xfrm>
            <a:off x="4383024" y="1889760"/>
            <a:ext cx="1219200" cy="274320"/>
          </a:xfrm>
          <a:prstGeom prst="rect">
            <a:avLst/>
          </a:prstGeom>
          <a:noFill/>
        </p:spPr>
        <p:txBody>
          <a:bodyPr wrap="square" anchor="t" lIns="0" rIns="0" tIns="0" bIns="0">
            <a:spAutoFit/>
          </a:bodyPr>
          <a:lstStyle/>
          <a:p>
            <a:pPr algn="l"/>
            <a:r>
              <a:rPr sz="2200" b="1" i="0">
                <a:solidFill>
                  <a:srgbClr val="111111"/>
                </a:solidFill>
                <a:latin typeface="Arial"/>
              </a:rPr>
              <a:t>0,50 %</a:t>
            </a:r>
          </a:p>
        </p:txBody>
      </p:sp>
      <p:sp>
        <p:nvSpPr>
          <p:cNvPr id="26" name="TextBox 25"/>
          <p:cNvSpPr txBox="1"/>
          <p:nvPr/>
        </p:nvSpPr>
        <p:spPr>
          <a:xfrm>
            <a:off x="4383024" y="2243328"/>
            <a:ext cx="1219200" cy="109728"/>
          </a:xfrm>
          <a:prstGeom prst="rect">
            <a:avLst/>
          </a:prstGeom>
          <a:noFill/>
        </p:spPr>
        <p:txBody>
          <a:bodyPr wrap="square" anchor="t" lIns="0" rIns="0" tIns="0" bIns="0">
            <a:spAutoFit/>
          </a:bodyPr>
          <a:lstStyle/>
          <a:p>
            <a:pPr algn="l"/>
            <a:r>
              <a:rPr sz="1000" b="1" i="0">
                <a:solidFill>
                  <a:srgbClr val="1E7B34"/>
                </a:solidFill>
                <a:latin typeface="Arial"/>
              </a:rPr>
              <a:t>▲ +0,27 pt</a:t>
            </a:r>
          </a:p>
        </p:txBody>
      </p:sp>
      <p:sp>
        <p:nvSpPr>
          <p:cNvPr id="27" name="TextBox 26"/>
          <p:cNvSpPr txBox="1"/>
          <p:nvPr/>
        </p:nvSpPr>
        <p:spPr>
          <a:xfrm>
            <a:off x="4383024" y="2499360"/>
            <a:ext cx="1219200" cy="91440"/>
          </a:xfrm>
          <a:prstGeom prst="rect">
            <a:avLst/>
          </a:prstGeom>
          <a:noFill/>
        </p:spPr>
        <p:txBody>
          <a:bodyPr wrap="square" anchor="t" lIns="0" rIns="0" tIns="0" bIns="0">
            <a:spAutoFit/>
          </a:bodyPr>
          <a:lstStyle/>
          <a:p>
            <a:pPr algn="l"/>
            <a:r>
              <a:rPr sz="800" b="0" i="1">
                <a:solidFill>
                  <a:srgbClr val="555B66"/>
                </a:solidFill>
                <a:latin typeface="Arial"/>
              </a:rPr>
              <a:t>YTD 0,28 %</a:t>
            </a:r>
          </a:p>
        </p:txBody>
      </p:sp>
      <p:sp>
        <p:nvSpPr>
          <p:cNvPr id="28" name="Rectangle 27"/>
          <p:cNvSpPr/>
          <p:nvPr/>
        </p:nvSpPr>
        <p:spPr>
          <a:xfrm>
            <a:off x="6108192" y="1536192"/>
            <a:ext cx="1389888" cy="1127760"/>
          </a:xfrm>
          <a:prstGeom prst="rect">
            <a:avLst/>
          </a:prstGeom>
          <a:solidFill>
            <a:srgbClr val="F1EFEB"/>
          </a:solidFill>
          <a:ln>
            <a:noFill/>
          </a:ln>
          <a:effectLst/>
        </p:spPr>
        <p:txBody>
          <a:bodyPr rtlCol="0" anchor="ctr"/>
          <a:lstStyle/>
          <a:p>
            <a:pPr algn="ctr"/>
          </a:p>
        </p:txBody>
      </p:sp>
      <p:sp>
        <p:nvSpPr>
          <p:cNvPr id="29" name="Rounded Rectangle 28"/>
          <p:cNvSpPr/>
          <p:nvPr/>
        </p:nvSpPr>
        <p:spPr>
          <a:xfrm>
            <a:off x="6827520" y="1450848"/>
            <a:ext cx="609600" cy="170688"/>
          </a:xfrm>
          <a:prstGeom prst="roundRect">
            <a:avLst>
              <a:gd name="adj" fmla="val 50000"/>
            </a:avLst>
          </a:prstGeom>
          <a:solidFill>
            <a:srgbClr val="D9D6D1"/>
          </a:solidFill>
          <a:ln>
            <a:noFill/>
          </a:ln>
          <a:effectLst/>
        </p:spPr>
        <p:txBody>
          <a:bodyPr rtlCol="0" anchor="ctr"/>
          <a:lstStyle/>
          <a:p>
            <a:pPr algn="ctr"/>
          </a:p>
        </p:txBody>
      </p:sp>
      <p:sp>
        <p:nvSpPr>
          <p:cNvPr id="30" name="TextBox 29"/>
          <p:cNvSpPr txBox="1"/>
          <p:nvPr/>
        </p:nvSpPr>
        <p:spPr>
          <a:xfrm>
            <a:off x="6827520" y="1450848"/>
            <a:ext cx="609600" cy="170688"/>
          </a:xfrm>
          <a:prstGeom prst="rect">
            <a:avLst/>
          </a:prstGeom>
          <a:noFill/>
        </p:spPr>
        <p:txBody>
          <a:bodyPr wrap="square" anchor="ctr" lIns="0" rIns="0" tIns="0" bIns="0">
            <a:spAutoFit/>
          </a:bodyPr>
          <a:lstStyle/>
          <a:p>
            <a:pPr algn="ctr"/>
            <a:r>
              <a:rPr sz="800" b="1" i="0">
                <a:solidFill>
                  <a:srgbClr val="555B66"/>
                </a:solidFill>
                <a:latin typeface="Arial"/>
              </a:rPr>
              <a:t>INDICATIF</a:t>
            </a:r>
          </a:p>
        </p:txBody>
      </p:sp>
      <p:sp>
        <p:nvSpPr>
          <p:cNvPr id="31" name="TextBox 30"/>
          <p:cNvSpPr txBox="1"/>
          <p:nvPr/>
        </p:nvSpPr>
        <p:spPr>
          <a:xfrm>
            <a:off x="6242304" y="1706880"/>
            <a:ext cx="1219200" cy="121920"/>
          </a:xfrm>
          <a:prstGeom prst="rect">
            <a:avLst/>
          </a:prstGeom>
          <a:noFill/>
        </p:spPr>
        <p:txBody>
          <a:bodyPr wrap="square" anchor="t" lIns="0" rIns="0" tIns="0" bIns="0">
            <a:spAutoFit/>
          </a:bodyPr>
          <a:lstStyle/>
          <a:p>
            <a:pPr algn="l"/>
            <a:r>
              <a:rPr sz="1000" b="1" i="0">
                <a:solidFill>
                  <a:srgbClr val="8A93A6"/>
                </a:solidFill>
                <a:latin typeface="Arial"/>
              </a:rPr>
              <a:t>CONVERSIONS</a:t>
            </a:r>
          </a:p>
        </p:txBody>
      </p:sp>
      <p:sp>
        <p:nvSpPr>
          <p:cNvPr id="32" name="TextBox 31"/>
          <p:cNvSpPr txBox="1"/>
          <p:nvPr/>
        </p:nvSpPr>
        <p:spPr>
          <a:xfrm>
            <a:off x="6242304" y="1889760"/>
            <a:ext cx="1219200" cy="274320"/>
          </a:xfrm>
          <a:prstGeom prst="rect">
            <a:avLst/>
          </a:prstGeom>
          <a:noFill/>
        </p:spPr>
        <p:txBody>
          <a:bodyPr wrap="square" anchor="t" lIns="0" rIns="0" tIns="0" bIns="0">
            <a:spAutoFit/>
          </a:bodyPr>
          <a:lstStyle/>
          <a:p>
            <a:pPr algn="l"/>
            <a:r>
              <a:rPr sz="2200" b="1" i="0">
                <a:solidFill>
                  <a:srgbClr val="8A93A6"/>
                </a:solidFill>
                <a:latin typeface="Arial"/>
              </a:rPr>
              <a:t>N/C</a:t>
            </a:r>
          </a:p>
        </p:txBody>
      </p:sp>
      <p:sp>
        <p:nvSpPr>
          <p:cNvPr id="33" name="TextBox 32"/>
          <p:cNvSpPr txBox="1"/>
          <p:nvPr/>
        </p:nvSpPr>
        <p:spPr>
          <a:xfrm>
            <a:off x="6242304" y="2243328"/>
            <a:ext cx="1219200" cy="109728"/>
          </a:xfrm>
          <a:prstGeom prst="rect">
            <a:avLst/>
          </a:prstGeom>
          <a:noFill/>
        </p:spPr>
        <p:txBody>
          <a:bodyPr wrap="square" anchor="t" lIns="0" rIns="0" tIns="0" bIns="0">
            <a:spAutoFit/>
          </a:bodyPr>
          <a:lstStyle/>
          <a:p>
            <a:pPr algn="l"/>
            <a:r>
              <a:rPr sz="1000" b="1" i="0">
                <a:solidFill>
                  <a:srgbClr val="8A93A6"/>
                </a:solidFill>
                <a:latin typeface="Arial"/>
              </a:rPr>
              <a:t>—</a:t>
            </a:r>
          </a:p>
        </p:txBody>
      </p:sp>
      <p:sp>
        <p:nvSpPr>
          <p:cNvPr id="34" name="TextBox 33"/>
          <p:cNvSpPr txBox="1"/>
          <p:nvPr/>
        </p:nvSpPr>
        <p:spPr>
          <a:xfrm>
            <a:off x="6242304" y="2499360"/>
            <a:ext cx="1219200" cy="91440"/>
          </a:xfrm>
          <a:prstGeom prst="rect">
            <a:avLst/>
          </a:prstGeom>
          <a:noFill/>
        </p:spPr>
        <p:txBody>
          <a:bodyPr wrap="square" anchor="t" lIns="0" rIns="0" tIns="0" bIns="0">
            <a:spAutoFit/>
          </a:bodyPr>
          <a:lstStyle/>
          <a:p>
            <a:pPr algn="l"/>
            <a:r>
              <a:rPr sz="800" b="0" i="1">
                <a:solidFill>
                  <a:srgbClr val="8A93A6"/>
                </a:solidFill>
                <a:latin typeface="Arial"/>
              </a:rPr>
              <a:t>YTD —</a:t>
            </a:r>
          </a:p>
        </p:txBody>
      </p:sp>
      <p:sp>
        <p:nvSpPr>
          <p:cNvPr id="35" name="Rectangle 34"/>
          <p:cNvSpPr/>
          <p:nvPr/>
        </p:nvSpPr>
        <p:spPr>
          <a:xfrm>
            <a:off x="7967472" y="1536192"/>
            <a:ext cx="1389888" cy="1127760"/>
          </a:xfrm>
          <a:prstGeom prst="rect">
            <a:avLst/>
          </a:prstGeom>
          <a:solidFill>
            <a:srgbClr val="F1EFEB"/>
          </a:solidFill>
          <a:ln>
            <a:noFill/>
          </a:ln>
          <a:effectLst/>
        </p:spPr>
        <p:txBody>
          <a:bodyPr rtlCol="0" anchor="ctr"/>
          <a:lstStyle/>
          <a:p>
            <a:pPr algn="ctr"/>
          </a:p>
        </p:txBody>
      </p:sp>
      <p:sp>
        <p:nvSpPr>
          <p:cNvPr id="36" name="Rounded Rectangle 35"/>
          <p:cNvSpPr/>
          <p:nvPr/>
        </p:nvSpPr>
        <p:spPr>
          <a:xfrm>
            <a:off x="8686800" y="1450848"/>
            <a:ext cx="609600" cy="170688"/>
          </a:xfrm>
          <a:prstGeom prst="roundRect">
            <a:avLst>
              <a:gd name="adj" fmla="val 50000"/>
            </a:avLst>
          </a:prstGeom>
          <a:solidFill>
            <a:srgbClr val="D9D6D1"/>
          </a:solidFill>
          <a:ln>
            <a:noFill/>
          </a:ln>
          <a:effectLst/>
        </p:spPr>
        <p:txBody>
          <a:bodyPr rtlCol="0" anchor="ctr"/>
          <a:lstStyle/>
          <a:p>
            <a:pPr algn="ctr"/>
          </a:p>
        </p:txBody>
      </p:sp>
      <p:sp>
        <p:nvSpPr>
          <p:cNvPr id="37" name="TextBox 36"/>
          <p:cNvSpPr txBox="1"/>
          <p:nvPr/>
        </p:nvSpPr>
        <p:spPr>
          <a:xfrm>
            <a:off x="8686800" y="1450848"/>
            <a:ext cx="609600" cy="170688"/>
          </a:xfrm>
          <a:prstGeom prst="rect">
            <a:avLst/>
          </a:prstGeom>
          <a:noFill/>
        </p:spPr>
        <p:txBody>
          <a:bodyPr wrap="square" anchor="ctr" lIns="0" rIns="0" tIns="0" bIns="0">
            <a:spAutoFit/>
          </a:bodyPr>
          <a:lstStyle/>
          <a:p>
            <a:pPr algn="ctr"/>
            <a:r>
              <a:rPr sz="800" b="1" i="0">
                <a:solidFill>
                  <a:srgbClr val="555B66"/>
                </a:solidFill>
                <a:latin typeface="Arial"/>
              </a:rPr>
              <a:t>INDICATIF</a:t>
            </a:r>
          </a:p>
        </p:txBody>
      </p:sp>
      <p:sp>
        <p:nvSpPr>
          <p:cNvPr id="38" name="TextBox 37"/>
          <p:cNvSpPr txBox="1"/>
          <p:nvPr/>
        </p:nvSpPr>
        <p:spPr>
          <a:xfrm>
            <a:off x="8101584" y="1706880"/>
            <a:ext cx="1219200" cy="121920"/>
          </a:xfrm>
          <a:prstGeom prst="rect">
            <a:avLst/>
          </a:prstGeom>
          <a:noFill/>
        </p:spPr>
        <p:txBody>
          <a:bodyPr wrap="square" anchor="t" lIns="0" rIns="0" tIns="0" bIns="0">
            <a:spAutoFit/>
          </a:bodyPr>
          <a:lstStyle/>
          <a:p>
            <a:pPr algn="l"/>
            <a:r>
              <a:rPr sz="1000" b="1" i="0">
                <a:solidFill>
                  <a:srgbClr val="8A93A6"/>
                </a:solidFill>
                <a:latin typeface="Arial"/>
              </a:rPr>
              <a:t>CVR</a:t>
            </a:r>
          </a:p>
        </p:txBody>
      </p:sp>
      <p:sp>
        <p:nvSpPr>
          <p:cNvPr id="39" name="TextBox 38"/>
          <p:cNvSpPr txBox="1"/>
          <p:nvPr/>
        </p:nvSpPr>
        <p:spPr>
          <a:xfrm>
            <a:off x="8101584" y="1889760"/>
            <a:ext cx="1219200" cy="274320"/>
          </a:xfrm>
          <a:prstGeom prst="rect">
            <a:avLst/>
          </a:prstGeom>
          <a:noFill/>
        </p:spPr>
        <p:txBody>
          <a:bodyPr wrap="square" anchor="t" lIns="0" rIns="0" tIns="0" bIns="0">
            <a:spAutoFit/>
          </a:bodyPr>
          <a:lstStyle/>
          <a:p>
            <a:pPr algn="l"/>
            <a:r>
              <a:rPr sz="2200" b="1" i="0">
                <a:solidFill>
                  <a:srgbClr val="8A93A6"/>
                </a:solidFill>
                <a:latin typeface="Arial"/>
              </a:rPr>
              <a:t>N/C</a:t>
            </a:r>
          </a:p>
        </p:txBody>
      </p:sp>
      <p:sp>
        <p:nvSpPr>
          <p:cNvPr id="40" name="TextBox 39"/>
          <p:cNvSpPr txBox="1"/>
          <p:nvPr/>
        </p:nvSpPr>
        <p:spPr>
          <a:xfrm>
            <a:off x="8101584" y="2243328"/>
            <a:ext cx="1219200" cy="109728"/>
          </a:xfrm>
          <a:prstGeom prst="rect">
            <a:avLst/>
          </a:prstGeom>
          <a:noFill/>
        </p:spPr>
        <p:txBody>
          <a:bodyPr wrap="square" anchor="t" lIns="0" rIns="0" tIns="0" bIns="0">
            <a:spAutoFit/>
          </a:bodyPr>
          <a:lstStyle/>
          <a:p>
            <a:pPr algn="l"/>
            <a:r>
              <a:rPr sz="1000" b="1" i="0">
                <a:solidFill>
                  <a:srgbClr val="8A93A6"/>
                </a:solidFill>
                <a:latin typeface="Arial"/>
              </a:rPr>
              <a:t>—</a:t>
            </a:r>
          </a:p>
        </p:txBody>
      </p:sp>
      <p:sp>
        <p:nvSpPr>
          <p:cNvPr id="41" name="TextBox 40"/>
          <p:cNvSpPr txBox="1"/>
          <p:nvPr/>
        </p:nvSpPr>
        <p:spPr>
          <a:xfrm>
            <a:off x="8101584" y="2499360"/>
            <a:ext cx="1219200" cy="91440"/>
          </a:xfrm>
          <a:prstGeom prst="rect">
            <a:avLst/>
          </a:prstGeom>
          <a:noFill/>
        </p:spPr>
        <p:txBody>
          <a:bodyPr wrap="square" anchor="t" lIns="0" rIns="0" tIns="0" bIns="0">
            <a:spAutoFit/>
          </a:bodyPr>
          <a:lstStyle/>
          <a:p>
            <a:pPr algn="l"/>
            <a:r>
              <a:rPr sz="800" b="0" i="1">
                <a:solidFill>
                  <a:srgbClr val="8A93A6"/>
                </a:solidFill>
                <a:latin typeface="Arial"/>
              </a:rPr>
              <a:t>YTD —</a:t>
            </a:r>
          </a:p>
        </p:txBody>
      </p:sp>
      <p:sp>
        <p:nvSpPr>
          <p:cNvPr id="42" name="Rectangle 41"/>
          <p:cNvSpPr/>
          <p:nvPr/>
        </p:nvSpPr>
        <p:spPr>
          <a:xfrm>
            <a:off x="9826752" y="1536192"/>
            <a:ext cx="1389888" cy="1127760"/>
          </a:xfrm>
          <a:prstGeom prst="rect">
            <a:avLst/>
          </a:prstGeom>
          <a:solidFill>
            <a:srgbClr val="F1EFEB"/>
          </a:solidFill>
          <a:ln>
            <a:noFill/>
          </a:ln>
          <a:effectLst/>
        </p:spPr>
        <p:txBody>
          <a:bodyPr rtlCol="0" anchor="ctr"/>
          <a:lstStyle/>
          <a:p>
            <a:pPr algn="ctr"/>
          </a:p>
        </p:txBody>
      </p:sp>
      <p:sp>
        <p:nvSpPr>
          <p:cNvPr id="43" name="Rounded Rectangle 42"/>
          <p:cNvSpPr/>
          <p:nvPr/>
        </p:nvSpPr>
        <p:spPr>
          <a:xfrm>
            <a:off x="10546080" y="1450848"/>
            <a:ext cx="609600" cy="170688"/>
          </a:xfrm>
          <a:prstGeom prst="roundRect">
            <a:avLst>
              <a:gd name="adj" fmla="val 50000"/>
            </a:avLst>
          </a:prstGeom>
          <a:solidFill>
            <a:srgbClr val="D9D6D1"/>
          </a:solidFill>
          <a:ln>
            <a:noFill/>
          </a:ln>
          <a:effectLst/>
        </p:spPr>
        <p:txBody>
          <a:bodyPr rtlCol="0" anchor="ctr"/>
          <a:lstStyle/>
          <a:p>
            <a:pPr algn="ctr"/>
          </a:p>
        </p:txBody>
      </p:sp>
      <p:sp>
        <p:nvSpPr>
          <p:cNvPr id="44" name="TextBox 43"/>
          <p:cNvSpPr txBox="1"/>
          <p:nvPr/>
        </p:nvSpPr>
        <p:spPr>
          <a:xfrm>
            <a:off x="10546080" y="1450848"/>
            <a:ext cx="609600" cy="170688"/>
          </a:xfrm>
          <a:prstGeom prst="rect">
            <a:avLst/>
          </a:prstGeom>
          <a:noFill/>
        </p:spPr>
        <p:txBody>
          <a:bodyPr wrap="square" anchor="ctr" lIns="0" rIns="0" tIns="0" bIns="0">
            <a:spAutoFit/>
          </a:bodyPr>
          <a:lstStyle/>
          <a:p>
            <a:pPr algn="ctr"/>
            <a:r>
              <a:rPr sz="800" b="1" i="0">
                <a:solidFill>
                  <a:srgbClr val="555B66"/>
                </a:solidFill>
                <a:latin typeface="Arial"/>
              </a:rPr>
              <a:t>INDICATIF</a:t>
            </a:r>
          </a:p>
        </p:txBody>
      </p:sp>
      <p:sp>
        <p:nvSpPr>
          <p:cNvPr id="45" name="TextBox 44"/>
          <p:cNvSpPr txBox="1"/>
          <p:nvPr/>
        </p:nvSpPr>
        <p:spPr>
          <a:xfrm>
            <a:off x="9960864" y="1706880"/>
            <a:ext cx="1219200" cy="121920"/>
          </a:xfrm>
          <a:prstGeom prst="rect">
            <a:avLst/>
          </a:prstGeom>
          <a:noFill/>
        </p:spPr>
        <p:txBody>
          <a:bodyPr wrap="square" anchor="t" lIns="0" rIns="0" tIns="0" bIns="0">
            <a:spAutoFit/>
          </a:bodyPr>
          <a:lstStyle/>
          <a:p>
            <a:pPr algn="l"/>
            <a:r>
              <a:rPr sz="1000" b="1" i="0">
                <a:solidFill>
                  <a:srgbClr val="8A93A6"/>
                </a:solidFill>
                <a:latin typeface="Arial"/>
              </a:rPr>
              <a:t>ROAS</a:t>
            </a:r>
          </a:p>
        </p:txBody>
      </p:sp>
      <p:sp>
        <p:nvSpPr>
          <p:cNvPr id="46" name="TextBox 45"/>
          <p:cNvSpPr txBox="1"/>
          <p:nvPr/>
        </p:nvSpPr>
        <p:spPr>
          <a:xfrm>
            <a:off x="9960864" y="1889760"/>
            <a:ext cx="1219200" cy="274320"/>
          </a:xfrm>
          <a:prstGeom prst="rect">
            <a:avLst/>
          </a:prstGeom>
          <a:noFill/>
        </p:spPr>
        <p:txBody>
          <a:bodyPr wrap="square" anchor="t" lIns="0" rIns="0" tIns="0" bIns="0">
            <a:spAutoFit/>
          </a:bodyPr>
          <a:lstStyle/>
          <a:p>
            <a:pPr algn="l"/>
            <a:r>
              <a:rPr sz="2200" b="1" i="0">
                <a:solidFill>
                  <a:srgbClr val="8A93A6"/>
                </a:solidFill>
                <a:latin typeface="Arial"/>
              </a:rPr>
              <a:t>N/C</a:t>
            </a:r>
          </a:p>
        </p:txBody>
      </p:sp>
      <p:sp>
        <p:nvSpPr>
          <p:cNvPr id="47" name="TextBox 46"/>
          <p:cNvSpPr txBox="1"/>
          <p:nvPr/>
        </p:nvSpPr>
        <p:spPr>
          <a:xfrm>
            <a:off x="9960864" y="2243328"/>
            <a:ext cx="1219200" cy="109728"/>
          </a:xfrm>
          <a:prstGeom prst="rect">
            <a:avLst/>
          </a:prstGeom>
          <a:noFill/>
        </p:spPr>
        <p:txBody>
          <a:bodyPr wrap="square" anchor="t" lIns="0" rIns="0" tIns="0" bIns="0">
            <a:spAutoFit/>
          </a:bodyPr>
          <a:lstStyle/>
          <a:p>
            <a:pPr algn="l"/>
            <a:r>
              <a:rPr sz="1000" b="1" i="0">
                <a:solidFill>
                  <a:srgbClr val="8A93A6"/>
                </a:solidFill>
                <a:latin typeface="Arial"/>
              </a:rPr>
              <a:t>—</a:t>
            </a:r>
          </a:p>
        </p:txBody>
      </p:sp>
      <p:sp>
        <p:nvSpPr>
          <p:cNvPr id="48" name="TextBox 47"/>
          <p:cNvSpPr txBox="1"/>
          <p:nvPr/>
        </p:nvSpPr>
        <p:spPr>
          <a:xfrm>
            <a:off x="9960864" y="2499360"/>
            <a:ext cx="1219200" cy="91440"/>
          </a:xfrm>
          <a:prstGeom prst="rect">
            <a:avLst/>
          </a:prstGeom>
          <a:noFill/>
        </p:spPr>
        <p:txBody>
          <a:bodyPr wrap="square" anchor="t" lIns="0" rIns="0" tIns="0" bIns="0">
            <a:spAutoFit/>
          </a:bodyPr>
          <a:lstStyle/>
          <a:p>
            <a:pPr algn="l"/>
            <a:r>
              <a:rPr sz="800" b="0" i="1">
                <a:solidFill>
                  <a:srgbClr val="8A93A6"/>
                </a:solidFill>
                <a:latin typeface="Arial"/>
              </a:rPr>
              <a:t>YTD —</a:t>
            </a:r>
          </a:p>
        </p:txBody>
      </p:sp>
      <p:sp>
        <p:nvSpPr>
          <p:cNvPr id="49" name="Isosceles Triangle 48"/>
          <p:cNvSpPr/>
          <p:nvPr/>
        </p:nvSpPr>
        <p:spPr>
          <a:xfrm>
            <a:off x="8564880" y="2688336"/>
            <a:ext cx="182880" cy="85344"/>
          </a:xfrm>
          <a:prstGeom prst="triangle">
            <a:avLst/>
          </a:prstGeom>
          <a:solidFill>
            <a:srgbClr val="EBE9E5"/>
          </a:solidFill>
          <a:ln>
            <a:noFill/>
          </a:ln>
          <a:effectLst/>
        </p:spPr>
        <p:txBody>
          <a:bodyPr rtlCol="0" anchor="ctr"/>
          <a:lstStyle/>
          <a:p>
            <a:pPr algn="ctr"/>
          </a:p>
        </p:txBody>
      </p:sp>
      <p:sp>
        <p:nvSpPr>
          <p:cNvPr id="50" name="Rounded Rectangle 49"/>
          <p:cNvSpPr/>
          <p:nvPr/>
        </p:nvSpPr>
        <p:spPr>
          <a:xfrm>
            <a:off x="6108192" y="2773680"/>
            <a:ext cx="5108448" cy="438912"/>
          </a:xfrm>
          <a:prstGeom prst="roundRect">
            <a:avLst>
              <a:gd name="adj" fmla="val 15000"/>
            </a:avLst>
          </a:prstGeom>
          <a:solidFill>
            <a:srgbClr val="EBE9E5"/>
          </a:solidFill>
          <a:ln>
            <a:noFill/>
          </a:ln>
          <a:effectLst/>
        </p:spPr>
        <p:txBody>
          <a:bodyPr rtlCol="0" anchor="ctr"/>
          <a:lstStyle/>
          <a:p>
            <a:pPr algn="ctr"/>
          </a:p>
        </p:txBody>
      </p:sp>
      <p:sp>
        <p:nvSpPr>
          <p:cNvPr id="51" name="TextBox 50"/>
          <p:cNvSpPr txBox="1"/>
          <p:nvPr/>
        </p:nvSpPr>
        <p:spPr>
          <a:xfrm>
            <a:off x="6230112" y="2816352"/>
            <a:ext cx="4864608" cy="365760"/>
          </a:xfrm>
          <a:prstGeom prst="rect">
            <a:avLst/>
          </a:prstGeom>
          <a:noFill/>
        </p:spPr>
        <p:txBody>
          <a:bodyPr wrap="square" anchor="ctr" lIns="0" rIns="0" tIns="0" bIns="0">
            <a:spAutoFit/>
          </a:bodyPr>
          <a:lstStyle/>
          <a:p>
            <a:pPr algn="l"/>
            <a:r>
              <a:rPr sz="900" b="0" i="0">
                <a:solidFill>
                  <a:srgbClr val="555B66"/>
                </a:solidFill>
                <a:latin typeface="Arial"/>
              </a:rPr>
              <a:t>Conversions mesurées par Cdiscount, non intégrées à ce rapport. Elles apparaîtront ici dès l'intégration du Conversion Tracker.</a:t>
            </a:r>
          </a:p>
        </p:txBody>
      </p:sp>
      <p:sp>
        <p:nvSpPr>
          <p:cNvPr id="52" name="TextBox 51"/>
          <p:cNvSpPr txBox="1"/>
          <p:nvPr/>
        </p:nvSpPr>
        <p:spPr>
          <a:xfrm>
            <a:off x="530352" y="3322320"/>
            <a:ext cx="7315200" cy="182880"/>
          </a:xfrm>
          <a:prstGeom prst="rect">
            <a:avLst/>
          </a:prstGeom>
          <a:noFill/>
        </p:spPr>
        <p:txBody>
          <a:bodyPr wrap="square" anchor="t" lIns="0" rIns="0" tIns="0" bIns="0">
            <a:spAutoFit/>
          </a:bodyPr>
          <a:lstStyle/>
          <a:p>
            <a:pPr algn="l"/>
            <a:r>
              <a:rPr sz="1400" b="1" i="0">
                <a:solidFill>
                  <a:srgbClr val="EE6A2C"/>
                </a:solidFill>
                <a:latin typeface="Arial"/>
              </a:rPr>
              <a:t>INSIGHTS QUALITATIFS · ANALYSE DES RECHERCHES</a:t>
            </a:r>
          </a:p>
        </p:txBody>
      </p:sp>
      <p:sp>
        <p:nvSpPr>
          <p:cNvPr id="53" name="Rectangle 52"/>
          <p:cNvSpPr/>
          <p:nvPr/>
        </p:nvSpPr>
        <p:spPr>
          <a:xfrm>
            <a:off x="530352" y="3584448"/>
            <a:ext cx="3401568" cy="2560320"/>
          </a:xfrm>
          <a:prstGeom prst="rect">
            <a:avLst/>
          </a:prstGeom>
          <a:solidFill>
            <a:srgbClr val="FFFFFF"/>
          </a:solidFill>
          <a:ln>
            <a:noFill/>
          </a:ln>
          <a:effectLst/>
        </p:spPr>
        <p:txBody>
          <a:bodyPr rtlCol="0" anchor="ctr"/>
          <a:lstStyle/>
          <a:p>
            <a:pPr algn="ctr"/>
          </a:p>
        </p:txBody>
      </p:sp>
      <p:sp>
        <p:nvSpPr>
          <p:cNvPr id="54" name="Rectangle 53"/>
          <p:cNvSpPr/>
          <p:nvPr/>
        </p:nvSpPr>
        <p:spPr>
          <a:xfrm>
            <a:off x="4194048" y="3584448"/>
            <a:ext cx="3401568" cy="2560320"/>
          </a:xfrm>
          <a:prstGeom prst="rect">
            <a:avLst/>
          </a:prstGeom>
          <a:solidFill>
            <a:srgbClr val="FFFFFF"/>
          </a:solidFill>
          <a:ln>
            <a:noFill/>
          </a:ln>
          <a:effectLst/>
        </p:spPr>
        <p:txBody>
          <a:bodyPr rtlCol="0" anchor="ctr"/>
          <a:lstStyle/>
          <a:p>
            <a:pPr algn="ctr"/>
          </a:p>
        </p:txBody>
      </p:sp>
      <p:sp>
        <p:nvSpPr>
          <p:cNvPr id="55" name="Rectangle 54"/>
          <p:cNvSpPr/>
          <p:nvPr/>
        </p:nvSpPr>
        <p:spPr>
          <a:xfrm>
            <a:off x="7857744" y="3584448"/>
            <a:ext cx="3401568" cy="2560320"/>
          </a:xfrm>
          <a:prstGeom prst="rect">
            <a:avLst/>
          </a:prstGeom>
          <a:solidFill>
            <a:srgbClr val="FFFFFF"/>
          </a:solidFill>
          <a:ln>
            <a:noFill/>
          </a:ln>
          <a:effectLst/>
        </p:spPr>
        <p:txBody>
          <a:bodyPr rtlCol="0" anchor="ctr"/>
          <a:lstStyle/>
          <a:p>
            <a:pPr algn="ctr"/>
          </a:p>
        </p:txBody>
      </p:sp>
      <p:sp>
        <p:nvSpPr>
          <p:cNvPr id="56" name="TextBox 55"/>
          <p:cNvSpPr txBox="1"/>
          <p:nvPr/>
        </p:nvSpPr>
        <p:spPr>
          <a:xfrm>
            <a:off x="774192" y="3767328"/>
            <a:ext cx="2926080" cy="152400"/>
          </a:xfrm>
          <a:prstGeom prst="rect">
            <a:avLst/>
          </a:prstGeom>
          <a:noFill/>
        </p:spPr>
        <p:txBody>
          <a:bodyPr wrap="square" anchor="t" lIns="0" rIns="0" tIns="0" bIns="0">
            <a:spAutoFit/>
          </a:bodyPr>
          <a:lstStyle/>
          <a:p>
            <a:pPr algn="l"/>
            <a:r>
              <a:rPr sz="1300" b="1" i="0">
                <a:solidFill>
                  <a:srgbClr val="555B66"/>
                </a:solidFill>
                <a:latin typeface="Arial"/>
              </a:rPr>
              <a:t>CHAMP LEXICAL</a:t>
            </a:r>
          </a:p>
        </p:txBody>
      </p:sp>
      <p:sp>
        <p:nvSpPr>
          <p:cNvPr id="57" name="TextBox 56"/>
          <p:cNvSpPr txBox="1"/>
          <p:nvPr/>
        </p:nvSpPr>
        <p:spPr>
          <a:xfrm>
            <a:off x="774192" y="3992880"/>
            <a:ext cx="2926080" cy="121920"/>
          </a:xfrm>
          <a:prstGeom prst="rect">
            <a:avLst/>
          </a:prstGeom>
          <a:noFill/>
        </p:spPr>
        <p:txBody>
          <a:bodyPr wrap="square" anchor="t" lIns="0" rIns="0" tIns="0" bIns="0">
            <a:spAutoFit/>
          </a:bodyPr>
          <a:lstStyle/>
          <a:p>
            <a:pPr algn="l"/>
            <a:r>
              <a:rPr sz="1000" b="0" i="1">
                <a:solidFill>
                  <a:srgbClr val="8A93A6"/>
                </a:solidFill>
                <a:latin typeface="Arial"/>
              </a:rPr>
              <a:t>Termes les plus fréquents</a:t>
            </a:r>
          </a:p>
        </p:txBody>
      </p:sp>
      <p:sp>
        <p:nvSpPr>
          <p:cNvPr id="58" name="TextBox 57"/>
          <p:cNvSpPr txBox="1"/>
          <p:nvPr/>
        </p:nvSpPr>
        <p:spPr>
          <a:xfrm>
            <a:off x="774192" y="4236720"/>
            <a:ext cx="2987040" cy="1828800"/>
          </a:xfrm>
          <a:prstGeom prst="rect">
            <a:avLst/>
          </a:prstGeom>
          <a:noFill/>
        </p:spPr>
        <p:txBody>
          <a:bodyPr wrap="square" anchor="t" lIns="0" rIns="0" tIns="0" bIns="0">
            <a:spAutoFit/>
          </a:bodyPr>
          <a:lstStyle/>
          <a:p>
            <a:pPr algn="l">
              <a:spcAft>
                <a:spcPts val="500"/>
              </a:spcAft>
            </a:pPr>
            <a:r>
              <a:rPr sz="2000" b="1" i="0">
                <a:solidFill>
                  <a:srgbClr val="EE6A2C"/>
                </a:solidFill>
                <a:latin typeface="Arial"/>
              </a:rPr>
              <a:t>lave-vaisselle</a:t>
            </a:r>
            <a:r>
              <a:rPr sz="1800" b="1" i="0">
                <a:solidFill>
                  <a:srgbClr val="111111"/>
                </a:solidFill>
                <a:latin typeface="Arial"/>
              </a:rPr>
              <a:t>   encastrable</a:t>
            </a:r>
          </a:p>
          <a:p>
            <a:pPr algn="l">
              <a:spcAft>
                <a:spcPts val="500"/>
              </a:spcAft>
            </a:pPr>
            <a:r>
              <a:rPr sz="1500" b="1" i="0">
                <a:solidFill>
                  <a:srgbClr val="111111"/>
                </a:solidFill>
                <a:latin typeface="Arial"/>
              </a:rPr>
              <a:t>pose libre</a:t>
            </a:r>
            <a:r>
              <a:rPr sz="1400" b="1" i="0">
                <a:solidFill>
                  <a:srgbClr val="111111"/>
                </a:solidFill>
                <a:latin typeface="Arial"/>
              </a:rPr>
              <a:t>   60 cm</a:t>
            </a:r>
          </a:p>
          <a:p>
            <a:pPr algn="l">
              <a:spcAft>
                <a:spcPts val="500"/>
              </a:spcAft>
            </a:pPr>
            <a:r>
              <a:rPr sz="1300" b="1" i="0">
                <a:solidFill>
                  <a:srgbClr val="EE6A2C"/>
                </a:solidFill>
                <a:latin typeface="Arial"/>
              </a:rPr>
              <a:t>45 cm</a:t>
            </a:r>
            <a:r>
              <a:rPr sz="1200" b="0" i="0">
                <a:solidFill>
                  <a:srgbClr val="111111"/>
                </a:solidFill>
                <a:latin typeface="Arial"/>
              </a:rPr>
              <a:t>   Série 2</a:t>
            </a:r>
            <a:r>
              <a:rPr sz="1200" b="1" i="0">
                <a:solidFill>
                  <a:srgbClr val="111111"/>
                </a:solidFill>
                <a:latin typeface="Arial"/>
              </a:rPr>
              <a:t>   Série 4</a:t>
            </a:r>
          </a:p>
          <a:p>
            <a:pPr algn="l">
              <a:spcAft>
                <a:spcPts val="500"/>
              </a:spcAft>
            </a:pPr>
            <a:r>
              <a:rPr sz="1100" b="1" i="0">
                <a:solidFill>
                  <a:srgbClr val="EE6A2C"/>
                </a:solidFill>
                <a:latin typeface="Arial"/>
              </a:rPr>
              <a:t>EcoSilence Drive</a:t>
            </a:r>
            <a:r>
              <a:rPr sz="1100" b="1" i="0">
                <a:solidFill>
                  <a:srgbClr val="111111"/>
                </a:solidFill>
                <a:latin typeface="Arial"/>
              </a:rPr>
              <a:t>   tiroir à couverts</a:t>
            </a:r>
          </a:p>
          <a:p>
            <a:pPr algn="l">
              <a:spcAft>
                <a:spcPts val="500"/>
              </a:spcAft>
            </a:pPr>
            <a:r>
              <a:rPr sz="1100" b="1" i="0">
                <a:solidFill>
                  <a:srgbClr val="111111"/>
                </a:solidFill>
                <a:latin typeface="Arial"/>
              </a:rPr>
              <a:t>13 couverts</a:t>
            </a:r>
            <a:r>
              <a:rPr sz="1100" b="0" i="0">
                <a:solidFill>
                  <a:srgbClr val="111111"/>
                </a:solidFill>
                <a:latin typeface="Arial"/>
              </a:rPr>
              <a:t>   14 couverts</a:t>
            </a:r>
            <a:r>
              <a:rPr sz="1100" b="1" i="0">
                <a:solidFill>
                  <a:srgbClr val="EE6A2C"/>
                </a:solidFill>
                <a:latin typeface="Arial"/>
              </a:rPr>
              <a:t>   dB</a:t>
            </a:r>
          </a:p>
          <a:p>
            <a:pPr algn="l">
              <a:spcAft>
                <a:spcPts val="500"/>
              </a:spcAft>
            </a:pPr>
            <a:r>
              <a:rPr sz="1100" b="1" i="0">
                <a:solidFill>
                  <a:srgbClr val="111111"/>
                </a:solidFill>
                <a:latin typeface="Arial"/>
              </a:rPr>
              <a:t>livraison gratuite</a:t>
            </a:r>
            <a:r>
              <a:rPr sz="1100" b="0" i="0">
                <a:solidFill>
                  <a:srgbClr val="111111"/>
                </a:solidFill>
                <a:latin typeface="Arial"/>
              </a:rPr>
              <a:t>   Black Friday</a:t>
            </a:r>
          </a:p>
        </p:txBody>
      </p:sp>
      <p:sp>
        <p:nvSpPr>
          <p:cNvPr id="59" name="TextBox 58"/>
          <p:cNvSpPr txBox="1"/>
          <p:nvPr/>
        </p:nvSpPr>
        <p:spPr>
          <a:xfrm>
            <a:off x="4437888" y="3767328"/>
            <a:ext cx="2926080" cy="152400"/>
          </a:xfrm>
          <a:prstGeom prst="rect">
            <a:avLst/>
          </a:prstGeom>
          <a:noFill/>
        </p:spPr>
        <p:txBody>
          <a:bodyPr wrap="square" anchor="t" lIns="0" rIns="0" tIns="0" bIns="0">
            <a:spAutoFit/>
          </a:bodyPr>
          <a:lstStyle/>
          <a:p>
            <a:pPr algn="l"/>
            <a:r>
              <a:rPr sz="1300" b="1" i="0">
                <a:solidFill>
                  <a:srgbClr val="555B66"/>
                </a:solidFill>
                <a:latin typeface="Arial"/>
              </a:rPr>
              <a:t>EXEMPLES DE REQUÊTES</a:t>
            </a:r>
          </a:p>
        </p:txBody>
      </p:sp>
      <p:sp>
        <p:nvSpPr>
          <p:cNvPr id="60" name="TextBox 59"/>
          <p:cNvSpPr txBox="1"/>
          <p:nvPr/>
        </p:nvSpPr>
        <p:spPr>
          <a:xfrm>
            <a:off x="4437888" y="3992880"/>
            <a:ext cx="2926080" cy="121920"/>
          </a:xfrm>
          <a:prstGeom prst="rect">
            <a:avLst/>
          </a:prstGeom>
          <a:noFill/>
        </p:spPr>
        <p:txBody>
          <a:bodyPr wrap="square" anchor="t" lIns="0" rIns="0" tIns="0" bIns="0">
            <a:spAutoFit/>
          </a:bodyPr>
          <a:lstStyle/>
          <a:p>
            <a:pPr algn="l"/>
            <a:r>
              <a:rPr sz="1000" b="0" i="1">
                <a:solidFill>
                  <a:srgbClr val="8A93A6"/>
                </a:solidFill>
                <a:latin typeface="Arial"/>
              </a:rPr>
              <a:t>Questions posées aux IA</a:t>
            </a:r>
          </a:p>
        </p:txBody>
      </p:sp>
      <p:sp>
        <p:nvSpPr>
          <p:cNvPr id="61" name="TextBox 60"/>
          <p:cNvSpPr txBox="1"/>
          <p:nvPr/>
        </p:nvSpPr>
        <p:spPr>
          <a:xfrm>
            <a:off x="4437888" y="4267200"/>
            <a:ext cx="2913888" cy="304800"/>
          </a:xfrm>
          <a:prstGeom prst="rect">
            <a:avLst/>
          </a:prstGeom>
          <a:noFill/>
        </p:spPr>
        <p:txBody>
          <a:bodyPr wrap="square" anchor="ctr" lIns="0" rIns="0" tIns="0" bIns="0">
            <a:spAutoFit/>
          </a:bodyPr>
          <a:lstStyle/>
          <a:p>
            <a:pPr algn="l"/>
            <a:r>
              <a:rPr sz="1000" b="0" i="0">
                <a:solidFill>
                  <a:srgbClr val="111111"/>
                </a:solidFill>
                <a:latin typeface="Arial"/>
              </a:rPr>
              <a:t>Quel lave-vaisselle Bosch pour une cuisine ouverte ?</a:t>
            </a:r>
          </a:p>
        </p:txBody>
      </p:sp>
      <p:sp>
        <p:nvSpPr>
          <p:cNvPr id="62" name="Rectangle 61"/>
          <p:cNvSpPr/>
          <p:nvPr/>
        </p:nvSpPr>
        <p:spPr>
          <a:xfrm>
            <a:off x="4437888" y="4602480"/>
            <a:ext cx="2913888" cy="6096"/>
          </a:xfrm>
          <a:prstGeom prst="rect">
            <a:avLst/>
          </a:prstGeom>
          <a:solidFill>
            <a:srgbClr val="E6E3DE"/>
          </a:solidFill>
          <a:ln>
            <a:noFill/>
          </a:ln>
          <a:effectLst/>
        </p:spPr>
        <p:txBody>
          <a:bodyPr rtlCol="0" anchor="ctr"/>
          <a:lstStyle/>
          <a:p>
            <a:pPr algn="ctr"/>
          </a:p>
        </p:txBody>
      </p:sp>
      <p:sp>
        <p:nvSpPr>
          <p:cNvPr id="63" name="TextBox 62"/>
          <p:cNvSpPr txBox="1"/>
          <p:nvPr/>
        </p:nvSpPr>
        <p:spPr>
          <a:xfrm>
            <a:off x="4437888" y="4632960"/>
            <a:ext cx="2913888" cy="304800"/>
          </a:xfrm>
          <a:prstGeom prst="rect">
            <a:avLst/>
          </a:prstGeom>
          <a:noFill/>
        </p:spPr>
        <p:txBody>
          <a:bodyPr wrap="square" anchor="ctr" lIns="0" rIns="0" tIns="0" bIns="0">
            <a:spAutoFit/>
          </a:bodyPr>
          <a:lstStyle/>
          <a:p>
            <a:pPr algn="l"/>
            <a:r>
              <a:rPr sz="1000" b="0" i="0">
                <a:solidFill>
                  <a:srgbClr val="111111"/>
                </a:solidFill>
                <a:latin typeface="Arial"/>
              </a:rPr>
              <a:t>Quelle différence entre encastrable et semi-intégrable ?</a:t>
            </a:r>
          </a:p>
        </p:txBody>
      </p:sp>
      <p:sp>
        <p:nvSpPr>
          <p:cNvPr id="64" name="Rectangle 63"/>
          <p:cNvSpPr/>
          <p:nvPr/>
        </p:nvSpPr>
        <p:spPr>
          <a:xfrm>
            <a:off x="4437888" y="4968240"/>
            <a:ext cx="2913888" cy="6096"/>
          </a:xfrm>
          <a:prstGeom prst="rect">
            <a:avLst/>
          </a:prstGeom>
          <a:solidFill>
            <a:srgbClr val="E6E3DE"/>
          </a:solidFill>
          <a:ln>
            <a:noFill/>
          </a:ln>
          <a:effectLst/>
        </p:spPr>
        <p:txBody>
          <a:bodyPr rtlCol="0" anchor="ctr"/>
          <a:lstStyle/>
          <a:p>
            <a:pPr algn="ctr"/>
          </a:p>
        </p:txBody>
      </p:sp>
      <p:sp>
        <p:nvSpPr>
          <p:cNvPr id="65" name="TextBox 64"/>
          <p:cNvSpPr txBox="1"/>
          <p:nvPr/>
        </p:nvSpPr>
        <p:spPr>
          <a:xfrm>
            <a:off x="4437888" y="4998720"/>
            <a:ext cx="2913888" cy="304800"/>
          </a:xfrm>
          <a:prstGeom prst="rect">
            <a:avLst/>
          </a:prstGeom>
          <a:noFill/>
        </p:spPr>
        <p:txBody>
          <a:bodyPr wrap="square" anchor="ctr" lIns="0" rIns="0" tIns="0" bIns="0">
            <a:spAutoFit/>
          </a:bodyPr>
          <a:lstStyle/>
          <a:p>
            <a:pPr algn="l"/>
            <a:r>
              <a:rPr sz="1000" b="0" i="0">
                <a:solidFill>
                  <a:srgbClr val="111111"/>
                </a:solidFill>
                <a:latin typeface="Arial"/>
              </a:rPr>
              <a:t>Un lave-vaisselle de 44 dB est-il vraiment silencieux ?</a:t>
            </a:r>
          </a:p>
        </p:txBody>
      </p:sp>
      <p:sp>
        <p:nvSpPr>
          <p:cNvPr id="66" name="Rectangle 65"/>
          <p:cNvSpPr/>
          <p:nvPr/>
        </p:nvSpPr>
        <p:spPr>
          <a:xfrm>
            <a:off x="4437888" y="5334000"/>
            <a:ext cx="2913888" cy="6096"/>
          </a:xfrm>
          <a:prstGeom prst="rect">
            <a:avLst/>
          </a:prstGeom>
          <a:solidFill>
            <a:srgbClr val="E6E3DE"/>
          </a:solidFill>
          <a:ln>
            <a:noFill/>
          </a:ln>
          <a:effectLst/>
        </p:spPr>
        <p:txBody>
          <a:bodyPr rtlCol="0" anchor="ctr"/>
          <a:lstStyle/>
          <a:p>
            <a:pPr algn="ctr"/>
          </a:p>
        </p:txBody>
      </p:sp>
      <p:sp>
        <p:nvSpPr>
          <p:cNvPr id="67" name="TextBox 66"/>
          <p:cNvSpPr txBox="1"/>
          <p:nvPr/>
        </p:nvSpPr>
        <p:spPr>
          <a:xfrm>
            <a:off x="4437888" y="5364480"/>
            <a:ext cx="2913888" cy="304800"/>
          </a:xfrm>
          <a:prstGeom prst="rect">
            <a:avLst/>
          </a:prstGeom>
          <a:noFill/>
        </p:spPr>
        <p:txBody>
          <a:bodyPr wrap="square" anchor="ctr" lIns="0" rIns="0" tIns="0" bIns="0">
            <a:spAutoFit/>
          </a:bodyPr>
          <a:lstStyle/>
          <a:p>
            <a:pPr algn="l"/>
            <a:r>
              <a:rPr sz="1000" b="0" i="0">
                <a:solidFill>
                  <a:srgbClr val="111111"/>
                </a:solidFill>
                <a:latin typeface="Arial"/>
              </a:rPr>
              <a:t>Quel modèle de 45 cm pour une petite cuisine ?</a:t>
            </a:r>
          </a:p>
        </p:txBody>
      </p:sp>
      <p:sp>
        <p:nvSpPr>
          <p:cNvPr id="68" name="Rectangle 67"/>
          <p:cNvSpPr/>
          <p:nvPr/>
        </p:nvSpPr>
        <p:spPr>
          <a:xfrm>
            <a:off x="4437888" y="5699760"/>
            <a:ext cx="2913888" cy="6096"/>
          </a:xfrm>
          <a:prstGeom prst="rect">
            <a:avLst/>
          </a:prstGeom>
          <a:solidFill>
            <a:srgbClr val="E6E3DE"/>
          </a:solidFill>
          <a:ln>
            <a:noFill/>
          </a:ln>
          <a:effectLst/>
        </p:spPr>
        <p:txBody>
          <a:bodyPr rtlCol="0" anchor="ctr"/>
          <a:lstStyle/>
          <a:p>
            <a:pPr algn="ctr"/>
          </a:p>
        </p:txBody>
      </p:sp>
      <p:sp>
        <p:nvSpPr>
          <p:cNvPr id="69" name="TextBox 68"/>
          <p:cNvSpPr txBox="1"/>
          <p:nvPr/>
        </p:nvSpPr>
        <p:spPr>
          <a:xfrm>
            <a:off x="4437888" y="5730240"/>
            <a:ext cx="2913888" cy="304800"/>
          </a:xfrm>
          <a:prstGeom prst="rect">
            <a:avLst/>
          </a:prstGeom>
          <a:noFill/>
        </p:spPr>
        <p:txBody>
          <a:bodyPr wrap="square" anchor="ctr" lIns="0" rIns="0" tIns="0" bIns="0">
            <a:spAutoFit/>
          </a:bodyPr>
          <a:lstStyle/>
          <a:p>
            <a:pPr algn="l"/>
            <a:r>
              <a:rPr sz="1000" b="0" i="0">
                <a:solidFill>
                  <a:srgbClr val="111111"/>
                </a:solidFill>
                <a:latin typeface="Arial"/>
              </a:rPr>
              <a:t>À quoi sert Home Connect sur un lave-vaisselle Bosch ?</a:t>
            </a:r>
          </a:p>
        </p:txBody>
      </p:sp>
      <p:sp>
        <p:nvSpPr>
          <p:cNvPr id="70" name="TextBox 69"/>
          <p:cNvSpPr txBox="1"/>
          <p:nvPr/>
        </p:nvSpPr>
        <p:spPr>
          <a:xfrm>
            <a:off x="8101584" y="3767328"/>
            <a:ext cx="2926080" cy="152400"/>
          </a:xfrm>
          <a:prstGeom prst="rect">
            <a:avLst/>
          </a:prstGeom>
          <a:noFill/>
        </p:spPr>
        <p:txBody>
          <a:bodyPr wrap="square" anchor="t" lIns="0" rIns="0" tIns="0" bIns="0">
            <a:spAutoFit/>
          </a:bodyPr>
          <a:lstStyle/>
          <a:p>
            <a:pPr algn="l"/>
            <a:r>
              <a:rPr sz="1300" b="1" i="0">
                <a:solidFill>
                  <a:srgbClr val="555B66"/>
                </a:solidFill>
                <a:latin typeface="Arial"/>
              </a:rPr>
              <a:t>CATÉGORIES DE PRODUITS</a:t>
            </a:r>
          </a:p>
        </p:txBody>
      </p:sp>
      <p:sp>
        <p:nvSpPr>
          <p:cNvPr id="71" name="TextBox 70"/>
          <p:cNvSpPr txBox="1"/>
          <p:nvPr/>
        </p:nvSpPr>
        <p:spPr>
          <a:xfrm>
            <a:off x="8101584" y="3992880"/>
            <a:ext cx="2926080" cy="121920"/>
          </a:xfrm>
          <a:prstGeom prst="rect">
            <a:avLst/>
          </a:prstGeom>
          <a:noFill/>
        </p:spPr>
        <p:txBody>
          <a:bodyPr wrap="square" anchor="t" lIns="0" rIns="0" tIns="0" bIns="0">
            <a:spAutoFit/>
          </a:bodyPr>
          <a:lstStyle/>
          <a:p>
            <a:pPr algn="l"/>
            <a:r>
              <a:rPr sz="1000" b="0" i="1">
                <a:solidFill>
                  <a:srgbClr val="8A93A6"/>
                </a:solidFill>
                <a:latin typeface="Arial"/>
              </a:rPr>
              <a:t>Répartition des requêtes</a:t>
            </a:r>
          </a:p>
        </p:txBody>
      </p:sp>
      <p:sp>
        <p:nvSpPr>
          <p:cNvPr id="72" name="TextBox 71"/>
          <p:cNvSpPr txBox="1"/>
          <p:nvPr/>
        </p:nvSpPr>
        <p:spPr>
          <a:xfrm>
            <a:off x="8101584" y="4267200"/>
            <a:ext cx="2194560" cy="134112"/>
          </a:xfrm>
          <a:prstGeom prst="rect">
            <a:avLst/>
          </a:prstGeom>
          <a:noFill/>
        </p:spPr>
        <p:txBody>
          <a:bodyPr wrap="square" anchor="t" lIns="0" rIns="0" tIns="0" bIns="0">
            <a:spAutoFit/>
          </a:bodyPr>
          <a:lstStyle/>
          <a:p>
            <a:pPr algn="l"/>
            <a:r>
              <a:rPr sz="1000" b="0" i="0">
                <a:solidFill>
                  <a:srgbClr val="111111"/>
                </a:solidFill>
                <a:latin typeface="Arial"/>
              </a:rPr>
              <a:t>Comparaison marques et modèles</a:t>
            </a:r>
          </a:p>
        </p:txBody>
      </p:sp>
      <p:sp>
        <p:nvSpPr>
          <p:cNvPr id="73" name="Rectangle 72"/>
          <p:cNvSpPr/>
          <p:nvPr/>
        </p:nvSpPr>
        <p:spPr>
          <a:xfrm>
            <a:off x="8101584" y="4419600"/>
            <a:ext cx="2011680" cy="54864"/>
          </a:xfrm>
          <a:prstGeom prst="rect">
            <a:avLst/>
          </a:prstGeom>
          <a:solidFill>
            <a:srgbClr val="ECEAE5"/>
          </a:solidFill>
          <a:ln>
            <a:noFill/>
          </a:ln>
          <a:effectLst/>
        </p:spPr>
        <p:txBody>
          <a:bodyPr rtlCol="0" anchor="ctr"/>
          <a:lstStyle/>
          <a:p>
            <a:pPr algn="ctr"/>
          </a:p>
        </p:txBody>
      </p:sp>
      <p:sp>
        <p:nvSpPr>
          <p:cNvPr id="74" name="Rectangle 73"/>
          <p:cNvSpPr/>
          <p:nvPr/>
        </p:nvSpPr>
        <p:spPr>
          <a:xfrm>
            <a:off x="8101584" y="4419600"/>
            <a:ext cx="100584" cy="54864"/>
          </a:xfrm>
          <a:prstGeom prst="rect">
            <a:avLst/>
          </a:prstGeom>
          <a:solidFill>
            <a:srgbClr val="9AA3B2"/>
          </a:solidFill>
          <a:ln>
            <a:noFill/>
          </a:ln>
          <a:effectLst/>
        </p:spPr>
        <p:txBody>
          <a:bodyPr rtlCol="0" anchor="ctr"/>
          <a:lstStyle/>
          <a:p>
            <a:pPr algn="ctr"/>
          </a:p>
        </p:txBody>
      </p:sp>
      <p:sp>
        <p:nvSpPr>
          <p:cNvPr id="75" name="TextBox 74"/>
          <p:cNvSpPr txBox="1"/>
          <p:nvPr/>
        </p:nvSpPr>
        <p:spPr>
          <a:xfrm>
            <a:off x="10241280" y="4340352"/>
            <a:ext cx="792480" cy="182880"/>
          </a:xfrm>
          <a:prstGeom prst="rect">
            <a:avLst/>
          </a:prstGeom>
          <a:noFill/>
        </p:spPr>
        <p:txBody>
          <a:bodyPr wrap="square" anchor="ctr" lIns="0" rIns="0" tIns="0" bIns="0">
            <a:spAutoFit/>
          </a:bodyPr>
          <a:lstStyle/>
          <a:p>
            <a:pPr algn="r"/>
            <a:r>
              <a:rPr sz="1300" b="1" i="0">
                <a:solidFill>
                  <a:srgbClr val="111111"/>
                </a:solidFill>
                <a:latin typeface="Arial"/>
              </a:rPr>
              <a:t>5 %</a:t>
            </a:r>
          </a:p>
        </p:txBody>
      </p:sp>
      <p:sp>
        <p:nvSpPr>
          <p:cNvPr id="76" name="TextBox 75"/>
          <p:cNvSpPr txBox="1"/>
          <p:nvPr/>
        </p:nvSpPr>
        <p:spPr>
          <a:xfrm>
            <a:off x="8101584" y="4572000"/>
            <a:ext cx="2194560" cy="134112"/>
          </a:xfrm>
          <a:prstGeom prst="rect">
            <a:avLst/>
          </a:prstGeom>
          <a:noFill/>
        </p:spPr>
        <p:txBody>
          <a:bodyPr wrap="square" anchor="t" lIns="0" rIns="0" tIns="0" bIns="0">
            <a:spAutoFit/>
          </a:bodyPr>
          <a:lstStyle/>
          <a:p>
            <a:pPr algn="l"/>
            <a:r>
              <a:rPr sz="1000" b="0" i="0">
                <a:solidFill>
                  <a:srgbClr val="111111"/>
                </a:solidFill>
                <a:latin typeface="Arial"/>
              </a:rPr>
              <a:t>Encastrables et intégrables</a:t>
            </a:r>
          </a:p>
        </p:txBody>
      </p:sp>
      <p:sp>
        <p:nvSpPr>
          <p:cNvPr id="77" name="Rectangle 76"/>
          <p:cNvSpPr/>
          <p:nvPr/>
        </p:nvSpPr>
        <p:spPr>
          <a:xfrm>
            <a:off x="8101584" y="4724400"/>
            <a:ext cx="2011680" cy="54864"/>
          </a:xfrm>
          <a:prstGeom prst="rect">
            <a:avLst/>
          </a:prstGeom>
          <a:solidFill>
            <a:srgbClr val="ECEAE5"/>
          </a:solidFill>
          <a:ln>
            <a:noFill/>
          </a:ln>
          <a:effectLst/>
        </p:spPr>
        <p:txBody>
          <a:bodyPr rtlCol="0" anchor="ctr"/>
          <a:lstStyle/>
          <a:p>
            <a:pPr algn="ctr"/>
          </a:p>
        </p:txBody>
      </p:sp>
      <p:sp>
        <p:nvSpPr>
          <p:cNvPr id="78" name="Rectangle 77"/>
          <p:cNvSpPr/>
          <p:nvPr/>
        </p:nvSpPr>
        <p:spPr>
          <a:xfrm>
            <a:off x="8101584" y="4724400"/>
            <a:ext cx="925372" cy="54864"/>
          </a:xfrm>
          <a:prstGeom prst="rect">
            <a:avLst/>
          </a:prstGeom>
          <a:solidFill>
            <a:srgbClr val="EE6A2C"/>
          </a:solidFill>
          <a:ln>
            <a:noFill/>
          </a:ln>
          <a:effectLst/>
        </p:spPr>
        <p:txBody>
          <a:bodyPr rtlCol="0" anchor="ctr"/>
          <a:lstStyle/>
          <a:p>
            <a:pPr algn="ctr"/>
          </a:p>
        </p:txBody>
      </p:sp>
      <p:sp>
        <p:nvSpPr>
          <p:cNvPr id="79" name="TextBox 78"/>
          <p:cNvSpPr txBox="1"/>
          <p:nvPr/>
        </p:nvSpPr>
        <p:spPr>
          <a:xfrm>
            <a:off x="10241280" y="4645152"/>
            <a:ext cx="792480" cy="182880"/>
          </a:xfrm>
          <a:prstGeom prst="rect">
            <a:avLst/>
          </a:prstGeom>
          <a:noFill/>
        </p:spPr>
        <p:txBody>
          <a:bodyPr wrap="square" anchor="ctr" lIns="0" rIns="0" tIns="0" bIns="0">
            <a:spAutoFit/>
          </a:bodyPr>
          <a:lstStyle/>
          <a:p>
            <a:pPr algn="r"/>
            <a:r>
              <a:rPr sz="1300" b="1" i="0">
                <a:solidFill>
                  <a:srgbClr val="111111"/>
                </a:solidFill>
                <a:latin typeface="Arial"/>
              </a:rPr>
              <a:t>46 %</a:t>
            </a:r>
          </a:p>
        </p:txBody>
      </p:sp>
      <p:sp>
        <p:nvSpPr>
          <p:cNvPr id="80" name="TextBox 79"/>
          <p:cNvSpPr txBox="1"/>
          <p:nvPr/>
        </p:nvSpPr>
        <p:spPr>
          <a:xfrm>
            <a:off x="8101584" y="4876800"/>
            <a:ext cx="2194560" cy="134112"/>
          </a:xfrm>
          <a:prstGeom prst="rect">
            <a:avLst/>
          </a:prstGeom>
          <a:noFill/>
        </p:spPr>
        <p:txBody>
          <a:bodyPr wrap="square" anchor="t" lIns="0" rIns="0" tIns="0" bIns="0">
            <a:spAutoFit/>
          </a:bodyPr>
          <a:lstStyle/>
          <a:p>
            <a:pPr algn="l"/>
            <a:r>
              <a:rPr sz="1000" b="0" i="0">
                <a:solidFill>
                  <a:srgbClr val="111111"/>
                </a:solidFill>
                <a:latin typeface="Arial"/>
              </a:rPr>
              <a:t>Compacts et largeur 45 cm</a:t>
            </a:r>
          </a:p>
        </p:txBody>
      </p:sp>
      <p:sp>
        <p:nvSpPr>
          <p:cNvPr id="81" name="Rectangle 80"/>
          <p:cNvSpPr/>
          <p:nvPr/>
        </p:nvSpPr>
        <p:spPr>
          <a:xfrm>
            <a:off x="8101584" y="5029200"/>
            <a:ext cx="2011680" cy="54864"/>
          </a:xfrm>
          <a:prstGeom prst="rect">
            <a:avLst/>
          </a:prstGeom>
          <a:solidFill>
            <a:srgbClr val="ECEAE5"/>
          </a:solidFill>
          <a:ln>
            <a:noFill/>
          </a:ln>
          <a:effectLst/>
        </p:spPr>
        <p:txBody>
          <a:bodyPr rtlCol="0" anchor="ctr"/>
          <a:lstStyle/>
          <a:p>
            <a:pPr algn="ctr"/>
          </a:p>
        </p:txBody>
      </p:sp>
      <p:sp>
        <p:nvSpPr>
          <p:cNvPr id="82" name="Rectangle 81"/>
          <p:cNvSpPr/>
          <p:nvPr/>
        </p:nvSpPr>
        <p:spPr>
          <a:xfrm>
            <a:off x="8101584" y="5029200"/>
            <a:ext cx="301752" cy="54864"/>
          </a:xfrm>
          <a:prstGeom prst="rect">
            <a:avLst/>
          </a:prstGeom>
          <a:solidFill>
            <a:srgbClr val="9AA3B2"/>
          </a:solidFill>
          <a:ln>
            <a:noFill/>
          </a:ln>
          <a:effectLst/>
        </p:spPr>
        <p:txBody>
          <a:bodyPr rtlCol="0" anchor="ctr"/>
          <a:lstStyle/>
          <a:p>
            <a:pPr algn="ctr"/>
          </a:p>
        </p:txBody>
      </p:sp>
      <p:sp>
        <p:nvSpPr>
          <p:cNvPr id="83" name="TextBox 82"/>
          <p:cNvSpPr txBox="1"/>
          <p:nvPr/>
        </p:nvSpPr>
        <p:spPr>
          <a:xfrm>
            <a:off x="10241280" y="4949952"/>
            <a:ext cx="792480" cy="182880"/>
          </a:xfrm>
          <a:prstGeom prst="rect">
            <a:avLst/>
          </a:prstGeom>
          <a:noFill/>
        </p:spPr>
        <p:txBody>
          <a:bodyPr wrap="square" anchor="ctr" lIns="0" rIns="0" tIns="0" bIns="0">
            <a:spAutoFit/>
          </a:bodyPr>
          <a:lstStyle/>
          <a:p>
            <a:pPr algn="r"/>
            <a:r>
              <a:rPr sz="1300" b="1" i="0">
                <a:solidFill>
                  <a:srgbClr val="111111"/>
                </a:solidFill>
                <a:latin typeface="Arial"/>
              </a:rPr>
              <a:t>15 %</a:t>
            </a:r>
          </a:p>
        </p:txBody>
      </p:sp>
      <p:sp>
        <p:nvSpPr>
          <p:cNvPr id="84" name="TextBox 83"/>
          <p:cNvSpPr txBox="1"/>
          <p:nvPr/>
        </p:nvSpPr>
        <p:spPr>
          <a:xfrm>
            <a:off x="8101584" y="5181600"/>
            <a:ext cx="2194560" cy="134112"/>
          </a:xfrm>
          <a:prstGeom prst="rect">
            <a:avLst/>
          </a:prstGeom>
          <a:noFill/>
        </p:spPr>
        <p:txBody>
          <a:bodyPr wrap="square" anchor="t" lIns="0" rIns="0" tIns="0" bIns="0">
            <a:spAutoFit/>
          </a:bodyPr>
          <a:lstStyle/>
          <a:p>
            <a:pPr algn="l"/>
            <a:r>
              <a:rPr sz="1000" b="0" i="0">
                <a:solidFill>
                  <a:srgbClr val="111111"/>
                </a:solidFill>
                <a:latin typeface="Arial"/>
              </a:rPr>
              <a:t>Grande capacité et 60 cm</a:t>
            </a:r>
          </a:p>
        </p:txBody>
      </p:sp>
      <p:sp>
        <p:nvSpPr>
          <p:cNvPr id="85" name="Rectangle 84"/>
          <p:cNvSpPr/>
          <p:nvPr/>
        </p:nvSpPr>
        <p:spPr>
          <a:xfrm>
            <a:off x="8101584" y="5334000"/>
            <a:ext cx="2011680" cy="54864"/>
          </a:xfrm>
          <a:prstGeom prst="rect">
            <a:avLst/>
          </a:prstGeom>
          <a:solidFill>
            <a:srgbClr val="ECEAE5"/>
          </a:solidFill>
          <a:ln>
            <a:noFill/>
          </a:ln>
          <a:effectLst/>
        </p:spPr>
        <p:txBody>
          <a:bodyPr rtlCol="0" anchor="ctr"/>
          <a:lstStyle/>
          <a:p>
            <a:pPr algn="ctr"/>
          </a:p>
        </p:txBody>
      </p:sp>
      <p:sp>
        <p:nvSpPr>
          <p:cNvPr id="86" name="Rectangle 85"/>
          <p:cNvSpPr/>
          <p:nvPr/>
        </p:nvSpPr>
        <p:spPr>
          <a:xfrm>
            <a:off x="8101584" y="5334000"/>
            <a:ext cx="683971" cy="54864"/>
          </a:xfrm>
          <a:prstGeom prst="rect">
            <a:avLst/>
          </a:prstGeom>
          <a:solidFill>
            <a:srgbClr val="9AA3B2"/>
          </a:solidFill>
          <a:ln>
            <a:noFill/>
          </a:ln>
          <a:effectLst/>
        </p:spPr>
        <p:txBody>
          <a:bodyPr rtlCol="0" anchor="ctr"/>
          <a:lstStyle/>
          <a:p>
            <a:pPr algn="ctr"/>
          </a:p>
        </p:txBody>
      </p:sp>
      <p:sp>
        <p:nvSpPr>
          <p:cNvPr id="87" name="TextBox 86"/>
          <p:cNvSpPr txBox="1"/>
          <p:nvPr/>
        </p:nvSpPr>
        <p:spPr>
          <a:xfrm>
            <a:off x="10241280" y="5254752"/>
            <a:ext cx="792480" cy="182880"/>
          </a:xfrm>
          <a:prstGeom prst="rect">
            <a:avLst/>
          </a:prstGeom>
          <a:noFill/>
        </p:spPr>
        <p:txBody>
          <a:bodyPr wrap="square" anchor="ctr" lIns="0" rIns="0" tIns="0" bIns="0">
            <a:spAutoFit/>
          </a:bodyPr>
          <a:lstStyle/>
          <a:p>
            <a:pPr algn="r"/>
            <a:r>
              <a:rPr sz="1300" b="1" i="0">
                <a:solidFill>
                  <a:srgbClr val="111111"/>
                </a:solidFill>
                <a:latin typeface="Arial"/>
              </a:rPr>
              <a:t>34 %</a:t>
            </a:r>
          </a:p>
        </p:txBody>
      </p:sp>
      <p:sp>
        <p:nvSpPr>
          <p:cNvPr id="88" name="TextBox 87"/>
          <p:cNvSpPr txBox="1"/>
          <p:nvPr/>
        </p:nvSpPr>
        <p:spPr>
          <a:xfrm>
            <a:off x="8101584" y="5486400"/>
            <a:ext cx="2194560" cy="134112"/>
          </a:xfrm>
          <a:prstGeom prst="rect">
            <a:avLst/>
          </a:prstGeom>
          <a:noFill/>
        </p:spPr>
        <p:txBody>
          <a:bodyPr wrap="square" anchor="t" lIns="0" rIns="0" tIns="0" bIns="0">
            <a:spAutoFit/>
          </a:bodyPr>
          <a:lstStyle/>
          <a:p>
            <a:pPr algn="l"/>
            <a:r>
              <a:rPr sz="1000" b="0" i="0">
                <a:solidFill>
                  <a:srgbClr val="111111"/>
                </a:solidFill>
                <a:latin typeface="Arial"/>
              </a:rPr>
              <a:t>Lave-vaisselle silencieux</a:t>
            </a:r>
          </a:p>
        </p:txBody>
      </p:sp>
      <p:sp>
        <p:nvSpPr>
          <p:cNvPr id="89" name="Rectangle 88"/>
          <p:cNvSpPr/>
          <p:nvPr/>
        </p:nvSpPr>
        <p:spPr>
          <a:xfrm>
            <a:off x="8101584" y="5638800"/>
            <a:ext cx="2011680" cy="54864"/>
          </a:xfrm>
          <a:prstGeom prst="rect">
            <a:avLst/>
          </a:prstGeom>
          <a:solidFill>
            <a:srgbClr val="ECEAE5"/>
          </a:solidFill>
          <a:ln>
            <a:noFill/>
          </a:ln>
          <a:effectLst/>
        </p:spPr>
        <p:txBody>
          <a:bodyPr rtlCol="0" anchor="ctr"/>
          <a:lstStyle/>
          <a:p>
            <a:pPr algn="ctr"/>
          </a:p>
        </p:txBody>
      </p:sp>
      <p:sp>
        <p:nvSpPr>
          <p:cNvPr id="90" name="TextBox 89"/>
          <p:cNvSpPr txBox="1"/>
          <p:nvPr/>
        </p:nvSpPr>
        <p:spPr>
          <a:xfrm>
            <a:off x="10241280" y="5559552"/>
            <a:ext cx="792480" cy="182880"/>
          </a:xfrm>
          <a:prstGeom prst="rect">
            <a:avLst/>
          </a:prstGeom>
          <a:noFill/>
        </p:spPr>
        <p:txBody>
          <a:bodyPr wrap="square" anchor="ctr" lIns="0" rIns="0" tIns="0" bIns="0">
            <a:spAutoFit/>
          </a:bodyPr>
          <a:lstStyle/>
          <a:p>
            <a:pPr algn="r"/>
            <a:r>
              <a:rPr sz="1000" b="1" i="0">
                <a:solidFill>
                  <a:srgbClr val="8A93A6"/>
                </a:solidFill>
                <a:latin typeface="Arial"/>
              </a:rPr>
              <a:t>&lt; 1 %</a:t>
            </a:r>
          </a:p>
        </p:txBody>
      </p:sp>
      <p:sp>
        <p:nvSpPr>
          <p:cNvPr id="91" name="TextBox 90"/>
          <p:cNvSpPr txBox="1"/>
          <p:nvPr/>
        </p:nvSpPr>
        <p:spPr>
          <a:xfrm>
            <a:off x="8101584" y="5791200"/>
            <a:ext cx="2194560" cy="134112"/>
          </a:xfrm>
          <a:prstGeom prst="rect">
            <a:avLst/>
          </a:prstGeom>
          <a:noFill/>
        </p:spPr>
        <p:txBody>
          <a:bodyPr wrap="square" anchor="t" lIns="0" rIns="0" tIns="0" bIns="0">
            <a:spAutoFit/>
          </a:bodyPr>
          <a:lstStyle/>
          <a:p>
            <a:pPr algn="l"/>
            <a:r>
              <a:rPr sz="1000" b="0" i="0">
                <a:solidFill>
                  <a:srgbClr val="111111"/>
                </a:solidFill>
                <a:latin typeface="Arial"/>
              </a:rPr>
              <a:t>Lave-vaisselle connectés</a:t>
            </a:r>
          </a:p>
        </p:txBody>
      </p:sp>
      <p:sp>
        <p:nvSpPr>
          <p:cNvPr id="92" name="Rectangle 91"/>
          <p:cNvSpPr/>
          <p:nvPr/>
        </p:nvSpPr>
        <p:spPr>
          <a:xfrm>
            <a:off x="8101584" y="5943600"/>
            <a:ext cx="2011680" cy="54864"/>
          </a:xfrm>
          <a:prstGeom prst="rect">
            <a:avLst/>
          </a:prstGeom>
          <a:solidFill>
            <a:srgbClr val="ECEAE5"/>
          </a:solidFill>
          <a:ln>
            <a:noFill/>
          </a:ln>
          <a:effectLst/>
        </p:spPr>
        <p:txBody>
          <a:bodyPr rtlCol="0" anchor="ctr"/>
          <a:lstStyle/>
          <a:p>
            <a:pPr algn="ctr"/>
          </a:p>
        </p:txBody>
      </p:sp>
      <p:sp>
        <p:nvSpPr>
          <p:cNvPr id="93" name="TextBox 92"/>
          <p:cNvSpPr txBox="1"/>
          <p:nvPr/>
        </p:nvSpPr>
        <p:spPr>
          <a:xfrm>
            <a:off x="10241280" y="5864352"/>
            <a:ext cx="792480" cy="182880"/>
          </a:xfrm>
          <a:prstGeom prst="rect">
            <a:avLst/>
          </a:prstGeom>
          <a:noFill/>
        </p:spPr>
        <p:txBody>
          <a:bodyPr wrap="square" anchor="ctr" lIns="0" rIns="0" tIns="0" bIns="0">
            <a:spAutoFit/>
          </a:bodyPr>
          <a:lstStyle/>
          <a:p>
            <a:pPr algn="r"/>
            <a:r>
              <a:rPr sz="1000" b="1" i="0">
                <a:solidFill>
                  <a:srgbClr val="8A93A6"/>
                </a:solidFill>
                <a:latin typeface="Arial"/>
              </a:rPr>
              <a:t>&lt; 1 %</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6F2"/>
          </a:solidFill>
          <a:ln>
            <a:noFill/>
          </a:ln>
          <a:effectLst/>
        </p:spPr>
        <p:txBody>
          <a:bodyPr rtlCol="0" anchor="ctr"/>
          <a:lstStyle/>
          <a:p>
            <a:pPr algn="ctr"/>
          </a:p>
        </p:txBody>
      </p:sp>
      <p:sp>
        <p:nvSpPr>
          <p:cNvPr id="3" name="TextBox 2"/>
          <p:cNvSpPr txBox="1"/>
          <p:nvPr/>
        </p:nvSpPr>
        <p:spPr>
          <a:xfrm>
            <a:off x="579120" y="426720"/>
            <a:ext cx="7315200" cy="182880"/>
          </a:xfrm>
          <a:prstGeom prst="rect">
            <a:avLst/>
          </a:prstGeom>
          <a:noFill/>
        </p:spPr>
        <p:txBody>
          <a:bodyPr wrap="square" anchor="t" lIns="0" rIns="0" tIns="0" bIns="0">
            <a:spAutoFit/>
          </a:bodyPr>
          <a:lstStyle/>
          <a:p>
            <a:pPr algn="l"/>
            <a:r>
              <a:rPr sz="1300" b="1" i="0">
                <a:solidFill>
                  <a:srgbClr val="EE6A2C"/>
                </a:solidFill>
                <a:latin typeface="Arial"/>
              </a:rPr>
              <a:t>INSIGHTS QUALITATIFS · SEPTEMBRE 2026</a:t>
            </a:r>
          </a:p>
        </p:txBody>
      </p:sp>
      <p:sp>
        <p:nvSpPr>
          <p:cNvPr id="4" name="TextBox 3"/>
          <p:cNvSpPr txBox="1"/>
          <p:nvPr/>
        </p:nvSpPr>
        <p:spPr>
          <a:xfrm>
            <a:off x="579120" y="609600"/>
            <a:ext cx="7315200" cy="487680"/>
          </a:xfrm>
          <a:prstGeom prst="rect">
            <a:avLst/>
          </a:prstGeom>
          <a:noFill/>
        </p:spPr>
        <p:txBody>
          <a:bodyPr wrap="square" anchor="t" lIns="0" rIns="0" tIns="0" bIns="0">
            <a:spAutoFit/>
          </a:bodyPr>
          <a:lstStyle/>
          <a:p>
            <a:pPr algn="l"/>
            <a:r>
              <a:rPr sz="3600" b="1" i="0">
                <a:solidFill>
                  <a:srgbClr val="111111"/>
                </a:solidFill>
                <a:latin typeface="Arial"/>
              </a:rPr>
              <a:t>Bosch</a:t>
            </a:r>
          </a:p>
        </p:txBody>
      </p:sp>
      <p:sp>
        <p:nvSpPr>
          <p:cNvPr id="5" name="TextBox 4"/>
          <p:cNvSpPr txBox="1"/>
          <p:nvPr/>
        </p:nvSpPr>
        <p:spPr>
          <a:xfrm>
            <a:off x="9144000" y="499872"/>
            <a:ext cx="1889760" cy="182880"/>
          </a:xfrm>
          <a:prstGeom prst="rect">
            <a:avLst/>
          </a:prstGeom>
          <a:noFill/>
        </p:spPr>
        <p:txBody>
          <a:bodyPr wrap="square" anchor="t" lIns="0" rIns="0" tIns="0" bIns="0">
            <a:spAutoFit/>
          </a:bodyPr>
          <a:lstStyle/>
          <a:p>
            <a:pPr algn="r"/>
            <a:r>
              <a:rPr sz="1500" b="1" i="0">
                <a:solidFill>
                  <a:srgbClr val="111111"/>
                </a:solidFill>
                <a:latin typeface="Arial"/>
              </a:rPr>
              <a:t>Lemrock</a:t>
            </a:r>
          </a:p>
        </p:txBody>
      </p:sp>
      <p:sp>
        <p:nvSpPr>
          <p:cNvPr id="6" name="TextBox 5"/>
          <p:cNvSpPr txBox="1"/>
          <p:nvPr/>
        </p:nvSpPr>
        <p:spPr>
          <a:xfrm>
            <a:off x="579120" y="1219200"/>
            <a:ext cx="9144000" cy="182880"/>
          </a:xfrm>
          <a:prstGeom prst="rect">
            <a:avLst/>
          </a:prstGeom>
          <a:noFill/>
        </p:spPr>
        <p:txBody>
          <a:bodyPr wrap="square" anchor="t" lIns="0" rIns="0" tIns="0" bIns="0">
            <a:spAutoFit/>
          </a:bodyPr>
          <a:lstStyle/>
          <a:p>
            <a:pPr algn="l"/>
            <a:r>
              <a:rPr sz="1300" b="1" i="0">
                <a:solidFill>
                  <a:srgbClr val="EE6A2C"/>
                </a:solidFill>
                <a:latin typeface="Arial"/>
              </a:rPr>
              <a:t>OBJECTIF   </a:t>
            </a:r>
            <a:r>
              <a:rPr sz="1300" b="0" i="0">
                <a:solidFill>
                  <a:srgbClr val="111111"/>
                </a:solidFill>
                <a:latin typeface="Arial"/>
              </a:rPr>
              <a:t>À définir</a:t>
            </a:r>
          </a:p>
        </p:txBody>
      </p:sp>
      <p:sp>
        <p:nvSpPr>
          <p:cNvPr id="7" name="TextBox 6"/>
          <p:cNvSpPr txBox="1"/>
          <p:nvPr/>
        </p:nvSpPr>
        <p:spPr>
          <a:xfrm>
            <a:off x="579120" y="1524000"/>
            <a:ext cx="4876800" cy="182880"/>
          </a:xfrm>
          <a:prstGeom prst="rect">
            <a:avLst/>
          </a:prstGeom>
          <a:noFill/>
        </p:spPr>
        <p:txBody>
          <a:bodyPr wrap="square" anchor="t" lIns="0" rIns="0" tIns="0" bIns="0">
            <a:spAutoFit/>
          </a:bodyPr>
          <a:lstStyle/>
          <a:p>
            <a:pPr algn="l"/>
            <a:r>
              <a:rPr sz="1400" b="1" i="0">
                <a:solidFill>
                  <a:srgbClr val="555B66"/>
                </a:solidFill>
                <a:latin typeface="Arial"/>
              </a:rPr>
              <a:t>INSIGHTS QUALITATIFS</a:t>
            </a:r>
          </a:p>
        </p:txBody>
      </p:sp>
      <p:sp>
        <p:nvSpPr>
          <p:cNvPr id="8" name="Rectangle 7"/>
          <p:cNvSpPr/>
          <p:nvPr/>
        </p:nvSpPr>
        <p:spPr>
          <a:xfrm>
            <a:off x="579120" y="1816608"/>
            <a:ext cx="5071872" cy="2121408"/>
          </a:xfrm>
          <a:prstGeom prst="rect">
            <a:avLst/>
          </a:prstGeom>
          <a:solidFill>
            <a:srgbClr val="FFFFFF"/>
          </a:solidFill>
          <a:ln>
            <a:noFill/>
          </a:ln>
          <a:effectLst/>
        </p:spPr>
        <p:txBody>
          <a:bodyPr rtlCol="0" anchor="ctr"/>
          <a:lstStyle/>
          <a:p>
            <a:pPr algn="ctr"/>
          </a:p>
        </p:txBody>
      </p:sp>
      <p:sp>
        <p:nvSpPr>
          <p:cNvPr id="9" name="TextBox 8"/>
          <p:cNvSpPr txBox="1"/>
          <p:nvPr/>
        </p:nvSpPr>
        <p:spPr>
          <a:xfrm>
            <a:off x="835152" y="2029968"/>
            <a:ext cx="487680" cy="243840"/>
          </a:xfrm>
          <a:prstGeom prst="rect">
            <a:avLst/>
          </a:prstGeom>
          <a:noFill/>
        </p:spPr>
        <p:txBody>
          <a:bodyPr wrap="square" anchor="t" lIns="0" rIns="0" tIns="0" bIns="0">
            <a:spAutoFit/>
          </a:bodyPr>
          <a:lstStyle/>
          <a:p>
            <a:pPr algn="l"/>
            <a:r>
              <a:rPr sz="2000" b="1" i="0">
                <a:solidFill>
                  <a:srgbClr val="EE6A2C"/>
                </a:solidFill>
                <a:latin typeface="Arial"/>
              </a:rPr>
              <a:t>01</a:t>
            </a:r>
          </a:p>
        </p:txBody>
      </p:sp>
      <p:sp>
        <p:nvSpPr>
          <p:cNvPr id="10" name="TextBox 9"/>
          <p:cNvSpPr txBox="1"/>
          <p:nvPr/>
        </p:nvSpPr>
        <p:spPr>
          <a:xfrm>
            <a:off x="1383792" y="2048256"/>
            <a:ext cx="4023360" cy="365760"/>
          </a:xfrm>
          <a:prstGeom prst="rect">
            <a:avLst/>
          </a:prstGeom>
          <a:noFill/>
        </p:spPr>
        <p:txBody>
          <a:bodyPr wrap="square" anchor="t" lIns="0" rIns="0" tIns="0" bIns="0">
            <a:spAutoFit/>
          </a:bodyPr>
          <a:lstStyle/>
          <a:p>
            <a:pPr algn="l"/>
            <a:r>
              <a:rPr sz="1400" b="1" i="0">
                <a:solidFill>
                  <a:srgbClr val="111111"/>
                </a:solidFill>
                <a:latin typeface="Arial"/>
              </a:rPr>
              <a:t>Parler du problème en cuisine plutôt que présenter une référence produit</a:t>
            </a:r>
          </a:p>
        </p:txBody>
      </p:sp>
      <p:sp>
        <p:nvSpPr>
          <p:cNvPr id="11" name="TextBox 10"/>
          <p:cNvSpPr txBox="1"/>
          <p:nvPr/>
        </p:nvSpPr>
        <p:spPr>
          <a:xfrm>
            <a:off x="835152" y="2609088"/>
            <a:ext cx="4572000" cy="731520"/>
          </a:xfrm>
          <a:prstGeom prst="rect">
            <a:avLst/>
          </a:prstGeom>
          <a:noFill/>
        </p:spPr>
        <p:txBody>
          <a:bodyPr wrap="square" anchor="t" lIns="0" rIns="0" tIns="0" bIns="0">
            <a:spAutoFit/>
          </a:bodyPr>
          <a:lstStyle/>
          <a:p>
            <a:pPr algn="l"/>
            <a:r>
              <a:rPr sz="1100" b="0" i="0">
                <a:solidFill>
                  <a:srgbClr val="555B66"/>
                </a:solidFill>
                <a:latin typeface="Arial"/>
              </a:rPr>
              <a:t>En août, les annonces évoquant une situation concrète atteignaient 1,58 fois le CTR moyen. En septembre, toutes présentent un modèle et restent autour de la moyenne.</a:t>
            </a:r>
          </a:p>
        </p:txBody>
      </p:sp>
      <p:sp>
        <p:nvSpPr>
          <p:cNvPr id="12" name="TextBox 11"/>
          <p:cNvSpPr txBox="1"/>
          <p:nvPr/>
        </p:nvSpPr>
        <p:spPr>
          <a:xfrm>
            <a:off x="835152" y="3310128"/>
            <a:ext cx="4572000" cy="487680"/>
          </a:xfrm>
          <a:prstGeom prst="rect">
            <a:avLst/>
          </a:prstGeom>
          <a:noFill/>
        </p:spPr>
        <p:txBody>
          <a:bodyPr wrap="square" anchor="t" lIns="0" rIns="0" tIns="0" bIns="0">
            <a:spAutoFit/>
          </a:bodyPr>
          <a:lstStyle/>
          <a:p>
            <a:pPr algn="l"/>
            <a:r>
              <a:rPr sz="900" b="1" i="0">
                <a:solidFill>
                  <a:srgbClr val="555B66"/>
                </a:solidFill>
                <a:latin typeface="Arial"/>
              </a:rPr>
              <a:t>→  Commencer par le besoin du foyer : « Votre vaisselle s'accumule après le dîner ? » plutôt que « Découvrez le Bosch SMV4HCX07E ».</a:t>
            </a:r>
          </a:p>
        </p:txBody>
      </p:sp>
      <p:sp>
        <p:nvSpPr>
          <p:cNvPr id="13" name="Rectangle 12"/>
          <p:cNvSpPr/>
          <p:nvPr/>
        </p:nvSpPr>
        <p:spPr>
          <a:xfrm>
            <a:off x="5992368" y="1816608"/>
            <a:ext cx="5071872" cy="2121408"/>
          </a:xfrm>
          <a:prstGeom prst="rect">
            <a:avLst/>
          </a:prstGeom>
          <a:solidFill>
            <a:srgbClr val="FFFFFF"/>
          </a:solidFill>
          <a:ln>
            <a:noFill/>
          </a:ln>
          <a:effectLst/>
        </p:spPr>
        <p:txBody>
          <a:bodyPr rtlCol="0" anchor="ctr"/>
          <a:lstStyle/>
          <a:p>
            <a:pPr algn="ctr"/>
          </a:p>
        </p:txBody>
      </p:sp>
      <p:sp>
        <p:nvSpPr>
          <p:cNvPr id="14" name="TextBox 13"/>
          <p:cNvSpPr txBox="1"/>
          <p:nvPr/>
        </p:nvSpPr>
        <p:spPr>
          <a:xfrm>
            <a:off x="6248400" y="2029968"/>
            <a:ext cx="487680" cy="243840"/>
          </a:xfrm>
          <a:prstGeom prst="rect">
            <a:avLst/>
          </a:prstGeom>
          <a:noFill/>
        </p:spPr>
        <p:txBody>
          <a:bodyPr wrap="square" anchor="t" lIns="0" rIns="0" tIns="0" bIns="0">
            <a:spAutoFit/>
          </a:bodyPr>
          <a:lstStyle/>
          <a:p>
            <a:pPr algn="l"/>
            <a:r>
              <a:rPr sz="2000" b="1" i="0">
                <a:solidFill>
                  <a:srgbClr val="EE6A2C"/>
                </a:solidFill>
                <a:latin typeface="Arial"/>
              </a:rPr>
              <a:t>02</a:t>
            </a:r>
          </a:p>
        </p:txBody>
      </p:sp>
      <p:sp>
        <p:nvSpPr>
          <p:cNvPr id="15" name="TextBox 14"/>
          <p:cNvSpPr txBox="1"/>
          <p:nvPr/>
        </p:nvSpPr>
        <p:spPr>
          <a:xfrm>
            <a:off x="6797040" y="2048256"/>
            <a:ext cx="4023360" cy="365760"/>
          </a:xfrm>
          <a:prstGeom prst="rect">
            <a:avLst/>
          </a:prstGeom>
          <a:noFill/>
        </p:spPr>
        <p:txBody>
          <a:bodyPr wrap="square" anchor="t" lIns="0" rIns="0" tIns="0" bIns="0">
            <a:spAutoFit/>
          </a:bodyPr>
          <a:lstStyle/>
          <a:p>
            <a:pPr algn="l"/>
            <a:r>
              <a:rPr sz="1400" b="1" i="0">
                <a:solidFill>
                  <a:srgbClr val="111111"/>
                </a:solidFill>
                <a:latin typeface="Arial"/>
              </a:rPr>
              <a:t>Faire du silence un argument prioritaire</a:t>
            </a:r>
          </a:p>
        </p:txBody>
      </p:sp>
      <p:sp>
        <p:nvSpPr>
          <p:cNvPr id="16" name="TextBox 15"/>
          <p:cNvSpPr txBox="1"/>
          <p:nvPr/>
        </p:nvSpPr>
        <p:spPr>
          <a:xfrm>
            <a:off x="6248400" y="2609088"/>
            <a:ext cx="4572000" cy="731520"/>
          </a:xfrm>
          <a:prstGeom prst="rect">
            <a:avLst/>
          </a:prstGeom>
          <a:noFill/>
        </p:spPr>
        <p:txBody>
          <a:bodyPr wrap="square" anchor="t" lIns="0" rIns="0" tIns="0" bIns="0">
            <a:spAutoFit/>
          </a:bodyPr>
          <a:lstStyle/>
          <a:p>
            <a:pPr algn="l"/>
            <a:r>
              <a:rPr sz="1100" b="0" i="0">
                <a:solidFill>
                  <a:srgbClr val="555B66"/>
                </a:solidFill>
                <a:latin typeface="Arial"/>
              </a:rPr>
              <a:t>Le silence atteignait 1,51 fois le CTR moyen en août. En septembre, il n'apparaît plus que sous forme de chiffre (« 44 dB ») et ne fait pas la différence (1,05 fois).</a:t>
            </a:r>
          </a:p>
        </p:txBody>
      </p:sp>
      <p:sp>
        <p:nvSpPr>
          <p:cNvPr id="17" name="TextBox 16"/>
          <p:cNvSpPr txBox="1"/>
          <p:nvPr/>
        </p:nvSpPr>
        <p:spPr>
          <a:xfrm>
            <a:off x="6248400" y="3310128"/>
            <a:ext cx="4572000" cy="487680"/>
          </a:xfrm>
          <a:prstGeom prst="rect">
            <a:avLst/>
          </a:prstGeom>
          <a:noFill/>
        </p:spPr>
        <p:txBody>
          <a:bodyPr wrap="square" anchor="t" lIns="0" rIns="0" tIns="0" bIns="0">
            <a:spAutoFit/>
          </a:bodyPr>
          <a:lstStyle/>
          <a:p>
            <a:pPr algn="l"/>
            <a:r>
              <a:rPr sz="900" b="1" i="0">
                <a:solidFill>
                  <a:srgbClr val="555B66"/>
                </a:solidFill>
                <a:latin typeface="Arial"/>
              </a:rPr>
              <a:t>→  Traduire le niveau sonore en bénéfice : « Lancez votre lave-vaisselle le soir sans perturber la maison ».</a:t>
            </a:r>
          </a:p>
        </p:txBody>
      </p:sp>
      <p:sp>
        <p:nvSpPr>
          <p:cNvPr id="18" name="Rectangle 17"/>
          <p:cNvSpPr/>
          <p:nvPr/>
        </p:nvSpPr>
        <p:spPr>
          <a:xfrm>
            <a:off x="579120" y="4133088"/>
            <a:ext cx="5071872" cy="2121408"/>
          </a:xfrm>
          <a:prstGeom prst="rect">
            <a:avLst/>
          </a:prstGeom>
          <a:solidFill>
            <a:srgbClr val="FFFFFF"/>
          </a:solidFill>
          <a:ln>
            <a:noFill/>
          </a:ln>
          <a:effectLst/>
        </p:spPr>
        <p:txBody>
          <a:bodyPr rtlCol="0" anchor="ctr"/>
          <a:lstStyle/>
          <a:p>
            <a:pPr algn="ctr"/>
          </a:p>
        </p:txBody>
      </p:sp>
      <p:sp>
        <p:nvSpPr>
          <p:cNvPr id="19" name="TextBox 18"/>
          <p:cNvSpPr txBox="1"/>
          <p:nvPr/>
        </p:nvSpPr>
        <p:spPr>
          <a:xfrm>
            <a:off x="835152" y="4346448"/>
            <a:ext cx="487680" cy="243840"/>
          </a:xfrm>
          <a:prstGeom prst="rect">
            <a:avLst/>
          </a:prstGeom>
          <a:noFill/>
        </p:spPr>
        <p:txBody>
          <a:bodyPr wrap="square" anchor="t" lIns="0" rIns="0" tIns="0" bIns="0">
            <a:spAutoFit/>
          </a:bodyPr>
          <a:lstStyle/>
          <a:p>
            <a:pPr algn="l"/>
            <a:r>
              <a:rPr sz="2000" b="1" i="0">
                <a:solidFill>
                  <a:srgbClr val="EE6A2C"/>
                </a:solidFill>
                <a:latin typeface="Arial"/>
              </a:rPr>
              <a:t>03</a:t>
            </a:r>
          </a:p>
        </p:txBody>
      </p:sp>
      <p:sp>
        <p:nvSpPr>
          <p:cNvPr id="20" name="TextBox 19"/>
          <p:cNvSpPr txBox="1"/>
          <p:nvPr/>
        </p:nvSpPr>
        <p:spPr>
          <a:xfrm>
            <a:off x="1383792" y="4364736"/>
            <a:ext cx="4023360" cy="365760"/>
          </a:xfrm>
          <a:prstGeom prst="rect">
            <a:avLst/>
          </a:prstGeom>
          <a:noFill/>
        </p:spPr>
        <p:txBody>
          <a:bodyPr wrap="square" anchor="t" lIns="0" rIns="0" tIns="0" bIns="0">
            <a:spAutoFit/>
          </a:bodyPr>
          <a:lstStyle/>
          <a:p>
            <a:pPr algn="l"/>
            <a:r>
              <a:rPr sz="1400" b="1" i="0">
                <a:solidFill>
                  <a:srgbClr val="111111"/>
                </a:solidFill>
                <a:latin typeface="Arial"/>
              </a:rPr>
              <a:t>Expliquer ce que Home Connect permet réellement de faire</a:t>
            </a:r>
          </a:p>
        </p:txBody>
      </p:sp>
      <p:sp>
        <p:nvSpPr>
          <p:cNvPr id="21" name="TextBox 20"/>
          <p:cNvSpPr txBox="1"/>
          <p:nvPr/>
        </p:nvSpPr>
        <p:spPr>
          <a:xfrm>
            <a:off x="835152" y="4925568"/>
            <a:ext cx="4572000" cy="731520"/>
          </a:xfrm>
          <a:prstGeom prst="rect">
            <a:avLst/>
          </a:prstGeom>
          <a:noFill/>
        </p:spPr>
        <p:txBody>
          <a:bodyPr wrap="square" anchor="t" lIns="0" rIns="0" tIns="0" bIns="0">
            <a:spAutoFit/>
          </a:bodyPr>
          <a:lstStyle/>
          <a:p>
            <a:pPr algn="l"/>
            <a:r>
              <a:rPr sz="1100" b="0" i="0">
                <a:solidFill>
                  <a:srgbClr val="555B66"/>
                </a:solidFill>
                <a:latin typeface="Arial"/>
              </a:rPr>
              <a:t>Expliquer le pilotage depuis le smartphone atteignait 1,23 fois le CTR moyen en août. Aucune annonce de septembre ne parle de Home Connect.</a:t>
            </a:r>
          </a:p>
        </p:txBody>
      </p:sp>
      <p:sp>
        <p:nvSpPr>
          <p:cNvPr id="22" name="TextBox 21"/>
          <p:cNvSpPr txBox="1"/>
          <p:nvPr/>
        </p:nvSpPr>
        <p:spPr>
          <a:xfrm>
            <a:off x="835152" y="5626608"/>
            <a:ext cx="4572000" cy="487680"/>
          </a:xfrm>
          <a:prstGeom prst="rect">
            <a:avLst/>
          </a:prstGeom>
          <a:noFill/>
        </p:spPr>
        <p:txBody>
          <a:bodyPr wrap="square" anchor="t" lIns="0" rIns="0" tIns="0" bIns="0">
            <a:spAutoFit/>
          </a:bodyPr>
          <a:lstStyle/>
          <a:p>
            <a:pPr algn="l"/>
            <a:r>
              <a:rPr sz="900" b="1" i="0">
                <a:solidFill>
                  <a:srgbClr val="555B66"/>
                </a:solidFill>
                <a:latin typeface="Arial"/>
              </a:rPr>
              <a:t>→  Réintroduire Home Connect par ses usages : lancer un cycle à distance, suivre son avancement, être notifié à la fin.</a:t>
            </a:r>
          </a:p>
        </p:txBody>
      </p:sp>
      <p:sp>
        <p:nvSpPr>
          <p:cNvPr id="23" name="Rectangle 22"/>
          <p:cNvSpPr/>
          <p:nvPr/>
        </p:nvSpPr>
        <p:spPr>
          <a:xfrm>
            <a:off x="5992368" y="4133088"/>
            <a:ext cx="5071872" cy="2121408"/>
          </a:xfrm>
          <a:prstGeom prst="rect">
            <a:avLst/>
          </a:prstGeom>
          <a:solidFill>
            <a:srgbClr val="FFFFFF"/>
          </a:solidFill>
          <a:ln>
            <a:noFill/>
          </a:ln>
          <a:effectLst/>
        </p:spPr>
        <p:txBody>
          <a:bodyPr rtlCol="0" anchor="ctr"/>
          <a:lstStyle/>
          <a:p>
            <a:pPr algn="ctr"/>
          </a:p>
        </p:txBody>
      </p:sp>
      <p:sp>
        <p:nvSpPr>
          <p:cNvPr id="24" name="TextBox 23"/>
          <p:cNvSpPr txBox="1"/>
          <p:nvPr/>
        </p:nvSpPr>
        <p:spPr>
          <a:xfrm>
            <a:off x="6248400" y="4346448"/>
            <a:ext cx="487680" cy="243840"/>
          </a:xfrm>
          <a:prstGeom prst="rect">
            <a:avLst/>
          </a:prstGeom>
          <a:noFill/>
        </p:spPr>
        <p:txBody>
          <a:bodyPr wrap="square" anchor="t" lIns="0" rIns="0" tIns="0" bIns="0">
            <a:spAutoFit/>
          </a:bodyPr>
          <a:lstStyle/>
          <a:p>
            <a:pPr algn="l"/>
            <a:r>
              <a:rPr sz="2000" b="1" i="0">
                <a:solidFill>
                  <a:srgbClr val="EE6A2C"/>
                </a:solidFill>
                <a:latin typeface="Arial"/>
              </a:rPr>
              <a:t>04</a:t>
            </a:r>
          </a:p>
        </p:txBody>
      </p:sp>
      <p:sp>
        <p:nvSpPr>
          <p:cNvPr id="25" name="TextBox 24"/>
          <p:cNvSpPr txBox="1"/>
          <p:nvPr/>
        </p:nvSpPr>
        <p:spPr>
          <a:xfrm>
            <a:off x="6797040" y="4364736"/>
            <a:ext cx="4023360" cy="365760"/>
          </a:xfrm>
          <a:prstGeom prst="rect">
            <a:avLst/>
          </a:prstGeom>
          <a:noFill/>
        </p:spPr>
        <p:txBody>
          <a:bodyPr wrap="square" anchor="t" lIns="0" rIns="0" tIns="0" bIns="0">
            <a:spAutoFit/>
          </a:bodyPr>
          <a:lstStyle/>
          <a:p>
            <a:pPr algn="l"/>
            <a:r>
              <a:rPr sz="1400" b="1" i="0">
                <a:solidFill>
                  <a:srgbClr val="111111"/>
                </a:solidFill>
                <a:latin typeface="Arial"/>
              </a:rPr>
              <a:t>Rassurer sur l'installation avant de parler du financement</a:t>
            </a:r>
          </a:p>
        </p:txBody>
      </p:sp>
      <p:sp>
        <p:nvSpPr>
          <p:cNvPr id="26" name="TextBox 25"/>
          <p:cNvSpPr txBox="1"/>
          <p:nvPr/>
        </p:nvSpPr>
        <p:spPr>
          <a:xfrm>
            <a:off x="6248400" y="4925568"/>
            <a:ext cx="4572000" cy="731520"/>
          </a:xfrm>
          <a:prstGeom prst="rect">
            <a:avLst/>
          </a:prstGeom>
          <a:noFill/>
        </p:spPr>
        <p:txBody>
          <a:bodyPr wrap="square" anchor="t" lIns="0" rIns="0" tIns="0" bIns="0">
            <a:spAutoFit/>
          </a:bodyPr>
          <a:lstStyle/>
          <a:p>
            <a:pPr algn="l"/>
            <a:r>
              <a:rPr sz="1100" b="0" i="0">
                <a:solidFill>
                  <a:srgbClr val="555B66"/>
                </a:solidFill>
                <a:latin typeface="Arial"/>
              </a:rPr>
              <a:t>L'installation atteignait 1,76 fois le CTR moyen en août, contre 0,54 fois pour le paiement en quatre fois. En septembre, le type d'encastrement est cité sans bénéfice (1,00 fois).</a:t>
            </a:r>
          </a:p>
        </p:txBody>
      </p:sp>
      <p:sp>
        <p:nvSpPr>
          <p:cNvPr id="27" name="TextBox 26"/>
          <p:cNvSpPr txBox="1"/>
          <p:nvPr/>
        </p:nvSpPr>
        <p:spPr>
          <a:xfrm>
            <a:off x="6248400" y="5626608"/>
            <a:ext cx="4572000" cy="487680"/>
          </a:xfrm>
          <a:prstGeom prst="rect">
            <a:avLst/>
          </a:prstGeom>
          <a:noFill/>
        </p:spPr>
        <p:txBody>
          <a:bodyPr wrap="square" anchor="t" lIns="0" rIns="0" tIns="0" bIns="0">
            <a:spAutoFit/>
          </a:bodyPr>
          <a:lstStyle/>
          <a:p>
            <a:pPr algn="l"/>
            <a:r>
              <a:rPr sz="900" b="1" i="0">
                <a:solidFill>
                  <a:srgbClr val="555B66"/>
                </a:solidFill>
                <a:latin typeface="Arial"/>
              </a:rPr>
              <a:t>→  Mettre en avant dimensions, encastrement et compatibilité avec la cuisine, puis le financement.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6F2"/>
          </a:solidFill>
          <a:ln>
            <a:noFill/>
          </a:ln>
          <a:effectLst/>
        </p:spPr>
        <p:txBody>
          <a:bodyPr rtlCol="0" anchor="ctr"/>
          <a:lstStyle/>
          <a:p>
            <a:pPr algn="ctr"/>
          </a:p>
        </p:txBody>
      </p:sp>
      <p:sp>
        <p:nvSpPr>
          <p:cNvPr id="3" name="TextBox 2"/>
          <p:cNvSpPr txBox="1"/>
          <p:nvPr/>
        </p:nvSpPr>
        <p:spPr>
          <a:xfrm>
            <a:off x="530352" y="487680"/>
            <a:ext cx="7315200" cy="182880"/>
          </a:xfrm>
          <a:prstGeom prst="rect">
            <a:avLst/>
          </a:prstGeom>
          <a:noFill/>
        </p:spPr>
        <p:txBody>
          <a:bodyPr wrap="square" anchor="t" lIns="0" rIns="0" tIns="0" bIns="0">
            <a:spAutoFit/>
          </a:bodyPr>
          <a:lstStyle/>
          <a:p>
            <a:pPr algn="l"/>
            <a:r>
              <a:rPr sz="1300" b="1" i="0">
                <a:solidFill>
                  <a:srgbClr val="EE6A2C"/>
                </a:solidFill>
                <a:latin typeface="Arial"/>
              </a:rPr>
              <a:t>RAPPORT DE PERFORMANCE · 01/09/2026 → 30/09/2026</a:t>
            </a:r>
          </a:p>
        </p:txBody>
      </p:sp>
      <p:sp>
        <p:nvSpPr>
          <p:cNvPr id="4" name="TextBox 3"/>
          <p:cNvSpPr txBox="1"/>
          <p:nvPr/>
        </p:nvSpPr>
        <p:spPr>
          <a:xfrm>
            <a:off x="530352" y="640080"/>
            <a:ext cx="7315200" cy="487680"/>
          </a:xfrm>
          <a:prstGeom prst="rect">
            <a:avLst/>
          </a:prstGeom>
          <a:noFill/>
        </p:spPr>
        <p:txBody>
          <a:bodyPr wrap="square" anchor="t" lIns="0" rIns="0" tIns="0" bIns="0">
            <a:spAutoFit/>
          </a:bodyPr>
          <a:lstStyle/>
          <a:p>
            <a:pPr algn="l"/>
            <a:r>
              <a:rPr sz="3600" b="1" i="0">
                <a:solidFill>
                  <a:srgbClr val="111111"/>
                </a:solidFill>
                <a:latin typeface="Arial"/>
              </a:rPr>
              <a:t>Boulanger</a:t>
            </a:r>
          </a:p>
        </p:txBody>
      </p:sp>
      <p:sp>
        <p:nvSpPr>
          <p:cNvPr id="5" name="TextBox 4"/>
          <p:cNvSpPr txBox="1"/>
          <p:nvPr/>
        </p:nvSpPr>
        <p:spPr>
          <a:xfrm>
            <a:off x="7924800" y="591312"/>
            <a:ext cx="3304032" cy="152400"/>
          </a:xfrm>
          <a:prstGeom prst="rect">
            <a:avLst/>
          </a:prstGeom>
          <a:noFill/>
        </p:spPr>
        <p:txBody>
          <a:bodyPr wrap="square" anchor="t" lIns="0" rIns="0" tIns="0" bIns="0">
            <a:spAutoFit/>
          </a:bodyPr>
          <a:lstStyle/>
          <a:p>
            <a:pPr algn="r"/>
            <a:r>
              <a:rPr sz="1200" b="1" i="0">
                <a:solidFill>
                  <a:srgbClr val="8A93A6"/>
                </a:solidFill>
                <a:latin typeface="Arial"/>
              </a:rPr>
              <a:t>COMPARAISON</a:t>
            </a:r>
          </a:p>
        </p:txBody>
      </p:sp>
      <p:sp>
        <p:nvSpPr>
          <p:cNvPr id="6" name="TextBox 5"/>
          <p:cNvSpPr txBox="1"/>
          <p:nvPr/>
        </p:nvSpPr>
        <p:spPr>
          <a:xfrm>
            <a:off x="7924800" y="780288"/>
            <a:ext cx="3304032" cy="182880"/>
          </a:xfrm>
          <a:prstGeom prst="rect">
            <a:avLst/>
          </a:prstGeom>
          <a:noFill/>
        </p:spPr>
        <p:txBody>
          <a:bodyPr wrap="square" anchor="t" lIns="0" rIns="0" tIns="0" bIns="0">
            <a:spAutoFit/>
          </a:bodyPr>
          <a:lstStyle/>
          <a:p>
            <a:pPr algn="r"/>
            <a:r>
              <a:rPr sz="1500" b="1" i="0">
                <a:solidFill>
                  <a:srgbClr val="111111"/>
                </a:solidFill>
                <a:latin typeface="Arial"/>
              </a:rPr>
              <a:t>vs 01/08/2026 → 31/08/2026</a:t>
            </a:r>
          </a:p>
        </p:txBody>
      </p:sp>
      <p:sp>
        <p:nvSpPr>
          <p:cNvPr id="7" name="TextBox 6"/>
          <p:cNvSpPr txBox="1"/>
          <p:nvPr/>
        </p:nvSpPr>
        <p:spPr>
          <a:xfrm>
            <a:off x="530352" y="1280160"/>
            <a:ext cx="2438400" cy="182880"/>
          </a:xfrm>
          <a:prstGeom prst="rect">
            <a:avLst/>
          </a:prstGeom>
          <a:noFill/>
        </p:spPr>
        <p:txBody>
          <a:bodyPr wrap="square" anchor="t" lIns="0" rIns="0" tIns="0" bIns="0">
            <a:spAutoFit/>
          </a:bodyPr>
          <a:lstStyle/>
          <a:p>
            <a:pPr algn="l"/>
            <a:r>
              <a:rPr sz="1400" b="1" i="0">
                <a:solidFill>
                  <a:srgbClr val="EE6A2C"/>
                </a:solidFill>
                <a:latin typeface="Arial"/>
              </a:rPr>
              <a:t>DIFFUSION</a:t>
            </a:r>
          </a:p>
        </p:txBody>
      </p:sp>
      <p:sp>
        <p:nvSpPr>
          <p:cNvPr id="8" name="TextBox 7"/>
          <p:cNvSpPr txBox="1"/>
          <p:nvPr/>
        </p:nvSpPr>
        <p:spPr>
          <a:xfrm>
            <a:off x="2389632" y="1280160"/>
            <a:ext cx="2438400" cy="182880"/>
          </a:xfrm>
          <a:prstGeom prst="rect">
            <a:avLst/>
          </a:prstGeom>
          <a:noFill/>
        </p:spPr>
        <p:txBody>
          <a:bodyPr wrap="square" anchor="t" lIns="0" rIns="0" tIns="0" bIns="0">
            <a:spAutoFit/>
          </a:bodyPr>
          <a:lstStyle/>
          <a:p>
            <a:pPr algn="l"/>
            <a:r>
              <a:rPr sz="1400" b="1" i="0">
                <a:solidFill>
                  <a:srgbClr val="EE6A2C"/>
                </a:solidFill>
                <a:latin typeface="Arial"/>
              </a:rPr>
              <a:t>ENGAGEMENT</a:t>
            </a:r>
          </a:p>
        </p:txBody>
      </p:sp>
      <p:sp>
        <p:nvSpPr>
          <p:cNvPr id="9" name="TextBox 8"/>
          <p:cNvSpPr txBox="1"/>
          <p:nvPr/>
        </p:nvSpPr>
        <p:spPr>
          <a:xfrm>
            <a:off x="6108192" y="1280160"/>
            <a:ext cx="2438400" cy="182880"/>
          </a:xfrm>
          <a:prstGeom prst="rect">
            <a:avLst/>
          </a:prstGeom>
          <a:noFill/>
        </p:spPr>
        <p:txBody>
          <a:bodyPr wrap="square" anchor="t" lIns="0" rIns="0" tIns="0" bIns="0">
            <a:spAutoFit/>
          </a:bodyPr>
          <a:lstStyle/>
          <a:p>
            <a:pPr algn="l"/>
            <a:r>
              <a:rPr sz="1400" b="1" i="0">
                <a:solidFill>
                  <a:srgbClr val="EE6A2C"/>
                </a:solidFill>
                <a:latin typeface="Arial"/>
              </a:rPr>
              <a:t>CONVERSION</a:t>
            </a:r>
          </a:p>
        </p:txBody>
      </p:sp>
      <p:sp>
        <p:nvSpPr>
          <p:cNvPr id="10" name="Rectangle 9"/>
          <p:cNvSpPr/>
          <p:nvPr/>
        </p:nvSpPr>
        <p:spPr>
          <a:xfrm>
            <a:off x="530352" y="1536192"/>
            <a:ext cx="1389888" cy="1127760"/>
          </a:xfrm>
          <a:prstGeom prst="rect">
            <a:avLst/>
          </a:prstGeom>
          <a:solidFill>
            <a:srgbClr val="FFFFFF"/>
          </a:solidFill>
          <a:ln>
            <a:noFill/>
          </a:ln>
          <a:effectLst/>
        </p:spPr>
        <p:txBody>
          <a:bodyPr rtlCol="0" anchor="ctr"/>
          <a:lstStyle/>
          <a:p>
            <a:pPr algn="ctr"/>
          </a:p>
        </p:txBody>
      </p:sp>
      <p:sp>
        <p:nvSpPr>
          <p:cNvPr id="11" name="Rectangle 10"/>
          <p:cNvSpPr/>
          <p:nvPr/>
        </p:nvSpPr>
        <p:spPr>
          <a:xfrm>
            <a:off x="530352" y="1536192"/>
            <a:ext cx="24384" cy="1127760"/>
          </a:xfrm>
          <a:prstGeom prst="rect">
            <a:avLst/>
          </a:prstGeom>
          <a:solidFill>
            <a:srgbClr val="EE6A2C"/>
          </a:solidFill>
          <a:ln>
            <a:noFill/>
          </a:ln>
          <a:effectLst/>
        </p:spPr>
        <p:txBody>
          <a:bodyPr rtlCol="0" anchor="ctr"/>
          <a:lstStyle/>
          <a:p>
            <a:pPr algn="ctr"/>
          </a:p>
        </p:txBody>
      </p:sp>
      <p:sp>
        <p:nvSpPr>
          <p:cNvPr id="12" name="TextBox 11"/>
          <p:cNvSpPr txBox="1"/>
          <p:nvPr/>
        </p:nvSpPr>
        <p:spPr>
          <a:xfrm>
            <a:off x="664464" y="1615440"/>
            <a:ext cx="1219200" cy="121920"/>
          </a:xfrm>
          <a:prstGeom prst="rect">
            <a:avLst/>
          </a:prstGeom>
          <a:noFill/>
        </p:spPr>
        <p:txBody>
          <a:bodyPr wrap="square" anchor="t" lIns="0" rIns="0" tIns="0" bIns="0">
            <a:spAutoFit/>
          </a:bodyPr>
          <a:lstStyle/>
          <a:p>
            <a:pPr algn="l"/>
            <a:r>
              <a:rPr sz="1000" b="1" i="0">
                <a:solidFill>
                  <a:srgbClr val="555B66"/>
                </a:solidFill>
                <a:latin typeface="Arial"/>
              </a:rPr>
              <a:t>IMPRESSIONS</a:t>
            </a:r>
          </a:p>
        </p:txBody>
      </p:sp>
      <p:sp>
        <p:nvSpPr>
          <p:cNvPr id="13" name="TextBox 12"/>
          <p:cNvSpPr txBox="1"/>
          <p:nvPr/>
        </p:nvSpPr>
        <p:spPr>
          <a:xfrm>
            <a:off x="664464" y="1889760"/>
            <a:ext cx="1219200" cy="274320"/>
          </a:xfrm>
          <a:prstGeom prst="rect">
            <a:avLst/>
          </a:prstGeom>
          <a:noFill/>
        </p:spPr>
        <p:txBody>
          <a:bodyPr wrap="square" anchor="t" lIns="0" rIns="0" tIns="0" bIns="0">
            <a:spAutoFit/>
          </a:bodyPr>
          <a:lstStyle/>
          <a:p>
            <a:pPr algn="l"/>
            <a:r>
              <a:rPr sz="1800" b="1" i="0">
                <a:solidFill>
                  <a:srgbClr val="111111"/>
                </a:solidFill>
                <a:latin typeface="Arial"/>
              </a:rPr>
              <a:t>3 133 801</a:t>
            </a:r>
          </a:p>
        </p:txBody>
      </p:sp>
      <p:sp>
        <p:nvSpPr>
          <p:cNvPr id="14" name="TextBox 13"/>
          <p:cNvSpPr txBox="1"/>
          <p:nvPr/>
        </p:nvSpPr>
        <p:spPr>
          <a:xfrm>
            <a:off x="664464" y="2243328"/>
            <a:ext cx="1219200" cy="109728"/>
          </a:xfrm>
          <a:prstGeom prst="rect">
            <a:avLst/>
          </a:prstGeom>
          <a:noFill/>
        </p:spPr>
        <p:txBody>
          <a:bodyPr wrap="square" anchor="t" lIns="0" rIns="0" tIns="0" bIns="0">
            <a:spAutoFit/>
          </a:bodyPr>
          <a:lstStyle/>
          <a:p>
            <a:pPr algn="l"/>
            <a:r>
              <a:rPr sz="1000" b="1" i="0">
                <a:solidFill>
                  <a:srgbClr val="555B66"/>
                </a:solidFill>
                <a:latin typeface="Arial"/>
              </a:rPr>
              <a:t>—</a:t>
            </a:r>
          </a:p>
        </p:txBody>
      </p:sp>
      <p:sp>
        <p:nvSpPr>
          <p:cNvPr id="15" name="TextBox 14"/>
          <p:cNvSpPr txBox="1"/>
          <p:nvPr/>
        </p:nvSpPr>
        <p:spPr>
          <a:xfrm>
            <a:off x="664464" y="2499360"/>
            <a:ext cx="1219200" cy="91440"/>
          </a:xfrm>
          <a:prstGeom prst="rect">
            <a:avLst/>
          </a:prstGeom>
          <a:noFill/>
        </p:spPr>
        <p:txBody>
          <a:bodyPr wrap="square" anchor="t" lIns="0" rIns="0" tIns="0" bIns="0">
            <a:spAutoFit/>
          </a:bodyPr>
          <a:lstStyle/>
          <a:p>
            <a:pPr algn="l"/>
            <a:r>
              <a:rPr sz="800" b="0" i="1">
                <a:solidFill>
                  <a:srgbClr val="555B66"/>
                </a:solidFill>
                <a:latin typeface="Arial"/>
              </a:rPr>
              <a:t>YTD 3 164 233</a:t>
            </a:r>
          </a:p>
        </p:txBody>
      </p:sp>
      <p:sp>
        <p:nvSpPr>
          <p:cNvPr id="16" name="Rectangle 15"/>
          <p:cNvSpPr/>
          <p:nvPr/>
        </p:nvSpPr>
        <p:spPr>
          <a:xfrm>
            <a:off x="2389632" y="1536192"/>
            <a:ext cx="1389888" cy="1127760"/>
          </a:xfrm>
          <a:prstGeom prst="rect">
            <a:avLst/>
          </a:prstGeom>
          <a:solidFill>
            <a:srgbClr val="FFFFFF"/>
          </a:solidFill>
          <a:ln>
            <a:noFill/>
          </a:ln>
          <a:effectLst/>
        </p:spPr>
        <p:txBody>
          <a:bodyPr rtlCol="0" anchor="ctr"/>
          <a:lstStyle/>
          <a:p>
            <a:pPr algn="ctr"/>
          </a:p>
        </p:txBody>
      </p:sp>
      <p:sp>
        <p:nvSpPr>
          <p:cNvPr id="17" name="Rectangle 16"/>
          <p:cNvSpPr/>
          <p:nvPr/>
        </p:nvSpPr>
        <p:spPr>
          <a:xfrm>
            <a:off x="2389632" y="1536192"/>
            <a:ext cx="24384" cy="1127760"/>
          </a:xfrm>
          <a:prstGeom prst="rect">
            <a:avLst/>
          </a:prstGeom>
          <a:solidFill>
            <a:srgbClr val="EE6A2C"/>
          </a:solidFill>
          <a:ln>
            <a:noFill/>
          </a:ln>
          <a:effectLst/>
        </p:spPr>
        <p:txBody>
          <a:bodyPr rtlCol="0" anchor="ctr"/>
          <a:lstStyle/>
          <a:p>
            <a:pPr algn="ctr"/>
          </a:p>
        </p:txBody>
      </p:sp>
      <p:sp>
        <p:nvSpPr>
          <p:cNvPr id="18" name="TextBox 17"/>
          <p:cNvSpPr txBox="1"/>
          <p:nvPr/>
        </p:nvSpPr>
        <p:spPr>
          <a:xfrm>
            <a:off x="2523744" y="1615440"/>
            <a:ext cx="1219200" cy="121920"/>
          </a:xfrm>
          <a:prstGeom prst="rect">
            <a:avLst/>
          </a:prstGeom>
          <a:noFill/>
        </p:spPr>
        <p:txBody>
          <a:bodyPr wrap="square" anchor="t" lIns="0" rIns="0" tIns="0" bIns="0">
            <a:spAutoFit/>
          </a:bodyPr>
          <a:lstStyle/>
          <a:p>
            <a:pPr algn="l"/>
            <a:r>
              <a:rPr sz="1000" b="1" i="0">
                <a:solidFill>
                  <a:srgbClr val="555B66"/>
                </a:solidFill>
                <a:latin typeface="Arial"/>
              </a:rPr>
              <a:t>CLICS</a:t>
            </a:r>
          </a:p>
        </p:txBody>
      </p:sp>
      <p:sp>
        <p:nvSpPr>
          <p:cNvPr id="19" name="TextBox 18"/>
          <p:cNvSpPr txBox="1"/>
          <p:nvPr/>
        </p:nvSpPr>
        <p:spPr>
          <a:xfrm>
            <a:off x="2523744" y="1889760"/>
            <a:ext cx="1219200" cy="274320"/>
          </a:xfrm>
          <a:prstGeom prst="rect">
            <a:avLst/>
          </a:prstGeom>
          <a:noFill/>
        </p:spPr>
        <p:txBody>
          <a:bodyPr wrap="square" anchor="t" lIns="0" rIns="0" tIns="0" bIns="0">
            <a:spAutoFit/>
          </a:bodyPr>
          <a:lstStyle/>
          <a:p>
            <a:pPr algn="l"/>
            <a:r>
              <a:rPr sz="2200" b="1" i="0">
                <a:solidFill>
                  <a:srgbClr val="111111"/>
                </a:solidFill>
                <a:latin typeface="Arial"/>
              </a:rPr>
              <a:t>19 975</a:t>
            </a:r>
          </a:p>
        </p:txBody>
      </p:sp>
      <p:sp>
        <p:nvSpPr>
          <p:cNvPr id="20" name="TextBox 19"/>
          <p:cNvSpPr txBox="1"/>
          <p:nvPr/>
        </p:nvSpPr>
        <p:spPr>
          <a:xfrm>
            <a:off x="2523744" y="2243328"/>
            <a:ext cx="1219200" cy="109728"/>
          </a:xfrm>
          <a:prstGeom prst="rect">
            <a:avLst/>
          </a:prstGeom>
          <a:noFill/>
        </p:spPr>
        <p:txBody>
          <a:bodyPr wrap="square" anchor="t" lIns="0" rIns="0" tIns="0" bIns="0">
            <a:spAutoFit/>
          </a:bodyPr>
          <a:lstStyle/>
          <a:p>
            <a:pPr algn="l"/>
            <a:r>
              <a:rPr sz="1000" b="1" i="0">
                <a:solidFill>
                  <a:srgbClr val="555B66"/>
                </a:solidFill>
                <a:latin typeface="Arial"/>
              </a:rPr>
              <a:t>—</a:t>
            </a:r>
          </a:p>
        </p:txBody>
      </p:sp>
      <p:sp>
        <p:nvSpPr>
          <p:cNvPr id="21" name="TextBox 20"/>
          <p:cNvSpPr txBox="1"/>
          <p:nvPr/>
        </p:nvSpPr>
        <p:spPr>
          <a:xfrm>
            <a:off x="2523744" y="2499360"/>
            <a:ext cx="1219200" cy="91440"/>
          </a:xfrm>
          <a:prstGeom prst="rect">
            <a:avLst/>
          </a:prstGeom>
          <a:noFill/>
        </p:spPr>
        <p:txBody>
          <a:bodyPr wrap="square" anchor="t" lIns="0" rIns="0" tIns="0" bIns="0">
            <a:spAutoFit/>
          </a:bodyPr>
          <a:lstStyle/>
          <a:p>
            <a:pPr algn="l"/>
            <a:r>
              <a:rPr sz="800" b="0" i="1">
                <a:solidFill>
                  <a:srgbClr val="555B66"/>
                </a:solidFill>
                <a:latin typeface="Arial"/>
              </a:rPr>
              <a:t>YTD 20 178</a:t>
            </a:r>
          </a:p>
        </p:txBody>
      </p:sp>
      <p:sp>
        <p:nvSpPr>
          <p:cNvPr id="22" name="Rectangle 21"/>
          <p:cNvSpPr/>
          <p:nvPr/>
        </p:nvSpPr>
        <p:spPr>
          <a:xfrm>
            <a:off x="4248912" y="1536192"/>
            <a:ext cx="1389888" cy="1127760"/>
          </a:xfrm>
          <a:prstGeom prst="rect">
            <a:avLst/>
          </a:prstGeom>
          <a:solidFill>
            <a:srgbClr val="FFFFFF"/>
          </a:solidFill>
          <a:ln>
            <a:noFill/>
          </a:ln>
          <a:effectLst/>
        </p:spPr>
        <p:txBody>
          <a:bodyPr rtlCol="0" anchor="ctr"/>
          <a:lstStyle/>
          <a:p>
            <a:pPr algn="ctr"/>
          </a:p>
        </p:txBody>
      </p:sp>
      <p:sp>
        <p:nvSpPr>
          <p:cNvPr id="23" name="Rectangle 22"/>
          <p:cNvSpPr/>
          <p:nvPr/>
        </p:nvSpPr>
        <p:spPr>
          <a:xfrm>
            <a:off x="4248912" y="1536192"/>
            <a:ext cx="24384" cy="1127760"/>
          </a:xfrm>
          <a:prstGeom prst="rect">
            <a:avLst/>
          </a:prstGeom>
          <a:solidFill>
            <a:srgbClr val="EE6A2C"/>
          </a:solidFill>
          <a:ln>
            <a:noFill/>
          </a:ln>
          <a:effectLst/>
        </p:spPr>
        <p:txBody>
          <a:bodyPr rtlCol="0" anchor="ctr"/>
          <a:lstStyle/>
          <a:p>
            <a:pPr algn="ctr"/>
          </a:p>
        </p:txBody>
      </p:sp>
      <p:sp>
        <p:nvSpPr>
          <p:cNvPr id="24" name="TextBox 23"/>
          <p:cNvSpPr txBox="1"/>
          <p:nvPr/>
        </p:nvSpPr>
        <p:spPr>
          <a:xfrm>
            <a:off x="4383024" y="1615440"/>
            <a:ext cx="1219200" cy="121920"/>
          </a:xfrm>
          <a:prstGeom prst="rect">
            <a:avLst/>
          </a:prstGeom>
          <a:noFill/>
        </p:spPr>
        <p:txBody>
          <a:bodyPr wrap="square" anchor="t" lIns="0" rIns="0" tIns="0" bIns="0">
            <a:spAutoFit/>
          </a:bodyPr>
          <a:lstStyle/>
          <a:p>
            <a:pPr algn="l"/>
            <a:r>
              <a:rPr sz="1000" b="1" i="0">
                <a:solidFill>
                  <a:srgbClr val="555B66"/>
                </a:solidFill>
                <a:latin typeface="Arial"/>
              </a:rPr>
              <a:t>CTR</a:t>
            </a:r>
          </a:p>
        </p:txBody>
      </p:sp>
      <p:sp>
        <p:nvSpPr>
          <p:cNvPr id="25" name="TextBox 24"/>
          <p:cNvSpPr txBox="1"/>
          <p:nvPr/>
        </p:nvSpPr>
        <p:spPr>
          <a:xfrm>
            <a:off x="4383024" y="1889760"/>
            <a:ext cx="1219200" cy="274320"/>
          </a:xfrm>
          <a:prstGeom prst="rect">
            <a:avLst/>
          </a:prstGeom>
          <a:noFill/>
        </p:spPr>
        <p:txBody>
          <a:bodyPr wrap="square" anchor="t" lIns="0" rIns="0" tIns="0" bIns="0">
            <a:spAutoFit/>
          </a:bodyPr>
          <a:lstStyle/>
          <a:p>
            <a:pPr algn="l"/>
            <a:r>
              <a:rPr sz="2200" b="1" i="0">
                <a:solidFill>
                  <a:srgbClr val="111111"/>
                </a:solidFill>
                <a:latin typeface="Arial"/>
              </a:rPr>
              <a:t>0,64 %</a:t>
            </a:r>
          </a:p>
        </p:txBody>
      </p:sp>
      <p:sp>
        <p:nvSpPr>
          <p:cNvPr id="26" name="TextBox 25"/>
          <p:cNvSpPr txBox="1"/>
          <p:nvPr/>
        </p:nvSpPr>
        <p:spPr>
          <a:xfrm>
            <a:off x="4383024" y="2243328"/>
            <a:ext cx="1219200" cy="109728"/>
          </a:xfrm>
          <a:prstGeom prst="rect">
            <a:avLst/>
          </a:prstGeom>
          <a:noFill/>
        </p:spPr>
        <p:txBody>
          <a:bodyPr wrap="square" anchor="t" lIns="0" rIns="0" tIns="0" bIns="0">
            <a:spAutoFit/>
          </a:bodyPr>
          <a:lstStyle/>
          <a:p>
            <a:pPr algn="l"/>
            <a:r>
              <a:rPr sz="1000" b="1" i="0">
                <a:solidFill>
                  <a:srgbClr val="555B66"/>
                </a:solidFill>
                <a:latin typeface="Arial"/>
              </a:rPr>
              <a:t>—</a:t>
            </a:r>
          </a:p>
        </p:txBody>
      </p:sp>
      <p:sp>
        <p:nvSpPr>
          <p:cNvPr id="27" name="TextBox 26"/>
          <p:cNvSpPr txBox="1"/>
          <p:nvPr/>
        </p:nvSpPr>
        <p:spPr>
          <a:xfrm>
            <a:off x="4383024" y="2499360"/>
            <a:ext cx="1219200" cy="91440"/>
          </a:xfrm>
          <a:prstGeom prst="rect">
            <a:avLst/>
          </a:prstGeom>
          <a:noFill/>
        </p:spPr>
        <p:txBody>
          <a:bodyPr wrap="square" anchor="t" lIns="0" rIns="0" tIns="0" bIns="0">
            <a:spAutoFit/>
          </a:bodyPr>
          <a:lstStyle/>
          <a:p>
            <a:pPr algn="l"/>
            <a:r>
              <a:rPr sz="800" b="0" i="1">
                <a:solidFill>
                  <a:srgbClr val="555B66"/>
                </a:solidFill>
                <a:latin typeface="Arial"/>
              </a:rPr>
              <a:t>YTD 0,64 %</a:t>
            </a:r>
          </a:p>
        </p:txBody>
      </p:sp>
      <p:sp>
        <p:nvSpPr>
          <p:cNvPr id="28" name="Rectangle 27"/>
          <p:cNvSpPr/>
          <p:nvPr/>
        </p:nvSpPr>
        <p:spPr>
          <a:xfrm>
            <a:off x="6108192" y="1536192"/>
            <a:ext cx="1389888" cy="1127760"/>
          </a:xfrm>
          <a:prstGeom prst="rect">
            <a:avLst/>
          </a:prstGeom>
          <a:solidFill>
            <a:srgbClr val="F1EFEB"/>
          </a:solidFill>
          <a:ln>
            <a:noFill/>
          </a:ln>
          <a:effectLst/>
        </p:spPr>
        <p:txBody>
          <a:bodyPr rtlCol="0" anchor="ctr"/>
          <a:lstStyle/>
          <a:p>
            <a:pPr algn="ctr"/>
          </a:p>
        </p:txBody>
      </p:sp>
      <p:sp>
        <p:nvSpPr>
          <p:cNvPr id="29" name="Rounded Rectangle 28"/>
          <p:cNvSpPr/>
          <p:nvPr/>
        </p:nvSpPr>
        <p:spPr>
          <a:xfrm>
            <a:off x="6827520" y="1450848"/>
            <a:ext cx="609600" cy="170688"/>
          </a:xfrm>
          <a:prstGeom prst="roundRect">
            <a:avLst>
              <a:gd name="adj" fmla="val 50000"/>
            </a:avLst>
          </a:prstGeom>
          <a:solidFill>
            <a:srgbClr val="D9D6D1"/>
          </a:solidFill>
          <a:ln>
            <a:noFill/>
          </a:ln>
          <a:effectLst/>
        </p:spPr>
        <p:txBody>
          <a:bodyPr rtlCol="0" anchor="ctr"/>
          <a:lstStyle/>
          <a:p>
            <a:pPr algn="ctr"/>
          </a:p>
        </p:txBody>
      </p:sp>
      <p:sp>
        <p:nvSpPr>
          <p:cNvPr id="30" name="TextBox 29"/>
          <p:cNvSpPr txBox="1"/>
          <p:nvPr/>
        </p:nvSpPr>
        <p:spPr>
          <a:xfrm>
            <a:off x="6827520" y="1450848"/>
            <a:ext cx="609600" cy="170688"/>
          </a:xfrm>
          <a:prstGeom prst="rect">
            <a:avLst/>
          </a:prstGeom>
          <a:noFill/>
        </p:spPr>
        <p:txBody>
          <a:bodyPr wrap="square" anchor="ctr" lIns="0" rIns="0" tIns="0" bIns="0">
            <a:spAutoFit/>
          </a:bodyPr>
          <a:lstStyle/>
          <a:p>
            <a:pPr algn="ctr"/>
            <a:r>
              <a:rPr sz="800" b="1" i="0">
                <a:solidFill>
                  <a:srgbClr val="555B66"/>
                </a:solidFill>
                <a:latin typeface="Arial"/>
              </a:rPr>
              <a:t>INDICATIF</a:t>
            </a:r>
          </a:p>
        </p:txBody>
      </p:sp>
      <p:sp>
        <p:nvSpPr>
          <p:cNvPr id="31" name="TextBox 30"/>
          <p:cNvSpPr txBox="1"/>
          <p:nvPr/>
        </p:nvSpPr>
        <p:spPr>
          <a:xfrm>
            <a:off x="6242304" y="1706880"/>
            <a:ext cx="1219200" cy="121920"/>
          </a:xfrm>
          <a:prstGeom prst="rect">
            <a:avLst/>
          </a:prstGeom>
          <a:noFill/>
        </p:spPr>
        <p:txBody>
          <a:bodyPr wrap="square" anchor="t" lIns="0" rIns="0" tIns="0" bIns="0">
            <a:spAutoFit/>
          </a:bodyPr>
          <a:lstStyle/>
          <a:p>
            <a:pPr algn="l"/>
            <a:r>
              <a:rPr sz="1000" b="1" i="0">
                <a:solidFill>
                  <a:srgbClr val="8A93A6"/>
                </a:solidFill>
                <a:latin typeface="Arial"/>
              </a:rPr>
              <a:t>CONVERSIONS</a:t>
            </a:r>
          </a:p>
        </p:txBody>
      </p:sp>
      <p:sp>
        <p:nvSpPr>
          <p:cNvPr id="32" name="TextBox 31"/>
          <p:cNvSpPr txBox="1"/>
          <p:nvPr/>
        </p:nvSpPr>
        <p:spPr>
          <a:xfrm>
            <a:off x="6242304" y="1889760"/>
            <a:ext cx="1219200" cy="274320"/>
          </a:xfrm>
          <a:prstGeom prst="rect">
            <a:avLst/>
          </a:prstGeom>
          <a:noFill/>
        </p:spPr>
        <p:txBody>
          <a:bodyPr wrap="square" anchor="t" lIns="0" rIns="0" tIns="0" bIns="0">
            <a:spAutoFit/>
          </a:bodyPr>
          <a:lstStyle/>
          <a:p>
            <a:pPr algn="l"/>
            <a:r>
              <a:rPr sz="2200" b="1" i="0">
                <a:solidFill>
                  <a:srgbClr val="8A93A6"/>
                </a:solidFill>
                <a:latin typeface="Arial"/>
              </a:rPr>
              <a:t>N/C</a:t>
            </a:r>
          </a:p>
        </p:txBody>
      </p:sp>
      <p:sp>
        <p:nvSpPr>
          <p:cNvPr id="33" name="TextBox 32"/>
          <p:cNvSpPr txBox="1"/>
          <p:nvPr/>
        </p:nvSpPr>
        <p:spPr>
          <a:xfrm>
            <a:off x="6242304" y="2243328"/>
            <a:ext cx="1219200" cy="109728"/>
          </a:xfrm>
          <a:prstGeom prst="rect">
            <a:avLst/>
          </a:prstGeom>
          <a:noFill/>
        </p:spPr>
        <p:txBody>
          <a:bodyPr wrap="square" anchor="t" lIns="0" rIns="0" tIns="0" bIns="0">
            <a:spAutoFit/>
          </a:bodyPr>
          <a:lstStyle/>
          <a:p>
            <a:pPr algn="l"/>
            <a:r>
              <a:rPr sz="1000" b="1" i="0">
                <a:solidFill>
                  <a:srgbClr val="8A93A6"/>
                </a:solidFill>
                <a:latin typeface="Arial"/>
              </a:rPr>
              <a:t>—</a:t>
            </a:r>
          </a:p>
        </p:txBody>
      </p:sp>
      <p:sp>
        <p:nvSpPr>
          <p:cNvPr id="34" name="TextBox 33"/>
          <p:cNvSpPr txBox="1"/>
          <p:nvPr/>
        </p:nvSpPr>
        <p:spPr>
          <a:xfrm>
            <a:off x="6242304" y="2499360"/>
            <a:ext cx="1219200" cy="91440"/>
          </a:xfrm>
          <a:prstGeom prst="rect">
            <a:avLst/>
          </a:prstGeom>
          <a:noFill/>
        </p:spPr>
        <p:txBody>
          <a:bodyPr wrap="square" anchor="t" lIns="0" rIns="0" tIns="0" bIns="0">
            <a:spAutoFit/>
          </a:bodyPr>
          <a:lstStyle/>
          <a:p>
            <a:pPr algn="l"/>
            <a:r>
              <a:rPr sz="800" b="0" i="1">
                <a:solidFill>
                  <a:srgbClr val="8A93A6"/>
                </a:solidFill>
                <a:latin typeface="Arial"/>
              </a:rPr>
              <a:t>YTD —</a:t>
            </a:r>
          </a:p>
        </p:txBody>
      </p:sp>
      <p:sp>
        <p:nvSpPr>
          <p:cNvPr id="35" name="Rectangle 34"/>
          <p:cNvSpPr/>
          <p:nvPr/>
        </p:nvSpPr>
        <p:spPr>
          <a:xfrm>
            <a:off x="7967472" y="1536192"/>
            <a:ext cx="1389888" cy="1127760"/>
          </a:xfrm>
          <a:prstGeom prst="rect">
            <a:avLst/>
          </a:prstGeom>
          <a:solidFill>
            <a:srgbClr val="F1EFEB"/>
          </a:solidFill>
          <a:ln>
            <a:noFill/>
          </a:ln>
          <a:effectLst/>
        </p:spPr>
        <p:txBody>
          <a:bodyPr rtlCol="0" anchor="ctr"/>
          <a:lstStyle/>
          <a:p>
            <a:pPr algn="ctr"/>
          </a:p>
        </p:txBody>
      </p:sp>
      <p:sp>
        <p:nvSpPr>
          <p:cNvPr id="36" name="Rounded Rectangle 35"/>
          <p:cNvSpPr/>
          <p:nvPr/>
        </p:nvSpPr>
        <p:spPr>
          <a:xfrm>
            <a:off x="8686800" y="1450848"/>
            <a:ext cx="609600" cy="170688"/>
          </a:xfrm>
          <a:prstGeom prst="roundRect">
            <a:avLst>
              <a:gd name="adj" fmla="val 50000"/>
            </a:avLst>
          </a:prstGeom>
          <a:solidFill>
            <a:srgbClr val="D9D6D1"/>
          </a:solidFill>
          <a:ln>
            <a:noFill/>
          </a:ln>
          <a:effectLst/>
        </p:spPr>
        <p:txBody>
          <a:bodyPr rtlCol="0" anchor="ctr"/>
          <a:lstStyle/>
          <a:p>
            <a:pPr algn="ctr"/>
          </a:p>
        </p:txBody>
      </p:sp>
      <p:sp>
        <p:nvSpPr>
          <p:cNvPr id="37" name="TextBox 36"/>
          <p:cNvSpPr txBox="1"/>
          <p:nvPr/>
        </p:nvSpPr>
        <p:spPr>
          <a:xfrm>
            <a:off x="8686800" y="1450848"/>
            <a:ext cx="609600" cy="170688"/>
          </a:xfrm>
          <a:prstGeom prst="rect">
            <a:avLst/>
          </a:prstGeom>
          <a:noFill/>
        </p:spPr>
        <p:txBody>
          <a:bodyPr wrap="square" anchor="ctr" lIns="0" rIns="0" tIns="0" bIns="0">
            <a:spAutoFit/>
          </a:bodyPr>
          <a:lstStyle/>
          <a:p>
            <a:pPr algn="ctr"/>
            <a:r>
              <a:rPr sz="800" b="1" i="0">
                <a:solidFill>
                  <a:srgbClr val="555B66"/>
                </a:solidFill>
                <a:latin typeface="Arial"/>
              </a:rPr>
              <a:t>INDICATIF</a:t>
            </a:r>
          </a:p>
        </p:txBody>
      </p:sp>
      <p:sp>
        <p:nvSpPr>
          <p:cNvPr id="38" name="TextBox 37"/>
          <p:cNvSpPr txBox="1"/>
          <p:nvPr/>
        </p:nvSpPr>
        <p:spPr>
          <a:xfrm>
            <a:off x="8101584" y="1706880"/>
            <a:ext cx="1219200" cy="121920"/>
          </a:xfrm>
          <a:prstGeom prst="rect">
            <a:avLst/>
          </a:prstGeom>
          <a:noFill/>
        </p:spPr>
        <p:txBody>
          <a:bodyPr wrap="square" anchor="t" lIns="0" rIns="0" tIns="0" bIns="0">
            <a:spAutoFit/>
          </a:bodyPr>
          <a:lstStyle/>
          <a:p>
            <a:pPr algn="l"/>
            <a:r>
              <a:rPr sz="1000" b="1" i="0">
                <a:solidFill>
                  <a:srgbClr val="8A93A6"/>
                </a:solidFill>
                <a:latin typeface="Arial"/>
              </a:rPr>
              <a:t>CVR</a:t>
            </a:r>
          </a:p>
        </p:txBody>
      </p:sp>
      <p:sp>
        <p:nvSpPr>
          <p:cNvPr id="39" name="TextBox 38"/>
          <p:cNvSpPr txBox="1"/>
          <p:nvPr/>
        </p:nvSpPr>
        <p:spPr>
          <a:xfrm>
            <a:off x="8101584" y="1889760"/>
            <a:ext cx="1219200" cy="274320"/>
          </a:xfrm>
          <a:prstGeom prst="rect">
            <a:avLst/>
          </a:prstGeom>
          <a:noFill/>
        </p:spPr>
        <p:txBody>
          <a:bodyPr wrap="square" anchor="t" lIns="0" rIns="0" tIns="0" bIns="0">
            <a:spAutoFit/>
          </a:bodyPr>
          <a:lstStyle/>
          <a:p>
            <a:pPr algn="l"/>
            <a:r>
              <a:rPr sz="2200" b="1" i="0">
                <a:solidFill>
                  <a:srgbClr val="8A93A6"/>
                </a:solidFill>
                <a:latin typeface="Arial"/>
              </a:rPr>
              <a:t>N/C</a:t>
            </a:r>
          </a:p>
        </p:txBody>
      </p:sp>
      <p:sp>
        <p:nvSpPr>
          <p:cNvPr id="40" name="TextBox 39"/>
          <p:cNvSpPr txBox="1"/>
          <p:nvPr/>
        </p:nvSpPr>
        <p:spPr>
          <a:xfrm>
            <a:off x="8101584" y="2243328"/>
            <a:ext cx="1219200" cy="109728"/>
          </a:xfrm>
          <a:prstGeom prst="rect">
            <a:avLst/>
          </a:prstGeom>
          <a:noFill/>
        </p:spPr>
        <p:txBody>
          <a:bodyPr wrap="square" anchor="t" lIns="0" rIns="0" tIns="0" bIns="0">
            <a:spAutoFit/>
          </a:bodyPr>
          <a:lstStyle/>
          <a:p>
            <a:pPr algn="l"/>
            <a:r>
              <a:rPr sz="1000" b="1" i="0">
                <a:solidFill>
                  <a:srgbClr val="8A93A6"/>
                </a:solidFill>
                <a:latin typeface="Arial"/>
              </a:rPr>
              <a:t>—</a:t>
            </a:r>
          </a:p>
        </p:txBody>
      </p:sp>
      <p:sp>
        <p:nvSpPr>
          <p:cNvPr id="41" name="TextBox 40"/>
          <p:cNvSpPr txBox="1"/>
          <p:nvPr/>
        </p:nvSpPr>
        <p:spPr>
          <a:xfrm>
            <a:off x="8101584" y="2499360"/>
            <a:ext cx="1219200" cy="91440"/>
          </a:xfrm>
          <a:prstGeom prst="rect">
            <a:avLst/>
          </a:prstGeom>
          <a:noFill/>
        </p:spPr>
        <p:txBody>
          <a:bodyPr wrap="square" anchor="t" lIns="0" rIns="0" tIns="0" bIns="0">
            <a:spAutoFit/>
          </a:bodyPr>
          <a:lstStyle/>
          <a:p>
            <a:pPr algn="l"/>
            <a:r>
              <a:rPr sz="800" b="0" i="1">
                <a:solidFill>
                  <a:srgbClr val="8A93A6"/>
                </a:solidFill>
                <a:latin typeface="Arial"/>
              </a:rPr>
              <a:t>YTD —</a:t>
            </a:r>
          </a:p>
        </p:txBody>
      </p:sp>
      <p:sp>
        <p:nvSpPr>
          <p:cNvPr id="42" name="Rectangle 41"/>
          <p:cNvSpPr/>
          <p:nvPr/>
        </p:nvSpPr>
        <p:spPr>
          <a:xfrm>
            <a:off x="9826752" y="1536192"/>
            <a:ext cx="1389888" cy="1127760"/>
          </a:xfrm>
          <a:prstGeom prst="rect">
            <a:avLst/>
          </a:prstGeom>
          <a:solidFill>
            <a:srgbClr val="F1EFEB"/>
          </a:solidFill>
          <a:ln>
            <a:noFill/>
          </a:ln>
          <a:effectLst/>
        </p:spPr>
        <p:txBody>
          <a:bodyPr rtlCol="0" anchor="ctr"/>
          <a:lstStyle/>
          <a:p>
            <a:pPr algn="ctr"/>
          </a:p>
        </p:txBody>
      </p:sp>
      <p:sp>
        <p:nvSpPr>
          <p:cNvPr id="43" name="Rounded Rectangle 42"/>
          <p:cNvSpPr/>
          <p:nvPr/>
        </p:nvSpPr>
        <p:spPr>
          <a:xfrm>
            <a:off x="10546080" y="1450848"/>
            <a:ext cx="609600" cy="170688"/>
          </a:xfrm>
          <a:prstGeom prst="roundRect">
            <a:avLst>
              <a:gd name="adj" fmla="val 50000"/>
            </a:avLst>
          </a:prstGeom>
          <a:solidFill>
            <a:srgbClr val="D9D6D1"/>
          </a:solidFill>
          <a:ln>
            <a:noFill/>
          </a:ln>
          <a:effectLst/>
        </p:spPr>
        <p:txBody>
          <a:bodyPr rtlCol="0" anchor="ctr"/>
          <a:lstStyle/>
          <a:p>
            <a:pPr algn="ctr"/>
          </a:p>
        </p:txBody>
      </p:sp>
      <p:sp>
        <p:nvSpPr>
          <p:cNvPr id="44" name="TextBox 43"/>
          <p:cNvSpPr txBox="1"/>
          <p:nvPr/>
        </p:nvSpPr>
        <p:spPr>
          <a:xfrm>
            <a:off x="10546080" y="1450848"/>
            <a:ext cx="609600" cy="170688"/>
          </a:xfrm>
          <a:prstGeom prst="rect">
            <a:avLst/>
          </a:prstGeom>
          <a:noFill/>
        </p:spPr>
        <p:txBody>
          <a:bodyPr wrap="square" anchor="ctr" lIns="0" rIns="0" tIns="0" bIns="0">
            <a:spAutoFit/>
          </a:bodyPr>
          <a:lstStyle/>
          <a:p>
            <a:pPr algn="ctr"/>
            <a:r>
              <a:rPr sz="800" b="1" i="0">
                <a:solidFill>
                  <a:srgbClr val="555B66"/>
                </a:solidFill>
                <a:latin typeface="Arial"/>
              </a:rPr>
              <a:t>INDICATIF</a:t>
            </a:r>
          </a:p>
        </p:txBody>
      </p:sp>
      <p:sp>
        <p:nvSpPr>
          <p:cNvPr id="45" name="TextBox 44"/>
          <p:cNvSpPr txBox="1"/>
          <p:nvPr/>
        </p:nvSpPr>
        <p:spPr>
          <a:xfrm>
            <a:off x="9960864" y="1706880"/>
            <a:ext cx="1219200" cy="121920"/>
          </a:xfrm>
          <a:prstGeom prst="rect">
            <a:avLst/>
          </a:prstGeom>
          <a:noFill/>
        </p:spPr>
        <p:txBody>
          <a:bodyPr wrap="square" anchor="t" lIns="0" rIns="0" tIns="0" bIns="0">
            <a:spAutoFit/>
          </a:bodyPr>
          <a:lstStyle/>
          <a:p>
            <a:pPr algn="l"/>
            <a:r>
              <a:rPr sz="1000" b="1" i="0">
                <a:solidFill>
                  <a:srgbClr val="8A93A6"/>
                </a:solidFill>
                <a:latin typeface="Arial"/>
              </a:rPr>
              <a:t>ROAS</a:t>
            </a:r>
          </a:p>
        </p:txBody>
      </p:sp>
      <p:sp>
        <p:nvSpPr>
          <p:cNvPr id="46" name="TextBox 45"/>
          <p:cNvSpPr txBox="1"/>
          <p:nvPr/>
        </p:nvSpPr>
        <p:spPr>
          <a:xfrm>
            <a:off x="9960864" y="1889760"/>
            <a:ext cx="1219200" cy="274320"/>
          </a:xfrm>
          <a:prstGeom prst="rect">
            <a:avLst/>
          </a:prstGeom>
          <a:noFill/>
        </p:spPr>
        <p:txBody>
          <a:bodyPr wrap="square" anchor="t" lIns="0" rIns="0" tIns="0" bIns="0">
            <a:spAutoFit/>
          </a:bodyPr>
          <a:lstStyle/>
          <a:p>
            <a:pPr algn="l"/>
            <a:r>
              <a:rPr sz="2200" b="1" i="0">
                <a:solidFill>
                  <a:srgbClr val="8A93A6"/>
                </a:solidFill>
                <a:latin typeface="Arial"/>
              </a:rPr>
              <a:t>N/C</a:t>
            </a:r>
          </a:p>
        </p:txBody>
      </p:sp>
      <p:sp>
        <p:nvSpPr>
          <p:cNvPr id="47" name="TextBox 46"/>
          <p:cNvSpPr txBox="1"/>
          <p:nvPr/>
        </p:nvSpPr>
        <p:spPr>
          <a:xfrm>
            <a:off x="9960864" y="2243328"/>
            <a:ext cx="1219200" cy="109728"/>
          </a:xfrm>
          <a:prstGeom prst="rect">
            <a:avLst/>
          </a:prstGeom>
          <a:noFill/>
        </p:spPr>
        <p:txBody>
          <a:bodyPr wrap="square" anchor="t" lIns="0" rIns="0" tIns="0" bIns="0">
            <a:spAutoFit/>
          </a:bodyPr>
          <a:lstStyle/>
          <a:p>
            <a:pPr algn="l"/>
            <a:r>
              <a:rPr sz="1000" b="1" i="0">
                <a:solidFill>
                  <a:srgbClr val="8A93A6"/>
                </a:solidFill>
                <a:latin typeface="Arial"/>
              </a:rPr>
              <a:t>—</a:t>
            </a:r>
          </a:p>
        </p:txBody>
      </p:sp>
      <p:sp>
        <p:nvSpPr>
          <p:cNvPr id="48" name="TextBox 47"/>
          <p:cNvSpPr txBox="1"/>
          <p:nvPr/>
        </p:nvSpPr>
        <p:spPr>
          <a:xfrm>
            <a:off x="9960864" y="2499360"/>
            <a:ext cx="1219200" cy="91440"/>
          </a:xfrm>
          <a:prstGeom prst="rect">
            <a:avLst/>
          </a:prstGeom>
          <a:noFill/>
        </p:spPr>
        <p:txBody>
          <a:bodyPr wrap="square" anchor="t" lIns="0" rIns="0" tIns="0" bIns="0">
            <a:spAutoFit/>
          </a:bodyPr>
          <a:lstStyle/>
          <a:p>
            <a:pPr algn="l"/>
            <a:r>
              <a:rPr sz="800" b="0" i="1">
                <a:solidFill>
                  <a:srgbClr val="8A93A6"/>
                </a:solidFill>
                <a:latin typeface="Arial"/>
              </a:rPr>
              <a:t>YTD —</a:t>
            </a:r>
          </a:p>
        </p:txBody>
      </p:sp>
      <p:sp>
        <p:nvSpPr>
          <p:cNvPr id="49" name="Isosceles Triangle 48"/>
          <p:cNvSpPr/>
          <p:nvPr/>
        </p:nvSpPr>
        <p:spPr>
          <a:xfrm>
            <a:off x="8564880" y="2688336"/>
            <a:ext cx="182880" cy="85344"/>
          </a:xfrm>
          <a:prstGeom prst="triangle">
            <a:avLst/>
          </a:prstGeom>
          <a:solidFill>
            <a:srgbClr val="EBE9E5"/>
          </a:solidFill>
          <a:ln>
            <a:noFill/>
          </a:ln>
          <a:effectLst/>
        </p:spPr>
        <p:txBody>
          <a:bodyPr rtlCol="0" anchor="ctr"/>
          <a:lstStyle/>
          <a:p>
            <a:pPr algn="ctr"/>
          </a:p>
        </p:txBody>
      </p:sp>
      <p:sp>
        <p:nvSpPr>
          <p:cNvPr id="50" name="Rounded Rectangle 49"/>
          <p:cNvSpPr/>
          <p:nvPr/>
        </p:nvSpPr>
        <p:spPr>
          <a:xfrm>
            <a:off x="6108192" y="2773680"/>
            <a:ext cx="5108448" cy="438912"/>
          </a:xfrm>
          <a:prstGeom prst="roundRect">
            <a:avLst>
              <a:gd name="adj" fmla="val 15000"/>
            </a:avLst>
          </a:prstGeom>
          <a:solidFill>
            <a:srgbClr val="EBE9E5"/>
          </a:solidFill>
          <a:ln>
            <a:noFill/>
          </a:ln>
          <a:effectLst/>
        </p:spPr>
        <p:txBody>
          <a:bodyPr rtlCol="0" anchor="ctr"/>
          <a:lstStyle/>
          <a:p>
            <a:pPr algn="ctr"/>
          </a:p>
        </p:txBody>
      </p:sp>
      <p:sp>
        <p:nvSpPr>
          <p:cNvPr id="51" name="TextBox 50"/>
          <p:cNvSpPr txBox="1"/>
          <p:nvPr/>
        </p:nvSpPr>
        <p:spPr>
          <a:xfrm>
            <a:off x="6230112" y="2816352"/>
            <a:ext cx="4864608" cy="365760"/>
          </a:xfrm>
          <a:prstGeom prst="rect">
            <a:avLst/>
          </a:prstGeom>
          <a:noFill/>
        </p:spPr>
        <p:txBody>
          <a:bodyPr wrap="square" anchor="ctr" lIns="0" rIns="0" tIns="0" bIns="0">
            <a:spAutoFit/>
          </a:bodyPr>
          <a:lstStyle/>
          <a:p>
            <a:pPr algn="l"/>
            <a:r>
              <a:rPr sz="900" b="1" i="0">
                <a:solidFill>
                  <a:srgbClr val="555B66"/>
                </a:solidFill>
                <a:latin typeface="Arial"/>
              </a:rPr>
              <a:t>Le Conversion Tracker est en cours de validation : </a:t>
            </a:r>
            <a:r>
              <a:rPr sz="900" b="0" i="0">
                <a:solidFill>
                  <a:srgbClr val="555B66"/>
                </a:solidFill>
                <a:latin typeface="Arial"/>
              </a:rPr>
              <a:t>le pixel est posé depuis la mi-septembre. Les conversions apparaîtront dans ce rapport dès que la réconciliation avec vos données sera validée.</a:t>
            </a:r>
          </a:p>
        </p:txBody>
      </p:sp>
      <p:sp>
        <p:nvSpPr>
          <p:cNvPr id="52" name="TextBox 51"/>
          <p:cNvSpPr txBox="1"/>
          <p:nvPr/>
        </p:nvSpPr>
        <p:spPr>
          <a:xfrm>
            <a:off x="530352" y="3322320"/>
            <a:ext cx="7315200" cy="182880"/>
          </a:xfrm>
          <a:prstGeom prst="rect">
            <a:avLst/>
          </a:prstGeom>
          <a:noFill/>
        </p:spPr>
        <p:txBody>
          <a:bodyPr wrap="square" anchor="t" lIns="0" rIns="0" tIns="0" bIns="0">
            <a:spAutoFit/>
          </a:bodyPr>
          <a:lstStyle/>
          <a:p>
            <a:pPr algn="l"/>
            <a:r>
              <a:rPr sz="1400" b="1" i="0">
                <a:solidFill>
                  <a:srgbClr val="EE6A2C"/>
                </a:solidFill>
                <a:latin typeface="Arial"/>
              </a:rPr>
              <a:t>INSIGHTS QUALITATIFS · ANALYSE DES RECHERCHES</a:t>
            </a:r>
          </a:p>
        </p:txBody>
      </p:sp>
      <p:sp>
        <p:nvSpPr>
          <p:cNvPr id="53" name="Rectangle 52"/>
          <p:cNvSpPr/>
          <p:nvPr/>
        </p:nvSpPr>
        <p:spPr>
          <a:xfrm>
            <a:off x="530352" y="3584448"/>
            <a:ext cx="3401568" cy="2560320"/>
          </a:xfrm>
          <a:prstGeom prst="rect">
            <a:avLst/>
          </a:prstGeom>
          <a:solidFill>
            <a:srgbClr val="FFFFFF"/>
          </a:solidFill>
          <a:ln>
            <a:noFill/>
          </a:ln>
          <a:effectLst/>
        </p:spPr>
        <p:txBody>
          <a:bodyPr rtlCol="0" anchor="ctr"/>
          <a:lstStyle/>
          <a:p>
            <a:pPr algn="ctr"/>
          </a:p>
        </p:txBody>
      </p:sp>
      <p:sp>
        <p:nvSpPr>
          <p:cNvPr id="54" name="Rectangle 53"/>
          <p:cNvSpPr/>
          <p:nvPr/>
        </p:nvSpPr>
        <p:spPr>
          <a:xfrm>
            <a:off x="4194048" y="3584448"/>
            <a:ext cx="3401568" cy="2560320"/>
          </a:xfrm>
          <a:prstGeom prst="rect">
            <a:avLst/>
          </a:prstGeom>
          <a:solidFill>
            <a:srgbClr val="FFFFFF"/>
          </a:solidFill>
          <a:ln>
            <a:noFill/>
          </a:ln>
          <a:effectLst/>
        </p:spPr>
        <p:txBody>
          <a:bodyPr rtlCol="0" anchor="ctr"/>
          <a:lstStyle/>
          <a:p>
            <a:pPr algn="ctr"/>
          </a:p>
        </p:txBody>
      </p:sp>
      <p:sp>
        <p:nvSpPr>
          <p:cNvPr id="55" name="Rectangle 54"/>
          <p:cNvSpPr/>
          <p:nvPr/>
        </p:nvSpPr>
        <p:spPr>
          <a:xfrm>
            <a:off x="7857744" y="3584448"/>
            <a:ext cx="3401568" cy="2560320"/>
          </a:xfrm>
          <a:prstGeom prst="rect">
            <a:avLst/>
          </a:prstGeom>
          <a:solidFill>
            <a:srgbClr val="FFFFFF"/>
          </a:solidFill>
          <a:ln>
            <a:noFill/>
          </a:ln>
          <a:effectLst/>
        </p:spPr>
        <p:txBody>
          <a:bodyPr rtlCol="0" anchor="ctr"/>
          <a:lstStyle/>
          <a:p>
            <a:pPr algn="ctr"/>
          </a:p>
        </p:txBody>
      </p:sp>
      <p:sp>
        <p:nvSpPr>
          <p:cNvPr id="56" name="TextBox 55"/>
          <p:cNvSpPr txBox="1"/>
          <p:nvPr/>
        </p:nvSpPr>
        <p:spPr>
          <a:xfrm>
            <a:off x="774192" y="3767328"/>
            <a:ext cx="2926080" cy="152400"/>
          </a:xfrm>
          <a:prstGeom prst="rect">
            <a:avLst/>
          </a:prstGeom>
          <a:noFill/>
        </p:spPr>
        <p:txBody>
          <a:bodyPr wrap="square" anchor="t" lIns="0" rIns="0" tIns="0" bIns="0">
            <a:spAutoFit/>
          </a:bodyPr>
          <a:lstStyle/>
          <a:p>
            <a:pPr algn="l"/>
            <a:r>
              <a:rPr sz="1300" b="1" i="0">
                <a:solidFill>
                  <a:srgbClr val="555B66"/>
                </a:solidFill>
                <a:latin typeface="Arial"/>
              </a:rPr>
              <a:t>CHAMP LEXICAL</a:t>
            </a:r>
          </a:p>
        </p:txBody>
      </p:sp>
      <p:sp>
        <p:nvSpPr>
          <p:cNvPr id="57" name="TextBox 56"/>
          <p:cNvSpPr txBox="1"/>
          <p:nvPr/>
        </p:nvSpPr>
        <p:spPr>
          <a:xfrm>
            <a:off x="774192" y="3992880"/>
            <a:ext cx="2926080" cy="121920"/>
          </a:xfrm>
          <a:prstGeom prst="rect">
            <a:avLst/>
          </a:prstGeom>
          <a:noFill/>
        </p:spPr>
        <p:txBody>
          <a:bodyPr wrap="square" anchor="t" lIns="0" rIns="0" tIns="0" bIns="0">
            <a:spAutoFit/>
          </a:bodyPr>
          <a:lstStyle/>
          <a:p>
            <a:pPr algn="l"/>
            <a:r>
              <a:rPr sz="1000" b="0" i="1">
                <a:solidFill>
                  <a:srgbClr val="8A93A6"/>
                </a:solidFill>
                <a:latin typeface="Arial"/>
              </a:rPr>
              <a:t>Termes les plus fréquents</a:t>
            </a:r>
          </a:p>
        </p:txBody>
      </p:sp>
      <p:sp>
        <p:nvSpPr>
          <p:cNvPr id="58" name="TextBox 57"/>
          <p:cNvSpPr txBox="1"/>
          <p:nvPr/>
        </p:nvSpPr>
        <p:spPr>
          <a:xfrm>
            <a:off x="774192" y="4236720"/>
            <a:ext cx="2987040" cy="1828800"/>
          </a:xfrm>
          <a:prstGeom prst="rect">
            <a:avLst/>
          </a:prstGeom>
          <a:noFill/>
        </p:spPr>
        <p:txBody>
          <a:bodyPr wrap="square" anchor="t" lIns="0" rIns="0" tIns="0" bIns="0">
            <a:spAutoFit/>
          </a:bodyPr>
          <a:lstStyle/>
          <a:p>
            <a:pPr algn="l">
              <a:spcAft>
                <a:spcPts val="500"/>
              </a:spcAft>
            </a:pPr>
            <a:r>
              <a:rPr sz="1800" b="1" i="0">
                <a:solidFill>
                  <a:srgbClr val="EE6A2C"/>
                </a:solidFill>
                <a:latin typeface="Arial"/>
              </a:rPr>
              <a:t>smartphone</a:t>
            </a:r>
            <a:r>
              <a:rPr sz="1600" b="1" i="0">
                <a:solidFill>
                  <a:srgbClr val="111111"/>
                </a:solidFill>
                <a:latin typeface="Arial"/>
              </a:rPr>
              <a:t>   écouteurs</a:t>
            </a:r>
          </a:p>
          <a:p>
            <a:pPr algn="l">
              <a:spcAft>
                <a:spcPts val="500"/>
              </a:spcAft>
            </a:pPr>
            <a:r>
              <a:rPr sz="1500" b="1" i="0">
                <a:solidFill>
                  <a:srgbClr val="111111"/>
                </a:solidFill>
                <a:latin typeface="Arial"/>
              </a:rPr>
              <a:t>enceinte portable</a:t>
            </a:r>
            <a:r>
              <a:rPr sz="1400" b="1" i="0">
                <a:solidFill>
                  <a:srgbClr val="111111"/>
                </a:solidFill>
                <a:latin typeface="Arial"/>
              </a:rPr>
              <a:t>   téléviseur</a:t>
            </a:r>
          </a:p>
          <a:p>
            <a:pPr algn="l">
              <a:spcAft>
                <a:spcPts val="500"/>
              </a:spcAft>
            </a:pPr>
            <a:r>
              <a:rPr sz="1300" b="1" i="0">
                <a:solidFill>
                  <a:srgbClr val="EE6A2C"/>
                </a:solidFill>
                <a:latin typeface="Arial"/>
              </a:rPr>
              <a:t>rapport qualité-prix</a:t>
            </a:r>
            <a:r>
              <a:rPr sz="1200" b="0" i="0">
                <a:solidFill>
                  <a:srgbClr val="111111"/>
                </a:solidFill>
                <a:latin typeface="Arial"/>
              </a:rPr>
              <a:t>   aspirateur</a:t>
            </a:r>
          </a:p>
          <a:p>
            <a:pPr algn="l">
              <a:spcAft>
                <a:spcPts val="500"/>
              </a:spcAft>
            </a:pPr>
            <a:r>
              <a:rPr sz="1100" b="1" i="0">
                <a:solidFill>
                  <a:srgbClr val="EE6A2C"/>
                </a:solidFill>
                <a:latin typeface="Arial"/>
              </a:rPr>
              <a:t>ordinateur portable</a:t>
            </a:r>
            <a:r>
              <a:rPr sz="1100" b="1" i="0">
                <a:solidFill>
                  <a:srgbClr val="111111"/>
                </a:solidFill>
                <a:latin typeface="Arial"/>
              </a:rPr>
              <a:t>   tablette</a:t>
            </a:r>
          </a:p>
          <a:p>
            <a:pPr algn="l">
              <a:spcAft>
                <a:spcPts val="500"/>
              </a:spcAft>
            </a:pPr>
            <a:r>
              <a:rPr sz="1100" b="1" i="0">
                <a:solidFill>
                  <a:srgbClr val="111111"/>
                </a:solidFill>
                <a:latin typeface="Arial"/>
              </a:rPr>
              <a:t>airfryer</a:t>
            </a:r>
            <a:r>
              <a:rPr sz="1100" b="0" i="0">
                <a:solidFill>
                  <a:srgbClr val="111111"/>
                </a:solidFill>
                <a:latin typeface="Arial"/>
              </a:rPr>
              <a:t>   lave-linge</a:t>
            </a:r>
            <a:r>
              <a:rPr sz="1100" b="1" i="0">
                <a:solidFill>
                  <a:srgbClr val="EE6A2C"/>
                </a:solidFill>
                <a:latin typeface="Arial"/>
              </a:rPr>
              <a:t>   batterie externe</a:t>
            </a:r>
          </a:p>
          <a:p>
            <a:pPr algn="l">
              <a:spcAft>
                <a:spcPts val="500"/>
              </a:spcAft>
            </a:pPr>
            <a:r>
              <a:rPr sz="1100" b="1" i="0">
                <a:solidFill>
                  <a:srgbClr val="111111"/>
                </a:solidFill>
                <a:latin typeface="Arial"/>
              </a:rPr>
              <a:t>Samsung</a:t>
            </a:r>
            <a:r>
              <a:rPr sz="1100" b="0" i="0">
                <a:solidFill>
                  <a:srgbClr val="111111"/>
                </a:solidFill>
                <a:latin typeface="Arial"/>
              </a:rPr>
              <a:t>   JBL</a:t>
            </a:r>
            <a:r>
              <a:rPr sz="1100" b="0" i="0">
                <a:solidFill>
                  <a:srgbClr val="111111"/>
                </a:solidFill>
                <a:latin typeface="Arial"/>
              </a:rPr>
              <a:t>   Dyson</a:t>
            </a:r>
          </a:p>
        </p:txBody>
      </p:sp>
      <p:sp>
        <p:nvSpPr>
          <p:cNvPr id="59" name="TextBox 58"/>
          <p:cNvSpPr txBox="1"/>
          <p:nvPr/>
        </p:nvSpPr>
        <p:spPr>
          <a:xfrm>
            <a:off x="4437888" y="3767328"/>
            <a:ext cx="2926080" cy="152400"/>
          </a:xfrm>
          <a:prstGeom prst="rect">
            <a:avLst/>
          </a:prstGeom>
          <a:noFill/>
        </p:spPr>
        <p:txBody>
          <a:bodyPr wrap="square" anchor="t" lIns="0" rIns="0" tIns="0" bIns="0">
            <a:spAutoFit/>
          </a:bodyPr>
          <a:lstStyle/>
          <a:p>
            <a:pPr algn="l"/>
            <a:r>
              <a:rPr sz="1300" b="1" i="0">
                <a:solidFill>
                  <a:srgbClr val="555B66"/>
                </a:solidFill>
                <a:latin typeface="Arial"/>
              </a:rPr>
              <a:t>EXEMPLES DE REQUÊTES</a:t>
            </a:r>
          </a:p>
        </p:txBody>
      </p:sp>
      <p:sp>
        <p:nvSpPr>
          <p:cNvPr id="60" name="TextBox 59"/>
          <p:cNvSpPr txBox="1"/>
          <p:nvPr/>
        </p:nvSpPr>
        <p:spPr>
          <a:xfrm>
            <a:off x="4437888" y="3992880"/>
            <a:ext cx="2926080" cy="121920"/>
          </a:xfrm>
          <a:prstGeom prst="rect">
            <a:avLst/>
          </a:prstGeom>
          <a:noFill/>
        </p:spPr>
        <p:txBody>
          <a:bodyPr wrap="square" anchor="t" lIns="0" rIns="0" tIns="0" bIns="0">
            <a:spAutoFit/>
          </a:bodyPr>
          <a:lstStyle/>
          <a:p>
            <a:pPr algn="l"/>
            <a:r>
              <a:rPr sz="1000" b="0" i="1">
                <a:solidFill>
                  <a:srgbClr val="8A93A6"/>
                </a:solidFill>
                <a:latin typeface="Arial"/>
              </a:rPr>
              <a:t>Questions posées aux IA</a:t>
            </a:r>
          </a:p>
        </p:txBody>
      </p:sp>
      <p:sp>
        <p:nvSpPr>
          <p:cNvPr id="61" name="TextBox 60"/>
          <p:cNvSpPr txBox="1"/>
          <p:nvPr/>
        </p:nvSpPr>
        <p:spPr>
          <a:xfrm>
            <a:off x="4437888" y="4267200"/>
            <a:ext cx="2913888" cy="304800"/>
          </a:xfrm>
          <a:prstGeom prst="rect">
            <a:avLst/>
          </a:prstGeom>
          <a:noFill/>
        </p:spPr>
        <p:txBody>
          <a:bodyPr wrap="square" anchor="ctr" lIns="0" rIns="0" tIns="0" bIns="0">
            <a:spAutoFit/>
          </a:bodyPr>
          <a:lstStyle/>
          <a:p>
            <a:pPr algn="l"/>
            <a:r>
              <a:rPr sz="1000" b="0" i="0">
                <a:solidFill>
                  <a:srgbClr val="111111"/>
                </a:solidFill>
                <a:latin typeface="Arial"/>
              </a:rPr>
              <a:t>Quel smartphone choisir pour prendre de bonnes photos sans dépasser mon budget ?</a:t>
            </a:r>
          </a:p>
        </p:txBody>
      </p:sp>
      <p:sp>
        <p:nvSpPr>
          <p:cNvPr id="62" name="Rectangle 61"/>
          <p:cNvSpPr/>
          <p:nvPr/>
        </p:nvSpPr>
        <p:spPr>
          <a:xfrm>
            <a:off x="4437888" y="4602480"/>
            <a:ext cx="2913888" cy="6096"/>
          </a:xfrm>
          <a:prstGeom prst="rect">
            <a:avLst/>
          </a:prstGeom>
          <a:solidFill>
            <a:srgbClr val="E6E3DE"/>
          </a:solidFill>
          <a:ln>
            <a:noFill/>
          </a:ln>
          <a:effectLst/>
        </p:spPr>
        <p:txBody>
          <a:bodyPr rtlCol="0" anchor="ctr"/>
          <a:lstStyle/>
          <a:p>
            <a:pPr algn="ctr"/>
          </a:p>
        </p:txBody>
      </p:sp>
      <p:sp>
        <p:nvSpPr>
          <p:cNvPr id="63" name="TextBox 62"/>
          <p:cNvSpPr txBox="1"/>
          <p:nvPr/>
        </p:nvSpPr>
        <p:spPr>
          <a:xfrm>
            <a:off x="4437888" y="4632960"/>
            <a:ext cx="2913888" cy="304800"/>
          </a:xfrm>
          <a:prstGeom prst="rect">
            <a:avLst/>
          </a:prstGeom>
          <a:noFill/>
        </p:spPr>
        <p:txBody>
          <a:bodyPr wrap="square" anchor="ctr" lIns="0" rIns="0" tIns="0" bIns="0">
            <a:spAutoFit/>
          </a:bodyPr>
          <a:lstStyle/>
          <a:p>
            <a:pPr algn="l"/>
            <a:r>
              <a:rPr sz="1000" b="0" i="0">
                <a:solidFill>
                  <a:srgbClr val="111111"/>
                </a:solidFill>
                <a:latin typeface="Arial"/>
              </a:rPr>
              <a:t>Quels écouteurs choisir pour faire du sport ?</a:t>
            </a:r>
          </a:p>
        </p:txBody>
      </p:sp>
      <p:sp>
        <p:nvSpPr>
          <p:cNvPr id="64" name="Rectangle 63"/>
          <p:cNvSpPr/>
          <p:nvPr/>
        </p:nvSpPr>
        <p:spPr>
          <a:xfrm>
            <a:off x="4437888" y="4968240"/>
            <a:ext cx="2913888" cy="6096"/>
          </a:xfrm>
          <a:prstGeom prst="rect">
            <a:avLst/>
          </a:prstGeom>
          <a:solidFill>
            <a:srgbClr val="E6E3DE"/>
          </a:solidFill>
          <a:ln>
            <a:noFill/>
          </a:ln>
          <a:effectLst/>
        </p:spPr>
        <p:txBody>
          <a:bodyPr rtlCol="0" anchor="ctr"/>
          <a:lstStyle/>
          <a:p>
            <a:pPr algn="ctr"/>
          </a:p>
        </p:txBody>
      </p:sp>
      <p:sp>
        <p:nvSpPr>
          <p:cNvPr id="65" name="TextBox 64"/>
          <p:cNvSpPr txBox="1"/>
          <p:nvPr/>
        </p:nvSpPr>
        <p:spPr>
          <a:xfrm>
            <a:off x="4437888" y="4998720"/>
            <a:ext cx="2913888" cy="304800"/>
          </a:xfrm>
          <a:prstGeom prst="rect">
            <a:avLst/>
          </a:prstGeom>
          <a:noFill/>
        </p:spPr>
        <p:txBody>
          <a:bodyPr wrap="square" anchor="ctr" lIns="0" rIns="0" tIns="0" bIns="0">
            <a:spAutoFit/>
          </a:bodyPr>
          <a:lstStyle/>
          <a:p>
            <a:pPr algn="l"/>
            <a:r>
              <a:rPr sz="1000" b="0" i="0">
                <a:solidFill>
                  <a:srgbClr val="111111"/>
                </a:solidFill>
                <a:latin typeface="Arial"/>
              </a:rPr>
              <a:t>Quelle enceinte portable offrir à une personne qui écoute beaucoup de musique ?</a:t>
            </a:r>
          </a:p>
        </p:txBody>
      </p:sp>
      <p:sp>
        <p:nvSpPr>
          <p:cNvPr id="66" name="Rectangle 65"/>
          <p:cNvSpPr/>
          <p:nvPr/>
        </p:nvSpPr>
        <p:spPr>
          <a:xfrm>
            <a:off x="4437888" y="5334000"/>
            <a:ext cx="2913888" cy="6096"/>
          </a:xfrm>
          <a:prstGeom prst="rect">
            <a:avLst/>
          </a:prstGeom>
          <a:solidFill>
            <a:srgbClr val="E6E3DE"/>
          </a:solidFill>
          <a:ln>
            <a:noFill/>
          </a:ln>
          <a:effectLst/>
        </p:spPr>
        <p:txBody>
          <a:bodyPr rtlCol="0" anchor="ctr"/>
          <a:lstStyle/>
          <a:p>
            <a:pPr algn="ctr"/>
          </a:p>
        </p:txBody>
      </p:sp>
      <p:sp>
        <p:nvSpPr>
          <p:cNvPr id="67" name="TextBox 66"/>
          <p:cNvSpPr txBox="1"/>
          <p:nvPr/>
        </p:nvSpPr>
        <p:spPr>
          <a:xfrm>
            <a:off x="4437888" y="5364480"/>
            <a:ext cx="2913888" cy="304800"/>
          </a:xfrm>
          <a:prstGeom prst="rect">
            <a:avLst/>
          </a:prstGeom>
          <a:noFill/>
        </p:spPr>
        <p:txBody>
          <a:bodyPr wrap="square" anchor="ctr" lIns="0" rIns="0" tIns="0" bIns="0">
            <a:spAutoFit/>
          </a:bodyPr>
          <a:lstStyle/>
          <a:p>
            <a:pPr algn="l"/>
            <a:r>
              <a:rPr sz="1000" b="0" i="0">
                <a:solidFill>
                  <a:srgbClr val="111111"/>
                </a:solidFill>
                <a:latin typeface="Arial"/>
              </a:rPr>
              <a:t>Quel aspirateur est efficace contre les poils d'animaux ?</a:t>
            </a:r>
          </a:p>
        </p:txBody>
      </p:sp>
      <p:sp>
        <p:nvSpPr>
          <p:cNvPr id="68" name="Rectangle 67"/>
          <p:cNvSpPr/>
          <p:nvPr/>
        </p:nvSpPr>
        <p:spPr>
          <a:xfrm>
            <a:off x="4437888" y="5699760"/>
            <a:ext cx="2913888" cy="6096"/>
          </a:xfrm>
          <a:prstGeom prst="rect">
            <a:avLst/>
          </a:prstGeom>
          <a:solidFill>
            <a:srgbClr val="E6E3DE"/>
          </a:solidFill>
          <a:ln>
            <a:noFill/>
          </a:ln>
          <a:effectLst/>
        </p:spPr>
        <p:txBody>
          <a:bodyPr rtlCol="0" anchor="ctr"/>
          <a:lstStyle/>
          <a:p>
            <a:pPr algn="ctr"/>
          </a:p>
        </p:txBody>
      </p:sp>
      <p:sp>
        <p:nvSpPr>
          <p:cNvPr id="69" name="TextBox 68"/>
          <p:cNvSpPr txBox="1"/>
          <p:nvPr/>
        </p:nvSpPr>
        <p:spPr>
          <a:xfrm>
            <a:off x="4437888" y="5730240"/>
            <a:ext cx="2913888" cy="304800"/>
          </a:xfrm>
          <a:prstGeom prst="rect">
            <a:avLst/>
          </a:prstGeom>
          <a:noFill/>
        </p:spPr>
        <p:txBody>
          <a:bodyPr wrap="square" anchor="ctr" lIns="0" rIns="0" tIns="0" bIns="0">
            <a:spAutoFit/>
          </a:bodyPr>
          <a:lstStyle/>
          <a:p>
            <a:pPr algn="l"/>
            <a:r>
              <a:rPr sz="1000" b="0" i="0">
                <a:solidFill>
                  <a:srgbClr val="111111"/>
                </a:solidFill>
                <a:latin typeface="Arial"/>
              </a:rPr>
              <a:t>Quel téléviseur choisir pour regarder des films et jouer ?</a:t>
            </a:r>
          </a:p>
        </p:txBody>
      </p:sp>
      <p:sp>
        <p:nvSpPr>
          <p:cNvPr id="70" name="TextBox 69"/>
          <p:cNvSpPr txBox="1"/>
          <p:nvPr/>
        </p:nvSpPr>
        <p:spPr>
          <a:xfrm>
            <a:off x="8101584" y="3767328"/>
            <a:ext cx="2926080" cy="152400"/>
          </a:xfrm>
          <a:prstGeom prst="rect">
            <a:avLst/>
          </a:prstGeom>
          <a:noFill/>
        </p:spPr>
        <p:txBody>
          <a:bodyPr wrap="square" anchor="t" lIns="0" rIns="0" tIns="0" bIns="0">
            <a:spAutoFit/>
          </a:bodyPr>
          <a:lstStyle/>
          <a:p>
            <a:pPr algn="l"/>
            <a:r>
              <a:rPr sz="1300" b="1" i="0">
                <a:solidFill>
                  <a:srgbClr val="555B66"/>
                </a:solidFill>
                <a:latin typeface="Arial"/>
              </a:rPr>
              <a:t>CATÉGORIES DE PRODUITS</a:t>
            </a:r>
          </a:p>
        </p:txBody>
      </p:sp>
      <p:sp>
        <p:nvSpPr>
          <p:cNvPr id="71" name="TextBox 70"/>
          <p:cNvSpPr txBox="1"/>
          <p:nvPr/>
        </p:nvSpPr>
        <p:spPr>
          <a:xfrm>
            <a:off x="8101584" y="3992880"/>
            <a:ext cx="2926080" cy="121920"/>
          </a:xfrm>
          <a:prstGeom prst="rect">
            <a:avLst/>
          </a:prstGeom>
          <a:noFill/>
        </p:spPr>
        <p:txBody>
          <a:bodyPr wrap="square" anchor="t" lIns="0" rIns="0" tIns="0" bIns="0">
            <a:spAutoFit/>
          </a:bodyPr>
          <a:lstStyle/>
          <a:p>
            <a:pPr algn="l"/>
            <a:r>
              <a:rPr sz="1000" b="0" i="1">
                <a:solidFill>
                  <a:srgbClr val="8A93A6"/>
                </a:solidFill>
                <a:latin typeface="Arial"/>
              </a:rPr>
              <a:t>Répartition des requêtes</a:t>
            </a:r>
          </a:p>
        </p:txBody>
      </p:sp>
      <p:sp>
        <p:nvSpPr>
          <p:cNvPr id="72" name="TextBox 71"/>
          <p:cNvSpPr txBox="1"/>
          <p:nvPr/>
        </p:nvSpPr>
        <p:spPr>
          <a:xfrm>
            <a:off x="8101584" y="4267200"/>
            <a:ext cx="2194560" cy="134112"/>
          </a:xfrm>
          <a:prstGeom prst="rect">
            <a:avLst/>
          </a:prstGeom>
          <a:noFill/>
        </p:spPr>
        <p:txBody>
          <a:bodyPr wrap="square" anchor="t" lIns="0" rIns="0" tIns="0" bIns="0">
            <a:spAutoFit/>
          </a:bodyPr>
          <a:lstStyle/>
          <a:p>
            <a:pPr algn="l"/>
            <a:r>
              <a:rPr sz="1000" b="0" i="0">
                <a:solidFill>
                  <a:srgbClr val="111111"/>
                </a:solidFill>
                <a:latin typeface="Arial"/>
              </a:rPr>
              <a:t>Informatique et gaming</a:t>
            </a:r>
          </a:p>
        </p:txBody>
      </p:sp>
      <p:sp>
        <p:nvSpPr>
          <p:cNvPr id="73" name="Rectangle 72"/>
          <p:cNvSpPr/>
          <p:nvPr/>
        </p:nvSpPr>
        <p:spPr>
          <a:xfrm>
            <a:off x="8101584" y="4419600"/>
            <a:ext cx="2011680" cy="54864"/>
          </a:xfrm>
          <a:prstGeom prst="rect">
            <a:avLst/>
          </a:prstGeom>
          <a:solidFill>
            <a:srgbClr val="ECEAE5"/>
          </a:solidFill>
          <a:ln>
            <a:noFill/>
          </a:ln>
          <a:effectLst/>
        </p:spPr>
        <p:txBody>
          <a:bodyPr rtlCol="0" anchor="ctr"/>
          <a:lstStyle/>
          <a:p>
            <a:pPr algn="ctr"/>
          </a:p>
        </p:txBody>
      </p:sp>
      <p:sp>
        <p:nvSpPr>
          <p:cNvPr id="74" name="Rectangle 73"/>
          <p:cNvSpPr/>
          <p:nvPr/>
        </p:nvSpPr>
        <p:spPr>
          <a:xfrm>
            <a:off x="8101584" y="4419600"/>
            <a:ext cx="583387" cy="54864"/>
          </a:xfrm>
          <a:prstGeom prst="rect">
            <a:avLst/>
          </a:prstGeom>
          <a:solidFill>
            <a:srgbClr val="EE6A2C"/>
          </a:solidFill>
          <a:ln>
            <a:noFill/>
          </a:ln>
          <a:effectLst/>
        </p:spPr>
        <p:txBody>
          <a:bodyPr rtlCol="0" anchor="ctr"/>
          <a:lstStyle/>
          <a:p>
            <a:pPr algn="ctr"/>
          </a:p>
        </p:txBody>
      </p:sp>
      <p:sp>
        <p:nvSpPr>
          <p:cNvPr id="75" name="TextBox 74"/>
          <p:cNvSpPr txBox="1"/>
          <p:nvPr/>
        </p:nvSpPr>
        <p:spPr>
          <a:xfrm>
            <a:off x="10241280" y="4340352"/>
            <a:ext cx="792480" cy="182880"/>
          </a:xfrm>
          <a:prstGeom prst="rect">
            <a:avLst/>
          </a:prstGeom>
          <a:noFill/>
        </p:spPr>
        <p:txBody>
          <a:bodyPr wrap="square" anchor="ctr" lIns="0" rIns="0" tIns="0" bIns="0">
            <a:spAutoFit/>
          </a:bodyPr>
          <a:lstStyle/>
          <a:p>
            <a:pPr algn="r"/>
            <a:r>
              <a:rPr sz="1300" b="1" i="0">
                <a:solidFill>
                  <a:srgbClr val="111111"/>
                </a:solidFill>
                <a:latin typeface="Arial"/>
              </a:rPr>
              <a:t>29 %</a:t>
            </a:r>
          </a:p>
        </p:txBody>
      </p:sp>
      <p:sp>
        <p:nvSpPr>
          <p:cNvPr id="76" name="TextBox 75"/>
          <p:cNvSpPr txBox="1"/>
          <p:nvPr/>
        </p:nvSpPr>
        <p:spPr>
          <a:xfrm>
            <a:off x="8101584" y="4584192"/>
            <a:ext cx="2194560" cy="134112"/>
          </a:xfrm>
          <a:prstGeom prst="rect">
            <a:avLst/>
          </a:prstGeom>
          <a:noFill/>
        </p:spPr>
        <p:txBody>
          <a:bodyPr wrap="square" anchor="t" lIns="0" rIns="0" tIns="0" bIns="0">
            <a:spAutoFit/>
          </a:bodyPr>
          <a:lstStyle/>
          <a:p>
            <a:pPr algn="l"/>
            <a:r>
              <a:rPr sz="1000" b="0" i="0">
                <a:solidFill>
                  <a:srgbClr val="111111"/>
                </a:solidFill>
                <a:latin typeface="Arial"/>
              </a:rPr>
              <a:t>Téléphonie</a:t>
            </a:r>
          </a:p>
        </p:txBody>
      </p:sp>
      <p:sp>
        <p:nvSpPr>
          <p:cNvPr id="77" name="Rectangle 76"/>
          <p:cNvSpPr/>
          <p:nvPr/>
        </p:nvSpPr>
        <p:spPr>
          <a:xfrm>
            <a:off x="8101584" y="4736592"/>
            <a:ext cx="2011680" cy="54864"/>
          </a:xfrm>
          <a:prstGeom prst="rect">
            <a:avLst/>
          </a:prstGeom>
          <a:solidFill>
            <a:srgbClr val="ECEAE5"/>
          </a:solidFill>
          <a:ln>
            <a:noFill/>
          </a:ln>
          <a:effectLst/>
        </p:spPr>
        <p:txBody>
          <a:bodyPr rtlCol="0" anchor="ctr"/>
          <a:lstStyle/>
          <a:p>
            <a:pPr algn="ctr"/>
          </a:p>
        </p:txBody>
      </p:sp>
      <p:sp>
        <p:nvSpPr>
          <p:cNvPr id="78" name="Rectangle 77"/>
          <p:cNvSpPr/>
          <p:nvPr/>
        </p:nvSpPr>
        <p:spPr>
          <a:xfrm>
            <a:off x="8101584" y="4736592"/>
            <a:ext cx="382219" cy="54864"/>
          </a:xfrm>
          <a:prstGeom prst="rect">
            <a:avLst/>
          </a:prstGeom>
          <a:solidFill>
            <a:srgbClr val="9AA3B2"/>
          </a:solidFill>
          <a:ln>
            <a:noFill/>
          </a:ln>
          <a:effectLst/>
        </p:spPr>
        <p:txBody>
          <a:bodyPr rtlCol="0" anchor="ctr"/>
          <a:lstStyle/>
          <a:p>
            <a:pPr algn="ctr"/>
          </a:p>
        </p:txBody>
      </p:sp>
      <p:sp>
        <p:nvSpPr>
          <p:cNvPr id="79" name="TextBox 78"/>
          <p:cNvSpPr txBox="1"/>
          <p:nvPr/>
        </p:nvSpPr>
        <p:spPr>
          <a:xfrm>
            <a:off x="10241280" y="4657344"/>
            <a:ext cx="792480" cy="182880"/>
          </a:xfrm>
          <a:prstGeom prst="rect">
            <a:avLst/>
          </a:prstGeom>
          <a:noFill/>
        </p:spPr>
        <p:txBody>
          <a:bodyPr wrap="square" anchor="ctr" lIns="0" rIns="0" tIns="0" bIns="0">
            <a:spAutoFit/>
          </a:bodyPr>
          <a:lstStyle/>
          <a:p>
            <a:pPr algn="r"/>
            <a:r>
              <a:rPr sz="1300" b="1" i="0">
                <a:solidFill>
                  <a:srgbClr val="111111"/>
                </a:solidFill>
                <a:latin typeface="Arial"/>
              </a:rPr>
              <a:t>19 %</a:t>
            </a:r>
          </a:p>
        </p:txBody>
      </p:sp>
      <p:sp>
        <p:nvSpPr>
          <p:cNvPr id="80" name="TextBox 79"/>
          <p:cNvSpPr txBox="1"/>
          <p:nvPr/>
        </p:nvSpPr>
        <p:spPr>
          <a:xfrm>
            <a:off x="8101584" y="4901184"/>
            <a:ext cx="2194560" cy="134112"/>
          </a:xfrm>
          <a:prstGeom prst="rect">
            <a:avLst/>
          </a:prstGeom>
          <a:noFill/>
        </p:spPr>
        <p:txBody>
          <a:bodyPr wrap="square" anchor="t" lIns="0" rIns="0" tIns="0" bIns="0">
            <a:spAutoFit/>
          </a:bodyPr>
          <a:lstStyle/>
          <a:p>
            <a:pPr algn="l"/>
            <a:r>
              <a:rPr sz="1000" b="0" i="0">
                <a:solidFill>
                  <a:srgbClr val="111111"/>
                </a:solidFill>
                <a:latin typeface="Arial"/>
              </a:rPr>
              <a:t>Image et son</a:t>
            </a:r>
          </a:p>
        </p:txBody>
      </p:sp>
      <p:sp>
        <p:nvSpPr>
          <p:cNvPr id="81" name="Rectangle 80"/>
          <p:cNvSpPr/>
          <p:nvPr/>
        </p:nvSpPr>
        <p:spPr>
          <a:xfrm>
            <a:off x="8101584" y="5053584"/>
            <a:ext cx="2011680" cy="54864"/>
          </a:xfrm>
          <a:prstGeom prst="rect">
            <a:avLst/>
          </a:prstGeom>
          <a:solidFill>
            <a:srgbClr val="ECEAE5"/>
          </a:solidFill>
          <a:ln>
            <a:noFill/>
          </a:ln>
          <a:effectLst/>
        </p:spPr>
        <p:txBody>
          <a:bodyPr rtlCol="0" anchor="ctr"/>
          <a:lstStyle/>
          <a:p>
            <a:pPr algn="ctr"/>
          </a:p>
        </p:txBody>
      </p:sp>
      <p:sp>
        <p:nvSpPr>
          <p:cNvPr id="82" name="Rectangle 81"/>
          <p:cNvSpPr/>
          <p:nvPr/>
        </p:nvSpPr>
        <p:spPr>
          <a:xfrm>
            <a:off x="8101584" y="5053584"/>
            <a:ext cx="362102" cy="54864"/>
          </a:xfrm>
          <a:prstGeom prst="rect">
            <a:avLst/>
          </a:prstGeom>
          <a:solidFill>
            <a:srgbClr val="9AA3B2"/>
          </a:solidFill>
          <a:ln>
            <a:noFill/>
          </a:ln>
          <a:effectLst/>
        </p:spPr>
        <p:txBody>
          <a:bodyPr rtlCol="0" anchor="ctr"/>
          <a:lstStyle/>
          <a:p>
            <a:pPr algn="ctr"/>
          </a:p>
        </p:txBody>
      </p:sp>
      <p:sp>
        <p:nvSpPr>
          <p:cNvPr id="83" name="TextBox 82"/>
          <p:cNvSpPr txBox="1"/>
          <p:nvPr/>
        </p:nvSpPr>
        <p:spPr>
          <a:xfrm>
            <a:off x="10241280" y="4974336"/>
            <a:ext cx="792480" cy="182880"/>
          </a:xfrm>
          <a:prstGeom prst="rect">
            <a:avLst/>
          </a:prstGeom>
          <a:noFill/>
        </p:spPr>
        <p:txBody>
          <a:bodyPr wrap="square" anchor="ctr" lIns="0" rIns="0" tIns="0" bIns="0">
            <a:spAutoFit/>
          </a:bodyPr>
          <a:lstStyle/>
          <a:p>
            <a:pPr algn="r"/>
            <a:r>
              <a:rPr sz="1300" b="1" i="0">
                <a:solidFill>
                  <a:srgbClr val="111111"/>
                </a:solidFill>
                <a:latin typeface="Arial"/>
              </a:rPr>
              <a:t>18 %</a:t>
            </a:r>
          </a:p>
        </p:txBody>
      </p:sp>
      <p:sp>
        <p:nvSpPr>
          <p:cNvPr id="84" name="TextBox 83"/>
          <p:cNvSpPr txBox="1"/>
          <p:nvPr/>
        </p:nvSpPr>
        <p:spPr>
          <a:xfrm>
            <a:off x="8101584" y="5218176"/>
            <a:ext cx="2194560" cy="134112"/>
          </a:xfrm>
          <a:prstGeom prst="rect">
            <a:avLst/>
          </a:prstGeom>
          <a:noFill/>
        </p:spPr>
        <p:txBody>
          <a:bodyPr wrap="square" anchor="t" lIns="0" rIns="0" tIns="0" bIns="0">
            <a:spAutoFit/>
          </a:bodyPr>
          <a:lstStyle/>
          <a:p>
            <a:pPr algn="l"/>
            <a:r>
              <a:rPr sz="1000" b="0" i="0">
                <a:solidFill>
                  <a:srgbClr val="111111"/>
                </a:solidFill>
                <a:latin typeface="Arial"/>
              </a:rPr>
              <a:t>Gros électroménager</a:t>
            </a:r>
          </a:p>
        </p:txBody>
      </p:sp>
      <p:sp>
        <p:nvSpPr>
          <p:cNvPr id="85" name="Rectangle 84"/>
          <p:cNvSpPr/>
          <p:nvPr/>
        </p:nvSpPr>
        <p:spPr>
          <a:xfrm>
            <a:off x="8101584" y="5370576"/>
            <a:ext cx="2011680" cy="54864"/>
          </a:xfrm>
          <a:prstGeom prst="rect">
            <a:avLst/>
          </a:prstGeom>
          <a:solidFill>
            <a:srgbClr val="ECEAE5"/>
          </a:solidFill>
          <a:ln>
            <a:noFill/>
          </a:ln>
          <a:effectLst/>
        </p:spPr>
        <p:txBody>
          <a:bodyPr rtlCol="0" anchor="ctr"/>
          <a:lstStyle/>
          <a:p>
            <a:pPr algn="ctr"/>
          </a:p>
        </p:txBody>
      </p:sp>
      <p:sp>
        <p:nvSpPr>
          <p:cNvPr id="86" name="Rectangle 85"/>
          <p:cNvSpPr/>
          <p:nvPr/>
        </p:nvSpPr>
        <p:spPr>
          <a:xfrm>
            <a:off x="8101584" y="5370576"/>
            <a:ext cx="341985" cy="54864"/>
          </a:xfrm>
          <a:prstGeom prst="rect">
            <a:avLst/>
          </a:prstGeom>
          <a:solidFill>
            <a:srgbClr val="9AA3B2"/>
          </a:solidFill>
          <a:ln>
            <a:noFill/>
          </a:ln>
          <a:effectLst/>
        </p:spPr>
        <p:txBody>
          <a:bodyPr rtlCol="0" anchor="ctr"/>
          <a:lstStyle/>
          <a:p>
            <a:pPr algn="ctr"/>
          </a:p>
        </p:txBody>
      </p:sp>
      <p:sp>
        <p:nvSpPr>
          <p:cNvPr id="87" name="TextBox 86"/>
          <p:cNvSpPr txBox="1"/>
          <p:nvPr/>
        </p:nvSpPr>
        <p:spPr>
          <a:xfrm>
            <a:off x="10241280" y="5291328"/>
            <a:ext cx="792480" cy="182880"/>
          </a:xfrm>
          <a:prstGeom prst="rect">
            <a:avLst/>
          </a:prstGeom>
          <a:noFill/>
        </p:spPr>
        <p:txBody>
          <a:bodyPr wrap="square" anchor="ctr" lIns="0" rIns="0" tIns="0" bIns="0">
            <a:spAutoFit/>
          </a:bodyPr>
          <a:lstStyle/>
          <a:p>
            <a:pPr algn="r"/>
            <a:r>
              <a:rPr sz="1300" b="1" i="0">
                <a:solidFill>
                  <a:srgbClr val="111111"/>
                </a:solidFill>
                <a:latin typeface="Arial"/>
              </a:rPr>
              <a:t>17 %</a:t>
            </a:r>
          </a:p>
        </p:txBody>
      </p:sp>
      <p:sp>
        <p:nvSpPr>
          <p:cNvPr id="88" name="TextBox 87"/>
          <p:cNvSpPr txBox="1"/>
          <p:nvPr/>
        </p:nvSpPr>
        <p:spPr>
          <a:xfrm>
            <a:off x="8101584" y="5535168"/>
            <a:ext cx="2194560" cy="134112"/>
          </a:xfrm>
          <a:prstGeom prst="rect">
            <a:avLst/>
          </a:prstGeom>
          <a:noFill/>
        </p:spPr>
        <p:txBody>
          <a:bodyPr wrap="square" anchor="t" lIns="0" rIns="0" tIns="0" bIns="0">
            <a:spAutoFit/>
          </a:bodyPr>
          <a:lstStyle/>
          <a:p>
            <a:pPr algn="l"/>
            <a:r>
              <a:rPr sz="1000" b="0" i="0">
                <a:solidFill>
                  <a:srgbClr val="111111"/>
                </a:solidFill>
                <a:latin typeface="Arial"/>
              </a:rPr>
              <a:t>Petit électroménager</a:t>
            </a:r>
          </a:p>
        </p:txBody>
      </p:sp>
      <p:sp>
        <p:nvSpPr>
          <p:cNvPr id="89" name="Rectangle 88"/>
          <p:cNvSpPr/>
          <p:nvPr/>
        </p:nvSpPr>
        <p:spPr>
          <a:xfrm>
            <a:off x="8101584" y="5687568"/>
            <a:ext cx="2011680" cy="54864"/>
          </a:xfrm>
          <a:prstGeom prst="rect">
            <a:avLst/>
          </a:prstGeom>
          <a:solidFill>
            <a:srgbClr val="ECEAE5"/>
          </a:solidFill>
          <a:ln>
            <a:noFill/>
          </a:ln>
          <a:effectLst/>
        </p:spPr>
        <p:txBody>
          <a:bodyPr rtlCol="0" anchor="ctr"/>
          <a:lstStyle/>
          <a:p>
            <a:pPr algn="ctr"/>
          </a:p>
        </p:txBody>
      </p:sp>
      <p:sp>
        <p:nvSpPr>
          <p:cNvPr id="90" name="Rectangle 89"/>
          <p:cNvSpPr/>
          <p:nvPr/>
        </p:nvSpPr>
        <p:spPr>
          <a:xfrm>
            <a:off x="8101584" y="5687568"/>
            <a:ext cx="341985" cy="54864"/>
          </a:xfrm>
          <a:prstGeom prst="rect">
            <a:avLst/>
          </a:prstGeom>
          <a:solidFill>
            <a:srgbClr val="9AA3B2"/>
          </a:solidFill>
          <a:ln>
            <a:noFill/>
          </a:ln>
          <a:effectLst/>
        </p:spPr>
        <p:txBody>
          <a:bodyPr rtlCol="0" anchor="ctr"/>
          <a:lstStyle/>
          <a:p>
            <a:pPr algn="ctr"/>
          </a:p>
        </p:txBody>
      </p:sp>
      <p:sp>
        <p:nvSpPr>
          <p:cNvPr id="91" name="TextBox 90"/>
          <p:cNvSpPr txBox="1"/>
          <p:nvPr/>
        </p:nvSpPr>
        <p:spPr>
          <a:xfrm>
            <a:off x="10241280" y="5608320"/>
            <a:ext cx="792480" cy="182880"/>
          </a:xfrm>
          <a:prstGeom prst="rect">
            <a:avLst/>
          </a:prstGeom>
          <a:noFill/>
        </p:spPr>
        <p:txBody>
          <a:bodyPr wrap="square" anchor="ctr" lIns="0" rIns="0" tIns="0" bIns="0">
            <a:spAutoFit/>
          </a:bodyPr>
          <a:lstStyle/>
          <a:p>
            <a:pPr algn="r"/>
            <a:r>
              <a:rPr sz="1300" b="1" i="0">
                <a:solidFill>
                  <a:srgbClr val="111111"/>
                </a:solidFill>
                <a:latin typeface="Arial"/>
              </a:rPr>
              <a:t>17 %</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6F2"/>
          </a:solidFill>
          <a:ln>
            <a:noFill/>
          </a:ln>
          <a:effectLst/>
        </p:spPr>
        <p:txBody>
          <a:bodyPr rtlCol="0" anchor="ctr"/>
          <a:lstStyle/>
          <a:p>
            <a:pPr algn="ctr"/>
          </a:p>
        </p:txBody>
      </p:sp>
      <p:sp>
        <p:nvSpPr>
          <p:cNvPr id="3" name="TextBox 2"/>
          <p:cNvSpPr txBox="1"/>
          <p:nvPr/>
        </p:nvSpPr>
        <p:spPr>
          <a:xfrm>
            <a:off x="579120" y="426720"/>
            <a:ext cx="7315200" cy="182880"/>
          </a:xfrm>
          <a:prstGeom prst="rect">
            <a:avLst/>
          </a:prstGeom>
          <a:noFill/>
        </p:spPr>
        <p:txBody>
          <a:bodyPr wrap="square" anchor="t" lIns="0" rIns="0" tIns="0" bIns="0">
            <a:spAutoFit/>
          </a:bodyPr>
          <a:lstStyle/>
          <a:p>
            <a:pPr algn="l"/>
            <a:r>
              <a:rPr sz="1300" b="1" i="0">
                <a:solidFill>
                  <a:srgbClr val="EE6A2C"/>
                </a:solidFill>
                <a:latin typeface="Arial"/>
              </a:rPr>
              <a:t>INSIGHTS QUALITATIFS · SEPTEMBRE 2026</a:t>
            </a:r>
          </a:p>
        </p:txBody>
      </p:sp>
      <p:sp>
        <p:nvSpPr>
          <p:cNvPr id="4" name="TextBox 3"/>
          <p:cNvSpPr txBox="1"/>
          <p:nvPr/>
        </p:nvSpPr>
        <p:spPr>
          <a:xfrm>
            <a:off x="579120" y="609600"/>
            <a:ext cx="7315200" cy="487680"/>
          </a:xfrm>
          <a:prstGeom prst="rect">
            <a:avLst/>
          </a:prstGeom>
          <a:noFill/>
        </p:spPr>
        <p:txBody>
          <a:bodyPr wrap="square" anchor="t" lIns="0" rIns="0" tIns="0" bIns="0">
            <a:spAutoFit/>
          </a:bodyPr>
          <a:lstStyle/>
          <a:p>
            <a:pPr algn="l"/>
            <a:r>
              <a:rPr sz="3600" b="1" i="0">
                <a:solidFill>
                  <a:srgbClr val="111111"/>
                </a:solidFill>
                <a:latin typeface="Arial"/>
              </a:rPr>
              <a:t>Boulanger</a:t>
            </a:r>
          </a:p>
        </p:txBody>
      </p:sp>
      <p:sp>
        <p:nvSpPr>
          <p:cNvPr id="5" name="TextBox 4"/>
          <p:cNvSpPr txBox="1"/>
          <p:nvPr/>
        </p:nvSpPr>
        <p:spPr>
          <a:xfrm>
            <a:off x="9144000" y="499872"/>
            <a:ext cx="1889760" cy="182880"/>
          </a:xfrm>
          <a:prstGeom prst="rect">
            <a:avLst/>
          </a:prstGeom>
          <a:noFill/>
        </p:spPr>
        <p:txBody>
          <a:bodyPr wrap="square" anchor="t" lIns="0" rIns="0" tIns="0" bIns="0">
            <a:spAutoFit/>
          </a:bodyPr>
          <a:lstStyle/>
          <a:p>
            <a:pPr algn="r"/>
            <a:r>
              <a:rPr sz="1500" b="1" i="0">
                <a:solidFill>
                  <a:srgbClr val="111111"/>
                </a:solidFill>
                <a:latin typeface="Arial"/>
              </a:rPr>
              <a:t>Lemrock</a:t>
            </a:r>
          </a:p>
        </p:txBody>
      </p:sp>
      <p:sp>
        <p:nvSpPr>
          <p:cNvPr id="6" name="TextBox 5"/>
          <p:cNvSpPr txBox="1"/>
          <p:nvPr/>
        </p:nvSpPr>
        <p:spPr>
          <a:xfrm>
            <a:off x="579120" y="1219200"/>
            <a:ext cx="9144000" cy="182880"/>
          </a:xfrm>
          <a:prstGeom prst="rect">
            <a:avLst/>
          </a:prstGeom>
          <a:noFill/>
        </p:spPr>
        <p:txBody>
          <a:bodyPr wrap="square" anchor="t" lIns="0" rIns="0" tIns="0" bIns="0">
            <a:spAutoFit/>
          </a:bodyPr>
          <a:lstStyle/>
          <a:p>
            <a:pPr algn="l"/>
            <a:r>
              <a:rPr sz="1300" b="1" i="0">
                <a:solidFill>
                  <a:srgbClr val="EE6A2C"/>
                </a:solidFill>
                <a:latin typeface="Arial"/>
              </a:rPr>
              <a:t>OBJECTIF   </a:t>
            </a:r>
            <a:r>
              <a:rPr sz="1300" b="0" i="0">
                <a:solidFill>
                  <a:srgbClr val="111111"/>
                </a:solidFill>
                <a:latin typeface="Arial"/>
              </a:rPr>
              <a:t>Amener sur boulanger.com des visiteurs en intention d'achat (budget 10 000 € / mois).</a:t>
            </a:r>
          </a:p>
        </p:txBody>
      </p:sp>
      <p:sp>
        <p:nvSpPr>
          <p:cNvPr id="7" name="TextBox 6"/>
          <p:cNvSpPr txBox="1"/>
          <p:nvPr/>
        </p:nvSpPr>
        <p:spPr>
          <a:xfrm>
            <a:off x="579120" y="1524000"/>
            <a:ext cx="4876800" cy="182880"/>
          </a:xfrm>
          <a:prstGeom prst="rect">
            <a:avLst/>
          </a:prstGeom>
          <a:noFill/>
        </p:spPr>
        <p:txBody>
          <a:bodyPr wrap="square" anchor="t" lIns="0" rIns="0" tIns="0" bIns="0">
            <a:spAutoFit/>
          </a:bodyPr>
          <a:lstStyle/>
          <a:p>
            <a:pPr algn="l"/>
            <a:r>
              <a:rPr sz="1400" b="1" i="0">
                <a:solidFill>
                  <a:srgbClr val="555B66"/>
                </a:solidFill>
                <a:latin typeface="Arial"/>
              </a:rPr>
              <a:t>INSIGHTS QUALITATIFS</a:t>
            </a:r>
          </a:p>
        </p:txBody>
      </p:sp>
      <p:sp>
        <p:nvSpPr>
          <p:cNvPr id="8" name="Rectangle 7"/>
          <p:cNvSpPr/>
          <p:nvPr/>
        </p:nvSpPr>
        <p:spPr>
          <a:xfrm>
            <a:off x="579120" y="1816608"/>
            <a:ext cx="5071872" cy="2121408"/>
          </a:xfrm>
          <a:prstGeom prst="rect">
            <a:avLst/>
          </a:prstGeom>
          <a:solidFill>
            <a:srgbClr val="FFFFFF"/>
          </a:solidFill>
          <a:ln>
            <a:noFill/>
          </a:ln>
          <a:effectLst/>
        </p:spPr>
        <p:txBody>
          <a:bodyPr rtlCol="0" anchor="ctr"/>
          <a:lstStyle/>
          <a:p>
            <a:pPr algn="ctr"/>
          </a:p>
        </p:txBody>
      </p:sp>
      <p:sp>
        <p:nvSpPr>
          <p:cNvPr id="9" name="TextBox 8"/>
          <p:cNvSpPr txBox="1"/>
          <p:nvPr/>
        </p:nvSpPr>
        <p:spPr>
          <a:xfrm>
            <a:off x="835152" y="2029968"/>
            <a:ext cx="487680" cy="243840"/>
          </a:xfrm>
          <a:prstGeom prst="rect">
            <a:avLst/>
          </a:prstGeom>
          <a:noFill/>
        </p:spPr>
        <p:txBody>
          <a:bodyPr wrap="square" anchor="t" lIns="0" rIns="0" tIns="0" bIns="0">
            <a:spAutoFit/>
          </a:bodyPr>
          <a:lstStyle/>
          <a:p>
            <a:pPr algn="l"/>
            <a:r>
              <a:rPr sz="2000" b="1" i="0">
                <a:solidFill>
                  <a:srgbClr val="EE6A2C"/>
                </a:solidFill>
                <a:latin typeface="Arial"/>
              </a:rPr>
              <a:t>01</a:t>
            </a:r>
          </a:p>
        </p:txBody>
      </p:sp>
      <p:sp>
        <p:nvSpPr>
          <p:cNvPr id="10" name="TextBox 9"/>
          <p:cNvSpPr txBox="1"/>
          <p:nvPr/>
        </p:nvSpPr>
        <p:spPr>
          <a:xfrm>
            <a:off x="1383792" y="2048256"/>
            <a:ext cx="4023360" cy="365760"/>
          </a:xfrm>
          <a:prstGeom prst="rect">
            <a:avLst/>
          </a:prstGeom>
          <a:noFill/>
        </p:spPr>
        <p:txBody>
          <a:bodyPr wrap="square" anchor="t" lIns="0" rIns="0" tIns="0" bIns="0">
            <a:spAutoFit/>
          </a:bodyPr>
          <a:lstStyle/>
          <a:p>
            <a:pPr algn="l"/>
            <a:r>
              <a:rPr sz="1400" b="1" i="0">
                <a:solidFill>
                  <a:srgbClr val="111111"/>
                </a:solidFill>
                <a:latin typeface="Arial"/>
              </a:rPr>
              <a:t>Faire du smartphone la priorité de visibilité</a:t>
            </a:r>
          </a:p>
        </p:txBody>
      </p:sp>
      <p:sp>
        <p:nvSpPr>
          <p:cNvPr id="11" name="TextBox 10"/>
          <p:cNvSpPr txBox="1"/>
          <p:nvPr/>
        </p:nvSpPr>
        <p:spPr>
          <a:xfrm>
            <a:off x="835152" y="2609088"/>
            <a:ext cx="4572000" cy="731520"/>
          </a:xfrm>
          <a:prstGeom prst="rect">
            <a:avLst/>
          </a:prstGeom>
          <a:noFill/>
        </p:spPr>
        <p:txBody>
          <a:bodyPr wrap="square" anchor="t" lIns="0" rIns="0" tIns="0" bIns="0">
            <a:spAutoFit/>
          </a:bodyPr>
          <a:lstStyle/>
          <a:p>
            <a:pPr algn="l"/>
            <a:r>
              <a:rPr sz="1100" b="0" i="0">
                <a:solidFill>
                  <a:srgbClr val="555B66"/>
                </a:solidFill>
                <a:latin typeface="Arial"/>
              </a:rPr>
              <a:t>Le smartphone est la première intention d'achat (6,1 % des conversations). Côté annonces, l'iPhone 17 (1,16 fois le CTR moyen) et les iPhone reconditionnés (1,10 fois) tirent la catégorie.</a:t>
            </a:r>
          </a:p>
        </p:txBody>
      </p:sp>
      <p:sp>
        <p:nvSpPr>
          <p:cNvPr id="12" name="TextBox 11"/>
          <p:cNvSpPr txBox="1"/>
          <p:nvPr/>
        </p:nvSpPr>
        <p:spPr>
          <a:xfrm>
            <a:off x="835152" y="3310128"/>
            <a:ext cx="4572000" cy="487680"/>
          </a:xfrm>
          <a:prstGeom prst="rect">
            <a:avLst/>
          </a:prstGeom>
          <a:noFill/>
        </p:spPr>
        <p:txBody>
          <a:bodyPr wrap="square" anchor="t" lIns="0" rIns="0" tIns="0" bIns="0">
            <a:spAutoFit/>
          </a:bodyPr>
          <a:lstStyle/>
          <a:p>
            <a:pPr algn="l"/>
            <a:r>
              <a:rPr sz="900" b="1" i="0">
                <a:solidFill>
                  <a:srgbClr val="555B66"/>
                </a:solidFill>
                <a:latin typeface="Arial"/>
              </a:rPr>
              <a:t>→  Construire avec vous le plan de visibilité smartphone 2027 : références, ad groups et budget.</a:t>
            </a:r>
          </a:p>
        </p:txBody>
      </p:sp>
      <p:sp>
        <p:nvSpPr>
          <p:cNvPr id="13" name="Rectangle 12"/>
          <p:cNvSpPr/>
          <p:nvPr/>
        </p:nvSpPr>
        <p:spPr>
          <a:xfrm>
            <a:off x="5992368" y="1816608"/>
            <a:ext cx="5071872" cy="2121408"/>
          </a:xfrm>
          <a:prstGeom prst="rect">
            <a:avLst/>
          </a:prstGeom>
          <a:solidFill>
            <a:srgbClr val="FFFFFF"/>
          </a:solidFill>
          <a:ln>
            <a:noFill/>
          </a:ln>
          <a:effectLst/>
        </p:spPr>
        <p:txBody>
          <a:bodyPr rtlCol="0" anchor="ctr"/>
          <a:lstStyle/>
          <a:p>
            <a:pPr algn="ctr"/>
          </a:p>
        </p:txBody>
      </p:sp>
      <p:sp>
        <p:nvSpPr>
          <p:cNvPr id="14" name="TextBox 13"/>
          <p:cNvSpPr txBox="1"/>
          <p:nvPr/>
        </p:nvSpPr>
        <p:spPr>
          <a:xfrm>
            <a:off x="6248400" y="2029968"/>
            <a:ext cx="487680" cy="243840"/>
          </a:xfrm>
          <a:prstGeom prst="rect">
            <a:avLst/>
          </a:prstGeom>
          <a:noFill/>
        </p:spPr>
        <p:txBody>
          <a:bodyPr wrap="square" anchor="t" lIns="0" rIns="0" tIns="0" bIns="0">
            <a:spAutoFit/>
          </a:bodyPr>
          <a:lstStyle/>
          <a:p>
            <a:pPr algn="l"/>
            <a:r>
              <a:rPr sz="2000" b="1" i="0">
                <a:solidFill>
                  <a:srgbClr val="EE6A2C"/>
                </a:solidFill>
                <a:latin typeface="Arial"/>
              </a:rPr>
              <a:t>02</a:t>
            </a:r>
          </a:p>
        </p:txBody>
      </p:sp>
      <p:sp>
        <p:nvSpPr>
          <p:cNvPr id="15" name="TextBox 14"/>
          <p:cNvSpPr txBox="1"/>
          <p:nvPr/>
        </p:nvSpPr>
        <p:spPr>
          <a:xfrm>
            <a:off x="6797040" y="2048256"/>
            <a:ext cx="4023360" cy="365760"/>
          </a:xfrm>
          <a:prstGeom prst="rect">
            <a:avLst/>
          </a:prstGeom>
          <a:noFill/>
        </p:spPr>
        <p:txBody>
          <a:bodyPr wrap="square" anchor="t" lIns="0" rIns="0" tIns="0" bIns="0">
            <a:spAutoFit/>
          </a:bodyPr>
          <a:lstStyle/>
          <a:p>
            <a:pPr algn="l"/>
            <a:r>
              <a:rPr sz="1400" b="1" i="0">
                <a:solidFill>
                  <a:srgbClr val="111111"/>
                </a:solidFill>
                <a:latin typeface="Arial"/>
              </a:rPr>
              <a:t>Resserrer la sélection sur les intentions les plus demandées</a:t>
            </a:r>
          </a:p>
        </p:txBody>
      </p:sp>
      <p:sp>
        <p:nvSpPr>
          <p:cNvPr id="16" name="TextBox 15"/>
          <p:cNvSpPr txBox="1"/>
          <p:nvPr/>
        </p:nvSpPr>
        <p:spPr>
          <a:xfrm>
            <a:off x="6248400" y="2609088"/>
            <a:ext cx="4572000" cy="731520"/>
          </a:xfrm>
          <a:prstGeom prst="rect">
            <a:avLst/>
          </a:prstGeom>
          <a:noFill/>
        </p:spPr>
        <p:txBody>
          <a:bodyPr wrap="square" anchor="t" lIns="0" rIns="0" tIns="0" bIns="0">
            <a:spAutoFit/>
          </a:bodyPr>
          <a:lstStyle/>
          <a:p>
            <a:pPr algn="l"/>
            <a:r>
              <a:rPr sz="1100" b="0" i="0">
                <a:solidFill>
                  <a:srgbClr val="555B66"/>
                </a:solidFill>
                <a:latin typeface="Arial"/>
              </a:rPr>
              <a:t>Smartphone, casque et écouteurs, enceinte portable : ces trois intentions pèsent plus de 16 % des conversations. Les annonces enceintes et barres de son restent pourtant à 0,56 fois le CTR moyen.</a:t>
            </a:r>
          </a:p>
        </p:txBody>
      </p:sp>
      <p:sp>
        <p:nvSpPr>
          <p:cNvPr id="17" name="TextBox 16"/>
          <p:cNvSpPr txBox="1"/>
          <p:nvPr/>
        </p:nvSpPr>
        <p:spPr>
          <a:xfrm>
            <a:off x="6248400" y="3310128"/>
            <a:ext cx="4572000" cy="487680"/>
          </a:xfrm>
          <a:prstGeom prst="rect">
            <a:avLst/>
          </a:prstGeom>
          <a:noFill/>
        </p:spPr>
        <p:txBody>
          <a:bodyPr wrap="square" anchor="t" lIns="0" rIns="0" tIns="0" bIns="0">
            <a:spAutoFit/>
          </a:bodyPr>
          <a:lstStyle/>
          <a:p>
            <a:pPr algn="l"/>
            <a:r>
              <a:rPr sz="900" b="1" i="0">
                <a:solidFill>
                  <a:srgbClr val="555B66"/>
                </a:solidFill>
                <a:latin typeface="Arial"/>
              </a:rPr>
              <a:t>→  Pousser sur ces intentions une sélection resserrée de vos produits phares, à mesurer contre le périmètre actuel.</a:t>
            </a:r>
          </a:p>
        </p:txBody>
      </p:sp>
      <p:sp>
        <p:nvSpPr>
          <p:cNvPr id="18" name="Rectangle 17"/>
          <p:cNvSpPr/>
          <p:nvPr/>
        </p:nvSpPr>
        <p:spPr>
          <a:xfrm>
            <a:off x="579120" y="4133088"/>
            <a:ext cx="5071872" cy="2121408"/>
          </a:xfrm>
          <a:prstGeom prst="rect">
            <a:avLst/>
          </a:prstGeom>
          <a:solidFill>
            <a:srgbClr val="FFFFFF"/>
          </a:solidFill>
          <a:ln>
            <a:noFill/>
          </a:ln>
          <a:effectLst/>
        </p:spPr>
        <p:txBody>
          <a:bodyPr rtlCol="0" anchor="ctr"/>
          <a:lstStyle/>
          <a:p>
            <a:pPr algn="ctr"/>
          </a:p>
        </p:txBody>
      </p:sp>
      <p:sp>
        <p:nvSpPr>
          <p:cNvPr id="19" name="TextBox 18"/>
          <p:cNvSpPr txBox="1"/>
          <p:nvPr/>
        </p:nvSpPr>
        <p:spPr>
          <a:xfrm>
            <a:off x="835152" y="4346448"/>
            <a:ext cx="487680" cy="243840"/>
          </a:xfrm>
          <a:prstGeom prst="rect">
            <a:avLst/>
          </a:prstGeom>
          <a:noFill/>
        </p:spPr>
        <p:txBody>
          <a:bodyPr wrap="square" anchor="t" lIns="0" rIns="0" tIns="0" bIns="0">
            <a:spAutoFit/>
          </a:bodyPr>
          <a:lstStyle/>
          <a:p>
            <a:pPr algn="l"/>
            <a:r>
              <a:rPr sz="2000" b="1" i="0">
                <a:solidFill>
                  <a:srgbClr val="EE6A2C"/>
                </a:solidFill>
                <a:latin typeface="Arial"/>
              </a:rPr>
              <a:t>03</a:t>
            </a:r>
          </a:p>
        </p:txBody>
      </p:sp>
      <p:sp>
        <p:nvSpPr>
          <p:cNvPr id="20" name="TextBox 19"/>
          <p:cNvSpPr txBox="1"/>
          <p:nvPr/>
        </p:nvSpPr>
        <p:spPr>
          <a:xfrm>
            <a:off x="1383792" y="4364736"/>
            <a:ext cx="4023360" cy="365760"/>
          </a:xfrm>
          <a:prstGeom prst="rect">
            <a:avLst/>
          </a:prstGeom>
          <a:noFill/>
        </p:spPr>
        <p:txBody>
          <a:bodyPr wrap="square" anchor="t" lIns="0" rIns="0" tIns="0" bIns="0">
            <a:spAutoFit/>
          </a:bodyPr>
          <a:lstStyle/>
          <a:p>
            <a:pPr algn="l"/>
            <a:r>
              <a:rPr sz="1400" b="1" i="0">
                <a:solidFill>
                  <a:srgbClr val="111111"/>
                </a:solidFill>
                <a:latin typeface="Arial"/>
              </a:rPr>
              <a:t>Vendre le son par l'usage et le cadeau</a:t>
            </a:r>
          </a:p>
        </p:txBody>
      </p:sp>
      <p:sp>
        <p:nvSpPr>
          <p:cNvPr id="21" name="TextBox 20"/>
          <p:cNvSpPr txBox="1"/>
          <p:nvPr/>
        </p:nvSpPr>
        <p:spPr>
          <a:xfrm>
            <a:off x="835152" y="4925568"/>
            <a:ext cx="4572000" cy="731520"/>
          </a:xfrm>
          <a:prstGeom prst="rect">
            <a:avLst/>
          </a:prstGeom>
          <a:noFill/>
        </p:spPr>
        <p:txBody>
          <a:bodyPr wrap="square" anchor="t" lIns="0" rIns="0" tIns="0" bIns="0">
            <a:spAutoFit/>
          </a:bodyPr>
          <a:lstStyle/>
          <a:p>
            <a:pPr algn="l"/>
            <a:r>
              <a:rPr sz="1100" b="0" i="0">
                <a:solidFill>
                  <a:srgbClr val="555B66"/>
                </a:solidFill>
                <a:latin typeface="Arial"/>
              </a:rPr>
              <a:t>« Quelle enceinte portable offrir ? », « Quels écouteurs pour le sport ? » : l'audience part d'un usage ou d'un cadeau, pas d'une référence.</a:t>
            </a:r>
          </a:p>
        </p:txBody>
      </p:sp>
      <p:sp>
        <p:nvSpPr>
          <p:cNvPr id="22" name="TextBox 21"/>
          <p:cNvSpPr txBox="1"/>
          <p:nvPr/>
        </p:nvSpPr>
        <p:spPr>
          <a:xfrm>
            <a:off x="835152" y="5626608"/>
            <a:ext cx="4572000" cy="487680"/>
          </a:xfrm>
          <a:prstGeom prst="rect">
            <a:avLst/>
          </a:prstGeom>
          <a:noFill/>
        </p:spPr>
        <p:txBody>
          <a:bodyPr wrap="square" anchor="t" lIns="0" rIns="0" tIns="0" bIns="0">
            <a:spAutoFit/>
          </a:bodyPr>
          <a:lstStyle/>
          <a:p>
            <a:pPr algn="l"/>
            <a:r>
              <a:rPr sz="900" b="1" i="0">
                <a:solidFill>
                  <a:srgbClr val="555B66"/>
                </a:solidFill>
                <a:latin typeface="Arial"/>
              </a:rPr>
              <a:t>→  Présenter casques et enceintes par usage (sport, soirée, salon) et comme idée cadeau à l'approche de Noël.</a:t>
            </a:r>
          </a:p>
        </p:txBody>
      </p:sp>
      <p:sp>
        <p:nvSpPr>
          <p:cNvPr id="23" name="Rectangle 22"/>
          <p:cNvSpPr/>
          <p:nvPr/>
        </p:nvSpPr>
        <p:spPr>
          <a:xfrm>
            <a:off x="5992368" y="4133088"/>
            <a:ext cx="5071872" cy="2121408"/>
          </a:xfrm>
          <a:prstGeom prst="rect">
            <a:avLst/>
          </a:prstGeom>
          <a:solidFill>
            <a:srgbClr val="FFFFFF"/>
          </a:solidFill>
          <a:ln>
            <a:noFill/>
          </a:ln>
          <a:effectLst/>
        </p:spPr>
        <p:txBody>
          <a:bodyPr rtlCol="0" anchor="ctr"/>
          <a:lstStyle/>
          <a:p>
            <a:pPr algn="ctr"/>
          </a:p>
        </p:txBody>
      </p:sp>
      <p:sp>
        <p:nvSpPr>
          <p:cNvPr id="24" name="TextBox 23"/>
          <p:cNvSpPr txBox="1"/>
          <p:nvPr/>
        </p:nvSpPr>
        <p:spPr>
          <a:xfrm>
            <a:off x="6248400" y="4346448"/>
            <a:ext cx="487680" cy="243840"/>
          </a:xfrm>
          <a:prstGeom prst="rect">
            <a:avLst/>
          </a:prstGeom>
          <a:noFill/>
        </p:spPr>
        <p:txBody>
          <a:bodyPr wrap="square" anchor="t" lIns="0" rIns="0" tIns="0" bIns="0">
            <a:spAutoFit/>
          </a:bodyPr>
          <a:lstStyle/>
          <a:p>
            <a:pPr algn="l"/>
            <a:r>
              <a:rPr sz="2000" b="1" i="0">
                <a:solidFill>
                  <a:srgbClr val="EE6A2C"/>
                </a:solidFill>
                <a:latin typeface="Arial"/>
              </a:rPr>
              <a:t>04</a:t>
            </a:r>
          </a:p>
        </p:txBody>
      </p:sp>
      <p:sp>
        <p:nvSpPr>
          <p:cNvPr id="25" name="TextBox 24"/>
          <p:cNvSpPr txBox="1"/>
          <p:nvPr/>
        </p:nvSpPr>
        <p:spPr>
          <a:xfrm>
            <a:off x="6797040" y="4364736"/>
            <a:ext cx="4023360" cy="365760"/>
          </a:xfrm>
          <a:prstGeom prst="rect">
            <a:avLst/>
          </a:prstGeom>
          <a:noFill/>
        </p:spPr>
        <p:txBody>
          <a:bodyPr wrap="square" anchor="t" lIns="0" rIns="0" tIns="0" bIns="0">
            <a:spAutoFit/>
          </a:bodyPr>
          <a:lstStyle/>
          <a:p>
            <a:pPr algn="l"/>
            <a:r>
              <a:rPr sz="1400" b="1" i="0">
                <a:solidFill>
                  <a:srgbClr val="111111"/>
                </a:solidFill>
                <a:latin typeface="Arial"/>
              </a:rPr>
              <a:t>Capter les cadeaux gaming avant Noël</a:t>
            </a:r>
          </a:p>
        </p:txBody>
      </p:sp>
      <p:sp>
        <p:nvSpPr>
          <p:cNvPr id="26" name="TextBox 25"/>
          <p:cNvSpPr txBox="1"/>
          <p:nvPr/>
        </p:nvSpPr>
        <p:spPr>
          <a:xfrm>
            <a:off x="6248400" y="4925568"/>
            <a:ext cx="4572000" cy="731520"/>
          </a:xfrm>
          <a:prstGeom prst="rect">
            <a:avLst/>
          </a:prstGeom>
          <a:noFill/>
        </p:spPr>
        <p:txBody>
          <a:bodyPr wrap="square" anchor="t" lIns="0" rIns="0" tIns="0" bIns="0">
            <a:spAutoFit/>
          </a:bodyPr>
          <a:lstStyle/>
          <a:p>
            <a:pPr algn="l"/>
            <a:r>
              <a:rPr sz="1100" b="0" i="0">
                <a:solidFill>
                  <a:srgbClr val="555B66"/>
                </a:solidFill>
                <a:latin typeface="Arial"/>
              </a:rPr>
              <a:t>Les consoles de jeux atteignent 3,04 fois le CTR moyen, le meilleur score de la campagne, pour seulement 3 % de la diffusion.</a:t>
            </a:r>
          </a:p>
        </p:txBody>
      </p:sp>
      <p:sp>
        <p:nvSpPr>
          <p:cNvPr id="27" name="TextBox 26"/>
          <p:cNvSpPr txBox="1"/>
          <p:nvPr/>
        </p:nvSpPr>
        <p:spPr>
          <a:xfrm>
            <a:off x="6248400" y="5626608"/>
            <a:ext cx="4572000" cy="487680"/>
          </a:xfrm>
          <a:prstGeom prst="rect">
            <a:avLst/>
          </a:prstGeom>
          <a:noFill/>
        </p:spPr>
        <p:txBody>
          <a:bodyPr wrap="square" anchor="t" lIns="0" rIns="0" tIns="0" bIns="0">
            <a:spAutoFit/>
          </a:bodyPr>
          <a:lstStyle/>
          <a:p>
            <a:pPr algn="l"/>
            <a:r>
              <a:rPr sz="900" b="1" i="0">
                <a:solidFill>
                  <a:srgbClr val="555B66"/>
                </a:solidFill>
                <a:latin typeface="Arial"/>
              </a:rPr>
              <a:t>→  Donner plus de place aux consoles et à l'informatique gaming en novembre et décembre.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6F2"/>
          </a:solidFill>
          <a:ln>
            <a:noFill/>
          </a:ln>
          <a:effectLst/>
        </p:spPr>
        <p:txBody>
          <a:bodyPr rtlCol="0" anchor="ctr"/>
          <a:lstStyle/>
          <a:p>
            <a:pPr algn="ctr"/>
          </a:p>
        </p:txBody>
      </p:sp>
      <p:sp>
        <p:nvSpPr>
          <p:cNvPr id="3" name="TextBox 2"/>
          <p:cNvSpPr txBox="1"/>
          <p:nvPr/>
        </p:nvSpPr>
        <p:spPr>
          <a:xfrm>
            <a:off x="530352" y="487680"/>
            <a:ext cx="7315200" cy="182880"/>
          </a:xfrm>
          <a:prstGeom prst="rect">
            <a:avLst/>
          </a:prstGeom>
          <a:noFill/>
        </p:spPr>
        <p:txBody>
          <a:bodyPr wrap="square" anchor="t" lIns="0" rIns="0" tIns="0" bIns="0">
            <a:spAutoFit/>
          </a:bodyPr>
          <a:lstStyle/>
          <a:p>
            <a:pPr algn="l"/>
            <a:r>
              <a:rPr sz="1300" b="1" i="0">
                <a:solidFill>
                  <a:srgbClr val="EE6A2C"/>
                </a:solidFill>
                <a:latin typeface="Arial"/>
              </a:rPr>
              <a:t>RAPPORT DE PERFORMANCE · 01/09/2026 → 30/09/2026</a:t>
            </a:r>
          </a:p>
        </p:txBody>
      </p:sp>
      <p:sp>
        <p:nvSpPr>
          <p:cNvPr id="4" name="TextBox 3"/>
          <p:cNvSpPr txBox="1"/>
          <p:nvPr/>
        </p:nvSpPr>
        <p:spPr>
          <a:xfrm>
            <a:off x="530352" y="640080"/>
            <a:ext cx="7315200" cy="487680"/>
          </a:xfrm>
          <a:prstGeom prst="rect">
            <a:avLst/>
          </a:prstGeom>
          <a:noFill/>
        </p:spPr>
        <p:txBody>
          <a:bodyPr wrap="square" anchor="t" lIns="0" rIns="0" tIns="0" bIns="0">
            <a:spAutoFit/>
          </a:bodyPr>
          <a:lstStyle/>
          <a:p>
            <a:pPr algn="l"/>
            <a:r>
              <a:rPr sz="3600" b="1" i="0">
                <a:solidFill>
                  <a:srgbClr val="111111"/>
                </a:solidFill>
                <a:latin typeface="Arial"/>
              </a:rPr>
              <a:t>Cdiscount Mobile</a:t>
            </a:r>
          </a:p>
        </p:txBody>
      </p:sp>
      <p:sp>
        <p:nvSpPr>
          <p:cNvPr id="5" name="TextBox 4"/>
          <p:cNvSpPr txBox="1"/>
          <p:nvPr/>
        </p:nvSpPr>
        <p:spPr>
          <a:xfrm>
            <a:off x="7924800" y="591312"/>
            <a:ext cx="3304032" cy="152400"/>
          </a:xfrm>
          <a:prstGeom prst="rect">
            <a:avLst/>
          </a:prstGeom>
          <a:noFill/>
        </p:spPr>
        <p:txBody>
          <a:bodyPr wrap="square" anchor="t" lIns="0" rIns="0" tIns="0" bIns="0">
            <a:spAutoFit/>
          </a:bodyPr>
          <a:lstStyle/>
          <a:p>
            <a:pPr algn="r"/>
            <a:r>
              <a:rPr sz="1200" b="1" i="0">
                <a:solidFill>
                  <a:srgbClr val="8A93A6"/>
                </a:solidFill>
                <a:latin typeface="Arial"/>
              </a:rPr>
              <a:t>COMPARAISON</a:t>
            </a:r>
          </a:p>
        </p:txBody>
      </p:sp>
      <p:sp>
        <p:nvSpPr>
          <p:cNvPr id="6" name="TextBox 5"/>
          <p:cNvSpPr txBox="1"/>
          <p:nvPr/>
        </p:nvSpPr>
        <p:spPr>
          <a:xfrm>
            <a:off x="7924800" y="780288"/>
            <a:ext cx="3304032" cy="182880"/>
          </a:xfrm>
          <a:prstGeom prst="rect">
            <a:avLst/>
          </a:prstGeom>
          <a:noFill/>
        </p:spPr>
        <p:txBody>
          <a:bodyPr wrap="square" anchor="t" lIns="0" rIns="0" tIns="0" bIns="0">
            <a:spAutoFit/>
          </a:bodyPr>
          <a:lstStyle/>
          <a:p>
            <a:pPr algn="r"/>
            <a:r>
              <a:rPr sz="1500" b="1" i="0">
                <a:solidFill>
                  <a:srgbClr val="111111"/>
                </a:solidFill>
                <a:latin typeface="Arial"/>
              </a:rPr>
              <a:t>vs 01/08/2026 → 31/08/2026</a:t>
            </a:r>
          </a:p>
        </p:txBody>
      </p:sp>
      <p:sp>
        <p:nvSpPr>
          <p:cNvPr id="7" name="TextBox 6"/>
          <p:cNvSpPr txBox="1"/>
          <p:nvPr/>
        </p:nvSpPr>
        <p:spPr>
          <a:xfrm>
            <a:off x="530352" y="1280160"/>
            <a:ext cx="2438400" cy="182880"/>
          </a:xfrm>
          <a:prstGeom prst="rect">
            <a:avLst/>
          </a:prstGeom>
          <a:noFill/>
        </p:spPr>
        <p:txBody>
          <a:bodyPr wrap="square" anchor="t" lIns="0" rIns="0" tIns="0" bIns="0">
            <a:spAutoFit/>
          </a:bodyPr>
          <a:lstStyle/>
          <a:p>
            <a:pPr algn="l"/>
            <a:r>
              <a:rPr sz="1400" b="1" i="0">
                <a:solidFill>
                  <a:srgbClr val="EE6A2C"/>
                </a:solidFill>
                <a:latin typeface="Arial"/>
              </a:rPr>
              <a:t>DIFFUSION</a:t>
            </a:r>
          </a:p>
        </p:txBody>
      </p:sp>
      <p:sp>
        <p:nvSpPr>
          <p:cNvPr id="8" name="TextBox 7"/>
          <p:cNvSpPr txBox="1"/>
          <p:nvPr/>
        </p:nvSpPr>
        <p:spPr>
          <a:xfrm>
            <a:off x="2389632" y="1280160"/>
            <a:ext cx="2438400" cy="182880"/>
          </a:xfrm>
          <a:prstGeom prst="rect">
            <a:avLst/>
          </a:prstGeom>
          <a:noFill/>
        </p:spPr>
        <p:txBody>
          <a:bodyPr wrap="square" anchor="t" lIns="0" rIns="0" tIns="0" bIns="0">
            <a:spAutoFit/>
          </a:bodyPr>
          <a:lstStyle/>
          <a:p>
            <a:pPr algn="l"/>
            <a:r>
              <a:rPr sz="1400" b="1" i="0">
                <a:solidFill>
                  <a:srgbClr val="EE6A2C"/>
                </a:solidFill>
                <a:latin typeface="Arial"/>
              </a:rPr>
              <a:t>ENGAGEMENT</a:t>
            </a:r>
          </a:p>
        </p:txBody>
      </p:sp>
      <p:sp>
        <p:nvSpPr>
          <p:cNvPr id="9" name="TextBox 8"/>
          <p:cNvSpPr txBox="1"/>
          <p:nvPr/>
        </p:nvSpPr>
        <p:spPr>
          <a:xfrm>
            <a:off x="6108192" y="1280160"/>
            <a:ext cx="2438400" cy="182880"/>
          </a:xfrm>
          <a:prstGeom prst="rect">
            <a:avLst/>
          </a:prstGeom>
          <a:noFill/>
        </p:spPr>
        <p:txBody>
          <a:bodyPr wrap="square" anchor="t" lIns="0" rIns="0" tIns="0" bIns="0">
            <a:spAutoFit/>
          </a:bodyPr>
          <a:lstStyle/>
          <a:p>
            <a:pPr algn="l"/>
            <a:r>
              <a:rPr sz="1400" b="1" i="0">
                <a:solidFill>
                  <a:srgbClr val="EE6A2C"/>
                </a:solidFill>
                <a:latin typeface="Arial"/>
              </a:rPr>
              <a:t>CONVERSION</a:t>
            </a:r>
          </a:p>
        </p:txBody>
      </p:sp>
      <p:sp>
        <p:nvSpPr>
          <p:cNvPr id="10" name="Rectangle 9"/>
          <p:cNvSpPr/>
          <p:nvPr/>
        </p:nvSpPr>
        <p:spPr>
          <a:xfrm>
            <a:off x="530352" y="1536192"/>
            <a:ext cx="1389888" cy="1127760"/>
          </a:xfrm>
          <a:prstGeom prst="rect">
            <a:avLst/>
          </a:prstGeom>
          <a:solidFill>
            <a:srgbClr val="FFFFFF"/>
          </a:solidFill>
          <a:ln>
            <a:noFill/>
          </a:ln>
          <a:effectLst/>
        </p:spPr>
        <p:txBody>
          <a:bodyPr rtlCol="0" anchor="ctr"/>
          <a:lstStyle/>
          <a:p>
            <a:pPr algn="ctr"/>
          </a:p>
        </p:txBody>
      </p:sp>
      <p:sp>
        <p:nvSpPr>
          <p:cNvPr id="11" name="Rectangle 10"/>
          <p:cNvSpPr/>
          <p:nvPr/>
        </p:nvSpPr>
        <p:spPr>
          <a:xfrm>
            <a:off x="530352" y="1536192"/>
            <a:ext cx="24384" cy="1127760"/>
          </a:xfrm>
          <a:prstGeom prst="rect">
            <a:avLst/>
          </a:prstGeom>
          <a:solidFill>
            <a:srgbClr val="EE6A2C"/>
          </a:solidFill>
          <a:ln>
            <a:noFill/>
          </a:ln>
          <a:effectLst/>
        </p:spPr>
        <p:txBody>
          <a:bodyPr rtlCol="0" anchor="ctr"/>
          <a:lstStyle/>
          <a:p>
            <a:pPr algn="ctr"/>
          </a:p>
        </p:txBody>
      </p:sp>
      <p:sp>
        <p:nvSpPr>
          <p:cNvPr id="12" name="TextBox 11"/>
          <p:cNvSpPr txBox="1"/>
          <p:nvPr/>
        </p:nvSpPr>
        <p:spPr>
          <a:xfrm>
            <a:off x="664464" y="1615440"/>
            <a:ext cx="1219200" cy="121920"/>
          </a:xfrm>
          <a:prstGeom prst="rect">
            <a:avLst/>
          </a:prstGeom>
          <a:noFill/>
        </p:spPr>
        <p:txBody>
          <a:bodyPr wrap="square" anchor="t" lIns="0" rIns="0" tIns="0" bIns="0">
            <a:spAutoFit/>
          </a:bodyPr>
          <a:lstStyle/>
          <a:p>
            <a:pPr algn="l"/>
            <a:r>
              <a:rPr sz="1000" b="1" i="0">
                <a:solidFill>
                  <a:srgbClr val="555B66"/>
                </a:solidFill>
                <a:latin typeface="Arial"/>
              </a:rPr>
              <a:t>IMPRESSIONS</a:t>
            </a:r>
          </a:p>
        </p:txBody>
      </p:sp>
      <p:sp>
        <p:nvSpPr>
          <p:cNvPr id="13" name="TextBox 12"/>
          <p:cNvSpPr txBox="1"/>
          <p:nvPr/>
        </p:nvSpPr>
        <p:spPr>
          <a:xfrm>
            <a:off x="664464" y="1889760"/>
            <a:ext cx="1219200" cy="274320"/>
          </a:xfrm>
          <a:prstGeom prst="rect">
            <a:avLst/>
          </a:prstGeom>
          <a:noFill/>
        </p:spPr>
        <p:txBody>
          <a:bodyPr wrap="square" anchor="t" lIns="0" rIns="0" tIns="0" bIns="0">
            <a:spAutoFit/>
          </a:bodyPr>
          <a:lstStyle/>
          <a:p>
            <a:pPr algn="l"/>
            <a:r>
              <a:rPr sz="1800" b="1" i="0">
                <a:solidFill>
                  <a:srgbClr val="111111"/>
                </a:solidFill>
                <a:latin typeface="Arial"/>
              </a:rPr>
              <a:t>1 760 935</a:t>
            </a:r>
          </a:p>
        </p:txBody>
      </p:sp>
      <p:sp>
        <p:nvSpPr>
          <p:cNvPr id="14" name="TextBox 13"/>
          <p:cNvSpPr txBox="1"/>
          <p:nvPr/>
        </p:nvSpPr>
        <p:spPr>
          <a:xfrm>
            <a:off x="664464" y="2243328"/>
            <a:ext cx="1219200" cy="109728"/>
          </a:xfrm>
          <a:prstGeom prst="rect">
            <a:avLst/>
          </a:prstGeom>
          <a:noFill/>
        </p:spPr>
        <p:txBody>
          <a:bodyPr wrap="square" anchor="t" lIns="0" rIns="0" tIns="0" bIns="0">
            <a:spAutoFit/>
          </a:bodyPr>
          <a:lstStyle/>
          <a:p>
            <a:pPr algn="l"/>
            <a:r>
              <a:rPr sz="1000" b="1" i="0">
                <a:solidFill>
                  <a:srgbClr val="1E7B34"/>
                </a:solidFill>
                <a:latin typeface="Arial"/>
              </a:rPr>
              <a:t>▲ +22 %</a:t>
            </a:r>
          </a:p>
        </p:txBody>
      </p:sp>
      <p:sp>
        <p:nvSpPr>
          <p:cNvPr id="15" name="TextBox 14"/>
          <p:cNvSpPr txBox="1"/>
          <p:nvPr/>
        </p:nvSpPr>
        <p:spPr>
          <a:xfrm>
            <a:off x="664464" y="2499360"/>
            <a:ext cx="1219200" cy="91440"/>
          </a:xfrm>
          <a:prstGeom prst="rect">
            <a:avLst/>
          </a:prstGeom>
          <a:noFill/>
        </p:spPr>
        <p:txBody>
          <a:bodyPr wrap="square" anchor="t" lIns="0" rIns="0" tIns="0" bIns="0">
            <a:spAutoFit/>
          </a:bodyPr>
          <a:lstStyle/>
          <a:p>
            <a:pPr algn="l"/>
            <a:r>
              <a:rPr sz="800" b="0" i="1">
                <a:solidFill>
                  <a:srgbClr val="555B66"/>
                </a:solidFill>
                <a:latin typeface="Arial"/>
              </a:rPr>
              <a:t>YTD 6 117 876</a:t>
            </a:r>
          </a:p>
        </p:txBody>
      </p:sp>
      <p:sp>
        <p:nvSpPr>
          <p:cNvPr id="16" name="Rectangle 15"/>
          <p:cNvSpPr/>
          <p:nvPr/>
        </p:nvSpPr>
        <p:spPr>
          <a:xfrm>
            <a:off x="2389632" y="1536192"/>
            <a:ext cx="1389888" cy="1127760"/>
          </a:xfrm>
          <a:prstGeom prst="rect">
            <a:avLst/>
          </a:prstGeom>
          <a:solidFill>
            <a:srgbClr val="FFFFFF"/>
          </a:solidFill>
          <a:ln>
            <a:noFill/>
          </a:ln>
          <a:effectLst/>
        </p:spPr>
        <p:txBody>
          <a:bodyPr rtlCol="0" anchor="ctr"/>
          <a:lstStyle/>
          <a:p>
            <a:pPr algn="ctr"/>
          </a:p>
        </p:txBody>
      </p:sp>
      <p:sp>
        <p:nvSpPr>
          <p:cNvPr id="17" name="Rectangle 16"/>
          <p:cNvSpPr/>
          <p:nvPr/>
        </p:nvSpPr>
        <p:spPr>
          <a:xfrm>
            <a:off x="2389632" y="1536192"/>
            <a:ext cx="24384" cy="1127760"/>
          </a:xfrm>
          <a:prstGeom prst="rect">
            <a:avLst/>
          </a:prstGeom>
          <a:solidFill>
            <a:srgbClr val="EE6A2C"/>
          </a:solidFill>
          <a:ln>
            <a:noFill/>
          </a:ln>
          <a:effectLst/>
        </p:spPr>
        <p:txBody>
          <a:bodyPr rtlCol="0" anchor="ctr"/>
          <a:lstStyle/>
          <a:p>
            <a:pPr algn="ctr"/>
          </a:p>
        </p:txBody>
      </p:sp>
      <p:sp>
        <p:nvSpPr>
          <p:cNvPr id="18" name="TextBox 17"/>
          <p:cNvSpPr txBox="1"/>
          <p:nvPr/>
        </p:nvSpPr>
        <p:spPr>
          <a:xfrm>
            <a:off x="2523744" y="1615440"/>
            <a:ext cx="1219200" cy="121920"/>
          </a:xfrm>
          <a:prstGeom prst="rect">
            <a:avLst/>
          </a:prstGeom>
          <a:noFill/>
        </p:spPr>
        <p:txBody>
          <a:bodyPr wrap="square" anchor="t" lIns="0" rIns="0" tIns="0" bIns="0">
            <a:spAutoFit/>
          </a:bodyPr>
          <a:lstStyle/>
          <a:p>
            <a:pPr algn="l"/>
            <a:r>
              <a:rPr sz="1000" b="1" i="0">
                <a:solidFill>
                  <a:srgbClr val="555B66"/>
                </a:solidFill>
                <a:latin typeface="Arial"/>
              </a:rPr>
              <a:t>CLICS</a:t>
            </a:r>
          </a:p>
        </p:txBody>
      </p:sp>
      <p:sp>
        <p:nvSpPr>
          <p:cNvPr id="19" name="TextBox 18"/>
          <p:cNvSpPr txBox="1"/>
          <p:nvPr/>
        </p:nvSpPr>
        <p:spPr>
          <a:xfrm>
            <a:off x="2523744" y="1889760"/>
            <a:ext cx="1219200" cy="274320"/>
          </a:xfrm>
          <a:prstGeom prst="rect">
            <a:avLst/>
          </a:prstGeom>
          <a:noFill/>
        </p:spPr>
        <p:txBody>
          <a:bodyPr wrap="square" anchor="t" lIns="0" rIns="0" tIns="0" bIns="0">
            <a:spAutoFit/>
          </a:bodyPr>
          <a:lstStyle/>
          <a:p>
            <a:pPr algn="l"/>
            <a:r>
              <a:rPr sz="2200" b="1" i="0">
                <a:solidFill>
                  <a:srgbClr val="111111"/>
                </a:solidFill>
                <a:latin typeface="Arial"/>
              </a:rPr>
              <a:t>9 138</a:t>
            </a:r>
          </a:p>
        </p:txBody>
      </p:sp>
      <p:sp>
        <p:nvSpPr>
          <p:cNvPr id="20" name="TextBox 19"/>
          <p:cNvSpPr txBox="1"/>
          <p:nvPr/>
        </p:nvSpPr>
        <p:spPr>
          <a:xfrm>
            <a:off x="2523744" y="2243328"/>
            <a:ext cx="1219200" cy="109728"/>
          </a:xfrm>
          <a:prstGeom prst="rect">
            <a:avLst/>
          </a:prstGeom>
          <a:noFill/>
        </p:spPr>
        <p:txBody>
          <a:bodyPr wrap="square" anchor="t" lIns="0" rIns="0" tIns="0" bIns="0">
            <a:spAutoFit/>
          </a:bodyPr>
          <a:lstStyle/>
          <a:p>
            <a:pPr algn="l"/>
            <a:r>
              <a:rPr sz="1000" b="1" i="0">
                <a:solidFill>
                  <a:srgbClr val="1E7B34"/>
                </a:solidFill>
                <a:latin typeface="Arial"/>
              </a:rPr>
              <a:t>▲ +207 %</a:t>
            </a:r>
          </a:p>
        </p:txBody>
      </p:sp>
      <p:sp>
        <p:nvSpPr>
          <p:cNvPr id="21" name="TextBox 20"/>
          <p:cNvSpPr txBox="1"/>
          <p:nvPr/>
        </p:nvSpPr>
        <p:spPr>
          <a:xfrm>
            <a:off x="2523744" y="2499360"/>
            <a:ext cx="1219200" cy="91440"/>
          </a:xfrm>
          <a:prstGeom prst="rect">
            <a:avLst/>
          </a:prstGeom>
          <a:noFill/>
        </p:spPr>
        <p:txBody>
          <a:bodyPr wrap="square" anchor="t" lIns="0" rIns="0" tIns="0" bIns="0">
            <a:spAutoFit/>
          </a:bodyPr>
          <a:lstStyle/>
          <a:p>
            <a:pPr algn="l"/>
            <a:r>
              <a:rPr sz="800" b="0" i="1">
                <a:solidFill>
                  <a:srgbClr val="555B66"/>
                </a:solidFill>
                <a:latin typeface="Arial"/>
              </a:rPr>
              <a:t>YTD 17 884</a:t>
            </a:r>
          </a:p>
        </p:txBody>
      </p:sp>
      <p:sp>
        <p:nvSpPr>
          <p:cNvPr id="22" name="Rectangle 21"/>
          <p:cNvSpPr/>
          <p:nvPr/>
        </p:nvSpPr>
        <p:spPr>
          <a:xfrm>
            <a:off x="4248912" y="1536192"/>
            <a:ext cx="1389888" cy="1127760"/>
          </a:xfrm>
          <a:prstGeom prst="rect">
            <a:avLst/>
          </a:prstGeom>
          <a:solidFill>
            <a:srgbClr val="FFFFFF"/>
          </a:solidFill>
          <a:ln>
            <a:noFill/>
          </a:ln>
          <a:effectLst/>
        </p:spPr>
        <p:txBody>
          <a:bodyPr rtlCol="0" anchor="ctr"/>
          <a:lstStyle/>
          <a:p>
            <a:pPr algn="ctr"/>
          </a:p>
        </p:txBody>
      </p:sp>
      <p:sp>
        <p:nvSpPr>
          <p:cNvPr id="23" name="Rectangle 22"/>
          <p:cNvSpPr/>
          <p:nvPr/>
        </p:nvSpPr>
        <p:spPr>
          <a:xfrm>
            <a:off x="4248912" y="1536192"/>
            <a:ext cx="24384" cy="1127760"/>
          </a:xfrm>
          <a:prstGeom prst="rect">
            <a:avLst/>
          </a:prstGeom>
          <a:solidFill>
            <a:srgbClr val="EE6A2C"/>
          </a:solidFill>
          <a:ln>
            <a:noFill/>
          </a:ln>
          <a:effectLst/>
        </p:spPr>
        <p:txBody>
          <a:bodyPr rtlCol="0" anchor="ctr"/>
          <a:lstStyle/>
          <a:p>
            <a:pPr algn="ctr"/>
          </a:p>
        </p:txBody>
      </p:sp>
      <p:sp>
        <p:nvSpPr>
          <p:cNvPr id="24" name="TextBox 23"/>
          <p:cNvSpPr txBox="1"/>
          <p:nvPr/>
        </p:nvSpPr>
        <p:spPr>
          <a:xfrm>
            <a:off x="4383024" y="1615440"/>
            <a:ext cx="1219200" cy="121920"/>
          </a:xfrm>
          <a:prstGeom prst="rect">
            <a:avLst/>
          </a:prstGeom>
          <a:noFill/>
        </p:spPr>
        <p:txBody>
          <a:bodyPr wrap="square" anchor="t" lIns="0" rIns="0" tIns="0" bIns="0">
            <a:spAutoFit/>
          </a:bodyPr>
          <a:lstStyle/>
          <a:p>
            <a:pPr algn="l"/>
            <a:r>
              <a:rPr sz="1000" b="1" i="0">
                <a:solidFill>
                  <a:srgbClr val="555B66"/>
                </a:solidFill>
                <a:latin typeface="Arial"/>
              </a:rPr>
              <a:t>CTR</a:t>
            </a:r>
          </a:p>
        </p:txBody>
      </p:sp>
      <p:sp>
        <p:nvSpPr>
          <p:cNvPr id="25" name="TextBox 24"/>
          <p:cNvSpPr txBox="1"/>
          <p:nvPr/>
        </p:nvSpPr>
        <p:spPr>
          <a:xfrm>
            <a:off x="4383024" y="1889760"/>
            <a:ext cx="1219200" cy="274320"/>
          </a:xfrm>
          <a:prstGeom prst="rect">
            <a:avLst/>
          </a:prstGeom>
          <a:noFill/>
        </p:spPr>
        <p:txBody>
          <a:bodyPr wrap="square" anchor="t" lIns="0" rIns="0" tIns="0" bIns="0">
            <a:spAutoFit/>
          </a:bodyPr>
          <a:lstStyle/>
          <a:p>
            <a:pPr algn="l"/>
            <a:r>
              <a:rPr sz="2200" b="1" i="0">
                <a:solidFill>
                  <a:srgbClr val="111111"/>
                </a:solidFill>
                <a:latin typeface="Arial"/>
              </a:rPr>
              <a:t>0,52 %</a:t>
            </a:r>
          </a:p>
        </p:txBody>
      </p:sp>
      <p:sp>
        <p:nvSpPr>
          <p:cNvPr id="26" name="TextBox 25"/>
          <p:cNvSpPr txBox="1"/>
          <p:nvPr/>
        </p:nvSpPr>
        <p:spPr>
          <a:xfrm>
            <a:off x="4383024" y="2243328"/>
            <a:ext cx="1219200" cy="109728"/>
          </a:xfrm>
          <a:prstGeom prst="rect">
            <a:avLst/>
          </a:prstGeom>
          <a:noFill/>
        </p:spPr>
        <p:txBody>
          <a:bodyPr wrap="square" anchor="t" lIns="0" rIns="0" tIns="0" bIns="0">
            <a:spAutoFit/>
          </a:bodyPr>
          <a:lstStyle/>
          <a:p>
            <a:pPr algn="l"/>
            <a:r>
              <a:rPr sz="1000" b="1" i="0">
                <a:solidFill>
                  <a:srgbClr val="1E7B34"/>
                </a:solidFill>
                <a:latin typeface="Arial"/>
              </a:rPr>
              <a:t>▲ +0,31 pt</a:t>
            </a:r>
          </a:p>
        </p:txBody>
      </p:sp>
      <p:sp>
        <p:nvSpPr>
          <p:cNvPr id="27" name="TextBox 26"/>
          <p:cNvSpPr txBox="1"/>
          <p:nvPr/>
        </p:nvSpPr>
        <p:spPr>
          <a:xfrm>
            <a:off x="4383024" y="2499360"/>
            <a:ext cx="1219200" cy="91440"/>
          </a:xfrm>
          <a:prstGeom prst="rect">
            <a:avLst/>
          </a:prstGeom>
          <a:noFill/>
        </p:spPr>
        <p:txBody>
          <a:bodyPr wrap="square" anchor="t" lIns="0" rIns="0" tIns="0" bIns="0">
            <a:spAutoFit/>
          </a:bodyPr>
          <a:lstStyle/>
          <a:p>
            <a:pPr algn="l"/>
            <a:r>
              <a:rPr sz="800" b="0" i="1">
                <a:solidFill>
                  <a:srgbClr val="555B66"/>
                </a:solidFill>
                <a:latin typeface="Arial"/>
              </a:rPr>
              <a:t>YTD 0,29 %</a:t>
            </a:r>
          </a:p>
        </p:txBody>
      </p:sp>
      <p:sp>
        <p:nvSpPr>
          <p:cNvPr id="28" name="Rectangle 27"/>
          <p:cNvSpPr/>
          <p:nvPr/>
        </p:nvSpPr>
        <p:spPr>
          <a:xfrm>
            <a:off x="6108192" y="1536192"/>
            <a:ext cx="1389888" cy="1127760"/>
          </a:xfrm>
          <a:prstGeom prst="rect">
            <a:avLst/>
          </a:prstGeom>
          <a:solidFill>
            <a:srgbClr val="F1EFEB"/>
          </a:solidFill>
          <a:ln>
            <a:noFill/>
          </a:ln>
          <a:effectLst/>
        </p:spPr>
        <p:txBody>
          <a:bodyPr rtlCol="0" anchor="ctr"/>
          <a:lstStyle/>
          <a:p>
            <a:pPr algn="ctr"/>
          </a:p>
        </p:txBody>
      </p:sp>
      <p:sp>
        <p:nvSpPr>
          <p:cNvPr id="29" name="Rounded Rectangle 28"/>
          <p:cNvSpPr/>
          <p:nvPr/>
        </p:nvSpPr>
        <p:spPr>
          <a:xfrm>
            <a:off x="6827520" y="1450848"/>
            <a:ext cx="609600" cy="170688"/>
          </a:xfrm>
          <a:prstGeom prst="roundRect">
            <a:avLst>
              <a:gd name="adj" fmla="val 50000"/>
            </a:avLst>
          </a:prstGeom>
          <a:solidFill>
            <a:srgbClr val="D9D6D1"/>
          </a:solidFill>
          <a:ln>
            <a:noFill/>
          </a:ln>
          <a:effectLst/>
        </p:spPr>
        <p:txBody>
          <a:bodyPr rtlCol="0" anchor="ctr"/>
          <a:lstStyle/>
          <a:p>
            <a:pPr algn="ctr"/>
          </a:p>
        </p:txBody>
      </p:sp>
      <p:sp>
        <p:nvSpPr>
          <p:cNvPr id="30" name="TextBox 29"/>
          <p:cNvSpPr txBox="1"/>
          <p:nvPr/>
        </p:nvSpPr>
        <p:spPr>
          <a:xfrm>
            <a:off x="6827520" y="1450848"/>
            <a:ext cx="609600" cy="170688"/>
          </a:xfrm>
          <a:prstGeom prst="rect">
            <a:avLst/>
          </a:prstGeom>
          <a:noFill/>
        </p:spPr>
        <p:txBody>
          <a:bodyPr wrap="square" anchor="ctr" lIns="0" rIns="0" tIns="0" bIns="0">
            <a:spAutoFit/>
          </a:bodyPr>
          <a:lstStyle/>
          <a:p>
            <a:pPr algn="ctr"/>
            <a:r>
              <a:rPr sz="800" b="1" i="0">
                <a:solidFill>
                  <a:srgbClr val="555B66"/>
                </a:solidFill>
                <a:latin typeface="Arial"/>
              </a:rPr>
              <a:t>INDICATIF</a:t>
            </a:r>
          </a:p>
        </p:txBody>
      </p:sp>
      <p:sp>
        <p:nvSpPr>
          <p:cNvPr id="31" name="TextBox 30"/>
          <p:cNvSpPr txBox="1"/>
          <p:nvPr/>
        </p:nvSpPr>
        <p:spPr>
          <a:xfrm>
            <a:off x="6242304" y="1706880"/>
            <a:ext cx="1219200" cy="121920"/>
          </a:xfrm>
          <a:prstGeom prst="rect">
            <a:avLst/>
          </a:prstGeom>
          <a:noFill/>
        </p:spPr>
        <p:txBody>
          <a:bodyPr wrap="square" anchor="t" lIns="0" rIns="0" tIns="0" bIns="0">
            <a:spAutoFit/>
          </a:bodyPr>
          <a:lstStyle/>
          <a:p>
            <a:pPr algn="l"/>
            <a:r>
              <a:rPr sz="1000" b="1" i="0">
                <a:solidFill>
                  <a:srgbClr val="8A93A6"/>
                </a:solidFill>
                <a:latin typeface="Arial"/>
              </a:rPr>
              <a:t>CONVERSIONS</a:t>
            </a:r>
          </a:p>
        </p:txBody>
      </p:sp>
      <p:sp>
        <p:nvSpPr>
          <p:cNvPr id="32" name="TextBox 31"/>
          <p:cNvSpPr txBox="1"/>
          <p:nvPr/>
        </p:nvSpPr>
        <p:spPr>
          <a:xfrm>
            <a:off x="6242304" y="1889760"/>
            <a:ext cx="1219200" cy="274320"/>
          </a:xfrm>
          <a:prstGeom prst="rect">
            <a:avLst/>
          </a:prstGeom>
          <a:noFill/>
        </p:spPr>
        <p:txBody>
          <a:bodyPr wrap="square" anchor="t" lIns="0" rIns="0" tIns="0" bIns="0">
            <a:spAutoFit/>
          </a:bodyPr>
          <a:lstStyle/>
          <a:p>
            <a:pPr algn="l"/>
            <a:r>
              <a:rPr sz="2200" b="1" i="0">
                <a:solidFill>
                  <a:srgbClr val="8A93A6"/>
                </a:solidFill>
                <a:latin typeface="Arial"/>
              </a:rPr>
              <a:t>4</a:t>
            </a:r>
          </a:p>
        </p:txBody>
      </p:sp>
      <p:sp>
        <p:nvSpPr>
          <p:cNvPr id="33" name="TextBox 32"/>
          <p:cNvSpPr txBox="1"/>
          <p:nvPr/>
        </p:nvSpPr>
        <p:spPr>
          <a:xfrm>
            <a:off x="6242304" y="2243328"/>
            <a:ext cx="1219200" cy="109728"/>
          </a:xfrm>
          <a:prstGeom prst="rect">
            <a:avLst/>
          </a:prstGeom>
          <a:noFill/>
        </p:spPr>
        <p:txBody>
          <a:bodyPr wrap="square" anchor="t" lIns="0" rIns="0" tIns="0" bIns="0">
            <a:spAutoFit/>
          </a:bodyPr>
          <a:lstStyle/>
          <a:p>
            <a:pPr algn="l"/>
            <a:r>
              <a:rPr sz="1000" b="1" i="0">
                <a:solidFill>
                  <a:srgbClr val="8A93A6"/>
                </a:solidFill>
                <a:latin typeface="Arial"/>
              </a:rPr>
              <a:t>+4</a:t>
            </a:r>
          </a:p>
        </p:txBody>
      </p:sp>
      <p:sp>
        <p:nvSpPr>
          <p:cNvPr id="34" name="TextBox 33"/>
          <p:cNvSpPr txBox="1"/>
          <p:nvPr/>
        </p:nvSpPr>
        <p:spPr>
          <a:xfrm>
            <a:off x="6242304" y="2499360"/>
            <a:ext cx="1219200" cy="91440"/>
          </a:xfrm>
          <a:prstGeom prst="rect">
            <a:avLst/>
          </a:prstGeom>
          <a:noFill/>
        </p:spPr>
        <p:txBody>
          <a:bodyPr wrap="square" anchor="t" lIns="0" rIns="0" tIns="0" bIns="0">
            <a:spAutoFit/>
          </a:bodyPr>
          <a:lstStyle/>
          <a:p>
            <a:pPr algn="l"/>
            <a:r>
              <a:rPr sz="800" b="0" i="1">
                <a:solidFill>
                  <a:srgbClr val="8A93A6"/>
                </a:solidFill>
                <a:latin typeface="Arial"/>
              </a:rPr>
              <a:t>YTD 8</a:t>
            </a:r>
          </a:p>
        </p:txBody>
      </p:sp>
      <p:sp>
        <p:nvSpPr>
          <p:cNvPr id="35" name="Rectangle 34"/>
          <p:cNvSpPr/>
          <p:nvPr/>
        </p:nvSpPr>
        <p:spPr>
          <a:xfrm>
            <a:off x="7967472" y="1536192"/>
            <a:ext cx="1389888" cy="1127760"/>
          </a:xfrm>
          <a:prstGeom prst="rect">
            <a:avLst/>
          </a:prstGeom>
          <a:solidFill>
            <a:srgbClr val="F1EFEB"/>
          </a:solidFill>
          <a:ln>
            <a:noFill/>
          </a:ln>
          <a:effectLst/>
        </p:spPr>
        <p:txBody>
          <a:bodyPr rtlCol="0" anchor="ctr"/>
          <a:lstStyle/>
          <a:p>
            <a:pPr algn="ctr"/>
          </a:p>
        </p:txBody>
      </p:sp>
      <p:sp>
        <p:nvSpPr>
          <p:cNvPr id="36" name="Rounded Rectangle 35"/>
          <p:cNvSpPr/>
          <p:nvPr/>
        </p:nvSpPr>
        <p:spPr>
          <a:xfrm>
            <a:off x="8686800" y="1450848"/>
            <a:ext cx="609600" cy="170688"/>
          </a:xfrm>
          <a:prstGeom prst="roundRect">
            <a:avLst>
              <a:gd name="adj" fmla="val 50000"/>
            </a:avLst>
          </a:prstGeom>
          <a:solidFill>
            <a:srgbClr val="D9D6D1"/>
          </a:solidFill>
          <a:ln>
            <a:noFill/>
          </a:ln>
          <a:effectLst/>
        </p:spPr>
        <p:txBody>
          <a:bodyPr rtlCol="0" anchor="ctr"/>
          <a:lstStyle/>
          <a:p>
            <a:pPr algn="ctr"/>
          </a:p>
        </p:txBody>
      </p:sp>
      <p:sp>
        <p:nvSpPr>
          <p:cNvPr id="37" name="TextBox 36"/>
          <p:cNvSpPr txBox="1"/>
          <p:nvPr/>
        </p:nvSpPr>
        <p:spPr>
          <a:xfrm>
            <a:off x="8686800" y="1450848"/>
            <a:ext cx="609600" cy="170688"/>
          </a:xfrm>
          <a:prstGeom prst="rect">
            <a:avLst/>
          </a:prstGeom>
          <a:noFill/>
        </p:spPr>
        <p:txBody>
          <a:bodyPr wrap="square" anchor="ctr" lIns="0" rIns="0" tIns="0" bIns="0">
            <a:spAutoFit/>
          </a:bodyPr>
          <a:lstStyle/>
          <a:p>
            <a:pPr algn="ctr"/>
            <a:r>
              <a:rPr sz="800" b="1" i="0">
                <a:solidFill>
                  <a:srgbClr val="555B66"/>
                </a:solidFill>
                <a:latin typeface="Arial"/>
              </a:rPr>
              <a:t>INDICATIF</a:t>
            </a:r>
          </a:p>
        </p:txBody>
      </p:sp>
      <p:sp>
        <p:nvSpPr>
          <p:cNvPr id="38" name="TextBox 37"/>
          <p:cNvSpPr txBox="1"/>
          <p:nvPr/>
        </p:nvSpPr>
        <p:spPr>
          <a:xfrm>
            <a:off x="8101584" y="1706880"/>
            <a:ext cx="1219200" cy="121920"/>
          </a:xfrm>
          <a:prstGeom prst="rect">
            <a:avLst/>
          </a:prstGeom>
          <a:noFill/>
        </p:spPr>
        <p:txBody>
          <a:bodyPr wrap="square" anchor="t" lIns="0" rIns="0" tIns="0" bIns="0">
            <a:spAutoFit/>
          </a:bodyPr>
          <a:lstStyle/>
          <a:p>
            <a:pPr algn="l"/>
            <a:r>
              <a:rPr sz="1000" b="1" i="0">
                <a:solidFill>
                  <a:srgbClr val="8A93A6"/>
                </a:solidFill>
                <a:latin typeface="Arial"/>
              </a:rPr>
              <a:t>CVR</a:t>
            </a:r>
          </a:p>
        </p:txBody>
      </p:sp>
      <p:sp>
        <p:nvSpPr>
          <p:cNvPr id="39" name="TextBox 38"/>
          <p:cNvSpPr txBox="1"/>
          <p:nvPr/>
        </p:nvSpPr>
        <p:spPr>
          <a:xfrm>
            <a:off x="8101584" y="1889760"/>
            <a:ext cx="1219200" cy="274320"/>
          </a:xfrm>
          <a:prstGeom prst="rect">
            <a:avLst/>
          </a:prstGeom>
          <a:noFill/>
        </p:spPr>
        <p:txBody>
          <a:bodyPr wrap="square" anchor="t" lIns="0" rIns="0" tIns="0" bIns="0">
            <a:spAutoFit/>
          </a:bodyPr>
          <a:lstStyle/>
          <a:p>
            <a:pPr algn="l"/>
            <a:r>
              <a:rPr sz="2200" b="1" i="0">
                <a:solidFill>
                  <a:srgbClr val="8A93A6"/>
                </a:solidFill>
                <a:latin typeface="Arial"/>
              </a:rPr>
              <a:t>0,04 %</a:t>
            </a:r>
          </a:p>
        </p:txBody>
      </p:sp>
      <p:sp>
        <p:nvSpPr>
          <p:cNvPr id="40" name="TextBox 39"/>
          <p:cNvSpPr txBox="1"/>
          <p:nvPr/>
        </p:nvSpPr>
        <p:spPr>
          <a:xfrm>
            <a:off x="8101584" y="2243328"/>
            <a:ext cx="1219200" cy="109728"/>
          </a:xfrm>
          <a:prstGeom prst="rect">
            <a:avLst/>
          </a:prstGeom>
          <a:noFill/>
        </p:spPr>
        <p:txBody>
          <a:bodyPr wrap="square" anchor="t" lIns="0" rIns="0" tIns="0" bIns="0">
            <a:spAutoFit/>
          </a:bodyPr>
          <a:lstStyle/>
          <a:p>
            <a:pPr algn="l"/>
            <a:r>
              <a:rPr sz="1000" b="1" i="0">
                <a:solidFill>
                  <a:srgbClr val="8A93A6"/>
                </a:solidFill>
                <a:latin typeface="Arial"/>
              </a:rPr>
              <a:t>▲ +0,04 pt</a:t>
            </a:r>
          </a:p>
        </p:txBody>
      </p:sp>
      <p:sp>
        <p:nvSpPr>
          <p:cNvPr id="41" name="TextBox 40"/>
          <p:cNvSpPr txBox="1"/>
          <p:nvPr/>
        </p:nvSpPr>
        <p:spPr>
          <a:xfrm>
            <a:off x="8101584" y="2499360"/>
            <a:ext cx="1219200" cy="91440"/>
          </a:xfrm>
          <a:prstGeom prst="rect">
            <a:avLst/>
          </a:prstGeom>
          <a:noFill/>
        </p:spPr>
        <p:txBody>
          <a:bodyPr wrap="square" anchor="t" lIns="0" rIns="0" tIns="0" bIns="0">
            <a:spAutoFit/>
          </a:bodyPr>
          <a:lstStyle/>
          <a:p>
            <a:pPr algn="l"/>
            <a:r>
              <a:rPr sz="800" b="0" i="1">
                <a:solidFill>
                  <a:srgbClr val="8A93A6"/>
                </a:solidFill>
                <a:latin typeface="Arial"/>
              </a:rPr>
              <a:t>YTD 0,04 %</a:t>
            </a:r>
          </a:p>
        </p:txBody>
      </p:sp>
      <p:sp>
        <p:nvSpPr>
          <p:cNvPr id="42" name="Rectangle 41"/>
          <p:cNvSpPr/>
          <p:nvPr/>
        </p:nvSpPr>
        <p:spPr>
          <a:xfrm>
            <a:off x="9826752" y="1536192"/>
            <a:ext cx="1389888" cy="1127760"/>
          </a:xfrm>
          <a:prstGeom prst="rect">
            <a:avLst/>
          </a:prstGeom>
          <a:solidFill>
            <a:srgbClr val="F1EFEB"/>
          </a:solidFill>
          <a:ln>
            <a:noFill/>
          </a:ln>
          <a:effectLst/>
        </p:spPr>
        <p:txBody>
          <a:bodyPr rtlCol="0" anchor="ctr"/>
          <a:lstStyle/>
          <a:p>
            <a:pPr algn="ctr"/>
          </a:p>
        </p:txBody>
      </p:sp>
      <p:sp>
        <p:nvSpPr>
          <p:cNvPr id="43" name="Rounded Rectangle 42"/>
          <p:cNvSpPr/>
          <p:nvPr/>
        </p:nvSpPr>
        <p:spPr>
          <a:xfrm>
            <a:off x="10546080" y="1450848"/>
            <a:ext cx="609600" cy="170688"/>
          </a:xfrm>
          <a:prstGeom prst="roundRect">
            <a:avLst>
              <a:gd name="adj" fmla="val 50000"/>
            </a:avLst>
          </a:prstGeom>
          <a:solidFill>
            <a:srgbClr val="D9D6D1"/>
          </a:solidFill>
          <a:ln>
            <a:noFill/>
          </a:ln>
          <a:effectLst/>
        </p:spPr>
        <p:txBody>
          <a:bodyPr rtlCol="0" anchor="ctr"/>
          <a:lstStyle/>
          <a:p>
            <a:pPr algn="ctr"/>
          </a:p>
        </p:txBody>
      </p:sp>
      <p:sp>
        <p:nvSpPr>
          <p:cNvPr id="44" name="TextBox 43"/>
          <p:cNvSpPr txBox="1"/>
          <p:nvPr/>
        </p:nvSpPr>
        <p:spPr>
          <a:xfrm>
            <a:off x="10546080" y="1450848"/>
            <a:ext cx="609600" cy="170688"/>
          </a:xfrm>
          <a:prstGeom prst="rect">
            <a:avLst/>
          </a:prstGeom>
          <a:noFill/>
        </p:spPr>
        <p:txBody>
          <a:bodyPr wrap="square" anchor="ctr" lIns="0" rIns="0" tIns="0" bIns="0">
            <a:spAutoFit/>
          </a:bodyPr>
          <a:lstStyle/>
          <a:p>
            <a:pPr algn="ctr"/>
            <a:r>
              <a:rPr sz="800" b="1" i="0">
                <a:solidFill>
                  <a:srgbClr val="555B66"/>
                </a:solidFill>
                <a:latin typeface="Arial"/>
              </a:rPr>
              <a:t>INDICATIF</a:t>
            </a:r>
          </a:p>
        </p:txBody>
      </p:sp>
      <p:sp>
        <p:nvSpPr>
          <p:cNvPr id="45" name="TextBox 44"/>
          <p:cNvSpPr txBox="1"/>
          <p:nvPr/>
        </p:nvSpPr>
        <p:spPr>
          <a:xfrm>
            <a:off x="9960864" y="1706880"/>
            <a:ext cx="1219200" cy="121920"/>
          </a:xfrm>
          <a:prstGeom prst="rect">
            <a:avLst/>
          </a:prstGeom>
          <a:noFill/>
        </p:spPr>
        <p:txBody>
          <a:bodyPr wrap="square" anchor="t" lIns="0" rIns="0" tIns="0" bIns="0">
            <a:spAutoFit/>
          </a:bodyPr>
          <a:lstStyle/>
          <a:p>
            <a:pPr algn="l"/>
            <a:r>
              <a:rPr sz="1000" b="1" i="0">
                <a:solidFill>
                  <a:srgbClr val="8A93A6"/>
                </a:solidFill>
                <a:latin typeface="Arial"/>
              </a:rPr>
              <a:t>ROAS</a:t>
            </a:r>
          </a:p>
        </p:txBody>
      </p:sp>
      <p:sp>
        <p:nvSpPr>
          <p:cNvPr id="46" name="TextBox 45"/>
          <p:cNvSpPr txBox="1"/>
          <p:nvPr/>
        </p:nvSpPr>
        <p:spPr>
          <a:xfrm>
            <a:off x="9960864" y="1889760"/>
            <a:ext cx="1219200" cy="274320"/>
          </a:xfrm>
          <a:prstGeom prst="rect">
            <a:avLst/>
          </a:prstGeom>
          <a:noFill/>
        </p:spPr>
        <p:txBody>
          <a:bodyPr wrap="square" anchor="t" lIns="0" rIns="0" tIns="0" bIns="0">
            <a:spAutoFit/>
          </a:bodyPr>
          <a:lstStyle/>
          <a:p>
            <a:pPr algn="l"/>
            <a:r>
              <a:rPr sz="2200" b="1" i="0">
                <a:solidFill>
                  <a:srgbClr val="8A93A6"/>
                </a:solidFill>
                <a:latin typeface="Arial"/>
              </a:rPr>
              <a:t>0,02</a:t>
            </a:r>
          </a:p>
        </p:txBody>
      </p:sp>
      <p:sp>
        <p:nvSpPr>
          <p:cNvPr id="47" name="TextBox 46"/>
          <p:cNvSpPr txBox="1"/>
          <p:nvPr/>
        </p:nvSpPr>
        <p:spPr>
          <a:xfrm>
            <a:off x="9960864" y="2243328"/>
            <a:ext cx="1219200" cy="109728"/>
          </a:xfrm>
          <a:prstGeom prst="rect">
            <a:avLst/>
          </a:prstGeom>
          <a:noFill/>
        </p:spPr>
        <p:txBody>
          <a:bodyPr wrap="square" anchor="t" lIns="0" rIns="0" tIns="0" bIns="0">
            <a:spAutoFit/>
          </a:bodyPr>
          <a:lstStyle/>
          <a:p>
            <a:pPr algn="l"/>
            <a:r>
              <a:rPr sz="1000" b="1" i="0">
                <a:solidFill>
                  <a:srgbClr val="8A93A6"/>
                </a:solidFill>
                <a:latin typeface="Arial"/>
              </a:rPr>
              <a:t>▲ +0,02</a:t>
            </a:r>
          </a:p>
        </p:txBody>
      </p:sp>
      <p:sp>
        <p:nvSpPr>
          <p:cNvPr id="48" name="TextBox 47"/>
          <p:cNvSpPr txBox="1"/>
          <p:nvPr/>
        </p:nvSpPr>
        <p:spPr>
          <a:xfrm>
            <a:off x="9960864" y="2499360"/>
            <a:ext cx="1219200" cy="91440"/>
          </a:xfrm>
          <a:prstGeom prst="rect">
            <a:avLst/>
          </a:prstGeom>
          <a:noFill/>
        </p:spPr>
        <p:txBody>
          <a:bodyPr wrap="square" anchor="t" lIns="0" rIns="0" tIns="0" bIns="0">
            <a:spAutoFit/>
          </a:bodyPr>
          <a:lstStyle/>
          <a:p>
            <a:pPr algn="l"/>
            <a:r>
              <a:rPr sz="800" b="0" i="1">
                <a:solidFill>
                  <a:srgbClr val="8A93A6"/>
                </a:solidFill>
                <a:latin typeface="Arial"/>
              </a:rPr>
              <a:t>YTD 0,02</a:t>
            </a:r>
          </a:p>
        </p:txBody>
      </p:sp>
      <p:sp>
        <p:nvSpPr>
          <p:cNvPr id="49" name="Isosceles Triangle 48"/>
          <p:cNvSpPr/>
          <p:nvPr/>
        </p:nvSpPr>
        <p:spPr>
          <a:xfrm>
            <a:off x="8564880" y="2688336"/>
            <a:ext cx="182880" cy="85344"/>
          </a:xfrm>
          <a:prstGeom prst="triangle">
            <a:avLst/>
          </a:prstGeom>
          <a:solidFill>
            <a:srgbClr val="EBE9E5"/>
          </a:solidFill>
          <a:ln>
            <a:noFill/>
          </a:ln>
          <a:effectLst/>
        </p:spPr>
        <p:txBody>
          <a:bodyPr rtlCol="0" anchor="ctr"/>
          <a:lstStyle/>
          <a:p>
            <a:pPr algn="ctr"/>
          </a:p>
        </p:txBody>
      </p:sp>
      <p:sp>
        <p:nvSpPr>
          <p:cNvPr id="50" name="Rounded Rectangle 49"/>
          <p:cNvSpPr/>
          <p:nvPr/>
        </p:nvSpPr>
        <p:spPr>
          <a:xfrm>
            <a:off x="6108192" y="2773680"/>
            <a:ext cx="5108448" cy="438912"/>
          </a:xfrm>
          <a:prstGeom prst="roundRect">
            <a:avLst>
              <a:gd name="adj" fmla="val 15000"/>
            </a:avLst>
          </a:prstGeom>
          <a:solidFill>
            <a:srgbClr val="EBE9E5"/>
          </a:solidFill>
          <a:ln>
            <a:noFill/>
          </a:ln>
          <a:effectLst/>
        </p:spPr>
        <p:txBody>
          <a:bodyPr rtlCol="0" anchor="ctr"/>
          <a:lstStyle/>
          <a:p>
            <a:pPr algn="ctr"/>
          </a:p>
        </p:txBody>
      </p:sp>
      <p:sp>
        <p:nvSpPr>
          <p:cNvPr id="51" name="TextBox 50"/>
          <p:cNvSpPr txBox="1"/>
          <p:nvPr/>
        </p:nvSpPr>
        <p:spPr>
          <a:xfrm>
            <a:off x="6230112" y="2816352"/>
            <a:ext cx="4864608" cy="365760"/>
          </a:xfrm>
          <a:prstGeom prst="rect">
            <a:avLst/>
          </a:prstGeom>
          <a:noFill/>
        </p:spPr>
        <p:txBody>
          <a:bodyPr wrap="square" anchor="ctr" lIns="0" rIns="0" tIns="0" bIns="0">
            <a:spAutoFit/>
          </a:bodyPr>
          <a:lstStyle/>
          <a:p>
            <a:pPr algn="l"/>
            <a:r>
              <a:rPr sz="900" b="0" i="0">
                <a:solidFill>
                  <a:srgbClr val="555B66"/>
                </a:solidFill>
                <a:latin typeface="Arial"/>
              </a:rPr>
              <a:t>Conversions communiquées via Awin, à titre indicatif. Elles seront consolidées dès l'intégration du Conversion Tracker.</a:t>
            </a:r>
          </a:p>
        </p:txBody>
      </p:sp>
      <p:sp>
        <p:nvSpPr>
          <p:cNvPr id="52" name="TextBox 51"/>
          <p:cNvSpPr txBox="1"/>
          <p:nvPr/>
        </p:nvSpPr>
        <p:spPr>
          <a:xfrm>
            <a:off x="530352" y="3322320"/>
            <a:ext cx="7315200" cy="182880"/>
          </a:xfrm>
          <a:prstGeom prst="rect">
            <a:avLst/>
          </a:prstGeom>
          <a:noFill/>
        </p:spPr>
        <p:txBody>
          <a:bodyPr wrap="square" anchor="t" lIns="0" rIns="0" tIns="0" bIns="0">
            <a:spAutoFit/>
          </a:bodyPr>
          <a:lstStyle/>
          <a:p>
            <a:pPr algn="l"/>
            <a:r>
              <a:rPr sz="1400" b="1" i="0">
                <a:solidFill>
                  <a:srgbClr val="EE6A2C"/>
                </a:solidFill>
                <a:latin typeface="Arial"/>
              </a:rPr>
              <a:t>INSIGHTS QUALITATIFS · ANALYSE DES RECHERCHES</a:t>
            </a:r>
          </a:p>
        </p:txBody>
      </p:sp>
      <p:sp>
        <p:nvSpPr>
          <p:cNvPr id="53" name="Rectangle 52"/>
          <p:cNvSpPr/>
          <p:nvPr/>
        </p:nvSpPr>
        <p:spPr>
          <a:xfrm>
            <a:off x="530352" y="3584448"/>
            <a:ext cx="3401568" cy="2560320"/>
          </a:xfrm>
          <a:prstGeom prst="rect">
            <a:avLst/>
          </a:prstGeom>
          <a:solidFill>
            <a:srgbClr val="FFFFFF"/>
          </a:solidFill>
          <a:ln>
            <a:noFill/>
          </a:ln>
          <a:effectLst/>
        </p:spPr>
        <p:txBody>
          <a:bodyPr rtlCol="0" anchor="ctr"/>
          <a:lstStyle/>
          <a:p>
            <a:pPr algn="ctr"/>
          </a:p>
        </p:txBody>
      </p:sp>
      <p:sp>
        <p:nvSpPr>
          <p:cNvPr id="54" name="Rectangle 53"/>
          <p:cNvSpPr/>
          <p:nvPr/>
        </p:nvSpPr>
        <p:spPr>
          <a:xfrm>
            <a:off x="4194048" y="3584448"/>
            <a:ext cx="3401568" cy="2560320"/>
          </a:xfrm>
          <a:prstGeom prst="rect">
            <a:avLst/>
          </a:prstGeom>
          <a:solidFill>
            <a:srgbClr val="FFFFFF"/>
          </a:solidFill>
          <a:ln>
            <a:noFill/>
          </a:ln>
          <a:effectLst/>
        </p:spPr>
        <p:txBody>
          <a:bodyPr rtlCol="0" anchor="ctr"/>
          <a:lstStyle/>
          <a:p>
            <a:pPr algn="ctr"/>
          </a:p>
        </p:txBody>
      </p:sp>
      <p:sp>
        <p:nvSpPr>
          <p:cNvPr id="55" name="Rectangle 54"/>
          <p:cNvSpPr/>
          <p:nvPr/>
        </p:nvSpPr>
        <p:spPr>
          <a:xfrm>
            <a:off x="7857744" y="3584448"/>
            <a:ext cx="3401568" cy="2560320"/>
          </a:xfrm>
          <a:prstGeom prst="rect">
            <a:avLst/>
          </a:prstGeom>
          <a:solidFill>
            <a:srgbClr val="FFFFFF"/>
          </a:solidFill>
          <a:ln>
            <a:noFill/>
          </a:ln>
          <a:effectLst/>
        </p:spPr>
        <p:txBody>
          <a:bodyPr rtlCol="0" anchor="ctr"/>
          <a:lstStyle/>
          <a:p>
            <a:pPr algn="ctr"/>
          </a:p>
        </p:txBody>
      </p:sp>
      <p:sp>
        <p:nvSpPr>
          <p:cNvPr id="56" name="TextBox 55"/>
          <p:cNvSpPr txBox="1"/>
          <p:nvPr/>
        </p:nvSpPr>
        <p:spPr>
          <a:xfrm>
            <a:off x="774192" y="3767328"/>
            <a:ext cx="2926080" cy="152400"/>
          </a:xfrm>
          <a:prstGeom prst="rect">
            <a:avLst/>
          </a:prstGeom>
          <a:noFill/>
        </p:spPr>
        <p:txBody>
          <a:bodyPr wrap="square" anchor="t" lIns="0" rIns="0" tIns="0" bIns="0">
            <a:spAutoFit/>
          </a:bodyPr>
          <a:lstStyle/>
          <a:p>
            <a:pPr algn="l"/>
            <a:r>
              <a:rPr sz="1300" b="1" i="0">
                <a:solidFill>
                  <a:srgbClr val="555B66"/>
                </a:solidFill>
                <a:latin typeface="Arial"/>
              </a:rPr>
              <a:t>CHAMP LEXICAL</a:t>
            </a:r>
          </a:p>
        </p:txBody>
      </p:sp>
      <p:sp>
        <p:nvSpPr>
          <p:cNvPr id="57" name="TextBox 56"/>
          <p:cNvSpPr txBox="1"/>
          <p:nvPr/>
        </p:nvSpPr>
        <p:spPr>
          <a:xfrm>
            <a:off x="774192" y="3992880"/>
            <a:ext cx="2926080" cy="121920"/>
          </a:xfrm>
          <a:prstGeom prst="rect">
            <a:avLst/>
          </a:prstGeom>
          <a:noFill/>
        </p:spPr>
        <p:txBody>
          <a:bodyPr wrap="square" anchor="t" lIns="0" rIns="0" tIns="0" bIns="0">
            <a:spAutoFit/>
          </a:bodyPr>
          <a:lstStyle/>
          <a:p>
            <a:pPr algn="l"/>
            <a:r>
              <a:rPr sz="1000" b="0" i="1">
                <a:solidFill>
                  <a:srgbClr val="8A93A6"/>
                </a:solidFill>
                <a:latin typeface="Arial"/>
              </a:rPr>
              <a:t>Termes les plus fréquents</a:t>
            </a:r>
          </a:p>
        </p:txBody>
      </p:sp>
      <p:sp>
        <p:nvSpPr>
          <p:cNvPr id="58" name="TextBox 57"/>
          <p:cNvSpPr txBox="1"/>
          <p:nvPr/>
        </p:nvSpPr>
        <p:spPr>
          <a:xfrm>
            <a:off x="774192" y="4236720"/>
            <a:ext cx="2987040" cy="1828800"/>
          </a:xfrm>
          <a:prstGeom prst="rect">
            <a:avLst/>
          </a:prstGeom>
          <a:noFill/>
        </p:spPr>
        <p:txBody>
          <a:bodyPr wrap="square" anchor="t" lIns="0" rIns="0" tIns="0" bIns="0">
            <a:spAutoFit/>
          </a:bodyPr>
          <a:lstStyle/>
          <a:p>
            <a:pPr algn="l">
              <a:spcAft>
                <a:spcPts val="500"/>
              </a:spcAft>
            </a:pPr>
            <a:r>
              <a:rPr sz="2000" b="1" i="0">
                <a:solidFill>
                  <a:srgbClr val="EE6A2C"/>
                </a:solidFill>
                <a:latin typeface="Arial"/>
              </a:rPr>
              <a:t>forfait mobile</a:t>
            </a:r>
          </a:p>
          <a:p>
            <a:pPr algn="l">
              <a:spcAft>
                <a:spcPts val="500"/>
              </a:spcAft>
            </a:pPr>
            <a:r>
              <a:rPr sz="1700" b="1" i="0">
                <a:solidFill>
                  <a:srgbClr val="111111"/>
                </a:solidFill>
                <a:latin typeface="Arial"/>
              </a:rPr>
              <a:t>sans engagement</a:t>
            </a:r>
            <a:r>
              <a:rPr sz="1500" b="0" i="0">
                <a:solidFill>
                  <a:srgbClr val="111111"/>
                </a:solidFill>
                <a:latin typeface="Arial"/>
              </a:rPr>
              <a:t>      eSIM</a:t>
            </a:r>
          </a:p>
          <a:p>
            <a:pPr algn="l">
              <a:spcAft>
                <a:spcPts val="500"/>
              </a:spcAft>
            </a:pPr>
            <a:r>
              <a:rPr sz="1400" b="1" i="0">
                <a:solidFill>
                  <a:srgbClr val="EE6A2C"/>
                </a:solidFill>
                <a:latin typeface="Arial"/>
              </a:rPr>
              <a:t>40 Go</a:t>
            </a:r>
            <a:r>
              <a:rPr sz="1300" b="1" i="0">
                <a:solidFill>
                  <a:srgbClr val="111111"/>
                </a:solidFill>
                <a:latin typeface="Arial"/>
              </a:rPr>
              <a:t>   150 Go</a:t>
            </a:r>
            <a:r>
              <a:rPr sz="1300" b="0" i="0">
                <a:solidFill>
                  <a:srgbClr val="111111"/>
                </a:solidFill>
                <a:latin typeface="Arial"/>
              </a:rPr>
              <a:t>   5G</a:t>
            </a:r>
          </a:p>
          <a:p>
            <a:pPr algn="l">
              <a:spcAft>
                <a:spcPts val="500"/>
              </a:spcAft>
            </a:pPr>
            <a:r>
              <a:rPr sz="1100" b="1" i="0">
                <a:solidFill>
                  <a:srgbClr val="EE6A2C"/>
                </a:solidFill>
                <a:latin typeface="Arial"/>
              </a:rPr>
              <a:t>carte SIM</a:t>
            </a:r>
            <a:r>
              <a:rPr sz="1100" b="1" i="0">
                <a:solidFill>
                  <a:srgbClr val="111111"/>
                </a:solidFill>
                <a:latin typeface="Arial"/>
              </a:rPr>
              <a:t>   code RIO</a:t>
            </a:r>
            <a:r>
              <a:rPr sz="1100" b="0" i="0">
                <a:solidFill>
                  <a:srgbClr val="111111"/>
                </a:solidFill>
                <a:latin typeface="Arial"/>
              </a:rPr>
              <a:t>   portabilité</a:t>
            </a:r>
          </a:p>
          <a:p>
            <a:pPr algn="l">
              <a:spcAft>
                <a:spcPts val="500"/>
              </a:spcAft>
            </a:pPr>
            <a:r>
              <a:rPr sz="1100" b="1" i="0">
                <a:solidFill>
                  <a:srgbClr val="EE6A2C"/>
                </a:solidFill>
                <a:latin typeface="Arial"/>
              </a:rPr>
              <a:t>activation immédiate</a:t>
            </a:r>
            <a:r>
              <a:rPr sz="1100" b="1" i="0">
                <a:solidFill>
                  <a:srgbClr val="111111"/>
                </a:solidFill>
                <a:latin typeface="Arial"/>
              </a:rPr>
              <a:t>   partage de connexion</a:t>
            </a:r>
          </a:p>
          <a:p>
            <a:pPr algn="l">
              <a:spcAft>
                <a:spcPts val="500"/>
              </a:spcAft>
            </a:pPr>
            <a:r>
              <a:rPr sz="1100" b="1" i="0">
                <a:solidFill>
                  <a:srgbClr val="111111"/>
                </a:solidFill>
                <a:latin typeface="Arial"/>
              </a:rPr>
              <a:t>roaming</a:t>
            </a:r>
            <a:r>
              <a:rPr sz="1100" b="0" i="0">
                <a:solidFill>
                  <a:srgbClr val="111111"/>
                </a:solidFill>
                <a:latin typeface="Arial"/>
              </a:rPr>
              <a:t>   meilleur prix</a:t>
            </a:r>
            <a:r>
              <a:rPr sz="1100" b="1" i="0">
                <a:solidFill>
                  <a:srgbClr val="EE6A2C"/>
                </a:solidFill>
                <a:latin typeface="Arial"/>
              </a:rPr>
              <a:t>   départ en vacances</a:t>
            </a:r>
          </a:p>
        </p:txBody>
      </p:sp>
      <p:sp>
        <p:nvSpPr>
          <p:cNvPr id="59" name="TextBox 58"/>
          <p:cNvSpPr txBox="1"/>
          <p:nvPr/>
        </p:nvSpPr>
        <p:spPr>
          <a:xfrm>
            <a:off x="4437888" y="3767328"/>
            <a:ext cx="2926080" cy="152400"/>
          </a:xfrm>
          <a:prstGeom prst="rect">
            <a:avLst/>
          </a:prstGeom>
          <a:noFill/>
        </p:spPr>
        <p:txBody>
          <a:bodyPr wrap="square" anchor="t" lIns="0" rIns="0" tIns="0" bIns="0">
            <a:spAutoFit/>
          </a:bodyPr>
          <a:lstStyle/>
          <a:p>
            <a:pPr algn="l"/>
            <a:r>
              <a:rPr sz="1300" b="1" i="0">
                <a:solidFill>
                  <a:srgbClr val="555B66"/>
                </a:solidFill>
                <a:latin typeface="Arial"/>
              </a:rPr>
              <a:t>EXEMPLES DE REQUÊTES</a:t>
            </a:r>
          </a:p>
        </p:txBody>
      </p:sp>
      <p:sp>
        <p:nvSpPr>
          <p:cNvPr id="60" name="TextBox 59"/>
          <p:cNvSpPr txBox="1"/>
          <p:nvPr/>
        </p:nvSpPr>
        <p:spPr>
          <a:xfrm>
            <a:off x="4437888" y="3992880"/>
            <a:ext cx="2926080" cy="121920"/>
          </a:xfrm>
          <a:prstGeom prst="rect">
            <a:avLst/>
          </a:prstGeom>
          <a:noFill/>
        </p:spPr>
        <p:txBody>
          <a:bodyPr wrap="square" anchor="t" lIns="0" rIns="0" tIns="0" bIns="0">
            <a:spAutoFit/>
          </a:bodyPr>
          <a:lstStyle/>
          <a:p>
            <a:pPr algn="l"/>
            <a:r>
              <a:rPr sz="1000" b="0" i="1">
                <a:solidFill>
                  <a:srgbClr val="8A93A6"/>
                </a:solidFill>
                <a:latin typeface="Arial"/>
              </a:rPr>
              <a:t>Questions posées aux IA</a:t>
            </a:r>
          </a:p>
        </p:txBody>
      </p:sp>
      <p:sp>
        <p:nvSpPr>
          <p:cNvPr id="61" name="TextBox 60"/>
          <p:cNvSpPr txBox="1"/>
          <p:nvPr/>
        </p:nvSpPr>
        <p:spPr>
          <a:xfrm>
            <a:off x="4437888" y="4267200"/>
            <a:ext cx="2913888" cy="304800"/>
          </a:xfrm>
          <a:prstGeom prst="rect">
            <a:avLst/>
          </a:prstGeom>
          <a:noFill/>
        </p:spPr>
        <p:txBody>
          <a:bodyPr wrap="square" anchor="ctr" lIns="0" rIns="0" tIns="0" bIns="0">
            <a:spAutoFit/>
          </a:bodyPr>
          <a:lstStyle/>
          <a:p>
            <a:pPr algn="l"/>
            <a:r>
              <a:rPr sz="1000" b="0" i="0">
                <a:solidFill>
                  <a:srgbClr val="111111"/>
                </a:solidFill>
                <a:latin typeface="Arial"/>
              </a:rPr>
              <a:t>Quel forfait mobile sans engagement choisir ?</a:t>
            </a:r>
          </a:p>
        </p:txBody>
      </p:sp>
      <p:sp>
        <p:nvSpPr>
          <p:cNvPr id="62" name="Rectangle 61"/>
          <p:cNvSpPr/>
          <p:nvPr/>
        </p:nvSpPr>
        <p:spPr>
          <a:xfrm>
            <a:off x="4437888" y="4602480"/>
            <a:ext cx="2913888" cy="6096"/>
          </a:xfrm>
          <a:prstGeom prst="rect">
            <a:avLst/>
          </a:prstGeom>
          <a:solidFill>
            <a:srgbClr val="E6E3DE"/>
          </a:solidFill>
          <a:ln>
            <a:noFill/>
          </a:ln>
          <a:effectLst/>
        </p:spPr>
        <p:txBody>
          <a:bodyPr rtlCol="0" anchor="ctr"/>
          <a:lstStyle/>
          <a:p>
            <a:pPr algn="ctr"/>
          </a:p>
        </p:txBody>
      </p:sp>
      <p:sp>
        <p:nvSpPr>
          <p:cNvPr id="63" name="TextBox 62"/>
          <p:cNvSpPr txBox="1"/>
          <p:nvPr/>
        </p:nvSpPr>
        <p:spPr>
          <a:xfrm>
            <a:off x="4437888" y="4632960"/>
            <a:ext cx="2913888" cy="304800"/>
          </a:xfrm>
          <a:prstGeom prst="rect">
            <a:avLst/>
          </a:prstGeom>
          <a:noFill/>
        </p:spPr>
        <p:txBody>
          <a:bodyPr wrap="square" anchor="ctr" lIns="0" rIns="0" tIns="0" bIns="0">
            <a:spAutoFit/>
          </a:bodyPr>
          <a:lstStyle/>
          <a:p>
            <a:pPr algn="l"/>
            <a:r>
              <a:rPr sz="1000" b="0" i="0">
                <a:solidFill>
                  <a:srgbClr val="111111"/>
                </a:solidFill>
                <a:latin typeface="Arial"/>
              </a:rPr>
              <a:t>Où trouver un forfait 120 Go à moins de 10 € par mois ?</a:t>
            </a:r>
          </a:p>
        </p:txBody>
      </p:sp>
      <p:sp>
        <p:nvSpPr>
          <p:cNvPr id="64" name="Rectangle 63"/>
          <p:cNvSpPr/>
          <p:nvPr/>
        </p:nvSpPr>
        <p:spPr>
          <a:xfrm>
            <a:off x="4437888" y="4968240"/>
            <a:ext cx="2913888" cy="6096"/>
          </a:xfrm>
          <a:prstGeom prst="rect">
            <a:avLst/>
          </a:prstGeom>
          <a:solidFill>
            <a:srgbClr val="E6E3DE"/>
          </a:solidFill>
          <a:ln>
            <a:noFill/>
          </a:ln>
          <a:effectLst/>
        </p:spPr>
        <p:txBody>
          <a:bodyPr rtlCol="0" anchor="ctr"/>
          <a:lstStyle/>
          <a:p>
            <a:pPr algn="ctr"/>
          </a:p>
        </p:txBody>
      </p:sp>
      <p:sp>
        <p:nvSpPr>
          <p:cNvPr id="65" name="TextBox 64"/>
          <p:cNvSpPr txBox="1"/>
          <p:nvPr/>
        </p:nvSpPr>
        <p:spPr>
          <a:xfrm>
            <a:off x="4437888" y="4998720"/>
            <a:ext cx="2913888" cy="304800"/>
          </a:xfrm>
          <a:prstGeom prst="rect">
            <a:avLst/>
          </a:prstGeom>
          <a:noFill/>
        </p:spPr>
        <p:txBody>
          <a:bodyPr wrap="square" anchor="ctr" lIns="0" rIns="0" tIns="0" bIns="0">
            <a:spAutoFit/>
          </a:bodyPr>
          <a:lstStyle/>
          <a:p>
            <a:pPr algn="l"/>
            <a:r>
              <a:rPr sz="1000" b="0" i="0">
                <a:solidFill>
                  <a:srgbClr val="111111"/>
                </a:solidFill>
                <a:latin typeface="Arial"/>
              </a:rPr>
              <a:t>Puis-je utiliser une eSIM avec Cdiscount Mobile ?</a:t>
            </a:r>
          </a:p>
        </p:txBody>
      </p:sp>
      <p:sp>
        <p:nvSpPr>
          <p:cNvPr id="66" name="Rectangle 65"/>
          <p:cNvSpPr/>
          <p:nvPr/>
        </p:nvSpPr>
        <p:spPr>
          <a:xfrm>
            <a:off x="4437888" y="5334000"/>
            <a:ext cx="2913888" cy="6096"/>
          </a:xfrm>
          <a:prstGeom prst="rect">
            <a:avLst/>
          </a:prstGeom>
          <a:solidFill>
            <a:srgbClr val="E6E3DE"/>
          </a:solidFill>
          <a:ln>
            <a:noFill/>
          </a:ln>
          <a:effectLst/>
        </p:spPr>
        <p:txBody>
          <a:bodyPr rtlCol="0" anchor="ctr"/>
          <a:lstStyle/>
          <a:p>
            <a:pPr algn="ctr"/>
          </a:p>
        </p:txBody>
      </p:sp>
      <p:sp>
        <p:nvSpPr>
          <p:cNvPr id="67" name="TextBox 66"/>
          <p:cNvSpPr txBox="1"/>
          <p:nvPr/>
        </p:nvSpPr>
        <p:spPr>
          <a:xfrm>
            <a:off x="4437888" y="5364480"/>
            <a:ext cx="2913888" cy="304800"/>
          </a:xfrm>
          <a:prstGeom prst="rect">
            <a:avLst/>
          </a:prstGeom>
          <a:noFill/>
        </p:spPr>
        <p:txBody>
          <a:bodyPr wrap="square" anchor="ctr" lIns="0" rIns="0" tIns="0" bIns="0">
            <a:spAutoFit/>
          </a:bodyPr>
          <a:lstStyle/>
          <a:p>
            <a:pPr algn="l"/>
            <a:r>
              <a:rPr sz="1000" b="0" i="0">
                <a:solidFill>
                  <a:srgbClr val="111111"/>
                </a:solidFill>
                <a:latin typeface="Arial"/>
              </a:rPr>
              <a:t>Puis-je conserver mon numéro en changeant d'opérateur ?</a:t>
            </a:r>
          </a:p>
        </p:txBody>
      </p:sp>
      <p:sp>
        <p:nvSpPr>
          <p:cNvPr id="68" name="Rectangle 67"/>
          <p:cNvSpPr/>
          <p:nvPr/>
        </p:nvSpPr>
        <p:spPr>
          <a:xfrm>
            <a:off x="4437888" y="5699760"/>
            <a:ext cx="2913888" cy="6096"/>
          </a:xfrm>
          <a:prstGeom prst="rect">
            <a:avLst/>
          </a:prstGeom>
          <a:solidFill>
            <a:srgbClr val="E6E3DE"/>
          </a:solidFill>
          <a:ln>
            <a:noFill/>
          </a:ln>
          <a:effectLst/>
        </p:spPr>
        <p:txBody>
          <a:bodyPr rtlCol="0" anchor="ctr"/>
          <a:lstStyle/>
          <a:p>
            <a:pPr algn="ctr"/>
          </a:p>
        </p:txBody>
      </p:sp>
      <p:sp>
        <p:nvSpPr>
          <p:cNvPr id="69" name="TextBox 68"/>
          <p:cNvSpPr txBox="1"/>
          <p:nvPr/>
        </p:nvSpPr>
        <p:spPr>
          <a:xfrm>
            <a:off x="4437888" y="5730240"/>
            <a:ext cx="2913888" cy="304800"/>
          </a:xfrm>
          <a:prstGeom prst="rect">
            <a:avLst/>
          </a:prstGeom>
          <a:noFill/>
        </p:spPr>
        <p:txBody>
          <a:bodyPr wrap="square" anchor="ctr" lIns="0" rIns="0" tIns="0" bIns="0">
            <a:spAutoFit/>
          </a:bodyPr>
          <a:lstStyle/>
          <a:p>
            <a:pPr algn="l"/>
            <a:r>
              <a:rPr sz="1000" b="0" i="0">
                <a:solidFill>
                  <a:srgbClr val="111111"/>
                </a:solidFill>
                <a:latin typeface="Arial"/>
              </a:rPr>
              <a:t>Quel forfait pour faire du partage de connexion ?</a:t>
            </a:r>
          </a:p>
        </p:txBody>
      </p:sp>
      <p:sp>
        <p:nvSpPr>
          <p:cNvPr id="70" name="TextBox 69"/>
          <p:cNvSpPr txBox="1"/>
          <p:nvPr/>
        </p:nvSpPr>
        <p:spPr>
          <a:xfrm>
            <a:off x="8101584" y="3767328"/>
            <a:ext cx="2926080" cy="152400"/>
          </a:xfrm>
          <a:prstGeom prst="rect">
            <a:avLst/>
          </a:prstGeom>
          <a:noFill/>
        </p:spPr>
        <p:txBody>
          <a:bodyPr wrap="square" anchor="t" lIns="0" rIns="0" tIns="0" bIns="0">
            <a:spAutoFit/>
          </a:bodyPr>
          <a:lstStyle/>
          <a:p>
            <a:pPr algn="l"/>
            <a:r>
              <a:rPr sz="1300" b="1" i="0">
                <a:solidFill>
                  <a:srgbClr val="555B66"/>
                </a:solidFill>
                <a:latin typeface="Arial"/>
              </a:rPr>
              <a:t>CATÉGORIES DE PRODUITS</a:t>
            </a:r>
          </a:p>
        </p:txBody>
      </p:sp>
      <p:sp>
        <p:nvSpPr>
          <p:cNvPr id="71" name="TextBox 70"/>
          <p:cNvSpPr txBox="1"/>
          <p:nvPr/>
        </p:nvSpPr>
        <p:spPr>
          <a:xfrm>
            <a:off x="8101584" y="3992880"/>
            <a:ext cx="2926080" cy="121920"/>
          </a:xfrm>
          <a:prstGeom prst="rect">
            <a:avLst/>
          </a:prstGeom>
          <a:noFill/>
        </p:spPr>
        <p:txBody>
          <a:bodyPr wrap="square" anchor="t" lIns="0" rIns="0" tIns="0" bIns="0">
            <a:spAutoFit/>
          </a:bodyPr>
          <a:lstStyle/>
          <a:p>
            <a:pPr algn="l"/>
            <a:r>
              <a:rPr sz="1000" b="0" i="1">
                <a:solidFill>
                  <a:srgbClr val="8A93A6"/>
                </a:solidFill>
                <a:latin typeface="Arial"/>
              </a:rPr>
              <a:t>Répartition des requêtes</a:t>
            </a:r>
          </a:p>
        </p:txBody>
      </p:sp>
      <p:sp>
        <p:nvSpPr>
          <p:cNvPr id="72" name="TextBox 71"/>
          <p:cNvSpPr txBox="1"/>
          <p:nvPr/>
        </p:nvSpPr>
        <p:spPr>
          <a:xfrm>
            <a:off x="8101584" y="4267200"/>
            <a:ext cx="2194560" cy="134112"/>
          </a:xfrm>
          <a:prstGeom prst="rect">
            <a:avLst/>
          </a:prstGeom>
          <a:noFill/>
        </p:spPr>
        <p:txBody>
          <a:bodyPr wrap="square" anchor="t" lIns="0" rIns="0" tIns="0" bIns="0">
            <a:spAutoFit/>
          </a:bodyPr>
          <a:lstStyle/>
          <a:p>
            <a:pPr algn="l"/>
            <a:r>
              <a:rPr sz="1000" b="0" i="0">
                <a:solidFill>
                  <a:srgbClr val="111111"/>
                </a:solidFill>
                <a:latin typeface="Arial"/>
              </a:rPr>
              <a:t>Recherche générale d'un forfait</a:t>
            </a:r>
          </a:p>
        </p:txBody>
      </p:sp>
      <p:sp>
        <p:nvSpPr>
          <p:cNvPr id="73" name="Rectangle 72"/>
          <p:cNvSpPr/>
          <p:nvPr/>
        </p:nvSpPr>
        <p:spPr>
          <a:xfrm>
            <a:off x="8101584" y="4419600"/>
            <a:ext cx="2011680" cy="54864"/>
          </a:xfrm>
          <a:prstGeom prst="rect">
            <a:avLst/>
          </a:prstGeom>
          <a:solidFill>
            <a:srgbClr val="ECEAE5"/>
          </a:solidFill>
          <a:ln>
            <a:noFill/>
          </a:ln>
          <a:effectLst/>
        </p:spPr>
        <p:txBody>
          <a:bodyPr rtlCol="0" anchor="ctr"/>
          <a:lstStyle/>
          <a:p>
            <a:pPr algn="ctr"/>
          </a:p>
        </p:txBody>
      </p:sp>
      <p:sp>
        <p:nvSpPr>
          <p:cNvPr id="74" name="Rectangle 73"/>
          <p:cNvSpPr/>
          <p:nvPr/>
        </p:nvSpPr>
        <p:spPr>
          <a:xfrm>
            <a:off x="8101584" y="4419600"/>
            <a:ext cx="724204" cy="54864"/>
          </a:xfrm>
          <a:prstGeom prst="rect">
            <a:avLst/>
          </a:prstGeom>
          <a:solidFill>
            <a:srgbClr val="EE6A2C"/>
          </a:solidFill>
          <a:ln>
            <a:noFill/>
          </a:ln>
          <a:effectLst/>
        </p:spPr>
        <p:txBody>
          <a:bodyPr rtlCol="0" anchor="ctr"/>
          <a:lstStyle/>
          <a:p>
            <a:pPr algn="ctr"/>
          </a:p>
        </p:txBody>
      </p:sp>
      <p:sp>
        <p:nvSpPr>
          <p:cNvPr id="75" name="TextBox 74"/>
          <p:cNvSpPr txBox="1"/>
          <p:nvPr/>
        </p:nvSpPr>
        <p:spPr>
          <a:xfrm>
            <a:off x="10241280" y="4340352"/>
            <a:ext cx="792480" cy="182880"/>
          </a:xfrm>
          <a:prstGeom prst="rect">
            <a:avLst/>
          </a:prstGeom>
          <a:noFill/>
        </p:spPr>
        <p:txBody>
          <a:bodyPr wrap="square" anchor="ctr" lIns="0" rIns="0" tIns="0" bIns="0">
            <a:spAutoFit/>
          </a:bodyPr>
          <a:lstStyle/>
          <a:p>
            <a:pPr algn="r"/>
            <a:r>
              <a:rPr sz="1300" b="1" i="0">
                <a:solidFill>
                  <a:srgbClr val="111111"/>
                </a:solidFill>
                <a:latin typeface="Arial"/>
              </a:rPr>
              <a:t>36 %</a:t>
            </a:r>
          </a:p>
        </p:txBody>
      </p:sp>
      <p:sp>
        <p:nvSpPr>
          <p:cNvPr id="76" name="TextBox 75"/>
          <p:cNvSpPr txBox="1"/>
          <p:nvPr/>
        </p:nvSpPr>
        <p:spPr>
          <a:xfrm>
            <a:off x="8101584" y="4495800"/>
            <a:ext cx="2194560" cy="134112"/>
          </a:xfrm>
          <a:prstGeom prst="rect">
            <a:avLst/>
          </a:prstGeom>
          <a:noFill/>
        </p:spPr>
        <p:txBody>
          <a:bodyPr wrap="square" anchor="t" lIns="0" rIns="0" tIns="0" bIns="0">
            <a:spAutoFit/>
          </a:bodyPr>
          <a:lstStyle/>
          <a:p>
            <a:pPr algn="l"/>
            <a:r>
              <a:rPr sz="1000" b="0" i="0">
                <a:solidFill>
                  <a:srgbClr val="111111"/>
                </a:solidFill>
                <a:latin typeface="Arial"/>
              </a:rPr>
              <a:t>eSIM et carte SIM</a:t>
            </a:r>
          </a:p>
        </p:txBody>
      </p:sp>
      <p:sp>
        <p:nvSpPr>
          <p:cNvPr id="77" name="Rectangle 76"/>
          <p:cNvSpPr/>
          <p:nvPr/>
        </p:nvSpPr>
        <p:spPr>
          <a:xfrm>
            <a:off x="8101584" y="4648200"/>
            <a:ext cx="2011680" cy="54864"/>
          </a:xfrm>
          <a:prstGeom prst="rect">
            <a:avLst/>
          </a:prstGeom>
          <a:solidFill>
            <a:srgbClr val="ECEAE5"/>
          </a:solidFill>
          <a:ln>
            <a:noFill/>
          </a:ln>
          <a:effectLst/>
        </p:spPr>
        <p:txBody>
          <a:bodyPr rtlCol="0" anchor="ctr"/>
          <a:lstStyle/>
          <a:p>
            <a:pPr algn="ctr"/>
          </a:p>
        </p:txBody>
      </p:sp>
      <p:sp>
        <p:nvSpPr>
          <p:cNvPr id="78" name="Rectangle 77"/>
          <p:cNvSpPr/>
          <p:nvPr/>
        </p:nvSpPr>
        <p:spPr>
          <a:xfrm>
            <a:off x="8101584" y="4648200"/>
            <a:ext cx="502920" cy="54864"/>
          </a:xfrm>
          <a:prstGeom prst="rect">
            <a:avLst/>
          </a:prstGeom>
          <a:solidFill>
            <a:srgbClr val="9AA3B2"/>
          </a:solidFill>
          <a:ln>
            <a:noFill/>
          </a:ln>
          <a:effectLst/>
        </p:spPr>
        <p:txBody>
          <a:bodyPr rtlCol="0" anchor="ctr"/>
          <a:lstStyle/>
          <a:p>
            <a:pPr algn="ctr"/>
          </a:p>
        </p:txBody>
      </p:sp>
      <p:sp>
        <p:nvSpPr>
          <p:cNvPr id="79" name="TextBox 78"/>
          <p:cNvSpPr txBox="1"/>
          <p:nvPr/>
        </p:nvSpPr>
        <p:spPr>
          <a:xfrm>
            <a:off x="10241280" y="4568952"/>
            <a:ext cx="792480" cy="182880"/>
          </a:xfrm>
          <a:prstGeom prst="rect">
            <a:avLst/>
          </a:prstGeom>
          <a:noFill/>
        </p:spPr>
        <p:txBody>
          <a:bodyPr wrap="square" anchor="ctr" lIns="0" rIns="0" tIns="0" bIns="0">
            <a:spAutoFit/>
          </a:bodyPr>
          <a:lstStyle/>
          <a:p>
            <a:pPr algn="r"/>
            <a:r>
              <a:rPr sz="1300" b="1" i="0">
                <a:solidFill>
                  <a:srgbClr val="111111"/>
                </a:solidFill>
                <a:latin typeface="Arial"/>
              </a:rPr>
              <a:t>25 %</a:t>
            </a:r>
          </a:p>
        </p:txBody>
      </p:sp>
      <p:sp>
        <p:nvSpPr>
          <p:cNvPr id="80" name="TextBox 79"/>
          <p:cNvSpPr txBox="1"/>
          <p:nvPr/>
        </p:nvSpPr>
        <p:spPr>
          <a:xfrm>
            <a:off x="8101584" y="4724400"/>
            <a:ext cx="2194560" cy="134112"/>
          </a:xfrm>
          <a:prstGeom prst="rect">
            <a:avLst/>
          </a:prstGeom>
          <a:noFill/>
        </p:spPr>
        <p:txBody>
          <a:bodyPr wrap="square" anchor="t" lIns="0" rIns="0" tIns="0" bIns="0">
            <a:spAutoFit/>
          </a:bodyPr>
          <a:lstStyle/>
          <a:p>
            <a:pPr algn="l"/>
            <a:r>
              <a:rPr sz="1000" b="0" i="0">
                <a:solidFill>
                  <a:srgbClr val="111111"/>
                </a:solidFill>
                <a:latin typeface="Arial"/>
              </a:rPr>
              <a:t>Prix et sans engagement</a:t>
            </a:r>
          </a:p>
        </p:txBody>
      </p:sp>
      <p:sp>
        <p:nvSpPr>
          <p:cNvPr id="81" name="Rectangle 80"/>
          <p:cNvSpPr/>
          <p:nvPr/>
        </p:nvSpPr>
        <p:spPr>
          <a:xfrm>
            <a:off x="8101584" y="4876800"/>
            <a:ext cx="2011680" cy="54864"/>
          </a:xfrm>
          <a:prstGeom prst="rect">
            <a:avLst/>
          </a:prstGeom>
          <a:solidFill>
            <a:srgbClr val="ECEAE5"/>
          </a:solidFill>
          <a:ln>
            <a:noFill/>
          </a:ln>
          <a:effectLst/>
        </p:spPr>
        <p:txBody>
          <a:bodyPr rtlCol="0" anchor="ctr"/>
          <a:lstStyle/>
          <a:p>
            <a:pPr algn="ctr"/>
          </a:p>
        </p:txBody>
      </p:sp>
      <p:sp>
        <p:nvSpPr>
          <p:cNvPr id="82" name="Rectangle 81"/>
          <p:cNvSpPr/>
          <p:nvPr/>
        </p:nvSpPr>
        <p:spPr>
          <a:xfrm>
            <a:off x="8101584" y="4876800"/>
            <a:ext cx="301752" cy="54864"/>
          </a:xfrm>
          <a:prstGeom prst="rect">
            <a:avLst/>
          </a:prstGeom>
          <a:solidFill>
            <a:srgbClr val="9AA3B2"/>
          </a:solidFill>
          <a:ln>
            <a:noFill/>
          </a:ln>
          <a:effectLst/>
        </p:spPr>
        <p:txBody>
          <a:bodyPr rtlCol="0" anchor="ctr"/>
          <a:lstStyle/>
          <a:p>
            <a:pPr algn="ctr"/>
          </a:p>
        </p:txBody>
      </p:sp>
      <p:sp>
        <p:nvSpPr>
          <p:cNvPr id="83" name="TextBox 82"/>
          <p:cNvSpPr txBox="1"/>
          <p:nvPr/>
        </p:nvSpPr>
        <p:spPr>
          <a:xfrm>
            <a:off x="10241280" y="4797552"/>
            <a:ext cx="792480" cy="182880"/>
          </a:xfrm>
          <a:prstGeom prst="rect">
            <a:avLst/>
          </a:prstGeom>
          <a:noFill/>
        </p:spPr>
        <p:txBody>
          <a:bodyPr wrap="square" anchor="ctr" lIns="0" rIns="0" tIns="0" bIns="0">
            <a:spAutoFit/>
          </a:bodyPr>
          <a:lstStyle/>
          <a:p>
            <a:pPr algn="r"/>
            <a:r>
              <a:rPr sz="1300" b="1" i="0">
                <a:solidFill>
                  <a:srgbClr val="111111"/>
                </a:solidFill>
                <a:latin typeface="Arial"/>
              </a:rPr>
              <a:t>15 %</a:t>
            </a:r>
          </a:p>
        </p:txBody>
      </p:sp>
      <p:sp>
        <p:nvSpPr>
          <p:cNvPr id="84" name="TextBox 83"/>
          <p:cNvSpPr txBox="1"/>
          <p:nvPr/>
        </p:nvSpPr>
        <p:spPr>
          <a:xfrm>
            <a:off x="8101584" y="4953000"/>
            <a:ext cx="2194560" cy="134112"/>
          </a:xfrm>
          <a:prstGeom prst="rect">
            <a:avLst/>
          </a:prstGeom>
          <a:noFill/>
        </p:spPr>
        <p:txBody>
          <a:bodyPr wrap="square" anchor="t" lIns="0" rIns="0" tIns="0" bIns="0">
            <a:spAutoFit/>
          </a:bodyPr>
          <a:lstStyle/>
          <a:p>
            <a:pPr algn="l"/>
            <a:r>
              <a:rPr sz="1000" b="0" i="0">
                <a:solidFill>
                  <a:srgbClr val="111111"/>
                </a:solidFill>
                <a:latin typeface="Arial"/>
              </a:rPr>
              <a:t>Partage de connexion et nomade</a:t>
            </a:r>
          </a:p>
        </p:txBody>
      </p:sp>
      <p:sp>
        <p:nvSpPr>
          <p:cNvPr id="85" name="Rectangle 84"/>
          <p:cNvSpPr/>
          <p:nvPr/>
        </p:nvSpPr>
        <p:spPr>
          <a:xfrm>
            <a:off x="8101584" y="5105400"/>
            <a:ext cx="2011680" cy="54864"/>
          </a:xfrm>
          <a:prstGeom prst="rect">
            <a:avLst/>
          </a:prstGeom>
          <a:solidFill>
            <a:srgbClr val="ECEAE5"/>
          </a:solidFill>
          <a:ln>
            <a:noFill/>
          </a:ln>
          <a:effectLst/>
        </p:spPr>
        <p:txBody>
          <a:bodyPr rtlCol="0" anchor="ctr"/>
          <a:lstStyle/>
          <a:p>
            <a:pPr algn="ctr"/>
          </a:p>
        </p:txBody>
      </p:sp>
      <p:sp>
        <p:nvSpPr>
          <p:cNvPr id="86" name="Rectangle 85"/>
          <p:cNvSpPr/>
          <p:nvPr/>
        </p:nvSpPr>
        <p:spPr>
          <a:xfrm>
            <a:off x="8101584" y="5105400"/>
            <a:ext cx="241401" cy="54864"/>
          </a:xfrm>
          <a:prstGeom prst="rect">
            <a:avLst/>
          </a:prstGeom>
          <a:solidFill>
            <a:srgbClr val="9AA3B2"/>
          </a:solidFill>
          <a:ln>
            <a:noFill/>
          </a:ln>
          <a:effectLst/>
        </p:spPr>
        <p:txBody>
          <a:bodyPr rtlCol="0" anchor="ctr"/>
          <a:lstStyle/>
          <a:p>
            <a:pPr algn="ctr"/>
          </a:p>
        </p:txBody>
      </p:sp>
      <p:sp>
        <p:nvSpPr>
          <p:cNvPr id="87" name="TextBox 86"/>
          <p:cNvSpPr txBox="1"/>
          <p:nvPr/>
        </p:nvSpPr>
        <p:spPr>
          <a:xfrm>
            <a:off x="10241280" y="5026152"/>
            <a:ext cx="792480" cy="182880"/>
          </a:xfrm>
          <a:prstGeom prst="rect">
            <a:avLst/>
          </a:prstGeom>
          <a:noFill/>
        </p:spPr>
        <p:txBody>
          <a:bodyPr wrap="square" anchor="ctr" lIns="0" rIns="0" tIns="0" bIns="0">
            <a:spAutoFit/>
          </a:bodyPr>
          <a:lstStyle/>
          <a:p>
            <a:pPr algn="r"/>
            <a:r>
              <a:rPr sz="1300" b="1" i="0">
                <a:solidFill>
                  <a:srgbClr val="111111"/>
                </a:solidFill>
                <a:latin typeface="Arial"/>
              </a:rPr>
              <a:t>12 %</a:t>
            </a:r>
          </a:p>
        </p:txBody>
      </p:sp>
      <p:sp>
        <p:nvSpPr>
          <p:cNvPr id="88" name="TextBox 87"/>
          <p:cNvSpPr txBox="1"/>
          <p:nvPr/>
        </p:nvSpPr>
        <p:spPr>
          <a:xfrm>
            <a:off x="8101584" y="5181600"/>
            <a:ext cx="2194560" cy="134112"/>
          </a:xfrm>
          <a:prstGeom prst="rect">
            <a:avLst/>
          </a:prstGeom>
          <a:noFill/>
        </p:spPr>
        <p:txBody>
          <a:bodyPr wrap="square" anchor="t" lIns="0" rIns="0" tIns="0" bIns="0">
            <a:spAutoFit/>
          </a:bodyPr>
          <a:lstStyle/>
          <a:p>
            <a:pPr algn="l"/>
            <a:r>
              <a:rPr sz="1000" b="0" i="0">
                <a:solidFill>
                  <a:srgbClr val="111111"/>
                </a:solidFill>
                <a:latin typeface="Arial"/>
              </a:rPr>
              <a:t>5G et volume de data</a:t>
            </a:r>
          </a:p>
        </p:txBody>
      </p:sp>
      <p:sp>
        <p:nvSpPr>
          <p:cNvPr id="89" name="Rectangle 88"/>
          <p:cNvSpPr/>
          <p:nvPr/>
        </p:nvSpPr>
        <p:spPr>
          <a:xfrm>
            <a:off x="8101584" y="5334000"/>
            <a:ext cx="2011680" cy="54864"/>
          </a:xfrm>
          <a:prstGeom prst="rect">
            <a:avLst/>
          </a:prstGeom>
          <a:solidFill>
            <a:srgbClr val="ECEAE5"/>
          </a:solidFill>
          <a:ln>
            <a:noFill/>
          </a:ln>
          <a:effectLst/>
        </p:spPr>
        <p:txBody>
          <a:bodyPr rtlCol="0" anchor="ctr"/>
          <a:lstStyle/>
          <a:p>
            <a:pPr algn="ctr"/>
          </a:p>
        </p:txBody>
      </p:sp>
      <p:sp>
        <p:nvSpPr>
          <p:cNvPr id="90" name="Rectangle 89"/>
          <p:cNvSpPr/>
          <p:nvPr/>
        </p:nvSpPr>
        <p:spPr>
          <a:xfrm>
            <a:off x="8101584" y="5334000"/>
            <a:ext cx="120700" cy="54864"/>
          </a:xfrm>
          <a:prstGeom prst="rect">
            <a:avLst/>
          </a:prstGeom>
          <a:solidFill>
            <a:srgbClr val="9AA3B2"/>
          </a:solidFill>
          <a:ln>
            <a:noFill/>
          </a:ln>
          <a:effectLst/>
        </p:spPr>
        <p:txBody>
          <a:bodyPr rtlCol="0" anchor="ctr"/>
          <a:lstStyle/>
          <a:p>
            <a:pPr algn="ctr"/>
          </a:p>
        </p:txBody>
      </p:sp>
      <p:sp>
        <p:nvSpPr>
          <p:cNvPr id="91" name="TextBox 90"/>
          <p:cNvSpPr txBox="1"/>
          <p:nvPr/>
        </p:nvSpPr>
        <p:spPr>
          <a:xfrm>
            <a:off x="10241280" y="5254752"/>
            <a:ext cx="792480" cy="182880"/>
          </a:xfrm>
          <a:prstGeom prst="rect">
            <a:avLst/>
          </a:prstGeom>
          <a:noFill/>
        </p:spPr>
        <p:txBody>
          <a:bodyPr wrap="square" anchor="ctr" lIns="0" rIns="0" tIns="0" bIns="0">
            <a:spAutoFit/>
          </a:bodyPr>
          <a:lstStyle/>
          <a:p>
            <a:pPr algn="r"/>
            <a:r>
              <a:rPr sz="1300" b="1" i="0">
                <a:solidFill>
                  <a:srgbClr val="111111"/>
                </a:solidFill>
                <a:latin typeface="Arial"/>
              </a:rPr>
              <a:t>6 %</a:t>
            </a:r>
          </a:p>
        </p:txBody>
      </p:sp>
      <p:sp>
        <p:nvSpPr>
          <p:cNvPr id="92" name="TextBox 91"/>
          <p:cNvSpPr txBox="1"/>
          <p:nvPr/>
        </p:nvSpPr>
        <p:spPr>
          <a:xfrm>
            <a:off x="8101584" y="5410200"/>
            <a:ext cx="2194560" cy="134112"/>
          </a:xfrm>
          <a:prstGeom prst="rect">
            <a:avLst/>
          </a:prstGeom>
          <a:noFill/>
        </p:spPr>
        <p:txBody>
          <a:bodyPr wrap="square" anchor="t" lIns="0" rIns="0" tIns="0" bIns="0">
            <a:spAutoFit/>
          </a:bodyPr>
          <a:lstStyle/>
          <a:p>
            <a:pPr algn="l"/>
            <a:r>
              <a:rPr sz="1000" b="0" i="0">
                <a:solidFill>
                  <a:srgbClr val="111111"/>
                </a:solidFill>
                <a:latin typeface="Arial"/>
              </a:rPr>
              <a:t>International et roaming</a:t>
            </a:r>
          </a:p>
        </p:txBody>
      </p:sp>
      <p:sp>
        <p:nvSpPr>
          <p:cNvPr id="93" name="Rectangle 92"/>
          <p:cNvSpPr/>
          <p:nvPr/>
        </p:nvSpPr>
        <p:spPr>
          <a:xfrm>
            <a:off x="8101584" y="5562600"/>
            <a:ext cx="2011680" cy="54864"/>
          </a:xfrm>
          <a:prstGeom prst="rect">
            <a:avLst/>
          </a:prstGeom>
          <a:solidFill>
            <a:srgbClr val="ECEAE5"/>
          </a:solidFill>
          <a:ln>
            <a:noFill/>
          </a:ln>
          <a:effectLst/>
        </p:spPr>
        <p:txBody>
          <a:bodyPr rtlCol="0" anchor="ctr"/>
          <a:lstStyle/>
          <a:p>
            <a:pPr algn="ctr"/>
          </a:p>
        </p:txBody>
      </p:sp>
      <p:sp>
        <p:nvSpPr>
          <p:cNvPr id="94" name="Rectangle 93"/>
          <p:cNvSpPr/>
          <p:nvPr/>
        </p:nvSpPr>
        <p:spPr>
          <a:xfrm>
            <a:off x="8101584" y="5562600"/>
            <a:ext cx="80467" cy="54864"/>
          </a:xfrm>
          <a:prstGeom prst="rect">
            <a:avLst/>
          </a:prstGeom>
          <a:solidFill>
            <a:srgbClr val="9AA3B2"/>
          </a:solidFill>
          <a:ln>
            <a:noFill/>
          </a:ln>
          <a:effectLst/>
        </p:spPr>
        <p:txBody>
          <a:bodyPr rtlCol="0" anchor="ctr"/>
          <a:lstStyle/>
          <a:p>
            <a:pPr algn="ctr"/>
          </a:p>
        </p:txBody>
      </p:sp>
      <p:sp>
        <p:nvSpPr>
          <p:cNvPr id="95" name="TextBox 94"/>
          <p:cNvSpPr txBox="1"/>
          <p:nvPr/>
        </p:nvSpPr>
        <p:spPr>
          <a:xfrm>
            <a:off x="10241280" y="5483352"/>
            <a:ext cx="792480" cy="182880"/>
          </a:xfrm>
          <a:prstGeom prst="rect">
            <a:avLst/>
          </a:prstGeom>
          <a:noFill/>
        </p:spPr>
        <p:txBody>
          <a:bodyPr wrap="square" anchor="ctr" lIns="0" rIns="0" tIns="0" bIns="0">
            <a:spAutoFit/>
          </a:bodyPr>
          <a:lstStyle/>
          <a:p>
            <a:pPr algn="r"/>
            <a:r>
              <a:rPr sz="1300" b="1" i="0">
                <a:solidFill>
                  <a:srgbClr val="111111"/>
                </a:solidFill>
                <a:latin typeface="Arial"/>
              </a:rPr>
              <a:t>4 %</a:t>
            </a:r>
          </a:p>
        </p:txBody>
      </p:sp>
      <p:sp>
        <p:nvSpPr>
          <p:cNvPr id="96" name="TextBox 95"/>
          <p:cNvSpPr txBox="1"/>
          <p:nvPr/>
        </p:nvSpPr>
        <p:spPr>
          <a:xfrm>
            <a:off x="8101584" y="5638800"/>
            <a:ext cx="2194560" cy="134112"/>
          </a:xfrm>
          <a:prstGeom prst="rect">
            <a:avLst/>
          </a:prstGeom>
          <a:noFill/>
        </p:spPr>
        <p:txBody>
          <a:bodyPr wrap="square" anchor="t" lIns="0" rIns="0" tIns="0" bIns="0">
            <a:spAutoFit/>
          </a:bodyPr>
          <a:lstStyle/>
          <a:p>
            <a:pPr algn="l"/>
            <a:r>
              <a:rPr sz="1000" b="0" i="0">
                <a:solidFill>
                  <a:srgbClr val="111111"/>
                </a:solidFill>
                <a:latin typeface="Arial"/>
              </a:rPr>
              <a:t>Changement d'opérateur</a:t>
            </a:r>
          </a:p>
        </p:txBody>
      </p:sp>
      <p:sp>
        <p:nvSpPr>
          <p:cNvPr id="97" name="Rectangle 96"/>
          <p:cNvSpPr/>
          <p:nvPr/>
        </p:nvSpPr>
        <p:spPr>
          <a:xfrm>
            <a:off x="8101584" y="5791200"/>
            <a:ext cx="2011680" cy="54864"/>
          </a:xfrm>
          <a:prstGeom prst="rect">
            <a:avLst/>
          </a:prstGeom>
          <a:solidFill>
            <a:srgbClr val="ECEAE5"/>
          </a:solidFill>
          <a:ln>
            <a:noFill/>
          </a:ln>
          <a:effectLst/>
        </p:spPr>
        <p:txBody>
          <a:bodyPr rtlCol="0" anchor="ctr"/>
          <a:lstStyle/>
          <a:p>
            <a:pPr algn="ctr"/>
          </a:p>
        </p:txBody>
      </p:sp>
      <p:sp>
        <p:nvSpPr>
          <p:cNvPr id="98" name="Rectangle 97"/>
          <p:cNvSpPr/>
          <p:nvPr/>
        </p:nvSpPr>
        <p:spPr>
          <a:xfrm>
            <a:off x="8101584" y="5791200"/>
            <a:ext cx="24384" cy="54864"/>
          </a:xfrm>
          <a:prstGeom prst="rect">
            <a:avLst/>
          </a:prstGeom>
          <a:solidFill>
            <a:srgbClr val="9AA3B2"/>
          </a:solidFill>
          <a:ln>
            <a:noFill/>
          </a:ln>
          <a:effectLst/>
        </p:spPr>
        <p:txBody>
          <a:bodyPr rtlCol="0" anchor="ctr"/>
          <a:lstStyle/>
          <a:p>
            <a:pPr algn="ctr"/>
          </a:p>
        </p:txBody>
      </p:sp>
      <p:sp>
        <p:nvSpPr>
          <p:cNvPr id="99" name="TextBox 98"/>
          <p:cNvSpPr txBox="1"/>
          <p:nvPr/>
        </p:nvSpPr>
        <p:spPr>
          <a:xfrm>
            <a:off x="10241280" y="5711952"/>
            <a:ext cx="792480" cy="182880"/>
          </a:xfrm>
          <a:prstGeom prst="rect">
            <a:avLst/>
          </a:prstGeom>
          <a:noFill/>
        </p:spPr>
        <p:txBody>
          <a:bodyPr wrap="square" anchor="ctr" lIns="0" rIns="0" tIns="0" bIns="0">
            <a:spAutoFit/>
          </a:bodyPr>
          <a:lstStyle/>
          <a:p>
            <a:pPr algn="r"/>
            <a:r>
              <a:rPr sz="1300" b="1" i="0">
                <a:solidFill>
                  <a:srgbClr val="111111"/>
                </a:solidFill>
                <a:latin typeface="Arial"/>
              </a:rPr>
              <a:t>1 %</a:t>
            </a:r>
          </a:p>
        </p:txBody>
      </p:sp>
      <p:sp>
        <p:nvSpPr>
          <p:cNvPr id="100" name="TextBox 99"/>
          <p:cNvSpPr txBox="1"/>
          <p:nvPr/>
        </p:nvSpPr>
        <p:spPr>
          <a:xfrm>
            <a:off x="8101584" y="5867400"/>
            <a:ext cx="2194560" cy="134112"/>
          </a:xfrm>
          <a:prstGeom prst="rect">
            <a:avLst/>
          </a:prstGeom>
          <a:noFill/>
        </p:spPr>
        <p:txBody>
          <a:bodyPr wrap="square" anchor="t" lIns="0" rIns="0" tIns="0" bIns="0">
            <a:spAutoFit/>
          </a:bodyPr>
          <a:lstStyle/>
          <a:p>
            <a:pPr algn="l"/>
            <a:r>
              <a:rPr sz="1000" b="0" i="0">
                <a:solidFill>
                  <a:srgbClr val="111111"/>
                </a:solidFill>
                <a:latin typeface="Arial"/>
              </a:rPr>
              <a:t>Forfaits par profil</a:t>
            </a:r>
          </a:p>
        </p:txBody>
      </p:sp>
      <p:sp>
        <p:nvSpPr>
          <p:cNvPr id="101" name="Rectangle 100"/>
          <p:cNvSpPr/>
          <p:nvPr/>
        </p:nvSpPr>
        <p:spPr>
          <a:xfrm>
            <a:off x="8101584" y="6019800"/>
            <a:ext cx="2011680" cy="54864"/>
          </a:xfrm>
          <a:prstGeom prst="rect">
            <a:avLst/>
          </a:prstGeom>
          <a:solidFill>
            <a:srgbClr val="ECEAE5"/>
          </a:solidFill>
          <a:ln>
            <a:noFill/>
          </a:ln>
          <a:effectLst/>
        </p:spPr>
        <p:txBody>
          <a:bodyPr rtlCol="0" anchor="ctr"/>
          <a:lstStyle/>
          <a:p>
            <a:pPr algn="ctr"/>
          </a:p>
        </p:txBody>
      </p:sp>
      <p:sp>
        <p:nvSpPr>
          <p:cNvPr id="102" name="Rectangle 101"/>
          <p:cNvSpPr/>
          <p:nvPr/>
        </p:nvSpPr>
        <p:spPr>
          <a:xfrm>
            <a:off x="8101584" y="6019800"/>
            <a:ext cx="24384" cy="54864"/>
          </a:xfrm>
          <a:prstGeom prst="rect">
            <a:avLst/>
          </a:prstGeom>
          <a:solidFill>
            <a:srgbClr val="9AA3B2"/>
          </a:solidFill>
          <a:ln>
            <a:noFill/>
          </a:ln>
          <a:effectLst/>
        </p:spPr>
        <p:txBody>
          <a:bodyPr rtlCol="0" anchor="ctr"/>
          <a:lstStyle/>
          <a:p>
            <a:pPr algn="ctr"/>
          </a:p>
        </p:txBody>
      </p:sp>
      <p:sp>
        <p:nvSpPr>
          <p:cNvPr id="103" name="TextBox 102"/>
          <p:cNvSpPr txBox="1"/>
          <p:nvPr/>
        </p:nvSpPr>
        <p:spPr>
          <a:xfrm>
            <a:off x="10241280" y="5940552"/>
            <a:ext cx="792480" cy="182880"/>
          </a:xfrm>
          <a:prstGeom prst="rect">
            <a:avLst/>
          </a:prstGeom>
          <a:noFill/>
        </p:spPr>
        <p:txBody>
          <a:bodyPr wrap="square" anchor="ctr" lIns="0" rIns="0" tIns="0" bIns="0">
            <a:spAutoFit/>
          </a:bodyPr>
          <a:lstStyle/>
          <a:p>
            <a:pPr algn="r"/>
            <a:r>
              <a:rPr sz="1300" b="1" i="0">
                <a:solidFill>
                  <a:srgbClr val="111111"/>
                </a:solidFill>
                <a:latin typeface="Arial"/>
              </a:rPr>
              <a:t>1 %</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6F2"/>
          </a:solidFill>
          <a:ln>
            <a:noFill/>
          </a:ln>
          <a:effectLst/>
        </p:spPr>
        <p:txBody>
          <a:bodyPr rtlCol="0" anchor="ctr"/>
          <a:lstStyle/>
          <a:p>
            <a:pPr algn="ctr"/>
          </a:p>
        </p:txBody>
      </p:sp>
      <p:sp>
        <p:nvSpPr>
          <p:cNvPr id="3" name="TextBox 2"/>
          <p:cNvSpPr txBox="1"/>
          <p:nvPr/>
        </p:nvSpPr>
        <p:spPr>
          <a:xfrm>
            <a:off x="579120" y="426720"/>
            <a:ext cx="7315200" cy="182880"/>
          </a:xfrm>
          <a:prstGeom prst="rect">
            <a:avLst/>
          </a:prstGeom>
          <a:noFill/>
        </p:spPr>
        <p:txBody>
          <a:bodyPr wrap="square" anchor="t" lIns="0" rIns="0" tIns="0" bIns="0">
            <a:spAutoFit/>
          </a:bodyPr>
          <a:lstStyle/>
          <a:p>
            <a:pPr algn="l"/>
            <a:r>
              <a:rPr sz="1300" b="1" i="0">
                <a:solidFill>
                  <a:srgbClr val="EE6A2C"/>
                </a:solidFill>
                <a:latin typeface="Arial"/>
              </a:rPr>
              <a:t>INSIGHTS QUALITATIFS · SEPTEMBRE 2026</a:t>
            </a:r>
          </a:p>
        </p:txBody>
      </p:sp>
      <p:sp>
        <p:nvSpPr>
          <p:cNvPr id="4" name="TextBox 3"/>
          <p:cNvSpPr txBox="1"/>
          <p:nvPr/>
        </p:nvSpPr>
        <p:spPr>
          <a:xfrm>
            <a:off x="579120" y="609600"/>
            <a:ext cx="7315200" cy="487680"/>
          </a:xfrm>
          <a:prstGeom prst="rect">
            <a:avLst/>
          </a:prstGeom>
          <a:noFill/>
        </p:spPr>
        <p:txBody>
          <a:bodyPr wrap="square" anchor="t" lIns="0" rIns="0" tIns="0" bIns="0">
            <a:spAutoFit/>
          </a:bodyPr>
          <a:lstStyle/>
          <a:p>
            <a:pPr algn="l"/>
            <a:r>
              <a:rPr sz="3600" b="1" i="0">
                <a:solidFill>
                  <a:srgbClr val="111111"/>
                </a:solidFill>
                <a:latin typeface="Arial"/>
              </a:rPr>
              <a:t>Cdiscount Mobile</a:t>
            </a:r>
          </a:p>
        </p:txBody>
      </p:sp>
      <p:sp>
        <p:nvSpPr>
          <p:cNvPr id="5" name="TextBox 4"/>
          <p:cNvSpPr txBox="1"/>
          <p:nvPr/>
        </p:nvSpPr>
        <p:spPr>
          <a:xfrm>
            <a:off x="9144000" y="499872"/>
            <a:ext cx="1889760" cy="182880"/>
          </a:xfrm>
          <a:prstGeom prst="rect">
            <a:avLst/>
          </a:prstGeom>
          <a:noFill/>
        </p:spPr>
        <p:txBody>
          <a:bodyPr wrap="square" anchor="t" lIns="0" rIns="0" tIns="0" bIns="0">
            <a:spAutoFit/>
          </a:bodyPr>
          <a:lstStyle/>
          <a:p>
            <a:pPr algn="r"/>
            <a:r>
              <a:rPr sz="1500" b="1" i="0">
                <a:solidFill>
                  <a:srgbClr val="111111"/>
                </a:solidFill>
                <a:latin typeface="Arial"/>
              </a:rPr>
              <a:t>Lemrock</a:t>
            </a:r>
          </a:p>
        </p:txBody>
      </p:sp>
      <p:sp>
        <p:nvSpPr>
          <p:cNvPr id="6" name="TextBox 5"/>
          <p:cNvSpPr txBox="1"/>
          <p:nvPr/>
        </p:nvSpPr>
        <p:spPr>
          <a:xfrm>
            <a:off x="579120" y="1219200"/>
            <a:ext cx="9144000" cy="182880"/>
          </a:xfrm>
          <a:prstGeom prst="rect">
            <a:avLst/>
          </a:prstGeom>
          <a:noFill/>
        </p:spPr>
        <p:txBody>
          <a:bodyPr wrap="square" anchor="t" lIns="0" rIns="0" tIns="0" bIns="0">
            <a:spAutoFit/>
          </a:bodyPr>
          <a:lstStyle/>
          <a:p>
            <a:pPr algn="l"/>
            <a:r>
              <a:rPr sz="1300" b="1" i="0">
                <a:solidFill>
                  <a:srgbClr val="EE6A2C"/>
                </a:solidFill>
                <a:latin typeface="Arial"/>
              </a:rPr>
              <a:t>OBJECTIF   </a:t>
            </a:r>
            <a:r>
              <a:rPr sz="1300" b="0" i="0">
                <a:solidFill>
                  <a:srgbClr val="111111"/>
                </a:solidFill>
                <a:latin typeface="Arial"/>
              </a:rPr>
              <a:t>Générer 550 nouvelles souscriptions.</a:t>
            </a:r>
          </a:p>
        </p:txBody>
      </p:sp>
      <p:sp>
        <p:nvSpPr>
          <p:cNvPr id="7" name="TextBox 6"/>
          <p:cNvSpPr txBox="1"/>
          <p:nvPr/>
        </p:nvSpPr>
        <p:spPr>
          <a:xfrm>
            <a:off x="579120" y="1524000"/>
            <a:ext cx="4876800" cy="182880"/>
          </a:xfrm>
          <a:prstGeom prst="rect">
            <a:avLst/>
          </a:prstGeom>
          <a:noFill/>
        </p:spPr>
        <p:txBody>
          <a:bodyPr wrap="square" anchor="t" lIns="0" rIns="0" tIns="0" bIns="0">
            <a:spAutoFit/>
          </a:bodyPr>
          <a:lstStyle/>
          <a:p>
            <a:pPr algn="l"/>
            <a:r>
              <a:rPr sz="1400" b="1" i="0">
                <a:solidFill>
                  <a:srgbClr val="555B66"/>
                </a:solidFill>
                <a:latin typeface="Arial"/>
              </a:rPr>
              <a:t>INSIGHTS QUALITATIFS</a:t>
            </a:r>
          </a:p>
        </p:txBody>
      </p:sp>
      <p:sp>
        <p:nvSpPr>
          <p:cNvPr id="8" name="Rectangle 7"/>
          <p:cNvSpPr/>
          <p:nvPr/>
        </p:nvSpPr>
        <p:spPr>
          <a:xfrm>
            <a:off x="579120" y="1816608"/>
            <a:ext cx="5071872" cy="2121408"/>
          </a:xfrm>
          <a:prstGeom prst="rect">
            <a:avLst/>
          </a:prstGeom>
          <a:solidFill>
            <a:srgbClr val="FFFFFF"/>
          </a:solidFill>
          <a:ln>
            <a:noFill/>
          </a:ln>
          <a:effectLst/>
        </p:spPr>
        <p:txBody>
          <a:bodyPr rtlCol="0" anchor="ctr"/>
          <a:lstStyle/>
          <a:p>
            <a:pPr algn="ctr"/>
          </a:p>
        </p:txBody>
      </p:sp>
      <p:sp>
        <p:nvSpPr>
          <p:cNvPr id="9" name="TextBox 8"/>
          <p:cNvSpPr txBox="1"/>
          <p:nvPr/>
        </p:nvSpPr>
        <p:spPr>
          <a:xfrm>
            <a:off x="835152" y="2029968"/>
            <a:ext cx="487680" cy="243840"/>
          </a:xfrm>
          <a:prstGeom prst="rect">
            <a:avLst/>
          </a:prstGeom>
          <a:noFill/>
        </p:spPr>
        <p:txBody>
          <a:bodyPr wrap="square" anchor="t" lIns="0" rIns="0" tIns="0" bIns="0">
            <a:spAutoFit/>
          </a:bodyPr>
          <a:lstStyle/>
          <a:p>
            <a:pPr algn="l"/>
            <a:r>
              <a:rPr sz="2000" b="1" i="0">
                <a:solidFill>
                  <a:srgbClr val="EE6A2C"/>
                </a:solidFill>
                <a:latin typeface="Arial"/>
              </a:rPr>
              <a:t>01</a:t>
            </a:r>
          </a:p>
        </p:txBody>
      </p:sp>
      <p:sp>
        <p:nvSpPr>
          <p:cNvPr id="10" name="TextBox 9"/>
          <p:cNvSpPr txBox="1"/>
          <p:nvPr/>
        </p:nvSpPr>
        <p:spPr>
          <a:xfrm>
            <a:off x="1383792" y="2048256"/>
            <a:ext cx="4023360" cy="365760"/>
          </a:xfrm>
          <a:prstGeom prst="rect">
            <a:avLst/>
          </a:prstGeom>
          <a:noFill/>
        </p:spPr>
        <p:txBody>
          <a:bodyPr wrap="square" anchor="t" lIns="0" rIns="0" tIns="0" bIns="0">
            <a:spAutoFit/>
          </a:bodyPr>
          <a:lstStyle/>
          <a:p>
            <a:pPr algn="l"/>
            <a:r>
              <a:rPr sz="1400" b="1" i="0">
                <a:solidFill>
                  <a:srgbClr val="111111"/>
                </a:solidFill>
                <a:latin typeface="Arial"/>
              </a:rPr>
              <a:t>Afficher immédiatement le prix, la data et l'absence d'engagement</a:t>
            </a:r>
          </a:p>
        </p:txBody>
      </p:sp>
      <p:sp>
        <p:nvSpPr>
          <p:cNvPr id="11" name="TextBox 10"/>
          <p:cNvSpPr txBox="1"/>
          <p:nvPr/>
        </p:nvSpPr>
        <p:spPr>
          <a:xfrm>
            <a:off x="835152" y="2609088"/>
            <a:ext cx="4572000" cy="731520"/>
          </a:xfrm>
          <a:prstGeom prst="rect">
            <a:avLst/>
          </a:prstGeom>
          <a:noFill/>
        </p:spPr>
        <p:txBody>
          <a:bodyPr wrap="square" anchor="t" lIns="0" rIns="0" tIns="0" bIns="0">
            <a:spAutoFit/>
          </a:bodyPr>
          <a:lstStyle/>
          <a:p>
            <a:pPr algn="l"/>
            <a:r>
              <a:rPr sz="1100" b="0" i="0">
                <a:solidFill>
                  <a:srgbClr val="555B66"/>
                </a:solidFill>
                <a:latin typeface="Arial"/>
              </a:rPr>
              <a:t>En août, les annonces avec data, prix mensuel et sans engagement atteignaient 4,26 fois le CTR moyen. En septembre, les 3 annonces ne citent pas de prix et restent à la moyenne.</a:t>
            </a:r>
          </a:p>
        </p:txBody>
      </p:sp>
      <p:sp>
        <p:nvSpPr>
          <p:cNvPr id="12" name="TextBox 11"/>
          <p:cNvSpPr txBox="1"/>
          <p:nvPr/>
        </p:nvSpPr>
        <p:spPr>
          <a:xfrm>
            <a:off x="835152" y="3310128"/>
            <a:ext cx="4572000" cy="487680"/>
          </a:xfrm>
          <a:prstGeom prst="rect">
            <a:avLst/>
          </a:prstGeom>
          <a:noFill/>
        </p:spPr>
        <p:txBody>
          <a:bodyPr wrap="square" anchor="t" lIns="0" rIns="0" tIns="0" bIns="0">
            <a:spAutoFit/>
          </a:bodyPr>
          <a:lstStyle/>
          <a:p>
            <a:pPr algn="l"/>
            <a:r>
              <a:rPr sz="900" b="1" i="0">
                <a:solidFill>
                  <a:srgbClr val="555B66"/>
                </a:solidFill>
                <a:latin typeface="Arial"/>
              </a:rPr>
              <a:t>→  Présenter directement l'offre complète : « 40 Go à x €/mois, sans engagement ».</a:t>
            </a:r>
          </a:p>
        </p:txBody>
      </p:sp>
      <p:sp>
        <p:nvSpPr>
          <p:cNvPr id="13" name="Rectangle 12"/>
          <p:cNvSpPr/>
          <p:nvPr/>
        </p:nvSpPr>
        <p:spPr>
          <a:xfrm>
            <a:off x="5992368" y="1816608"/>
            <a:ext cx="5071872" cy="2121408"/>
          </a:xfrm>
          <a:prstGeom prst="rect">
            <a:avLst/>
          </a:prstGeom>
          <a:solidFill>
            <a:srgbClr val="FFFFFF"/>
          </a:solidFill>
          <a:ln>
            <a:noFill/>
          </a:ln>
          <a:effectLst/>
        </p:spPr>
        <p:txBody>
          <a:bodyPr rtlCol="0" anchor="ctr"/>
          <a:lstStyle/>
          <a:p>
            <a:pPr algn="ctr"/>
          </a:p>
        </p:txBody>
      </p:sp>
      <p:sp>
        <p:nvSpPr>
          <p:cNvPr id="14" name="TextBox 13"/>
          <p:cNvSpPr txBox="1"/>
          <p:nvPr/>
        </p:nvSpPr>
        <p:spPr>
          <a:xfrm>
            <a:off x="6248400" y="2029968"/>
            <a:ext cx="487680" cy="243840"/>
          </a:xfrm>
          <a:prstGeom prst="rect">
            <a:avLst/>
          </a:prstGeom>
          <a:noFill/>
        </p:spPr>
        <p:txBody>
          <a:bodyPr wrap="square" anchor="t" lIns="0" rIns="0" tIns="0" bIns="0">
            <a:spAutoFit/>
          </a:bodyPr>
          <a:lstStyle/>
          <a:p>
            <a:pPr algn="l"/>
            <a:r>
              <a:rPr sz="2000" b="1" i="0">
                <a:solidFill>
                  <a:srgbClr val="EE6A2C"/>
                </a:solidFill>
                <a:latin typeface="Arial"/>
              </a:rPr>
              <a:t>02</a:t>
            </a:r>
          </a:p>
        </p:txBody>
      </p:sp>
      <p:sp>
        <p:nvSpPr>
          <p:cNvPr id="15" name="TextBox 14"/>
          <p:cNvSpPr txBox="1"/>
          <p:nvPr/>
        </p:nvSpPr>
        <p:spPr>
          <a:xfrm>
            <a:off x="6797040" y="2048256"/>
            <a:ext cx="4023360" cy="365760"/>
          </a:xfrm>
          <a:prstGeom prst="rect">
            <a:avLst/>
          </a:prstGeom>
          <a:noFill/>
        </p:spPr>
        <p:txBody>
          <a:bodyPr wrap="square" anchor="t" lIns="0" rIns="0" tIns="0" bIns="0">
            <a:spAutoFit/>
          </a:bodyPr>
          <a:lstStyle/>
          <a:p>
            <a:pPr algn="l"/>
            <a:r>
              <a:rPr sz="1400" b="1" i="0">
                <a:solidFill>
                  <a:srgbClr val="111111"/>
                </a:solidFill>
                <a:latin typeface="Arial"/>
              </a:rPr>
              <a:t>Faire de l'eSIM un axe d'acquisition à part entière</a:t>
            </a:r>
          </a:p>
        </p:txBody>
      </p:sp>
      <p:sp>
        <p:nvSpPr>
          <p:cNvPr id="16" name="TextBox 15"/>
          <p:cNvSpPr txBox="1"/>
          <p:nvPr/>
        </p:nvSpPr>
        <p:spPr>
          <a:xfrm>
            <a:off x="6248400" y="2609088"/>
            <a:ext cx="4572000" cy="731520"/>
          </a:xfrm>
          <a:prstGeom prst="rect">
            <a:avLst/>
          </a:prstGeom>
          <a:noFill/>
        </p:spPr>
        <p:txBody>
          <a:bodyPr wrap="square" anchor="t" lIns="0" rIns="0" tIns="0" bIns="0">
            <a:spAutoFit/>
          </a:bodyPr>
          <a:lstStyle/>
          <a:p>
            <a:pPr algn="l"/>
            <a:r>
              <a:rPr sz="1100" b="0" i="0">
                <a:solidFill>
                  <a:srgbClr val="555B66"/>
                </a:solidFill>
                <a:latin typeface="Arial"/>
              </a:rPr>
              <a:t>L'eSIM atteignait 2,09 fois le CTR moyen en août et représente 23 % des recherches liées aux forfaits. Aucune annonce de septembre n'en parle.</a:t>
            </a:r>
          </a:p>
        </p:txBody>
      </p:sp>
      <p:sp>
        <p:nvSpPr>
          <p:cNvPr id="17" name="TextBox 16"/>
          <p:cNvSpPr txBox="1"/>
          <p:nvPr/>
        </p:nvSpPr>
        <p:spPr>
          <a:xfrm>
            <a:off x="6248400" y="3310128"/>
            <a:ext cx="4572000" cy="487680"/>
          </a:xfrm>
          <a:prstGeom prst="rect">
            <a:avLst/>
          </a:prstGeom>
          <a:noFill/>
        </p:spPr>
        <p:txBody>
          <a:bodyPr wrap="square" anchor="t" lIns="0" rIns="0" tIns="0" bIns="0">
            <a:spAutoFit/>
          </a:bodyPr>
          <a:lstStyle/>
          <a:p>
            <a:pPr algn="l"/>
            <a:r>
              <a:rPr sz="900" b="1" i="0">
                <a:solidFill>
                  <a:srgbClr val="555B66"/>
                </a:solidFill>
                <a:latin typeface="Arial"/>
              </a:rPr>
              <a:t>→  Créer une campagne eSIM dédiée : activation immédiate, conservation du numéro, aucune attente de carte.</a:t>
            </a:r>
          </a:p>
        </p:txBody>
      </p:sp>
      <p:sp>
        <p:nvSpPr>
          <p:cNvPr id="18" name="Rectangle 17"/>
          <p:cNvSpPr/>
          <p:nvPr/>
        </p:nvSpPr>
        <p:spPr>
          <a:xfrm>
            <a:off x="579120" y="4133088"/>
            <a:ext cx="5071872" cy="2121408"/>
          </a:xfrm>
          <a:prstGeom prst="rect">
            <a:avLst/>
          </a:prstGeom>
          <a:solidFill>
            <a:srgbClr val="FFFFFF"/>
          </a:solidFill>
          <a:ln>
            <a:noFill/>
          </a:ln>
          <a:effectLst/>
        </p:spPr>
        <p:txBody>
          <a:bodyPr rtlCol="0" anchor="ctr"/>
          <a:lstStyle/>
          <a:p>
            <a:pPr algn="ctr"/>
          </a:p>
        </p:txBody>
      </p:sp>
      <p:sp>
        <p:nvSpPr>
          <p:cNvPr id="19" name="TextBox 18"/>
          <p:cNvSpPr txBox="1"/>
          <p:nvPr/>
        </p:nvSpPr>
        <p:spPr>
          <a:xfrm>
            <a:off x="835152" y="4346448"/>
            <a:ext cx="487680" cy="243840"/>
          </a:xfrm>
          <a:prstGeom prst="rect">
            <a:avLst/>
          </a:prstGeom>
          <a:noFill/>
        </p:spPr>
        <p:txBody>
          <a:bodyPr wrap="square" anchor="t" lIns="0" rIns="0" tIns="0" bIns="0">
            <a:spAutoFit/>
          </a:bodyPr>
          <a:lstStyle/>
          <a:p>
            <a:pPr algn="l"/>
            <a:r>
              <a:rPr sz="2000" b="1" i="0">
                <a:solidFill>
                  <a:srgbClr val="EE6A2C"/>
                </a:solidFill>
                <a:latin typeface="Arial"/>
              </a:rPr>
              <a:t>03</a:t>
            </a:r>
          </a:p>
        </p:txBody>
      </p:sp>
      <p:sp>
        <p:nvSpPr>
          <p:cNvPr id="20" name="TextBox 19"/>
          <p:cNvSpPr txBox="1"/>
          <p:nvPr/>
        </p:nvSpPr>
        <p:spPr>
          <a:xfrm>
            <a:off x="1383792" y="4364736"/>
            <a:ext cx="4023360" cy="365760"/>
          </a:xfrm>
          <a:prstGeom prst="rect">
            <a:avLst/>
          </a:prstGeom>
          <a:noFill/>
        </p:spPr>
        <p:txBody>
          <a:bodyPr wrap="square" anchor="t" lIns="0" rIns="0" tIns="0" bIns="0">
            <a:spAutoFit/>
          </a:bodyPr>
          <a:lstStyle/>
          <a:p>
            <a:pPr algn="l"/>
            <a:r>
              <a:rPr sz="1400" b="1" i="0">
                <a:solidFill>
                  <a:srgbClr val="111111"/>
                </a:solidFill>
                <a:latin typeface="Arial"/>
              </a:rPr>
              <a:t>Associer les forfaits aux smartphones reconditionnés</a:t>
            </a:r>
          </a:p>
        </p:txBody>
      </p:sp>
      <p:sp>
        <p:nvSpPr>
          <p:cNvPr id="21" name="TextBox 20"/>
          <p:cNvSpPr txBox="1"/>
          <p:nvPr/>
        </p:nvSpPr>
        <p:spPr>
          <a:xfrm>
            <a:off x="835152" y="4925568"/>
            <a:ext cx="4572000" cy="731520"/>
          </a:xfrm>
          <a:prstGeom prst="rect">
            <a:avLst/>
          </a:prstGeom>
          <a:noFill/>
        </p:spPr>
        <p:txBody>
          <a:bodyPr wrap="square" anchor="t" lIns="0" rIns="0" tIns="0" bIns="0">
            <a:spAutoFit/>
          </a:bodyPr>
          <a:lstStyle/>
          <a:p>
            <a:pPr algn="l"/>
            <a:r>
              <a:rPr sz="1100" b="0" i="0">
                <a:solidFill>
                  <a:srgbClr val="555B66"/>
                </a:solidFill>
                <a:latin typeface="Arial"/>
              </a:rPr>
              <a:t>L'association reconditionné + forfait atteignait 1,68 fois le CTR moyen en août. Elle n'a pas été reprise en septembre.</a:t>
            </a:r>
          </a:p>
        </p:txBody>
      </p:sp>
      <p:sp>
        <p:nvSpPr>
          <p:cNvPr id="22" name="TextBox 21"/>
          <p:cNvSpPr txBox="1"/>
          <p:nvPr/>
        </p:nvSpPr>
        <p:spPr>
          <a:xfrm>
            <a:off x="835152" y="5626608"/>
            <a:ext cx="4572000" cy="487680"/>
          </a:xfrm>
          <a:prstGeom prst="rect">
            <a:avLst/>
          </a:prstGeom>
          <a:noFill/>
        </p:spPr>
        <p:txBody>
          <a:bodyPr wrap="square" anchor="t" lIns="0" rIns="0" tIns="0" bIns="0">
            <a:spAutoFit/>
          </a:bodyPr>
          <a:lstStyle/>
          <a:p>
            <a:pPr algn="l"/>
            <a:r>
              <a:rPr sz="900" b="1" i="0">
                <a:solidFill>
                  <a:srgbClr val="555B66"/>
                </a:solidFill>
                <a:latin typeface="Arial"/>
              </a:rPr>
              <a:t>→  Construire des offres reconditionné + forfait sans engagement, avec un prix total clair.</a:t>
            </a:r>
          </a:p>
        </p:txBody>
      </p:sp>
      <p:sp>
        <p:nvSpPr>
          <p:cNvPr id="23" name="Rectangle 22"/>
          <p:cNvSpPr/>
          <p:nvPr/>
        </p:nvSpPr>
        <p:spPr>
          <a:xfrm>
            <a:off x="5992368" y="4133088"/>
            <a:ext cx="5071872" cy="2121408"/>
          </a:xfrm>
          <a:prstGeom prst="rect">
            <a:avLst/>
          </a:prstGeom>
          <a:solidFill>
            <a:srgbClr val="FFFFFF"/>
          </a:solidFill>
          <a:ln>
            <a:noFill/>
          </a:ln>
          <a:effectLst/>
        </p:spPr>
        <p:txBody>
          <a:bodyPr rtlCol="0" anchor="ctr"/>
          <a:lstStyle/>
          <a:p>
            <a:pPr algn="ctr"/>
          </a:p>
        </p:txBody>
      </p:sp>
      <p:sp>
        <p:nvSpPr>
          <p:cNvPr id="24" name="TextBox 23"/>
          <p:cNvSpPr txBox="1"/>
          <p:nvPr/>
        </p:nvSpPr>
        <p:spPr>
          <a:xfrm>
            <a:off x="6248400" y="4346448"/>
            <a:ext cx="487680" cy="243840"/>
          </a:xfrm>
          <a:prstGeom prst="rect">
            <a:avLst/>
          </a:prstGeom>
          <a:noFill/>
        </p:spPr>
        <p:txBody>
          <a:bodyPr wrap="square" anchor="t" lIns="0" rIns="0" tIns="0" bIns="0">
            <a:spAutoFit/>
          </a:bodyPr>
          <a:lstStyle/>
          <a:p>
            <a:pPr algn="l"/>
            <a:r>
              <a:rPr sz="2000" b="1" i="0">
                <a:solidFill>
                  <a:srgbClr val="EE6A2C"/>
                </a:solidFill>
                <a:latin typeface="Arial"/>
              </a:rPr>
              <a:t>04</a:t>
            </a:r>
          </a:p>
        </p:txBody>
      </p:sp>
      <p:sp>
        <p:nvSpPr>
          <p:cNvPr id="25" name="TextBox 24"/>
          <p:cNvSpPr txBox="1"/>
          <p:nvPr/>
        </p:nvSpPr>
        <p:spPr>
          <a:xfrm>
            <a:off x="6797040" y="4364736"/>
            <a:ext cx="4023360" cy="365760"/>
          </a:xfrm>
          <a:prstGeom prst="rect">
            <a:avLst/>
          </a:prstGeom>
          <a:noFill/>
        </p:spPr>
        <p:txBody>
          <a:bodyPr wrap="square" anchor="t" lIns="0" rIns="0" tIns="0" bIns="0">
            <a:spAutoFit/>
          </a:bodyPr>
          <a:lstStyle/>
          <a:p>
            <a:pPr algn="l"/>
            <a:r>
              <a:rPr sz="1400" b="1" i="0">
                <a:solidFill>
                  <a:srgbClr val="111111"/>
                </a:solidFill>
                <a:latin typeface="Arial"/>
              </a:rPr>
              <a:t>Segmenter par usage plutôt que par profil</a:t>
            </a:r>
          </a:p>
        </p:txBody>
      </p:sp>
      <p:sp>
        <p:nvSpPr>
          <p:cNvPr id="26" name="TextBox 25"/>
          <p:cNvSpPr txBox="1"/>
          <p:nvPr/>
        </p:nvSpPr>
        <p:spPr>
          <a:xfrm>
            <a:off x="6248400" y="4925568"/>
            <a:ext cx="4572000" cy="731520"/>
          </a:xfrm>
          <a:prstGeom prst="rect">
            <a:avLst/>
          </a:prstGeom>
          <a:noFill/>
        </p:spPr>
        <p:txBody>
          <a:bodyPr wrap="square" anchor="t" lIns="0" rIns="0" tIns="0" bIns="0">
            <a:spAutoFit/>
          </a:bodyPr>
          <a:lstStyle/>
          <a:p>
            <a:pPr algn="l"/>
            <a:r>
              <a:rPr sz="1100" b="0" i="0">
                <a:solidFill>
                  <a:srgbClr val="555B66"/>
                </a:solidFill>
                <a:latin typeface="Arial"/>
              </a:rPr>
              <a:t>En août, la mobilité atteignait 1,95 fois le CTR moyen et le partage de connexion 1,24 fois. Les annonces de septembre ne parlent que du volume de data (40 Go, 150 Go).</a:t>
            </a:r>
          </a:p>
        </p:txBody>
      </p:sp>
      <p:sp>
        <p:nvSpPr>
          <p:cNvPr id="27" name="TextBox 26"/>
          <p:cNvSpPr txBox="1"/>
          <p:nvPr/>
        </p:nvSpPr>
        <p:spPr>
          <a:xfrm>
            <a:off x="6248400" y="5626608"/>
            <a:ext cx="4572000" cy="487680"/>
          </a:xfrm>
          <a:prstGeom prst="rect">
            <a:avLst/>
          </a:prstGeom>
          <a:noFill/>
        </p:spPr>
        <p:txBody>
          <a:bodyPr wrap="square" anchor="t" lIns="0" rIns="0" tIns="0" bIns="0">
            <a:spAutoFit/>
          </a:bodyPr>
          <a:lstStyle/>
          <a:p>
            <a:pPr algn="l"/>
            <a:r>
              <a:rPr sz="900" b="1" i="0">
                <a:solidFill>
                  <a:srgbClr val="555B66"/>
                </a:solidFill>
                <a:latin typeface="Arial"/>
              </a:rPr>
              <a:t>→  Cibler des usages précis : vidéo en déplacement, travail en mobilité, plusieurs appareils connectés.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6F2"/>
          </a:solidFill>
          <a:ln>
            <a:noFill/>
          </a:ln>
          <a:effectLst/>
        </p:spPr>
        <p:txBody>
          <a:bodyPr rtlCol="0" anchor="ctr"/>
          <a:lstStyle/>
          <a:p>
            <a:pPr algn="ctr"/>
          </a:p>
        </p:txBody>
      </p:sp>
      <p:sp>
        <p:nvSpPr>
          <p:cNvPr id="3" name="TextBox 2"/>
          <p:cNvSpPr txBox="1"/>
          <p:nvPr/>
        </p:nvSpPr>
        <p:spPr>
          <a:xfrm>
            <a:off x="530352" y="487680"/>
            <a:ext cx="7315200" cy="182880"/>
          </a:xfrm>
          <a:prstGeom prst="rect">
            <a:avLst/>
          </a:prstGeom>
          <a:noFill/>
        </p:spPr>
        <p:txBody>
          <a:bodyPr wrap="square" anchor="t" lIns="0" rIns="0" tIns="0" bIns="0">
            <a:spAutoFit/>
          </a:bodyPr>
          <a:lstStyle/>
          <a:p>
            <a:pPr algn="l"/>
            <a:r>
              <a:rPr sz="1300" b="1" i="0">
                <a:solidFill>
                  <a:srgbClr val="EE6A2C"/>
                </a:solidFill>
                <a:latin typeface="Arial"/>
              </a:rPr>
              <a:t>RAPPORT DE PERFORMANCE · 01/09/2026 → 30/09/2026</a:t>
            </a:r>
          </a:p>
        </p:txBody>
      </p:sp>
      <p:sp>
        <p:nvSpPr>
          <p:cNvPr id="4" name="TextBox 3"/>
          <p:cNvSpPr txBox="1"/>
          <p:nvPr/>
        </p:nvSpPr>
        <p:spPr>
          <a:xfrm>
            <a:off x="530352" y="640080"/>
            <a:ext cx="7315200" cy="487680"/>
          </a:xfrm>
          <a:prstGeom prst="rect">
            <a:avLst/>
          </a:prstGeom>
          <a:noFill/>
        </p:spPr>
        <p:txBody>
          <a:bodyPr wrap="square" anchor="t" lIns="0" rIns="0" tIns="0" bIns="0">
            <a:spAutoFit/>
          </a:bodyPr>
          <a:lstStyle/>
          <a:p>
            <a:pPr algn="l"/>
            <a:r>
              <a:rPr sz="3600" b="1" i="0">
                <a:solidFill>
                  <a:srgbClr val="111111"/>
                </a:solidFill>
                <a:latin typeface="Arial"/>
              </a:rPr>
              <a:t>Cdiscount Voyages – Séjours</a:t>
            </a:r>
          </a:p>
        </p:txBody>
      </p:sp>
      <p:sp>
        <p:nvSpPr>
          <p:cNvPr id="5" name="TextBox 4"/>
          <p:cNvSpPr txBox="1"/>
          <p:nvPr/>
        </p:nvSpPr>
        <p:spPr>
          <a:xfrm>
            <a:off x="7924800" y="591312"/>
            <a:ext cx="3304032" cy="152400"/>
          </a:xfrm>
          <a:prstGeom prst="rect">
            <a:avLst/>
          </a:prstGeom>
          <a:noFill/>
        </p:spPr>
        <p:txBody>
          <a:bodyPr wrap="square" anchor="t" lIns="0" rIns="0" tIns="0" bIns="0">
            <a:spAutoFit/>
          </a:bodyPr>
          <a:lstStyle/>
          <a:p>
            <a:pPr algn="r"/>
            <a:r>
              <a:rPr sz="1200" b="1" i="0">
                <a:solidFill>
                  <a:srgbClr val="8A93A6"/>
                </a:solidFill>
                <a:latin typeface="Arial"/>
              </a:rPr>
              <a:t>COMPARAISON</a:t>
            </a:r>
          </a:p>
        </p:txBody>
      </p:sp>
      <p:sp>
        <p:nvSpPr>
          <p:cNvPr id="6" name="TextBox 5"/>
          <p:cNvSpPr txBox="1"/>
          <p:nvPr/>
        </p:nvSpPr>
        <p:spPr>
          <a:xfrm>
            <a:off x="7924800" y="780288"/>
            <a:ext cx="3304032" cy="182880"/>
          </a:xfrm>
          <a:prstGeom prst="rect">
            <a:avLst/>
          </a:prstGeom>
          <a:noFill/>
        </p:spPr>
        <p:txBody>
          <a:bodyPr wrap="square" anchor="t" lIns="0" rIns="0" tIns="0" bIns="0">
            <a:spAutoFit/>
          </a:bodyPr>
          <a:lstStyle/>
          <a:p>
            <a:pPr algn="r"/>
            <a:r>
              <a:rPr sz="1500" b="1" i="0">
                <a:solidFill>
                  <a:srgbClr val="111111"/>
                </a:solidFill>
                <a:latin typeface="Arial"/>
              </a:rPr>
              <a:t>vs 01/08/2026 → 31/08/2026</a:t>
            </a:r>
          </a:p>
        </p:txBody>
      </p:sp>
      <p:sp>
        <p:nvSpPr>
          <p:cNvPr id="7" name="TextBox 6"/>
          <p:cNvSpPr txBox="1"/>
          <p:nvPr/>
        </p:nvSpPr>
        <p:spPr>
          <a:xfrm>
            <a:off x="530352" y="1280160"/>
            <a:ext cx="2438400" cy="182880"/>
          </a:xfrm>
          <a:prstGeom prst="rect">
            <a:avLst/>
          </a:prstGeom>
          <a:noFill/>
        </p:spPr>
        <p:txBody>
          <a:bodyPr wrap="square" anchor="t" lIns="0" rIns="0" tIns="0" bIns="0">
            <a:spAutoFit/>
          </a:bodyPr>
          <a:lstStyle/>
          <a:p>
            <a:pPr algn="l"/>
            <a:r>
              <a:rPr sz="1400" b="1" i="0">
                <a:solidFill>
                  <a:srgbClr val="EE6A2C"/>
                </a:solidFill>
                <a:latin typeface="Arial"/>
              </a:rPr>
              <a:t>DIFFUSION</a:t>
            </a:r>
          </a:p>
        </p:txBody>
      </p:sp>
      <p:sp>
        <p:nvSpPr>
          <p:cNvPr id="8" name="TextBox 7"/>
          <p:cNvSpPr txBox="1"/>
          <p:nvPr/>
        </p:nvSpPr>
        <p:spPr>
          <a:xfrm>
            <a:off x="2389632" y="1280160"/>
            <a:ext cx="2438400" cy="182880"/>
          </a:xfrm>
          <a:prstGeom prst="rect">
            <a:avLst/>
          </a:prstGeom>
          <a:noFill/>
        </p:spPr>
        <p:txBody>
          <a:bodyPr wrap="square" anchor="t" lIns="0" rIns="0" tIns="0" bIns="0">
            <a:spAutoFit/>
          </a:bodyPr>
          <a:lstStyle/>
          <a:p>
            <a:pPr algn="l"/>
            <a:r>
              <a:rPr sz="1400" b="1" i="0">
                <a:solidFill>
                  <a:srgbClr val="EE6A2C"/>
                </a:solidFill>
                <a:latin typeface="Arial"/>
              </a:rPr>
              <a:t>ENGAGEMENT</a:t>
            </a:r>
          </a:p>
        </p:txBody>
      </p:sp>
      <p:sp>
        <p:nvSpPr>
          <p:cNvPr id="9" name="TextBox 8"/>
          <p:cNvSpPr txBox="1"/>
          <p:nvPr/>
        </p:nvSpPr>
        <p:spPr>
          <a:xfrm>
            <a:off x="6108192" y="1280160"/>
            <a:ext cx="2438400" cy="182880"/>
          </a:xfrm>
          <a:prstGeom prst="rect">
            <a:avLst/>
          </a:prstGeom>
          <a:noFill/>
        </p:spPr>
        <p:txBody>
          <a:bodyPr wrap="square" anchor="t" lIns="0" rIns="0" tIns="0" bIns="0">
            <a:spAutoFit/>
          </a:bodyPr>
          <a:lstStyle/>
          <a:p>
            <a:pPr algn="l"/>
            <a:r>
              <a:rPr sz="1400" b="1" i="0">
                <a:solidFill>
                  <a:srgbClr val="EE6A2C"/>
                </a:solidFill>
                <a:latin typeface="Arial"/>
              </a:rPr>
              <a:t>CONVERSION</a:t>
            </a:r>
          </a:p>
        </p:txBody>
      </p:sp>
      <p:sp>
        <p:nvSpPr>
          <p:cNvPr id="10" name="Rectangle 9"/>
          <p:cNvSpPr/>
          <p:nvPr/>
        </p:nvSpPr>
        <p:spPr>
          <a:xfrm>
            <a:off x="530352" y="1536192"/>
            <a:ext cx="1389888" cy="1127760"/>
          </a:xfrm>
          <a:prstGeom prst="rect">
            <a:avLst/>
          </a:prstGeom>
          <a:solidFill>
            <a:srgbClr val="FFFFFF"/>
          </a:solidFill>
          <a:ln>
            <a:noFill/>
          </a:ln>
          <a:effectLst/>
        </p:spPr>
        <p:txBody>
          <a:bodyPr rtlCol="0" anchor="ctr"/>
          <a:lstStyle/>
          <a:p>
            <a:pPr algn="ctr"/>
          </a:p>
        </p:txBody>
      </p:sp>
      <p:sp>
        <p:nvSpPr>
          <p:cNvPr id="11" name="Rectangle 10"/>
          <p:cNvSpPr/>
          <p:nvPr/>
        </p:nvSpPr>
        <p:spPr>
          <a:xfrm>
            <a:off x="530352" y="1536192"/>
            <a:ext cx="24384" cy="1127760"/>
          </a:xfrm>
          <a:prstGeom prst="rect">
            <a:avLst/>
          </a:prstGeom>
          <a:solidFill>
            <a:srgbClr val="EE6A2C"/>
          </a:solidFill>
          <a:ln>
            <a:noFill/>
          </a:ln>
          <a:effectLst/>
        </p:spPr>
        <p:txBody>
          <a:bodyPr rtlCol="0" anchor="ctr"/>
          <a:lstStyle/>
          <a:p>
            <a:pPr algn="ctr"/>
          </a:p>
        </p:txBody>
      </p:sp>
      <p:sp>
        <p:nvSpPr>
          <p:cNvPr id="12" name="TextBox 11"/>
          <p:cNvSpPr txBox="1"/>
          <p:nvPr/>
        </p:nvSpPr>
        <p:spPr>
          <a:xfrm>
            <a:off x="664464" y="1615440"/>
            <a:ext cx="1219200" cy="121920"/>
          </a:xfrm>
          <a:prstGeom prst="rect">
            <a:avLst/>
          </a:prstGeom>
          <a:noFill/>
        </p:spPr>
        <p:txBody>
          <a:bodyPr wrap="square" anchor="t" lIns="0" rIns="0" tIns="0" bIns="0">
            <a:spAutoFit/>
          </a:bodyPr>
          <a:lstStyle/>
          <a:p>
            <a:pPr algn="l"/>
            <a:r>
              <a:rPr sz="1000" b="1" i="0">
                <a:solidFill>
                  <a:srgbClr val="555B66"/>
                </a:solidFill>
                <a:latin typeface="Arial"/>
              </a:rPr>
              <a:t>IMPRESSIONS</a:t>
            </a:r>
          </a:p>
        </p:txBody>
      </p:sp>
      <p:sp>
        <p:nvSpPr>
          <p:cNvPr id="13" name="TextBox 12"/>
          <p:cNvSpPr txBox="1"/>
          <p:nvPr/>
        </p:nvSpPr>
        <p:spPr>
          <a:xfrm>
            <a:off x="664464" y="1889760"/>
            <a:ext cx="1219200" cy="274320"/>
          </a:xfrm>
          <a:prstGeom prst="rect">
            <a:avLst/>
          </a:prstGeom>
          <a:noFill/>
        </p:spPr>
        <p:txBody>
          <a:bodyPr wrap="square" anchor="t" lIns="0" rIns="0" tIns="0" bIns="0">
            <a:spAutoFit/>
          </a:bodyPr>
          <a:lstStyle/>
          <a:p>
            <a:pPr algn="l"/>
            <a:r>
              <a:rPr sz="2200" b="1" i="0">
                <a:solidFill>
                  <a:srgbClr val="111111"/>
                </a:solidFill>
                <a:latin typeface="Arial"/>
              </a:rPr>
              <a:t>790 844</a:t>
            </a:r>
          </a:p>
        </p:txBody>
      </p:sp>
      <p:sp>
        <p:nvSpPr>
          <p:cNvPr id="14" name="TextBox 13"/>
          <p:cNvSpPr txBox="1"/>
          <p:nvPr/>
        </p:nvSpPr>
        <p:spPr>
          <a:xfrm>
            <a:off x="664464" y="2243328"/>
            <a:ext cx="1219200" cy="109728"/>
          </a:xfrm>
          <a:prstGeom prst="rect">
            <a:avLst/>
          </a:prstGeom>
          <a:noFill/>
        </p:spPr>
        <p:txBody>
          <a:bodyPr wrap="square" anchor="t" lIns="0" rIns="0" tIns="0" bIns="0">
            <a:spAutoFit/>
          </a:bodyPr>
          <a:lstStyle/>
          <a:p>
            <a:pPr algn="l"/>
            <a:r>
              <a:rPr sz="1000" b="1" i="0">
                <a:solidFill>
                  <a:srgbClr val="B04837"/>
                </a:solidFill>
                <a:latin typeface="Arial"/>
              </a:rPr>
              <a:t>▼ −52 %</a:t>
            </a:r>
          </a:p>
        </p:txBody>
      </p:sp>
      <p:sp>
        <p:nvSpPr>
          <p:cNvPr id="15" name="TextBox 14"/>
          <p:cNvSpPr txBox="1"/>
          <p:nvPr/>
        </p:nvSpPr>
        <p:spPr>
          <a:xfrm>
            <a:off x="664464" y="2499360"/>
            <a:ext cx="1219200" cy="91440"/>
          </a:xfrm>
          <a:prstGeom prst="rect">
            <a:avLst/>
          </a:prstGeom>
          <a:noFill/>
        </p:spPr>
        <p:txBody>
          <a:bodyPr wrap="square" anchor="t" lIns="0" rIns="0" tIns="0" bIns="0">
            <a:spAutoFit/>
          </a:bodyPr>
          <a:lstStyle/>
          <a:p>
            <a:pPr algn="l"/>
            <a:r>
              <a:rPr sz="800" b="0" i="1">
                <a:solidFill>
                  <a:srgbClr val="555B66"/>
                </a:solidFill>
                <a:latin typeface="Arial"/>
              </a:rPr>
              <a:t>YTD 5 924 632</a:t>
            </a:r>
          </a:p>
        </p:txBody>
      </p:sp>
      <p:sp>
        <p:nvSpPr>
          <p:cNvPr id="16" name="Rectangle 15"/>
          <p:cNvSpPr/>
          <p:nvPr/>
        </p:nvSpPr>
        <p:spPr>
          <a:xfrm>
            <a:off x="2389632" y="1536192"/>
            <a:ext cx="1389888" cy="1127760"/>
          </a:xfrm>
          <a:prstGeom prst="rect">
            <a:avLst/>
          </a:prstGeom>
          <a:solidFill>
            <a:srgbClr val="FFFFFF"/>
          </a:solidFill>
          <a:ln>
            <a:noFill/>
          </a:ln>
          <a:effectLst/>
        </p:spPr>
        <p:txBody>
          <a:bodyPr rtlCol="0" anchor="ctr"/>
          <a:lstStyle/>
          <a:p>
            <a:pPr algn="ctr"/>
          </a:p>
        </p:txBody>
      </p:sp>
      <p:sp>
        <p:nvSpPr>
          <p:cNvPr id="17" name="Rectangle 16"/>
          <p:cNvSpPr/>
          <p:nvPr/>
        </p:nvSpPr>
        <p:spPr>
          <a:xfrm>
            <a:off x="2389632" y="1536192"/>
            <a:ext cx="24384" cy="1127760"/>
          </a:xfrm>
          <a:prstGeom prst="rect">
            <a:avLst/>
          </a:prstGeom>
          <a:solidFill>
            <a:srgbClr val="EE6A2C"/>
          </a:solidFill>
          <a:ln>
            <a:noFill/>
          </a:ln>
          <a:effectLst/>
        </p:spPr>
        <p:txBody>
          <a:bodyPr rtlCol="0" anchor="ctr"/>
          <a:lstStyle/>
          <a:p>
            <a:pPr algn="ctr"/>
          </a:p>
        </p:txBody>
      </p:sp>
      <p:sp>
        <p:nvSpPr>
          <p:cNvPr id="18" name="TextBox 17"/>
          <p:cNvSpPr txBox="1"/>
          <p:nvPr/>
        </p:nvSpPr>
        <p:spPr>
          <a:xfrm>
            <a:off x="2523744" y="1615440"/>
            <a:ext cx="1219200" cy="121920"/>
          </a:xfrm>
          <a:prstGeom prst="rect">
            <a:avLst/>
          </a:prstGeom>
          <a:noFill/>
        </p:spPr>
        <p:txBody>
          <a:bodyPr wrap="square" anchor="t" lIns="0" rIns="0" tIns="0" bIns="0">
            <a:spAutoFit/>
          </a:bodyPr>
          <a:lstStyle/>
          <a:p>
            <a:pPr algn="l"/>
            <a:r>
              <a:rPr sz="1000" b="1" i="0">
                <a:solidFill>
                  <a:srgbClr val="555B66"/>
                </a:solidFill>
                <a:latin typeface="Arial"/>
              </a:rPr>
              <a:t>CLICS</a:t>
            </a:r>
          </a:p>
        </p:txBody>
      </p:sp>
      <p:sp>
        <p:nvSpPr>
          <p:cNvPr id="19" name="TextBox 18"/>
          <p:cNvSpPr txBox="1"/>
          <p:nvPr/>
        </p:nvSpPr>
        <p:spPr>
          <a:xfrm>
            <a:off x="2523744" y="1889760"/>
            <a:ext cx="1219200" cy="274320"/>
          </a:xfrm>
          <a:prstGeom prst="rect">
            <a:avLst/>
          </a:prstGeom>
          <a:noFill/>
        </p:spPr>
        <p:txBody>
          <a:bodyPr wrap="square" anchor="t" lIns="0" rIns="0" tIns="0" bIns="0">
            <a:spAutoFit/>
          </a:bodyPr>
          <a:lstStyle/>
          <a:p>
            <a:pPr algn="l"/>
            <a:r>
              <a:rPr sz="2200" b="1" i="0">
                <a:solidFill>
                  <a:srgbClr val="111111"/>
                </a:solidFill>
                <a:latin typeface="Arial"/>
              </a:rPr>
              <a:t>3 916</a:t>
            </a:r>
          </a:p>
        </p:txBody>
      </p:sp>
      <p:sp>
        <p:nvSpPr>
          <p:cNvPr id="20" name="TextBox 19"/>
          <p:cNvSpPr txBox="1"/>
          <p:nvPr/>
        </p:nvSpPr>
        <p:spPr>
          <a:xfrm>
            <a:off x="2523744" y="2243328"/>
            <a:ext cx="1219200" cy="109728"/>
          </a:xfrm>
          <a:prstGeom prst="rect">
            <a:avLst/>
          </a:prstGeom>
          <a:noFill/>
        </p:spPr>
        <p:txBody>
          <a:bodyPr wrap="square" anchor="t" lIns="0" rIns="0" tIns="0" bIns="0">
            <a:spAutoFit/>
          </a:bodyPr>
          <a:lstStyle/>
          <a:p>
            <a:pPr algn="l"/>
            <a:r>
              <a:rPr sz="1000" b="1" i="0">
                <a:solidFill>
                  <a:srgbClr val="1E7B34"/>
                </a:solidFill>
                <a:latin typeface="Arial"/>
              </a:rPr>
              <a:t>▲ +26 %</a:t>
            </a:r>
          </a:p>
        </p:txBody>
      </p:sp>
      <p:sp>
        <p:nvSpPr>
          <p:cNvPr id="21" name="TextBox 20"/>
          <p:cNvSpPr txBox="1"/>
          <p:nvPr/>
        </p:nvSpPr>
        <p:spPr>
          <a:xfrm>
            <a:off x="2523744" y="2499360"/>
            <a:ext cx="1219200" cy="91440"/>
          </a:xfrm>
          <a:prstGeom prst="rect">
            <a:avLst/>
          </a:prstGeom>
          <a:noFill/>
        </p:spPr>
        <p:txBody>
          <a:bodyPr wrap="square" anchor="t" lIns="0" rIns="0" tIns="0" bIns="0">
            <a:spAutoFit/>
          </a:bodyPr>
          <a:lstStyle/>
          <a:p>
            <a:pPr algn="l"/>
            <a:r>
              <a:rPr sz="800" b="0" i="1">
                <a:solidFill>
                  <a:srgbClr val="555B66"/>
                </a:solidFill>
                <a:latin typeface="Arial"/>
              </a:rPr>
              <a:t>YTD 12 654</a:t>
            </a:r>
          </a:p>
        </p:txBody>
      </p:sp>
      <p:sp>
        <p:nvSpPr>
          <p:cNvPr id="22" name="Rectangle 21"/>
          <p:cNvSpPr/>
          <p:nvPr/>
        </p:nvSpPr>
        <p:spPr>
          <a:xfrm>
            <a:off x="4248912" y="1536192"/>
            <a:ext cx="1389888" cy="1127760"/>
          </a:xfrm>
          <a:prstGeom prst="rect">
            <a:avLst/>
          </a:prstGeom>
          <a:solidFill>
            <a:srgbClr val="FFFFFF"/>
          </a:solidFill>
          <a:ln>
            <a:noFill/>
          </a:ln>
          <a:effectLst/>
        </p:spPr>
        <p:txBody>
          <a:bodyPr rtlCol="0" anchor="ctr"/>
          <a:lstStyle/>
          <a:p>
            <a:pPr algn="ctr"/>
          </a:p>
        </p:txBody>
      </p:sp>
      <p:sp>
        <p:nvSpPr>
          <p:cNvPr id="23" name="Rectangle 22"/>
          <p:cNvSpPr/>
          <p:nvPr/>
        </p:nvSpPr>
        <p:spPr>
          <a:xfrm>
            <a:off x="4248912" y="1536192"/>
            <a:ext cx="24384" cy="1127760"/>
          </a:xfrm>
          <a:prstGeom prst="rect">
            <a:avLst/>
          </a:prstGeom>
          <a:solidFill>
            <a:srgbClr val="EE6A2C"/>
          </a:solidFill>
          <a:ln>
            <a:noFill/>
          </a:ln>
          <a:effectLst/>
        </p:spPr>
        <p:txBody>
          <a:bodyPr rtlCol="0" anchor="ctr"/>
          <a:lstStyle/>
          <a:p>
            <a:pPr algn="ctr"/>
          </a:p>
        </p:txBody>
      </p:sp>
      <p:sp>
        <p:nvSpPr>
          <p:cNvPr id="24" name="TextBox 23"/>
          <p:cNvSpPr txBox="1"/>
          <p:nvPr/>
        </p:nvSpPr>
        <p:spPr>
          <a:xfrm>
            <a:off x="4383024" y="1615440"/>
            <a:ext cx="1219200" cy="121920"/>
          </a:xfrm>
          <a:prstGeom prst="rect">
            <a:avLst/>
          </a:prstGeom>
          <a:noFill/>
        </p:spPr>
        <p:txBody>
          <a:bodyPr wrap="square" anchor="t" lIns="0" rIns="0" tIns="0" bIns="0">
            <a:spAutoFit/>
          </a:bodyPr>
          <a:lstStyle/>
          <a:p>
            <a:pPr algn="l"/>
            <a:r>
              <a:rPr sz="1000" b="1" i="0">
                <a:solidFill>
                  <a:srgbClr val="555B66"/>
                </a:solidFill>
                <a:latin typeface="Arial"/>
              </a:rPr>
              <a:t>CTR</a:t>
            </a:r>
          </a:p>
        </p:txBody>
      </p:sp>
      <p:sp>
        <p:nvSpPr>
          <p:cNvPr id="25" name="TextBox 24"/>
          <p:cNvSpPr txBox="1"/>
          <p:nvPr/>
        </p:nvSpPr>
        <p:spPr>
          <a:xfrm>
            <a:off x="4383024" y="1889760"/>
            <a:ext cx="1219200" cy="274320"/>
          </a:xfrm>
          <a:prstGeom prst="rect">
            <a:avLst/>
          </a:prstGeom>
          <a:noFill/>
        </p:spPr>
        <p:txBody>
          <a:bodyPr wrap="square" anchor="t" lIns="0" rIns="0" tIns="0" bIns="0">
            <a:spAutoFit/>
          </a:bodyPr>
          <a:lstStyle/>
          <a:p>
            <a:pPr algn="l"/>
            <a:r>
              <a:rPr sz="2200" b="1" i="0">
                <a:solidFill>
                  <a:srgbClr val="111111"/>
                </a:solidFill>
                <a:latin typeface="Arial"/>
              </a:rPr>
              <a:t>0,50 %</a:t>
            </a:r>
          </a:p>
        </p:txBody>
      </p:sp>
      <p:sp>
        <p:nvSpPr>
          <p:cNvPr id="26" name="TextBox 25"/>
          <p:cNvSpPr txBox="1"/>
          <p:nvPr/>
        </p:nvSpPr>
        <p:spPr>
          <a:xfrm>
            <a:off x="4383024" y="2243328"/>
            <a:ext cx="1219200" cy="109728"/>
          </a:xfrm>
          <a:prstGeom prst="rect">
            <a:avLst/>
          </a:prstGeom>
          <a:noFill/>
        </p:spPr>
        <p:txBody>
          <a:bodyPr wrap="square" anchor="t" lIns="0" rIns="0" tIns="0" bIns="0">
            <a:spAutoFit/>
          </a:bodyPr>
          <a:lstStyle/>
          <a:p>
            <a:pPr algn="l"/>
            <a:r>
              <a:rPr sz="1000" b="1" i="0">
                <a:solidFill>
                  <a:srgbClr val="1E7B34"/>
                </a:solidFill>
                <a:latin typeface="Arial"/>
              </a:rPr>
              <a:t>▲ +0,31 pt</a:t>
            </a:r>
          </a:p>
        </p:txBody>
      </p:sp>
      <p:sp>
        <p:nvSpPr>
          <p:cNvPr id="27" name="TextBox 26"/>
          <p:cNvSpPr txBox="1"/>
          <p:nvPr/>
        </p:nvSpPr>
        <p:spPr>
          <a:xfrm>
            <a:off x="4383024" y="2499360"/>
            <a:ext cx="1219200" cy="91440"/>
          </a:xfrm>
          <a:prstGeom prst="rect">
            <a:avLst/>
          </a:prstGeom>
          <a:noFill/>
        </p:spPr>
        <p:txBody>
          <a:bodyPr wrap="square" anchor="t" lIns="0" rIns="0" tIns="0" bIns="0">
            <a:spAutoFit/>
          </a:bodyPr>
          <a:lstStyle/>
          <a:p>
            <a:pPr algn="l"/>
            <a:r>
              <a:rPr sz="800" b="0" i="1">
                <a:solidFill>
                  <a:srgbClr val="555B66"/>
                </a:solidFill>
                <a:latin typeface="Arial"/>
              </a:rPr>
              <a:t>YTD 0,21 %</a:t>
            </a:r>
          </a:p>
        </p:txBody>
      </p:sp>
      <p:sp>
        <p:nvSpPr>
          <p:cNvPr id="28" name="Rectangle 27"/>
          <p:cNvSpPr/>
          <p:nvPr/>
        </p:nvSpPr>
        <p:spPr>
          <a:xfrm>
            <a:off x="6108192" y="1536192"/>
            <a:ext cx="1389888" cy="1127760"/>
          </a:xfrm>
          <a:prstGeom prst="rect">
            <a:avLst/>
          </a:prstGeom>
          <a:solidFill>
            <a:srgbClr val="F1EFEB"/>
          </a:solidFill>
          <a:ln>
            <a:noFill/>
          </a:ln>
          <a:effectLst/>
        </p:spPr>
        <p:txBody>
          <a:bodyPr rtlCol="0" anchor="ctr"/>
          <a:lstStyle/>
          <a:p>
            <a:pPr algn="ctr"/>
          </a:p>
        </p:txBody>
      </p:sp>
      <p:sp>
        <p:nvSpPr>
          <p:cNvPr id="29" name="Rounded Rectangle 28"/>
          <p:cNvSpPr/>
          <p:nvPr/>
        </p:nvSpPr>
        <p:spPr>
          <a:xfrm>
            <a:off x="6827520" y="1450848"/>
            <a:ext cx="609600" cy="170688"/>
          </a:xfrm>
          <a:prstGeom prst="roundRect">
            <a:avLst>
              <a:gd name="adj" fmla="val 50000"/>
            </a:avLst>
          </a:prstGeom>
          <a:solidFill>
            <a:srgbClr val="D9D6D1"/>
          </a:solidFill>
          <a:ln>
            <a:noFill/>
          </a:ln>
          <a:effectLst/>
        </p:spPr>
        <p:txBody>
          <a:bodyPr rtlCol="0" anchor="ctr"/>
          <a:lstStyle/>
          <a:p>
            <a:pPr algn="ctr"/>
          </a:p>
        </p:txBody>
      </p:sp>
      <p:sp>
        <p:nvSpPr>
          <p:cNvPr id="30" name="TextBox 29"/>
          <p:cNvSpPr txBox="1"/>
          <p:nvPr/>
        </p:nvSpPr>
        <p:spPr>
          <a:xfrm>
            <a:off x="6827520" y="1450848"/>
            <a:ext cx="609600" cy="170688"/>
          </a:xfrm>
          <a:prstGeom prst="rect">
            <a:avLst/>
          </a:prstGeom>
          <a:noFill/>
        </p:spPr>
        <p:txBody>
          <a:bodyPr wrap="square" anchor="ctr" lIns="0" rIns="0" tIns="0" bIns="0">
            <a:spAutoFit/>
          </a:bodyPr>
          <a:lstStyle/>
          <a:p>
            <a:pPr algn="ctr"/>
            <a:r>
              <a:rPr sz="800" b="1" i="0">
                <a:solidFill>
                  <a:srgbClr val="555B66"/>
                </a:solidFill>
                <a:latin typeface="Arial"/>
              </a:rPr>
              <a:t>INDICATIF</a:t>
            </a:r>
          </a:p>
        </p:txBody>
      </p:sp>
      <p:sp>
        <p:nvSpPr>
          <p:cNvPr id="31" name="TextBox 30"/>
          <p:cNvSpPr txBox="1"/>
          <p:nvPr/>
        </p:nvSpPr>
        <p:spPr>
          <a:xfrm>
            <a:off x="6242304" y="1706880"/>
            <a:ext cx="1219200" cy="121920"/>
          </a:xfrm>
          <a:prstGeom prst="rect">
            <a:avLst/>
          </a:prstGeom>
          <a:noFill/>
        </p:spPr>
        <p:txBody>
          <a:bodyPr wrap="square" anchor="t" lIns="0" rIns="0" tIns="0" bIns="0">
            <a:spAutoFit/>
          </a:bodyPr>
          <a:lstStyle/>
          <a:p>
            <a:pPr algn="l"/>
            <a:r>
              <a:rPr sz="1000" b="1" i="0">
                <a:solidFill>
                  <a:srgbClr val="8A93A6"/>
                </a:solidFill>
                <a:latin typeface="Arial"/>
              </a:rPr>
              <a:t>CONVERSIONS</a:t>
            </a:r>
          </a:p>
        </p:txBody>
      </p:sp>
      <p:sp>
        <p:nvSpPr>
          <p:cNvPr id="32" name="TextBox 31"/>
          <p:cNvSpPr txBox="1"/>
          <p:nvPr/>
        </p:nvSpPr>
        <p:spPr>
          <a:xfrm>
            <a:off x="6242304" y="1889760"/>
            <a:ext cx="1219200" cy="274320"/>
          </a:xfrm>
          <a:prstGeom prst="rect">
            <a:avLst/>
          </a:prstGeom>
          <a:noFill/>
        </p:spPr>
        <p:txBody>
          <a:bodyPr wrap="square" anchor="t" lIns="0" rIns="0" tIns="0" bIns="0">
            <a:spAutoFit/>
          </a:bodyPr>
          <a:lstStyle/>
          <a:p>
            <a:pPr algn="l"/>
            <a:r>
              <a:rPr sz="2200" b="1" i="0">
                <a:solidFill>
                  <a:srgbClr val="8A93A6"/>
                </a:solidFill>
                <a:latin typeface="Arial"/>
              </a:rPr>
              <a:t>4</a:t>
            </a:r>
          </a:p>
        </p:txBody>
      </p:sp>
      <p:sp>
        <p:nvSpPr>
          <p:cNvPr id="33" name="TextBox 32"/>
          <p:cNvSpPr txBox="1"/>
          <p:nvPr/>
        </p:nvSpPr>
        <p:spPr>
          <a:xfrm>
            <a:off x="6242304" y="2243328"/>
            <a:ext cx="1219200" cy="109728"/>
          </a:xfrm>
          <a:prstGeom prst="rect">
            <a:avLst/>
          </a:prstGeom>
          <a:noFill/>
        </p:spPr>
        <p:txBody>
          <a:bodyPr wrap="square" anchor="t" lIns="0" rIns="0" tIns="0" bIns="0">
            <a:spAutoFit/>
          </a:bodyPr>
          <a:lstStyle/>
          <a:p>
            <a:pPr algn="l"/>
            <a:r>
              <a:rPr sz="1000" b="1" i="0">
                <a:solidFill>
                  <a:srgbClr val="8A93A6"/>
                </a:solidFill>
                <a:latin typeface="Arial"/>
              </a:rPr>
              <a:t>+2</a:t>
            </a:r>
          </a:p>
        </p:txBody>
      </p:sp>
      <p:sp>
        <p:nvSpPr>
          <p:cNvPr id="34" name="TextBox 33"/>
          <p:cNvSpPr txBox="1"/>
          <p:nvPr/>
        </p:nvSpPr>
        <p:spPr>
          <a:xfrm>
            <a:off x="6242304" y="2499360"/>
            <a:ext cx="1219200" cy="91440"/>
          </a:xfrm>
          <a:prstGeom prst="rect">
            <a:avLst/>
          </a:prstGeom>
          <a:noFill/>
        </p:spPr>
        <p:txBody>
          <a:bodyPr wrap="square" anchor="t" lIns="0" rIns="0" tIns="0" bIns="0">
            <a:spAutoFit/>
          </a:bodyPr>
          <a:lstStyle/>
          <a:p>
            <a:pPr algn="l"/>
            <a:r>
              <a:rPr sz="800" b="0" i="1">
                <a:solidFill>
                  <a:srgbClr val="8A93A6"/>
                </a:solidFill>
                <a:latin typeface="Arial"/>
              </a:rPr>
              <a:t>YTD 25</a:t>
            </a:r>
          </a:p>
        </p:txBody>
      </p:sp>
      <p:sp>
        <p:nvSpPr>
          <p:cNvPr id="35" name="Rectangle 34"/>
          <p:cNvSpPr/>
          <p:nvPr/>
        </p:nvSpPr>
        <p:spPr>
          <a:xfrm>
            <a:off x="7967472" y="1536192"/>
            <a:ext cx="1389888" cy="1127760"/>
          </a:xfrm>
          <a:prstGeom prst="rect">
            <a:avLst/>
          </a:prstGeom>
          <a:solidFill>
            <a:srgbClr val="F1EFEB"/>
          </a:solidFill>
          <a:ln>
            <a:noFill/>
          </a:ln>
          <a:effectLst/>
        </p:spPr>
        <p:txBody>
          <a:bodyPr rtlCol="0" anchor="ctr"/>
          <a:lstStyle/>
          <a:p>
            <a:pPr algn="ctr"/>
          </a:p>
        </p:txBody>
      </p:sp>
      <p:sp>
        <p:nvSpPr>
          <p:cNvPr id="36" name="Rounded Rectangle 35"/>
          <p:cNvSpPr/>
          <p:nvPr/>
        </p:nvSpPr>
        <p:spPr>
          <a:xfrm>
            <a:off x="8686800" y="1450848"/>
            <a:ext cx="609600" cy="170688"/>
          </a:xfrm>
          <a:prstGeom prst="roundRect">
            <a:avLst>
              <a:gd name="adj" fmla="val 50000"/>
            </a:avLst>
          </a:prstGeom>
          <a:solidFill>
            <a:srgbClr val="D9D6D1"/>
          </a:solidFill>
          <a:ln>
            <a:noFill/>
          </a:ln>
          <a:effectLst/>
        </p:spPr>
        <p:txBody>
          <a:bodyPr rtlCol="0" anchor="ctr"/>
          <a:lstStyle/>
          <a:p>
            <a:pPr algn="ctr"/>
          </a:p>
        </p:txBody>
      </p:sp>
      <p:sp>
        <p:nvSpPr>
          <p:cNvPr id="37" name="TextBox 36"/>
          <p:cNvSpPr txBox="1"/>
          <p:nvPr/>
        </p:nvSpPr>
        <p:spPr>
          <a:xfrm>
            <a:off x="8686800" y="1450848"/>
            <a:ext cx="609600" cy="170688"/>
          </a:xfrm>
          <a:prstGeom prst="rect">
            <a:avLst/>
          </a:prstGeom>
          <a:noFill/>
        </p:spPr>
        <p:txBody>
          <a:bodyPr wrap="square" anchor="ctr" lIns="0" rIns="0" tIns="0" bIns="0">
            <a:spAutoFit/>
          </a:bodyPr>
          <a:lstStyle/>
          <a:p>
            <a:pPr algn="ctr"/>
            <a:r>
              <a:rPr sz="800" b="1" i="0">
                <a:solidFill>
                  <a:srgbClr val="555B66"/>
                </a:solidFill>
                <a:latin typeface="Arial"/>
              </a:rPr>
              <a:t>INDICATIF</a:t>
            </a:r>
          </a:p>
        </p:txBody>
      </p:sp>
      <p:sp>
        <p:nvSpPr>
          <p:cNvPr id="38" name="TextBox 37"/>
          <p:cNvSpPr txBox="1"/>
          <p:nvPr/>
        </p:nvSpPr>
        <p:spPr>
          <a:xfrm>
            <a:off x="8101584" y="1706880"/>
            <a:ext cx="1219200" cy="121920"/>
          </a:xfrm>
          <a:prstGeom prst="rect">
            <a:avLst/>
          </a:prstGeom>
          <a:noFill/>
        </p:spPr>
        <p:txBody>
          <a:bodyPr wrap="square" anchor="t" lIns="0" rIns="0" tIns="0" bIns="0">
            <a:spAutoFit/>
          </a:bodyPr>
          <a:lstStyle/>
          <a:p>
            <a:pPr algn="l"/>
            <a:r>
              <a:rPr sz="1000" b="1" i="0">
                <a:solidFill>
                  <a:srgbClr val="8A93A6"/>
                </a:solidFill>
                <a:latin typeface="Arial"/>
              </a:rPr>
              <a:t>CVR</a:t>
            </a:r>
          </a:p>
        </p:txBody>
      </p:sp>
      <p:sp>
        <p:nvSpPr>
          <p:cNvPr id="39" name="TextBox 38"/>
          <p:cNvSpPr txBox="1"/>
          <p:nvPr/>
        </p:nvSpPr>
        <p:spPr>
          <a:xfrm>
            <a:off x="8101584" y="1889760"/>
            <a:ext cx="1219200" cy="274320"/>
          </a:xfrm>
          <a:prstGeom prst="rect">
            <a:avLst/>
          </a:prstGeom>
          <a:noFill/>
        </p:spPr>
        <p:txBody>
          <a:bodyPr wrap="square" anchor="t" lIns="0" rIns="0" tIns="0" bIns="0">
            <a:spAutoFit/>
          </a:bodyPr>
          <a:lstStyle/>
          <a:p>
            <a:pPr algn="l"/>
            <a:r>
              <a:rPr sz="2200" b="1" i="0">
                <a:solidFill>
                  <a:srgbClr val="8A93A6"/>
                </a:solidFill>
                <a:latin typeface="Arial"/>
              </a:rPr>
              <a:t>0,10 %</a:t>
            </a:r>
          </a:p>
        </p:txBody>
      </p:sp>
      <p:sp>
        <p:nvSpPr>
          <p:cNvPr id="40" name="TextBox 39"/>
          <p:cNvSpPr txBox="1"/>
          <p:nvPr/>
        </p:nvSpPr>
        <p:spPr>
          <a:xfrm>
            <a:off x="8101584" y="2243328"/>
            <a:ext cx="1219200" cy="109728"/>
          </a:xfrm>
          <a:prstGeom prst="rect">
            <a:avLst/>
          </a:prstGeom>
          <a:noFill/>
        </p:spPr>
        <p:txBody>
          <a:bodyPr wrap="square" anchor="t" lIns="0" rIns="0" tIns="0" bIns="0">
            <a:spAutoFit/>
          </a:bodyPr>
          <a:lstStyle/>
          <a:p>
            <a:pPr algn="l"/>
            <a:r>
              <a:rPr sz="1000" b="1" i="0">
                <a:solidFill>
                  <a:srgbClr val="8A93A6"/>
                </a:solidFill>
                <a:latin typeface="Arial"/>
              </a:rPr>
              <a:t>▲ +0,04 pt</a:t>
            </a:r>
          </a:p>
        </p:txBody>
      </p:sp>
      <p:sp>
        <p:nvSpPr>
          <p:cNvPr id="41" name="TextBox 40"/>
          <p:cNvSpPr txBox="1"/>
          <p:nvPr/>
        </p:nvSpPr>
        <p:spPr>
          <a:xfrm>
            <a:off x="8101584" y="2499360"/>
            <a:ext cx="1219200" cy="91440"/>
          </a:xfrm>
          <a:prstGeom prst="rect">
            <a:avLst/>
          </a:prstGeom>
          <a:noFill/>
        </p:spPr>
        <p:txBody>
          <a:bodyPr wrap="square" anchor="t" lIns="0" rIns="0" tIns="0" bIns="0">
            <a:spAutoFit/>
          </a:bodyPr>
          <a:lstStyle/>
          <a:p>
            <a:pPr algn="l"/>
            <a:r>
              <a:rPr sz="800" b="0" i="1">
                <a:solidFill>
                  <a:srgbClr val="8A93A6"/>
                </a:solidFill>
                <a:latin typeface="Arial"/>
              </a:rPr>
              <a:t>YTD 0,20 %</a:t>
            </a:r>
          </a:p>
        </p:txBody>
      </p:sp>
      <p:sp>
        <p:nvSpPr>
          <p:cNvPr id="42" name="Rectangle 41"/>
          <p:cNvSpPr/>
          <p:nvPr/>
        </p:nvSpPr>
        <p:spPr>
          <a:xfrm>
            <a:off x="9826752" y="1536192"/>
            <a:ext cx="1389888" cy="1127760"/>
          </a:xfrm>
          <a:prstGeom prst="rect">
            <a:avLst/>
          </a:prstGeom>
          <a:solidFill>
            <a:srgbClr val="F1EFEB"/>
          </a:solidFill>
          <a:ln>
            <a:noFill/>
          </a:ln>
          <a:effectLst/>
        </p:spPr>
        <p:txBody>
          <a:bodyPr rtlCol="0" anchor="ctr"/>
          <a:lstStyle/>
          <a:p>
            <a:pPr algn="ctr"/>
          </a:p>
        </p:txBody>
      </p:sp>
      <p:sp>
        <p:nvSpPr>
          <p:cNvPr id="43" name="Rounded Rectangle 42"/>
          <p:cNvSpPr/>
          <p:nvPr/>
        </p:nvSpPr>
        <p:spPr>
          <a:xfrm>
            <a:off x="10546080" y="1450848"/>
            <a:ext cx="609600" cy="170688"/>
          </a:xfrm>
          <a:prstGeom prst="roundRect">
            <a:avLst>
              <a:gd name="adj" fmla="val 50000"/>
            </a:avLst>
          </a:prstGeom>
          <a:solidFill>
            <a:srgbClr val="D9D6D1"/>
          </a:solidFill>
          <a:ln>
            <a:noFill/>
          </a:ln>
          <a:effectLst/>
        </p:spPr>
        <p:txBody>
          <a:bodyPr rtlCol="0" anchor="ctr"/>
          <a:lstStyle/>
          <a:p>
            <a:pPr algn="ctr"/>
          </a:p>
        </p:txBody>
      </p:sp>
      <p:sp>
        <p:nvSpPr>
          <p:cNvPr id="44" name="TextBox 43"/>
          <p:cNvSpPr txBox="1"/>
          <p:nvPr/>
        </p:nvSpPr>
        <p:spPr>
          <a:xfrm>
            <a:off x="10546080" y="1450848"/>
            <a:ext cx="609600" cy="170688"/>
          </a:xfrm>
          <a:prstGeom prst="rect">
            <a:avLst/>
          </a:prstGeom>
          <a:noFill/>
        </p:spPr>
        <p:txBody>
          <a:bodyPr wrap="square" anchor="ctr" lIns="0" rIns="0" tIns="0" bIns="0">
            <a:spAutoFit/>
          </a:bodyPr>
          <a:lstStyle/>
          <a:p>
            <a:pPr algn="ctr"/>
            <a:r>
              <a:rPr sz="800" b="1" i="0">
                <a:solidFill>
                  <a:srgbClr val="555B66"/>
                </a:solidFill>
                <a:latin typeface="Arial"/>
              </a:rPr>
              <a:t>INDICATIF</a:t>
            </a:r>
          </a:p>
        </p:txBody>
      </p:sp>
      <p:sp>
        <p:nvSpPr>
          <p:cNvPr id="45" name="TextBox 44"/>
          <p:cNvSpPr txBox="1"/>
          <p:nvPr/>
        </p:nvSpPr>
        <p:spPr>
          <a:xfrm>
            <a:off x="9960864" y="1706880"/>
            <a:ext cx="1219200" cy="121920"/>
          </a:xfrm>
          <a:prstGeom prst="rect">
            <a:avLst/>
          </a:prstGeom>
          <a:noFill/>
        </p:spPr>
        <p:txBody>
          <a:bodyPr wrap="square" anchor="t" lIns="0" rIns="0" tIns="0" bIns="0">
            <a:spAutoFit/>
          </a:bodyPr>
          <a:lstStyle/>
          <a:p>
            <a:pPr algn="l"/>
            <a:r>
              <a:rPr sz="1000" b="1" i="0">
                <a:solidFill>
                  <a:srgbClr val="8A93A6"/>
                </a:solidFill>
                <a:latin typeface="Arial"/>
              </a:rPr>
              <a:t>ROAS</a:t>
            </a:r>
          </a:p>
        </p:txBody>
      </p:sp>
      <p:sp>
        <p:nvSpPr>
          <p:cNvPr id="46" name="TextBox 45"/>
          <p:cNvSpPr txBox="1"/>
          <p:nvPr/>
        </p:nvSpPr>
        <p:spPr>
          <a:xfrm>
            <a:off x="9960864" y="1889760"/>
            <a:ext cx="1219200" cy="274320"/>
          </a:xfrm>
          <a:prstGeom prst="rect">
            <a:avLst/>
          </a:prstGeom>
          <a:noFill/>
        </p:spPr>
        <p:txBody>
          <a:bodyPr wrap="square" anchor="t" lIns="0" rIns="0" tIns="0" bIns="0">
            <a:spAutoFit/>
          </a:bodyPr>
          <a:lstStyle/>
          <a:p>
            <a:pPr algn="l"/>
            <a:r>
              <a:rPr sz="2200" b="1" i="0">
                <a:solidFill>
                  <a:srgbClr val="8A93A6"/>
                </a:solidFill>
                <a:latin typeface="Arial"/>
              </a:rPr>
              <a:t>1,30</a:t>
            </a:r>
          </a:p>
        </p:txBody>
      </p:sp>
      <p:sp>
        <p:nvSpPr>
          <p:cNvPr id="47" name="TextBox 46"/>
          <p:cNvSpPr txBox="1"/>
          <p:nvPr/>
        </p:nvSpPr>
        <p:spPr>
          <a:xfrm>
            <a:off x="9960864" y="2243328"/>
            <a:ext cx="1219200" cy="109728"/>
          </a:xfrm>
          <a:prstGeom prst="rect">
            <a:avLst/>
          </a:prstGeom>
          <a:noFill/>
        </p:spPr>
        <p:txBody>
          <a:bodyPr wrap="square" anchor="t" lIns="0" rIns="0" tIns="0" bIns="0">
            <a:spAutoFit/>
          </a:bodyPr>
          <a:lstStyle/>
          <a:p>
            <a:pPr algn="l"/>
            <a:r>
              <a:rPr sz="1000" b="1" i="0">
                <a:solidFill>
                  <a:srgbClr val="8A93A6"/>
                </a:solidFill>
                <a:latin typeface="Arial"/>
              </a:rPr>
              <a:t>▲ +0,47</a:t>
            </a:r>
          </a:p>
        </p:txBody>
      </p:sp>
      <p:sp>
        <p:nvSpPr>
          <p:cNvPr id="48" name="TextBox 47"/>
          <p:cNvSpPr txBox="1"/>
          <p:nvPr/>
        </p:nvSpPr>
        <p:spPr>
          <a:xfrm>
            <a:off x="9960864" y="2499360"/>
            <a:ext cx="1219200" cy="91440"/>
          </a:xfrm>
          <a:prstGeom prst="rect">
            <a:avLst/>
          </a:prstGeom>
          <a:noFill/>
        </p:spPr>
        <p:txBody>
          <a:bodyPr wrap="square" anchor="t" lIns="0" rIns="0" tIns="0" bIns="0">
            <a:spAutoFit/>
          </a:bodyPr>
          <a:lstStyle/>
          <a:p>
            <a:pPr algn="l"/>
            <a:r>
              <a:rPr sz="800" b="0" i="1">
                <a:solidFill>
                  <a:srgbClr val="8A93A6"/>
                </a:solidFill>
                <a:latin typeface="Arial"/>
              </a:rPr>
              <a:t>YTD —</a:t>
            </a:r>
          </a:p>
        </p:txBody>
      </p:sp>
      <p:sp>
        <p:nvSpPr>
          <p:cNvPr id="49" name="Isosceles Triangle 48"/>
          <p:cNvSpPr/>
          <p:nvPr/>
        </p:nvSpPr>
        <p:spPr>
          <a:xfrm>
            <a:off x="8564880" y="2688336"/>
            <a:ext cx="182880" cy="85344"/>
          </a:xfrm>
          <a:prstGeom prst="triangle">
            <a:avLst/>
          </a:prstGeom>
          <a:solidFill>
            <a:srgbClr val="EBE9E5"/>
          </a:solidFill>
          <a:ln>
            <a:noFill/>
          </a:ln>
          <a:effectLst/>
        </p:spPr>
        <p:txBody>
          <a:bodyPr rtlCol="0" anchor="ctr"/>
          <a:lstStyle/>
          <a:p>
            <a:pPr algn="ctr"/>
          </a:p>
        </p:txBody>
      </p:sp>
      <p:sp>
        <p:nvSpPr>
          <p:cNvPr id="50" name="Rounded Rectangle 49"/>
          <p:cNvSpPr/>
          <p:nvPr/>
        </p:nvSpPr>
        <p:spPr>
          <a:xfrm>
            <a:off x="6108192" y="2773680"/>
            <a:ext cx="5108448" cy="438912"/>
          </a:xfrm>
          <a:prstGeom prst="roundRect">
            <a:avLst>
              <a:gd name="adj" fmla="val 15000"/>
            </a:avLst>
          </a:prstGeom>
          <a:solidFill>
            <a:srgbClr val="EBE9E5"/>
          </a:solidFill>
          <a:ln>
            <a:noFill/>
          </a:ln>
          <a:effectLst/>
        </p:spPr>
        <p:txBody>
          <a:bodyPr rtlCol="0" anchor="ctr"/>
          <a:lstStyle/>
          <a:p>
            <a:pPr algn="ctr"/>
          </a:p>
        </p:txBody>
      </p:sp>
      <p:sp>
        <p:nvSpPr>
          <p:cNvPr id="51" name="TextBox 50"/>
          <p:cNvSpPr txBox="1"/>
          <p:nvPr/>
        </p:nvSpPr>
        <p:spPr>
          <a:xfrm>
            <a:off x="6230112" y="2816352"/>
            <a:ext cx="4864608" cy="365760"/>
          </a:xfrm>
          <a:prstGeom prst="rect">
            <a:avLst/>
          </a:prstGeom>
          <a:noFill/>
        </p:spPr>
        <p:txBody>
          <a:bodyPr wrap="square" anchor="ctr" lIns="0" rIns="0" tIns="0" bIns="0">
            <a:spAutoFit/>
          </a:bodyPr>
          <a:lstStyle/>
          <a:p>
            <a:pPr algn="l"/>
            <a:r>
              <a:rPr sz="900" b="0" i="0">
                <a:solidFill>
                  <a:srgbClr val="555B66"/>
                </a:solidFill>
                <a:latin typeface="Arial"/>
              </a:rPr>
              <a:t>Conversions communiquées via Awin, à titre indicatif. Elles seront consolidées dès l'intégration du Conversion Tracker.</a:t>
            </a:r>
          </a:p>
        </p:txBody>
      </p:sp>
      <p:sp>
        <p:nvSpPr>
          <p:cNvPr id="52" name="TextBox 51"/>
          <p:cNvSpPr txBox="1"/>
          <p:nvPr/>
        </p:nvSpPr>
        <p:spPr>
          <a:xfrm>
            <a:off x="530352" y="3322320"/>
            <a:ext cx="7315200" cy="182880"/>
          </a:xfrm>
          <a:prstGeom prst="rect">
            <a:avLst/>
          </a:prstGeom>
          <a:noFill/>
        </p:spPr>
        <p:txBody>
          <a:bodyPr wrap="square" anchor="t" lIns="0" rIns="0" tIns="0" bIns="0">
            <a:spAutoFit/>
          </a:bodyPr>
          <a:lstStyle/>
          <a:p>
            <a:pPr algn="l"/>
            <a:r>
              <a:rPr sz="1400" b="1" i="0">
                <a:solidFill>
                  <a:srgbClr val="EE6A2C"/>
                </a:solidFill>
                <a:latin typeface="Arial"/>
              </a:rPr>
              <a:t>INSIGHTS QUALITATIFS · ANALYSE DES RECHERCHES</a:t>
            </a:r>
          </a:p>
        </p:txBody>
      </p:sp>
      <p:sp>
        <p:nvSpPr>
          <p:cNvPr id="53" name="Rectangle 52"/>
          <p:cNvSpPr/>
          <p:nvPr/>
        </p:nvSpPr>
        <p:spPr>
          <a:xfrm>
            <a:off x="530352" y="3584448"/>
            <a:ext cx="3401568" cy="2560320"/>
          </a:xfrm>
          <a:prstGeom prst="rect">
            <a:avLst/>
          </a:prstGeom>
          <a:solidFill>
            <a:srgbClr val="FFFFFF"/>
          </a:solidFill>
          <a:ln>
            <a:noFill/>
          </a:ln>
          <a:effectLst/>
        </p:spPr>
        <p:txBody>
          <a:bodyPr rtlCol="0" anchor="ctr"/>
          <a:lstStyle/>
          <a:p>
            <a:pPr algn="ctr"/>
          </a:p>
        </p:txBody>
      </p:sp>
      <p:sp>
        <p:nvSpPr>
          <p:cNvPr id="54" name="Rectangle 53"/>
          <p:cNvSpPr/>
          <p:nvPr/>
        </p:nvSpPr>
        <p:spPr>
          <a:xfrm>
            <a:off x="4194048" y="3584448"/>
            <a:ext cx="3401568" cy="2560320"/>
          </a:xfrm>
          <a:prstGeom prst="rect">
            <a:avLst/>
          </a:prstGeom>
          <a:solidFill>
            <a:srgbClr val="FFFFFF"/>
          </a:solidFill>
          <a:ln>
            <a:noFill/>
          </a:ln>
          <a:effectLst/>
        </p:spPr>
        <p:txBody>
          <a:bodyPr rtlCol="0" anchor="ctr"/>
          <a:lstStyle/>
          <a:p>
            <a:pPr algn="ctr"/>
          </a:p>
        </p:txBody>
      </p:sp>
      <p:sp>
        <p:nvSpPr>
          <p:cNvPr id="55" name="Rectangle 54"/>
          <p:cNvSpPr/>
          <p:nvPr/>
        </p:nvSpPr>
        <p:spPr>
          <a:xfrm>
            <a:off x="7857744" y="3584448"/>
            <a:ext cx="3401568" cy="2560320"/>
          </a:xfrm>
          <a:prstGeom prst="rect">
            <a:avLst/>
          </a:prstGeom>
          <a:solidFill>
            <a:srgbClr val="FFFFFF"/>
          </a:solidFill>
          <a:ln>
            <a:noFill/>
          </a:ln>
          <a:effectLst/>
        </p:spPr>
        <p:txBody>
          <a:bodyPr rtlCol="0" anchor="ctr"/>
          <a:lstStyle/>
          <a:p>
            <a:pPr algn="ctr"/>
          </a:p>
        </p:txBody>
      </p:sp>
      <p:sp>
        <p:nvSpPr>
          <p:cNvPr id="56" name="TextBox 55"/>
          <p:cNvSpPr txBox="1"/>
          <p:nvPr/>
        </p:nvSpPr>
        <p:spPr>
          <a:xfrm>
            <a:off x="774192" y="3767328"/>
            <a:ext cx="2926080" cy="152400"/>
          </a:xfrm>
          <a:prstGeom prst="rect">
            <a:avLst/>
          </a:prstGeom>
          <a:noFill/>
        </p:spPr>
        <p:txBody>
          <a:bodyPr wrap="square" anchor="t" lIns="0" rIns="0" tIns="0" bIns="0">
            <a:spAutoFit/>
          </a:bodyPr>
          <a:lstStyle/>
          <a:p>
            <a:pPr algn="l"/>
            <a:r>
              <a:rPr sz="1300" b="1" i="0">
                <a:solidFill>
                  <a:srgbClr val="555B66"/>
                </a:solidFill>
                <a:latin typeface="Arial"/>
              </a:rPr>
              <a:t>CHAMP LEXICAL</a:t>
            </a:r>
          </a:p>
        </p:txBody>
      </p:sp>
      <p:sp>
        <p:nvSpPr>
          <p:cNvPr id="57" name="TextBox 56"/>
          <p:cNvSpPr txBox="1"/>
          <p:nvPr/>
        </p:nvSpPr>
        <p:spPr>
          <a:xfrm>
            <a:off x="774192" y="3992880"/>
            <a:ext cx="2926080" cy="121920"/>
          </a:xfrm>
          <a:prstGeom prst="rect">
            <a:avLst/>
          </a:prstGeom>
          <a:noFill/>
        </p:spPr>
        <p:txBody>
          <a:bodyPr wrap="square" anchor="t" lIns="0" rIns="0" tIns="0" bIns="0">
            <a:spAutoFit/>
          </a:bodyPr>
          <a:lstStyle/>
          <a:p>
            <a:pPr algn="l"/>
            <a:r>
              <a:rPr sz="1000" b="0" i="1">
                <a:solidFill>
                  <a:srgbClr val="8A93A6"/>
                </a:solidFill>
                <a:latin typeface="Arial"/>
              </a:rPr>
              <a:t>Termes les plus fréquents</a:t>
            </a:r>
          </a:p>
        </p:txBody>
      </p:sp>
      <p:sp>
        <p:nvSpPr>
          <p:cNvPr id="58" name="TextBox 57"/>
          <p:cNvSpPr txBox="1"/>
          <p:nvPr/>
        </p:nvSpPr>
        <p:spPr>
          <a:xfrm>
            <a:off x="774192" y="4236720"/>
            <a:ext cx="2987040" cy="1828800"/>
          </a:xfrm>
          <a:prstGeom prst="rect">
            <a:avLst/>
          </a:prstGeom>
          <a:noFill/>
        </p:spPr>
        <p:txBody>
          <a:bodyPr wrap="square" anchor="t" lIns="0" rIns="0" tIns="0" bIns="0">
            <a:spAutoFit/>
          </a:bodyPr>
          <a:lstStyle/>
          <a:p>
            <a:pPr algn="l">
              <a:spcAft>
                <a:spcPts val="500"/>
              </a:spcAft>
            </a:pPr>
            <a:r>
              <a:rPr sz="2000" b="1" i="0">
                <a:solidFill>
                  <a:srgbClr val="EE6A2C"/>
                </a:solidFill>
                <a:latin typeface="Arial"/>
              </a:rPr>
              <a:t>hôtel</a:t>
            </a:r>
            <a:r>
              <a:rPr sz="1800" b="1" i="0">
                <a:solidFill>
                  <a:srgbClr val="111111"/>
                </a:solidFill>
                <a:latin typeface="Arial"/>
              </a:rPr>
              <a:t>   séjour</a:t>
            </a:r>
          </a:p>
          <a:p>
            <a:pPr algn="l">
              <a:spcAft>
                <a:spcPts val="500"/>
              </a:spcAft>
            </a:pPr>
            <a:r>
              <a:rPr sz="1500" b="1" i="0">
                <a:solidFill>
                  <a:srgbClr val="111111"/>
                </a:solidFill>
                <a:latin typeface="Arial"/>
              </a:rPr>
              <a:t>Canaries</a:t>
            </a:r>
            <a:r>
              <a:rPr sz="1400" b="1" i="0">
                <a:solidFill>
                  <a:srgbClr val="111111"/>
                </a:solidFill>
                <a:latin typeface="Arial"/>
              </a:rPr>
              <a:t>   Baléares</a:t>
            </a:r>
          </a:p>
          <a:p>
            <a:pPr algn="l">
              <a:spcAft>
                <a:spcPts val="500"/>
              </a:spcAft>
            </a:pPr>
            <a:r>
              <a:rPr sz="1300" b="1" i="0">
                <a:solidFill>
                  <a:srgbClr val="EE6A2C"/>
                </a:solidFill>
                <a:latin typeface="Arial"/>
              </a:rPr>
              <a:t>tout compris</a:t>
            </a:r>
            <a:r>
              <a:rPr sz="1200" b="0" i="0">
                <a:solidFill>
                  <a:srgbClr val="111111"/>
                </a:solidFill>
                <a:latin typeface="Arial"/>
              </a:rPr>
              <a:t>   club</a:t>
            </a:r>
            <a:r>
              <a:rPr sz="1200" b="1" i="0">
                <a:solidFill>
                  <a:srgbClr val="111111"/>
                </a:solidFill>
                <a:latin typeface="Arial"/>
              </a:rPr>
              <a:t>   soleil</a:t>
            </a:r>
          </a:p>
          <a:p>
            <a:pPr algn="l">
              <a:spcAft>
                <a:spcPts val="500"/>
              </a:spcAft>
            </a:pPr>
            <a:r>
              <a:rPr sz="1100" b="1" i="0">
                <a:solidFill>
                  <a:srgbClr val="EE6A2C"/>
                </a:solidFill>
                <a:latin typeface="Arial"/>
              </a:rPr>
              <a:t>Fuerteventura</a:t>
            </a:r>
            <a:r>
              <a:rPr sz="1100" b="1" i="0">
                <a:solidFill>
                  <a:srgbClr val="111111"/>
                </a:solidFill>
                <a:latin typeface="Arial"/>
              </a:rPr>
              <a:t>   Majorque</a:t>
            </a:r>
            <a:r>
              <a:rPr sz="1100" b="0" i="0">
                <a:solidFill>
                  <a:srgbClr val="111111"/>
                </a:solidFill>
                <a:latin typeface="Arial"/>
              </a:rPr>
              <a:t>   Grèce</a:t>
            </a:r>
          </a:p>
          <a:p>
            <a:pPr algn="l">
              <a:spcAft>
                <a:spcPts val="500"/>
              </a:spcAft>
            </a:pPr>
            <a:r>
              <a:rPr sz="1100" b="1" i="0">
                <a:solidFill>
                  <a:srgbClr val="111111"/>
                </a:solidFill>
                <a:latin typeface="Arial"/>
              </a:rPr>
              <a:t>paiement en 4 fois</a:t>
            </a:r>
            <a:r>
              <a:rPr sz="1100" b="0" i="0">
                <a:solidFill>
                  <a:srgbClr val="111111"/>
                </a:solidFill>
                <a:latin typeface="Arial"/>
              </a:rPr>
              <a:t>   plage</a:t>
            </a:r>
            <a:r>
              <a:rPr sz="1100" b="1" i="0">
                <a:solidFill>
                  <a:srgbClr val="EE6A2C"/>
                </a:solidFill>
                <a:latin typeface="Arial"/>
              </a:rPr>
              <a:t>   Dubaï</a:t>
            </a:r>
          </a:p>
          <a:p>
            <a:pPr algn="l">
              <a:spcAft>
                <a:spcPts val="500"/>
              </a:spcAft>
            </a:pPr>
            <a:r>
              <a:rPr sz="1100" b="1" i="0">
                <a:solidFill>
                  <a:srgbClr val="111111"/>
                </a:solidFill>
                <a:latin typeface="Arial"/>
              </a:rPr>
              <a:t>Tunisie</a:t>
            </a:r>
            <a:r>
              <a:rPr sz="1100" b="0" i="0">
                <a:solidFill>
                  <a:srgbClr val="111111"/>
                </a:solidFill>
                <a:latin typeface="Arial"/>
              </a:rPr>
              <a:t>   petit prix</a:t>
            </a:r>
          </a:p>
        </p:txBody>
      </p:sp>
      <p:sp>
        <p:nvSpPr>
          <p:cNvPr id="59" name="TextBox 58"/>
          <p:cNvSpPr txBox="1"/>
          <p:nvPr/>
        </p:nvSpPr>
        <p:spPr>
          <a:xfrm>
            <a:off x="4437888" y="3767328"/>
            <a:ext cx="2926080" cy="152400"/>
          </a:xfrm>
          <a:prstGeom prst="rect">
            <a:avLst/>
          </a:prstGeom>
          <a:noFill/>
        </p:spPr>
        <p:txBody>
          <a:bodyPr wrap="square" anchor="t" lIns="0" rIns="0" tIns="0" bIns="0">
            <a:spAutoFit/>
          </a:bodyPr>
          <a:lstStyle/>
          <a:p>
            <a:pPr algn="l"/>
            <a:r>
              <a:rPr sz="1300" b="1" i="0">
                <a:solidFill>
                  <a:srgbClr val="555B66"/>
                </a:solidFill>
                <a:latin typeface="Arial"/>
              </a:rPr>
              <a:t>EXEMPLES DE REQUÊTES</a:t>
            </a:r>
          </a:p>
        </p:txBody>
      </p:sp>
      <p:sp>
        <p:nvSpPr>
          <p:cNvPr id="60" name="TextBox 59"/>
          <p:cNvSpPr txBox="1"/>
          <p:nvPr/>
        </p:nvSpPr>
        <p:spPr>
          <a:xfrm>
            <a:off x="4437888" y="3992880"/>
            <a:ext cx="2926080" cy="121920"/>
          </a:xfrm>
          <a:prstGeom prst="rect">
            <a:avLst/>
          </a:prstGeom>
          <a:noFill/>
        </p:spPr>
        <p:txBody>
          <a:bodyPr wrap="square" anchor="t" lIns="0" rIns="0" tIns="0" bIns="0">
            <a:spAutoFit/>
          </a:bodyPr>
          <a:lstStyle/>
          <a:p>
            <a:pPr algn="l"/>
            <a:r>
              <a:rPr sz="1000" b="0" i="1">
                <a:solidFill>
                  <a:srgbClr val="8A93A6"/>
                </a:solidFill>
                <a:latin typeface="Arial"/>
              </a:rPr>
              <a:t>Questions posées aux IA</a:t>
            </a:r>
          </a:p>
        </p:txBody>
      </p:sp>
      <p:sp>
        <p:nvSpPr>
          <p:cNvPr id="61" name="TextBox 60"/>
          <p:cNvSpPr txBox="1"/>
          <p:nvPr/>
        </p:nvSpPr>
        <p:spPr>
          <a:xfrm>
            <a:off x="4437888" y="4267200"/>
            <a:ext cx="2913888" cy="304800"/>
          </a:xfrm>
          <a:prstGeom prst="rect">
            <a:avLst/>
          </a:prstGeom>
          <a:noFill/>
        </p:spPr>
        <p:txBody>
          <a:bodyPr wrap="square" anchor="ctr" lIns="0" rIns="0" tIns="0" bIns="0">
            <a:spAutoFit/>
          </a:bodyPr>
          <a:lstStyle/>
          <a:p>
            <a:pPr algn="l"/>
            <a:r>
              <a:rPr sz="1000" b="0" i="0">
                <a:solidFill>
                  <a:srgbClr val="111111"/>
                </a:solidFill>
                <a:latin typeface="Arial"/>
              </a:rPr>
              <a:t>Où partir au soleil en octobre ?</a:t>
            </a:r>
          </a:p>
        </p:txBody>
      </p:sp>
      <p:sp>
        <p:nvSpPr>
          <p:cNvPr id="62" name="Rectangle 61"/>
          <p:cNvSpPr/>
          <p:nvPr/>
        </p:nvSpPr>
        <p:spPr>
          <a:xfrm>
            <a:off x="4437888" y="4602480"/>
            <a:ext cx="2913888" cy="6096"/>
          </a:xfrm>
          <a:prstGeom prst="rect">
            <a:avLst/>
          </a:prstGeom>
          <a:solidFill>
            <a:srgbClr val="E6E3DE"/>
          </a:solidFill>
          <a:ln>
            <a:noFill/>
          </a:ln>
          <a:effectLst/>
        </p:spPr>
        <p:txBody>
          <a:bodyPr rtlCol="0" anchor="ctr"/>
          <a:lstStyle/>
          <a:p>
            <a:pPr algn="ctr"/>
          </a:p>
        </p:txBody>
      </p:sp>
      <p:sp>
        <p:nvSpPr>
          <p:cNvPr id="63" name="TextBox 62"/>
          <p:cNvSpPr txBox="1"/>
          <p:nvPr/>
        </p:nvSpPr>
        <p:spPr>
          <a:xfrm>
            <a:off x="4437888" y="4632960"/>
            <a:ext cx="2913888" cy="304800"/>
          </a:xfrm>
          <a:prstGeom prst="rect">
            <a:avLst/>
          </a:prstGeom>
          <a:noFill/>
        </p:spPr>
        <p:txBody>
          <a:bodyPr wrap="square" anchor="ctr" lIns="0" rIns="0" tIns="0" bIns="0">
            <a:spAutoFit/>
          </a:bodyPr>
          <a:lstStyle/>
          <a:p>
            <a:pPr algn="l"/>
            <a:r>
              <a:rPr sz="1000" b="0" i="0">
                <a:solidFill>
                  <a:srgbClr val="111111"/>
                </a:solidFill>
                <a:latin typeface="Arial"/>
              </a:rPr>
              <a:t>Quel camping choisir pour des vacances en famille ?</a:t>
            </a:r>
          </a:p>
        </p:txBody>
      </p:sp>
      <p:sp>
        <p:nvSpPr>
          <p:cNvPr id="64" name="Rectangle 63"/>
          <p:cNvSpPr/>
          <p:nvPr/>
        </p:nvSpPr>
        <p:spPr>
          <a:xfrm>
            <a:off x="4437888" y="4968240"/>
            <a:ext cx="2913888" cy="6096"/>
          </a:xfrm>
          <a:prstGeom prst="rect">
            <a:avLst/>
          </a:prstGeom>
          <a:solidFill>
            <a:srgbClr val="E6E3DE"/>
          </a:solidFill>
          <a:ln>
            <a:noFill/>
          </a:ln>
          <a:effectLst/>
        </p:spPr>
        <p:txBody>
          <a:bodyPr rtlCol="0" anchor="ctr"/>
          <a:lstStyle/>
          <a:p>
            <a:pPr algn="ctr"/>
          </a:p>
        </p:txBody>
      </p:sp>
      <p:sp>
        <p:nvSpPr>
          <p:cNvPr id="65" name="TextBox 64"/>
          <p:cNvSpPr txBox="1"/>
          <p:nvPr/>
        </p:nvSpPr>
        <p:spPr>
          <a:xfrm>
            <a:off x="4437888" y="4998720"/>
            <a:ext cx="2913888" cy="304800"/>
          </a:xfrm>
          <a:prstGeom prst="rect">
            <a:avLst/>
          </a:prstGeom>
          <a:noFill/>
        </p:spPr>
        <p:txBody>
          <a:bodyPr wrap="square" anchor="ctr" lIns="0" rIns="0" tIns="0" bIns="0">
            <a:spAutoFit/>
          </a:bodyPr>
          <a:lstStyle/>
          <a:p>
            <a:pPr algn="l"/>
            <a:r>
              <a:rPr sz="1000" b="0" i="0">
                <a:solidFill>
                  <a:srgbClr val="111111"/>
                </a:solidFill>
                <a:latin typeface="Arial"/>
              </a:rPr>
              <a:t>Quel séjour tout compris pour une famille ?</a:t>
            </a:r>
          </a:p>
        </p:txBody>
      </p:sp>
      <p:sp>
        <p:nvSpPr>
          <p:cNvPr id="66" name="Rectangle 65"/>
          <p:cNvSpPr/>
          <p:nvPr/>
        </p:nvSpPr>
        <p:spPr>
          <a:xfrm>
            <a:off x="4437888" y="5334000"/>
            <a:ext cx="2913888" cy="6096"/>
          </a:xfrm>
          <a:prstGeom prst="rect">
            <a:avLst/>
          </a:prstGeom>
          <a:solidFill>
            <a:srgbClr val="E6E3DE"/>
          </a:solidFill>
          <a:ln>
            <a:noFill/>
          </a:ln>
          <a:effectLst/>
        </p:spPr>
        <p:txBody>
          <a:bodyPr rtlCol="0" anchor="ctr"/>
          <a:lstStyle/>
          <a:p>
            <a:pPr algn="ctr"/>
          </a:p>
        </p:txBody>
      </p:sp>
      <p:sp>
        <p:nvSpPr>
          <p:cNvPr id="67" name="TextBox 66"/>
          <p:cNvSpPr txBox="1"/>
          <p:nvPr/>
        </p:nvSpPr>
        <p:spPr>
          <a:xfrm>
            <a:off x="4437888" y="5364480"/>
            <a:ext cx="2913888" cy="304800"/>
          </a:xfrm>
          <a:prstGeom prst="rect">
            <a:avLst/>
          </a:prstGeom>
          <a:noFill/>
        </p:spPr>
        <p:txBody>
          <a:bodyPr wrap="square" anchor="ctr" lIns="0" rIns="0" tIns="0" bIns="0">
            <a:spAutoFit/>
          </a:bodyPr>
          <a:lstStyle/>
          <a:p>
            <a:pPr algn="l"/>
            <a:r>
              <a:rPr sz="1000" b="0" i="0">
                <a:solidFill>
                  <a:srgbClr val="111111"/>
                </a:solidFill>
                <a:latin typeface="Arial"/>
              </a:rPr>
              <a:t>Quelle croisière choisir en Méditerranée ?</a:t>
            </a:r>
          </a:p>
        </p:txBody>
      </p:sp>
      <p:sp>
        <p:nvSpPr>
          <p:cNvPr id="68" name="Rectangle 67"/>
          <p:cNvSpPr/>
          <p:nvPr/>
        </p:nvSpPr>
        <p:spPr>
          <a:xfrm>
            <a:off x="4437888" y="5699760"/>
            <a:ext cx="2913888" cy="6096"/>
          </a:xfrm>
          <a:prstGeom prst="rect">
            <a:avLst/>
          </a:prstGeom>
          <a:solidFill>
            <a:srgbClr val="E6E3DE"/>
          </a:solidFill>
          <a:ln>
            <a:noFill/>
          </a:ln>
          <a:effectLst/>
        </p:spPr>
        <p:txBody>
          <a:bodyPr rtlCol="0" anchor="ctr"/>
          <a:lstStyle/>
          <a:p>
            <a:pPr algn="ctr"/>
          </a:p>
        </p:txBody>
      </p:sp>
      <p:sp>
        <p:nvSpPr>
          <p:cNvPr id="69" name="TextBox 68"/>
          <p:cNvSpPr txBox="1"/>
          <p:nvPr/>
        </p:nvSpPr>
        <p:spPr>
          <a:xfrm>
            <a:off x="4437888" y="5730240"/>
            <a:ext cx="2913888" cy="304800"/>
          </a:xfrm>
          <a:prstGeom prst="rect">
            <a:avLst/>
          </a:prstGeom>
          <a:noFill/>
        </p:spPr>
        <p:txBody>
          <a:bodyPr wrap="square" anchor="ctr" lIns="0" rIns="0" tIns="0" bIns="0">
            <a:spAutoFit/>
          </a:bodyPr>
          <a:lstStyle/>
          <a:p>
            <a:pPr algn="l"/>
            <a:r>
              <a:rPr sz="1000" b="0" i="0">
                <a:solidFill>
                  <a:srgbClr val="111111"/>
                </a:solidFill>
                <a:latin typeface="Arial"/>
              </a:rPr>
              <a:t>Peut-on payer un voyage en quatre fois ?</a:t>
            </a:r>
          </a:p>
        </p:txBody>
      </p:sp>
      <p:sp>
        <p:nvSpPr>
          <p:cNvPr id="70" name="TextBox 69"/>
          <p:cNvSpPr txBox="1"/>
          <p:nvPr/>
        </p:nvSpPr>
        <p:spPr>
          <a:xfrm>
            <a:off x="8101584" y="3767328"/>
            <a:ext cx="2926080" cy="152400"/>
          </a:xfrm>
          <a:prstGeom prst="rect">
            <a:avLst/>
          </a:prstGeom>
          <a:noFill/>
        </p:spPr>
        <p:txBody>
          <a:bodyPr wrap="square" anchor="t" lIns="0" rIns="0" tIns="0" bIns="0">
            <a:spAutoFit/>
          </a:bodyPr>
          <a:lstStyle/>
          <a:p>
            <a:pPr algn="l"/>
            <a:r>
              <a:rPr sz="1300" b="1" i="0">
                <a:solidFill>
                  <a:srgbClr val="555B66"/>
                </a:solidFill>
                <a:latin typeface="Arial"/>
              </a:rPr>
              <a:t>CATÉGORIES DE PRODUITS</a:t>
            </a:r>
          </a:p>
        </p:txBody>
      </p:sp>
      <p:sp>
        <p:nvSpPr>
          <p:cNvPr id="71" name="TextBox 70"/>
          <p:cNvSpPr txBox="1"/>
          <p:nvPr/>
        </p:nvSpPr>
        <p:spPr>
          <a:xfrm>
            <a:off x="8101584" y="3992880"/>
            <a:ext cx="2926080" cy="121920"/>
          </a:xfrm>
          <a:prstGeom prst="rect">
            <a:avLst/>
          </a:prstGeom>
          <a:noFill/>
        </p:spPr>
        <p:txBody>
          <a:bodyPr wrap="square" anchor="t" lIns="0" rIns="0" tIns="0" bIns="0">
            <a:spAutoFit/>
          </a:bodyPr>
          <a:lstStyle/>
          <a:p>
            <a:pPr algn="l"/>
            <a:r>
              <a:rPr sz="1000" b="0" i="1">
                <a:solidFill>
                  <a:srgbClr val="8A93A6"/>
                </a:solidFill>
                <a:latin typeface="Arial"/>
              </a:rPr>
              <a:t>Répartition des requêtes</a:t>
            </a:r>
          </a:p>
        </p:txBody>
      </p:sp>
      <p:sp>
        <p:nvSpPr>
          <p:cNvPr id="72" name="TextBox 71"/>
          <p:cNvSpPr txBox="1"/>
          <p:nvPr/>
        </p:nvSpPr>
        <p:spPr>
          <a:xfrm>
            <a:off x="8101584" y="4267200"/>
            <a:ext cx="2194560" cy="134112"/>
          </a:xfrm>
          <a:prstGeom prst="rect">
            <a:avLst/>
          </a:prstGeom>
          <a:noFill/>
        </p:spPr>
        <p:txBody>
          <a:bodyPr wrap="square" anchor="t" lIns="0" rIns="0" tIns="0" bIns="0">
            <a:spAutoFit/>
          </a:bodyPr>
          <a:lstStyle/>
          <a:p>
            <a:pPr algn="l"/>
            <a:r>
              <a:rPr sz="1000" b="0" i="0">
                <a:solidFill>
                  <a:srgbClr val="111111"/>
                </a:solidFill>
                <a:latin typeface="Arial"/>
              </a:rPr>
              <a:t>Campings et camping-cars</a:t>
            </a:r>
          </a:p>
        </p:txBody>
      </p:sp>
      <p:sp>
        <p:nvSpPr>
          <p:cNvPr id="73" name="Rectangle 72"/>
          <p:cNvSpPr/>
          <p:nvPr/>
        </p:nvSpPr>
        <p:spPr>
          <a:xfrm>
            <a:off x="8101584" y="4419600"/>
            <a:ext cx="2011680" cy="54864"/>
          </a:xfrm>
          <a:prstGeom prst="rect">
            <a:avLst/>
          </a:prstGeom>
          <a:solidFill>
            <a:srgbClr val="ECEAE5"/>
          </a:solidFill>
          <a:ln>
            <a:noFill/>
          </a:ln>
          <a:effectLst/>
        </p:spPr>
        <p:txBody>
          <a:bodyPr rtlCol="0" anchor="ctr"/>
          <a:lstStyle/>
          <a:p>
            <a:pPr algn="ctr"/>
          </a:p>
        </p:txBody>
      </p:sp>
      <p:sp>
        <p:nvSpPr>
          <p:cNvPr id="74" name="TextBox 73"/>
          <p:cNvSpPr txBox="1"/>
          <p:nvPr/>
        </p:nvSpPr>
        <p:spPr>
          <a:xfrm>
            <a:off x="10241280" y="4340352"/>
            <a:ext cx="792480" cy="182880"/>
          </a:xfrm>
          <a:prstGeom prst="rect">
            <a:avLst/>
          </a:prstGeom>
          <a:noFill/>
        </p:spPr>
        <p:txBody>
          <a:bodyPr wrap="square" anchor="ctr" lIns="0" rIns="0" tIns="0" bIns="0">
            <a:spAutoFit/>
          </a:bodyPr>
          <a:lstStyle/>
          <a:p>
            <a:pPr algn="r"/>
            <a:r>
              <a:rPr sz="1000" b="1" i="0">
                <a:solidFill>
                  <a:srgbClr val="8A93A6"/>
                </a:solidFill>
                <a:latin typeface="Arial"/>
              </a:rPr>
              <a:t>&lt; 1 %</a:t>
            </a:r>
          </a:p>
        </p:txBody>
      </p:sp>
      <p:sp>
        <p:nvSpPr>
          <p:cNvPr id="75" name="TextBox 74"/>
          <p:cNvSpPr txBox="1"/>
          <p:nvPr/>
        </p:nvSpPr>
        <p:spPr>
          <a:xfrm>
            <a:off x="8101584" y="4528457"/>
            <a:ext cx="2194560" cy="134112"/>
          </a:xfrm>
          <a:prstGeom prst="rect">
            <a:avLst/>
          </a:prstGeom>
          <a:noFill/>
        </p:spPr>
        <p:txBody>
          <a:bodyPr wrap="square" anchor="t" lIns="0" rIns="0" tIns="0" bIns="0">
            <a:spAutoFit/>
          </a:bodyPr>
          <a:lstStyle/>
          <a:p>
            <a:pPr algn="l"/>
            <a:r>
              <a:rPr sz="1000" b="0" i="0">
                <a:solidFill>
                  <a:srgbClr val="111111"/>
                </a:solidFill>
                <a:latin typeface="Arial"/>
              </a:rPr>
              <a:t>Hôtels et hébergements</a:t>
            </a:r>
          </a:p>
        </p:txBody>
      </p:sp>
      <p:sp>
        <p:nvSpPr>
          <p:cNvPr id="76" name="Rectangle 75"/>
          <p:cNvSpPr/>
          <p:nvPr/>
        </p:nvSpPr>
        <p:spPr>
          <a:xfrm>
            <a:off x="8101584" y="4680857"/>
            <a:ext cx="2011680" cy="54864"/>
          </a:xfrm>
          <a:prstGeom prst="rect">
            <a:avLst/>
          </a:prstGeom>
          <a:solidFill>
            <a:srgbClr val="ECEAE5"/>
          </a:solidFill>
          <a:ln>
            <a:noFill/>
          </a:ln>
          <a:effectLst/>
        </p:spPr>
        <p:txBody>
          <a:bodyPr rtlCol="0" anchor="ctr"/>
          <a:lstStyle/>
          <a:p>
            <a:pPr algn="ctr"/>
          </a:p>
        </p:txBody>
      </p:sp>
      <p:sp>
        <p:nvSpPr>
          <p:cNvPr id="77" name="Rectangle 76"/>
          <p:cNvSpPr/>
          <p:nvPr/>
        </p:nvSpPr>
        <p:spPr>
          <a:xfrm>
            <a:off x="8101584" y="4680857"/>
            <a:ext cx="1790395" cy="54864"/>
          </a:xfrm>
          <a:prstGeom prst="rect">
            <a:avLst/>
          </a:prstGeom>
          <a:solidFill>
            <a:srgbClr val="EE6A2C"/>
          </a:solidFill>
          <a:ln>
            <a:noFill/>
          </a:ln>
          <a:effectLst/>
        </p:spPr>
        <p:txBody>
          <a:bodyPr rtlCol="0" anchor="ctr"/>
          <a:lstStyle/>
          <a:p>
            <a:pPr algn="ctr"/>
          </a:p>
        </p:txBody>
      </p:sp>
      <p:sp>
        <p:nvSpPr>
          <p:cNvPr id="78" name="TextBox 77"/>
          <p:cNvSpPr txBox="1"/>
          <p:nvPr/>
        </p:nvSpPr>
        <p:spPr>
          <a:xfrm>
            <a:off x="10241280" y="4601609"/>
            <a:ext cx="792480" cy="182880"/>
          </a:xfrm>
          <a:prstGeom prst="rect">
            <a:avLst/>
          </a:prstGeom>
          <a:noFill/>
        </p:spPr>
        <p:txBody>
          <a:bodyPr wrap="square" anchor="ctr" lIns="0" rIns="0" tIns="0" bIns="0">
            <a:spAutoFit/>
          </a:bodyPr>
          <a:lstStyle/>
          <a:p>
            <a:pPr algn="r"/>
            <a:r>
              <a:rPr sz="1300" b="1" i="0">
                <a:solidFill>
                  <a:srgbClr val="111111"/>
                </a:solidFill>
                <a:latin typeface="Arial"/>
              </a:rPr>
              <a:t>89 %</a:t>
            </a:r>
          </a:p>
        </p:txBody>
      </p:sp>
      <p:sp>
        <p:nvSpPr>
          <p:cNvPr id="79" name="TextBox 78"/>
          <p:cNvSpPr txBox="1"/>
          <p:nvPr/>
        </p:nvSpPr>
        <p:spPr>
          <a:xfrm>
            <a:off x="8101584" y="4789714"/>
            <a:ext cx="2194560" cy="134112"/>
          </a:xfrm>
          <a:prstGeom prst="rect">
            <a:avLst/>
          </a:prstGeom>
          <a:noFill/>
        </p:spPr>
        <p:txBody>
          <a:bodyPr wrap="square" anchor="t" lIns="0" rIns="0" tIns="0" bIns="0">
            <a:spAutoFit/>
          </a:bodyPr>
          <a:lstStyle/>
          <a:p>
            <a:pPr algn="l"/>
            <a:r>
              <a:rPr sz="1000" b="0" i="0">
                <a:solidFill>
                  <a:srgbClr val="111111"/>
                </a:solidFill>
                <a:latin typeface="Arial"/>
              </a:rPr>
              <a:t>Croisières, ferries et trains</a:t>
            </a:r>
          </a:p>
        </p:txBody>
      </p:sp>
      <p:sp>
        <p:nvSpPr>
          <p:cNvPr id="80" name="Rectangle 79"/>
          <p:cNvSpPr/>
          <p:nvPr/>
        </p:nvSpPr>
        <p:spPr>
          <a:xfrm>
            <a:off x="8101584" y="4942114"/>
            <a:ext cx="2011680" cy="54864"/>
          </a:xfrm>
          <a:prstGeom prst="rect">
            <a:avLst/>
          </a:prstGeom>
          <a:solidFill>
            <a:srgbClr val="ECEAE5"/>
          </a:solidFill>
          <a:ln>
            <a:noFill/>
          </a:ln>
          <a:effectLst/>
        </p:spPr>
        <p:txBody>
          <a:bodyPr rtlCol="0" anchor="ctr"/>
          <a:lstStyle/>
          <a:p>
            <a:pPr algn="ctr"/>
          </a:p>
        </p:txBody>
      </p:sp>
      <p:sp>
        <p:nvSpPr>
          <p:cNvPr id="81" name="TextBox 80"/>
          <p:cNvSpPr txBox="1"/>
          <p:nvPr/>
        </p:nvSpPr>
        <p:spPr>
          <a:xfrm>
            <a:off x="10241280" y="4862866"/>
            <a:ext cx="792480" cy="182880"/>
          </a:xfrm>
          <a:prstGeom prst="rect">
            <a:avLst/>
          </a:prstGeom>
          <a:noFill/>
        </p:spPr>
        <p:txBody>
          <a:bodyPr wrap="square" anchor="ctr" lIns="0" rIns="0" tIns="0" bIns="0">
            <a:spAutoFit/>
          </a:bodyPr>
          <a:lstStyle/>
          <a:p>
            <a:pPr algn="r"/>
            <a:r>
              <a:rPr sz="1000" b="1" i="0">
                <a:solidFill>
                  <a:srgbClr val="8A93A6"/>
                </a:solidFill>
                <a:latin typeface="Arial"/>
              </a:rPr>
              <a:t>&lt; 1 %</a:t>
            </a:r>
          </a:p>
        </p:txBody>
      </p:sp>
      <p:sp>
        <p:nvSpPr>
          <p:cNvPr id="82" name="TextBox 81"/>
          <p:cNvSpPr txBox="1"/>
          <p:nvPr/>
        </p:nvSpPr>
        <p:spPr>
          <a:xfrm>
            <a:off x="8101584" y="5050971"/>
            <a:ext cx="2194560" cy="134112"/>
          </a:xfrm>
          <a:prstGeom prst="rect">
            <a:avLst/>
          </a:prstGeom>
          <a:noFill/>
        </p:spPr>
        <p:txBody>
          <a:bodyPr wrap="square" anchor="t" lIns="0" rIns="0" tIns="0" bIns="0">
            <a:spAutoFit/>
          </a:bodyPr>
          <a:lstStyle/>
          <a:p>
            <a:pPr algn="l"/>
            <a:r>
              <a:rPr sz="1000" b="0" i="0">
                <a:solidFill>
                  <a:srgbClr val="111111"/>
                </a:solidFill>
                <a:latin typeface="Arial"/>
              </a:rPr>
              <a:t>Séjours tout compris</a:t>
            </a:r>
          </a:p>
        </p:txBody>
      </p:sp>
      <p:sp>
        <p:nvSpPr>
          <p:cNvPr id="83" name="Rectangle 82"/>
          <p:cNvSpPr/>
          <p:nvPr/>
        </p:nvSpPr>
        <p:spPr>
          <a:xfrm>
            <a:off x="8101584" y="5203371"/>
            <a:ext cx="2011680" cy="54864"/>
          </a:xfrm>
          <a:prstGeom prst="rect">
            <a:avLst/>
          </a:prstGeom>
          <a:solidFill>
            <a:srgbClr val="ECEAE5"/>
          </a:solidFill>
          <a:ln>
            <a:noFill/>
          </a:ln>
          <a:effectLst/>
        </p:spPr>
        <p:txBody>
          <a:bodyPr rtlCol="0" anchor="ctr"/>
          <a:lstStyle/>
          <a:p>
            <a:pPr algn="ctr"/>
          </a:p>
        </p:txBody>
      </p:sp>
      <p:sp>
        <p:nvSpPr>
          <p:cNvPr id="84" name="Rectangle 83"/>
          <p:cNvSpPr/>
          <p:nvPr/>
        </p:nvSpPr>
        <p:spPr>
          <a:xfrm>
            <a:off x="8101584" y="5203371"/>
            <a:ext cx="221284" cy="54864"/>
          </a:xfrm>
          <a:prstGeom prst="rect">
            <a:avLst/>
          </a:prstGeom>
          <a:solidFill>
            <a:srgbClr val="9AA3B2"/>
          </a:solidFill>
          <a:ln>
            <a:noFill/>
          </a:ln>
          <a:effectLst/>
        </p:spPr>
        <p:txBody>
          <a:bodyPr rtlCol="0" anchor="ctr"/>
          <a:lstStyle/>
          <a:p>
            <a:pPr algn="ctr"/>
          </a:p>
        </p:txBody>
      </p:sp>
      <p:sp>
        <p:nvSpPr>
          <p:cNvPr id="85" name="TextBox 84"/>
          <p:cNvSpPr txBox="1"/>
          <p:nvPr/>
        </p:nvSpPr>
        <p:spPr>
          <a:xfrm>
            <a:off x="10241280" y="5124123"/>
            <a:ext cx="792480" cy="182880"/>
          </a:xfrm>
          <a:prstGeom prst="rect">
            <a:avLst/>
          </a:prstGeom>
          <a:noFill/>
        </p:spPr>
        <p:txBody>
          <a:bodyPr wrap="square" anchor="ctr" lIns="0" rIns="0" tIns="0" bIns="0">
            <a:spAutoFit/>
          </a:bodyPr>
          <a:lstStyle/>
          <a:p>
            <a:pPr algn="r"/>
            <a:r>
              <a:rPr sz="1300" b="1" i="0">
                <a:solidFill>
                  <a:srgbClr val="111111"/>
                </a:solidFill>
                <a:latin typeface="Arial"/>
              </a:rPr>
              <a:t>11 %</a:t>
            </a:r>
          </a:p>
        </p:txBody>
      </p:sp>
      <p:sp>
        <p:nvSpPr>
          <p:cNvPr id="86" name="TextBox 85"/>
          <p:cNvSpPr txBox="1"/>
          <p:nvPr/>
        </p:nvSpPr>
        <p:spPr>
          <a:xfrm>
            <a:off x="8101584" y="5312228"/>
            <a:ext cx="2194560" cy="134112"/>
          </a:xfrm>
          <a:prstGeom prst="rect">
            <a:avLst/>
          </a:prstGeom>
          <a:noFill/>
        </p:spPr>
        <p:txBody>
          <a:bodyPr wrap="square" anchor="t" lIns="0" rIns="0" tIns="0" bIns="0">
            <a:spAutoFit/>
          </a:bodyPr>
          <a:lstStyle/>
          <a:p>
            <a:pPr algn="l"/>
            <a:r>
              <a:rPr sz="1000" b="0" i="0">
                <a:solidFill>
                  <a:srgbClr val="111111"/>
                </a:solidFill>
                <a:latin typeface="Arial"/>
              </a:rPr>
              <a:t>Parcs et séjours en famille</a:t>
            </a:r>
          </a:p>
        </p:txBody>
      </p:sp>
      <p:sp>
        <p:nvSpPr>
          <p:cNvPr id="87" name="Rectangle 86"/>
          <p:cNvSpPr/>
          <p:nvPr/>
        </p:nvSpPr>
        <p:spPr>
          <a:xfrm>
            <a:off x="8101584" y="5464628"/>
            <a:ext cx="2011680" cy="54864"/>
          </a:xfrm>
          <a:prstGeom prst="rect">
            <a:avLst/>
          </a:prstGeom>
          <a:solidFill>
            <a:srgbClr val="ECEAE5"/>
          </a:solidFill>
          <a:ln>
            <a:noFill/>
          </a:ln>
          <a:effectLst/>
        </p:spPr>
        <p:txBody>
          <a:bodyPr rtlCol="0" anchor="ctr"/>
          <a:lstStyle/>
          <a:p>
            <a:pPr algn="ctr"/>
          </a:p>
        </p:txBody>
      </p:sp>
      <p:sp>
        <p:nvSpPr>
          <p:cNvPr id="88" name="TextBox 87"/>
          <p:cNvSpPr txBox="1"/>
          <p:nvPr/>
        </p:nvSpPr>
        <p:spPr>
          <a:xfrm>
            <a:off x="10241280" y="5385380"/>
            <a:ext cx="792480" cy="182880"/>
          </a:xfrm>
          <a:prstGeom prst="rect">
            <a:avLst/>
          </a:prstGeom>
          <a:noFill/>
        </p:spPr>
        <p:txBody>
          <a:bodyPr wrap="square" anchor="ctr" lIns="0" rIns="0" tIns="0" bIns="0">
            <a:spAutoFit/>
          </a:bodyPr>
          <a:lstStyle/>
          <a:p>
            <a:pPr algn="r"/>
            <a:r>
              <a:rPr sz="1000" b="1" i="0">
                <a:solidFill>
                  <a:srgbClr val="8A93A6"/>
                </a:solidFill>
                <a:latin typeface="Arial"/>
              </a:rPr>
              <a:t>&lt; 1 %</a:t>
            </a:r>
          </a:p>
        </p:txBody>
      </p:sp>
      <p:sp>
        <p:nvSpPr>
          <p:cNvPr id="89" name="TextBox 88"/>
          <p:cNvSpPr txBox="1"/>
          <p:nvPr/>
        </p:nvSpPr>
        <p:spPr>
          <a:xfrm>
            <a:off x="8101584" y="5573485"/>
            <a:ext cx="2194560" cy="134112"/>
          </a:xfrm>
          <a:prstGeom prst="rect">
            <a:avLst/>
          </a:prstGeom>
          <a:noFill/>
        </p:spPr>
        <p:txBody>
          <a:bodyPr wrap="square" anchor="t" lIns="0" rIns="0" tIns="0" bIns="0">
            <a:spAutoFit/>
          </a:bodyPr>
          <a:lstStyle/>
          <a:p>
            <a:pPr algn="l"/>
            <a:r>
              <a:rPr sz="1000" b="0" i="0">
                <a:solidFill>
                  <a:srgbClr val="111111"/>
                </a:solidFill>
                <a:latin typeface="Arial"/>
              </a:rPr>
              <a:t>Vols et billets d'avion</a:t>
            </a:r>
          </a:p>
        </p:txBody>
      </p:sp>
      <p:sp>
        <p:nvSpPr>
          <p:cNvPr id="90" name="Rectangle 89"/>
          <p:cNvSpPr/>
          <p:nvPr/>
        </p:nvSpPr>
        <p:spPr>
          <a:xfrm>
            <a:off x="8101584" y="5725885"/>
            <a:ext cx="2011680" cy="54864"/>
          </a:xfrm>
          <a:prstGeom prst="rect">
            <a:avLst/>
          </a:prstGeom>
          <a:solidFill>
            <a:srgbClr val="ECEAE5"/>
          </a:solidFill>
          <a:ln>
            <a:noFill/>
          </a:ln>
          <a:effectLst/>
        </p:spPr>
        <p:txBody>
          <a:bodyPr rtlCol="0" anchor="ctr"/>
          <a:lstStyle/>
          <a:p>
            <a:pPr algn="ctr"/>
          </a:p>
        </p:txBody>
      </p:sp>
      <p:sp>
        <p:nvSpPr>
          <p:cNvPr id="91" name="TextBox 90"/>
          <p:cNvSpPr txBox="1"/>
          <p:nvPr/>
        </p:nvSpPr>
        <p:spPr>
          <a:xfrm>
            <a:off x="10241280" y="5646637"/>
            <a:ext cx="792480" cy="182880"/>
          </a:xfrm>
          <a:prstGeom prst="rect">
            <a:avLst/>
          </a:prstGeom>
          <a:noFill/>
        </p:spPr>
        <p:txBody>
          <a:bodyPr wrap="square" anchor="ctr" lIns="0" rIns="0" tIns="0" bIns="0">
            <a:spAutoFit/>
          </a:bodyPr>
          <a:lstStyle/>
          <a:p>
            <a:pPr algn="r"/>
            <a:r>
              <a:rPr sz="1000" b="1" i="0">
                <a:solidFill>
                  <a:srgbClr val="8A93A6"/>
                </a:solidFill>
                <a:latin typeface="Arial"/>
              </a:rPr>
              <a:t>&lt; 1 %</a:t>
            </a:r>
          </a:p>
        </p:txBody>
      </p:sp>
      <p:sp>
        <p:nvSpPr>
          <p:cNvPr id="92" name="TextBox 91"/>
          <p:cNvSpPr txBox="1"/>
          <p:nvPr/>
        </p:nvSpPr>
        <p:spPr>
          <a:xfrm>
            <a:off x="8101584" y="5834742"/>
            <a:ext cx="2194560" cy="134112"/>
          </a:xfrm>
          <a:prstGeom prst="rect">
            <a:avLst/>
          </a:prstGeom>
          <a:noFill/>
        </p:spPr>
        <p:txBody>
          <a:bodyPr wrap="square" anchor="t" lIns="0" rIns="0" tIns="0" bIns="0">
            <a:spAutoFit/>
          </a:bodyPr>
          <a:lstStyle/>
          <a:p>
            <a:pPr algn="l"/>
            <a:r>
              <a:rPr sz="1000" b="0" i="0">
                <a:solidFill>
                  <a:srgbClr val="111111"/>
                </a:solidFill>
                <a:latin typeface="Arial"/>
              </a:rPr>
              <a:t>Bien-être et thalasso</a:t>
            </a:r>
          </a:p>
        </p:txBody>
      </p:sp>
      <p:sp>
        <p:nvSpPr>
          <p:cNvPr id="93" name="Rectangle 92"/>
          <p:cNvSpPr/>
          <p:nvPr/>
        </p:nvSpPr>
        <p:spPr>
          <a:xfrm>
            <a:off x="8101584" y="5987142"/>
            <a:ext cx="2011680" cy="54864"/>
          </a:xfrm>
          <a:prstGeom prst="rect">
            <a:avLst/>
          </a:prstGeom>
          <a:solidFill>
            <a:srgbClr val="ECEAE5"/>
          </a:solidFill>
          <a:ln>
            <a:noFill/>
          </a:ln>
          <a:effectLst/>
        </p:spPr>
        <p:txBody>
          <a:bodyPr rtlCol="0" anchor="ctr"/>
          <a:lstStyle/>
          <a:p>
            <a:pPr algn="ctr"/>
          </a:p>
        </p:txBody>
      </p:sp>
      <p:sp>
        <p:nvSpPr>
          <p:cNvPr id="94" name="TextBox 93"/>
          <p:cNvSpPr txBox="1"/>
          <p:nvPr/>
        </p:nvSpPr>
        <p:spPr>
          <a:xfrm>
            <a:off x="10241280" y="5907894"/>
            <a:ext cx="792480" cy="182880"/>
          </a:xfrm>
          <a:prstGeom prst="rect">
            <a:avLst/>
          </a:prstGeom>
          <a:noFill/>
        </p:spPr>
        <p:txBody>
          <a:bodyPr wrap="square" anchor="ctr" lIns="0" rIns="0" tIns="0" bIns="0">
            <a:spAutoFit/>
          </a:bodyPr>
          <a:lstStyle/>
          <a:p>
            <a:pPr algn="r"/>
            <a:r>
              <a:rPr sz="1000" b="1" i="0">
                <a:solidFill>
                  <a:srgbClr val="8A93A6"/>
                </a:solidFill>
                <a:latin typeface="Arial"/>
              </a:rPr>
              <a:t>&lt; 1 %</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6F2"/>
          </a:solidFill>
          <a:ln>
            <a:noFill/>
          </a:ln>
          <a:effectLst/>
        </p:spPr>
        <p:txBody>
          <a:bodyPr rtlCol="0" anchor="ctr"/>
          <a:lstStyle/>
          <a:p>
            <a:pPr algn="ctr"/>
          </a:p>
        </p:txBody>
      </p:sp>
      <p:sp>
        <p:nvSpPr>
          <p:cNvPr id="3" name="TextBox 2"/>
          <p:cNvSpPr txBox="1"/>
          <p:nvPr/>
        </p:nvSpPr>
        <p:spPr>
          <a:xfrm>
            <a:off x="579120" y="426720"/>
            <a:ext cx="7315200" cy="182880"/>
          </a:xfrm>
          <a:prstGeom prst="rect">
            <a:avLst/>
          </a:prstGeom>
          <a:noFill/>
        </p:spPr>
        <p:txBody>
          <a:bodyPr wrap="square" anchor="t" lIns="0" rIns="0" tIns="0" bIns="0">
            <a:spAutoFit/>
          </a:bodyPr>
          <a:lstStyle/>
          <a:p>
            <a:pPr algn="l"/>
            <a:r>
              <a:rPr sz="1300" b="1" i="0">
                <a:solidFill>
                  <a:srgbClr val="EE6A2C"/>
                </a:solidFill>
                <a:latin typeface="Arial"/>
              </a:rPr>
              <a:t>INSIGHTS QUALITATIFS · SEPTEMBRE 2026</a:t>
            </a:r>
          </a:p>
        </p:txBody>
      </p:sp>
      <p:sp>
        <p:nvSpPr>
          <p:cNvPr id="4" name="TextBox 3"/>
          <p:cNvSpPr txBox="1"/>
          <p:nvPr/>
        </p:nvSpPr>
        <p:spPr>
          <a:xfrm>
            <a:off x="579120" y="609600"/>
            <a:ext cx="7315200" cy="487680"/>
          </a:xfrm>
          <a:prstGeom prst="rect">
            <a:avLst/>
          </a:prstGeom>
          <a:noFill/>
        </p:spPr>
        <p:txBody>
          <a:bodyPr wrap="square" anchor="t" lIns="0" rIns="0" tIns="0" bIns="0">
            <a:spAutoFit/>
          </a:bodyPr>
          <a:lstStyle/>
          <a:p>
            <a:pPr algn="l"/>
            <a:r>
              <a:rPr sz="3600" b="1" i="0">
                <a:solidFill>
                  <a:srgbClr val="111111"/>
                </a:solidFill>
                <a:latin typeface="Arial"/>
              </a:rPr>
              <a:t>Cdiscount Voyages – Séjours</a:t>
            </a:r>
          </a:p>
        </p:txBody>
      </p:sp>
      <p:sp>
        <p:nvSpPr>
          <p:cNvPr id="5" name="TextBox 4"/>
          <p:cNvSpPr txBox="1"/>
          <p:nvPr/>
        </p:nvSpPr>
        <p:spPr>
          <a:xfrm>
            <a:off x="9144000" y="499872"/>
            <a:ext cx="1889760" cy="182880"/>
          </a:xfrm>
          <a:prstGeom prst="rect">
            <a:avLst/>
          </a:prstGeom>
          <a:noFill/>
        </p:spPr>
        <p:txBody>
          <a:bodyPr wrap="square" anchor="t" lIns="0" rIns="0" tIns="0" bIns="0">
            <a:spAutoFit/>
          </a:bodyPr>
          <a:lstStyle/>
          <a:p>
            <a:pPr algn="r"/>
            <a:r>
              <a:rPr sz="1500" b="1" i="0">
                <a:solidFill>
                  <a:srgbClr val="111111"/>
                </a:solidFill>
                <a:latin typeface="Arial"/>
              </a:rPr>
              <a:t>Lemrock</a:t>
            </a:r>
          </a:p>
        </p:txBody>
      </p:sp>
      <p:sp>
        <p:nvSpPr>
          <p:cNvPr id="6" name="TextBox 5"/>
          <p:cNvSpPr txBox="1"/>
          <p:nvPr/>
        </p:nvSpPr>
        <p:spPr>
          <a:xfrm>
            <a:off x="579120" y="1219200"/>
            <a:ext cx="9144000" cy="182880"/>
          </a:xfrm>
          <a:prstGeom prst="rect">
            <a:avLst/>
          </a:prstGeom>
          <a:noFill/>
        </p:spPr>
        <p:txBody>
          <a:bodyPr wrap="square" anchor="t" lIns="0" rIns="0" tIns="0" bIns="0">
            <a:spAutoFit/>
          </a:bodyPr>
          <a:lstStyle/>
          <a:p>
            <a:pPr algn="l"/>
            <a:r>
              <a:rPr sz="1300" b="1" i="0">
                <a:solidFill>
                  <a:srgbClr val="EE6A2C"/>
                </a:solidFill>
                <a:latin typeface="Arial"/>
              </a:rPr>
              <a:t>OBJECTIF   </a:t>
            </a:r>
            <a:r>
              <a:rPr sz="1300" b="0" i="0">
                <a:solidFill>
                  <a:srgbClr val="111111"/>
                </a:solidFill>
                <a:latin typeface="Arial"/>
              </a:rPr>
              <a:t>Atteindre un ROI de 12 pour un CA de 30 k€.</a:t>
            </a:r>
          </a:p>
        </p:txBody>
      </p:sp>
      <p:sp>
        <p:nvSpPr>
          <p:cNvPr id="7" name="TextBox 6"/>
          <p:cNvSpPr txBox="1"/>
          <p:nvPr/>
        </p:nvSpPr>
        <p:spPr>
          <a:xfrm>
            <a:off x="579120" y="1524000"/>
            <a:ext cx="4876800" cy="182880"/>
          </a:xfrm>
          <a:prstGeom prst="rect">
            <a:avLst/>
          </a:prstGeom>
          <a:noFill/>
        </p:spPr>
        <p:txBody>
          <a:bodyPr wrap="square" anchor="t" lIns="0" rIns="0" tIns="0" bIns="0">
            <a:spAutoFit/>
          </a:bodyPr>
          <a:lstStyle/>
          <a:p>
            <a:pPr algn="l"/>
            <a:r>
              <a:rPr sz="1400" b="1" i="0">
                <a:solidFill>
                  <a:srgbClr val="555B66"/>
                </a:solidFill>
                <a:latin typeface="Arial"/>
              </a:rPr>
              <a:t>INSIGHTS QUALITATIFS</a:t>
            </a:r>
          </a:p>
        </p:txBody>
      </p:sp>
      <p:sp>
        <p:nvSpPr>
          <p:cNvPr id="8" name="Rectangle 7"/>
          <p:cNvSpPr/>
          <p:nvPr/>
        </p:nvSpPr>
        <p:spPr>
          <a:xfrm>
            <a:off x="579120" y="1816608"/>
            <a:ext cx="5071872" cy="2121408"/>
          </a:xfrm>
          <a:prstGeom prst="rect">
            <a:avLst/>
          </a:prstGeom>
          <a:solidFill>
            <a:srgbClr val="FFFFFF"/>
          </a:solidFill>
          <a:ln>
            <a:noFill/>
          </a:ln>
          <a:effectLst/>
        </p:spPr>
        <p:txBody>
          <a:bodyPr rtlCol="0" anchor="ctr"/>
          <a:lstStyle/>
          <a:p>
            <a:pPr algn="ctr"/>
          </a:p>
        </p:txBody>
      </p:sp>
      <p:sp>
        <p:nvSpPr>
          <p:cNvPr id="9" name="TextBox 8"/>
          <p:cNvSpPr txBox="1"/>
          <p:nvPr/>
        </p:nvSpPr>
        <p:spPr>
          <a:xfrm>
            <a:off x="835152" y="2029968"/>
            <a:ext cx="487680" cy="243840"/>
          </a:xfrm>
          <a:prstGeom prst="rect">
            <a:avLst/>
          </a:prstGeom>
          <a:noFill/>
        </p:spPr>
        <p:txBody>
          <a:bodyPr wrap="square" anchor="t" lIns="0" rIns="0" tIns="0" bIns="0">
            <a:spAutoFit/>
          </a:bodyPr>
          <a:lstStyle/>
          <a:p>
            <a:pPr algn="l"/>
            <a:r>
              <a:rPr sz="2000" b="1" i="0">
                <a:solidFill>
                  <a:srgbClr val="EE6A2C"/>
                </a:solidFill>
                <a:latin typeface="Arial"/>
              </a:rPr>
              <a:t>01</a:t>
            </a:r>
          </a:p>
        </p:txBody>
      </p:sp>
      <p:sp>
        <p:nvSpPr>
          <p:cNvPr id="10" name="TextBox 9"/>
          <p:cNvSpPr txBox="1"/>
          <p:nvPr/>
        </p:nvSpPr>
        <p:spPr>
          <a:xfrm>
            <a:off x="1383792" y="2048256"/>
            <a:ext cx="4023360" cy="365760"/>
          </a:xfrm>
          <a:prstGeom prst="rect">
            <a:avLst/>
          </a:prstGeom>
          <a:noFill/>
        </p:spPr>
        <p:txBody>
          <a:bodyPr wrap="square" anchor="t" lIns="0" rIns="0" tIns="0" bIns="0">
            <a:spAutoFit/>
          </a:bodyPr>
          <a:lstStyle/>
          <a:p>
            <a:pPr algn="l"/>
            <a:r>
              <a:rPr sz="1400" b="1" i="0">
                <a:solidFill>
                  <a:srgbClr val="111111"/>
                </a:solidFill>
                <a:latin typeface="Arial"/>
              </a:rPr>
              <a:t>Mettre en avant une destination précise</a:t>
            </a:r>
          </a:p>
        </p:txBody>
      </p:sp>
      <p:sp>
        <p:nvSpPr>
          <p:cNvPr id="11" name="TextBox 10"/>
          <p:cNvSpPr txBox="1"/>
          <p:nvPr/>
        </p:nvSpPr>
        <p:spPr>
          <a:xfrm>
            <a:off x="835152" y="2609088"/>
            <a:ext cx="4572000" cy="731520"/>
          </a:xfrm>
          <a:prstGeom prst="rect">
            <a:avLst/>
          </a:prstGeom>
          <a:noFill/>
        </p:spPr>
        <p:txBody>
          <a:bodyPr wrap="square" anchor="t" lIns="0" rIns="0" tIns="0" bIns="0">
            <a:spAutoFit/>
          </a:bodyPr>
          <a:lstStyle/>
          <a:p>
            <a:pPr algn="l"/>
            <a:r>
              <a:rPr sz="1100" b="0" i="0">
                <a:solidFill>
                  <a:srgbClr val="555B66"/>
                </a:solidFill>
                <a:latin typeface="Arial"/>
              </a:rPr>
              <a:t>Les annonces qui décrivent un hôtel et sa destination (Fuerteventura, Majorque, Grèce, Dubaï) atteignent jusqu'à 1,23 fois le CTR moyen.</a:t>
            </a:r>
          </a:p>
        </p:txBody>
      </p:sp>
      <p:sp>
        <p:nvSpPr>
          <p:cNvPr id="12" name="TextBox 11"/>
          <p:cNvSpPr txBox="1"/>
          <p:nvPr/>
        </p:nvSpPr>
        <p:spPr>
          <a:xfrm>
            <a:off x="835152" y="3310128"/>
            <a:ext cx="4572000" cy="487680"/>
          </a:xfrm>
          <a:prstGeom prst="rect">
            <a:avLst/>
          </a:prstGeom>
          <a:noFill/>
        </p:spPr>
        <p:txBody>
          <a:bodyPr wrap="square" anchor="t" lIns="0" rIns="0" tIns="0" bIns="0">
            <a:spAutoFit/>
          </a:bodyPr>
          <a:lstStyle/>
          <a:p>
            <a:pPr algn="l"/>
            <a:r>
              <a:rPr sz="900" b="1" i="0">
                <a:solidFill>
                  <a:srgbClr val="555B66"/>
                </a:solidFill>
                <a:latin typeface="Arial"/>
              </a:rPr>
              <a:t>→  Construire chaque annonce autour d'un lieu et de ce qu'on y vit.</a:t>
            </a:r>
          </a:p>
        </p:txBody>
      </p:sp>
      <p:sp>
        <p:nvSpPr>
          <p:cNvPr id="13" name="Rectangle 12"/>
          <p:cNvSpPr/>
          <p:nvPr/>
        </p:nvSpPr>
        <p:spPr>
          <a:xfrm>
            <a:off x="5992368" y="1816608"/>
            <a:ext cx="5071872" cy="2121408"/>
          </a:xfrm>
          <a:prstGeom prst="rect">
            <a:avLst/>
          </a:prstGeom>
          <a:solidFill>
            <a:srgbClr val="FFFFFF"/>
          </a:solidFill>
          <a:ln>
            <a:noFill/>
          </a:ln>
          <a:effectLst/>
        </p:spPr>
        <p:txBody>
          <a:bodyPr rtlCol="0" anchor="ctr"/>
          <a:lstStyle/>
          <a:p>
            <a:pPr algn="ctr"/>
          </a:p>
        </p:txBody>
      </p:sp>
      <p:sp>
        <p:nvSpPr>
          <p:cNvPr id="14" name="TextBox 13"/>
          <p:cNvSpPr txBox="1"/>
          <p:nvPr/>
        </p:nvSpPr>
        <p:spPr>
          <a:xfrm>
            <a:off x="6248400" y="2029968"/>
            <a:ext cx="487680" cy="243840"/>
          </a:xfrm>
          <a:prstGeom prst="rect">
            <a:avLst/>
          </a:prstGeom>
          <a:noFill/>
        </p:spPr>
        <p:txBody>
          <a:bodyPr wrap="square" anchor="t" lIns="0" rIns="0" tIns="0" bIns="0">
            <a:spAutoFit/>
          </a:bodyPr>
          <a:lstStyle/>
          <a:p>
            <a:pPr algn="l"/>
            <a:r>
              <a:rPr sz="2000" b="1" i="0">
                <a:solidFill>
                  <a:srgbClr val="EE6A2C"/>
                </a:solidFill>
                <a:latin typeface="Arial"/>
              </a:rPr>
              <a:t>02</a:t>
            </a:r>
          </a:p>
        </p:txBody>
      </p:sp>
      <p:sp>
        <p:nvSpPr>
          <p:cNvPr id="15" name="TextBox 14"/>
          <p:cNvSpPr txBox="1"/>
          <p:nvPr/>
        </p:nvSpPr>
        <p:spPr>
          <a:xfrm>
            <a:off x="6797040" y="2048256"/>
            <a:ext cx="4023360" cy="365760"/>
          </a:xfrm>
          <a:prstGeom prst="rect">
            <a:avLst/>
          </a:prstGeom>
          <a:noFill/>
        </p:spPr>
        <p:txBody>
          <a:bodyPr wrap="square" anchor="t" lIns="0" rIns="0" tIns="0" bIns="0">
            <a:spAutoFit/>
          </a:bodyPr>
          <a:lstStyle/>
          <a:p>
            <a:pPr algn="l"/>
            <a:r>
              <a:rPr sz="1400" b="1" i="0">
                <a:solidFill>
                  <a:srgbClr val="111111"/>
                </a:solidFill>
                <a:latin typeface="Arial"/>
              </a:rPr>
              <a:t>L'annonce générique sous-performe</a:t>
            </a:r>
          </a:p>
        </p:txBody>
      </p:sp>
      <p:sp>
        <p:nvSpPr>
          <p:cNvPr id="16" name="TextBox 15"/>
          <p:cNvSpPr txBox="1"/>
          <p:nvPr/>
        </p:nvSpPr>
        <p:spPr>
          <a:xfrm>
            <a:off x="6248400" y="2609088"/>
            <a:ext cx="4572000" cy="731520"/>
          </a:xfrm>
          <a:prstGeom prst="rect">
            <a:avLst/>
          </a:prstGeom>
          <a:noFill/>
        </p:spPr>
        <p:txBody>
          <a:bodyPr wrap="square" anchor="t" lIns="0" rIns="0" tIns="0" bIns="0">
            <a:spAutoFit/>
          </a:bodyPr>
          <a:lstStyle/>
          <a:p>
            <a:pPr algn="l"/>
            <a:r>
              <a:rPr sz="1100" b="0" i="0">
                <a:solidFill>
                  <a:srgbClr val="555B66"/>
                </a:solidFill>
                <a:latin typeface="Arial"/>
              </a:rPr>
              <a:t>L'annonce « Séjour pas cher – Paiement en 4x » reste à 0,86 fois la moyenne.</a:t>
            </a:r>
          </a:p>
        </p:txBody>
      </p:sp>
      <p:sp>
        <p:nvSpPr>
          <p:cNvPr id="17" name="TextBox 16"/>
          <p:cNvSpPr txBox="1"/>
          <p:nvPr/>
        </p:nvSpPr>
        <p:spPr>
          <a:xfrm>
            <a:off x="6248400" y="3310128"/>
            <a:ext cx="4572000" cy="487680"/>
          </a:xfrm>
          <a:prstGeom prst="rect">
            <a:avLst/>
          </a:prstGeom>
          <a:noFill/>
        </p:spPr>
        <p:txBody>
          <a:bodyPr wrap="square" anchor="t" lIns="0" rIns="0" tIns="0" bIns="0">
            <a:spAutoFit/>
          </a:bodyPr>
          <a:lstStyle/>
          <a:p>
            <a:pPr algn="l"/>
            <a:r>
              <a:rPr sz="900" b="1" i="0">
                <a:solidFill>
                  <a:srgbClr val="555B66"/>
                </a:solidFill>
                <a:latin typeface="Arial"/>
              </a:rPr>
              <a:t>→  Garder le paiement en 4x comme argument secondaire, après la destination.</a:t>
            </a:r>
          </a:p>
        </p:txBody>
      </p:sp>
      <p:sp>
        <p:nvSpPr>
          <p:cNvPr id="18" name="Rectangle 17"/>
          <p:cNvSpPr/>
          <p:nvPr/>
        </p:nvSpPr>
        <p:spPr>
          <a:xfrm>
            <a:off x="579120" y="4133088"/>
            <a:ext cx="5071872" cy="2121408"/>
          </a:xfrm>
          <a:prstGeom prst="rect">
            <a:avLst/>
          </a:prstGeom>
          <a:solidFill>
            <a:srgbClr val="FFFFFF"/>
          </a:solidFill>
          <a:ln>
            <a:noFill/>
          </a:ln>
          <a:effectLst/>
        </p:spPr>
        <p:txBody>
          <a:bodyPr rtlCol="0" anchor="ctr"/>
          <a:lstStyle/>
          <a:p>
            <a:pPr algn="ctr"/>
          </a:p>
        </p:txBody>
      </p:sp>
      <p:sp>
        <p:nvSpPr>
          <p:cNvPr id="19" name="TextBox 18"/>
          <p:cNvSpPr txBox="1"/>
          <p:nvPr/>
        </p:nvSpPr>
        <p:spPr>
          <a:xfrm>
            <a:off x="835152" y="4346448"/>
            <a:ext cx="487680" cy="243840"/>
          </a:xfrm>
          <a:prstGeom prst="rect">
            <a:avLst/>
          </a:prstGeom>
          <a:noFill/>
        </p:spPr>
        <p:txBody>
          <a:bodyPr wrap="square" anchor="t" lIns="0" rIns="0" tIns="0" bIns="0">
            <a:spAutoFit/>
          </a:bodyPr>
          <a:lstStyle/>
          <a:p>
            <a:pPr algn="l"/>
            <a:r>
              <a:rPr sz="2000" b="1" i="0">
                <a:solidFill>
                  <a:srgbClr val="EE6A2C"/>
                </a:solidFill>
                <a:latin typeface="Arial"/>
              </a:rPr>
              <a:t>03</a:t>
            </a:r>
          </a:p>
        </p:txBody>
      </p:sp>
      <p:sp>
        <p:nvSpPr>
          <p:cNvPr id="20" name="TextBox 19"/>
          <p:cNvSpPr txBox="1"/>
          <p:nvPr/>
        </p:nvSpPr>
        <p:spPr>
          <a:xfrm>
            <a:off x="1383792" y="4364736"/>
            <a:ext cx="4023360" cy="365760"/>
          </a:xfrm>
          <a:prstGeom prst="rect">
            <a:avLst/>
          </a:prstGeom>
          <a:noFill/>
        </p:spPr>
        <p:txBody>
          <a:bodyPr wrap="square" anchor="t" lIns="0" rIns="0" tIns="0" bIns="0">
            <a:spAutoFit/>
          </a:bodyPr>
          <a:lstStyle/>
          <a:p>
            <a:pPr algn="l"/>
            <a:r>
              <a:rPr sz="1400" b="1" i="0">
                <a:solidFill>
                  <a:srgbClr val="111111"/>
                </a:solidFill>
                <a:latin typeface="Arial"/>
              </a:rPr>
              <a:t>Les Canaries et les Baléares portent la campagne</a:t>
            </a:r>
          </a:p>
        </p:txBody>
      </p:sp>
      <p:sp>
        <p:nvSpPr>
          <p:cNvPr id="21" name="TextBox 20"/>
          <p:cNvSpPr txBox="1"/>
          <p:nvPr/>
        </p:nvSpPr>
        <p:spPr>
          <a:xfrm>
            <a:off x="835152" y="4925568"/>
            <a:ext cx="4572000" cy="731520"/>
          </a:xfrm>
          <a:prstGeom prst="rect">
            <a:avLst/>
          </a:prstGeom>
          <a:noFill/>
        </p:spPr>
        <p:txBody>
          <a:bodyPr wrap="square" anchor="t" lIns="0" rIns="0" tIns="0" bIns="0">
            <a:spAutoFit/>
          </a:bodyPr>
          <a:lstStyle/>
          <a:p>
            <a:pPr algn="l"/>
            <a:r>
              <a:rPr sz="1100" b="0" i="0">
                <a:solidFill>
                  <a:srgbClr val="555B66"/>
                </a:solidFill>
                <a:latin typeface="Arial"/>
              </a:rPr>
              <a:t>Les Canaries et les Baléares représentent 29 % de la diffusion, avec des CTR au-dessus de la moyenne.</a:t>
            </a:r>
          </a:p>
        </p:txBody>
      </p:sp>
      <p:sp>
        <p:nvSpPr>
          <p:cNvPr id="22" name="TextBox 21"/>
          <p:cNvSpPr txBox="1"/>
          <p:nvPr/>
        </p:nvSpPr>
        <p:spPr>
          <a:xfrm>
            <a:off x="835152" y="5626608"/>
            <a:ext cx="4572000" cy="487680"/>
          </a:xfrm>
          <a:prstGeom prst="rect">
            <a:avLst/>
          </a:prstGeom>
          <a:noFill/>
        </p:spPr>
        <p:txBody>
          <a:bodyPr wrap="square" anchor="t" lIns="0" rIns="0" tIns="0" bIns="0">
            <a:spAutoFit/>
          </a:bodyPr>
          <a:lstStyle/>
          <a:p>
            <a:pPr algn="l"/>
            <a:r>
              <a:rPr sz="900" b="1" i="0">
                <a:solidFill>
                  <a:srgbClr val="555B66"/>
                </a:solidFill>
                <a:latin typeface="Arial"/>
              </a:rPr>
              <a:t>→  Préparer les séjours soleil d'hiver (Canaries, Égypte, Dubaï) pour la Toussaint et Noël.</a:t>
            </a:r>
          </a:p>
        </p:txBody>
      </p:sp>
      <p:sp>
        <p:nvSpPr>
          <p:cNvPr id="23" name="Rectangle 22"/>
          <p:cNvSpPr/>
          <p:nvPr/>
        </p:nvSpPr>
        <p:spPr>
          <a:xfrm>
            <a:off x="5992368" y="4133088"/>
            <a:ext cx="5071872" cy="2121408"/>
          </a:xfrm>
          <a:prstGeom prst="rect">
            <a:avLst/>
          </a:prstGeom>
          <a:solidFill>
            <a:srgbClr val="FFFFFF"/>
          </a:solidFill>
          <a:ln>
            <a:noFill/>
          </a:ln>
          <a:effectLst/>
        </p:spPr>
        <p:txBody>
          <a:bodyPr rtlCol="0" anchor="ctr"/>
          <a:lstStyle/>
          <a:p>
            <a:pPr algn="ctr"/>
          </a:p>
        </p:txBody>
      </p:sp>
      <p:sp>
        <p:nvSpPr>
          <p:cNvPr id="24" name="TextBox 23"/>
          <p:cNvSpPr txBox="1"/>
          <p:nvPr/>
        </p:nvSpPr>
        <p:spPr>
          <a:xfrm>
            <a:off x="6248400" y="4346448"/>
            <a:ext cx="487680" cy="243840"/>
          </a:xfrm>
          <a:prstGeom prst="rect">
            <a:avLst/>
          </a:prstGeom>
          <a:noFill/>
        </p:spPr>
        <p:txBody>
          <a:bodyPr wrap="square" anchor="t" lIns="0" rIns="0" tIns="0" bIns="0">
            <a:spAutoFit/>
          </a:bodyPr>
          <a:lstStyle/>
          <a:p>
            <a:pPr algn="l"/>
            <a:r>
              <a:rPr sz="2000" b="1" i="0">
                <a:solidFill>
                  <a:srgbClr val="EE6A2C"/>
                </a:solidFill>
                <a:latin typeface="Arial"/>
              </a:rPr>
              <a:t>04</a:t>
            </a:r>
          </a:p>
        </p:txBody>
      </p:sp>
      <p:sp>
        <p:nvSpPr>
          <p:cNvPr id="25" name="TextBox 24"/>
          <p:cNvSpPr txBox="1"/>
          <p:nvPr/>
        </p:nvSpPr>
        <p:spPr>
          <a:xfrm>
            <a:off x="6797040" y="4364736"/>
            <a:ext cx="4023360" cy="365760"/>
          </a:xfrm>
          <a:prstGeom prst="rect">
            <a:avLst/>
          </a:prstGeom>
          <a:noFill/>
        </p:spPr>
        <p:txBody>
          <a:bodyPr wrap="square" anchor="t" lIns="0" rIns="0" tIns="0" bIns="0">
            <a:spAutoFit/>
          </a:bodyPr>
          <a:lstStyle/>
          <a:p>
            <a:pPr algn="l"/>
            <a:r>
              <a:rPr sz="1400" b="1" i="0">
                <a:solidFill>
                  <a:srgbClr val="111111"/>
                </a:solidFill>
                <a:latin typeface="Arial"/>
              </a:rPr>
              <a:t>Des réservations en hausse</a:t>
            </a:r>
          </a:p>
        </p:txBody>
      </p:sp>
      <p:sp>
        <p:nvSpPr>
          <p:cNvPr id="26" name="TextBox 25"/>
          <p:cNvSpPr txBox="1"/>
          <p:nvPr/>
        </p:nvSpPr>
        <p:spPr>
          <a:xfrm>
            <a:off x="6248400" y="4925568"/>
            <a:ext cx="4572000" cy="731520"/>
          </a:xfrm>
          <a:prstGeom prst="rect">
            <a:avLst/>
          </a:prstGeom>
          <a:noFill/>
        </p:spPr>
        <p:txBody>
          <a:bodyPr wrap="square" anchor="t" lIns="0" rIns="0" tIns="0" bIns="0">
            <a:spAutoFit/>
          </a:bodyPr>
          <a:lstStyle/>
          <a:p>
            <a:pPr algn="l"/>
            <a:r>
              <a:rPr sz="1100" b="0" i="0">
                <a:solidFill>
                  <a:srgbClr val="555B66"/>
                </a:solidFill>
                <a:latin typeface="Arial"/>
              </a:rPr>
              <a:t>4 réservations pour 1 119 € de GMV. Le ROAS passe de 0,82 à 1,30.</a:t>
            </a:r>
          </a:p>
        </p:txBody>
      </p:sp>
      <p:sp>
        <p:nvSpPr>
          <p:cNvPr id="27" name="TextBox 26"/>
          <p:cNvSpPr txBox="1"/>
          <p:nvPr/>
        </p:nvSpPr>
        <p:spPr>
          <a:xfrm>
            <a:off x="6248400" y="5626608"/>
            <a:ext cx="4572000" cy="487680"/>
          </a:xfrm>
          <a:prstGeom prst="rect">
            <a:avLst/>
          </a:prstGeom>
          <a:noFill/>
        </p:spPr>
        <p:txBody>
          <a:bodyPr wrap="square" anchor="t" lIns="0" rIns="0" tIns="0" bIns="0">
            <a:spAutoFit/>
          </a:bodyPr>
          <a:lstStyle/>
          <a:p>
            <a:pPr algn="l"/>
            <a:r>
              <a:rPr sz="900" b="1" i="0">
                <a:solidFill>
                  <a:srgbClr val="555B66"/>
                </a:solidFill>
                <a:latin typeface="Arial"/>
              </a:rPr>
              <a:t>→  Concentrer le budget sur les offres qui convertissent.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6F2"/>
          </a:solidFill>
          <a:ln>
            <a:noFill/>
          </a:ln>
          <a:effectLst/>
        </p:spPr>
        <p:txBody>
          <a:bodyPr rtlCol="0" anchor="ctr"/>
          <a:lstStyle/>
          <a:p>
            <a:pPr algn="ctr"/>
          </a:p>
        </p:txBody>
      </p:sp>
      <p:sp>
        <p:nvSpPr>
          <p:cNvPr id="3" name="TextBox 2"/>
          <p:cNvSpPr txBox="1"/>
          <p:nvPr/>
        </p:nvSpPr>
        <p:spPr>
          <a:xfrm>
            <a:off x="530352" y="487680"/>
            <a:ext cx="7315200" cy="182880"/>
          </a:xfrm>
          <a:prstGeom prst="rect">
            <a:avLst/>
          </a:prstGeom>
          <a:noFill/>
        </p:spPr>
        <p:txBody>
          <a:bodyPr wrap="square" anchor="t" lIns="0" rIns="0" tIns="0" bIns="0">
            <a:spAutoFit/>
          </a:bodyPr>
          <a:lstStyle/>
          <a:p>
            <a:pPr algn="l"/>
            <a:r>
              <a:rPr sz="1300" b="1" i="0">
                <a:solidFill>
                  <a:srgbClr val="EE6A2C"/>
                </a:solidFill>
                <a:latin typeface="Arial"/>
              </a:rPr>
              <a:t>RAPPORT DE PERFORMANCE · 01/09/2026 → 30/09/2026</a:t>
            </a:r>
          </a:p>
        </p:txBody>
      </p:sp>
      <p:sp>
        <p:nvSpPr>
          <p:cNvPr id="4" name="TextBox 3"/>
          <p:cNvSpPr txBox="1"/>
          <p:nvPr/>
        </p:nvSpPr>
        <p:spPr>
          <a:xfrm>
            <a:off x="530352" y="640080"/>
            <a:ext cx="7315200" cy="487680"/>
          </a:xfrm>
          <a:prstGeom prst="rect">
            <a:avLst/>
          </a:prstGeom>
          <a:noFill/>
        </p:spPr>
        <p:txBody>
          <a:bodyPr wrap="square" anchor="t" lIns="0" rIns="0" tIns="0" bIns="0">
            <a:spAutoFit/>
          </a:bodyPr>
          <a:lstStyle/>
          <a:p>
            <a:pPr algn="l"/>
            <a:r>
              <a:rPr sz="3600" b="1" i="0">
                <a:solidFill>
                  <a:srgbClr val="111111"/>
                </a:solidFill>
                <a:latin typeface="Arial"/>
              </a:rPr>
              <a:t>Cdiscount Voyages – Vols</a:t>
            </a:r>
          </a:p>
        </p:txBody>
      </p:sp>
      <p:sp>
        <p:nvSpPr>
          <p:cNvPr id="5" name="TextBox 4"/>
          <p:cNvSpPr txBox="1"/>
          <p:nvPr/>
        </p:nvSpPr>
        <p:spPr>
          <a:xfrm>
            <a:off x="7924800" y="591312"/>
            <a:ext cx="3304032" cy="152400"/>
          </a:xfrm>
          <a:prstGeom prst="rect">
            <a:avLst/>
          </a:prstGeom>
          <a:noFill/>
        </p:spPr>
        <p:txBody>
          <a:bodyPr wrap="square" anchor="t" lIns="0" rIns="0" tIns="0" bIns="0">
            <a:spAutoFit/>
          </a:bodyPr>
          <a:lstStyle/>
          <a:p>
            <a:pPr algn="r"/>
            <a:r>
              <a:rPr sz="1200" b="1" i="0">
                <a:solidFill>
                  <a:srgbClr val="8A93A6"/>
                </a:solidFill>
                <a:latin typeface="Arial"/>
              </a:rPr>
              <a:t>COMPARAISON</a:t>
            </a:r>
          </a:p>
        </p:txBody>
      </p:sp>
      <p:sp>
        <p:nvSpPr>
          <p:cNvPr id="6" name="TextBox 5"/>
          <p:cNvSpPr txBox="1"/>
          <p:nvPr/>
        </p:nvSpPr>
        <p:spPr>
          <a:xfrm>
            <a:off x="7924800" y="780288"/>
            <a:ext cx="3304032" cy="182880"/>
          </a:xfrm>
          <a:prstGeom prst="rect">
            <a:avLst/>
          </a:prstGeom>
          <a:noFill/>
        </p:spPr>
        <p:txBody>
          <a:bodyPr wrap="square" anchor="t" lIns="0" rIns="0" tIns="0" bIns="0">
            <a:spAutoFit/>
          </a:bodyPr>
          <a:lstStyle/>
          <a:p>
            <a:pPr algn="r"/>
            <a:r>
              <a:rPr sz="1500" b="1" i="0">
                <a:solidFill>
                  <a:srgbClr val="111111"/>
                </a:solidFill>
                <a:latin typeface="Arial"/>
              </a:rPr>
              <a:t>vs 01/08/2026 → 31/08/2026</a:t>
            </a:r>
          </a:p>
        </p:txBody>
      </p:sp>
      <p:sp>
        <p:nvSpPr>
          <p:cNvPr id="7" name="TextBox 6"/>
          <p:cNvSpPr txBox="1"/>
          <p:nvPr/>
        </p:nvSpPr>
        <p:spPr>
          <a:xfrm>
            <a:off x="530352" y="1280160"/>
            <a:ext cx="2438400" cy="182880"/>
          </a:xfrm>
          <a:prstGeom prst="rect">
            <a:avLst/>
          </a:prstGeom>
          <a:noFill/>
        </p:spPr>
        <p:txBody>
          <a:bodyPr wrap="square" anchor="t" lIns="0" rIns="0" tIns="0" bIns="0">
            <a:spAutoFit/>
          </a:bodyPr>
          <a:lstStyle/>
          <a:p>
            <a:pPr algn="l"/>
            <a:r>
              <a:rPr sz="1400" b="1" i="0">
                <a:solidFill>
                  <a:srgbClr val="EE6A2C"/>
                </a:solidFill>
                <a:latin typeface="Arial"/>
              </a:rPr>
              <a:t>DIFFUSION</a:t>
            </a:r>
          </a:p>
        </p:txBody>
      </p:sp>
      <p:sp>
        <p:nvSpPr>
          <p:cNvPr id="8" name="TextBox 7"/>
          <p:cNvSpPr txBox="1"/>
          <p:nvPr/>
        </p:nvSpPr>
        <p:spPr>
          <a:xfrm>
            <a:off x="2389632" y="1280160"/>
            <a:ext cx="2438400" cy="182880"/>
          </a:xfrm>
          <a:prstGeom prst="rect">
            <a:avLst/>
          </a:prstGeom>
          <a:noFill/>
        </p:spPr>
        <p:txBody>
          <a:bodyPr wrap="square" anchor="t" lIns="0" rIns="0" tIns="0" bIns="0">
            <a:spAutoFit/>
          </a:bodyPr>
          <a:lstStyle/>
          <a:p>
            <a:pPr algn="l"/>
            <a:r>
              <a:rPr sz="1400" b="1" i="0">
                <a:solidFill>
                  <a:srgbClr val="EE6A2C"/>
                </a:solidFill>
                <a:latin typeface="Arial"/>
              </a:rPr>
              <a:t>ENGAGEMENT</a:t>
            </a:r>
          </a:p>
        </p:txBody>
      </p:sp>
      <p:sp>
        <p:nvSpPr>
          <p:cNvPr id="9" name="TextBox 8"/>
          <p:cNvSpPr txBox="1"/>
          <p:nvPr/>
        </p:nvSpPr>
        <p:spPr>
          <a:xfrm>
            <a:off x="6108192" y="1280160"/>
            <a:ext cx="2438400" cy="182880"/>
          </a:xfrm>
          <a:prstGeom prst="rect">
            <a:avLst/>
          </a:prstGeom>
          <a:noFill/>
        </p:spPr>
        <p:txBody>
          <a:bodyPr wrap="square" anchor="t" lIns="0" rIns="0" tIns="0" bIns="0">
            <a:spAutoFit/>
          </a:bodyPr>
          <a:lstStyle/>
          <a:p>
            <a:pPr algn="l"/>
            <a:r>
              <a:rPr sz="1400" b="1" i="0">
                <a:solidFill>
                  <a:srgbClr val="EE6A2C"/>
                </a:solidFill>
                <a:latin typeface="Arial"/>
              </a:rPr>
              <a:t>CONVERSION</a:t>
            </a:r>
          </a:p>
        </p:txBody>
      </p:sp>
      <p:sp>
        <p:nvSpPr>
          <p:cNvPr id="10" name="Rectangle 9"/>
          <p:cNvSpPr/>
          <p:nvPr/>
        </p:nvSpPr>
        <p:spPr>
          <a:xfrm>
            <a:off x="530352" y="1536192"/>
            <a:ext cx="1389888" cy="1127760"/>
          </a:xfrm>
          <a:prstGeom prst="rect">
            <a:avLst/>
          </a:prstGeom>
          <a:solidFill>
            <a:srgbClr val="FFFFFF"/>
          </a:solidFill>
          <a:ln>
            <a:noFill/>
          </a:ln>
          <a:effectLst/>
        </p:spPr>
        <p:txBody>
          <a:bodyPr rtlCol="0" anchor="ctr"/>
          <a:lstStyle/>
          <a:p>
            <a:pPr algn="ctr"/>
          </a:p>
        </p:txBody>
      </p:sp>
      <p:sp>
        <p:nvSpPr>
          <p:cNvPr id="11" name="Rectangle 10"/>
          <p:cNvSpPr/>
          <p:nvPr/>
        </p:nvSpPr>
        <p:spPr>
          <a:xfrm>
            <a:off x="530352" y="1536192"/>
            <a:ext cx="24384" cy="1127760"/>
          </a:xfrm>
          <a:prstGeom prst="rect">
            <a:avLst/>
          </a:prstGeom>
          <a:solidFill>
            <a:srgbClr val="EE6A2C"/>
          </a:solidFill>
          <a:ln>
            <a:noFill/>
          </a:ln>
          <a:effectLst/>
        </p:spPr>
        <p:txBody>
          <a:bodyPr rtlCol="0" anchor="ctr"/>
          <a:lstStyle/>
          <a:p>
            <a:pPr algn="ctr"/>
          </a:p>
        </p:txBody>
      </p:sp>
      <p:sp>
        <p:nvSpPr>
          <p:cNvPr id="12" name="TextBox 11"/>
          <p:cNvSpPr txBox="1"/>
          <p:nvPr/>
        </p:nvSpPr>
        <p:spPr>
          <a:xfrm>
            <a:off x="664464" y="1615440"/>
            <a:ext cx="1219200" cy="121920"/>
          </a:xfrm>
          <a:prstGeom prst="rect">
            <a:avLst/>
          </a:prstGeom>
          <a:noFill/>
        </p:spPr>
        <p:txBody>
          <a:bodyPr wrap="square" anchor="t" lIns="0" rIns="0" tIns="0" bIns="0">
            <a:spAutoFit/>
          </a:bodyPr>
          <a:lstStyle/>
          <a:p>
            <a:pPr algn="l"/>
            <a:r>
              <a:rPr sz="1000" b="1" i="0">
                <a:solidFill>
                  <a:srgbClr val="555B66"/>
                </a:solidFill>
                <a:latin typeface="Arial"/>
              </a:rPr>
              <a:t>IMPRESSIONS</a:t>
            </a:r>
          </a:p>
        </p:txBody>
      </p:sp>
      <p:sp>
        <p:nvSpPr>
          <p:cNvPr id="13" name="TextBox 12"/>
          <p:cNvSpPr txBox="1"/>
          <p:nvPr/>
        </p:nvSpPr>
        <p:spPr>
          <a:xfrm>
            <a:off x="664464" y="1889760"/>
            <a:ext cx="1219200" cy="274320"/>
          </a:xfrm>
          <a:prstGeom prst="rect">
            <a:avLst/>
          </a:prstGeom>
          <a:noFill/>
        </p:spPr>
        <p:txBody>
          <a:bodyPr wrap="square" anchor="t" lIns="0" rIns="0" tIns="0" bIns="0">
            <a:spAutoFit/>
          </a:bodyPr>
          <a:lstStyle/>
          <a:p>
            <a:pPr algn="l"/>
            <a:r>
              <a:rPr sz="1800" b="1" i="0">
                <a:solidFill>
                  <a:srgbClr val="111111"/>
                </a:solidFill>
                <a:latin typeface="Arial"/>
              </a:rPr>
              <a:t>1 855 410</a:t>
            </a:r>
          </a:p>
        </p:txBody>
      </p:sp>
      <p:sp>
        <p:nvSpPr>
          <p:cNvPr id="14" name="TextBox 13"/>
          <p:cNvSpPr txBox="1"/>
          <p:nvPr/>
        </p:nvSpPr>
        <p:spPr>
          <a:xfrm>
            <a:off x="664464" y="2243328"/>
            <a:ext cx="1219200" cy="109728"/>
          </a:xfrm>
          <a:prstGeom prst="rect">
            <a:avLst/>
          </a:prstGeom>
          <a:noFill/>
        </p:spPr>
        <p:txBody>
          <a:bodyPr wrap="square" anchor="t" lIns="0" rIns="0" tIns="0" bIns="0">
            <a:spAutoFit/>
          </a:bodyPr>
          <a:lstStyle/>
          <a:p>
            <a:pPr algn="l"/>
            <a:r>
              <a:rPr sz="1000" b="1" i="0">
                <a:solidFill>
                  <a:srgbClr val="1E7B34"/>
                </a:solidFill>
                <a:latin typeface="Arial"/>
              </a:rPr>
              <a:t>▲ +92 %</a:t>
            </a:r>
          </a:p>
        </p:txBody>
      </p:sp>
      <p:sp>
        <p:nvSpPr>
          <p:cNvPr id="15" name="TextBox 14"/>
          <p:cNvSpPr txBox="1"/>
          <p:nvPr/>
        </p:nvSpPr>
        <p:spPr>
          <a:xfrm>
            <a:off x="664464" y="2499360"/>
            <a:ext cx="1219200" cy="91440"/>
          </a:xfrm>
          <a:prstGeom prst="rect">
            <a:avLst/>
          </a:prstGeom>
          <a:noFill/>
        </p:spPr>
        <p:txBody>
          <a:bodyPr wrap="square" anchor="t" lIns="0" rIns="0" tIns="0" bIns="0">
            <a:spAutoFit/>
          </a:bodyPr>
          <a:lstStyle/>
          <a:p>
            <a:pPr algn="l"/>
            <a:r>
              <a:rPr sz="800" b="0" i="1">
                <a:solidFill>
                  <a:srgbClr val="555B66"/>
                </a:solidFill>
                <a:latin typeface="Arial"/>
              </a:rPr>
              <a:t>YTD 10 029 893</a:t>
            </a:r>
          </a:p>
        </p:txBody>
      </p:sp>
      <p:sp>
        <p:nvSpPr>
          <p:cNvPr id="16" name="Rectangle 15"/>
          <p:cNvSpPr/>
          <p:nvPr/>
        </p:nvSpPr>
        <p:spPr>
          <a:xfrm>
            <a:off x="2389632" y="1536192"/>
            <a:ext cx="1389888" cy="1127760"/>
          </a:xfrm>
          <a:prstGeom prst="rect">
            <a:avLst/>
          </a:prstGeom>
          <a:solidFill>
            <a:srgbClr val="FFFFFF"/>
          </a:solidFill>
          <a:ln>
            <a:noFill/>
          </a:ln>
          <a:effectLst/>
        </p:spPr>
        <p:txBody>
          <a:bodyPr rtlCol="0" anchor="ctr"/>
          <a:lstStyle/>
          <a:p>
            <a:pPr algn="ctr"/>
          </a:p>
        </p:txBody>
      </p:sp>
      <p:sp>
        <p:nvSpPr>
          <p:cNvPr id="17" name="Rectangle 16"/>
          <p:cNvSpPr/>
          <p:nvPr/>
        </p:nvSpPr>
        <p:spPr>
          <a:xfrm>
            <a:off x="2389632" y="1536192"/>
            <a:ext cx="24384" cy="1127760"/>
          </a:xfrm>
          <a:prstGeom prst="rect">
            <a:avLst/>
          </a:prstGeom>
          <a:solidFill>
            <a:srgbClr val="EE6A2C"/>
          </a:solidFill>
          <a:ln>
            <a:noFill/>
          </a:ln>
          <a:effectLst/>
        </p:spPr>
        <p:txBody>
          <a:bodyPr rtlCol="0" anchor="ctr"/>
          <a:lstStyle/>
          <a:p>
            <a:pPr algn="ctr"/>
          </a:p>
        </p:txBody>
      </p:sp>
      <p:sp>
        <p:nvSpPr>
          <p:cNvPr id="18" name="TextBox 17"/>
          <p:cNvSpPr txBox="1"/>
          <p:nvPr/>
        </p:nvSpPr>
        <p:spPr>
          <a:xfrm>
            <a:off x="2523744" y="1615440"/>
            <a:ext cx="1219200" cy="121920"/>
          </a:xfrm>
          <a:prstGeom prst="rect">
            <a:avLst/>
          </a:prstGeom>
          <a:noFill/>
        </p:spPr>
        <p:txBody>
          <a:bodyPr wrap="square" anchor="t" lIns="0" rIns="0" tIns="0" bIns="0">
            <a:spAutoFit/>
          </a:bodyPr>
          <a:lstStyle/>
          <a:p>
            <a:pPr algn="l"/>
            <a:r>
              <a:rPr sz="1000" b="1" i="0">
                <a:solidFill>
                  <a:srgbClr val="555B66"/>
                </a:solidFill>
                <a:latin typeface="Arial"/>
              </a:rPr>
              <a:t>CLICS</a:t>
            </a:r>
          </a:p>
        </p:txBody>
      </p:sp>
      <p:sp>
        <p:nvSpPr>
          <p:cNvPr id="19" name="TextBox 18"/>
          <p:cNvSpPr txBox="1"/>
          <p:nvPr/>
        </p:nvSpPr>
        <p:spPr>
          <a:xfrm>
            <a:off x="2523744" y="1889760"/>
            <a:ext cx="1219200" cy="274320"/>
          </a:xfrm>
          <a:prstGeom prst="rect">
            <a:avLst/>
          </a:prstGeom>
          <a:noFill/>
        </p:spPr>
        <p:txBody>
          <a:bodyPr wrap="square" anchor="t" lIns="0" rIns="0" tIns="0" bIns="0">
            <a:spAutoFit/>
          </a:bodyPr>
          <a:lstStyle/>
          <a:p>
            <a:pPr algn="l"/>
            <a:r>
              <a:rPr sz="2200" b="1" i="0">
                <a:solidFill>
                  <a:srgbClr val="111111"/>
                </a:solidFill>
                <a:latin typeface="Arial"/>
              </a:rPr>
              <a:t>9 406</a:t>
            </a:r>
          </a:p>
        </p:txBody>
      </p:sp>
      <p:sp>
        <p:nvSpPr>
          <p:cNvPr id="20" name="TextBox 19"/>
          <p:cNvSpPr txBox="1"/>
          <p:nvPr/>
        </p:nvSpPr>
        <p:spPr>
          <a:xfrm>
            <a:off x="2523744" y="2243328"/>
            <a:ext cx="1219200" cy="109728"/>
          </a:xfrm>
          <a:prstGeom prst="rect">
            <a:avLst/>
          </a:prstGeom>
          <a:noFill/>
        </p:spPr>
        <p:txBody>
          <a:bodyPr wrap="square" anchor="t" lIns="0" rIns="0" tIns="0" bIns="0">
            <a:spAutoFit/>
          </a:bodyPr>
          <a:lstStyle/>
          <a:p>
            <a:pPr algn="l"/>
            <a:r>
              <a:rPr sz="1000" b="1" i="0">
                <a:solidFill>
                  <a:srgbClr val="1E7B34"/>
                </a:solidFill>
                <a:latin typeface="Arial"/>
              </a:rPr>
              <a:t>▲ +455 %</a:t>
            </a:r>
          </a:p>
        </p:txBody>
      </p:sp>
      <p:sp>
        <p:nvSpPr>
          <p:cNvPr id="21" name="TextBox 20"/>
          <p:cNvSpPr txBox="1"/>
          <p:nvPr/>
        </p:nvSpPr>
        <p:spPr>
          <a:xfrm>
            <a:off x="2523744" y="2499360"/>
            <a:ext cx="1219200" cy="91440"/>
          </a:xfrm>
          <a:prstGeom prst="rect">
            <a:avLst/>
          </a:prstGeom>
          <a:noFill/>
        </p:spPr>
        <p:txBody>
          <a:bodyPr wrap="square" anchor="t" lIns="0" rIns="0" tIns="0" bIns="0">
            <a:spAutoFit/>
          </a:bodyPr>
          <a:lstStyle/>
          <a:p>
            <a:pPr algn="l"/>
            <a:r>
              <a:rPr sz="800" b="0" i="1">
                <a:solidFill>
                  <a:srgbClr val="555B66"/>
                </a:solidFill>
                <a:latin typeface="Arial"/>
              </a:rPr>
              <a:t>YTD 21 694</a:t>
            </a:r>
          </a:p>
        </p:txBody>
      </p:sp>
      <p:sp>
        <p:nvSpPr>
          <p:cNvPr id="22" name="Rectangle 21"/>
          <p:cNvSpPr/>
          <p:nvPr/>
        </p:nvSpPr>
        <p:spPr>
          <a:xfrm>
            <a:off x="4248912" y="1536192"/>
            <a:ext cx="1389888" cy="1127760"/>
          </a:xfrm>
          <a:prstGeom prst="rect">
            <a:avLst/>
          </a:prstGeom>
          <a:solidFill>
            <a:srgbClr val="FFFFFF"/>
          </a:solidFill>
          <a:ln>
            <a:noFill/>
          </a:ln>
          <a:effectLst/>
        </p:spPr>
        <p:txBody>
          <a:bodyPr rtlCol="0" anchor="ctr"/>
          <a:lstStyle/>
          <a:p>
            <a:pPr algn="ctr"/>
          </a:p>
        </p:txBody>
      </p:sp>
      <p:sp>
        <p:nvSpPr>
          <p:cNvPr id="23" name="Rectangle 22"/>
          <p:cNvSpPr/>
          <p:nvPr/>
        </p:nvSpPr>
        <p:spPr>
          <a:xfrm>
            <a:off x="4248912" y="1536192"/>
            <a:ext cx="24384" cy="1127760"/>
          </a:xfrm>
          <a:prstGeom prst="rect">
            <a:avLst/>
          </a:prstGeom>
          <a:solidFill>
            <a:srgbClr val="EE6A2C"/>
          </a:solidFill>
          <a:ln>
            <a:noFill/>
          </a:ln>
          <a:effectLst/>
        </p:spPr>
        <p:txBody>
          <a:bodyPr rtlCol="0" anchor="ctr"/>
          <a:lstStyle/>
          <a:p>
            <a:pPr algn="ctr"/>
          </a:p>
        </p:txBody>
      </p:sp>
      <p:sp>
        <p:nvSpPr>
          <p:cNvPr id="24" name="TextBox 23"/>
          <p:cNvSpPr txBox="1"/>
          <p:nvPr/>
        </p:nvSpPr>
        <p:spPr>
          <a:xfrm>
            <a:off x="4383024" y="1615440"/>
            <a:ext cx="1219200" cy="121920"/>
          </a:xfrm>
          <a:prstGeom prst="rect">
            <a:avLst/>
          </a:prstGeom>
          <a:noFill/>
        </p:spPr>
        <p:txBody>
          <a:bodyPr wrap="square" anchor="t" lIns="0" rIns="0" tIns="0" bIns="0">
            <a:spAutoFit/>
          </a:bodyPr>
          <a:lstStyle/>
          <a:p>
            <a:pPr algn="l"/>
            <a:r>
              <a:rPr sz="1000" b="1" i="0">
                <a:solidFill>
                  <a:srgbClr val="555B66"/>
                </a:solidFill>
                <a:latin typeface="Arial"/>
              </a:rPr>
              <a:t>CTR</a:t>
            </a:r>
          </a:p>
        </p:txBody>
      </p:sp>
      <p:sp>
        <p:nvSpPr>
          <p:cNvPr id="25" name="TextBox 24"/>
          <p:cNvSpPr txBox="1"/>
          <p:nvPr/>
        </p:nvSpPr>
        <p:spPr>
          <a:xfrm>
            <a:off x="4383024" y="1889760"/>
            <a:ext cx="1219200" cy="274320"/>
          </a:xfrm>
          <a:prstGeom prst="rect">
            <a:avLst/>
          </a:prstGeom>
          <a:noFill/>
        </p:spPr>
        <p:txBody>
          <a:bodyPr wrap="square" anchor="t" lIns="0" rIns="0" tIns="0" bIns="0">
            <a:spAutoFit/>
          </a:bodyPr>
          <a:lstStyle/>
          <a:p>
            <a:pPr algn="l"/>
            <a:r>
              <a:rPr sz="2200" b="1" i="0">
                <a:solidFill>
                  <a:srgbClr val="111111"/>
                </a:solidFill>
                <a:latin typeface="Arial"/>
              </a:rPr>
              <a:t>0,51 %</a:t>
            </a:r>
          </a:p>
        </p:txBody>
      </p:sp>
      <p:sp>
        <p:nvSpPr>
          <p:cNvPr id="26" name="TextBox 25"/>
          <p:cNvSpPr txBox="1"/>
          <p:nvPr/>
        </p:nvSpPr>
        <p:spPr>
          <a:xfrm>
            <a:off x="4383024" y="2243328"/>
            <a:ext cx="1219200" cy="109728"/>
          </a:xfrm>
          <a:prstGeom prst="rect">
            <a:avLst/>
          </a:prstGeom>
          <a:noFill/>
        </p:spPr>
        <p:txBody>
          <a:bodyPr wrap="square" anchor="t" lIns="0" rIns="0" tIns="0" bIns="0">
            <a:spAutoFit/>
          </a:bodyPr>
          <a:lstStyle/>
          <a:p>
            <a:pPr algn="l"/>
            <a:r>
              <a:rPr sz="1000" b="1" i="0">
                <a:solidFill>
                  <a:srgbClr val="1E7B34"/>
                </a:solidFill>
                <a:latin typeface="Arial"/>
              </a:rPr>
              <a:t>▲ +0,33 pt</a:t>
            </a:r>
          </a:p>
        </p:txBody>
      </p:sp>
      <p:sp>
        <p:nvSpPr>
          <p:cNvPr id="27" name="TextBox 26"/>
          <p:cNvSpPr txBox="1"/>
          <p:nvPr/>
        </p:nvSpPr>
        <p:spPr>
          <a:xfrm>
            <a:off x="4383024" y="2499360"/>
            <a:ext cx="1219200" cy="91440"/>
          </a:xfrm>
          <a:prstGeom prst="rect">
            <a:avLst/>
          </a:prstGeom>
          <a:noFill/>
        </p:spPr>
        <p:txBody>
          <a:bodyPr wrap="square" anchor="t" lIns="0" rIns="0" tIns="0" bIns="0">
            <a:spAutoFit/>
          </a:bodyPr>
          <a:lstStyle/>
          <a:p>
            <a:pPr algn="l"/>
            <a:r>
              <a:rPr sz="800" b="0" i="1">
                <a:solidFill>
                  <a:srgbClr val="555B66"/>
                </a:solidFill>
                <a:latin typeface="Arial"/>
              </a:rPr>
              <a:t>YTD 0,22 %</a:t>
            </a:r>
          </a:p>
        </p:txBody>
      </p:sp>
      <p:sp>
        <p:nvSpPr>
          <p:cNvPr id="28" name="Rectangle 27"/>
          <p:cNvSpPr/>
          <p:nvPr/>
        </p:nvSpPr>
        <p:spPr>
          <a:xfrm>
            <a:off x="6108192" y="1536192"/>
            <a:ext cx="1389888" cy="1127760"/>
          </a:xfrm>
          <a:prstGeom prst="rect">
            <a:avLst/>
          </a:prstGeom>
          <a:solidFill>
            <a:srgbClr val="F1EFEB"/>
          </a:solidFill>
          <a:ln>
            <a:noFill/>
          </a:ln>
          <a:effectLst/>
        </p:spPr>
        <p:txBody>
          <a:bodyPr rtlCol="0" anchor="ctr"/>
          <a:lstStyle/>
          <a:p>
            <a:pPr algn="ctr"/>
          </a:p>
        </p:txBody>
      </p:sp>
      <p:sp>
        <p:nvSpPr>
          <p:cNvPr id="29" name="Rounded Rectangle 28"/>
          <p:cNvSpPr/>
          <p:nvPr/>
        </p:nvSpPr>
        <p:spPr>
          <a:xfrm>
            <a:off x="6827520" y="1450848"/>
            <a:ext cx="609600" cy="170688"/>
          </a:xfrm>
          <a:prstGeom prst="roundRect">
            <a:avLst>
              <a:gd name="adj" fmla="val 50000"/>
            </a:avLst>
          </a:prstGeom>
          <a:solidFill>
            <a:srgbClr val="D9D6D1"/>
          </a:solidFill>
          <a:ln>
            <a:noFill/>
          </a:ln>
          <a:effectLst/>
        </p:spPr>
        <p:txBody>
          <a:bodyPr rtlCol="0" anchor="ctr"/>
          <a:lstStyle/>
          <a:p>
            <a:pPr algn="ctr"/>
          </a:p>
        </p:txBody>
      </p:sp>
      <p:sp>
        <p:nvSpPr>
          <p:cNvPr id="30" name="TextBox 29"/>
          <p:cNvSpPr txBox="1"/>
          <p:nvPr/>
        </p:nvSpPr>
        <p:spPr>
          <a:xfrm>
            <a:off x="6827520" y="1450848"/>
            <a:ext cx="609600" cy="170688"/>
          </a:xfrm>
          <a:prstGeom prst="rect">
            <a:avLst/>
          </a:prstGeom>
          <a:noFill/>
        </p:spPr>
        <p:txBody>
          <a:bodyPr wrap="square" anchor="ctr" lIns="0" rIns="0" tIns="0" bIns="0">
            <a:spAutoFit/>
          </a:bodyPr>
          <a:lstStyle/>
          <a:p>
            <a:pPr algn="ctr"/>
            <a:r>
              <a:rPr sz="800" b="1" i="0">
                <a:solidFill>
                  <a:srgbClr val="555B66"/>
                </a:solidFill>
                <a:latin typeface="Arial"/>
              </a:rPr>
              <a:t>INDICATIF</a:t>
            </a:r>
          </a:p>
        </p:txBody>
      </p:sp>
      <p:sp>
        <p:nvSpPr>
          <p:cNvPr id="31" name="TextBox 30"/>
          <p:cNvSpPr txBox="1"/>
          <p:nvPr/>
        </p:nvSpPr>
        <p:spPr>
          <a:xfrm>
            <a:off x="6242304" y="1706880"/>
            <a:ext cx="1219200" cy="121920"/>
          </a:xfrm>
          <a:prstGeom prst="rect">
            <a:avLst/>
          </a:prstGeom>
          <a:noFill/>
        </p:spPr>
        <p:txBody>
          <a:bodyPr wrap="square" anchor="t" lIns="0" rIns="0" tIns="0" bIns="0">
            <a:spAutoFit/>
          </a:bodyPr>
          <a:lstStyle/>
          <a:p>
            <a:pPr algn="l"/>
            <a:r>
              <a:rPr sz="1000" b="1" i="0">
                <a:solidFill>
                  <a:srgbClr val="8A93A6"/>
                </a:solidFill>
                <a:latin typeface="Arial"/>
              </a:rPr>
              <a:t>CONVERSIONS</a:t>
            </a:r>
          </a:p>
        </p:txBody>
      </p:sp>
      <p:sp>
        <p:nvSpPr>
          <p:cNvPr id="32" name="TextBox 31"/>
          <p:cNvSpPr txBox="1"/>
          <p:nvPr/>
        </p:nvSpPr>
        <p:spPr>
          <a:xfrm>
            <a:off x="6242304" y="1889760"/>
            <a:ext cx="1219200" cy="274320"/>
          </a:xfrm>
          <a:prstGeom prst="rect">
            <a:avLst/>
          </a:prstGeom>
          <a:noFill/>
        </p:spPr>
        <p:txBody>
          <a:bodyPr wrap="square" anchor="t" lIns="0" rIns="0" tIns="0" bIns="0">
            <a:spAutoFit/>
          </a:bodyPr>
          <a:lstStyle/>
          <a:p>
            <a:pPr algn="l"/>
            <a:r>
              <a:rPr sz="2200" b="1" i="0">
                <a:solidFill>
                  <a:srgbClr val="8A93A6"/>
                </a:solidFill>
                <a:latin typeface="Arial"/>
              </a:rPr>
              <a:t>0</a:t>
            </a:r>
          </a:p>
        </p:txBody>
      </p:sp>
      <p:sp>
        <p:nvSpPr>
          <p:cNvPr id="33" name="TextBox 32"/>
          <p:cNvSpPr txBox="1"/>
          <p:nvPr/>
        </p:nvSpPr>
        <p:spPr>
          <a:xfrm>
            <a:off x="6242304" y="2243328"/>
            <a:ext cx="1219200" cy="109728"/>
          </a:xfrm>
          <a:prstGeom prst="rect">
            <a:avLst/>
          </a:prstGeom>
          <a:noFill/>
        </p:spPr>
        <p:txBody>
          <a:bodyPr wrap="square" anchor="t" lIns="0" rIns="0" tIns="0" bIns="0">
            <a:spAutoFit/>
          </a:bodyPr>
          <a:lstStyle/>
          <a:p>
            <a:pPr algn="l"/>
            <a:r>
              <a:rPr sz="1000" b="1" i="0">
                <a:solidFill>
                  <a:srgbClr val="8A93A6"/>
                </a:solidFill>
                <a:latin typeface="Arial"/>
              </a:rPr>
              <a:t>—</a:t>
            </a:r>
          </a:p>
        </p:txBody>
      </p:sp>
      <p:sp>
        <p:nvSpPr>
          <p:cNvPr id="34" name="TextBox 33"/>
          <p:cNvSpPr txBox="1"/>
          <p:nvPr/>
        </p:nvSpPr>
        <p:spPr>
          <a:xfrm>
            <a:off x="6242304" y="2499360"/>
            <a:ext cx="1219200" cy="91440"/>
          </a:xfrm>
          <a:prstGeom prst="rect">
            <a:avLst/>
          </a:prstGeom>
          <a:noFill/>
        </p:spPr>
        <p:txBody>
          <a:bodyPr wrap="square" anchor="t" lIns="0" rIns="0" tIns="0" bIns="0">
            <a:spAutoFit/>
          </a:bodyPr>
          <a:lstStyle/>
          <a:p>
            <a:pPr algn="l"/>
            <a:r>
              <a:rPr sz="800" b="0" i="1">
                <a:solidFill>
                  <a:srgbClr val="8A93A6"/>
                </a:solidFill>
                <a:latin typeface="Arial"/>
              </a:rPr>
              <a:t>YTD 0</a:t>
            </a:r>
          </a:p>
        </p:txBody>
      </p:sp>
      <p:sp>
        <p:nvSpPr>
          <p:cNvPr id="35" name="Rectangle 34"/>
          <p:cNvSpPr/>
          <p:nvPr/>
        </p:nvSpPr>
        <p:spPr>
          <a:xfrm>
            <a:off x="7967472" y="1536192"/>
            <a:ext cx="1389888" cy="1127760"/>
          </a:xfrm>
          <a:prstGeom prst="rect">
            <a:avLst/>
          </a:prstGeom>
          <a:solidFill>
            <a:srgbClr val="F1EFEB"/>
          </a:solidFill>
          <a:ln>
            <a:noFill/>
          </a:ln>
          <a:effectLst/>
        </p:spPr>
        <p:txBody>
          <a:bodyPr rtlCol="0" anchor="ctr"/>
          <a:lstStyle/>
          <a:p>
            <a:pPr algn="ctr"/>
          </a:p>
        </p:txBody>
      </p:sp>
      <p:sp>
        <p:nvSpPr>
          <p:cNvPr id="36" name="Rounded Rectangle 35"/>
          <p:cNvSpPr/>
          <p:nvPr/>
        </p:nvSpPr>
        <p:spPr>
          <a:xfrm>
            <a:off x="8686800" y="1450848"/>
            <a:ext cx="609600" cy="170688"/>
          </a:xfrm>
          <a:prstGeom prst="roundRect">
            <a:avLst>
              <a:gd name="adj" fmla="val 50000"/>
            </a:avLst>
          </a:prstGeom>
          <a:solidFill>
            <a:srgbClr val="D9D6D1"/>
          </a:solidFill>
          <a:ln>
            <a:noFill/>
          </a:ln>
          <a:effectLst/>
        </p:spPr>
        <p:txBody>
          <a:bodyPr rtlCol="0" anchor="ctr"/>
          <a:lstStyle/>
          <a:p>
            <a:pPr algn="ctr"/>
          </a:p>
        </p:txBody>
      </p:sp>
      <p:sp>
        <p:nvSpPr>
          <p:cNvPr id="37" name="TextBox 36"/>
          <p:cNvSpPr txBox="1"/>
          <p:nvPr/>
        </p:nvSpPr>
        <p:spPr>
          <a:xfrm>
            <a:off x="8686800" y="1450848"/>
            <a:ext cx="609600" cy="170688"/>
          </a:xfrm>
          <a:prstGeom prst="rect">
            <a:avLst/>
          </a:prstGeom>
          <a:noFill/>
        </p:spPr>
        <p:txBody>
          <a:bodyPr wrap="square" anchor="ctr" lIns="0" rIns="0" tIns="0" bIns="0">
            <a:spAutoFit/>
          </a:bodyPr>
          <a:lstStyle/>
          <a:p>
            <a:pPr algn="ctr"/>
            <a:r>
              <a:rPr sz="800" b="1" i="0">
                <a:solidFill>
                  <a:srgbClr val="555B66"/>
                </a:solidFill>
                <a:latin typeface="Arial"/>
              </a:rPr>
              <a:t>INDICATIF</a:t>
            </a:r>
          </a:p>
        </p:txBody>
      </p:sp>
      <p:sp>
        <p:nvSpPr>
          <p:cNvPr id="38" name="TextBox 37"/>
          <p:cNvSpPr txBox="1"/>
          <p:nvPr/>
        </p:nvSpPr>
        <p:spPr>
          <a:xfrm>
            <a:off x="8101584" y="1706880"/>
            <a:ext cx="1219200" cy="121920"/>
          </a:xfrm>
          <a:prstGeom prst="rect">
            <a:avLst/>
          </a:prstGeom>
          <a:noFill/>
        </p:spPr>
        <p:txBody>
          <a:bodyPr wrap="square" anchor="t" lIns="0" rIns="0" tIns="0" bIns="0">
            <a:spAutoFit/>
          </a:bodyPr>
          <a:lstStyle/>
          <a:p>
            <a:pPr algn="l"/>
            <a:r>
              <a:rPr sz="1000" b="1" i="0">
                <a:solidFill>
                  <a:srgbClr val="8A93A6"/>
                </a:solidFill>
                <a:latin typeface="Arial"/>
              </a:rPr>
              <a:t>CVR</a:t>
            </a:r>
          </a:p>
        </p:txBody>
      </p:sp>
      <p:sp>
        <p:nvSpPr>
          <p:cNvPr id="39" name="TextBox 38"/>
          <p:cNvSpPr txBox="1"/>
          <p:nvPr/>
        </p:nvSpPr>
        <p:spPr>
          <a:xfrm>
            <a:off x="8101584" y="1889760"/>
            <a:ext cx="1219200" cy="274320"/>
          </a:xfrm>
          <a:prstGeom prst="rect">
            <a:avLst/>
          </a:prstGeom>
          <a:noFill/>
        </p:spPr>
        <p:txBody>
          <a:bodyPr wrap="square" anchor="t" lIns="0" rIns="0" tIns="0" bIns="0">
            <a:spAutoFit/>
          </a:bodyPr>
          <a:lstStyle/>
          <a:p>
            <a:pPr algn="l"/>
            <a:r>
              <a:rPr sz="2200" b="1" i="0">
                <a:solidFill>
                  <a:srgbClr val="8A93A6"/>
                </a:solidFill>
                <a:latin typeface="Arial"/>
              </a:rPr>
              <a:t>0,00 %</a:t>
            </a:r>
          </a:p>
        </p:txBody>
      </p:sp>
      <p:sp>
        <p:nvSpPr>
          <p:cNvPr id="40" name="TextBox 39"/>
          <p:cNvSpPr txBox="1"/>
          <p:nvPr/>
        </p:nvSpPr>
        <p:spPr>
          <a:xfrm>
            <a:off x="8101584" y="2243328"/>
            <a:ext cx="1219200" cy="109728"/>
          </a:xfrm>
          <a:prstGeom prst="rect">
            <a:avLst/>
          </a:prstGeom>
          <a:noFill/>
        </p:spPr>
        <p:txBody>
          <a:bodyPr wrap="square" anchor="t" lIns="0" rIns="0" tIns="0" bIns="0">
            <a:spAutoFit/>
          </a:bodyPr>
          <a:lstStyle/>
          <a:p>
            <a:pPr algn="l"/>
            <a:r>
              <a:rPr sz="1000" b="1" i="0">
                <a:solidFill>
                  <a:srgbClr val="8A93A6"/>
                </a:solidFill>
                <a:latin typeface="Arial"/>
              </a:rPr>
              <a:t>—</a:t>
            </a:r>
          </a:p>
        </p:txBody>
      </p:sp>
      <p:sp>
        <p:nvSpPr>
          <p:cNvPr id="41" name="TextBox 40"/>
          <p:cNvSpPr txBox="1"/>
          <p:nvPr/>
        </p:nvSpPr>
        <p:spPr>
          <a:xfrm>
            <a:off x="8101584" y="2499360"/>
            <a:ext cx="1219200" cy="91440"/>
          </a:xfrm>
          <a:prstGeom prst="rect">
            <a:avLst/>
          </a:prstGeom>
          <a:noFill/>
        </p:spPr>
        <p:txBody>
          <a:bodyPr wrap="square" anchor="t" lIns="0" rIns="0" tIns="0" bIns="0">
            <a:spAutoFit/>
          </a:bodyPr>
          <a:lstStyle/>
          <a:p>
            <a:pPr algn="l"/>
            <a:r>
              <a:rPr sz="800" b="0" i="1">
                <a:solidFill>
                  <a:srgbClr val="8A93A6"/>
                </a:solidFill>
                <a:latin typeface="Arial"/>
              </a:rPr>
              <a:t>YTD 0,00 %</a:t>
            </a:r>
          </a:p>
        </p:txBody>
      </p:sp>
      <p:sp>
        <p:nvSpPr>
          <p:cNvPr id="42" name="Rectangle 41"/>
          <p:cNvSpPr/>
          <p:nvPr/>
        </p:nvSpPr>
        <p:spPr>
          <a:xfrm>
            <a:off x="9826752" y="1536192"/>
            <a:ext cx="1389888" cy="1127760"/>
          </a:xfrm>
          <a:prstGeom prst="rect">
            <a:avLst/>
          </a:prstGeom>
          <a:solidFill>
            <a:srgbClr val="F1EFEB"/>
          </a:solidFill>
          <a:ln>
            <a:noFill/>
          </a:ln>
          <a:effectLst/>
        </p:spPr>
        <p:txBody>
          <a:bodyPr rtlCol="0" anchor="ctr"/>
          <a:lstStyle/>
          <a:p>
            <a:pPr algn="ctr"/>
          </a:p>
        </p:txBody>
      </p:sp>
      <p:sp>
        <p:nvSpPr>
          <p:cNvPr id="43" name="Rounded Rectangle 42"/>
          <p:cNvSpPr/>
          <p:nvPr/>
        </p:nvSpPr>
        <p:spPr>
          <a:xfrm>
            <a:off x="10546080" y="1450848"/>
            <a:ext cx="609600" cy="170688"/>
          </a:xfrm>
          <a:prstGeom prst="roundRect">
            <a:avLst>
              <a:gd name="adj" fmla="val 50000"/>
            </a:avLst>
          </a:prstGeom>
          <a:solidFill>
            <a:srgbClr val="D9D6D1"/>
          </a:solidFill>
          <a:ln>
            <a:noFill/>
          </a:ln>
          <a:effectLst/>
        </p:spPr>
        <p:txBody>
          <a:bodyPr rtlCol="0" anchor="ctr"/>
          <a:lstStyle/>
          <a:p>
            <a:pPr algn="ctr"/>
          </a:p>
        </p:txBody>
      </p:sp>
      <p:sp>
        <p:nvSpPr>
          <p:cNvPr id="44" name="TextBox 43"/>
          <p:cNvSpPr txBox="1"/>
          <p:nvPr/>
        </p:nvSpPr>
        <p:spPr>
          <a:xfrm>
            <a:off x="10546080" y="1450848"/>
            <a:ext cx="609600" cy="170688"/>
          </a:xfrm>
          <a:prstGeom prst="rect">
            <a:avLst/>
          </a:prstGeom>
          <a:noFill/>
        </p:spPr>
        <p:txBody>
          <a:bodyPr wrap="square" anchor="ctr" lIns="0" rIns="0" tIns="0" bIns="0">
            <a:spAutoFit/>
          </a:bodyPr>
          <a:lstStyle/>
          <a:p>
            <a:pPr algn="ctr"/>
            <a:r>
              <a:rPr sz="800" b="1" i="0">
                <a:solidFill>
                  <a:srgbClr val="555B66"/>
                </a:solidFill>
                <a:latin typeface="Arial"/>
              </a:rPr>
              <a:t>INDICATIF</a:t>
            </a:r>
          </a:p>
        </p:txBody>
      </p:sp>
      <p:sp>
        <p:nvSpPr>
          <p:cNvPr id="45" name="TextBox 44"/>
          <p:cNvSpPr txBox="1"/>
          <p:nvPr/>
        </p:nvSpPr>
        <p:spPr>
          <a:xfrm>
            <a:off x="9960864" y="1706880"/>
            <a:ext cx="1219200" cy="121920"/>
          </a:xfrm>
          <a:prstGeom prst="rect">
            <a:avLst/>
          </a:prstGeom>
          <a:noFill/>
        </p:spPr>
        <p:txBody>
          <a:bodyPr wrap="square" anchor="t" lIns="0" rIns="0" tIns="0" bIns="0">
            <a:spAutoFit/>
          </a:bodyPr>
          <a:lstStyle/>
          <a:p>
            <a:pPr algn="l"/>
            <a:r>
              <a:rPr sz="1000" b="1" i="0">
                <a:solidFill>
                  <a:srgbClr val="8A93A6"/>
                </a:solidFill>
                <a:latin typeface="Arial"/>
              </a:rPr>
              <a:t>ROAS</a:t>
            </a:r>
          </a:p>
        </p:txBody>
      </p:sp>
      <p:sp>
        <p:nvSpPr>
          <p:cNvPr id="46" name="TextBox 45"/>
          <p:cNvSpPr txBox="1"/>
          <p:nvPr/>
        </p:nvSpPr>
        <p:spPr>
          <a:xfrm>
            <a:off x="9960864" y="1889760"/>
            <a:ext cx="1219200" cy="274320"/>
          </a:xfrm>
          <a:prstGeom prst="rect">
            <a:avLst/>
          </a:prstGeom>
          <a:noFill/>
        </p:spPr>
        <p:txBody>
          <a:bodyPr wrap="square" anchor="t" lIns="0" rIns="0" tIns="0" bIns="0">
            <a:spAutoFit/>
          </a:bodyPr>
          <a:lstStyle/>
          <a:p>
            <a:pPr algn="l"/>
            <a:r>
              <a:rPr sz="2200" b="1" i="0">
                <a:solidFill>
                  <a:srgbClr val="8A93A6"/>
                </a:solidFill>
                <a:latin typeface="Arial"/>
              </a:rPr>
              <a:t>0,00</a:t>
            </a:r>
          </a:p>
        </p:txBody>
      </p:sp>
      <p:sp>
        <p:nvSpPr>
          <p:cNvPr id="47" name="TextBox 46"/>
          <p:cNvSpPr txBox="1"/>
          <p:nvPr/>
        </p:nvSpPr>
        <p:spPr>
          <a:xfrm>
            <a:off x="9960864" y="2243328"/>
            <a:ext cx="1219200" cy="109728"/>
          </a:xfrm>
          <a:prstGeom prst="rect">
            <a:avLst/>
          </a:prstGeom>
          <a:noFill/>
        </p:spPr>
        <p:txBody>
          <a:bodyPr wrap="square" anchor="t" lIns="0" rIns="0" tIns="0" bIns="0">
            <a:spAutoFit/>
          </a:bodyPr>
          <a:lstStyle/>
          <a:p>
            <a:pPr algn="l"/>
            <a:r>
              <a:rPr sz="1000" b="1" i="0">
                <a:solidFill>
                  <a:srgbClr val="8A93A6"/>
                </a:solidFill>
                <a:latin typeface="Arial"/>
              </a:rPr>
              <a:t>—</a:t>
            </a:r>
          </a:p>
        </p:txBody>
      </p:sp>
      <p:sp>
        <p:nvSpPr>
          <p:cNvPr id="48" name="TextBox 47"/>
          <p:cNvSpPr txBox="1"/>
          <p:nvPr/>
        </p:nvSpPr>
        <p:spPr>
          <a:xfrm>
            <a:off x="9960864" y="2499360"/>
            <a:ext cx="1219200" cy="91440"/>
          </a:xfrm>
          <a:prstGeom prst="rect">
            <a:avLst/>
          </a:prstGeom>
          <a:noFill/>
        </p:spPr>
        <p:txBody>
          <a:bodyPr wrap="square" anchor="t" lIns="0" rIns="0" tIns="0" bIns="0">
            <a:spAutoFit/>
          </a:bodyPr>
          <a:lstStyle/>
          <a:p>
            <a:pPr algn="l"/>
            <a:r>
              <a:rPr sz="800" b="0" i="1">
                <a:solidFill>
                  <a:srgbClr val="8A93A6"/>
                </a:solidFill>
                <a:latin typeface="Arial"/>
              </a:rPr>
              <a:t>YTD 0,00</a:t>
            </a:r>
          </a:p>
        </p:txBody>
      </p:sp>
      <p:sp>
        <p:nvSpPr>
          <p:cNvPr id="49" name="Isosceles Triangle 48"/>
          <p:cNvSpPr/>
          <p:nvPr/>
        </p:nvSpPr>
        <p:spPr>
          <a:xfrm>
            <a:off x="8564880" y="2688336"/>
            <a:ext cx="182880" cy="85344"/>
          </a:xfrm>
          <a:prstGeom prst="triangle">
            <a:avLst/>
          </a:prstGeom>
          <a:solidFill>
            <a:srgbClr val="EBE9E5"/>
          </a:solidFill>
          <a:ln>
            <a:noFill/>
          </a:ln>
          <a:effectLst/>
        </p:spPr>
        <p:txBody>
          <a:bodyPr rtlCol="0" anchor="ctr"/>
          <a:lstStyle/>
          <a:p>
            <a:pPr algn="ctr"/>
          </a:p>
        </p:txBody>
      </p:sp>
      <p:sp>
        <p:nvSpPr>
          <p:cNvPr id="50" name="Rounded Rectangle 49"/>
          <p:cNvSpPr/>
          <p:nvPr/>
        </p:nvSpPr>
        <p:spPr>
          <a:xfrm>
            <a:off x="6108192" y="2773680"/>
            <a:ext cx="5108448" cy="438912"/>
          </a:xfrm>
          <a:prstGeom prst="roundRect">
            <a:avLst>
              <a:gd name="adj" fmla="val 15000"/>
            </a:avLst>
          </a:prstGeom>
          <a:solidFill>
            <a:srgbClr val="EBE9E5"/>
          </a:solidFill>
          <a:ln>
            <a:noFill/>
          </a:ln>
          <a:effectLst/>
        </p:spPr>
        <p:txBody>
          <a:bodyPr rtlCol="0" anchor="ctr"/>
          <a:lstStyle/>
          <a:p>
            <a:pPr algn="ctr"/>
          </a:p>
        </p:txBody>
      </p:sp>
      <p:sp>
        <p:nvSpPr>
          <p:cNvPr id="51" name="TextBox 50"/>
          <p:cNvSpPr txBox="1"/>
          <p:nvPr/>
        </p:nvSpPr>
        <p:spPr>
          <a:xfrm>
            <a:off x="6230112" y="2816352"/>
            <a:ext cx="4864608" cy="365760"/>
          </a:xfrm>
          <a:prstGeom prst="rect">
            <a:avLst/>
          </a:prstGeom>
          <a:noFill/>
        </p:spPr>
        <p:txBody>
          <a:bodyPr wrap="square" anchor="ctr" lIns="0" rIns="0" tIns="0" bIns="0">
            <a:spAutoFit/>
          </a:bodyPr>
          <a:lstStyle/>
          <a:p>
            <a:pPr algn="l"/>
            <a:r>
              <a:rPr sz="900" b="0" i="0">
                <a:solidFill>
                  <a:srgbClr val="555B66"/>
                </a:solidFill>
                <a:latin typeface="Arial"/>
              </a:rPr>
              <a:t>Conversions communiquées via Awin, à titre indicatif. Elles seront consolidées dès l'intégration du Conversion Tracker.</a:t>
            </a:r>
          </a:p>
        </p:txBody>
      </p:sp>
      <p:sp>
        <p:nvSpPr>
          <p:cNvPr id="52" name="TextBox 51"/>
          <p:cNvSpPr txBox="1"/>
          <p:nvPr/>
        </p:nvSpPr>
        <p:spPr>
          <a:xfrm>
            <a:off x="530352" y="3322320"/>
            <a:ext cx="7315200" cy="182880"/>
          </a:xfrm>
          <a:prstGeom prst="rect">
            <a:avLst/>
          </a:prstGeom>
          <a:noFill/>
        </p:spPr>
        <p:txBody>
          <a:bodyPr wrap="square" anchor="t" lIns="0" rIns="0" tIns="0" bIns="0">
            <a:spAutoFit/>
          </a:bodyPr>
          <a:lstStyle/>
          <a:p>
            <a:pPr algn="l"/>
            <a:r>
              <a:rPr sz="1400" b="1" i="0">
                <a:solidFill>
                  <a:srgbClr val="EE6A2C"/>
                </a:solidFill>
                <a:latin typeface="Arial"/>
              </a:rPr>
              <a:t>INSIGHTS QUALITATIFS · ANALYSE DES RECHERCHES</a:t>
            </a:r>
          </a:p>
        </p:txBody>
      </p:sp>
      <p:sp>
        <p:nvSpPr>
          <p:cNvPr id="53" name="Rectangle 52"/>
          <p:cNvSpPr/>
          <p:nvPr/>
        </p:nvSpPr>
        <p:spPr>
          <a:xfrm>
            <a:off x="530352" y="3584448"/>
            <a:ext cx="3401568" cy="2560320"/>
          </a:xfrm>
          <a:prstGeom prst="rect">
            <a:avLst/>
          </a:prstGeom>
          <a:solidFill>
            <a:srgbClr val="FFFFFF"/>
          </a:solidFill>
          <a:ln>
            <a:noFill/>
          </a:ln>
          <a:effectLst/>
        </p:spPr>
        <p:txBody>
          <a:bodyPr rtlCol="0" anchor="ctr"/>
          <a:lstStyle/>
          <a:p>
            <a:pPr algn="ctr"/>
          </a:p>
        </p:txBody>
      </p:sp>
      <p:sp>
        <p:nvSpPr>
          <p:cNvPr id="54" name="Rectangle 53"/>
          <p:cNvSpPr/>
          <p:nvPr/>
        </p:nvSpPr>
        <p:spPr>
          <a:xfrm>
            <a:off x="4194048" y="3584448"/>
            <a:ext cx="3401568" cy="2560320"/>
          </a:xfrm>
          <a:prstGeom prst="rect">
            <a:avLst/>
          </a:prstGeom>
          <a:solidFill>
            <a:srgbClr val="FFFFFF"/>
          </a:solidFill>
          <a:ln>
            <a:noFill/>
          </a:ln>
          <a:effectLst/>
        </p:spPr>
        <p:txBody>
          <a:bodyPr rtlCol="0" anchor="ctr"/>
          <a:lstStyle/>
          <a:p>
            <a:pPr algn="ctr"/>
          </a:p>
        </p:txBody>
      </p:sp>
      <p:sp>
        <p:nvSpPr>
          <p:cNvPr id="55" name="Rectangle 54"/>
          <p:cNvSpPr/>
          <p:nvPr/>
        </p:nvSpPr>
        <p:spPr>
          <a:xfrm>
            <a:off x="7857744" y="3584448"/>
            <a:ext cx="3401568" cy="2560320"/>
          </a:xfrm>
          <a:prstGeom prst="rect">
            <a:avLst/>
          </a:prstGeom>
          <a:solidFill>
            <a:srgbClr val="FFFFFF"/>
          </a:solidFill>
          <a:ln>
            <a:noFill/>
          </a:ln>
          <a:effectLst/>
        </p:spPr>
        <p:txBody>
          <a:bodyPr rtlCol="0" anchor="ctr"/>
          <a:lstStyle/>
          <a:p>
            <a:pPr algn="ctr"/>
          </a:p>
        </p:txBody>
      </p:sp>
      <p:sp>
        <p:nvSpPr>
          <p:cNvPr id="56" name="TextBox 55"/>
          <p:cNvSpPr txBox="1"/>
          <p:nvPr/>
        </p:nvSpPr>
        <p:spPr>
          <a:xfrm>
            <a:off x="774192" y="3767328"/>
            <a:ext cx="2926080" cy="152400"/>
          </a:xfrm>
          <a:prstGeom prst="rect">
            <a:avLst/>
          </a:prstGeom>
          <a:noFill/>
        </p:spPr>
        <p:txBody>
          <a:bodyPr wrap="square" anchor="t" lIns="0" rIns="0" tIns="0" bIns="0">
            <a:spAutoFit/>
          </a:bodyPr>
          <a:lstStyle/>
          <a:p>
            <a:pPr algn="l"/>
            <a:r>
              <a:rPr sz="1300" b="1" i="0">
                <a:solidFill>
                  <a:srgbClr val="555B66"/>
                </a:solidFill>
                <a:latin typeface="Arial"/>
              </a:rPr>
              <a:t>CHAMP LEXICAL</a:t>
            </a:r>
          </a:p>
        </p:txBody>
      </p:sp>
      <p:sp>
        <p:nvSpPr>
          <p:cNvPr id="57" name="TextBox 56"/>
          <p:cNvSpPr txBox="1"/>
          <p:nvPr/>
        </p:nvSpPr>
        <p:spPr>
          <a:xfrm>
            <a:off x="774192" y="3992880"/>
            <a:ext cx="2926080" cy="121920"/>
          </a:xfrm>
          <a:prstGeom prst="rect">
            <a:avLst/>
          </a:prstGeom>
          <a:noFill/>
        </p:spPr>
        <p:txBody>
          <a:bodyPr wrap="square" anchor="t" lIns="0" rIns="0" tIns="0" bIns="0">
            <a:spAutoFit/>
          </a:bodyPr>
          <a:lstStyle/>
          <a:p>
            <a:pPr algn="l"/>
            <a:r>
              <a:rPr sz="1000" b="0" i="1">
                <a:solidFill>
                  <a:srgbClr val="8A93A6"/>
                </a:solidFill>
                <a:latin typeface="Arial"/>
              </a:rPr>
              <a:t>Termes les plus fréquents</a:t>
            </a:r>
          </a:p>
        </p:txBody>
      </p:sp>
      <p:sp>
        <p:nvSpPr>
          <p:cNvPr id="58" name="TextBox 57"/>
          <p:cNvSpPr txBox="1"/>
          <p:nvPr/>
        </p:nvSpPr>
        <p:spPr>
          <a:xfrm>
            <a:off x="774192" y="4236720"/>
            <a:ext cx="2987040" cy="1828800"/>
          </a:xfrm>
          <a:prstGeom prst="rect">
            <a:avLst/>
          </a:prstGeom>
          <a:noFill/>
        </p:spPr>
        <p:txBody>
          <a:bodyPr wrap="square" anchor="t" lIns="0" rIns="0" tIns="0" bIns="0">
            <a:spAutoFit/>
          </a:bodyPr>
          <a:lstStyle/>
          <a:p>
            <a:pPr algn="l">
              <a:spcAft>
                <a:spcPts val="500"/>
              </a:spcAft>
            </a:pPr>
            <a:r>
              <a:rPr sz="2000" b="1" i="0">
                <a:solidFill>
                  <a:srgbClr val="EE6A2C"/>
                </a:solidFill>
                <a:latin typeface="Arial"/>
              </a:rPr>
              <a:t>billet d'avion</a:t>
            </a:r>
            <a:r>
              <a:rPr sz="1800" b="1" i="0">
                <a:solidFill>
                  <a:srgbClr val="111111"/>
                </a:solidFill>
                <a:latin typeface="Arial"/>
              </a:rPr>
              <a:t>   vol direct</a:t>
            </a:r>
          </a:p>
          <a:p>
            <a:pPr algn="l">
              <a:spcAft>
                <a:spcPts val="500"/>
              </a:spcAft>
            </a:pPr>
            <a:r>
              <a:rPr sz="1500" b="1" i="0">
                <a:solidFill>
                  <a:srgbClr val="111111"/>
                </a:solidFill>
                <a:latin typeface="Arial"/>
              </a:rPr>
              <a:t>Afrique</a:t>
            </a:r>
            <a:r>
              <a:rPr sz="1400" b="1" i="0">
                <a:solidFill>
                  <a:srgbClr val="111111"/>
                </a:solidFill>
                <a:latin typeface="Arial"/>
              </a:rPr>
              <a:t>   Maghreb</a:t>
            </a:r>
          </a:p>
          <a:p>
            <a:pPr algn="l">
              <a:spcAft>
                <a:spcPts val="500"/>
              </a:spcAft>
            </a:pPr>
            <a:r>
              <a:rPr sz="1300" b="1" i="0">
                <a:solidFill>
                  <a:srgbClr val="EE6A2C"/>
                </a:solidFill>
                <a:latin typeface="Arial"/>
              </a:rPr>
              <a:t>Abidjan</a:t>
            </a:r>
            <a:r>
              <a:rPr sz="1200" b="0" i="0">
                <a:solidFill>
                  <a:srgbClr val="111111"/>
                </a:solidFill>
                <a:latin typeface="Arial"/>
              </a:rPr>
              <a:t>   Thaïlande</a:t>
            </a:r>
            <a:r>
              <a:rPr sz="1200" b="1" i="0">
                <a:solidFill>
                  <a:srgbClr val="111111"/>
                </a:solidFill>
                <a:latin typeface="Arial"/>
              </a:rPr>
              <a:t>   Bali</a:t>
            </a:r>
          </a:p>
          <a:p>
            <a:pPr algn="l">
              <a:spcAft>
                <a:spcPts val="500"/>
              </a:spcAft>
            </a:pPr>
            <a:r>
              <a:rPr sz="1100" b="1" i="0">
                <a:solidFill>
                  <a:srgbClr val="EE6A2C"/>
                </a:solidFill>
                <a:latin typeface="Arial"/>
              </a:rPr>
              <a:t>Martinique</a:t>
            </a:r>
            <a:r>
              <a:rPr sz="1100" b="1" i="0">
                <a:solidFill>
                  <a:srgbClr val="111111"/>
                </a:solidFill>
                <a:latin typeface="Arial"/>
              </a:rPr>
              <a:t>   Guadeloupe</a:t>
            </a:r>
            <a:r>
              <a:rPr sz="1100" b="0" i="0">
                <a:solidFill>
                  <a:srgbClr val="111111"/>
                </a:solidFill>
                <a:latin typeface="Arial"/>
              </a:rPr>
              <a:t>   Lanzarote</a:t>
            </a:r>
          </a:p>
          <a:p>
            <a:pPr algn="l">
              <a:spcAft>
                <a:spcPts val="500"/>
              </a:spcAft>
            </a:pPr>
            <a:r>
              <a:rPr sz="1100" b="1" i="0">
                <a:solidFill>
                  <a:srgbClr val="111111"/>
                </a:solidFill>
                <a:latin typeface="Arial"/>
              </a:rPr>
              <a:t>paiement en 4 fois</a:t>
            </a:r>
            <a:r>
              <a:rPr sz="1100" b="0" i="0">
                <a:solidFill>
                  <a:srgbClr val="111111"/>
                </a:solidFill>
                <a:latin typeface="Arial"/>
              </a:rPr>
              <a:t>   prix bas</a:t>
            </a:r>
            <a:r>
              <a:rPr sz="1100" b="1" i="0">
                <a:solidFill>
                  <a:srgbClr val="EE6A2C"/>
                </a:solidFill>
                <a:latin typeface="Arial"/>
              </a:rPr>
              <a:t>   Lyon</a:t>
            </a:r>
          </a:p>
          <a:p>
            <a:pPr algn="l">
              <a:spcAft>
                <a:spcPts val="500"/>
              </a:spcAft>
            </a:pPr>
            <a:r>
              <a:rPr sz="1100" b="1" i="0">
                <a:solidFill>
                  <a:srgbClr val="111111"/>
                </a:solidFill>
                <a:latin typeface="Arial"/>
              </a:rPr>
              <a:t>Nice</a:t>
            </a:r>
            <a:r>
              <a:rPr sz="1100" b="0" i="0">
                <a:solidFill>
                  <a:srgbClr val="111111"/>
                </a:solidFill>
                <a:latin typeface="Arial"/>
              </a:rPr>
              <a:t>   Marseille</a:t>
            </a:r>
            <a:r>
              <a:rPr sz="1100" b="1" i="0">
                <a:solidFill>
                  <a:srgbClr val="EE6A2C"/>
                </a:solidFill>
                <a:latin typeface="Arial"/>
              </a:rPr>
              <a:t>   Islande</a:t>
            </a:r>
          </a:p>
        </p:txBody>
      </p:sp>
      <p:sp>
        <p:nvSpPr>
          <p:cNvPr id="59" name="TextBox 58"/>
          <p:cNvSpPr txBox="1"/>
          <p:nvPr/>
        </p:nvSpPr>
        <p:spPr>
          <a:xfrm>
            <a:off x="4437888" y="3767328"/>
            <a:ext cx="2926080" cy="152400"/>
          </a:xfrm>
          <a:prstGeom prst="rect">
            <a:avLst/>
          </a:prstGeom>
          <a:noFill/>
        </p:spPr>
        <p:txBody>
          <a:bodyPr wrap="square" anchor="t" lIns="0" rIns="0" tIns="0" bIns="0">
            <a:spAutoFit/>
          </a:bodyPr>
          <a:lstStyle/>
          <a:p>
            <a:pPr algn="l"/>
            <a:r>
              <a:rPr sz="1300" b="1" i="0">
                <a:solidFill>
                  <a:srgbClr val="555B66"/>
                </a:solidFill>
                <a:latin typeface="Arial"/>
              </a:rPr>
              <a:t>EXEMPLES DE REQUÊTES</a:t>
            </a:r>
          </a:p>
        </p:txBody>
      </p:sp>
      <p:sp>
        <p:nvSpPr>
          <p:cNvPr id="60" name="TextBox 59"/>
          <p:cNvSpPr txBox="1"/>
          <p:nvPr/>
        </p:nvSpPr>
        <p:spPr>
          <a:xfrm>
            <a:off x="4437888" y="3992880"/>
            <a:ext cx="2926080" cy="121920"/>
          </a:xfrm>
          <a:prstGeom prst="rect">
            <a:avLst/>
          </a:prstGeom>
          <a:noFill/>
        </p:spPr>
        <p:txBody>
          <a:bodyPr wrap="square" anchor="t" lIns="0" rIns="0" tIns="0" bIns="0">
            <a:spAutoFit/>
          </a:bodyPr>
          <a:lstStyle/>
          <a:p>
            <a:pPr algn="l"/>
            <a:r>
              <a:rPr sz="1000" b="0" i="1">
                <a:solidFill>
                  <a:srgbClr val="8A93A6"/>
                </a:solidFill>
                <a:latin typeface="Arial"/>
              </a:rPr>
              <a:t>Questions posées aux IA</a:t>
            </a:r>
          </a:p>
        </p:txBody>
      </p:sp>
      <p:sp>
        <p:nvSpPr>
          <p:cNvPr id="61" name="TextBox 60"/>
          <p:cNvSpPr txBox="1"/>
          <p:nvPr/>
        </p:nvSpPr>
        <p:spPr>
          <a:xfrm>
            <a:off x="4437888" y="4267200"/>
            <a:ext cx="2913888" cy="304800"/>
          </a:xfrm>
          <a:prstGeom prst="rect">
            <a:avLst/>
          </a:prstGeom>
          <a:noFill/>
        </p:spPr>
        <p:txBody>
          <a:bodyPr wrap="square" anchor="ctr" lIns="0" rIns="0" tIns="0" bIns="0">
            <a:spAutoFit/>
          </a:bodyPr>
          <a:lstStyle/>
          <a:p>
            <a:pPr algn="l"/>
            <a:r>
              <a:rPr sz="1000" b="0" i="0">
                <a:solidFill>
                  <a:srgbClr val="111111"/>
                </a:solidFill>
                <a:latin typeface="Arial"/>
              </a:rPr>
              <a:t>Quel vol direct choisir entre Paris et Lisbonne ?</a:t>
            </a:r>
          </a:p>
        </p:txBody>
      </p:sp>
      <p:sp>
        <p:nvSpPr>
          <p:cNvPr id="62" name="Rectangle 61"/>
          <p:cNvSpPr/>
          <p:nvPr/>
        </p:nvSpPr>
        <p:spPr>
          <a:xfrm>
            <a:off x="4437888" y="4602480"/>
            <a:ext cx="2913888" cy="6096"/>
          </a:xfrm>
          <a:prstGeom prst="rect">
            <a:avLst/>
          </a:prstGeom>
          <a:solidFill>
            <a:srgbClr val="E6E3DE"/>
          </a:solidFill>
          <a:ln>
            <a:noFill/>
          </a:ln>
          <a:effectLst/>
        </p:spPr>
        <p:txBody>
          <a:bodyPr rtlCol="0" anchor="ctr"/>
          <a:lstStyle/>
          <a:p>
            <a:pPr algn="ctr"/>
          </a:p>
        </p:txBody>
      </p:sp>
      <p:sp>
        <p:nvSpPr>
          <p:cNvPr id="63" name="TextBox 62"/>
          <p:cNvSpPr txBox="1"/>
          <p:nvPr/>
        </p:nvSpPr>
        <p:spPr>
          <a:xfrm>
            <a:off x="4437888" y="4632960"/>
            <a:ext cx="2913888" cy="304800"/>
          </a:xfrm>
          <a:prstGeom prst="rect">
            <a:avLst/>
          </a:prstGeom>
          <a:noFill/>
        </p:spPr>
        <p:txBody>
          <a:bodyPr wrap="square" anchor="ctr" lIns="0" rIns="0" tIns="0" bIns="0">
            <a:spAutoFit/>
          </a:bodyPr>
          <a:lstStyle/>
          <a:p>
            <a:pPr algn="l"/>
            <a:r>
              <a:rPr sz="1000" b="0" i="0">
                <a:solidFill>
                  <a:srgbClr val="111111"/>
                </a:solidFill>
                <a:latin typeface="Arial"/>
              </a:rPr>
              <a:t>Quels vols au départ de Marseille vers Abidjan ?</a:t>
            </a:r>
          </a:p>
        </p:txBody>
      </p:sp>
      <p:sp>
        <p:nvSpPr>
          <p:cNvPr id="64" name="Rectangle 63"/>
          <p:cNvSpPr/>
          <p:nvPr/>
        </p:nvSpPr>
        <p:spPr>
          <a:xfrm>
            <a:off x="4437888" y="4968240"/>
            <a:ext cx="2913888" cy="6096"/>
          </a:xfrm>
          <a:prstGeom prst="rect">
            <a:avLst/>
          </a:prstGeom>
          <a:solidFill>
            <a:srgbClr val="E6E3DE"/>
          </a:solidFill>
          <a:ln>
            <a:noFill/>
          </a:ln>
          <a:effectLst/>
        </p:spPr>
        <p:txBody>
          <a:bodyPr rtlCol="0" anchor="ctr"/>
          <a:lstStyle/>
          <a:p>
            <a:pPr algn="ctr"/>
          </a:p>
        </p:txBody>
      </p:sp>
      <p:sp>
        <p:nvSpPr>
          <p:cNvPr id="65" name="TextBox 64"/>
          <p:cNvSpPr txBox="1"/>
          <p:nvPr/>
        </p:nvSpPr>
        <p:spPr>
          <a:xfrm>
            <a:off x="4437888" y="4998720"/>
            <a:ext cx="2913888" cy="304800"/>
          </a:xfrm>
          <a:prstGeom prst="rect">
            <a:avLst/>
          </a:prstGeom>
          <a:noFill/>
        </p:spPr>
        <p:txBody>
          <a:bodyPr wrap="square" anchor="ctr" lIns="0" rIns="0" tIns="0" bIns="0">
            <a:spAutoFit/>
          </a:bodyPr>
          <a:lstStyle/>
          <a:p>
            <a:pPr algn="l"/>
            <a:r>
              <a:rPr sz="1000" b="0" i="0">
                <a:solidFill>
                  <a:srgbClr val="111111"/>
                </a:solidFill>
                <a:latin typeface="Arial"/>
              </a:rPr>
              <a:t>Existe-t-il un vol direct entre Paris et Fort-de-France ?</a:t>
            </a:r>
          </a:p>
        </p:txBody>
      </p:sp>
      <p:sp>
        <p:nvSpPr>
          <p:cNvPr id="66" name="Rectangle 65"/>
          <p:cNvSpPr/>
          <p:nvPr/>
        </p:nvSpPr>
        <p:spPr>
          <a:xfrm>
            <a:off x="4437888" y="5334000"/>
            <a:ext cx="2913888" cy="6096"/>
          </a:xfrm>
          <a:prstGeom prst="rect">
            <a:avLst/>
          </a:prstGeom>
          <a:solidFill>
            <a:srgbClr val="E6E3DE"/>
          </a:solidFill>
          <a:ln>
            <a:noFill/>
          </a:ln>
          <a:effectLst/>
        </p:spPr>
        <p:txBody>
          <a:bodyPr rtlCol="0" anchor="ctr"/>
          <a:lstStyle/>
          <a:p>
            <a:pPr algn="ctr"/>
          </a:p>
        </p:txBody>
      </p:sp>
      <p:sp>
        <p:nvSpPr>
          <p:cNvPr id="67" name="TextBox 66"/>
          <p:cNvSpPr txBox="1"/>
          <p:nvPr/>
        </p:nvSpPr>
        <p:spPr>
          <a:xfrm>
            <a:off x="4437888" y="5364480"/>
            <a:ext cx="2913888" cy="304800"/>
          </a:xfrm>
          <a:prstGeom prst="rect">
            <a:avLst/>
          </a:prstGeom>
          <a:noFill/>
        </p:spPr>
        <p:txBody>
          <a:bodyPr wrap="square" anchor="ctr" lIns="0" rIns="0" tIns="0" bIns="0">
            <a:spAutoFit/>
          </a:bodyPr>
          <a:lstStyle/>
          <a:p>
            <a:pPr algn="l"/>
            <a:r>
              <a:rPr sz="1000" b="0" i="0">
                <a:solidFill>
                  <a:srgbClr val="111111"/>
                </a:solidFill>
                <a:latin typeface="Arial"/>
              </a:rPr>
              <a:t>Où trouver un aller-retour Paris – Nice à un bon prix ?</a:t>
            </a:r>
          </a:p>
        </p:txBody>
      </p:sp>
      <p:sp>
        <p:nvSpPr>
          <p:cNvPr id="68" name="Rectangle 67"/>
          <p:cNvSpPr/>
          <p:nvPr/>
        </p:nvSpPr>
        <p:spPr>
          <a:xfrm>
            <a:off x="4437888" y="5699760"/>
            <a:ext cx="2913888" cy="6096"/>
          </a:xfrm>
          <a:prstGeom prst="rect">
            <a:avLst/>
          </a:prstGeom>
          <a:solidFill>
            <a:srgbClr val="E6E3DE"/>
          </a:solidFill>
          <a:ln>
            <a:noFill/>
          </a:ln>
          <a:effectLst/>
        </p:spPr>
        <p:txBody>
          <a:bodyPr rtlCol="0" anchor="ctr"/>
          <a:lstStyle/>
          <a:p>
            <a:pPr algn="ctr"/>
          </a:p>
        </p:txBody>
      </p:sp>
      <p:sp>
        <p:nvSpPr>
          <p:cNvPr id="69" name="TextBox 68"/>
          <p:cNvSpPr txBox="1"/>
          <p:nvPr/>
        </p:nvSpPr>
        <p:spPr>
          <a:xfrm>
            <a:off x="4437888" y="5730240"/>
            <a:ext cx="2913888" cy="304800"/>
          </a:xfrm>
          <a:prstGeom prst="rect">
            <a:avLst/>
          </a:prstGeom>
          <a:noFill/>
        </p:spPr>
        <p:txBody>
          <a:bodyPr wrap="square" anchor="ctr" lIns="0" rIns="0" tIns="0" bIns="0">
            <a:spAutoFit/>
          </a:bodyPr>
          <a:lstStyle/>
          <a:p>
            <a:pPr algn="l"/>
            <a:r>
              <a:rPr sz="1000" b="0" i="0">
                <a:solidFill>
                  <a:srgbClr val="111111"/>
                </a:solidFill>
                <a:latin typeface="Arial"/>
              </a:rPr>
              <a:t>Quelle destination pour un week-end en Europe ?</a:t>
            </a:r>
          </a:p>
        </p:txBody>
      </p:sp>
      <p:sp>
        <p:nvSpPr>
          <p:cNvPr id="70" name="TextBox 69"/>
          <p:cNvSpPr txBox="1"/>
          <p:nvPr/>
        </p:nvSpPr>
        <p:spPr>
          <a:xfrm>
            <a:off x="8101584" y="3767328"/>
            <a:ext cx="2926080" cy="152400"/>
          </a:xfrm>
          <a:prstGeom prst="rect">
            <a:avLst/>
          </a:prstGeom>
          <a:noFill/>
        </p:spPr>
        <p:txBody>
          <a:bodyPr wrap="square" anchor="t" lIns="0" rIns="0" tIns="0" bIns="0">
            <a:spAutoFit/>
          </a:bodyPr>
          <a:lstStyle/>
          <a:p>
            <a:pPr algn="l"/>
            <a:r>
              <a:rPr sz="1300" b="1" i="0">
                <a:solidFill>
                  <a:srgbClr val="555B66"/>
                </a:solidFill>
                <a:latin typeface="Arial"/>
              </a:rPr>
              <a:t>CATÉGORIES DE PRODUITS</a:t>
            </a:r>
          </a:p>
        </p:txBody>
      </p:sp>
      <p:sp>
        <p:nvSpPr>
          <p:cNvPr id="71" name="TextBox 70"/>
          <p:cNvSpPr txBox="1"/>
          <p:nvPr/>
        </p:nvSpPr>
        <p:spPr>
          <a:xfrm>
            <a:off x="8101584" y="3992880"/>
            <a:ext cx="2926080" cy="121920"/>
          </a:xfrm>
          <a:prstGeom prst="rect">
            <a:avLst/>
          </a:prstGeom>
          <a:noFill/>
        </p:spPr>
        <p:txBody>
          <a:bodyPr wrap="square" anchor="t" lIns="0" rIns="0" tIns="0" bIns="0">
            <a:spAutoFit/>
          </a:bodyPr>
          <a:lstStyle/>
          <a:p>
            <a:pPr algn="l"/>
            <a:r>
              <a:rPr sz="1000" b="0" i="1">
                <a:solidFill>
                  <a:srgbClr val="8A93A6"/>
                </a:solidFill>
                <a:latin typeface="Arial"/>
              </a:rPr>
              <a:t>Répartition des requêtes</a:t>
            </a:r>
          </a:p>
        </p:txBody>
      </p:sp>
      <p:sp>
        <p:nvSpPr>
          <p:cNvPr id="72" name="TextBox 71"/>
          <p:cNvSpPr txBox="1"/>
          <p:nvPr/>
        </p:nvSpPr>
        <p:spPr>
          <a:xfrm>
            <a:off x="8101584" y="4267200"/>
            <a:ext cx="2194560" cy="134112"/>
          </a:xfrm>
          <a:prstGeom prst="rect">
            <a:avLst/>
          </a:prstGeom>
          <a:noFill/>
        </p:spPr>
        <p:txBody>
          <a:bodyPr wrap="square" anchor="t" lIns="0" rIns="0" tIns="0" bIns="0">
            <a:spAutoFit/>
          </a:bodyPr>
          <a:lstStyle/>
          <a:p>
            <a:pPr algn="l"/>
            <a:r>
              <a:rPr sz="1000" b="0" i="0">
                <a:solidFill>
                  <a:srgbClr val="111111"/>
                </a:solidFill>
                <a:latin typeface="Arial"/>
              </a:rPr>
              <a:t>Recherche générique</a:t>
            </a:r>
          </a:p>
        </p:txBody>
      </p:sp>
      <p:sp>
        <p:nvSpPr>
          <p:cNvPr id="73" name="Rectangle 72"/>
          <p:cNvSpPr/>
          <p:nvPr/>
        </p:nvSpPr>
        <p:spPr>
          <a:xfrm>
            <a:off x="8101584" y="4419600"/>
            <a:ext cx="2011680" cy="54864"/>
          </a:xfrm>
          <a:prstGeom prst="rect">
            <a:avLst/>
          </a:prstGeom>
          <a:solidFill>
            <a:srgbClr val="ECEAE5"/>
          </a:solidFill>
          <a:ln>
            <a:noFill/>
          </a:ln>
          <a:effectLst/>
        </p:spPr>
        <p:txBody>
          <a:bodyPr rtlCol="0" anchor="ctr"/>
          <a:lstStyle/>
          <a:p>
            <a:pPr algn="ctr"/>
          </a:p>
        </p:txBody>
      </p:sp>
      <p:sp>
        <p:nvSpPr>
          <p:cNvPr id="74" name="Rectangle 73"/>
          <p:cNvSpPr/>
          <p:nvPr/>
        </p:nvSpPr>
        <p:spPr>
          <a:xfrm>
            <a:off x="8101584" y="4419600"/>
            <a:ext cx="523036" cy="54864"/>
          </a:xfrm>
          <a:prstGeom prst="rect">
            <a:avLst/>
          </a:prstGeom>
          <a:solidFill>
            <a:srgbClr val="9AA3B2"/>
          </a:solidFill>
          <a:ln>
            <a:noFill/>
          </a:ln>
          <a:effectLst/>
        </p:spPr>
        <p:txBody>
          <a:bodyPr rtlCol="0" anchor="ctr"/>
          <a:lstStyle/>
          <a:p>
            <a:pPr algn="ctr"/>
          </a:p>
        </p:txBody>
      </p:sp>
      <p:sp>
        <p:nvSpPr>
          <p:cNvPr id="75" name="TextBox 74"/>
          <p:cNvSpPr txBox="1"/>
          <p:nvPr/>
        </p:nvSpPr>
        <p:spPr>
          <a:xfrm>
            <a:off x="10241280" y="4340352"/>
            <a:ext cx="792480" cy="182880"/>
          </a:xfrm>
          <a:prstGeom prst="rect">
            <a:avLst/>
          </a:prstGeom>
          <a:noFill/>
        </p:spPr>
        <p:txBody>
          <a:bodyPr wrap="square" anchor="ctr" lIns="0" rIns="0" tIns="0" bIns="0">
            <a:spAutoFit/>
          </a:bodyPr>
          <a:lstStyle/>
          <a:p>
            <a:pPr algn="r"/>
            <a:r>
              <a:rPr sz="1300" b="1" i="0">
                <a:solidFill>
                  <a:srgbClr val="111111"/>
                </a:solidFill>
                <a:latin typeface="Arial"/>
              </a:rPr>
              <a:t>26 %</a:t>
            </a:r>
          </a:p>
        </p:txBody>
      </p:sp>
      <p:sp>
        <p:nvSpPr>
          <p:cNvPr id="76" name="TextBox 75"/>
          <p:cNvSpPr txBox="1"/>
          <p:nvPr/>
        </p:nvSpPr>
        <p:spPr>
          <a:xfrm>
            <a:off x="8101584" y="4572000"/>
            <a:ext cx="2194560" cy="134112"/>
          </a:xfrm>
          <a:prstGeom prst="rect">
            <a:avLst/>
          </a:prstGeom>
          <a:noFill/>
        </p:spPr>
        <p:txBody>
          <a:bodyPr wrap="square" anchor="t" lIns="0" rIns="0" tIns="0" bIns="0">
            <a:spAutoFit/>
          </a:bodyPr>
          <a:lstStyle/>
          <a:p>
            <a:pPr algn="l"/>
            <a:r>
              <a:rPr sz="1000" b="0" i="0">
                <a:solidFill>
                  <a:srgbClr val="111111"/>
                </a:solidFill>
                <a:latin typeface="Arial"/>
              </a:rPr>
              <a:t>Outre-mer et Caraïbes</a:t>
            </a:r>
          </a:p>
        </p:txBody>
      </p:sp>
      <p:sp>
        <p:nvSpPr>
          <p:cNvPr id="77" name="Rectangle 76"/>
          <p:cNvSpPr/>
          <p:nvPr/>
        </p:nvSpPr>
        <p:spPr>
          <a:xfrm>
            <a:off x="8101584" y="4724400"/>
            <a:ext cx="2011680" cy="54864"/>
          </a:xfrm>
          <a:prstGeom prst="rect">
            <a:avLst/>
          </a:prstGeom>
          <a:solidFill>
            <a:srgbClr val="ECEAE5"/>
          </a:solidFill>
          <a:ln>
            <a:noFill/>
          </a:ln>
          <a:effectLst/>
        </p:spPr>
        <p:txBody>
          <a:bodyPr rtlCol="0" anchor="ctr"/>
          <a:lstStyle/>
          <a:p>
            <a:pPr algn="ctr"/>
          </a:p>
        </p:txBody>
      </p:sp>
      <p:sp>
        <p:nvSpPr>
          <p:cNvPr id="78" name="Rectangle 77"/>
          <p:cNvSpPr/>
          <p:nvPr/>
        </p:nvSpPr>
        <p:spPr>
          <a:xfrm>
            <a:off x="8101584" y="4724400"/>
            <a:ext cx="160934" cy="54864"/>
          </a:xfrm>
          <a:prstGeom prst="rect">
            <a:avLst/>
          </a:prstGeom>
          <a:solidFill>
            <a:srgbClr val="9AA3B2"/>
          </a:solidFill>
          <a:ln>
            <a:noFill/>
          </a:ln>
          <a:effectLst/>
        </p:spPr>
        <p:txBody>
          <a:bodyPr rtlCol="0" anchor="ctr"/>
          <a:lstStyle/>
          <a:p>
            <a:pPr algn="ctr"/>
          </a:p>
        </p:txBody>
      </p:sp>
      <p:sp>
        <p:nvSpPr>
          <p:cNvPr id="79" name="TextBox 78"/>
          <p:cNvSpPr txBox="1"/>
          <p:nvPr/>
        </p:nvSpPr>
        <p:spPr>
          <a:xfrm>
            <a:off x="10241280" y="4645152"/>
            <a:ext cx="792480" cy="182880"/>
          </a:xfrm>
          <a:prstGeom prst="rect">
            <a:avLst/>
          </a:prstGeom>
          <a:noFill/>
        </p:spPr>
        <p:txBody>
          <a:bodyPr wrap="square" anchor="ctr" lIns="0" rIns="0" tIns="0" bIns="0">
            <a:spAutoFit/>
          </a:bodyPr>
          <a:lstStyle/>
          <a:p>
            <a:pPr algn="r"/>
            <a:r>
              <a:rPr sz="1300" b="1" i="0">
                <a:solidFill>
                  <a:srgbClr val="111111"/>
                </a:solidFill>
                <a:latin typeface="Arial"/>
              </a:rPr>
              <a:t>8 %</a:t>
            </a:r>
          </a:p>
        </p:txBody>
      </p:sp>
      <p:sp>
        <p:nvSpPr>
          <p:cNvPr id="80" name="TextBox 79"/>
          <p:cNvSpPr txBox="1"/>
          <p:nvPr/>
        </p:nvSpPr>
        <p:spPr>
          <a:xfrm>
            <a:off x="8101584" y="4876800"/>
            <a:ext cx="2194560" cy="134112"/>
          </a:xfrm>
          <a:prstGeom prst="rect">
            <a:avLst/>
          </a:prstGeom>
          <a:noFill/>
        </p:spPr>
        <p:txBody>
          <a:bodyPr wrap="square" anchor="t" lIns="0" rIns="0" tIns="0" bIns="0">
            <a:spAutoFit/>
          </a:bodyPr>
          <a:lstStyle/>
          <a:p>
            <a:pPr algn="l"/>
            <a:r>
              <a:rPr sz="1000" b="0" i="0">
                <a:solidFill>
                  <a:srgbClr val="111111"/>
                </a:solidFill>
                <a:latin typeface="Arial"/>
              </a:rPr>
              <a:t>Europe et city breaks</a:t>
            </a:r>
          </a:p>
        </p:txBody>
      </p:sp>
      <p:sp>
        <p:nvSpPr>
          <p:cNvPr id="81" name="Rectangle 80"/>
          <p:cNvSpPr/>
          <p:nvPr/>
        </p:nvSpPr>
        <p:spPr>
          <a:xfrm>
            <a:off x="8101584" y="5029200"/>
            <a:ext cx="2011680" cy="54864"/>
          </a:xfrm>
          <a:prstGeom prst="rect">
            <a:avLst/>
          </a:prstGeom>
          <a:solidFill>
            <a:srgbClr val="ECEAE5"/>
          </a:solidFill>
          <a:ln>
            <a:noFill/>
          </a:ln>
          <a:effectLst/>
        </p:spPr>
        <p:txBody>
          <a:bodyPr rtlCol="0" anchor="ctr"/>
          <a:lstStyle/>
          <a:p>
            <a:pPr algn="ctr"/>
          </a:p>
        </p:txBody>
      </p:sp>
      <p:sp>
        <p:nvSpPr>
          <p:cNvPr id="82" name="Rectangle 81"/>
          <p:cNvSpPr/>
          <p:nvPr/>
        </p:nvSpPr>
        <p:spPr>
          <a:xfrm>
            <a:off x="8101584" y="5029200"/>
            <a:ext cx="160934" cy="54864"/>
          </a:xfrm>
          <a:prstGeom prst="rect">
            <a:avLst/>
          </a:prstGeom>
          <a:solidFill>
            <a:srgbClr val="9AA3B2"/>
          </a:solidFill>
          <a:ln>
            <a:noFill/>
          </a:ln>
          <a:effectLst/>
        </p:spPr>
        <p:txBody>
          <a:bodyPr rtlCol="0" anchor="ctr"/>
          <a:lstStyle/>
          <a:p>
            <a:pPr algn="ctr"/>
          </a:p>
        </p:txBody>
      </p:sp>
      <p:sp>
        <p:nvSpPr>
          <p:cNvPr id="83" name="TextBox 82"/>
          <p:cNvSpPr txBox="1"/>
          <p:nvPr/>
        </p:nvSpPr>
        <p:spPr>
          <a:xfrm>
            <a:off x="10241280" y="4949952"/>
            <a:ext cx="792480" cy="182880"/>
          </a:xfrm>
          <a:prstGeom prst="rect">
            <a:avLst/>
          </a:prstGeom>
          <a:noFill/>
        </p:spPr>
        <p:txBody>
          <a:bodyPr wrap="square" anchor="ctr" lIns="0" rIns="0" tIns="0" bIns="0">
            <a:spAutoFit/>
          </a:bodyPr>
          <a:lstStyle/>
          <a:p>
            <a:pPr algn="r"/>
            <a:r>
              <a:rPr sz="1300" b="1" i="0">
                <a:solidFill>
                  <a:srgbClr val="111111"/>
                </a:solidFill>
                <a:latin typeface="Arial"/>
              </a:rPr>
              <a:t>8 %</a:t>
            </a:r>
          </a:p>
        </p:txBody>
      </p:sp>
      <p:sp>
        <p:nvSpPr>
          <p:cNvPr id="84" name="TextBox 83"/>
          <p:cNvSpPr txBox="1"/>
          <p:nvPr/>
        </p:nvSpPr>
        <p:spPr>
          <a:xfrm>
            <a:off x="8101584" y="5181600"/>
            <a:ext cx="2194560" cy="134112"/>
          </a:xfrm>
          <a:prstGeom prst="rect">
            <a:avLst/>
          </a:prstGeom>
          <a:noFill/>
        </p:spPr>
        <p:txBody>
          <a:bodyPr wrap="square" anchor="t" lIns="0" rIns="0" tIns="0" bIns="0">
            <a:spAutoFit/>
          </a:bodyPr>
          <a:lstStyle/>
          <a:p>
            <a:pPr algn="l"/>
            <a:r>
              <a:rPr sz="1000" b="0" i="0">
                <a:solidFill>
                  <a:srgbClr val="111111"/>
                </a:solidFill>
                <a:latin typeface="Arial"/>
              </a:rPr>
              <a:t>Afrique du Nord et Afrique</a:t>
            </a:r>
          </a:p>
        </p:txBody>
      </p:sp>
      <p:sp>
        <p:nvSpPr>
          <p:cNvPr id="85" name="Rectangle 84"/>
          <p:cNvSpPr/>
          <p:nvPr/>
        </p:nvSpPr>
        <p:spPr>
          <a:xfrm>
            <a:off x="8101584" y="5334000"/>
            <a:ext cx="2011680" cy="54864"/>
          </a:xfrm>
          <a:prstGeom prst="rect">
            <a:avLst/>
          </a:prstGeom>
          <a:solidFill>
            <a:srgbClr val="ECEAE5"/>
          </a:solidFill>
          <a:ln>
            <a:noFill/>
          </a:ln>
          <a:effectLst/>
        </p:spPr>
        <p:txBody>
          <a:bodyPr rtlCol="0" anchor="ctr"/>
          <a:lstStyle/>
          <a:p>
            <a:pPr algn="ctr"/>
          </a:p>
        </p:txBody>
      </p:sp>
      <p:sp>
        <p:nvSpPr>
          <p:cNvPr id="86" name="Rectangle 85"/>
          <p:cNvSpPr/>
          <p:nvPr/>
        </p:nvSpPr>
        <p:spPr>
          <a:xfrm>
            <a:off x="8101584" y="5334000"/>
            <a:ext cx="502920" cy="54864"/>
          </a:xfrm>
          <a:prstGeom prst="rect">
            <a:avLst/>
          </a:prstGeom>
          <a:solidFill>
            <a:srgbClr val="9AA3B2"/>
          </a:solidFill>
          <a:ln>
            <a:noFill/>
          </a:ln>
          <a:effectLst/>
        </p:spPr>
        <p:txBody>
          <a:bodyPr rtlCol="0" anchor="ctr"/>
          <a:lstStyle/>
          <a:p>
            <a:pPr algn="ctr"/>
          </a:p>
        </p:txBody>
      </p:sp>
      <p:sp>
        <p:nvSpPr>
          <p:cNvPr id="87" name="TextBox 86"/>
          <p:cNvSpPr txBox="1"/>
          <p:nvPr/>
        </p:nvSpPr>
        <p:spPr>
          <a:xfrm>
            <a:off x="10241280" y="5254752"/>
            <a:ext cx="792480" cy="182880"/>
          </a:xfrm>
          <a:prstGeom prst="rect">
            <a:avLst/>
          </a:prstGeom>
          <a:noFill/>
        </p:spPr>
        <p:txBody>
          <a:bodyPr wrap="square" anchor="ctr" lIns="0" rIns="0" tIns="0" bIns="0">
            <a:spAutoFit/>
          </a:bodyPr>
          <a:lstStyle/>
          <a:p>
            <a:pPr algn="r"/>
            <a:r>
              <a:rPr sz="1300" b="1" i="0">
                <a:solidFill>
                  <a:srgbClr val="111111"/>
                </a:solidFill>
                <a:latin typeface="Arial"/>
              </a:rPr>
              <a:t>25 %</a:t>
            </a:r>
          </a:p>
        </p:txBody>
      </p:sp>
      <p:sp>
        <p:nvSpPr>
          <p:cNvPr id="88" name="TextBox 87"/>
          <p:cNvSpPr txBox="1"/>
          <p:nvPr/>
        </p:nvSpPr>
        <p:spPr>
          <a:xfrm>
            <a:off x="8101584" y="5486400"/>
            <a:ext cx="2194560" cy="134112"/>
          </a:xfrm>
          <a:prstGeom prst="rect">
            <a:avLst/>
          </a:prstGeom>
          <a:noFill/>
        </p:spPr>
        <p:txBody>
          <a:bodyPr wrap="square" anchor="t" lIns="0" rIns="0" tIns="0" bIns="0">
            <a:spAutoFit/>
          </a:bodyPr>
          <a:lstStyle/>
          <a:p>
            <a:pPr algn="l"/>
            <a:r>
              <a:rPr sz="1000" b="0" i="0">
                <a:solidFill>
                  <a:srgbClr val="111111"/>
                </a:solidFill>
                <a:latin typeface="Arial"/>
              </a:rPr>
              <a:t>Long-courrier international</a:t>
            </a:r>
          </a:p>
        </p:txBody>
      </p:sp>
      <p:sp>
        <p:nvSpPr>
          <p:cNvPr id="89" name="Rectangle 88"/>
          <p:cNvSpPr/>
          <p:nvPr/>
        </p:nvSpPr>
        <p:spPr>
          <a:xfrm>
            <a:off x="8101584" y="5638800"/>
            <a:ext cx="2011680" cy="54864"/>
          </a:xfrm>
          <a:prstGeom prst="rect">
            <a:avLst/>
          </a:prstGeom>
          <a:solidFill>
            <a:srgbClr val="ECEAE5"/>
          </a:solidFill>
          <a:ln>
            <a:noFill/>
          </a:ln>
          <a:effectLst/>
        </p:spPr>
        <p:txBody>
          <a:bodyPr rtlCol="0" anchor="ctr"/>
          <a:lstStyle/>
          <a:p>
            <a:pPr algn="ctr"/>
          </a:p>
        </p:txBody>
      </p:sp>
      <p:sp>
        <p:nvSpPr>
          <p:cNvPr id="90" name="Rectangle 89"/>
          <p:cNvSpPr/>
          <p:nvPr/>
        </p:nvSpPr>
        <p:spPr>
          <a:xfrm>
            <a:off x="8101584" y="5638800"/>
            <a:ext cx="663854" cy="54864"/>
          </a:xfrm>
          <a:prstGeom prst="rect">
            <a:avLst/>
          </a:prstGeom>
          <a:solidFill>
            <a:srgbClr val="EE6A2C"/>
          </a:solidFill>
          <a:ln>
            <a:noFill/>
          </a:ln>
          <a:effectLst/>
        </p:spPr>
        <p:txBody>
          <a:bodyPr rtlCol="0" anchor="ctr"/>
          <a:lstStyle/>
          <a:p>
            <a:pPr algn="ctr"/>
          </a:p>
        </p:txBody>
      </p:sp>
      <p:sp>
        <p:nvSpPr>
          <p:cNvPr id="91" name="TextBox 90"/>
          <p:cNvSpPr txBox="1"/>
          <p:nvPr/>
        </p:nvSpPr>
        <p:spPr>
          <a:xfrm>
            <a:off x="10241280" y="5559552"/>
            <a:ext cx="792480" cy="182880"/>
          </a:xfrm>
          <a:prstGeom prst="rect">
            <a:avLst/>
          </a:prstGeom>
          <a:noFill/>
        </p:spPr>
        <p:txBody>
          <a:bodyPr wrap="square" anchor="ctr" lIns="0" rIns="0" tIns="0" bIns="0">
            <a:spAutoFit/>
          </a:bodyPr>
          <a:lstStyle/>
          <a:p>
            <a:pPr algn="r"/>
            <a:r>
              <a:rPr sz="1300" b="1" i="0">
                <a:solidFill>
                  <a:srgbClr val="111111"/>
                </a:solidFill>
                <a:latin typeface="Arial"/>
              </a:rPr>
              <a:t>33 %</a:t>
            </a:r>
          </a:p>
        </p:txBody>
      </p:sp>
      <p:sp>
        <p:nvSpPr>
          <p:cNvPr id="92" name="TextBox 91"/>
          <p:cNvSpPr txBox="1"/>
          <p:nvPr/>
        </p:nvSpPr>
        <p:spPr>
          <a:xfrm>
            <a:off x="8101584" y="5791200"/>
            <a:ext cx="2194560" cy="134112"/>
          </a:xfrm>
          <a:prstGeom prst="rect">
            <a:avLst/>
          </a:prstGeom>
          <a:noFill/>
        </p:spPr>
        <p:txBody>
          <a:bodyPr wrap="square" anchor="t" lIns="0" rIns="0" tIns="0" bIns="0">
            <a:spAutoFit/>
          </a:bodyPr>
          <a:lstStyle/>
          <a:p>
            <a:pPr algn="l"/>
            <a:r>
              <a:rPr sz="1000" b="0" i="0">
                <a:solidFill>
                  <a:srgbClr val="111111"/>
                </a:solidFill>
                <a:latin typeface="Arial"/>
              </a:rPr>
              <a:t>France métropolitaine</a:t>
            </a:r>
          </a:p>
        </p:txBody>
      </p:sp>
      <p:sp>
        <p:nvSpPr>
          <p:cNvPr id="93" name="Rectangle 92"/>
          <p:cNvSpPr/>
          <p:nvPr/>
        </p:nvSpPr>
        <p:spPr>
          <a:xfrm>
            <a:off x="8101584" y="5943600"/>
            <a:ext cx="2011680" cy="54864"/>
          </a:xfrm>
          <a:prstGeom prst="rect">
            <a:avLst/>
          </a:prstGeom>
          <a:solidFill>
            <a:srgbClr val="ECEAE5"/>
          </a:solidFill>
          <a:ln>
            <a:noFill/>
          </a:ln>
          <a:effectLst/>
        </p:spPr>
        <p:txBody>
          <a:bodyPr rtlCol="0" anchor="ctr"/>
          <a:lstStyle/>
          <a:p>
            <a:pPr algn="ctr"/>
          </a:p>
        </p:txBody>
      </p:sp>
      <p:sp>
        <p:nvSpPr>
          <p:cNvPr id="94" name="TextBox 93"/>
          <p:cNvSpPr txBox="1"/>
          <p:nvPr/>
        </p:nvSpPr>
        <p:spPr>
          <a:xfrm>
            <a:off x="10241280" y="5864352"/>
            <a:ext cx="792480" cy="182880"/>
          </a:xfrm>
          <a:prstGeom prst="rect">
            <a:avLst/>
          </a:prstGeom>
          <a:noFill/>
        </p:spPr>
        <p:txBody>
          <a:bodyPr wrap="square" anchor="ctr" lIns="0" rIns="0" tIns="0" bIns="0">
            <a:spAutoFit/>
          </a:bodyPr>
          <a:lstStyle/>
          <a:p>
            <a:pPr algn="r"/>
            <a:r>
              <a:rPr sz="1000" b="1" i="0">
                <a:solidFill>
                  <a:srgbClr val="8A93A6"/>
                </a:solidFill>
                <a:latin typeface="Arial"/>
              </a:rPr>
              <a:t>&lt; 1 %</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6F2"/>
          </a:solidFill>
          <a:ln>
            <a:noFill/>
          </a:ln>
          <a:effectLst/>
        </p:spPr>
        <p:txBody>
          <a:bodyPr rtlCol="0" anchor="ctr"/>
          <a:lstStyle/>
          <a:p>
            <a:pPr algn="ctr"/>
          </a:p>
        </p:txBody>
      </p:sp>
      <p:sp>
        <p:nvSpPr>
          <p:cNvPr id="3" name="TextBox 2"/>
          <p:cNvSpPr txBox="1"/>
          <p:nvPr/>
        </p:nvSpPr>
        <p:spPr>
          <a:xfrm>
            <a:off x="579120" y="426720"/>
            <a:ext cx="7315200" cy="182880"/>
          </a:xfrm>
          <a:prstGeom prst="rect">
            <a:avLst/>
          </a:prstGeom>
          <a:noFill/>
        </p:spPr>
        <p:txBody>
          <a:bodyPr wrap="square" anchor="t" lIns="0" rIns="0" tIns="0" bIns="0">
            <a:spAutoFit/>
          </a:bodyPr>
          <a:lstStyle/>
          <a:p>
            <a:pPr algn="l"/>
            <a:r>
              <a:rPr sz="1300" b="1" i="0">
                <a:solidFill>
                  <a:srgbClr val="EE6A2C"/>
                </a:solidFill>
                <a:latin typeface="Arial"/>
              </a:rPr>
              <a:t>INSIGHTS QUALITATIFS · SEPTEMBRE 2026</a:t>
            </a:r>
          </a:p>
        </p:txBody>
      </p:sp>
      <p:sp>
        <p:nvSpPr>
          <p:cNvPr id="4" name="TextBox 3"/>
          <p:cNvSpPr txBox="1"/>
          <p:nvPr/>
        </p:nvSpPr>
        <p:spPr>
          <a:xfrm>
            <a:off x="579120" y="609600"/>
            <a:ext cx="7315200" cy="487680"/>
          </a:xfrm>
          <a:prstGeom prst="rect">
            <a:avLst/>
          </a:prstGeom>
          <a:noFill/>
        </p:spPr>
        <p:txBody>
          <a:bodyPr wrap="square" anchor="t" lIns="0" rIns="0" tIns="0" bIns="0">
            <a:spAutoFit/>
          </a:bodyPr>
          <a:lstStyle/>
          <a:p>
            <a:pPr algn="l"/>
            <a:r>
              <a:rPr sz="3600" b="1" i="0">
                <a:solidFill>
                  <a:srgbClr val="111111"/>
                </a:solidFill>
                <a:latin typeface="Arial"/>
              </a:rPr>
              <a:t>Cdiscount Voyages – Vols</a:t>
            </a:r>
          </a:p>
        </p:txBody>
      </p:sp>
      <p:sp>
        <p:nvSpPr>
          <p:cNvPr id="5" name="TextBox 4"/>
          <p:cNvSpPr txBox="1"/>
          <p:nvPr/>
        </p:nvSpPr>
        <p:spPr>
          <a:xfrm>
            <a:off x="9144000" y="499872"/>
            <a:ext cx="1889760" cy="182880"/>
          </a:xfrm>
          <a:prstGeom prst="rect">
            <a:avLst/>
          </a:prstGeom>
          <a:noFill/>
        </p:spPr>
        <p:txBody>
          <a:bodyPr wrap="square" anchor="t" lIns="0" rIns="0" tIns="0" bIns="0">
            <a:spAutoFit/>
          </a:bodyPr>
          <a:lstStyle/>
          <a:p>
            <a:pPr algn="r"/>
            <a:r>
              <a:rPr sz="1500" b="1" i="0">
                <a:solidFill>
                  <a:srgbClr val="111111"/>
                </a:solidFill>
                <a:latin typeface="Arial"/>
              </a:rPr>
              <a:t>Lemrock</a:t>
            </a:r>
          </a:p>
        </p:txBody>
      </p:sp>
      <p:sp>
        <p:nvSpPr>
          <p:cNvPr id="6" name="TextBox 5"/>
          <p:cNvSpPr txBox="1"/>
          <p:nvPr/>
        </p:nvSpPr>
        <p:spPr>
          <a:xfrm>
            <a:off x="579120" y="1219200"/>
            <a:ext cx="9144000" cy="182880"/>
          </a:xfrm>
          <a:prstGeom prst="rect">
            <a:avLst/>
          </a:prstGeom>
          <a:noFill/>
        </p:spPr>
        <p:txBody>
          <a:bodyPr wrap="square" anchor="t" lIns="0" rIns="0" tIns="0" bIns="0">
            <a:spAutoFit/>
          </a:bodyPr>
          <a:lstStyle/>
          <a:p>
            <a:pPr algn="l"/>
            <a:r>
              <a:rPr sz="1300" b="1" i="0">
                <a:solidFill>
                  <a:srgbClr val="EE6A2C"/>
                </a:solidFill>
                <a:latin typeface="Arial"/>
              </a:rPr>
              <a:t>OBJECTIF   </a:t>
            </a:r>
            <a:r>
              <a:rPr sz="1300" b="0" i="0">
                <a:solidFill>
                  <a:srgbClr val="111111"/>
                </a:solidFill>
                <a:latin typeface="Arial"/>
              </a:rPr>
              <a:t>Atteindre un ROI de 35 pour un CA de 87 k€.</a:t>
            </a:r>
          </a:p>
        </p:txBody>
      </p:sp>
      <p:sp>
        <p:nvSpPr>
          <p:cNvPr id="7" name="TextBox 6"/>
          <p:cNvSpPr txBox="1"/>
          <p:nvPr/>
        </p:nvSpPr>
        <p:spPr>
          <a:xfrm>
            <a:off x="579120" y="1524000"/>
            <a:ext cx="4876800" cy="182880"/>
          </a:xfrm>
          <a:prstGeom prst="rect">
            <a:avLst/>
          </a:prstGeom>
          <a:noFill/>
        </p:spPr>
        <p:txBody>
          <a:bodyPr wrap="square" anchor="t" lIns="0" rIns="0" tIns="0" bIns="0">
            <a:spAutoFit/>
          </a:bodyPr>
          <a:lstStyle/>
          <a:p>
            <a:pPr algn="l"/>
            <a:r>
              <a:rPr sz="1400" b="1" i="0">
                <a:solidFill>
                  <a:srgbClr val="555B66"/>
                </a:solidFill>
                <a:latin typeface="Arial"/>
              </a:rPr>
              <a:t>INSIGHTS QUALITATIFS</a:t>
            </a:r>
          </a:p>
        </p:txBody>
      </p:sp>
      <p:sp>
        <p:nvSpPr>
          <p:cNvPr id="8" name="Rectangle 7"/>
          <p:cNvSpPr/>
          <p:nvPr/>
        </p:nvSpPr>
        <p:spPr>
          <a:xfrm>
            <a:off x="579120" y="1816608"/>
            <a:ext cx="5071872" cy="2121408"/>
          </a:xfrm>
          <a:prstGeom prst="rect">
            <a:avLst/>
          </a:prstGeom>
          <a:solidFill>
            <a:srgbClr val="FFFFFF"/>
          </a:solidFill>
          <a:ln>
            <a:noFill/>
          </a:ln>
          <a:effectLst/>
        </p:spPr>
        <p:txBody>
          <a:bodyPr rtlCol="0" anchor="ctr"/>
          <a:lstStyle/>
          <a:p>
            <a:pPr algn="ctr"/>
          </a:p>
        </p:txBody>
      </p:sp>
      <p:sp>
        <p:nvSpPr>
          <p:cNvPr id="9" name="TextBox 8"/>
          <p:cNvSpPr txBox="1"/>
          <p:nvPr/>
        </p:nvSpPr>
        <p:spPr>
          <a:xfrm>
            <a:off x="835152" y="2029968"/>
            <a:ext cx="487680" cy="243840"/>
          </a:xfrm>
          <a:prstGeom prst="rect">
            <a:avLst/>
          </a:prstGeom>
          <a:noFill/>
        </p:spPr>
        <p:txBody>
          <a:bodyPr wrap="square" anchor="t" lIns="0" rIns="0" tIns="0" bIns="0">
            <a:spAutoFit/>
          </a:bodyPr>
          <a:lstStyle/>
          <a:p>
            <a:pPr algn="l"/>
            <a:r>
              <a:rPr sz="2000" b="1" i="0">
                <a:solidFill>
                  <a:srgbClr val="EE6A2C"/>
                </a:solidFill>
                <a:latin typeface="Arial"/>
              </a:rPr>
              <a:t>01</a:t>
            </a:r>
          </a:p>
        </p:txBody>
      </p:sp>
      <p:sp>
        <p:nvSpPr>
          <p:cNvPr id="10" name="TextBox 9"/>
          <p:cNvSpPr txBox="1"/>
          <p:nvPr/>
        </p:nvSpPr>
        <p:spPr>
          <a:xfrm>
            <a:off x="1383792" y="2048256"/>
            <a:ext cx="4023360" cy="365760"/>
          </a:xfrm>
          <a:prstGeom prst="rect">
            <a:avLst/>
          </a:prstGeom>
          <a:noFill/>
        </p:spPr>
        <p:txBody>
          <a:bodyPr wrap="square" anchor="t" lIns="0" rIns="0" tIns="0" bIns="0">
            <a:spAutoFit/>
          </a:bodyPr>
          <a:lstStyle/>
          <a:p>
            <a:pPr algn="l"/>
            <a:r>
              <a:rPr sz="1400" b="1" i="0">
                <a:solidFill>
                  <a:srgbClr val="111111"/>
                </a:solidFill>
                <a:latin typeface="Arial"/>
              </a:rPr>
              <a:t>Les vols vers l'Afrique cliquent le mieux</a:t>
            </a:r>
          </a:p>
        </p:txBody>
      </p:sp>
      <p:sp>
        <p:nvSpPr>
          <p:cNvPr id="11" name="TextBox 10"/>
          <p:cNvSpPr txBox="1"/>
          <p:nvPr/>
        </p:nvSpPr>
        <p:spPr>
          <a:xfrm>
            <a:off x="835152" y="2609088"/>
            <a:ext cx="4572000" cy="731520"/>
          </a:xfrm>
          <a:prstGeom prst="rect">
            <a:avLst/>
          </a:prstGeom>
          <a:noFill/>
        </p:spPr>
        <p:txBody>
          <a:bodyPr wrap="square" anchor="t" lIns="0" rIns="0" tIns="0" bIns="0">
            <a:spAutoFit/>
          </a:bodyPr>
          <a:lstStyle/>
          <a:p>
            <a:pPr algn="l"/>
            <a:r>
              <a:rPr sz="1100" b="0" i="0">
                <a:solidFill>
                  <a:srgbClr val="555B66"/>
                </a:solidFill>
                <a:latin typeface="Arial"/>
              </a:rPr>
              <a:t>Les vols Paris – Afrique et Maghreb atteignent 1,06 fois le CTR moyen, et Lyon – Abidjan 1,15 fois.</a:t>
            </a:r>
          </a:p>
        </p:txBody>
      </p:sp>
      <p:sp>
        <p:nvSpPr>
          <p:cNvPr id="12" name="TextBox 11"/>
          <p:cNvSpPr txBox="1"/>
          <p:nvPr/>
        </p:nvSpPr>
        <p:spPr>
          <a:xfrm>
            <a:off x="835152" y="3310128"/>
            <a:ext cx="4572000" cy="487680"/>
          </a:xfrm>
          <a:prstGeom prst="rect">
            <a:avLst/>
          </a:prstGeom>
          <a:noFill/>
        </p:spPr>
        <p:txBody>
          <a:bodyPr wrap="square" anchor="t" lIns="0" rIns="0" tIns="0" bIns="0">
            <a:spAutoFit/>
          </a:bodyPr>
          <a:lstStyle/>
          <a:p>
            <a:pPr algn="l"/>
            <a:r>
              <a:rPr sz="900" b="1" i="0">
                <a:solidFill>
                  <a:srgbClr val="555B66"/>
                </a:solidFill>
                <a:latin typeface="Arial"/>
              </a:rPr>
              <a:t>→  Renforcer les liaisons vers l'Afrique et le Maghreb.</a:t>
            </a:r>
          </a:p>
        </p:txBody>
      </p:sp>
      <p:sp>
        <p:nvSpPr>
          <p:cNvPr id="13" name="Rectangle 12"/>
          <p:cNvSpPr/>
          <p:nvPr/>
        </p:nvSpPr>
        <p:spPr>
          <a:xfrm>
            <a:off x="5992368" y="1816608"/>
            <a:ext cx="5071872" cy="2121408"/>
          </a:xfrm>
          <a:prstGeom prst="rect">
            <a:avLst/>
          </a:prstGeom>
          <a:solidFill>
            <a:srgbClr val="FFFFFF"/>
          </a:solidFill>
          <a:ln>
            <a:noFill/>
          </a:ln>
          <a:effectLst/>
        </p:spPr>
        <p:txBody>
          <a:bodyPr rtlCol="0" anchor="ctr"/>
          <a:lstStyle/>
          <a:p>
            <a:pPr algn="ctr"/>
          </a:p>
        </p:txBody>
      </p:sp>
      <p:sp>
        <p:nvSpPr>
          <p:cNvPr id="14" name="TextBox 13"/>
          <p:cNvSpPr txBox="1"/>
          <p:nvPr/>
        </p:nvSpPr>
        <p:spPr>
          <a:xfrm>
            <a:off x="6248400" y="2029968"/>
            <a:ext cx="487680" cy="243840"/>
          </a:xfrm>
          <a:prstGeom prst="rect">
            <a:avLst/>
          </a:prstGeom>
          <a:noFill/>
        </p:spPr>
        <p:txBody>
          <a:bodyPr wrap="square" anchor="t" lIns="0" rIns="0" tIns="0" bIns="0">
            <a:spAutoFit/>
          </a:bodyPr>
          <a:lstStyle/>
          <a:p>
            <a:pPr algn="l"/>
            <a:r>
              <a:rPr sz="2000" b="1" i="0">
                <a:solidFill>
                  <a:srgbClr val="EE6A2C"/>
                </a:solidFill>
                <a:latin typeface="Arial"/>
              </a:rPr>
              <a:t>02</a:t>
            </a:r>
          </a:p>
        </p:txBody>
      </p:sp>
      <p:sp>
        <p:nvSpPr>
          <p:cNvPr id="15" name="TextBox 14"/>
          <p:cNvSpPr txBox="1"/>
          <p:nvPr/>
        </p:nvSpPr>
        <p:spPr>
          <a:xfrm>
            <a:off x="6797040" y="2048256"/>
            <a:ext cx="4023360" cy="365760"/>
          </a:xfrm>
          <a:prstGeom prst="rect">
            <a:avLst/>
          </a:prstGeom>
          <a:noFill/>
        </p:spPr>
        <p:txBody>
          <a:bodyPr wrap="square" anchor="t" lIns="0" rIns="0" tIns="0" bIns="0">
            <a:spAutoFit/>
          </a:bodyPr>
          <a:lstStyle/>
          <a:p>
            <a:pPr algn="l"/>
            <a:r>
              <a:rPr sz="1400" b="1" i="0">
                <a:solidFill>
                  <a:srgbClr val="111111"/>
                </a:solidFill>
                <a:latin typeface="Arial"/>
              </a:rPr>
              <a:t>Mettre en avant une destination plutôt qu'un prix</a:t>
            </a:r>
          </a:p>
        </p:txBody>
      </p:sp>
      <p:sp>
        <p:nvSpPr>
          <p:cNvPr id="16" name="TextBox 15"/>
          <p:cNvSpPr txBox="1"/>
          <p:nvPr/>
        </p:nvSpPr>
        <p:spPr>
          <a:xfrm>
            <a:off x="6248400" y="2609088"/>
            <a:ext cx="4572000" cy="731520"/>
          </a:xfrm>
          <a:prstGeom prst="rect">
            <a:avLst/>
          </a:prstGeom>
          <a:noFill/>
        </p:spPr>
        <p:txBody>
          <a:bodyPr wrap="square" anchor="t" lIns="0" rIns="0" tIns="0" bIns="0">
            <a:spAutoFit/>
          </a:bodyPr>
          <a:lstStyle/>
          <a:p>
            <a:pPr algn="l"/>
            <a:r>
              <a:rPr sz="1100" b="0" i="0">
                <a:solidFill>
                  <a:srgbClr val="555B66"/>
                </a:solidFill>
                <a:latin typeface="Arial"/>
              </a:rPr>
              <a:t>Les annonces « destinations tendances » atteignent 1,08 fois la moyenne. Les vols court-courriers vers l'Europe restent à 0,94 fois.</a:t>
            </a:r>
          </a:p>
        </p:txBody>
      </p:sp>
      <p:sp>
        <p:nvSpPr>
          <p:cNvPr id="17" name="TextBox 16"/>
          <p:cNvSpPr txBox="1"/>
          <p:nvPr/>
        </p:nvSpPr>
        <p:spPr>
          <a:xfrm>
            <a:off x="6248400" y="3310128"/>
            <a:ext cx="4572000" cy="487680"/>
          </a:xfrm>
          <a:prstGeom prst="rect">
            <a:avLst/>
          </a:prstGeom>
          <a:noFill/>
        </p:spPr>
        <p:txBody>
          <a:bodyPr wrap="square" anchor="t" lIns="0" rIns="0" tIns="0" bIns="0">
            <a:spAutoFit/>
          </a:bodyPr>
          <a:lstStyle/>
          <a:p>
            <a:pPr algn="l"/>
            <a:r>
              <a:rPr sz="900" b="1" i="0">
                <a:solidFill>
                  <a:srgbClr val="555B66"/>
                </a:solidFill>
                <a:latin typeface="Arial"/>
              </a:rPr>
              <a:t>→  Associer chaque annonce à une destination qui fait envie.</a:t>
            </a:r>
          </a:p>
        </p:txBody>
      </p:sp>
      <p:sp>
        <p:nvSpPr>
          <p:cNvPr id="18" name="Rectangle 17"/>
          <p:cNvSpPr/>
          <p:nvPr/>
        </p:nvSpPr>
        <p:spPr>
          <a:xfrm>
            <a:off x="579120" y="4133088"/>
            <a:ext cx="5071872" cy="2121408"/>
          </a:xfrm>
          <a:prstGeom prst="rect">
            <a:avLst/>
          </a:prstGeom>
          <a:solidFill>
            <a:srgbClr val="FFFFFF"/>
          </a:solidFill>
          <a:ln>
            <a:noFill/>
          </a:ln>
          <a:effectLst/>
        </p:spPr>
        <p:txBody>
          <a:bodyPr rtlCol="0" anchor="ctr"/>
          <a:lstStyle/>
          <a:p>
            <a:pPr algn="ctr"/>
          </a:p>
        </p:txBody>
      </p:sp>
      <p:sp>
        <p:nvSpPr>
          <p:cNvPr id="19" name="TextBox 18"/>
          <p:cNvSpPr txBox="1"/>
          <p:nvPr/>
        </p:nvSpPr>
        <p:spPr>
          <a:xfrm>
            <a:off x="835152" y="4346448"/>
            <a:ext cx="487680" cy="243840"/>
          </a:xfrm>
          <a:prstGeom prst="rect">
            <a:avLst/>
          </a:prstGeom>
          <a:noFill/>
        </p:spPr>
        <p:txBody>
          <a:bodyPr wrap="square" anchor="t" lIns="0" rIns="0" tIns="0" bIns="0">
            <a:spAutoFit/>
          </a:bodyPr>
          <a:lstStyle/>
          <a:p>
            <a:pPr algn="l"/>
            <a:r>
              <a:rPr sz="2000" b="1" i="0">
                <a:solidFill>
                  <a:srgbClr val="EE6A2C"/>
                </a:solidFill>
                <a:latin typeface="Arial"/>
              </a:rPr>
              <a:t>03</a:t>
            </a:r>
          </a:p>
        </p:txBody>
      </p:sp>
      <p:sp>
        <p:nvSpPr>
          <p:cNvPr id="20" name="TextBox 19"/>
          <p:cNvSpPr txBox="1"/>
          <p:nvPr/>
        </p:nvSpPr>
        <p:spPr>
          <a:xfrm>
            <a:off x="1383792" y="4364736"/>
            <a:ext cx="4023360" cy="365760"/>
          </a:xfrm>
          <a:prstGeom prst="rect">
            <a:avLst/>
          </a:prstGeom>
          <a:noFill/>
        </p:spPr>
        <p:txBody>
          <a:bodyPr wrap="square" anchor="t" lIns="0" rIns="0" tIns="0" bIns="0">
            <a:spAutoFit/>
          </a:bodyPr>
          <a:lstStyle/>
          <a:p>
            <a:pPr algn="l"/>
            <a:r>
              <a:rPr sz="1400" b="1" i="0">
                <a:solidFill>
                  <a:srgbClr val="111111"/>
                </a:solidFill>
                <a:latin typeface="Arial"/>
              </a:rPr>
              <a:t>Revoir l'Outre-mer</a:t>
            </a:r>
          </a:p>
        </p:txBody>
      </p:sp>
      <p:sp>
        <p:nvSpPr>
          <p:cNvPr id="21" name="TextBox 20"/>
          <p:cNvSpPr txBox="1"/>
          <p:nvPr/>
        </p:nvSpPr>
        <p:spPr>
          <a:xfrm>
            <a:off x="835152" y="4925568"/>
            <a:ext cx="4572000" cy="731520"/>
          </a:xfrm>
          <a:prstGeom prst="rect">
            <a:avLst/>
          </a:prstGeom>
          <a:noFill/>
        </p:spPr>
        <p:txBody>
          <a:bodyPr wrap="square" anchor="t" lIns="0" rIns="0" tIns="0" bIns="0">
            <a:spAutoFit/>
          </a:bodyPr>
          <a:lstStyle/>
          <a:p>
            <a:pPr algn="l"/>
            <a:r>
              <a:rPr sz="1100" b="0" i="0">
                <a:solidFill>
                  <a:srgbClr val="555B66"/>
                </a:solidFill>
                <a:latin typeface="Arial"/>
              </a:rPr>
              <a:t>Les vols vers les DOM-TOM restent à 0,58 fois la moyenne.</a:t>
            </a:r>
          </a:p>
        </p:txBody>
      </p:sp>
      <p:sp>
        <p:nvSpPr>
          <p:cNvPr id="22" name="TextBox 21"/>
          <p:cNvSpPr txBox="1"/>
          <p:nvPr/>
        </p:nvSpPr>
        <p:spPr>
          <a:xfrm>
            <a:off x="835152" y="5626608"/>
            <a:ext cx="4572000" cy="487680"/>
          </a:xfrm>
          <a:prstGeom prst="rect">
            <a:avLst/>
          </a:prstGeom>
          <a:noFill/>
        </p:spPr>
        <p:txBody>
          <a:bodyPr wrap="square" anchor="t" lIns="0" rIns="0" tIns="0" bIns="0">
            <a:spAutoFit/>
          </a:bodyPr>
          <a:lstStyle/>
          <a:p>
            <a:pPr algn="l"/>
            <a:r>
              <a:rPr sz="900" b="1" i="0">
                <a:solidFill>
                  <a:srgbClr val="555B66"/>
                </a:solidFill>
                <a:latin typeface="Arial"/>
              </a:rPr>
              <a:t>→  Tester des accroches vacances de fin d'année pour la Martinique et la Guadeloupe.</a:t>
            </a:r>
          </a:p>
        </p:txBody>
      </p:sp>
      <p:sp>
        <p:nvSpPr>
          <p:cNvPr id="23" name="Rectangle 22"/>
          <p:cNvSpPr/>
          <p:nvPr/>
        </p:nvSpPr>
        <p:spPr>
          <a:xfrm>
            <a:off x="5992368" y="4133088"/>
            <a:ext cx="5071872" cy="2121408"/>
          </a:xfrm>
          <a:prstGeom prst="rect">
            <a:avLst/>
          </a:prstGeom>
          <a:solidFill>
            <a:srgbClr val="FFFFFF"/>
          </a:solidFill>
          <a:ln>
            <a:noFill/>
          </a:ln>
          <a:effectLst/>
        </p:spPr>
        <p:txBody>
          <a:bodyPr rtlCol="0" anchor="ctr"/>
          <a:lstStyle/>
          <a:p>
            <a:pPr algn="ctr"/>
          </a:p>
        </p:txBody>
      </p:sp>
      <p:sp>
        <p:nvSpPr>
          <p:cNvPr id="24" name="TextBox 23"/>
          <p:cNvSpPr txBox="1"/>
          <p:nvPr/>
        </p:nvSpPr>
        <p:spPr>
          <a:xfrm>
            <a:off x="6248400" y="4346448"/>
            <a:ext cx="487680" cy="243840"/>
          </a:xfrm>
          <a:prstGeom prst="rect">
            <a:avLst/>
          </a:prstGeom>
          <a:noFill/>
        </p:spPr>
        <p:txBody>
          <a:bodyPr wrap="square" anchor="t" lIns="0" rIns="0" tIns="0" bIns="0">
            <a:spAutoFit/>
          </a:bodyPr>
          <a:lstStyle/>
          <a:p>
            <a:pPr algn="l"/>
            <a:r>
              <a:rPr sz="2000" b="1" i="0">
                <a:solidFill>
                  <a:srgbClr val="EE6A2C"/>
                </a:solidFill>
                <a:latin typeface="Arial"/>
              </a:rPr>
              <a:t>04</a:t>
            </a:r>
          </a:p>
        </p:txBody>
      </p:sp>
      <p:sp>
        <p:nvSpPr>
          <p:cNvPr id="25" name="TextBox 24"/>
          <p:cNvSpPr txBox="1"/>
          <p:nvPr/>
        </p:nvSpPr>
        <p:spPr>
          <a:xfrm>
            <a:off x="6797040" y="4364736"/>
            <a:ext cx="4023360" cy="365760"/>
          </a:xfrm>
          <a:prstGeom prst="rect">
            <a:avLst/>
          </a:prstGeom>
          <a:noFill/>
        </p:spPr>
        <p:txBody>
          <a:bodyPr wrap="square" anchor="t" lIns="0" rIns="0" tIns="0" bIns="0">
            <a:spAutoFit/>
          </a:bodyPr>
          <a:lstStyle/>
          <a:p>
            <a:pPr algn="l"/>
            <a:r>
              <a:rPr sz="1400" b="1" i="0">
                <a:solidFill>
                  <a:srgbClr val="111111"/>
                </a:solidFill>
                <a:latin typeface="Arial"/>
              </a:rPr>
              <a:t>Aucune réservation attribuée</a:t>
            </a:r>
          </a:p>
        </p:txBody>
      </p:sp>
      <p:sp>
        <p:nvSpPr>
          <p:cNvPr id="26" name="TextBox 25"/>
          <p:cNvSpPr txBox="1"/>
          <p:nvPr/>
        </p:nvSpPr>
        <p:spPr>
          <a:xfrm>
            <a:off x="6248400" y="4925568"/>
            <a:ext cx="4572000" cy="731520"/>
          </a:xfrm>
          <a:prstGeom prst="rect">
            <a:avLst/>
          </a:prstGeom>
          <a:noFill/>
        </p:spPr>
        <p:txBody>
          <a:bodyPr wrap="square" anchor="t" lIns="0" rIns="0" tIns="0" bIns="0">
            <a:spAutoFit/>
          </a:bodyPr>
          <a:lstStyle/>
          <a:p>
            <a:pPr algn="l"/>
            <a:r>
              <a:rPr sz="1100" b="0" i="0">
                <a:solidFill>
                  <a:srgbClr val="555B66"/>
                </a:solidFill>
                <a:latin typeface="Arial"/>
              </a:rPr>
              <a:t>Aucune conversion n'est remontée par Awin en septembre malgré 9 406 clics.</a:t>
            </a:r>
          </a:p>
        </p:txBody>
      </p:sp>
      <p:sp>
        <p:nvSpPr>
          <p:cNvPr id="27" name="TextBox 26"/>
          <p:cNvSpPr txBox="1"/>
          <p:nvPr/>
        </p:nvSpPr>
        <p:spPr>
          <a:xfrm>
            <a:off x="6248400" y="5626608"/>
            <a:ext cx="4572000" cy="487680"/>
          </a:xfrm>
          <a:prstGeom prst="rect">
            <a:avLst/>
          </a:prstGeom>
          <a:noFill/>
        </p:spPr>
        <p:txBody>
          <a:bodyPr wrap="square" anchor="t" lIns="0" rIns="0" tIns="0" bIns="0">
            <a:spAutoFit/>
          </a:bodyPr>
          <a:lstStyle/>
          <a:p>
            <a:pPr algn="l"/>
            <a:r>
              <a:rPr sz="900" b="1" i="0">
                <a:solidFill>
                  <a:srgbClr val="555B66"/>
                </a:solidFill>
                <a:latin typeface="Arial"/>
              </a:rPr>
              <a:t>→  Vérifier le tracking Awin et le parcours jusqu'à la réservation.</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6F2"/>
          </a:solidFill>
          <a:ln>
            <a:noFill/>
          </a:ln>
          <a:effectLst/>
        </p:spPr>
        <p:txBody>
          <a:bodyPr rtlCol="0" anchor="ctr"/>
          <a:lstStyle/>
          <a:p>
            <a:pPr algn="ctr"/>
          </a:p>
        </p:txBody>
      </p:sp>
      <p:sp>
        <p:nvSpPr>
          <p:cNvPr id="3" name="TextBox 2"/>
          <p:cNvSpPr txBox="1"/>
          <p:nvPr/>
        </p:nvSpPr>
        <p:spPr>
          <a:xfrm>
            <a:off x="530352" y="487680"/>
            <a:ext cx="7315200" cy="182880"/>
          </a:xfrm>
          <a:prstGeom prst="rect">
            <a:avLst/>
          </a:prstGeom>
          <a:noFill/>
        </p:spPr>
        <p:txBody>
          <a:bodyPr wrap="square" anchor="t" lIns="0" rIns="0" tIns="0" bIns="0">
            <a:spAutoFit/>
          </a:bodyPr>
          <a:lstStyle/>
          <a:p>
            <a:pPr algn="l"/>
            <a:r>
              <a:rPr sz="1300" b="1" i="0">
                <a:solidFill>
                  <a:srgbClr val="EE6A2C"/>
                </a:solidFill>
                <a:latin typeface="Arial"/>
              </a:rPr>
              <a:t>RAPPORT DE PERFORMANCE · 01/09/2026 → 30/09/2026</a:t>
            </a:r>
          </a:p>
        </p:txBody>
      </p:sp>
      <p:sp>
        <p:nvSpPr>
          <p:cNvPr id="4" name="TextBox 3"/>
          <p:cNvSpPr txBox="1"/>
          <p:nvPr/>
        </p:nvSpPr>
        <p:spPr>
          <a:xfrm>
            <a:off x="530352" y="640080"/>
            <a:ext cx="7315200" cy="487680"/>
          </a:xfrm>
          <a:prstGeom prst="rect">
            <a:avLst/>
          </a:prstGeom>
          <a:noFill/>
        </p:spPr>
        <p:txBody>
          <a:bodyPr wrap="square" anchor="t" lIns="0" rIns="0" tIns="0" bIns="0">
            <a:spAutoFit/>
          </a:bodyPr>
          <a:lstStyle/>
          <a:p>
            <a:pPr algn="l"/>
            <a:r>
              <a:rPr sz="3600" b="1" i="0">
                <a:solidFill>
                  <a:srgbClr val="111111"/>
                </a:solidFill>
                <a:latin typeface="Arial"/>
              </a:rPr>
              <a:t>Dorel</a:t>
            </a:r>
          </a:p>
        </p:txBody>
      </p:sp>
      <p:sp>
        <p:nvSpPr>
          <p:cNvPr id="5" name="TextBox 4"/>
          <p:cNvSpPr txBox="1"/>
          <p:nvPr/>
        </p:nvSpPr>
        <p:spPr>
          <a:xfrm>
            <a:off x="7924800" y="591312"/>
            <a:ext cx="3304032" cy="152400"/>
          </a:xfrm>
          <a:prstGeom prst="rect">
            <a:avLst/>
          </a:prstGeom>
          <a:noFill/>
        </p:spPr>
        <p:txBody>
          <a:bodyPr wrap="square" anchor="t" lIns="0" rIns="0" tIns="0" bIns="0">
            <a:spAutoFit/>
          </a:bodyPr>
          <a:lstStyle/>
          <a:p>
            <a:pPr algn="r"/>
            <a:r>
              <a:rPr sz="1200" b="1" i="0">
                <a:solidFill>
                  <a:srgbClr val="8A93A6"/>
                </a:solidFill>
                <a:latin typeface="Arial"/>
              </a:rPr>
              <a:t>COMPARAISON</a:t>
            </a:r>
          </a:p>
        </p:txBody>
      </p:sp>
      <p:sp>
        <p:nvSpPr>
          <p:cNvPr id="6" name="TextBox 5"/>
          <p:cNvSpPr txBox="1"/>
          <p:nvPr/>
        </p:nvSpPr>
        <p:spPr>
          <a:xfrm>
            <a:off x="7924800" y="780288"/>
            <a:ext cx="3304032" cy="182880"/>
          </a:xfrm>
          <a:prstGeom prst="rect">
            <a:avLst/>
          </a:prstGeom>
          <a:noFill/>
        </p:spPr>
        <p:txBody>
          <a:bodyPr wrap="square" anchor="t" lIns="0" rIns="0" tIns="0" bIns="0">
            <a:spAutoFit/>
          </a:bodyPr>
          <a:lstStyle/>
          <a:p>
            <a:pPr algn="r"/>
            <a:r>
              <a:rPr sz="1500" b="1" i="0">
                <a:solidFill>
                  <a:srgbClr val="111111"/>
                </a:solidFill>
                <a:latin typeface="Arial"/>
              </a:rPr>
              <a:t>vs 01/08/2026 → 31/08/2026</a:t>
            </a:r>
          </a:p>
        </p:txBody>
      </p:sp>
      <p:sp>
        <p:nvSpPr>
          <p:cNvPr id="7" name="TextBox 6"/>
          <p:cNvSpPr txBox="1"/>
          <p:nvPr/>
        </p:nvSpPr>
        <p:spPr>
          <a:xfrm>
            <a:off x="530352" y="1280160"/>
            <a:ext cx="2438400" cy="182880"/>
          </a:xfrm>
          <a:prstGeom prst="rect">
            <a:avLst/>
          </a:prstGeom>
          <a:noFill/>
        </p:spPr>
        <p:txBody>
          <a:bodyPr wrap="square" anchor="t" lIns="0" rIns="0" tIns="0" bIns="0">
            <a:spAutoFit/>
          </a:bodyPr>
          <a:lstStyle/>
          <a:p>
            <a:pPr algn="l"/>
            <a:r>
              <a:rPr sz="1400" b="1" i="0">
                <a:solidFill>
                  <a:srgbClr val="EE6A2C"/>
                </a:solidFill>
                <a:latin typeface="Arial"/>
              </a:rPr>
              <a:t>DIFFUSION</a:t>
            </a:r>
          </a:p>
        </p:txBody>
      </p:sp>
      <p:sp>
        <p:nvSpPr>
          <p:cNvPr id="8" name="TextBox 7"/>
          <p:cNvSpPr txBox="1"/>
          <p:nvPr/>
        </p:nvSpPr>
        <p:spPr>
          <a:xfrm>
            <a:off x="2389632" y="1280160"/>
            <a:ext cx="2438400" cy="182880"/>
          </a:xfrm>
          <a:prstGeom prst="rect">
            <a:avLst/>
          </a:prstGeom>
          <a:noFill/>
        </p:spPr>
        <p:txBody>
          <a:bodyPr wrap="square" anchor="t" lIns="0" rIns="0" tIns="0" bIns="0">
            <a:spAutoFit/>
          </a:bodyPr>
          <a:lstStyle/>
          <a:p>
            <a:pPr algn="l"/>
            <a:r>
              <a:rPr sz="1400" b="1" i="0">
                <a:solidFill>
                  <a:srgbClr val="EE6A2C"/>
                </a:solidFill>
                <a:latin typeface="Arial"/>
              </a:rPr>
              <a:t>ENGAGEMENT</a:t>
            </a:r>
          </a:p>
        </p:txBody>
      </p:sp>
      <p:sp>
        <p:nvSpPr>
          <p:cNvPr id="9" name="TextBox 8"/>
          <p:cNvSpPr txBox="1"/>
          <p:nvPr/>
        </p:nvSpPr>
        <p:spPr>
          <a:xfrm>
            <a:off x="6108192" y="1280160"/>
            <a:ext cx="2438400" cy="182880"/>
          </a:xfrm>
          <a:prstGeom prst="rect">
            <a:avLst/>
          </a:prstGeom>
          <a:noFill/>
        </p:spPr>
        <p:txBody>
          <a:bodyPr wrap="square" anchor="t" lIns="0" rIns="0" tIns="0" bIns="0">
            <a:spAutoFit/>
          </a:bodyPr>
          <a:lstStyle/>
          <a:p>
            <a:pPr algn="l"/>
            <a:r>
              <a:rPr sz="1400" b="1" i="0">
                <a:solidFill>
                  <a:srgbClr val="EE6A2C"/>
                </a:solidFill>
                <a:latin typeface="Arial"/>
              </a:rPr>
              <a:t>CONVERSION</a:t>
            </a:r>
          </a:p>
        </p:txBody>
      </p:sp>
      <p:sp>
        <p:nvSpPr>
          <p:cNvPr id="10" name="Rectangle 9"/>
          <p:cNvSpPr/>
          <p:nvPr/>
        </p:nvSpPr>
        <p:spPr>
          <a:xfrm>
            <a:off x="530352" y="1536192"/>
            <a:ext cx="1389888" cy="1127760"/>
          </a:xfrm>
          <a:prstGeom prst="rect">
            <a:avLst/>
          </a:prstGeom>
          <a:solidFill>
            <a:srgbClr val="FFFFFF"/>
          </a:solidFill>
          <a:ln>
            <a:noFill/>
          </a:ln>
          <a:effectLst/>
        </p:spPr>
        <p:txBody>
          <a:bodyPr rtlCol="0" anchor="ctr"/>
          <a:lstStyle/>
          <a:p>
            <a:pPr algn="ctr"/>
          </a:p>
        </p:txBody>
      </p:sp>
      <p:sp>
        <p:nvSpPr>
          <p:cNvPr id="11" name="Rectangle 10"/>
          <p:cNvSpPr/>
          <p:nvPr/>
        </p:nvSpPr>
        <p:spPr>
          <a:xfrm>
            <a:off x="530352" y="1536192"/>
            <a:ext cx="24384" cy="1127760"/>
          </a:xfrm>
          <a:prstGeom prst="rect">
            <a:avLst/>
          </a:prstGeom>
          <a:solidFill>
            <a:srgbClr val="EE6A2C"/>
          </a:solidFill>
          <a:ln>
            <a:noFill/>
          </a:ln>
          <a:effectLst/>
        </p:spPr>
        <p:txBody>
          <a:bodyPr rtlCol="0" anchor="ctr"/>
          <a:lstStyle/>
          <a:p>
            <a:pPr algn="ctr"/>
          </a:p>
        </p:txBody>
      </p:sp>
      <p:sp>
        <p:nvSpPr>
          <p:cNvPr id="12" name="TextBox 11"/>
          <p:cNvSpPr txBox="1"/>
          <p:nvPr/>
        </p:nvSpPr>
        <p:spPr>
          <a:xfrm>
            <a:off x="664464" y="1615440"/>
            <a:ext cx="1219200" cy="121920"/>
          </a:xfrm>
          <a:prstGeom prst="rect">
            <a:avLst/>
          </a:prstGeom>
          <a:noFill/>
        </p:spPr>
        <p:txBody>
          <a:bodyPr wrap="square" anchor="t" lIns="0" rIns="0" tIns="0" bIns="0">
            <a:spAutoFit/>
          </a:bodyPr>
          <a:lstStyle/>
          <a:p>
            <a:pPr algn="l"/>
            <a:r>
              <a:rPr sz="1000" b="1" i="0">
                <a:solidFill>
                  <a:srgbClr val="555B66"/>
                </a:solidFill>
                <a:latin typeface="Arial"/>
              </a:rPr>
              <a:t>IMPRESSIONS</a:t>
            </a:r>
          </a:p>
        </p:txBody>
      </p:sp>
      <p:sp>
        <p:nvSpPr>
          <p:cNvPr id="13" name="TextBox 12"/>
          <p:cNvSpPr txBox="1"/>
          <p:nvPr/>
        </p:nvSpPr>
        <p:spPr>
          <a:xfrm>
            <a:off x="664464" y="1889760"/>
            <a:ext cx="1219200" cy="274320"/>
          </a:xfrm>
          <a:prstGeom prst="rect">
            <a:avLst/>
          </a:prstGeom>
          <a:noFill/>
        </p:spPr>
        <p:txBody>
          <a:bodyPr wrap="square" anchor="t" lIns="0" rIns="0" tIns="0" bIns="0">
            <a:spAutoFit/>
          </a:bodyPr>
          <a:lstStyle/>
          <a:p>
            <a:pPr algn="l"/>
            <a:r>
              <a:rPr sz="2200" b="1" i="0">
                <a:solidFill>
                  <a:srgbClr val="111111"/>
                </a:solidFill>
                <a:latin typeface="Arial"/>
              </a:rPr>
              <a:t>392 251</a:t>
            </a:r>
          </a:p>
        </p:txBody>
      </p:sp>
      <p:sp>
        <p:nvSpPr>
          <p:cNvPr id="14" name="TextBox 13"/>
          <p:cNvSpPr txBox="1"/>
          <p:nvPr/>
        </p:nvSpPr>
        <p:spPr>
          <a:xfrm>
            <a:off x="664464" y="2243328"/>
            <a:ext cx="1219200" cy="109728"/>
          </a:xfrm>
          <a:prstGeom prst="rect">
            <a:avLst/>
          </a:prstGeom>
          <a:noFill/>
        </p:spPr>
        <p:txBody>
          <a:bodyPr wrap="square" anchor="t" lIns="0" rIns="0" tIns="0" bIns="0">
            <a:spAutoFit/>
          </a:bodyPr>
          <a:lstStyle/>
          <a:p>
            <a:pPr algn="l"/>
            <a:r>
              <a:rPr sz="1000" b="1" i="0">
                <a:solidFill>
                  <a:srgbClr val="1E7B34"/>
                </a:solidFill>
                <a:latin typeface="Arial"/>
              </a:rPr>
              <a:t>▲ +60 %</a:t>
            </a:r>
          </a:p>
        </p:txBody>
      </p:sp>
      <p:sp>
        <p:nvSpPr>
          <p:cNvPr id="15" name="TextBox 14"/>
          <p:cNvSpPr txBox="1"/>
          <p:nvPr/>
        </p:nvSpPr>
        <p:spPr>
          <a:xfrm>
            <a:off x="664464" y="2499360"/>
            <a:ext cx="1219200" cy="91440"/>
          </a:xfrm>
          <a:prstGeom prst="rect">
            <a:avLst/>
          </a:prstGeom>
          <a:noFill/>
        </p:spPr>
        <p:txBody>
          <a:bodyPr wrap="square" anchor="t" lIns="0" rIns="0" tIns="0" bIns="0">
            <a:spAutoFit/>
          </a:bodyPr>
          <a:lstStyle/>
          <a:p>
            <a:pPr algn="l"/>
            <a:r>
              <a:rPr sz="800" b="0" i="1">
                <a:solidFill>
                  <a:srgbClr val="555B66"/>
                </a:solidFill>
                <a:latin typeface="Arial"/>
              </a:rPr>
              <a:t>YTD 954 461</a:t>
            </a:r>
          </a:p>
        </p:txBody>
      </p:sp>
      <p:sp>
        <p:nvSpPr>
          <p:cNvPr id="16" name="Rectangle 15"/>
          <p:cNvSpPr/>
          <p:nvPr/>
        </p:nvSpPr>
        <p:spPr>
          <a:xfrm>
            <a:off x="2389632" y="1536192"/>
            <a:ext cx="1389888" cy="1127760"/>
          </a:xfrm>
          <a:prstGeom prst="rect">
            <a:avLst/>
          </a:prstGeom>
          <a:solidFill>
            <a:srgbClr val="FFFFFF"/>
          </a:solidFill>
          <a:ln>
            <a:noFill/>
          </a:ln>
          <a:effectLst/>
        </p:spPr>
        <p:txBody>
          <a:bodyPr rtlCol="0" anchor="ctr"/>
          <a:lstStyle/>
          <a:p>
            <a:pPr algn="ctr"/>
          </a:p>
        </p:txBody>
      </p:sp>
      <p:sp>
        <p:nvSpPr>
          <p:cNvPr id="17" name="Rectangle 16"/>
          <p:cNvSpPr/>
          <p:nvPr/>
        </p:nvSpPr>
        <p:spPr>
          <a:xfrm>
            <a:off x="2389632" y="1536192"/>
            <a:ext cx="24384" cy="1127760"/>
          </a:xfrm>
          <a:prstGeom prst="rect">
            <a:avLst/>
          </a:prstGeom>
          <a:solidFill>
            <a:srgbClr val="EE6A2C"/>
          </a:solidFill>
          <a:ln>
            <a:noFill/>
          </a:ln>
          <a:effectLst/>
        </p:spPr>
        <p:txBody>
          <a:bodyPr rtlCol="0" anchor="ctr"/>
          <a:lstStyle/>
          <a:p>
            <a:pPr algn="ctr"/>
          </a:p>
        </p:txBody>
      </p:sp>
      <p:sp>
        <p:nvSpPr>
          <p:cNvPr id="18" name="TextBox 17"/>
          <p:cNvSpPr txBox="1"/>
          <p:nvPr/>
        </p:nvSpPr>
        <p:spPr>
          <a:xfrm>
            <a:off x="2523744" y="1615440"/>
            <a:ext cx="1219200" cy="121920"/>
          </a:xfrm>
          <a:prstGeom prst="rect">
            <a:avLst/>
          </a:prstGeom>
          <a:noFill/>
        </p:spPr>
        <p:txBody>
          <a:bodyPr wrap="square" anchor="t" lIns="0" rIns="0" tIns="0" bIns="0">
            <a:spAutoFit/>
          </a:bodyPr>
          <a:lstStyle/>
          <a:p>
            <a:pPr algn="l"/>
            <a:r>
              <a:rPr sz="1000" b="1" i="0">
                <a:solidFill>
                  <a:srgbClr val="555B66"/>
                </a:solidFill>
                <a:latin typeface="Arial"/>
              </a:rPr>
              <a:t>CLICS</a:t>
            </a:r>
          </a:p>
        </p:txBody>
      </p:sp>
      <p:sp>
        <p:nvSpPr>
          <p:cNvPr id="19" name="TextBox 18"/>
          <p:cNvSpPr txBox="1"/>
          <p:nvPr/>
        </p:nvSpPr>
        <p:spPr>
          <a:xfrm>
            <a:off x="2523744" y="1889760"/>
            <a:ext cx="1219200" cy="274320"/>
          </a:xfrm>
          <a:prstGeom prst="rect">
            <a:avLst/>
          </a:prstGeom>
          <a:noFill/>
        </p:spPr>
        <p:txBody>
          <a:bodyPr wrap="square" anchor="t" lIns="0" rIns="0" tIns="0" bIns="0">
            <a:spAutoFit/>
          </a:bodyPr>
          <a:lstStyle/>
          <a:p>
            <a:pPr algn="l"/>
            <a:r>
              <a:rPr sz="2200" b="1" i="0">
                <a:solidFill>
                  <a:srgbClr val="111111"/>
                </a:solidFill>
                <a:latin typeface="Arial"/>
              </a:rPr>
              <a:t>1 990</a:t>
            </a:r>
          </a:p>
        </p:txBody>
      </p:sp>
      <p:sp>
        <p:nvSpPr>
          <p:cNvPr id="20" name="TextBox 19"/>
          <p:cNvSpPr txBox="1"/>
          <p:nvPr/>
        </p:nvSpPr>
        <p:spPr>
          <a:xfrm>
            <a:off x="2523744" y="2243328"/>
            <a:ext cx="1219200" cy="109728"/>
          </a:xfrm>
          <a:prstGeom prst="rect">
            <a:avLst/>
          </a:prstGeom>
          <a:noFill/>
        </p:spPr>
        <p:txBody>
          <a:bodyPr wrap="square" anchor="t" lIns="0" rIns="0" tIns="0" bIns="0">
            <a:spAutoFit/>
          </a:bodyPr>
          <a:lstStyle/>
          <a:p>
            <a:pPr algn="l"/>
            <a:r>
              <a:rPr sz="1000" b="1" i="0">
                <a:solidFill>
                  <a:srgbClr val="1E7B34"/>
                </a:solidFill>
                <a:latin typeface="Arial"/>
              </a:rPr>
              <a:t>▲ +247 %</a:t>
            </a:r>
          </a:p>
        </p:txBody>
      </p:sp>
      <p:sp>
        <p:nvSpPr>
          <p:cNvPr id="21" name="TextBox 20"/>
          <p:cNvSpPr txBox="1"/>
          <p:nvPr/>
        </p:nvSpPr>
        <p:spPr>
          <a:xfrm>
            <a:off x="2523744" y="2499360"/>
            <a:ext cx="1219200" cy="91440"/>
          </a:xfrm>
          <a:prstGeom prst="rect">
            <a:avLst/>
          </a:prstGeom>
          <a:noFill/>
        </p:spPr>
        <p:txBody>
          <a:bodyPr wrap="square" anchor="t" lIns="0" rIns="0" tIns="0" bIns="0">
            <a:spAutoFit/>
          </a:bodyPr>
          <a:lstStyle/>
          <a:p>
            <a:pPr algn="l"/>
            <a:r>
              <a:rPr sz="800" b="0" i="1">
                <a:solidFill>
                  <a:srgbClr val="555B66"/>
                </a:solidFill>
                <a:latin typeface="Arial"/>
              </a:rPr>
              <a:t>YTD 3 100</a:t>
            </a:r>
          </a:p>
        </p:txBody>
      </p:sp>
      <p:sp>
        <p:nvSpPr>
          <p:cNvPr id="22" name="Rectangle 21"/>
          <p:cNvSpPr/>
          <p:nvPr/>
        </p:nvSpPr>
        <p:spPr>
          <a:xfrm>
            <a:off x="4248912" y="1536192"/>
            <a:ext cx="1389888" cy="1127760"/>
          </a:xfrm>
          <a:prstGeom prst="rect">
            <a:avLst/>
          </a:prstGeom>
          <a:solidFill>
            <a:srgbClr val="FFFFFF"/>
          </a:solidFill>
          <a:ln>
            <a:noFill/>
          </a:ln>
          <a:effectLst/>
        </p:spPr>
        <p:txBody>
          <a:bodyPr rtlCol="0" anchor="ctr"/>
          <a:lstStyle/>
          <a:p>
            <a:pPr algn="ctr"/>
          </a:p>
        </p:txBody>
      </p:sp>
      <p:sp>
        <p:nvSpPr>
          <p:cNvPr id="23" name="Rectangle 22"/>
          <p:cNvSpPr/>
          <p:nvPr/>
        </p:nvSpPr>
        <p:spPr>
          <a:xfrm>
            <a:off x="4248912" y="1536192"/>
            <a:ext cx="24384" cy="1127760"/>
          </a:xfrm>
          <a:prstGeom prst="rect">
            <a:avLst/>
          </a:prstGeom>
          <a:solidFill>
            <a:srgbClr val="EE6A2C"/>
          </a:solidFill>
          <a:ln>
            <a:noFill/>
          </a:ln>
          <a:effectLst/>
        </p:spPr>
        <p:txBody>
          <a:bodyPr rtlCol="0" anchor="ctr"/>
          <a:lstStyle/>
          <a:p>
            <a:pPr algn="ctr"/>
          </a:p>
        </p:txBody>
      </p:sp>
      <p:sp>
        <p:nvSpPr>
          <p:cNvPr id="24" name="TextBox 23"/>
          <p:cNvSpPr txBox="1"/>
          <p:nvPr/>
        </p:nvSpPr>
        <p:spPr>
          <a:xfrm>
            <a:off x="4383024" y="1615440"/>
            <a:ext cx="1219200" cy="121920"/>
          </a:xfrm>
          <a:prstGeom prst="rect">
            <a:avLst/>
          </a:prstGeom>
          <a:noFill/>
        </p:spPr>
        <p:txBody>
          <a:bodyPr wrap="square" anchor="t" lIns="0" rIns="0" tIns="0" bIns="0">
            <a:spAutoFit/>
          </a:bodyPr>
          <a:lstStyle/>
          <a:p>
            <a:pPr algn="l"/>
            <a:r>
              <a:rPr sz="1000" b="1" i="0">
                <a:solidFill>
                  <a:srgbClr val="555B66"/>
                </a:solidFill>
                <a:latin typeface="Arial"/>
              </a:rPr>
              <a:t>CTR</a:t>
            </a:r>
          </a:p>
        </p:txBody>
      </p:sp>
      <p:sp>
        <p:nvSpPr>
          <p:cNvPr id="25" name="TextBox 24"/>
          <p:cNvSpPr txBox="1"/>
          <p:nvPr/>
        </p:nvSpPr>
        <p:spPr>
          <a:xfrm>
            <a:off x="4383024" y="1889760"/>
            <a:ext cx="1219200" cy="274320"/>
          </a:xfrm>
          <a:prstGeom prst="rect">
            <a:avLst/>
          </a:prstGeom>
          <a:noFill/>
        </p:spPr>
        <p:txBody>
          <a:bodyPr wrap="square" anchor="t" lIns="0" rIns="0" tIns="0" bIns="0">
            <a:spAutoFit/>
          </a:bodyPr>
          <a:lstStyle/>
          <a:p>
            <a:pPr algn="l"/>
            <a:r>
              <a:rPr sz="2200" b="1" i="0">
                <a:solidFill>
                  <a:srgbClr val="111111"/>
                </a:solidFill>
                <a:latin typeface="Arial"/>
              </a:rPr>
              <a:t>0,51 %</a:t>
            </a:r>
          </a:p>
        </p:txBody>
      </p:sp>
      <p:sp>
        <p:nvSpPr>
          <p:cNvPr id="26" name="TextBox 25"/>
          <p:cNvSpPr txBox="1"/>
          <p:nvPr/>
        </p:nvSpPr>
        <p:spPr>
          <a:xfrm>
            <a:off x="4383024" y="2243328"/>
            <a:ext cx="1219200" cy="109728"/>
          </a:xfrm>
          <a:prstGeom prst="rect">
            <a:avLst/>
          </a:prstGeom>
          <a:noFill/>
        </p:spPr>
        <p:txBody>
          <a:bodyPr wrap="square" anchor="t" lIns="0" rIns="0" tIns="0" bIns="0">
            <a:spAutoFit/>
          </a:bodyPr>
          <a:lstStyle/>
          <a:p>
            <a:pPr algn="l"/>
            <a:r>
              <a:rPr sz="1000" b="1" i="0">
                <a:solidFill>
                  <a:srgbClr val="1E7B34"/>
                </a:solidFill>
                <a:latin typeface="Arial"/>
              </a:rPr>
              <a:t>▲ +0,27 pt</a:t>
            </a:r>
          </a:p>
        </p:txBody>
      </p:sp>
      <p:sp>
        <p:nvSpPr>
          <p:cNvPr id="27" name="TextBox 26"/>
          <p:cNvSpPr txBox="1"/>
          <p:nvPr/>
        </p:nvSpPr>
        <p:spPr>
          <a:xfrm>
            <a:off x="4383024" y="2499360"/>
            <a:ext cx="1219200" cy="91440"/>
          </a:xfrm>
          <a:prstGeom prst="rect">
            <a:avLst/>
          </a:prstGeom>
          <a:noFill/>
        </p:spPr>
        <p:txBody>
          <a:bodyPr wrap="square" anchor="t" lIns="0" rIns="0" tIns="0" bIns="0">
            <a:spAutoFit/>
          </a:bodyPr>
          <a:lstStyle/>
          <a:p>
            <a:pPr algn="l"/>
            <a:r>
              <a:rPr sz="800" b="0" i="1">
                <a:solidFill>
                  <a:srgbClr val="555B66"/>
                </a:solidFill>
                <a:latin typeface="Arial"/>
              </a:rPr>
              <a:t>YTD 0,32 %</a:t>
            </a:r>
          </a:p>
        </p:txBody>
      </p:sp>
      <p:sp>
        <p:nvSpPr>
          <p:cNvPr id="28" name="Rectangle 27"/>
          <p:cNvSpPr/>
          <p:nvPr/>
        </p:nvSpPr>
        <p:spPr>
          <a:xfrm>
            <a:off x="6108192" y="1536192"/>
            <a:ext cx="1389888" cy="1127760"/>
          </a:xfrm>
          <a:prstGeom prst="rect">
            <a:avLst/>
          </a:prstGeom>
          <a:solidFill>
            <a:srgbClr val="F1EFEB"/>
          </a:solidFill>
          <a:ln>
            <a:noFill/>
          </a:ln>
          <a:effectLst/>
        </p:spPr>
        <p:txBody>
          <a:bodyPr rtlCol="0" anchor="ctr"/>
          <a:lstStyle/>
          <a:p>
            <a:pPr algn="ctr"/>
          </a:p>
        </p:txBody>
      </p:sp>
      <p:sp>
        <p:nvSpPr>
          <p:cNvPr id="29" name="Rounded Rectangle 28"/>
          <p:cNvSpPr/>
          <p:nvPr/>
        </p:nvSpPr>
        <p:spPr>
          <a:xfrm>
            <a:off x="6827520" y="1450848"/>
            <a:ext cx="609600" cy="170688"/>
          </a:xfrm>
          <a:prstGeom prst="roundRect">
            <a:avLst>
              <a:gd name="adj" fmla="val 50000"/>
            </a:avLst>
          </a:prstGeom>
          <a:solidFill>
            <a:srgbClr val="D9D6D1"/>
          </a:solidFill>
          <a:ln>
            <a:noFill/>
          </a:ln>
          <a:effectLst/>
        </p:spPr>
        <p:txBody>
          <a:bodyPr rtlCol="0" anchor="ctr"/>
          <a:lstStyle/>
          <a:p>
            <a:pPr algn="ctr"/>
          </a:p>
        </p:txBody>
      </p:sp>
      <p:sp>
        <p:nvSpPr>
          <p:cNvPr id="30" name="TextBox 29"/>
          <p:cNvSpPr txBox="1"/>
          <p:nvPr/>
        </p:nvSpPr>
        <p:spPr>
          <a:xfrm>
            <a:off x="6827520" y="1450848"/>
            <a:ext cx="609600" cy="170688"/>
          </a:xfrm>
          <a:prstGeom prst="rect">
            <a:avLst/>
          </a:prstGeom>
          <a:noFill/>
        </p:spPr>
        <p:txBody>
          <a:bodyPr wrap="square" anchor="ctr" lIns="0" rIns="0" tIns="0" bIns="0">
            <a:spAutoFit/>
          </a:bodyPr>
          <a:lstStyle/>
          <a:p>
            <a:pPr algn="ctr"/>
            <a:r>
              <a:rPr sz="800" b="1" i="0">
                <a:solidFill>
                  <a:srgbClr val="555B66"/>
                </a:solidFill>
                <a:latin typeface="Arial"/>
              </a:rPr>
              <a:t>INDICATIF</a:t>
            </a:r>
          </a:p>
        </p:txBody>
      </p:sp>
      <p:sp>
        <p:nvSpPr>
          <p:cNvPr id="31" name="TextBox 30"/>
          <p:cNvSpPr txBox="1"/>
          <p:nvPr/>
        </p:nvSpPr>
        <p:spPr>
          <a:xfrm>
            <a:off x="6242304" y="1706880"/>
            <a:ext cx="1219200" cy="121920"/>
          </a:xfrm>
          <a:prstGeom prst="rect">
            <a:avLst/>
          </a:prstGeom>
          <a:noFill/>
        </p:spPr>
        <p:txBody>
          <a:bodyPr wrap="square" anchor="t" lIns="0" rIns="0" tIns="0" bIns="0">
            <a:spAutoFit/>
          </a:bodyPr>
          <a:lstStyle/>
          <a:p>
            <a:pPr algn="l"/>
            <a:r>
              <a:rPr sz="1000" b="1" i="0">
                <a:solidFill>
                  <a:srgbClr val="8A93A6"/>
                </a:solidFill>
                <a:latin typeface="Arial"/>
              </a:rPr>
              <a:t>CONVERSIONS</a:t>
            </a:r>
          </a:p>
        </p:txBody>
      </p:sp>
      <p:sp>
        <p:nvSpPr>
          <p:cNvPr id="32" name="TextBox 31"/>
          <p:cNvSpPr txBox="1"/>
          <p:nvPr/>
        </p:nvSpPr>
        <p:spPr>
          <a:xfrm>
            <a:off x="6242304" y="1889760"/>
            <a:ext cx="1219200" cy="274320"/>
          </a:xfrm>
          <a:prstGeom prst="rect">
            <a:avLst/>
          </a:prstGeom>
          <a:noFill/>
        </p:spPr>
        <p:txBody>
          <a:bodyPr wrap="square" anchor="t" lIns="0" rIns="0" tIns="0" bIns="0">
            <a:spAutoFit/>
          </a:bodyPr>
          <a:lstStyle/>
          <a:p>
            <a:pPr algn="l"/>
            <a:r>
              <a:rPr sz="2200" b="1" i="0">
                <a:solidFill>
                  <a:srgbClr val="8A93A6"/>
                </a:solidFill>
                <a:latin typeface="Arial"/>
              </a:rPr>
              <a:t>N/C</a:t>
            </a:r>
          </a:p>
        </p:txBody>
      </p:sp>
      <p:sp>
        <p:nvSpPr>
          <p:cNvPr id="33" name="TextBox 32"/>
          <p:cNvSpPr txBox="1"/>
          <p:nvPr/>
        </p:nvSpPr>
        <p:spPr>
          <a:xfrm>
            <a:off x="6242304" y="2243328"/>
            <a:ext cx="1219200" cy="109728"/>
          </a:xfrm>
          <a:prstGeom prst="rect">
            <a:avLst/>
          </a:prstGeom>
          <a:noFill/>
        </p:spPr>
        <p:txBody>
          <a:bodyPr wrap="square" anchor="t" lIns="0" rIns="0" tIns="0" bIns="0">
            <a:spAutoFit/>
          </a:bodyPr>
          <a:lstStyle/>
          <a:p>
            <a:pPr algn="l"/>
            <a:r>
              <a:rPr sz="1000" b="1" i="0">
                <a:solidFill>
                  <a:srgbClr val="8A93A6"/>
                </a:solidFill>
                <a:latin typeface="Arial"/>
              </a:rPr>
              <a:t>—</a:t>
            </a:r>
          </a:p>
        </p:txBody>
      </p:sp>
      <p:sp>
        <p:nvSpPr>
          <p:cNvPr id="34" name="TextBox 33"/>
          <p:cNvSpPr txBox="1"/>
          <p:nvPr/>
        </p:nvSpPr>
        <p:spPr>
          <a:xfrm>
            <a:off x="6242304" y="2499360"/>
            <a:ext cx="1219200" cy="91440"/>
          </a:xfrm>
          <a:prstGeom prst="rect">
            <a:avLst/>
          </a:prstGeom>
          <a:noFill/>
        </p:spPr>
        <p:txBody>
          <a:bodyPr wrap="square" anchor="t" lIns="0" rIns="0" tIns="0" bIns="0">
            <a:spAutoFit/>
          </a:bodyPr>
          <a:lstStyle/>
          <a:p>
            <a:pPr algn="l"/>
            <a:r>
              <a:rPr sz="800" b="0" i="1">
                <a:solidFill>
                  <a:srgbClr val="8A93A6"/>
                </a:solidFill>
                <a:latin typeface="Arial"/>
              </a:rPr>
              <a:t>YTD —</a:t>
            </a:r>
          </a:p>
        </p:txBody>
      </p:sp>
      <p:sp>
        <p:nvSpPr>
          <p:cNvPr id="35" name="Rectangle 34"/>
          <p:cNvSpPr/>
          <p:nvPr/>
        </p:nvSpPr>
        <p:spPr>
          <a:xfrm>
            <a:off x="7967472" y="1536192"/>
            <a:ext cx="1389888" cy="1127760"/>
          </a:xfrm>
          <a:prstGeom prst="rect">
            <a:avLst/>
          </a:prstGeom>
          <a:solidFill>
            <a:srgbClr val="F1EFEB"/>
          </a:solidFill>
          <a:ln>
            <a:noFill/>
          </a:ln>
          <a:effectLst/>
        </p:spPr>
        <p:txBody>
          <a:bodyPr rtlCol="0" anchor="ctr"/>
          <a:lstStyle/>
          <a:p>
            <a:pPr algn="ctr"/>
          </a:p>
        </p:txBody>
      </p:sp>
      <p:sp>
        <p:nvSpPr>
          <p:cNvPr id="36" name="Rounded Rectangle 35"/>
          <p:cNvSpPr/>
          <p:nvPr/>
        </p:nvSpPr>
        <p:spPr>
          <a:xfrm>
            <a:off x="8686800" y="1450848"/>
            <a:ext cx="609600" cy="170688"/>
          </a:xfrm>
          <a:prstGeom prst="roundRect">
            <a:avLst>
              <a:gd name="adj" fmla="val 50000"/>
            </a:avLst>
          </a:prstGeom>
          <a:solidFill>
            <a:srgbClr val="D9D6D1"/>
          </a:solidFill>
          <a:ln>
            <a:noFill/>
          </a:ln>
          <a:effectLst/>
        </p:spPr>
        <p:txBody>
          <a:bodyPr rtlCol="0" anchor="ctr"/>
          <a:lstStyle/>
          <a:p>
            <a:pPr algn="ctr"/>
          </a:p>
        </p:txBody>
      </p:sp>
      <p:sp>
        <p:nvSpPr>
          <p:cNvPr id="37" name="TextBox 36"/>
          <p:cNvSpPr txBox="1"/>
          <p:nvPr/>
        </p:nvSpPr>
        <p:spPr>
          <a:xfrm>
            <a:off x="8686800" y="1450848"/>
            <a:ext cx="609600" cy="170688"/>
          </a:xfrm>
          <a:prstGeom prst="rect">
            <a:avLst/>
          </a:prstGeom>
          <a:noFill/>
        </p:spPr>
        <p:txBody>
          <a:bodyPr wrap="square" anchor="ctr" lIns="0" rIns="0" tIns="0" bIns="0">
            <a:spAutoFit/>
          </a:bodyPr>
          <a:lstStyle/>
          <a:p>
            <a:pPr algn="ctr"/>
            <a:r>
              <a:rPr sz="800" b="1" i="0">
                <a:solidFill>
                  <a:srgbClr val="555B66"/>
                </a:solidFill>
                <a:latin typeface="Arial"/>
              </a:rPr>
              <a:t>INDICATIF</a:t>
            </a:r>
          </a:p>
        </p:txBody>
      </p:sp>
      <p:sp>
        <p:nvSpPr>
          <p:cNvPr id="38" name="TextBox 37"/>
          <p:cNvSpPr txBox="1"/>
          <p:nvPr/>
        </p:nvSpPr>
        <p:spPr>
          <a:xfrm>
            <a:off x="8101584" y="1706880"/>
            <a:ext cx="1219200" cy="121920"/>
          </a:xfrm>
          <a:prstGeom prst="rect">
            <a:avLst/>
          </a:prstGeom>
          <a:noFill/>
        </p:spPr>
        <p:txBody>
          <a:bodyPr wrap="square" anchor="t" lIns="0" rIns="0" tIns="0" bIns="0">
            <a:spAutoFit/>
          </a:bodyPr>
          <a:lstStyle/>
          <a:p>
            <a:pPr algn="l"/>
            <a:r>
              <a:rPr sz="1000" b="1" i="0">
                <a:solidFill>
                  <a:srgbClr val="8A93A6"/>
                </a:solidFill>
                <a:latin typeface="Arial"/>
              </a:rPr>
              <a:t>CVR</a:t>
            </a:r>
          </a:p>
        </p:txBody>
      </p:sp>
      <p:sp>
        <p:nvSpPr>
          <p:cNvPr id="39" name="TextBox 38"/>
          <p:cNvSpPr txBox="1"/>
          <p:nvPr/>
        </p:nvSpPr>
        <p:spPr>
          <a:xfrm>
            <a:off x="8101584" y="1889760"/>
            <a:ext cx="1219200" cy="274320"/>
          </a:xfrm>
          <a:prstGeom prst="rect">
            <a:avLst/>
          </a:prstGeom>
          <a:noFill/>
        </p:spPr>
        <p:txBody>
          <a:bodyPr wrap="square" anchor="t" lIns="0" rIns="0" tIns="0" bIns="0">
            <a:spAutoFit/>
          </a:bodyPr>
          <a:lstStyle/>
          <a:p>
            <a:pPr algn="l"/>
            <a:r>
              <a:rPr sz="2200" b="1" i="0">
                <a:solidFill>
                  <a:srgbClr val="8A93A6"/>
                </a:solidFill>
                <a:latin typeface="Arial"/>
              </a:rPr>
              <a:t>N/C</a:t>
            </a:r>
          </a:p>
        </p:txBody>
      </p:sp>
      <p:sp>
        <p:nvSpPr>
          <p:cNvPr id="40" name="TextBox 39"/>
          <p:cNvSpPr txBox="1"/>
          <p:nvPr/>
        </p:nvSpPr>
        <p:spPr>
          <a:xfrm>
            <a:off x="8101584" y="2243328"/>
            <a:ext cx="1219200" cy="109728"/>
          </a:xfrm>
          <a:prstGeom prst="rect">
            <a:avLst/>
          </a:prstGeom>
          <a:noFill/>
        </p:spPr>
        <p:txBody>
          <a:bodyPr wrap="square" anchor="t" lIns="0" rIns="0" tIns="0" bIns="0">
            <a:spAutoFit/>
          </a:bodyPr>
          <a:lstStyle/>
          <a:p>
            <a:pPr algn="l"/>
            <a:r>
              <a:rPr sz="1000" b="1" i="0">
                <a:solidFill>
                  <a:srgbClr val="8A93A6"/>
                </a:solidFill>
                <a:latin typeface="Arial"/>
              </a:rPr>
              <a:t>—</a:t>
            </a:r>
          </a:p>
        </p:txBody>
      </p:sp>
      <p:sp>
        <p:nvSpPr>
          <p:cNvPr id="41" name="TextBox 40"/>
          <p:cNvSpPr txBox="1"/>
          <p:nvPr/>
        </p:nvSpPr>
        <p:spPr>
          <a:xfrm>
            <a:off x="8101584" y="2499360"/>
            <a:ext cx="1219200" cy="91440"/>
          </a:xfrm>
          <a:prstGeom prst="rect">
            <a:avLst/>
          </a:prstGeom>
          <a:noFill/>
        </p:spPr>
        <p:txBody>
          <a:bodyPr wrap="square" anchor="t" lIns="0" rIns="0" tIns="0" bIns="0">
            <a:spAutoFit/>
          </a:bodyPr>
          <a:lstStyle/>
          <a:p>
            <a:pPr algn="l"/>
            <a:r>
              <a:rPr sz="800" b="0" i="1">
                <a:solidFill>
                  <a:srgbClr val="8A93A6"/>
                </a:solidFill>
                <a:latin typeface="Arial"/>
              </a:rPr>
              <a:t>YTD —</a:t>
            </a:r>
          </a:p>
        </p:txBody>
      </p:sp>
      <p:sp>
        <p:nvSpPr>
          <p:cNvPr id="42" name="Rectangle 41"/>
          <p:cNvSpPr/>
          <p:nvPr/>
        </p:nvSpPr>
        <p:spPr>
          <a:xfrm>
            <a:off x="9826752" y="1536192"/>
            <a:ext cx="1389888" cy="1127760"/>
          </a:xfrm>
          <a:prstGeom prst="rect">
            <a:avLst/>
          </a:prstGeom>
          <a:solidFill>
            <a:srgbClr val="F1EFEB"/>
          </a:solidFill>
          <a:ln>
            <a:noFill/>
          </a:ln>
          <a:effectLst/>
        </p:spPr>
        <p:txBody>
          <a:bodyPr rtlCol="0" anchor="ctr"/>
          <a:lstStyle/>
          <a:p>
            <a:pPr algn="ctr"/>
          </a:p>
        </p:txBody>
      </p:sp>
      <p:sp>
        <p:nvSpPr>
          <p:cNvPr id="43" name="Rounded Rectangle 42"/>
          <p:cNvSpPr/>
          <p:nvPr/>
        </p:nvSpPr>
        <p:spPr>
          <a:xfrm>
            <a:off x="10546080" y="1450848"/>
            <a:ext cx="609600" cy="170688"/>
          </a:xfrm>
          <a:prstGeom prst="roundRect">
            <a:avLst>
              <a:gd name="adj" fmla="val 50000"/>
            </a:avLst>
          </a:prstGeom>
          <a:solidFill>
            <a:srgbClr val="D9D6D1"/>
          </a:solidFill>
          <a:ln>
            <a:noFill/>
          </a:ln>
          <a:effectLst/>
        </p:spPr>
        <p:txBody>
          <a:bodyPr rtlCol="0" anchor="ctr"/>
          <a:lstStyle/>
          <a:p>
            <a:pPr algn="ctr"/>
          </a:p>
        </p:txBody>
      </p:sp>
      <p:sp>
        <p:nvSpPr>
          <p:cNvPr id="44" name="TextBox 43"/>
          <p:cNvSpPr txBox="1"/>
          <p:nvPr/>
        </p:nvSpPr>
        <p:spPr>
          <a:xfrm>
            <a:off x="10546080" y="1450848"/>
            <a:ext cx="609600" cy="170688"/>
          </a:xfrm>
          <a:prstGeom prst="rect">
            <a:avLst/>
          </a:prstGeom>
          <a:noFill/>
        </p:spPr>
        <p:txBody>
          <a:bodyPr wrap="square" anchor="ctr" lIns="0" rIns="0" tIns="0" bIns="0">
            <a:spAutoFit/>
          </a:bodyPr>
          <a:lstStyle/>
          <a:p>
            <a:pPr algn="ctr"/>
            <a:r>
              <a:rPr sz="800" b="1" i="0">
                <a:solidFill>
                  <a:srgbClr val="555B66"/>
                </a:solidFill>
                <a:latin typeface="Arial"/>
              </a:rPr>
              <a:t>INDICATIF</a:t>
            </a:r>
          </a:p>
        </p:txBody>
      </p:sp>
      <p:sp>
        <p:nvSpPr>
          <p:cNvPr id="45" name="TextBox 44"/>
          <p:cNvSpPr txBox="1"/>
          <p:nvPr/>
        </p:nvSpPr>
        <p:spPr>
          <a:xfrm>
            <a:off x="9960864" y="1706880"/>
            <a:ext cx="1219200" cy="121920"/>
          </a:xfrm>
          <a:prstGeom prst="rect">
            <a:avLst/>
          </a:prstGeom>
          <a:noFill/>
        </p:spPr>
        <p:txBody>
          <a:bodyPr wrap="square" anchor="t" lIns="0" rIns="0" tIns="0" bIns="0">
            <a:spAutoFit/>
          </a:bodyPr>
          <a:lstStyle/>
          <a:p>
            <a:pPr algn="l"/>
            <a:r>
              <a:rPr sz="1000" b="1" i="0">
                <a:solidFill>
                  <a:srgbClr val="8A93A6"/>
                </a:solidFill>
                <a:latin typeface="Arial"/>
              </a:rPr>
              <a:t>ROAS</a:t>
            </a:r>
          </a:p>
        </p:txBody>
      </p:sp>
      <p:sp>
        <p:nvSpPr>
          <p:cNvPr id="46" name="TextBox 45"/>
          <p:cNvSpPr txBox="1"/>
          <p:nvPr/>
        </p:nvSpPr>
        <p:spPr>
          <a:xfrm>
            <a:off x="9960864" y="1889760"/>
            <a:ext cx="1219200" cy="274320"/>
          </a:xfrm>
          <a:prstGeom prst="rect">
            <a:avLst/>
          </a:prstGeom>
          <a:noFill/>
        </p:spPr>
        <p:txBody>
          <a:bodyPr wrap="square" anchor="t" lIns="0" rIns="0" tIns="0" bIns="0">
            <a:spAutoFit/>
          </a:bodyPr>
          <a:lstStyle/>
          <a:p>
            <a:pPr algn="l"/>
            <a:r>
              <a:rPr sz="2200" b="1" i="0">
                <a:solidFill>
                  <a:srgbClr val="8A93A6"/>
                </a:solidFill>
                <a:latin typeface="Arial"/>
              </a:rPr>
              <a:t>N/C</a:t>
            </a:r>
          </a:p>
        </p:txBody>
      </p:sp>
      <p:sp>
        <p:nvSpPr>
          <p:cNvPr id="47" name="TextBox 46"/>
          <p:cNvSpPr txBox="1"/>
          <p:nvPr/>
        </p:nvSpPr>
        <p:spPr>
          <a:xfrm>
            <a:off x="9960864" y="2243328"/>
            <a:ext cx="1219200" cy="109728"/>
          </a:xfrm>
          <a:prstGeom prst="rect">
            <a:avLst/>
          </a:prstGeom>
          <a:noFill/>
        </p:spPr>
        <p:txBody>
          <a:bodyPr wrap="square" anchor="t" lIns="0" rIns="0" tIns="0" bIns="0">
            <a:spAutoFit/>
          </a:bodyPr>
          <a:lstStyle/>
          <a:p>
            <a:pPr algn="l"/>
            <a:r>
              <a:rPr sz="1000" b="1" i="0">
                <a:solidFill>
                  <a:srgbClr val="8A93A6"/>
                </a:solidFill>
                <a:latin typeface="Arial"/>
              </a:rPr>
              <a:t>—</a:t>
            </a:r>
          </a:p>
        </p:txBody>
      </p:sp>
      <p:sp>
        <p:nvSpPr>
          <p:cNvPr id="48" name="TextBox 47"/>
          <p:cNvSpPr txBox="1"/>
          <p:nvPr/>
        </p:nvSpPr>
        <p:spPr>
          <a:xfrm>
            <a:off x="9960864" y="2499360"/>
            <a:ext cx="1219200" cy="91440"/>
          </a:xfrm>
          <a:prstGeom prst="rect">
            <a:avLst/>
          </a:prstGeom>
          <a:noFill/>
        </p:spPr>
        <p:txBody>
          <a:bodyPr wrap="square" anchor="t" lIns="0" rIns="0" tIns="0" bIns="0">
            <a:spAutoFit/>
          </a:bodyPr>
          <a:lstStyle/>
          <a:p>
            <a:pPr algn="l"/>
            <a:r>
              <a:rPr sz="800" b="0" i="1">
                <a:solidFill>
                  <a:srgbClr val="8A93A6"/>
                </a:solidFill>
                <a:latin typeface="Arial"/>
              </a:rPr>
              <a:t>YTD —</a:t>
            </a:r>
          </a:p>
        </p:txBody>
      </p:sp>
      <p:sp>
        <p:nvSpPr>
          <p:cNvPr id="49" name="Isosceles Triangle 48"/>
          <p:cNvSpPr/>
          <p:nvPr/>
        </p:nvSpPr>
        <p:spPr>
          <a:xfrm>
            <a:off x="8564880" y="2688336"/>
            <a:ext cx="182880" cy="85344"/>
          </a:xfrm>
          <a:prstGeom prst="triangle">
            <a:avLst/>
          </a:prstGeom>
          <a:solidFill>
            <a:srgbClr val="EBE9E5"/>
          </a:solidFill>
          <a:ln>
            <a:noFill/>
          </a:ln>
          <a:effectLst/>
        </p:spPr>
        <p:txBody>
          <a:bodyPr rtlCol="0" anchor="ctr"/>
          <a:lstStyle/>
          <a:p>
            <a:pPr algn="ctr"/>
          </a:p>
        </p:txBody>
      </p:sp>
      <p:sp>
        <p:nvSpPr>
          <p:cNvPr id="50" name="Rounded Rectangle 49"/>
          <p:cNvSpPr/>
          <p:nvPr/>
        </p:nvSpPr>
        <p:spPr>
          <a:xfrm>
            <a:off x="6108192" y="2773680"/>
            <a:ext cx="5108448" cy="438912"/>
          </a:xfrm>
          <a:prstGeom prst="roundRect">
            <a:avLst>
              <a:gd name="adj" fmla="val 15000"/>
            </a:avLst>
          </a:prstGeom>
          <a:solidFill>
            <a:srgbClr val="EBE9E5"/>
          </a:solidFill>
          <a:ln>
            <a:noFill/>
          </a:ln>
          <a:effectLst/>
        </p:spPr>
        <p:txBody>
          <a:bodyPr rtlCol="0" anchor="ctr"/>
          <a:lstStyle/>
          <a:p>
            <a:pPr algn="ctr"/>
          </a:p>
        </p:txBody>
      </p:sp>
      <p:sp>
        <p:nvSpPr>
          <p:cNvPr id="51" name="TextBox 50"/>
          <p:cNvSpPr txBox="1"/>
          <p:nvPr/>
        </p:nvSpPr>
        <p:spPr>
          <a:xfrm>
            <a:off x="6230112" y="2816352"/>
            <a:ext cx="4864608" cy="365760"/>
          </a:xfrm>
          <a:prstGeom prst="rect">
            <a:avLst/>
          </a:prstGeom>
          <a:noFill/>
        </p:spPr>
        <p:txBody>
          <a:bodyPr wrap="square" anchor="ctr" lIns="0" rIns="0" tIns="0" bIns="0">
            <a:spAutoFit/>
          </a:bodyPr>
          <a:lstStyle/>
          <a:p>
            <a:pPr algn="l"/>
            <a:r>
              <a:rPr sz="900" b="0" i="0">
                <a:solidFill>
                  <a:srgbClr val="555B66"/>
                </a:solidFill>
                <a:latin typeface="Arial"/>
              </a:rPr>
              <a:t>Conversions mesurées par Cdiscount, non intégrées à ce rapport. Elles apparaîtront ici dès l'intégration du Conversion Tracker.</a:t>
            </a:r>
          </a:p>
        </p:txBody>
      </p:sp>
      <p:sp>
        <p:nvSpPr>
          <p:cNvPr id="52" name="TextBox 51"/>
          <p:cNvSpPr txBox="1"/>
          <p:nvPr/>
        </p:nvSpPr>
        <p:spPr>
          <a:xfrm>
            <a:off x="530352" y="3322320"/>
            <a:ext cx="7315200" cy="182880"/>
          </a:xfrm>
          <a:prstGeom prst="rect">
            <a:avLst/>
          </a:prstGeom>
          <a:noFill/>
        </p:spPr>
        <p:txBody>
          <a:bodyPr wrap="square" anchor="t" lIns="0" rIns="0" tIns="0" bIns="0">
            <a:spAutoFit/>
          </a:bodyPr>
          <a:lstStyle/>
          <a:p>
            <a:pPr algn="l"/>
            <a:r>
              <a:rPr sz="1400" b="1" i="0">
                <a:solidFill>
                  <a:srgbClr val="EE6A2C"/>
                </a:solidFill>
                <a:latin typeface="Arial"/>
              </a:rPr>
              <a:t>INSIGHTS QUALITATIFS · ANALYSE DES RECHERCHES</a:t>
            </a:r>
          </a:p>
        </p:txBody>
      </p:sp>
      <p:sp>
        <p:nvSpPr>
          <p:cNvPr id="53" name="Rectangle 52"/>
          <p:cNvSpPr/>
          <p:nvPr/>
        </p:nvSpPr>
        <p:spPr>
          <a:xfrm>
            <a:off x="530352" y="3584448"/>
            <a:ext cx="3401568" cy="2560320"/>
          </a:xfrm>
          <a:prstGeom prst="rect">
            <a:avLst/>
          </a:prstGeom>
          <a:solidFill>
            <a:srgbClr val="FFFFFF"/>
          </a:solidFill>
          <a:ln>
            <a:noFill/>
          </a:ln>
          <a:effectLst/>
        </p:spPr>
        <p:txBody>
          <a:bodyPr rtlCol="0" anchor="ctr"/>
          <a:lstStyle/>
          <a:p>
            <a:pPr algn="ctr"/>
          </a:p>
        </p:txBody>
      </p:sp>
      <p:sp>
        <p:nvSpPr>
          <p:cNvPr id="54" name="Rectangle 53"/>
          <p:cNvSpPr/>
          <p:nvPr/>
        </p:nvSpPr>
        <p:spPr>
          <a:xfrm>
            <a:off x="4194048" y="3584448"/>
            <a:ext cx="3401568" cy="2560320"/>
          </a:xfrm>
          <a:prstGeom prst="rect">
            <a:avLst/>
          </a:prstGeom>
          <a:solidFill>
            <a:srgbClr val="FFFFFF"/>
          </a:solidFill>
          <a:ln>
            <a:noFill/>
          </a:ln>
          <a:effectLst/>
        </p:spPr>
        <p:txBody>
          <a:bodyPr rtlCol="0" anchor="ctr"/>
          <a:lstStyle/>
          <a:p>
            <a:pPr algn="ctr"/>
          </a:p>
        </p:txBody>
      </p:sp>
      <p:sp>
        <p:nvSpPr>
          <p:cNvPr id="55" name="Rectangle 54"/>
          <p:cNvSpPr/>
          <p:nvPr/>
        </p:nvSpPr>
        <p:spPr>
          <a:xfrm>
            <a:off x="7857744" y="3584448"/>
            <a:ext cx="3401568" cy="2560320"/>
          </a:xfrm>
          <a:prstGeom prst="rect">
            <a:avLst/>
          </a:prstGeom>
          <a:solidFill>
            <a:srgbClr val="FFFFFF"/>
          </a:solidFill>
          <a:ln>
            <a:noFill/>
          </a:ln>
          <a:effectLst/>
        </p:spPr>
        <p:txBody>
          <a:bodyPr rtlCol="0" anchor="ctr"/>
          <a:lstStyle/>
          <a:p>
            <a:pPr algn="ctr"/>
          </a:p>
        </p:txBody>
      </p:sp>
      <p:sp>
        <p:nvSpPr>
          <p:cNvPr id="56" name="TextBox 55"/>
          <p:cNvSpPr txBox="1"/>
          <p:nvPr/>
        </p:nvSpPr>
        <p:spPr>
          <a:xfrm>
            <a:off x="774192" y="3767328"/>
            <a:ext cx="2926080" cy="152400"/>
          </a:xfrm>
          <a:prstGeom prst="rect">
            <a:avLst/>
          </a:prstGeom>
          <a:noFill/>
        </p:spPr>
        <p:txBody>
          <a:bodyPr wrap="square" anchor="t" lIns="0" rIns="0" tIns="0" bIns="0">
            <a:spAutoFit/>
          </a:bodyPr>
          <a:lstStyle/>
          <a:p>
            <a:pPr algn="l"/>
            <a:r>
              <a:rPr sz="1300" b="1" i="0">
                <a:solidFill>
                  <a:srgbClr val="555B66"/>
                </a:solidFill>
                <a:latin typeface="Arial"/>
              </a:rPr>
              <a:t>CHAMP LEXICAL</a:t>
            </a:r>
          </a:p>
        </p:txBody>
      </p:sp>
      <p:sp>
        <p:nvSpPr>
          <p:cNvPr id="57" name="TextBox 56"/>
          <p:cNvSpPr txBox="1"/>
          <p:nvPr/>
        </p:nvSpPr>
        <p:spPr>
          <a:xfrm>
            <a:off x="774192" y="3992880"/>
            <a:ext cx="2926080" cy="121920"/>
          </a:xfrm>
          <a:prstGeom prst="rect">
            <a:avLst/>
          </a:prstGeom>
          <a:noFill/>
        </p:spPr>
        <p:txBody>
          <a:bodyPr wrap="square" anchor="t" lIns="0" rIns="0" tIns="0" bIns="0">
            <a:spAutoFit/>
          </a:bodyPr>
          <a:lstStyle/>
          <a:p>
            <a:pPr algn="l"/>
            <a:r>
              <a:rPr sz="1000" b="0" i="1">
                <a:solidFill>
                  <a:srgbClr val="8A93A6"/>
                </a:solidFill>
                <a:latin typeface="Arial"/>
              </a:rPr>
              <a:t>Termes les plus fréquents</a:t>
            </a:r>
          </a:p>
        </p:txBody>
      </p:sp>
      <p:sp>
        <p:nvSpPr>
          <p:cNvPr id="58" name="TextBox 57"/>
          <p:cNvSpPr txBox="1"/>
          <p:nvPr/>
        </p:nvSpPr>
        <p:spPr>
          <a:xfrm>
            <a:off x="774192" y="4236720"/>
            <a:ext cx="2987040" cy="1828800"/>
          </a:xfrm>
          <a:prstGeom prst="rect">
            <a:avLst/>
          </a:prstGeom>
          <a:noFill/>
        </p:spPr>
        <p:txBody>
          <a:bodyPr wrap="square" anchor="t" lIns="0" rIns="0" tIns="0" bIns="0">
            <a:spAutoFit/>
          </a:bodyPr>
          <a:lstStyle/>
          <a:p>
            <a:pPr algn="l">
              <a:spcAft>
                <a:spcPts val="500"/>
              </a:spcAft>
            </a:pPr>
            <a:r>
              <a:rPr sz="1800" b="1" i="0">
                <a:solidFill>
                  <a:srgbClr val="EE6A2C"/>
                </a:solidFill>
                <a:latin typeface="Arial"/>
              </a:rPr>
              <a:t>poussette</a:t>
            </a:r>
            <a:r>
              <a:rPr sz="1600" b="1" i="0">
                <a:solidFill>
                  <a:srgbClr val="111111"/>
                </a:solidFill>
                <a:latin typeface="Arial"/>
              </a:rPr>
              <a:t>   siège auto</a:t>
            </a:r>
          </a:p>
          <a:p>
            <a:pPr algn="l">
              <a:spcAft>
                <a:spcPts val="500"/>
              </a:spcAft>
            </a:pPr>
            <a:r>
              <a:rPr sz="1500" b="1" i="0">
                <a:solidFill>
                  <a:srgbClr val="111111"/>
                </a:solidFill>
                <a:latin typeface="Arial"/>
              </a:rPr>
              <a:t>naissance</a:t>
            </a:r>
            <a:r>
              <a:rPr sz="1400" b="1" i="0">
                <a:solidFill>
                  <a:srgbClr val="111111"/>
                </a:solidFill>
                <a:latin typeface="Arial"/>
              </a:rPr>
              <a:t>   couches</a:t>
            </a:r>
          </a:p>
          <a:p>
            <a:pPr algn="l">
              <a:spcAft>
                <a:spcPts val="500"/>
              </a:spcAft>
            </a:pPr>
            <a:r>
              <a:rPr sz="1300" b="1" i="0">
                <a:solidFill>
                  <a:srgbClr val="EE6A2C"/>
                </a:solidFill>
                <a:latin typeface="Arial"/>
              </a:rPr>
              <a:t>biberons</a:t>
            </a:r>
            <a:r>
              <a:rPr sz="1200" b="0" i="0">
                <a:solidFill>
                  <a:srgbClr val="111111"/>
                </a:solidFill>
                <a:latin typeface="Arial"/>
              </a:rPr>
              <a:t>   porte d'embarquement</a:t>
            </a:r>
          </a:p>
          <a:p>
            <a:pPr algn="l">
              <a:spcAft>
                <a:spcPts val="500"/>
              </a:spcAft>
            </a:pPr>
            <a:r>
              <a:rPr sz="1100" b="1" i="0">
                <a:solidFill>
                  <a:srgbClr val="EE6A2C"/>
                </a:solidFill>
                <a:latin typeface="Arial"/>
              </a:rPr>
              <a:t>nouveau-né</a:t>
            </a:r>
            <a:r>
              <a:rPr sz="1100" b="1" i="0">
                <a:solidFill>
                  <a:srgbClr val="111111"/>
                </a:solidFill>
                <a:latin typeface="Arial"/>
              </a:rPr>
              <a:t>   indispensable</a:t>
            </a:r>
          </a:p>
          <a:p>
            <a:pPr algn="l">
              <a:spcAft>
                <a:spcPts val="500"/>
              </a:spcAft>
            </a:pPr>
            <a:r>
              <a:rPr sz="1100" b="1" i="0">
                <a:solidFill>
                  <a:srgbClr val="111111"/>
                </a:solidFill>
                <a:latin typeface="Arial"/>
              </a:rPr>
              <a:t>tétine</a:t>
            </a:r>
            <a:r>
              <a:rPr sz="1100" b="0" i="0">
                <a:solidFill>
                  <a:srgbClr val="111111"/>
                </a:solidFill>
                <a:latin typeface="Arial"/>
              </a:rPr>
              <a:t>   cadeau</a:t>
            </a:r>
            <a:r>
              <a:rPr sz="1100" b="1" i="0">
                <a:solidFill>
                  <a:srgbClr val="EE6A2C"/>
                </a:solidFill>
                <a:latin typeface="Arial"/>
              </a:rPr>
              <a:t>   vacances</a:t>
            </a:r>
          </a:p>
          <a:p>
            <a:pPr algn="l">
              <a:spcAft>
                <a:spcPts val="500"/>
              </a:spcAft>
            </a:pPr>
            <a:r>
              <a:rPr sz="1100" b="1" i="0">
                <a:solidFill>
                  <a:srgbClr val="111111"/>
                </a:solidFill>
                <a:latin typeface="Arial"/>
              </a:rPr>
              <a:t>Cybex</a:t>
            </a:r>
            <a:r>
              <a:rPr sz="1100" b="0" i="0">
                <a:solidFill>
                  <a:srgbClr val="111111"/>
                </a:solidFill>
                <a:latin typeface="Arial"/>
              </a:rPr>
              <a:t>   Joie</a:t>
            </a:r>
            <a:r>
              <a:rPr sz="1100" b="0" i="0">
                <a:solidFill>
                  <a:srgbClr val="111111"/>
                </a:solidFill>
                <a:latin typeface="Arial"/>
              </a:rPr>
              <a:t>   Stokke</a:t>
            </a:r>
          </a:p>
        </p:txBody>
      </p:sp>
      <p:sp>
        <p:nvSpPr>
          <p:cNvPr id="59" name="TextBox 58"/>
          <p:cNvSpPr txBox="1"/>
          <p:nvPr/>
        </p:nvSpPr>
        <p:spPr>
          <a:xfrm>
            <a:off x="4437888" y="3767328"/>
            <a:ext cx="2926080" cy="152400"/>
          </a:xfrm>
          <a:prstGeom prst="rect">
            <a:avLst/>
          </a:prstGeom>
          <a:noFill/>
        </p:spPr>
        <p:txBody>
          <a:bodyPr wrap="square" anchor="t" lIns="0" rIns="0" tIns="0" bIns="0">
            <a:spAutoFit/>
          </a:bodyPr>
          <a:lstStyle/>
          <a:p>
            <a:pPr algn="l"/>
            <a:r>
              <a:rPr sz="1300" b="1" i="0">
                <a:solidFill>
                  <a:srgbClr val="555B66"/>
                </a:solidFill>
                <a:latin typeface="Arial"/>
              </a:rPr>
              <a:t>EXEMPLES DE REQUÊTES</a:t>
            </a:r>
          </a:p>
        </p:txBody>
      </p:sp>
      <p:sp>
        <p:nvSpPr>
          <p:cNvPr id="60" name="TextBox 59"/>
          <p:cNvSpPr txBox="1"/>
          <p:nvPr/>
        </p:nvSpPr>
        <p:spPr>
          <a:xfrm>
            <a:off x="4437888" y="3992880"/>
            <a:ext cx="2926080" cy="121920"/>
          </a:xfrm>
          <a:prstGeom prst="rect">
            <a:avLst/>
          </a:prstGeom>
          <a:noFill/>
        </p:spPr>
        <p:txBody>
          <a:bodyPr wrap="square" anchor="t" lIns="0" rIns="0" tIns="0" bIns="0">
            <a:spAutoFit/>
          </a:bodyPr>
          <a:lstStyle/>
          <a:p>
            <a:pPr algn="l"/>
            <a:r>
              <a:rPr sz="1000" b="0" i="1">
                <a:solidFill>
                  <a:srgbClr val="8A93A6"/>
                </a:solidFill>
                <a:latin typeface="Arial"/>
              </a:rPr>
              <a:t>Questions posées aux IA</a:t>
            </a:r>
          </a:p>
        </p:txBody>
      </p:sp>
      <p:sp>
        <p:nvSpPr>
          <p:cNvPr id="61" name="TextBox 60"/>
          <p:cNvSpPr txBox="1"/>
          <p:nvPr/>
        </p:nvSpPr>
        <p:spPr>
          <a:xfrm>
            <a:off x="4437888" y="4267200"/>
            <a:ext cx="2913888" cy="304800"/>
          </a:xfrm>
          <a:prstGeom prst="rect">
            <a:avLst/>
          </a:prstGeom>
          <a:noFill/>
        </p:spPr>
        <p:txBody>
          <a:bodyPr wrap="square" anchor="ctr" lIns="0" rIns="0" tIns="0" bIns="0">
            <a:spAutoFit/>
          </a:bodyPr>
          <a:lstStyle/>
          <a:p>
            <a:pPr algn="l"/>
            <a:r>
              <a:rPr sz="1000" b="0" i="0">
                <a:solidFill>
                  <a:srgbClr val="111111"/>
                </a:solidFill>
                <a:latin typeface="Arial"/>
              </a:rPr>
              <a:t>Quel siège auto choisir pour un enfant de 4 ans ?</a:t>
            </a:r>
          </a:p>
        </p:txBody>
      </p:sp>
      <p:sp>
        <p:nvSpPr>
          <p:cNvPr id="62" name="Rectangle 61"/>
          <p:cNvSpPr/>
          <p:nvPr/>
        </p:nvSpPr>
        <p:spPr>
          <a:xfrm>
            <a:off x="4437888" y="4602480"/>
            <a:ext cx="2913888" cy="6096"/>
          </a:xfrm>
          <a:prstGeom prst="rect">
            <a:avLst/>
          </a:prstGeom>
          <a:solidFill>
            <a:srgbClr val="E6E3DE"/>
          </a:solidFill>
          <a:ln>
            <a:noFill/>
          </a:ln>
          <a:effectLst/>
        </p:spPr>
        <p:txBody>
          <a:bodyPr rtlCol="0" anchor="ctr"/>
          <a:lstStyle/>
          <a:p>
            <a:pPr algn="ctr"/>
          </a:p>
        </p:txBody>
      </p:sp>
      <p:sp>
        <p:nvSpPr>
          <p:cNvPr id="63" name="TextBox 62"/>
          <p:cNvSpPr txBox="1"/>
          <p:nvPr/>
        </p:nvSpPr>
        <p:spPr>
          <a:xfrm>
            <a:off x="4437888" y="4632960"/>
            <a:ext cx="2913888" cy="304800"/>
          </a:xfrm>
          <a:prstGeom prst="rect">
            <a:avLst/>
          </a:prstGeom>
          <a:noFill/>
        </p:spPr>
        <p:txBody>
          <a:bodyPr wrap="square" anchor="ctr" lIns="0" rIns="0" tIns="0" bIns="0">
            <a:spAutoFit/>
          </a:bodyPr>
          <a:lstStyle/>
          <a:p>
            <a:pPr algn="l"/>
            <a:r>
              <a:rPr sz="1000" b="0" i="0">
                <a:solidFill>
                  <a:srgbClr val="111111"/>
                </a:solidFill>
                <a:latin typeface="Arial"/>
              </a:rPr>
              <a:t>Quel siège pivotant facilite l'installation d'un bébé ?</a:t>
            </a:r>
          </a:p>
        </p:txBody>
      </p:sp>
      <p:sp>
        <p:nvSpPr>
          <p:cNvPr id="64" name="Rectangle 63"/>
          <p:cNvSpPr/>
          <p:nvPr/>
        </p:nvSpPr>
        <p:spPr>
          <a:xfrm>
            <a:off x="4437888" y="4968240"/>
            <a:ext cx="2913888" cy="6096"/>
          </a:xfrm>
          <a:prstGeom prst="rect">
            <a:avLst/>
          </a:prstGeom>
          <a:solidFill>
            <a:srgbClr val="E6E3DE"/>
          </a:solidFill>
          <a:ln>
            <a:noFill/>
          </a:ln>
          <a:effectLst/>
        </p:spPr>
        <p:txBody>
          <a:bodyPr rtlCol="0" anchor="ctr"/>
          <a:lstStyle/>
          <a:p>
            <a:pPr algn="ctr"/>
          </a:p>
        </p:txBody>
      </p:sp>
      <p:sp>
        <p:nvSpPr>
          <p:cNvPr id="65" name="TextBox 64"/>
          <p:cNvSpPr txBox="1"/>
          <p:nvPr/>
        </p:nvSpPr>
        <p:spPr>
          <a:xfrm>
            <a:off x="4437888" y="4998720"/>
            <a:ext cx="2913888" cy="304800"/>
          </a:xfrm>
          <a:prstGeom prst="rect">
            <a:avLst/>
          </a:prstGeom>
          <a:noFill/>
        </p:spPr>
        <p:txBody>
          <a:bodyPr wrap="square" anchor="ctr" lIns="0" rIns="0" tIns="0" bIns="0">
            <a:spAutoFit/>
          </a:bodyPr>
          <a:lstStyle/>
          <a:p>
            <a:pPr algn="l"/>
            <a:r>
              <a:rPr sz="1000" b="0" i="0">
                <a:solidFill>
                  <a:srgbClr val="111111"/>
                </a:solidFill>
                <a:latin typeface="Arial"/>
              </a:rPr>
              <a:t>Quelle poussette compacte se plie d'une seule main ?</a:t>
            </a:r>
          </a:p>
        </p:txBody>
      </p:sp>
      <p:sp>
        <p:nvSpPr>
          <p:cNvPr id="66" name="Rectangle 65"/>
          <p:cNvSpPr/>
          <p:nvPr/>
        </p:nvSpPr>
        <p:spPr>
          <a:xfrm>
            <a:off x="4437888" y="5334000"/>
            <a:ext cx="2913888" cy="6096"/>
          </a:xfrm>
          <a:prstGeom prst="rect">
            <a:avLst/>
          </a:prstGeom>
          <a:solidFill>
            <a:srgbClr val="E6E3DE"/>
          </a:solidFill>
          <a:ln>
            <a:noFill/>
          </a:ln>
          <a:effectLst/>
        </p:spPr>
        <p:txBody>
          <a:bodyPr rtlCol="0" anchor="ctr"/>
          <a:lstStyle/>
          <a:p>
            <a:pPr algn="ctr"/>
          </a:p>
        </p:txBody>
      </p:sp>
      <p:sp>
        <p:nvSpPr>
          <p:cNvPr id="67" name="TextBox 66"/>
          <p:cNvSpPr txBox="1"/>
          <p:nvPr/>
        </p:nvSpPr>
        <p:spPr>
          <a:xfrm>
            <a:off x="4437888" y="5364480"/>
            <a:ext cx="2913888" cy="304800"/>
          </a:xfrm>
          <a:prstGeom prst="rect">
            <a:avLst/>
          </a:prstGeom>
          <a:noFill/>
        </p:spPr>
        <p:txBody>
          <a:bodyPr wrap="square" anchor="ctr" lIns="0" rIns="0" tIns="0" bIns="0">
            <a:spAutoFit/>
          </a:bodyPr>
          <a:lstStyle/>
          <a:p>
            <a:pPr algn="l"/>
            <a:r>
              <a:rPr sz="1000" b="0" i="0">
                <a:solidFill>
                  <a:srgbClr val="111111"/>
                </a:solidFill>
                <a:latin typeface="Arial"/>
              </a:rPr>
              <a:t>Quel lit parapluie choisir pour partir en week-end ?</a:t>
            </a:r>
          </a:p>
        </p:txBody>
      </p:sp>
      <p:sp>
        <p:nvSpPr>
          <p:cNvPr id="68" name="Rectangle 67"/>
          <p:cNvSpPr/>
          <p:nvPr/>
        </p:nvSpPr>
        <p:spPr>
          <a:xfrm>
            <a:off x="4437888" y="5699760"/>
            <a:ext cx="2913888" cy="6096"/>
          </a:xfrm>
          <a:prstGeom prst="rect">
            <a:avLst/>
          </a:prstGeom>
          <a:solidFill>
            <a:srgbClr val="E6E3DE"/>
          </a:solidFill>
          <a:ln>
            <a:noFill/>
          </a:ln>
          <a:effectLst/>
        </p:spPr>
        <p:txBody>
          <a:bodyPr rtlCol="0" anchor="ctr"/>
          <a:lstStyle/>
          <a:p>
            <a:pPr algn="ctr"/>
          </a:p>
        </p:txBody>
      </p:sp>
      <p:sp>
        <p:nvSpPr>
          <p:cNvPr id="69" name="TextBox 68"/>
          <p:cNvSpPr txBox="1"/>
          <p:nvPr/>
        </p:nvSpPr>
        <p:spPr>
          <a:xfrm>
            <a:off x="4437888" y="5730240"/>
            <a:ext cx="2913888" cy="304800"/>
          </a:xfrm>
          <a:prstGeom prst="rect">
            <a:avLst/>
          </a:prstGeom>
          <a:noFill/>
        </p:spPr>
        <p:txBody>
          <a:bodyPr wrap="square" anchor="ctr" lIns="0" rIns="0" tIns="0" bIns="0">
            <a:spAutoFit/>
          </a:bodyPr>
          <a:lstStyle/>
          <a:p>
            <a:pPr algn="l"/>
            <a:r>
              <a:rPr sz="1000" b="0" i="0">
                <a:solidFill>
                  <a:srgbClr val="111111"/>
                </a:solidFill>
                <a:latin typeface="Arial"/>
              </a:rPr>
              <a:t>Quelle barrière d'escalier installer sans percer le mur ?</a:t>
            </a:r>
          </a:p>
        </p:txBody>
      </p:sp>
      <p:sp>
        <p:nvSpPr>
          <p:cNvPr id="70" name="TextBox 69"/>
          <p:cNvSpPr txBox="1"/>
          <p:nvPr/>
        </p:nvSpPr>
        <p:spPr>
          <a:xfrm>
            <a:off x="8101584" y="3767328"/>
            <a:ext cx="2926080" cy="152400"/>
          </a:xfrm>
          <a:prstGeom prst="rect">
            <a:avLst/>
          </a:prstGeom>
          <a:noFill/>
        </p:spPr>
        <p:txBody>
          <a:bodyPr wrap="square" anchor="t" lIns="0" rIns="0" tIns="0" bIns="0">
            <a:spAutoFit/>
          </a:bodyPr>
          <a:lstStyle/>
          <a:p>
            <a:pPr algn="l"/>
            <a:r>
              <a:rPr sz="1300" b="1" i="0">
                <a:solidFill>
                  <a:srgbClr val="555B66"/>
                </a:solidFill>
                <a:latin typeface="Arial"/>
              </a:rPr>
              <a:t>CATÉGORIES DE PRODUITS</a:t>
            </a:r>
          </a:p>
        </p:txBody>
      </p:sp>
      <p:sp>
        <p:nvSpPr>
          <p:cNvPr id="71" name="TextBox 70"/>
          <p:cNvSpPr txBox="1"/>
          <p:nvPr/>
        </p:nvSpPr>
        <p:spPr>
          <a:xfrm>
            <a:off x="8101584" y="3992880"/>
            <a:ext cx="2926080" cy="121920"/>
          </a:xfrm>
          <a:prstGeom prst="rect">
            <a:avLst/>
          </a:prstGeom>
          <a:noFill/>
        </p:spPr>
        <p:txBody>
          <a:bodyPr wrap="square" anchor="t" lIns="0" rIns="0" tIns="0" bIns="0">
            <a:spAutoFit/>
          </a:bodyPr>
          <a:lstStyle/>
          <a:p>
            <a:pPr algn="l"/>
            <a:r>
              <a:rPr sz="1000" b="0" i="1">
                <a:solidFill>
                  <a:srgbClr val="8A93A6"/>
                </a:solidFill>
                <a:latin typeface="Arial"/>
              </a:rPr>
              <a:t>Répartition des requêtes</a:t>
            </a:r>
          </a:p>
        </p:txBody>
      </p:sp>
      <p:sp>
        <p:nvSpPr>
          <p:cNvPr id="72" name="TextBox 71"/>
          <p:cNvSpPr txBox="1"/>
          <p:nvPr/>
        </p:nvSpPr>
        <p:spPr>
          <a:xfrm>
            <a:off x="8101584" y="4267200"/>
            <a:ext cx="2194560" cy="134112"/>
          </a:xfrm>
          <a:prstGeom prst="rect">
            <a:avLst/>
          </a:prstGeom>
          <a:noFill/>
        </p:spPr>
        <p:txBody>
          <a:bodyPr wrap="square" anchor="t" lIns="0" rIns="0" tIns="0" bIns="0">
            <a:spAutoFit/>
          </a:bodyPr>
          <a:lstStyle/>
          <a:p>
            <a:pPr algn="l"/>
            <a:r>
              <a:rPr sz="1000" b="0" i="0">
                <a:solidFill>
                  <a:srgbClr val="111111"/>
                </a:solidFill>
                <a:latin typeface="Arial"/>
              </a:rPr>
              <a:t>Sièges auto et rehausseurs</a:t>
            </a:r>
          </a:p>
        </p:txBody>
      </p:sp>
      <p:sp>
        <p:nvSpPr>
          <p:cNvPr id="73" name="Rectangle 72"/>
          <p:cNvSpPr/>
          <p:nvPr/>
        </p:nvSpPr>
        <p:spPr>
          <a:xfrm>
            <a:off x="8101584" y="4419600"/>
            <a:ext cx="2011680" cy="54864"/>
          </a:xfrm>
          <a:prstGeom prst="rect">
            <a:avLst/>
          </a:prstGeom>
          <a:solidFill>
            <a:srgbClr val="ECEAE5"/>
          </a:solidFill>
          <a:ln>
            <a:noFill/>
          </a:ln>
          <a:effectLst/>
        </p:spPr>
        <p:txBody>
          <a:bodyPr rtlCol="0" anchor="ctr"/>
          <a:lstStyle/>
          <a:p>
            <a:pPr algn="ctr"/>
          </a:p>
        </p:txBody>
      </p:sp>
      <p:sp>
        <p:nvSpPr>
          <p:cNvPr id="74" name="Rectangle 73"/>
          <p:cNvSpPr/>
          <p:nvPr/>
        </p:nvSpPr>
        <p:spPr>
          <a:xfrm>
            <a:off x="8101584" y="4419600"/>
            <a:ext cx="80467" cy="54864"/>
          </a:xfrm>
          <a:prstGeom prst="rect">
            <a:avLst/>
          </a:prstGeom>
          <a:solidFill>
            <a:srgbClr val="9AA3B2"/>
          </a:solidFill>
          <a:ln>
            <a:noFill/>
          </a:ln>
          <a:effectLst/>
        </p:spPr>
        <p:txBody>
          <a:bodyPr rtlCol="0" anchor="ctr"/>
          <a:lstStyle/>
          <a:p>
            <a:pPr algn="ctr"/>
          </a:p>
        </p:txBody>
      </p:sp>
      <p:sp>
        <p:nvSpPr>
          <p:cNvPr id="75" name="TextBox 74"/>
          <p:cNvSpPr txBox="1"/>
          <p:nvPr/>
        </p:nvSpPr>
        <p:spPr>
          <a:xfrm>
            <a:off x="10241280" y="4340352"/>
            <a:ext cx="792480" cy="182880"/>
          </a:xfrm>
          <a:prstGeom prst="rect">
            <a:avLst/>
          </a:prstGeom>
          <a:noFill/>
        </p:spPr>
        <p:txBody>
          <a:bodyPr wrap="square" anchor="ctr" lIns="0" rIns="0" tIns="0" bIns="0">
            <a:spAutoFit/>
          </a:bodyPr>
          <a:lstStyle/>
          <a:p>
            <a:pPr algn="r"/>
            <a:r>
              <a:rPr sz="1300" b="1" i="0">
                <a:solidFill>
                  <a:srgbClr val="111111"/>
                </a:solidFill>
                <a:latin typeface="Arial"/>
              </a:rPr>
              <a:t>4 %</a:t>
            </a:r>
          </a:p>
        </p:txBody>
      </p:sp>
      <p:sp>
        <p:nvSpPr>
          <p:cNvPr id="76" name="TextBox 75"/>
          <p:cNvSpPr txBox="1"/>
          <p:nvPr/>
        </p:nvSpPr>
        <p:spPr>
          <a:xfrm>
            <a:off x="8101584" y="4572000"/>
            <a:ext cx="2194560" cy="134112"/>
          </a:xfrm>
          <a:prstGeom prst="rect">
            <a:avLst/>
          </a:prstGeom>
          <a:noFill/>
        </p:spPr>
        <p:txBody>
          <a:bodyPr wrap="square" anchor="t" lIns="0" rIns="0" tIns="0" bIns="0">
            <a:spAutoFit/>
          </a:bodyPr>
          <a:lstStyle/>
          <a:p>
            <a:pPr algn="l"/>
            <a:r>
              <a:rPr sz="1000" b="0" i="0">
                <a:solidFill>
                  <a:srgbClr val="111111"/>
                </a:solidFill>
                <a:latin typeface="Arial"/>
              </a:rPr>
              <a:t>Sommeil et voyage</a:t>
            </a:r>
          </a:p>
        </p:txBody>
      </p:sp>
      <p:sp>
        <p:nvSpPr>
          <p:cNvPr id="77" name="Rectangle 76"/>
          <p:cNvSpPr/>
          <p:nvPr/>
        </p:nvSpPr>
        <p:spPr>
          <a:xfrm>
            <a:off x="8101584" y="4724400"/>
            <a:ext cx="2011680" cy="54864"/>
          </a:xfrm>
          <a:prstGeom prst="rect">
            <a:avLst/>
          </a:prstGeom>
          <a:solidFill>
            <a:srgbClr val="ECEAE5"/>
          </a:solidFill>
          <a:ln>
            <a:noFill/>
          </a:ln>
          <a:effectLst/>
        </p:spPr>
        <p:txBody>
          <a:bodyPr rtlCol="0" anchor="ctr"/>
          <a:lstStyle/>
          <a:p>
            <a:pPr algn="ctr"/>
          </a:p>
        </p:txBody>
      </p:sp>
      <p:sp>
        <p:nvSpPr>
          <p:cNvPr id="78" name="Rectangle 77"/>
          <p:cNvSpPr/>
          <p:nvPr/>
        </p:nvSpPr>
        <p:spPr>
          <a:xfrm>
            <a:off x="8101584" y="4724400"/>
            <a:ext cx="221284" cy="54864"/>
          </a:xfrm>
          <a:prstGeom prst="rect">
            <a:avLst/>
          </a:prstGeom>
          <a:solidFill>
            <a:srgbClr val="9AA3B2"/>
          </a:solidFill>
          <a:ln>
            <a:noFill/>
          </a:ln>
          <a:effectLst/>
        </p:spPr>
        <p:txBody>
          <a:bodyPr rtlCol="0" anchor="ctr"/>
          <a:lstStyle/>
          <a:p>
            <a:pPr algn="ctr"/>
          </a:p>
        </p:txBody>
      </p:sp>
      <p:sp>
        <p:nvSpPr>
          <p:cNvPr id="79" name="TextBox 78"/>
          <p:cNvSpPr txBox="1"/>
          <p:nvPr/>
        </p:nvSpPr>
        <p:spPr>
          <a:xfrm>
            <a:off x="10241280" y="4645152"/>
            <a:ext cx="792480" cy="182880"/>
          </a:xfrm>
          <a:prstGeom prst="rect">
            <a:avLst/>
          </a:prstGeom>
          <a:noFill/>
        </p:spPr>
        <p:txBody>
          <a:bodyPr wrap="square" anchor="ctr" lIns="0" rIns="0" tIns="0" bIns="0">
            <a:spAutoFit/>
          </a:bodyPr>
          <a:lstStyle/>
          <a:p>
            <a:pPr algn="r"/>
            <a:r>
              <a:rPr sz="1300" b="1" i="0">
                <a:solidFill>
                  <a:srgbClr val="111111"/>
                </a:solidFill>
                <a:latin typeface="Arial"/>
              </a:rPr>
              <a:t>11 %</a:t>
            </a:r>
          </a:p>
        </p:txBody>
      </p:sp>
      <p:sp>
        <p:nvSpPr>
          <p:cNvPr id="80" name="TextBox 79"/>
          <p:cNvSpPr txBox="1"/>
          <p:nvPr/>
        </p:nvSpPr>
        <p:spPr>
          <a:xfrm>
            <a:off x="8101584" y="4876800"/>
            <a:ext cx="2194560" cy="134112"/>
          </a:xfrm>
          <a:prstGeom prst="rect">
            <a:avLst/>
          </a:prstGeom>
          <a:noFill/>
        </p:spPr>
        <p:txBody>
          <a:bodyPr wrap="square" anchor="t" lIns="0" rIns="0" tIns="0" bIns="0">
            <a:spAutoFit/>
          </a:bodyPr>
          <a:lstStyle/>
          <a:p>
            <a:pPr algn="l"/>
            <a:r>
              <a:rPr sz="1000" b="0" i="0">
                <a:solidFill>
                  <a:srgbClr val="111111"/>
                </a:solidFill>
                <a:latin typeface="Arial"/>
              </a:rPr>
              <a:t>Poussettes et mobilité</a:t>
            </a:r>
          </a:p>
        </p:txBody>
      </p:sp>
      <p:sp>
        <p:nvSpPr>
          <p:cNvPr id="81" name="Rectangle 80"/>
          <p:cNvSpPr/>
          <p:nvPr/>
        </p:nvSpPr>
        <p:spPr>
          <a:xfrm>
            <a:off x="8101584" y="5029200"/>
            <a:ext cx="2011680" cy="54864"/>
          </a:xfrm>
          <a:prstGeom prst="rect">
            <a:avLst/>
          </a:prstGeom>
          <a:solidFill>
            <a:srgbClr val="ECEAE5"/>
          </a:solidFill>
          <a:ln>
            <a:noFill/>
          </a:ln>
          <a:effectLst/>
        </p:spPr>
        <p:txBody>
          <a:bodyPr rtlCol="0" anchor="ctr"/>
          <a:lstStyle/>
          <a:p>
            <a:pPr algn="ctr"/>
          </a:p>
        </p:txBody>
      </p:sp>
      <p:sp>
        <p:nvSpPr>
          <p:cNvPr id="82" name="Rectangle 81"/>
          <p:cNvSpPr/>
          <p:nvPr/>
        </p:nvSpPr>
        <p:spPr>
          <a:xfrm>
            <a:off x="8101584" y="5029200"/>
            <a:ext cx="120700" cy="54864"/>
          </a:xfrm>
          <a:prstGeom prst="rect">
            <a:avLst/>
          </a:prstGeom>
          <a:solidFill>
            <a:srgbClr val="9AA3B2"/>
          </a:solidFill>
          <a:ln>
            <a:noFill/>
          </a:ln>
          <a:effectLst/>
        </p:spPr>
        <p:txBody>
          <a:bodyPr rtlCol="0" anchor="ctr"/>
          <a:lstStyle/>
          <a:p>
            <a:pPr algn="ctr"/>
          </a:p>
        </p:txBody>
      </p:sp>
      <p:sp>
        <p:nvSpPr>
          <p:cNvPr id="83" name="TextBox 82"/>
          <p:cNvSpPr txBox="1"/>
          <p:nvPr/>
        </p:nvSpPr>
        <p:spPr>
          <a:xfrm>
            <a:off x="10241280" y="4949952"/>
            <a:ext cx="792480" cy="182880"/>
          </a:xfrm>
          <a:prstGeom prst="rect">
            <a:avLst/>
          </a:prstGeom>
          <a:noFill/>
        </p:spPr>
        <p:txBody>
          <a:bodyPr wrap="square" anchor="ctr" lIns="0" rIns="0" tIns="0" bIns="0">
            <a:spAutoFit/>
          </a:bodyPr>
          <a:lstStyle/>
          <a:p>
            <a:pPr algn="r"/>
            <a:r>
              <a:rPr sz="1300" b="1" i="0">
                <a:solidFill>
                  <a:srgbClr val="111111"/>
                </a:solidFill>
                <a:latin typeface="Arial"/>
              </a:rPr>
              <a:t>6 %</a:t>
            </a:r>
          </a:p>
        </p:txBody>
      </p:sp>
      <p:sp>
        <p:nvSpPr>
          <p:cNvPr id="84" name="TextBox 83"/>
          <p:cNvSpPr txBox="1"/>
          <p:nvPr/>
        </p:nvSpPr>
        <p:spPr>
          <a:xfrm>
            <a:off x="8101584" y="5181600"/>
            <a:ext cx="2194560" cy="134112"/>
          </a:xfrm>
          <a:prstGeom prst="rect">
            <a:avLst/>
          </a:prstGeom>
          <a:noFill/>
        </p:spPr>
        <p:txBody>
          <a:bodyPr wrap="square" anchor="t" lIns="0" rIns="0" tIns="0" bIns="0">
            <a:spAutoFit/>
          </a:bodyPr>
          <a:lstStyle/>
          <a:p>
            <a:pPr algn="l"/>
            <a:r>
              <a:rPr sz="1000" b="0" i="0">
                <a:solidFill>
                  <a:srgbClr val="111111"/>
                </a:solidFill>
                <a:latin typeface="Arial"/>
              </a:rPr>
              <a:t>Sécurité de la maison</a:t>
            </a:r>
          </a:p>
        </p:txBody>
      </p:sp>
      <p:sp>
        <p:nvSpPr>
          <p:cNvPr id="85" name="Rectangle 84"/>
          <p:cNvSpPr/>
          <p:nvPr/>
        </p:nvSpPr>
        <p:spPr>
          <a:xfrm>
            <a:off x="8101584" y="5334000"/>
            <a:ext cx="2011680" cy="54864"/>
          </a:xfrm>
          <a:prstGeom prst="rect">
            <a:avLst/>
          </a:prstGeom>
          <a:solidFill>
            <a:srgbClr val="ECEAE5"/>
          </a:solidFill>
          <a:ln>
            <a:noFill/>
          </a:ln>
          <a:effectLst/>
        </p:spPr>
        <p:txBody>
          <a:bodyPr rtlCol="0" anchor="ctr"/>
          <a:lstStyle/>
          <a:p>
            <a:pPr algn="ctr"/>
          </a:p>
        </p:txBody>
      </p:sp>
      <p:sp>
        <p:nvSpPr>
          <p:cNvPr id="86" name="Rectangle 85"/>
          <p:cNvSpPr/>
          <p:nvPr/>
        </p:nvSpPr>
        <p:spPr>
          <a:xfrm>
            <a:off x="8101584" y="5334000"/>
            <a:ext cx="1247241" cy="54864"/>
          </a:xfrm>
          <a:prstGeom prst="rect">
            <a:avLst/>
          </a:prstGeom>
          <a:solidFill>
            <a:srgbClr val="EE6A2C"/>
          </a:solidFill>
          <a:ln>
            <a:noFill/>
          </a:ln>
          <a:effectLst/>
        </p:spPr>
        <p:txBody>
          <a:bodyPr rtlCol="0" anchor="ctr"/>
          <a:lstStyle/>
          <a:p>
            <a:pPr algn="ctr"/>
          </a:p>
        </p:txBody>
      </p:sp>
      <p:sp>
        <p:nvSpPr>
          <p:cNvPr id="87" name="TextBox 86"/>
          <p:cNvSpPr txBox="1"/>
          <p:nvPr/>
        </p:nvSpPr>
        <p:spPr>
          <a:xfrm>
            <a:off x="10241280" y="5254752"/>
            <a:ext cx="792480" cy="182880"/>
          </a:xfrm>
          <a:prstGeom prst="rect">
            <a:avLst/>
          </a:prstGeom>
          <a:noFill/>
        </p:spPr>
        <p:txBody>
          <a:bodyPr wrap="square" anchor="ctr" lIns="0" rIns="0" tIns="0" bIns="0">
            <a:spAutoFit/>
          </a:bodyPr>
          <a:lstStyle/>
          <a:p>
            <a:pPr algn="r"/>
            <a:r>
              <a:rPr sz="1300" b="1" i="0">
                <a:solidFill>
                  <a:srgbClr val="111111"/>
                </a:solidFill>
                <a:latin typeface="Arial"/>
              </a:rPr>
              <a:t>62 %</a:t>
            </a:r>
          </a:p>
        </p:txBody>
      </p:sp>
      <p:sp>
        <p:nvSpPr>
          <p:cNvPr id="88" name="TextBox 87"/>
          <p:cNvSpPr txBox="1"/>
          <p:nvPr/>
        </p:nvSpPr>
        <p:spPr>
          <a:xfrm>
            <a:off x="8101584" y="5486400"/>
            <a:ext cx="2194560" cy="134112"/>
          </a:xfrm>
          <a:prstGeom prst="rect">
            <a:avLst/>
          </a:prstGeom>
          <a:noFill/>
        </p:spPr>
        <p:txBody>
          <a:bodyPr wrap="square" anchor="t" lIns="0" rIns="0" tIns="0" bIns="0">
            <a:spAutoFit/>
          </a:bodyPr>
          <a:lstStyle/>
          <a:p>
            <a:pPr algn="l"/>
            <a:r>
              <a:rPr sz="1000" b="0" i="0">
                <a:solidFill>
                  <a:srgbClr val="111111"/>
                </a:solidFill>
                <a:latin typeface="Arial"/>
              </a:rPr>
              <a:t>Repas, soin et toilette</a:t>
            </a:r>
          </a:p>
        </p:txBody>
      </p:sp>
      <p:sp>
        <p:nvSpPr>
          <p:cNvPr id="89" name="Rectangle 88"/>
          <p:cNvSpPr/>
          <p:nvPr/>
        </p:nvSpPr>
        <p:spPr>
          <a:xfrm>
            <a:off x="8101584" y="5638800"/>
            <a:ext cx="2011680" cy="54864"/>
          </a:xfrm>
          <a:prstGeom prst="rect">
            <a:avLst/>
          </a:prstGeom>
          <a:solidFill>
            <a:srgbClr val="ECEAE5"/>
          </a:solidFill>
          <a:ln>
            <a:noFill/>
          </a:ln>
          <a:effectLst/>
        </p:spPr>
        <p:txBody>
          <a:bodyPr rtlCol="0" anchor="ctr"/>
          <a:lstStyle/>
          <a:p>
            <a:pPr algn="ctr"/>
          </a:p>
        </p:txBody>
      </p:sp>
      <p:sp>
        <p:nvSpPr>
          <p:cNvPr id="90" name="Rectangle 89"/>
          <p:cNvSpPr/>
          <p:nvPr/>
        </p:nvSpPr>
        <p:spPr>
          <a:xfrm>
            <a:off x="8101584" y="5638800"/>
            <a:ext cx="80467" cy="54864"/>
          </a:xfrm>
          <a:prstGeom prst="rect">
            <a:avLst/>
          </a:prstGeom>
          <a:solidFill>
            <a:srgbClr val="9AA3B2"/>
          </a:solidFill>
          <a:ln>
            <a:noFill/>
          </a:ln>
          <a:effectLst/>
        </p:spPr>
        <p:txBody>
          <a:bodyPr rtlCol="0" anchor="ctr"/>
          <a:lstStyle/>
          <a:p>
            <a:pPr algn="ctr"/>
          </a:p>
        </p:txBody>
      </p:sp>
      <p:sp>
        <p:nvSpPr>
          <p:cNvPr id="91" name="TextBox 90"/>
          <p:cNvSpPr txBox="1"/>
          <p:nvPr/>
        </p:nvSpPr>
        <p:spPr>
          <a:xfrm>
            <a:off x="10241280" y="5559552"/>
            <a:ext cx="792480" cy="182880"/>
          </a:xfrm>
          <a:prstGeom prst="rect">
            <a:avLst/>
          </a:prstGeom>
          <a:noFill/>
        </p:spPr>
        <p:txBody>
          <a:bodyPr wrap="square" anchor="ctr" lIns="0" rIns="0" tIns="0" bIns="0">
            <a:spAutoFit/>
          </a:bodyPr>
          <a:lstStyle/>
          <a:p>
            <a:pPr algn="r"/>
            <a:r>
              <a:rPr sz="1300" b="1" i="0">
                <a:solidFill>
                  <a:srgbClr val="111111"/>
                </a:solidFill>
                <a:latin typeface="Arial"/>
              </a:rPr>
              <a:t>4 %</a:t>
            </a:r>
          </a:p>
        </p:txBody>
      </p:sp>
      <p:sp>
        <p:nvSpPr>
          <p:cNvPr id="92" name="TextBox 91"/>
          <p:cNvSpPr txBox="1"/>
          <p:nvPr/>
        </p:nvSpPr>
        <p:spPr>
          <a:xfrm>
            <a:off x="8101584" y="5791200"/>
            <a:ext cx="2194560" cy="134112"/>
          </a:xfrm>
          <a:prstGeom prst="rect">
            <a:avLst/>
          </a:prstGeom>
          <a:noFill/>
        </p:spPr>
        <p:txBody>
          <a:bodyPr wrap="square" anchor="t" lIns="0" rIns="0" tIns="0" bIns="0">
            <a:spAutoFit/>
          </a:bodyPr>
          <a:lstStyle/>
          <a:p>
            <a:pPr algn="l"/>
            <a:r>
              <a:rPr sz="1000" b="0" i="0">
                <a:solidFill>
                  <a:srgbClr val="111111"/>
                </a:solidFill>
                <a:latin typeface="Arial"/>
              </a:rPr>
              <a:t>Éveil et confort</a:t>
            </a:r>
          </a:p>
        </p:txBody>
      </p:sp>
      <p:sp>
        <p:nvSpPr>
          <p:cNvPr id="93" name="Rectangle 92"/>
          <p:cNvSpPr/>
          <p:nvPr/>
        </p:nvSpPr>
        <p:spPr>
          <a:xfrm>
            <a:off x="8101584" y="5943600"/>
            <a:ext cx="2011680" cy="54864"/>
          </a:xfrm>
          <a:prstGeom prst="rect">
            <a:avLst/>
          </a:prstGeom>
          <a:solidFill>
            <a:srgbClr val="ECEAE5"/>
          </a:solidFill>
          <a:ln>
            <a:noFill/>
          </a:ln>
          <a:effectLst/>
        </p:spPr>
        <p:txBody>
          <a:bodyPr rtlCol="0" anchor="ctr"/>
          <a:lstStyle/>
          <a:p>
            <a:pPr algn="ctr"/>
          </a:p>
        </p:txBody>
      </p:sp>
      <p:sp>
        <p:nvSpPr>
          <p:cNvPr id="94" name="Rectangle 93"/>
          <p:cNvSpPr/>
          <p:nvPr/>
        </p:nvSpPr>
        <p:spPr>
          <a:xfrm>
            <a:off x="8101584" y="5943600"/>
            <a:ext cx="261518" cy="54864"/>
          </a:xfrm>
          <a:prstGeom prst="rect">
            <a:avLst/>
          </a:prstGeom>
          <a:solidFill>
            <a:srgbClr val="9AA3B2"/>
          </a:solidFill>
          <a:ln>
            <a:noFill/>
          </a:ln>
          <a:effectLst/>
        </p:spPr>
        <p:txBody>
          <a:bodyPr rtlCol="0" anchor="ctr"/>
          <a:lstStyle/>
          <a:p>
            <a:pPr algn="ctr"/>
          </a:p>
        </p:txBody>
      </p:sp>
      <p:sp>
        <p:nvSpPr>
          <p:cNvPr id="95" name="TextBox 94"/>
          <p:cNvSpPr txBox="1"/>
          <p:nvPr/>
        </p:nvSpPr>
        <p:spPr>
          <a:xfrm>
            <a:off x="10241280" y="5864352"/>
            <a:ext cx="792480" cy="182880"/>
          </a:xfrm>
          <a:prstGeom prst="rect">
            <a:avLst/>
          </a:prstGeom>
          <a:noFill/>
        </p:spPr>
        <p:txBody>
          <a:bodyPr wrap="square" anchor="ctr" lIns="0" rIns="0" tIns="0" bIns="0">
            <a:spAutoFit/>
          </a:bodyPr>
          <a:lstStyle/>
          <a:p>
            <a:pPr algn="r"/>
            <a:r>
              <a:rPr sz="1300" b="1" i="0">
                <a:solidFill>
                  <a:srgbClr val="111111"/>
                </a:solidFill>
                <a:latin typeface="Arial"/>
              </a:rPr>
              <a:t>13 %</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6F2"/>
          </a:solidFill>
          <a:ln>
            <a:noFill/>
          </a:ln>
          <a:effectLst/>
        </p:spPr>
        <p:txBody>
          <a:bodyPr rtlCol="0" anchor="ctr"/>
          <a:lstStyle/>
          <a:p>
            <a:pPr algn="ctr"/>
          </a:p>
        </p:txBody>
      </p:sp>
      <p:sp>
        <p:nvSpPr>
          <p:cNvPr id="3" name="TextBox 2"/>
          <p:cNvSpPr txBox="1"/>
          <p:nvPr/>
        </p:nvSpPr>
        <p:spPr>
          <a:xfrm>
            <a:off x="579120" y="426720"/>
            <a:ext cx="7315200" cy="182880"/>
          </a:xfrm>
          <a:prstGeom prst="rect">
            <a:avLst/>
          </a:prstGeom>
          <a:noFill/>
        </p:spPr>
        <p:txBody>
          <a:bodyPr wrap="square" anchor="t" lIns="0" rIns="0" tIns="0" bIns="0">
            <a:spAutoFit/>
          </a:bodyPr>
          <a:lstStyle/>
          <a:p>
            <a:pPr algn="l"/>
            <a:r>
              <a:rPr sz="1300" b="1" i="0">
                <a:solidFill>
                  <a:srgbClr val="EE6A2C"/>
                </a:solidFill>
                <a:latin typeface="Arial"/>
              </a:rPr>
              <a:t>INSIGHTS QUALITATIFS · SEPTEMBRE 2026</a:t>
            </a:r>
          </a:p>
        </p:txBody>
      </p:sp>
      <p:sp>
        <p:nvSpPr>
          <p:cNvPr id="4" name="TextBox 3"/>
          <p:cNvSpPr txBox="1"/>
          <p:nvPr/>
        </p:nvSpPr>
        <p:spPr>
          <a:xfrm>
            <a:off x="579120" y="609600"/>
            <a:ext cx="7315200" cy="487680"/>
          </a:xfrm>
          <a:prstGeom prst="rect">
            <a:avLst/>
          </a:prstGeom>
          <a:noFill/>
        </p:spPr>
        <p:txBody>
          <a:bodyPr wrap="square" anchor="t" lIns="0" rIns="0" tIns="0" bIns="0">
            <a:spAutoFit/>
          </a:bodyPr>
          <a:lstStyle/>
          <a:p>
            <a:pPr algn="l"/>
            <a:r>
              <a:rPr sz="3600" b="1" i="0">
                <a:solidFill>
                  <a:srgbClr val="111111"/>
                </a:solidFill>
                <a:latin typeface="Arial"/>
              </a:rPr>
              <a:t>Dorel</a:t>
            </a:r>
          </a:p>
        </p:txBody>
      </p:sp>
      <p:sp>
        <p:nvSpPr>
          <p:cNvPr id="5" name="TextBox 4"/>
          <p:cNvSpPr txBox="1"/>
          <p:nvPr/>
        </p:nvSpPr>
        <p:spPr>
          <a:xfrm>
            <a:off x="9144000" y="499872"/>
            <a:ext cx="1889760" cy="182880"/>
          </a:xfrm>
          <a:prstGeom prst="rect">
            <a:avLst/>
          </a:prstGeom>
          <a:noFill/>
        </p:spPr>
        <p:txBody>
          <a:bodyPr wrap="square" anchor="t" lIns="0" rIns="0" tIns="0" bIns="0">
            <a:spAutoFit/>
          </a:bodyPr>
          <a:lstStyle/>
          <a:p>
            <a:pPr algn="r"/>
            <a:r>
              <a:rPr sz="1500" b="1" i="0">
                <a:solidFill>
                  <a:srgbClr val="111111"/>
                </a:solidFill>
                <a:latin typeface="Arial"/>
              </a:rPr>
              <a:t>Lemrock</a:t>
            </a:r>
          </a:p>
        </p:txBody>
      </p:sp>
      <p:sp>
        <p:nvSpPr>
          <p:cNvPr id="6" name="TextBox 5"/>
          <p:cNvSpPr txBox="1"/>
          <p:nvPr/>
        </p:nvSpPr>
        <p:spPr>
          <a:xfrm>
            <a:off x="579120" y="1219200"/>
            <a:ext cx="9144000" cy="182880"/>
          </a:xfrm>
          <a:prstGeom prst="rect">
            <a:avLst/>
          </a:prstGeom>
          <a:noFill/>
        </p:spPr>
        <p:txBody>
          <a:bodyPr wrap="square" anchor="t" lIns="0" rIns="0" tIns="0" bIns="0">
            <a:spAutoFit/>
          </a:bodyPr>
          <a:lstStyle/>
          <a:p>
            <a:pPr algn="l"/>
            <a:r>
              <a:rPr sz="1300" b="1" i="0">
                <a:solidFill>
                  <a:srgbClr val="EE6A2C"/>
                </a:solidFill>
                <a:latin typeface="Arial"/>
              </a:rPr>
              <a:t>OBJECTIF   </a:t>
            </a:r>
            <a:r>
              <a:rPr sz="1300" b="0" i="0">
                <a:solidFill>
                  <a:srgbClr val="111111"/>
                </a:solidFill>
                <a:latin typeface="Arial"/>
              </a:rPr>
              <a:t>À définir</a:t>
            </a:r>
          </a:p>
        </p:txBody>
      </p:sp>
      <p:sp>
        <p:nvSpPr>
          <p:cNvPr id="7" name="TextBox 6"/>
          <p:cNvSpPr txBox="1"/>
          <p:nvPr/>
        </p:nvSpPr>
        <p:spPr>
          <a:xfrm>
            <a:off x="579120" y="1524000"/>
            <a:ext cx="4876800" cy="182880"/>
          </a:xfrm>
          <a:prstGeom prst="rect">
            <a:avLst/>
          </a:prstGeom>
          <a:noFill/>
        </p:spPr>
        <p:txBody>
          <a:bodyPr wrap="square" anchor="t" lIns="0" rIns="0" tIns="0" bIns="0">
            <a:spAutoFit/>
          </a:bodyPr>
          <a:lstStyle/>
          <a:p>
            <a:pPr algn="l"/>
            <a:r>
              <a:rPr sz="1400" b="1" i="0">
                <a:solidFill>
                  <a:srgbClr val="555B66"/>
                </a:solidFill>
                <a:latin typeface="Arial"/>
              </a:rPr>
              <a:t>INSIGHTS QUALITATIFS</a:t>
            </a:r>
          </a:p>
        </p:txBody>
      </p:sp>
      <p:sp>
        <p:nvSpPr>
          <p:cNvPr id="8" name="Rectangle 7"/>
          <p:cNvSpPr/>
          <p:nvPr/>
        </p:nvSpPr>
        <p:spPr>
          <a:xfrm>
            <a:off x="579120" y="1816608"/>
            <a:ext cx="5071872" cy="2121408"/>
          </a:xfrm>
          <a:prstGeom prst="rect">
            <a:avLst/>
          </a:prstGeom>
          <a:solidFill>
            <a:srgbClr val="FFFFFF"/>
          </a:solidFill>
          <a:ln>
            <a:noFill/>
          </a:ln>
          <a:effectLst/>
        </p:spPr>
        <p:txBody>
          <a:bodyPr rtlCol="0" anchor="ctr"/>
          <a:lstStyle/>
          <a:p>
            <a:pPr algn="ctr"/>
          </a:p>
        </p:txBody>
      </p:sp>
      <p:sp>
        <p:nvSpPr>
          <p:cNvPr id="9" name="TextBox 8"/>
          <p:cNvSpPr txBox="1"/>
          <p:nvPr/>
        </p:nvSpPr>
        <p:spPr>
          <a:xfrm>
            <a:off x="835152" y="2029968"/>
            <a:ext cx="487680" cy="243840"/>
          </a:xfrm>
          <a:prstGeom prst="rect">
            <a:avLst/>
          </a:prstGeom>
          <a:noFill/>
        </p:spPr>
        <p:txBody>
          <a:bodyPr wrap="square" anchor="t" lIns="0" rIns="0" tIns="0" bIns="0">
            <a:spAutoFit/>
          </a:bodyPr>
          <a:lstStyle/>
          <a:p>
            <a:pPr algn="l"/>
            <a:r>
              <a:rPr sz="2000" b="1" i="0">
                <a:solidFill>
                  <a:srgbClr val="EE6A2C"/>
                </a:solidFill>
                <a:latin typeface="Arial"/>
              </a:rPr>
              <a:t>01</a:t>
            </a:r>
          </a:p>
        </p:txBody>
      </p:sp>
      <p:sp>
        <p:nvSpPr>
          <p:cNvPr id="10" name="TextBox 9"/>
          <p:cNvSpPr txBox="1"/>
          <p:nvPr/>
        </p:nvSpPr>
        <p:spPr>
          <a:xfrm>
            <a:off x="1383792" y="2048256"/>
            <a:ext cx="4023360" cy="365760"/>
          </a:xfrm>
          <a:prstGeom prst="rect">
            <a:avLst/>
          </a:prstGeom>
          <a:noFill/>
        </p:spPr>
        <p:txBody>
          <a:bodyPr wrap="square" anchor="t" lIns="0" rIns="0" tIns="0" bIns="0">
            <a:spAutoFit/>
          </a:bodyPr>
          <a:lstStyle/>
          <a:p>
            <a:pPr algn="l"/>
            <a:r>
              <a:rPr sz="1400" b="1" i="0">
                <a:solidFill>
                  <a:srgbClr val="111111"/>
                </a:solidFill>
                <a:latin typeface="Arial"/>
              </a:rPr>
              <a:t>Les jeux d'éveil cliquent le plus</a:t>
            </a:r>
          </a:p>
        </p:txBody>
      </p:sp>
      <p:sp>
        <p:nvSpPr>
          <p:cNvPr id="11" name="TextBox 10"/>
          <p:cNvSpPr txBox="1"/>
          <p:nvPr/>
        </p:nvSpPr>
        <p:spPr>
          <a:xfrm>
            <a:off x="835152" y="2609088"/>
            <a:ext cx="4572000" cy="731520"/>
          </a:xfrm>
          <a:prstGeom prst="rect">
            <a:avLst/>
          </a:prstGeom>
          <a:noFill/>
        </p:spPr>
        <p:txBody>
          <a:bodyPr wrap="square" anchor="t" lIns="0" rIns="0" tIns="0" bIns="0">
            <a:spAutoFit/>
          </a:bodyPr>
          <a:lstStyle/>
          <a:p>
            <a:pPr algn="l"/>
            <a:r>
              <a:rPr sz="1100" b="0" i="0">
                <a:solidFill>
                  <a:srgbClr val="555B66"/>
                </a:solidFill>
                <a:latin typeface="Arial"/>
              </a:rPr>
              <a:t>Le tapis d'éveil Gymini Tiny Love atteint 9,2 fois le CTR moyen, et le groupe jeux d'éveil 4,05 fois. Ils ne représentent pourtant que 3 % de la diffusion.</a:t>
            </a:r>
          </a:p>
        </p:txBody>
      </p:sp>
      <p:sp>
        <p:nvSpPr>
          <p:cNvPr id="12" name="TextBox 11"/>
          <p:cNvSpPr txBox="1"/>
          <p:nvPr/>
        </p:nvSpPr>
        <p:spPr>
          <a:xfrm>
            <a:off x="835152" y="3310128"/>
            <a:ext cx="4572000" cy="487680"/>
          </a:xfrm>
          <a:prstGeom prst="rect">
            <a:avLst/>
          </a:prstGeom>
          <a:noFill/>
        </p:spPr>
        <p:txBody>
          <a:bodyPr wrap="square" anchor="t" lIns="0" rIns="0" tIns="0" bIns="0">
            <a:spAutoFit/>
          </a:bodyPr>
          <a:lstStyle/>
          <a:p>
            <a:pPr algn="l"/>
            <a:r>
              <a:rPr sz="900" b="1" i="0">
                <a:solidFill>
                  <a:srgbClr val="555B66"/>
                </a:solidFill>
                <a:latin typeface="Arial"/>
              </a:rPr>
              <a:t>→  Augmenter fortement la part des jeux et tapis d'éveil dans la diffusion.</a:t>
            </a:r>
          </a:p>
        </p:txBody>
      </p:sp>
      <p:sp>
        <p:nvSpPr>
          <p:cNvPr id="13" name="Rectangle 12"/>
          <p:cNvSpPr/>
          <p:nvPr/>
        </p:nvSpPr>
        <p:spPr>
          <a:xfrm>
            <a:off x="5992368" y="1816608"/>
            <a:ext cx="5071872" cy="2121408"/>
          </a:xfrm>
          <a:prstGeom prst="rect">
            <a:avLst/>
          </a:prstGeom>
          <a:solidFill>
            <a:srgbClr val="FFFFFF"/>
          </a:solidFill>
          <a:ln>
            <a:noFill/>
          </a:ln>
          <a:effectLst/>
        </p:spPr>
        <p:txBody>
          <a:bodyPr rtlCol="0" anchor="ctr"/>
          <a:lstStyle/>
          <a:p>
            <a:pPr algn="ctr"/>
          </a:p>
        </p:txBody>
      </p:sp>
      <p:sp>
        <p:nvSpPr>
          <p:cNvPr id="14" name="TextBox 13"/>
          <p:cNvSpPr txBox="1"/>
          <p:nvPr/>
        </p:nvSpPr>
        <p:spPr>
          <a:xfrm>
            <a:off x="6248400" y="2029968"/>
            <a:ext cx="487680" cy="243840"/>
          </a:xfrm>
          <a:prstGeom prst="rect">
            <a:avLst/>
          </a:prstGeom>
          <a:noFill/>
        </p:spPr>
        <p:txBody>
          <a:bodyPr wrap="square" anchor="t" lIns="0" rIns="0" tIns="0" bIns="0">
            <a:spAutoFit/>
          </a:bodyPr>
          <a:lstStyle/>
          <a:p>
            <a:pPr algn="l"/>
            <a:r>
              <a:rPr sz="2000" b="1" i="0">
                <a:solidFill>
                  <a:srgbClr val="EE6A2C"/>
                </a:solidFill>
                <a:latin typeface="Arial"/>
              </a:rPr>
              <a:t>02</a:t>
            </a:r>
          </a:p>
        </p:txBody>
      </p:sp>
      <p:sp>
        <p:nvSpPr>
          <p:cNvPr id="15" name="TextBox 14"/>
          <p:cNvSpPr txBox="1"/>
          <p:nvPr/>
        </p:nvSpPr>
        <p:spPr>
          <a:xfrm>
            <a:off x="6797040" y="2048256"/>
            <a:ext cx="4023360" cy="365760"/>
          </a:xfrm>
          <a:prstGeom prst="rect">
            <a:avLst/>
          </a:prstGeom>
          <a:noFill/>
        </p:spPr>
        <p:txBody>
          <a:bodyPr wrap="square" anchor="t" lIns="0" rIns="0" tIns="0" bIns="0">
            <a:spAutoFit/>
          </a:bodyPr>
          <a:lstStyle/>
          <a:p>
            <a:pPr algn="l"/>
            <a:r>
              <a:rPr sz="1400" b="1" i="0">
                <a:solidFill>
                  <a:srgbClr val="111111"/>
                </a:solidFill>
                <a:latin typeface="Arial"/>
              </a:rPr>
              <a:t>Afficher le prix dans l'annonce</a:t>
            </a:r>
          </a:p>
        </p:txBody>
      </p:sp>
      <p:sp>
        <p:nvSpPr>
          <p:cNvPr id="16" name="TextBox 15"/>
          <p:cNvSpPr txBox="1"/>
          <p:nvPr/>
        </p:nvSpPr>
        <p:spPr>
          <a:xfrm>
            <a:off x="6248400" y="2609088"/>
            <a:ext cx="4572000" cy="731520"/>
          </a:xfrm>
          <a:prstGeom prst="rect">
            <a:avLst/>
          </a:prstGeom>
          <a:noFill/>
        </p:spPr>
        <p:txBody>
          <a:bodyPr wrap="square" anchor="t" lIns="0" rIns="0" tIns="0" bIns="0">
            <a:spAutoFit/>
          </a:bodyPr>
          <a:lstStyle/>
          <a:p>
            <a:pPr algn="l"/>
            <a:r>
              <a:rPr sz="1100" b="0" i="0">
                <a:solidFill>
                  <a:srgbClr val="555B66"/>
                </a:solidFill>
                <a:latin typeface="Arial"/>
              </a:rPr>
              <a:t>Les annonces avec un prix précis (tapis à 69,63 €, trotteur à 44,99 €) font partie des meilleures.</a:t>
            </a:r>
          </a:p>
        </p:txBody>
      </p:sp>
      <p:sp>
        <p:nvSpPr>
          <p:cNvPr id="17" name="TextBox 16"/>
          <p:cNvSpPr txBox="1"/>
          <p:nvPr/>
        </p:nvSpPr>
        <p:spPr>
          <a:xfrm>
            <a:off x="6248400" y="3310128"/>
            <a:ext cx="4572000" cy="487680"/>
          </a:xfrm>
          <a:prstGeom prst="rect">
            <a:avLst/>
          </a:prstGeom>
          <a:noFill/>
        </p:spPr>
        <p:txBody>
          <a:bodyPr wrap="square" anchor="t" lIns="0" rIns="0" tIns="0" bIns="0">
            <a:spAutoFit/>
          </a:bodyPr>
          <a:lstStyle/>
          <a:p>
            <a:pPr algn="l"/>
            <a:r>
              <a:rPr sz="900" b="1" i="0">
                <a:solidFill>
                  <a:srgbClr val="555B66"/>
                </a:solidFill>
                <a:latin typeface="Arial"/>
              </a:rPr>
              <a:t>→  Indiquer le prix et la livraison offerte dans les accroches.</a:t>
            </a:r>
          </a:p>
        </p:txBody>
      </p:sp>
      <p:sp>
        <p:nvSpPr>
          <p:cNvPr id="18" name="Rectangle 17"/>
          <p:cNvSpPr/>
          <p:nvPr/>
        </p:nvSpPr>
        <p:spPr>
          <a:xfrm>
            <a:off x="579120" y="4133088"/>
            <a:ext cx="5071872" cy="2121408"/>
          </a:xfrm>
          <a:prstGeom prst="rect">
            <a:avLst/>
          </a:prstGeom>
          <a:solidFill>
            <a:srgbClr val="FFFFFF"/>
          </a:solidFill>
          <a:ln>
            <a:noFill/>
          </a:ln>
          <a:effectLst/>
        </p:spPr>
        <p:txBody>
          <a:bodyPr rtlCol="0" anchor="ctr"/>
          <a:lstStyle/>
          <a:p>
            <a:pPr algn="ctr"/>
          </a:p>
        </p:txBody>
      </p:sp>
      <p:sp>
        <p:nvSpPr>
          <p:cNvPr id="19" name="TextBox 18"/>
          <p:cNvSpPr txBox="1"/>
          <p:nvPr/>
        </p:nvSpPr>
        <p:spPr>
          <a:xfrm>
            <a:off x="835152" y="4346448"/>
            <a:ext cx="487680" cy="243840"/>
          </a:xfrm>
          <a:prstGeom prst="rect">
            <a:avLst/>
          </a:prstGeom>
          <a:noFill/>
        </p:spPr>
        <p:txBody>
          <a:bodyPr wrap="square" anchor="t" lIns="0" rIns="0" tIns="0" bIns="0">
            <a:spAutoFit/>
          </a:bodyPr>
          <a:lstStyle/>
          <a:p>
            <a:pPr algn="l"/>
            <a:r>
              <a:rPr sz="2000" b="1" i="0">
                <a:solidFill>
                  <a:srgbClr val="EE6A2C"/>
                </a:solidFill>
                <a:latin typeface="Arial"/>
              </a:rPr>
              <a:t>03</a:t>
            </a:r>
          </a:p>
        </p:txBody>
      </p:sp>
      <p:sp>
        <p:nvSpPr>
          <p:cNvPr id="20" name="TextBox 19"/>
          <p:cNvSpPr txBox="1"/>
          <p:nvPr/>
        </p:nvSpPr>
        <p:spPr>
          <a:xfrm>
            <a:off x="1383792" y="4364736"/>
            <a:ext cx="4023360" cy="365760"/>
          </a:xfrm>
          <a:prstGeom prst="rect">
            <a:avLst/>
          </a:prstGeom>
          <a:noFill/>
        </p:spPr>
        <p:txBody>
          <a:bodyPr wrap="square" anchor="t" lIns="0" rIns="0" tIns="0" bIns="0">
            <a:spAutoFit/>
          </a:bodyPr>
          <a:lstStyle/>
          <a:p>
            <a:pPr algn="l"/>
            <a:r>
              <a:rPr sz="1400" b="1" i="0">
                <a:solidFill>
                  <a:srgbClr val="111111"/>
                </a:solidFill>
                <a:latin typeface="Arial"/>
              </a:rPr>
              <a:t>Revoir le mobilier et le sommeil</a:t>
            </a:r>
          </a:p>
        </p:txBody>
      </p:sp>
      <p:sp>
        <p:nvSpPr>
          <p:cNvPr id="21" name="TextBox 20"/>
          <p:cNvSpPr txBox="1"/>
          <p:nvPr/>
        </p:nvSpPr>
        <p:spPr>
          <a:xfrm>
            <a:off x="835152" y="4925568"/>
            <a:ext cx="4572000" cy="731520"/>
          </a:xfrm>
          <a:prstGeom prst="rect">
            <a:avLst/>
          </a:prstGeom>
          <a:noFill/>
        </p:spPr>
        <p:txBody>
          <a:bodyPr wrap="square" anchor="t" lIns="0" rIns="0" tIns="0" bIns="0">
            <a:spAutoFit/>
          </a:bodyPr>
          <a:lstStyle/>
          <a:p>
            <a:pPr algn="l"/>
            <a:r>
              <a:rPr sz="1100" b="0" i="0">
                <a:solidFill>
                  <a:srgbClr val="555B66"/>
                </a:solidFill>
                <a:latin typeface="Arial"/>
              </a:rPr>
              <a:t>La chaise haute Lily (0,36 fois), le siège auto EvoluFix (0,46 fois) et le lit parapluie (0,50 fois) restent nettement sous la moyenne.</a:t>
            </a:r>
          </a:p>
        </p:txBody>
      </p:sp>
      <p:sp>
        <p:nvSpPr>
          <p:cNvPr id="22" name="TextBox 21"/>
          <p:cNvSpPr txBox="1"/>
          <p:nvPr/>
        </p:nvSpPr>
        <p:spPr>
          <a:xfrm>
            <a:off x="835152" y="5626608"/>
            <a:ext cx="4572000" cy="487680"/>
          </a:xfrm>
          <a:prstGeom prst="rect">
            <a:avLst/>
          </a:prstGeom>
          <a:noFill/>
        </p:spPr>
        <p:txBody>
          <a:bodyPr wrap="square" anchor="t" lIns="0" rIns="0" tIns="0" bIns="0">
            <a:spAutoFit/>
          </a:bodyPr>
          <a:lstStyle/>
          <a:p>
            <a:pPr algn="l"/>
            <a:r>
              <a:rPr sz="900" b="1" i="0">
                <a:solidFill>
                  <a:srgbClr val="555B66"/>
                </a:solidFill>
                <a:latin typeface="Arial"/>
              </a:rPr>
              <a:t>→  Associer ces produits à un moment concret (premier repas, départ en vacances).</a:t>
            </a:r>
          </a:p>
        </p:txBody>
      </p:sp>
      <p:sp>
        <p:nvSpPr>
          <p:cNvPr id="23" name="Rectangle 22"/>
          <p:cNvSpPr/>
          <p:nvPr/>
        </p:nvSpPr>
        <p:spPr>
          <a:xfrm>
            <a:off x="5992368" y="4133088"/>
            <a:ext cx="5071872" cy="2121408"/>
          </a:xfrm>
          <a:prstGeom prst="rect">
            <a:avLst/>
          </a:prstGeom>
          <a:solidFill>
            <a:srgbClr val="FFFFFF"/>
          </a:solidFill>
          <a:ln>
            <a:noFill/>
          </a:ln>
          <a:effectLst/>
        </p:spPr>
        <p:txBody>
          <a:bodyPr rtlCol="0" anchor="ctr"/>
          <a:lstStyle/>
          <a:p>
            <a:pPr algn="ctr"/>
          </a:p>
        </p:txBody>
      </p:sp>
      <p:sp>
        <p:nvSpPr>
          <p:cNvPr id="24" name="TextBox 23"/>
          <p:cNvSpPr txBox="1"/>
          <p:nvPr/>
        </p:nvSpPr>
        <p:spPr>
          <a:xfrm>
            <a:off x="6248400" y="4346448"/>
            <a:ext cx="487680" cy="243840"/>
          </a:xfrm>
          <a:prstGeom prst="rect">
            <a:avLst/>
          </a:prstGeom>
          <a:noFill/>
        </p:spPr>
        <p:txBody>
          <a:bodyPr wrap="square" anchor="t" lIns="0" rIns="0" tIns="0" bIns="0">
            <a:spAutoFit/>
          </a:bodyPr>
          <a:lstStyle/>
          <a:p>
            <a:pPr algn="l"/>
            <a:r>
              <a:rPr sz="2000" b="1" i="0">
                <a:solidFill>
                  <a:srgbClr val="EE6A2C"/>
                </a:solidFill>
                <a:latin typeface="Arial"/>
              </a:rPr>
              <a:t>04</a:t>
            </a:r>
          </a:p>
        </p:txBody>
      </p:sp>
      <p:sp>
        <p:nvSpPr>
          <p:cNvPr id="25" name="TextBox 24"/>
          <p:cNvSpPr txBox="1"/>
          <p:nvPr/>
        </p:nvSpPr>
        <p:spPr>
          <a:xfrm>
            <a:off x="6797040" y="4364736"/>
            <a:ext cx="4023360" cy="365760"/>
          </a:xfrm>
          <a:prstGeom prst="rect">
            <a:avLst/>
          </a:prstGeom>
          <a:noFill/>
        </p:spPr>
        <p:txBody>
          <a:bodyPr wrap="square" anchor="t" lIns="0" rIns="0" tIns="0" bIns="0">
            <a:spAutoFit/>
          </a:bodyPr>
          <a:lstStyle/>
          <a:p>
            <a:pPr algn="l"/>
            <a:r>
              <a:rPr sz="1400" b="1" i="0">
                <a:solidFill>
                  <a:srgbClr val="111111"/>
                </a:solidFill>
                <a:latin typeface="Arial"/>
              </a:rPr>
              <a:t>Un CTR qui double</a:t>
            </a:r>
          </a:p>
        </p:txBody>
      </p:sp>
      <p:sp>
        <p:nvSpPr>
          <p:cNvPr id="26" name="TextBox 25"/>
          <p:cNvSpPr txBox="1"/>
          <p:nvPr/>
        </p:nvSpPr>
        <p:spPr>
          <a:xfrm>
            <a:off x="6248400" y="4925568"/>
            <a:ext cx="4572000" cy="731520"/>
          </a:xfrm>
          <a:prstGeom prst="rect">
            <a:avLst/>
          </a:prstGeom>
          <a:noFill/>
        </p:spPr>
        <p:txBody>
          <a:bodyPr wrap="square" anchor="t" lIns="0" rIns="0" tIns="0" bIns="0">
            <a:spAutoFit/>
          </a:bodyPr>
          <a:lstStyle/>
          <a:p>
            <a:pPr algn="l"/>
            <a:r>
              <a:rPr sz="1100" b="0" i="0">
                <a:solidFill>
                  <a:srgbClr val="555B66"/>
                </a:solidFill>
                <a:latin typeface="Arial"/>
              </a:rPr>
              <a:t>Les clics sont multipliés par 3,5 (1 990) pour 60 % d'impressions en plus. Le CTR passe de 0,23 % à 0,51 %.</a:t>
            </a:r>
          </a:p>
        </p:txBody>
      </p:sp>
      <p:sp>
        <p:nvSpPr>
          <p:cNvPr id="27" name="TextBox 26"/>
          <p:cNvSpPr txBox="1"/>
          <p:nvPr/>
        </p:nvSpPr>
        <p:spPr>
          <a:xfrm>
            <a:off x="6248400" y="5626608"/>
            <a:ext cx="4572000" cy="487680"/>
          </a:xfrm>
          <a:prstGeom prst="rect">
            <a:avLst/>
          </a:prstGeom>
          <a:noFill/>
        </p:spPr>
        <p:txBody>
          <a:bodyPr wrap="square" anchor="t" lIns="0" rIns="0" tIns="0" bIns="0">
            <a:spAutoFit/>
          </a:bodyPr>
          <a:lstStyle/>
          <a:p>
            <a:pPr algn="l"/>
            <a:r>
              <a:rPr sz="900" b="1" i="0">
                <a:solidFill>
                  <a:srgbClr val="555B66"/>
                </a:solidFill>
                <a:latin typeface="Arial"/>
              </a:rPr>
              <a:t>→  Concentrer le budget sur l'éveil et la sécurité de la maison.</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6F2"/>
          </a:solidFill>
          <a:ln>
            <a:noFill/>
          </a:ln>
          <a:effectLst/>
        </p:spPr>
        <p:txBody>
          <a:bodyPr rtlCol="0" anchor="ctr"/>
          <a:lstStyle/>
          <a:p>
            <a:pPr algn="ctr"/>
          </a:p>
        </p:txBody>
      </p:sp>
      <p:sp>
        <p:nvSpPr>
          <p:cNvPr id="3" name="TextBox 2"/>
          <p:cNvSpPr txBox="1"/>
          <p:nvPr/>
        </p:nvSpPr>
        <p:spPr>
          <a:xfrm>
            <a:off x="530352" y="487680"/>
            <a:ext cx="7315200" cy="182880"/>
          </a:xfrm>
          <a:prstGeom prst="rect">
            <a:avLst/>
          </a:prstGeom>
          <a:noFill/>
        </p:spPr>
        <p:txBody>
          <a:bodyPr wrap="square" anchor="t" lIns="0" rIns="0" tIns="0" bIns="0">
            <a:spAutoFit/>
          </a:bodyPr>
          <a:lstStyle/>
          <a:p>
            <a:pPr algn="l"/>
            <a:r>
              <a:rPr sz="1300" b="1" i="0">
                <a:solidFill>
                  <a:srgbClr val="EE6A2C"/>
                </a:solidFill>
                <a:latin typeface="Arial"/>
              </a:rPr>
              <a:t>RAPPORT DE PERFORMANCE · 01/09/2026 → 30/09/2026</a:t>
            </a:r>
          </a:p>
        </p:txBody>
      </p:sp>
      <p:sp>
        <p:nvSpPr>
          <p:cNvPr id="4" name="TextBox 3"/>
          <p:cNvSpPr txBox="1"/>
          <p:nvPr/>
        </p:nvSpPr>
        <p:spPr>
          <a:xfrm>
            <a:off x="530352" y="640080"/>
            <a:ext cx="7315200" cy="487680"/>
          </a:xfrm>
          <a:prstGeom prst="rect">
            <a:avLst/>
          </a:prstGeom>
          <a:noFill/>
        </p:spPr>
        <p:txBody>
          <a:bodyPr wrap="square" anchor="t" lIns="0" rIns="0" tIns="0" bIns="0">
            <a:spAutoFit/>
          </a:bodyPr>
          <a:lstStyle/>
          <a:p>
            <a:pPr algn="l"/>
            <a:r>
              <a:rPr sz="3600" b="1" i="0">
                <a:solidFill>
                  <a:srgbClr val="111111"/>
                </a:solidFill>
                <a:latin typeface="Arial"/>
              </a:rPr>
              <a:t>Sécurité Routière</a:t>
            </a:r>
          </a:p>
        </p:txBody>
      </p:sp>
      <p:sp>
        <p:nvSpPr>
          <p:cNvPr id="5" name="TextBox 4"/>
          <p:cNvSpPr txBox="1"/>
          <p:nvPr/>
        </p:nvSpPr>
        <p:spPr>
          <a:xfrm>
            <a:off x="7924800" y="591312"/>
            <a:ext cx="3304032" cy="152400"/>
          </a:xfrm>
          <a:prstGeom prst="rect">
            <a:avLst/>
          </a:prstGeom>
          <a:noFill/>
        </p:spPr>
        <p:txBody>
          <a:bodyPr wrap="square" anchor="t" lIns="0" rIns="0" tIns="0" bIns="0">
            <a:spAutoFit/>
          </a:bodyPr>
          <a:lstStyle/>
          <a:p>
            <a:pPr algn="r"/>
            <a:r>
              <a:rPr sz="1200" b="1" i="0">
                <a:solidFill>
                  <a:srgbClr val="8A93A6"/>
                </a:solidFill>
                <a:latin typeface="Arial"/>
              </a:rPr>
              <a:t>COMPARAISON</a:t>
            </a:r>
          </a:p>
        </p:txBody>
      </p:sp>
      <p:sp>
        <p:nvSpPr>
          <p:cNvPr id="6" name="TextBox 5"/>
          <p:cNvSpPr txBox="1"/>
          <p:nvPr/>
        </p:nvSpPr>
        <p:spPr>
          <a:xfrm>
            <a:off x="7924800" y="780288"/>
            <a:ext cx="3304032" cy="182880"/>
          </a:xfrm>
          <a:prstGeom prst="rect">
            <a:avLst/>
          </a:prstGeom>
          <a:noFill/>
        </p:spPr>
        <p:txBody>
          <a:bodyPr wrap="square" anchor="t" lIns="0" rIns="0" tIns="0" bIns="0">
            <a:spAutoFit/>
          </a:bodyPr>
          <a:lstStyle/>
          <a:p>
            <a:pPr algn="r"/>
            <a:r>
              <a:rPr sz="1500" b="1" i="0">
                <a:solidFill>
                  <a:srgbClr val="111111"/>
                </a:solidFill>
                <a:latin typeface="Arial"/>
              </a:rPr>
              <a:t>vs 01/08/2026 → 31/08/2026</a:t>
            </a:r>
          </a:p>
        </p:txBody>
      </p:sp>
      <p:sp>
        <p:nvSpPr>
          <p:cNvPr id="7" name="TextBox 6"/>
          <p:cNvSpPr txBox="1"/>
          <p:nvPr/>
        </p:nvSpPr>
        <p:spPr>
          <a:xfrm>
            <a:off x="530352" y="1280160"/>
            <a:ext cx="2438400" cy="182880"/>
          </a:xfrm>
          <a:prstGeom prst="rect">
            <a:avLst/>
          </a:prstGeom>
          <a:noFill/>
        </p:spPr>
        <p:txBody>
          <a:bodyPr wrap="square" anchor="t" lIns="0" rIns="0" tIns="0" bIns="0">
            <a:spAutoFit/>
          </a:bodyPr>
          <a:lstStyle/>
          <a:p>
            <a:pPr algn="l"/>
            <a:r>
              <a:rPr sz="1400" b="1" i="0">
                <a:solidFill>
                  <a:srgbClr val="EE6A2C"/>
                </a:solidFill>
                <a:latin typeface="Arial"/>
              </a:rPr>
              <a:t>DIFFUSION</a:t>
            </a:r>
          </a:p>
        </p:txBody>
      </p:sp>
      <p:sp>
        <p:nvSpPr>
          <p:cNvPr id="8" name="TextBox 7"/>
          <p:cNvSpPr txBox="1"/>
          <p:nvPr/>
        </p:nvSpPr>
        <p:spPr>
          <a:xfrm>
            <a:off x="2389632" y="1280160"/>
            <a:ext cx="2438400" cy="182880"/>
          </a:xfrm>
          <a:prstGeom prst="rect">
            <a:avLst/>
          </a:prstGeom>
          <a:noFill/>
        </p:spPr>
        <p:txBody>
          <a:bodyPr wrap="square" anchor="t" lIns="0" rIns="0" tIns="0" bIns="0">
            <a:spAutoFit/>
          </a:bodyPr>
          <a:lstStyle/>
          <a:p>
            <a:pPr algn="l"/>
            <a:r>
              <a:rPr sz="1400" b="1" i="0">
                <a:solidFill>
                  <a:srgbClr val="EE6A2C"/>
                </a:solidFill>
                <a:latin typeface="Arial"/>
              </a:rPr>
              <a:t>ENGAGEMENT</a:t>
            </a:r>
          </a:p>
        </p:txBody>
      </p:sp>
      <p:sp>
        <p:nvSpPr>
          <p:cNvPr id="9" name="TextBox 8"/>
          <p:cNvSpPr txBox="1"/>
          <p:nvPr/>
        </p:nvSpPr>
        <p:spPr>
          <a:xfrm>
            <a:off x="6108192" y="1280160"/>
            <a:ext cx="2438400" cy="182880"/>
          </a:xfrm>
          <a:prstGeom prst="rect">
            <a:avLst/>
          </a:prstGeom>
          <a:noFill/>
        </p:spPr>
        <p:txBody>
          <a:bodyPr wrap="square" anchor="t" lIns="0" rIns="0" tIns="0" bIns="0">
            <a:spAutoFit/>
          </a:bodyPr>
          <a:lstStyle/>
          <a:p>
            <a:pPr algn="l"/>
            <a:r>
              <a:rPr sz="1400" b="1" i="0">
                <a:solidFill>
                  <a:srgbClr val="EE6A2C"/>
                </a:solidFill>
                <a:latin typeface="Arial"/>
              </a:rPr>
              <a:t>CONVERSION</a:t>
            </a:r>
          </a:p>
        </p:txBody>
      </p:sp>
      <p:sp>
        <p:nvSpPr>
          <p:cNvPr id="10" name="Rectangle 9"/>
          <p:cNvSpPr/>
          <p:nvPr/>
        </p:nvSpPr>
        <p:spPr>
          <a:xfrm>
            <a:off x="530352" y="1536192"/>
            <a:ext cx="1389888" cy="1127760"/>
          </a:xfrm>
          <a:prstGeom prst="rect">
            <a:avLst/>
          </a:prstGeom>
          <a:solidFill>
            <a:srgbClr val="FFFFFF"/>
          </a:solidFill>
          <a:ln>
            <a:noFill/>
          </a:ln>
          <a:effectLst/>
        </p:spPr>
        <p:txBody>
          <a:bodyPr rtlCol="0" anchor="ctr"/>
          <a:lstStyle/>
          <a:p>
            <a:pPr algn="ctr"/>
          </a:p>
        </p:txBody>
      </p:sp>
      <p:sp>
        <p:nvSpPr>
          <p:cNvPr id="11" name="Rectangle 10"/>
          <p:cNvSpPr/>
          <p:nvPr/>
        </p:nvSpPr>
        <p:spPr>
          <a:xfrm>
            <a:off x="530352" y="1536192"/>
            <a:ext cx="24384" cy="1127760"/>
          </a:xfrm>
          <a:prstGeom prst="rect">
            <a:avLst/>
          </a:prstGeom>
          <a:solidFill>
            <a:srgbClr val="EE6A2C"/>
          </a:solidFill>
          <a:ln>
            <a:noFill/>
          </a:ln>
          <a:effectLst/>
        </p:spPr>
        <p:txBody>
          <a:bodyPr rtlCol="0" anchor="ctr"/>
          <a:lstStyle/>
          <a:p>
            <a:pPr algn="ctr"/>
          </a:p>
        </p:txBody>
      </p:sp>
      <p:sp>
        <p:nvSpPr>
          <p:cNvPr id="12" name="TextBox 11"/>
          <p:cNvSpPr txBox="1"/>
          <p:nvPr/>
        </p:nvSpPr>
        <p:spPr>
          <a:xfrm>
            <a:off x="664464" y="1615440"/>
            <a:ext cx="1219200" cy="121920"/>
          </a:xfrm>
          <a:prstGeom prst="rect">
            <a:avLst/>
          </a:prstGeom>
          <a:noFill/>
        </p:spPr>
        <p:txBody>
          <a:bodyPr wrap="square" anchor="t" lIns="0" rIns="0" tIns="0" bIns="0">
            <a:spAutoFit/>
          </a:bodyPr>
          <a:lstStyle/>
          <a:p>
            <a:pPr algn="l"/>
            <a:r>
              <a:rPr sz="1000" b="1" i="0">
                <a:solidFill>
                  <a:srgbClr val="555B66"/>
                </a:solidFill>
                <a:latin typeface="Arial"/>
              </a:rPr>
              <a:t>IMPRESSIONS</a:t>
            </a:r>
          </a:p>
        </p:txBody>
      </p:sp>
      <p:sp>
        <p:nvSpPr>
          <p:cNvPr id="13" name="TextBox 12"/>
          <p:cNvSpPr txBox="1"/>
          <p:nvPr/>
        </p:nvSpPr>
        <p:spPr>
          <a:xfrm>
            <a:off x="664464" y="1889760"/>
            <a:ext cx="1219200" cy="274320"/>
          </a:xfrm>
          <a:prstGeom prst="rect">
            <a:avLst/>
          </a:prstGeom>
          <a:noFill/>
        </p:spPr>
        <p:txBody>
          <a:bodyPr wrap="square" anchor="t" lIns="0" rIns="0" tIns="0" bIns="0">
            <a:spAutoFit/>
          </a:bodyPr>
          <a:lstStyle/>
          <a:p>
            <a:pPr algn="l"/>
            <a:r>
              <a:rPr sz="2200" b="1" i="0">
                <a:solidFill>
                  <a:srgbClr val="111111"/>
                </a:solidFill>
                <a:latin typeface="Arial"/>
              </a:rPr>
              <a:t>374 204</a:t>
            </a:r>
          </a:p>
        </p:txBody>
      </p:sp>
      <p:sp>
        <p:nvSpPr>
          <p:cNvPr id="14" name="TextBox 13"/>
          <p:cNvSpPr txBox="1"/>
          <p:nvPr/>
        </p:nvSpPr>
        <p:spPr>
          <a:xfrm>
            <a:off x="664464" y="2243328"/>
            <a:ext cx="1219200" cy="109728"/>
          </a:xfrm>
          <a:prstGeom prst="rect">
            <a:avLst/>
          </a:prstGeom>
          <a:noFill/>
        </p:spPr>
        <p:txBody>
          <a:bodyPr wrap="square" anchor="t" lIns="0" rIns="0" tIns="0" bIns="0">
            <a:spAutoFit/>
          </a:bodyPr>
          <a:lstStyle/>
          <a:p>
            <a:pPr algn="l"/>
            <a:r>
              <a:rPr sz="1000" b="1" i="0">
                <a:solidFill>
                  <a:srgbClr val="555B66"/>
                </a:solidFill>
                <a:latin typeface="Arial"/>
              </a:rPr>
              <a:t>—</a:t>
            </a:r>
          </a:p>
        </p:txBody>
      </p:sp>
      <p:sp>
        <p:nvSpPr>
          <p:cNvPr id="15" name="TextBox 14"/>
          <p:cNvSpPr txBox="1"/>
          <p:nvPr/>
        </p:nvSpPr>
        <p:spPr>
          <a:xfrm>
            <a:off x="664464" y="2499360"/>
            <a:ext cx="1219200" cy="91440"/>
          </a:xfrm>
          <a:prstGeom prst="rect">
            <a:avLst/>
          </a:prstGeom>
          <a:noFill/>
        </p:spPr>
        <p:txBody>
          <a:bodyPr wrap="square" anchor="t" lIns="0" rIns="0" tIns="0" bIns="0">
            <a:spAutoFit/>
          </a:bodyPr>
          <a:lstStyle/>
          <a:p>
            <a:pPr algn="l"/>
            <a:r>
              <a:rPr sz="800" b="0" i="1">
                <a:solidFill>
                  <a:srgbClr val="555B66"/>
                </a:solidFill>
                <a:latin typeface="Arial"/>
              </a:rPr>
              <a:t>YTD 374 204</a:t>
            </a:r>
          </a:p>
        </p:txBody>
      </p:sp>
      <p:sp>
        <p:nvSpPr>
          <p:cNvPr id="16" name="Rectangle 15"/>
          <p:cNvSpPr/>
          <p:nvPr/>
        </p:nvSpPr>
        <p:spPr>
          <a:xfrm>
            <a:off x="2389632" y="1536192"/>
            <a:ext cx="1389888" cy="1127760"/>
          </a:xfrm>
          <a:prstGeom prst="rect">
            <a:avLst/>
          </a:prstGeom>
          <a:solidFill>
            <a:srgbClr val="FFFFFF"/>
          </a:solidFill>
          <a:ln>
            <a:noFill/>
          </a:ln>
          <a:effectLst/>
        </p:spPr>
        <p:txBody>
          <a:bodyPr rtlCol="0" anchor="ctr"/>
          <a:lstStyle/>
          <a:p>
            <a:pPr algn="ctr"/>
          </a:p>
        </p:txBody>
      </p:sp>
      <p:sp>
        <p:nvSpPr>
          <p:cNvPr id="17" name="Rectangle 16"/>
          <p:cNvSpPr/>
          <p:nvPr/>
        </p:nvSpPr>
        <p:spPr>
          <a:xfrm>
            <a:off x="2389632" y="1536192"/>
            <a:ext cx="24384" cy="1127760"/>
          </a:xfrm>
          <a:prstGeom prst="rect">
            <a:avLst/>
          </a:prstGeom>
          <a:solidFill>
            <a:srgbClr val="EE6A2C"/>
          </a:solidFill>
          <a:ln>
            <a:noFill/>
          </a:ln>
          <a:effectLst/>
        </p:spPr>
        <p:txBody>
          <a:bodyPr rtlCol="0" anchor="ctr"/>
          <a:lstStyle/>
          <a:p>
            <a:pPr algn="ctr"/>
          </a:p>
        </p:txBody>
      </p:sp>
      <p:sp>
        <p:nvSpPr>
          <p:cNvPr id="18" name="TextBox 17"/>
          <p:cNvSpPr txBox="1"/>
          <p:nvPr/>
        </p:nvSpPr>
        <p:spPr>
          <a:xfrm>
            <a:off x="2523744" y="1615440"/>
            <a:ext cx="1219200" cy="121920"/>
          </a:xfrm>
          <a:prstGeom prst="rect">
            <a:avLst/>
          </a:prstGeom>
          <a:noFill/>
        </p:spPr>
        <p:txBody>
          <a:bodyPr wrap="square" anchor="t" lIns="0" rIns="0" tIns="0" bIns="0">
            <a:spAutoFit/>
          </a:bodyPr>
          <a:lstStyle/>
          <a:p>
            <a:pPr algn="l"/>
            <a:r>
              <a:rPr sz="1000" b="1" i="0">
                <a:solidFill>
                  <a:srgbClr val="555B66"/>
                </a:solidFill>
                <a:latin typeface="Arial"/>
              </a:rPr>
              <a:t>CLICS</a:t>
            </a:r>
          </a:p>
        </p:txBody>
      </p:sp>
      <p:sp>
        <p:nvSpPr>
          <p:cNvPr id="19" name="TextBox 18"/>
          <p:cNvSpPr txBox="1"/>
          <p:nvPr/>
        </p:nvSpPr>
        <p:spPr>
          <a:xfrm>
            <a:off x="2523744" y="1889760"/>
            <a:ext cx="1219200" cy="274320"/>
          </a:xfrm>
          <a:prstGeom prst="rect">
            <a:avLst/>
          </a:prstGeom>
          <a:noFill/>
        </p:spPr>
        <p:txBody>
          <a:bodyPr wrap="square" anchor="t" lIns="0" rIns="0" tIns="0" bIns="0">
            <a:spAutoFit/>
          </a:bodyPr>
          <a:lstStyle/>
          <a:p>
            <a:pPr algn="l"/>
            <a:r>
              <a:rPr sz="2200" b="1" i="0">
                <a:solidFill>
                  <a:srgbClr val="111111"/>
                </a:solidFill>
                <a:latin typeface="Arial"/>
              </a:rPr>
              <a:t>1 591</a:t>
            </a:r>
          </a:p>
        </p:txBody>
      </p:sp>
      <p:sp>
        <p:nvSpPr>
          <p:cNvPr id="20" name="TextBox 19"/>
          <p:cNvSpPr txBox="1"/>
          <p:nvPr/>
        </p:nvSpPr>
        <p:spPr>
          <a:xfrm>
            <a:off x="2523744" y="2243328"/>
            <a:ext cx="1219200" cy="109728"/>
          </a:xfrm>
          <a:prstGeom prst="rect">
            <a:avLst/>
          </a:prstGeom>
          <a:noFill/>
        </p:spPr>
        <p:txBody>
          <a:bodyPr wrap="square" anchor="t" lIns="0" rIns="0" tIns="0" bIns="0">
            <a:spAutoFit/>
          </a:bodyPr>
          <a:lstStyle/>
          <a:p>
            <a:pPr algn="l"/>
            <a:r>
              <a:rPr sz="1000" b="1" i="0">
                <a:solidFill>
                  <a:srgbClr val="555B66"/>
                </a:solidFill>
                <a:latin typeface="Arial"/>
              </a:rPr>
              <a:t>—</a:t>
            </a:r>
          </a:p>
        </p:txBody>
      </p:sp>
      <p:sp>
        <p:nvSpPr>
          <p:cNvPr id="21" name="TextBox 20"/>
          <p:cNvSpPr txBox="1"/>
          <p:nvPr/>
        </p:nvSpPr>
        <p:spPr>
          <a:xfrm>
            <a:off x="2523744" y="2499360"/>
            <a:ext cx="1219200" cy="91440"/>
          </a:xfrm>
          <a:prstGeom prst="rect">
            <a:avLst/>
          </a:prstGeom>
          <a:noFill/>
        </p:spPr>
        <p:txBody>
          <a:bodyPr wrap="square" anchor="t" lIns="0" rIns="0" tIns="0" bIns="0">
            <a:spAutoFit/>
          </a:bodyPr>
          <a:lstStyle/>
          <a:p>
            <a:pPr algn="l"/>
            <a:r>
              <a:rPr sz="800" b="0" i="1">
                <a:solidFill>
                  <a:srgbClr val="555B66"/>
                </a:solidFill>
                <a:latin typeface="Arial"/>
              </a:rPr>
              <a:t>YTD 1 591</a:t>
            </a:r>
          </a:p>
        </p:txBody>
      </p:sp>
      <p:sp>
        <p:nvSpPr>
          <p:cNvPr id="22" name="Rectangle 21"/>
          <p:cNvSpPr/>
          <p:nvPr/>
        </p:nvSpPr>
        <p:spPr>
          <a:xfrm>
            <a:off x="4248912" y="1536192"/>
            <a:ext cx="1389888" cy="1127760"/>
          </a:xfrm>
          <a:prstGeom prst="rect">
            <a:avLst/>
          </a:prstGeom>
          <a:solidFill>
            <a:srgbClr val="FFFFFF"/>
          </a:solidFill>
          <a:ln>
            <a:noFill/>
          </a:ln>
          <a:effectLst/>
        </p:spPr>
        <p:txBody>
          <a:bodyPr rtlCol="0" anchor="ctr"/>
          <a:lstStyle/>
          <a:p>
            <a:pPr algn="ctr"/>
          </a:p>
        </p:txBody>
      </p:sp>
      <p:sp>
        <p:nvSpPr>
          <p:cNvPr id="23" name="Rectangle 22"/>
          <p:cNvSpPr/>
          <p:nvPr/>
        </p:nvSpPr>
        <p:spPr>
          <a:xfrm>
            <a:off x="4248912" y="1536192"/>
            <a:ext cx="24384" cy="1127760"/>
          </a:xfrm>
          <a:prstGeom prst="rect">
            <a:avLst/>
          </a:prstGeom>
          <a:solidFill>
            <a:srgbClr val="EE6A2C"/>
          </a:solidFill>
          <a:ln>
            <a:noFill/>
          </a:ln>
          <a:effectLst/>
        </p:spPr>
        <p:txBody>
          <a:bodyPr rtlCol="0" anchor="ctr"/>
          <a:lstStyle/>
          <a:p>
            <a:pPr algn="ctr"/>
          </a:p>
        </p:txBody>
      </p:sp>
      <p:sp>
        <p:nvSpPr>
          <p:cNvPr id="24" name="TextBox 23"/>
          <p:cNvSpPr txBox="1"/>
          <p:nvPr/>
        </p:nvSpPr>
        <p:spPr>
          <a:xfrm>
            <a:off x="4383024" y="1615440"/>
            <a:ext cx="1219200" cy="121920"/>
          </a:xfrm>
          <a:prstGeom prst="rect">
            <a:avLst/>
          </a:prstGeom>
          <a:noFill/>
        </p:spPr>
        <p:txBody>
          <a:bodyPr wrap="square" anchor="t" lIns="0" rIns="0" tIns="0" bIns="0">
            <a:spAutoFit/>
          </a:bodyPr>
          <a:lstStyle/>
          <a:p>
            <a:pPr algn="l"/>
            <a:r>
              <a:rPr sz="1000" b="1" i="0">
                <a:solidFill>
                  <a:srgbClr val="555B66"/>
                </a:solidFill>
                <a:latin typeface="Arial"/>
              </a:rPr>
              <a:t>CTR</a:t>
            </a:r>
          </a:p>
        </p:txBody>
      </p:sp>
      <p:sp>
        <p:nvSpPr>
          <p:cNvPr id="25" name="TextBox 24"/>
          <p:cNvSpPr txBox="1"/>
          <p:nvPr/>
        </p:nvSpPr>
        <p:spPr>
          <a:xfrm>
            <a:off x="4383024" y="1889760"/>
            <a:ext cx="1219200" cy="274320"/>
          </a:xfrm>
          <a:prstGeom prst="rect">
            <a:avLst/>
          </a:prstGeom>
          <a:noFill/>
        </p:spPr>
        <p:txBody>
          <a:bodyPr wrap="square" anchor="t" lIns="0" rIns="0" tIns="0" bIns="0">
            <a:spAutoFit/>
          </a:bodyPr>
          <a:lstStyle/>
          <a:p>
            <a:pPr algn="l"/>
            <a:r>
              <a:rPr sz="2200" b="1" i="0">
                <a:solidFill>
                  <a:srgbClr val="111111"/>
                </a:solidFill>
                <a:latin typeface="Arial"/>
              </a:rPr>
              <a:t>0,43 %</a:t>
            </a:r>
          </a:p>
        </p:txBody>
      </p:sp>
      <p:sp>
        <p:nvSpPr>
          <p:cNvPr id="26" name="TextBox 25"/>
          <p:cNvSpPr txBox="1"/>
          <p:nvPr/>
        </p:nvSpPr>
        <p:spPr>
          <a:xfrm>
            <a:off x="4383024" y="2243328"/>
            <a:ext cx="1219200" cy="109728"/>
          </a:xfrm>
          <a:prstGeom prst="rect">
            <a:avLst/>
          </a:prstGeom>
          <a:noFill/>
        </p:spPr>
        <p:txBody>
          <a:bodyPr wrap="square" anchor="t" lIns="0" rIns="0" tIns="0" bIns="0">
            <a:spAutoFit/>
          </a:bodyPr>
          <a:lstStyle/>
          <a:p>
            <a:pPr algn="l"/>
            <a:r>
              <a:rPr sz="1000" b="1" i="0">
                <a:solidFill>
                  <a:srgbClr val="555B66"/>
                </a:solidFill>
                <a:latin typeface="Arial"/>
              </a:rPr>
              <a:t>—</a:t>
            </a:r>
          </a:p>
        </p:txBody>
      </p:sp>
      <p:sp>
        <p:nvSpPr>
          <p:cNvPr id="27" name="TextBox 26"/>
          <p:cNvSpPr txBox="1"/>
          <p:nvPr/>
        </p:nvSpPr>
        <p:spPr>
          <a:xfrm>
            <a:off x="4383024" y="2499360"/>
            <a:ext cx="1219200" cy="91440"/>
          </a:xfrm>
          <a:prstGeom prst="rect">
            <a:avLst/>
          </a:prstGeom>
          <a:noFill/>
        </p:spPr>
        <p:txBody>
          <a:bodyPr wrap="square" anchor="t" lIns="0" rIns="0" tIns="0" bIns="0">
            <a:spAutoFit/>
          </a:bodyPr>
          <a:lstStyle/>
          <a:p>
            <a:pPr algn="l"/>
            <a:r>
              <a:rPr sz="800" b="0" i="1">
                <a:solidFill>
                  <a:srgbClr val="555B66"/>
                </a:solidFill>
                <a:latin typeface="Arial"/>
              </a:rPr>
              <a:t>YTD 0,43 %</a:t>
            </a:r>
          </a:p>
        </p:txBody>
      </p:sp>
      <p:sp>
        <p:nvSpPr>
          <p:cNvPr id="28" name="Rectangle 27"/>
          <p:cNvSpPr/>
          <p:nvPr/>
        </p:nvSpPr>
        <p:spPr>
          <a:xfrm>
            <a:off x="6108192" y="1536192"/>
            <a:ext cx="1389888" cy="1127760"/>
          </a:xfrm>
          <a:prstGeom prst="rect">
            <a:avLst/>
          </a:prstGeom>
          <a:solidFill>
            <a:srgbClr val="F1EFEB"/>
          </a:solidFill>
          <a:ln>
            <a:noFill/>
          </a:ln>
          <a:effectLst/>
        </p:spPr>
        <p:txBody>
          <a:bodyPr rtlCol="0" anchor="ctr"/>
          <a:lstStyle/>
          <a:p>
            <a:pPr algn="ctr"/>
          </a:p>
        </p:txBody>
      </p:sp>
      <p:sp>
        <p:nvSpPr>
          <p:cNvPr id="29" name="Rounded Rectangle 28"/>
          <p:cNvSpPr/>
          <p:nvPr/>
        </p:nvSpPr>
        <p:spPr>
          <a:xfrm>
            <a:off x="6827520" y="1450848"/>
            <a:ext cx="609600" cy="170688"/>
          </a:xfrm>
          <a:prstGeom prst="roundRect">
            <a:avLst>
              <a:gd name="adj" fmla="val 50000"/>
            </a:avLst>
          </a:prstGeom>
          <a:solidFill>
            <a:srgbClr val="D9D6D1"/>
          </a:solidFill>
          <a:ln>
            <a:noFill/>
          </a:ln>
          <a:effectLst/>
        </p:spPr>
        <p:txBody>
          <a:bodyPr rtlCol="0" anchor="ctr"/>
          <a:lstStyle/>
          <a:p>
            <a:pPr algn="ctr"/>
          </a:p>
        </p:txBody>
      </p:sp>
      <p:sp>
        <p:nvSpPr>
          <p:cNvPr id="30" name="TextBox 29"/>
          <p:cNvSpPr txBox="1"/>
          <p:nvPr/>
        </p:nvSpPr>
        <p:spPr>
          <a:xfrm>
            <a:off x="6827520" y="1450848"/>
            <a:ext cx="609600" cy="170688"/>
          </a:xfrm>
          <a:prstGeom prst="rect">
            <a:avLst/>
          </a:prstGeom>
          <a:noFill/>
        </p:spPr>
        <p:txBody>
          <a:bodyPr wrap="square" anchor="ctr" lIns="0" rIns="0" tIns="0" bIns="0">
            <a:spAutoFit/>
          </a:bodyPr>
          <a:lstStyle/>
          <a:p>
            <a:pPr algn="ctr"/>
            <a:r>
              <a:rPr sz="800" b="1" i="0">
                <a:solidFill>
                  <a:srgbClr val="555B66"/>
                </a:solidFill>
                <a:latin typeface="Arial"/>
              </a:rPr>
              <a:t>INDICATIF</a:t>
            </a:r>
          </a:p>
        </p:txBody>
      </p:sp>
      <p:sp>
        <p:nvSpPr>
          <p:cNvPr id="31" name="TextBox 30"/>
          <p:cNvSpPr txBox="1"/>
          <p:nvPr/>
        </p:nvSpPr>
        <p:spPr>
          <a:xfrm>
            <a:off x="6242304" y="1706880"/>
            <a:ext cx="1219200" cy="121920"/>
          </a:xfrm>
          <a:prstGeom prst="rect">
            <a:avLst/>
          </a:prstGeom>
          <a:noFill/>
        </p:spPr>
        <p:txBody>
          <a:bodyPr wrap="square" anchor="t" lIns="0" rIns="0" tIns="0" bIns="0">
            <a:spAutoFit/>
          </a:bodyPr>
          <a:lstStyle/>
          <a:p>
            <a:pPr algn="l"/>
            <a:r>
              <a:rPr sz="1000" b="1" i="0">
                <a:solidFill>
                  <a:srgbClr val="8A93A6"/>
                </a:solidFill>
                <a:latin typeface="Arial"/>
              </a:rPr>
              <a:t>CONVERSIONS</a:t>
            </a:r>
          </a:p>
        </p:txBody>
      </p:sp>
      <p:sp>
        <p:nvSpPr>
          <p:cNvPr id="32" name="TextBox 31"/>
          <p:cNvSpPr txBox="1"/>
          <p:nvPr/>
        </p:nvSpPr>
        <p:spPr>
          <a:xfrm>
            <a:off x="6242304" y="1889760"/>
            <a:ext cx="1219200" cy="274320"/>
          </a:xfrm>
          <a:prstGeom prst="rect">
            <a:avLst/>
          </a:prstGeom>
          <a:noFill/>
        </p:spPr>
        <p:txBody>
          <a:bodyPr wrap="square" anchor="t" lIns="0" rIns="0" tIns="0" bIns="0">
            <a:spAutoFit/>
          </a:bodyPr>
          <a:lstStyle/>
          <a:p>
            <a:pPr algn="l"/>
            <a:r>
              <a:rPr sz="2200" b="1" i="0">
                <a:solidFill>
                  <a:srgbClr val="8A93A6"/>
                </a:solidFill>
                <a:latin typeface="Arial"/>
              </a:rPr>
              <a:t>N/C</a:t>
            </a:r>
          </a:p>
        </p:txBody>
      </p:sp>
      <p:sp>
        <p:nvSpPr>
          <p:cNvPr id="33" name="TextBox 32"/>
          <p:cNvSpPr txBox="1"/>
          <p:nvPr/>
        </p:nvSpPr>
        <p:spPr>
          <a:xfrm>
            <a:off x="6242304" y="2243328"/>
            <a:ext cx="1219200" cy="109728"/>
          </a:xfrm>
          <a:prstGeom prst="rect">
            <a:avLst/>
          </a:prstGeom>
          <a:noFill/>
        </p:spPr>
        <p:txBody>
          <a:bodyPr wrap="square" anchor="t" lIns="0" rIns="0" tIns="0" bIns="0">
            <a:spAutoFit/>
          </a:bodyPr>
          <a:lstStyle/>
          <a:p>
            <a:pPr algn="l"/>
            <a:r>
              <a:rPr sz="1000" b="1" i="0">
                <a:solidFill>
                  <a:srgbClr val="8A93A6"/>
                </a:solidFill>
                <a:latin typeface="Arial"/>
              </a:rPr>
              <a:t>—</a:t>
            </a:r>
          </a:p>
        </p:txBody>
      </p:sp>
      <p:sp>
        <p:nvSpPr>
          <p:cNvPr id="34" name="TextBox 33"/>
          <p:cNvSpPr txBox="1"/>
          <p:nvPr/>
        </p:nvSpPr>
        <p:spPr>
          <a:xfrm>
            <a:off x="6242304" y="2499360"/>
            <a:ext cx="1219200" cy="91440"/>
          </a:xfrm>
          <a:prstGeom prst="rect">
            <a:avLst/>
          </a:prstGeom>
          <a:noFill/>
        </p:spPr>
        <p:txBody>
          <a:bodyPr wrap="square" anchor="t" lIns="0" rIns="0" tIns="0" bIns="0">
            <a:spAutoFit/>
          </a:bodyPr>
          <a:lstStyle/>
          <a:p>
            <a:pPr algn="l"/>
            <a:r>
              <a:rPr sz="800" b="0" i="1">
                <a:solidFill>
                  <a:srgbClr val="8A93A6"/>
                </a:solidFill>
                <a:latin typeface="Arial"/>
              </a:rPr>
              <a:t>YTD —</a:t>
            </a:r>
          </a:p>
        </p:txBody>
      </p:sp>
      <p:sp>
        <p:nvSpPr>
          <p:cNvPr id="35" name="Rectangle 34"/>
          <p:cNvSpPr/>
          <p:nvPr/>
        </p:nvSpPr>
        <p:spPr>
          <a:xfrm>
            <a:off x="7967472" y="1536192"/>
            <a:ext cx="1389888" cy="1127760"/>
          </a:xfrm>
          <a:prstGeom prst="rect">
            <a:avLst/>
          </a:prstGeom>
          <a:solidFill>
            <a:srgbClr val="F1EFEB"/>
          </a:solidFill>
          <a:ln>
            <a:noFill/>
          </a:ln>
          <a:effectLst/>
        </p:spPr>
        <p:txBody>
          <a:bodyPr rtlCol="0" anchor="ctr"/>
          <a:lstStyle/>
          <a:p>
            <a:pPr algn="ctr"/>
          </a:p>
        </p:txBody>
      </p:sp>
      <p:sp>
        <p:nvSpPr>
          <p:cNvPr id="36" name="Rounded Rectangle 35"/>
          <p:cNvSpPr/>
          <p:nvPr/>
        </p:nvSpPr>
        <p:spPr>
          <a:xfrm>
            <a:off x="8686800" y="1450848"/>
            <a:ext cx="609600" cy="170688"/>
          </a:xfrm>
          <a:prstGeom prst="roundRect">
            <a:avLst>
              <a:gd name="adj" fmla="val 50000"/>
            </a:avLst>
          </a:prstGeom>
          <a:solidFill>
            <a:srgbClr val="D9D6D1"/>
          </a:solidFill>
          <a:ln>
            <a:noFill/>
          </a:ln>
          <a:effectLst/>
        </p:spPr>
        <p:txBody>
          <a:bodyPr rtlCol="0" anchor="ctr"/>
          <a:lstStyle/>
          <a:p>
            <a:pPr algn="ctr"/>
          </a:p>
        </p:txBody>
      </p:sp>
      <p:sp>
        <p:nvSpPr>
          <p:cNvPr id="37" name="TextBox 36"/>
          <p:cNvSpPr txBox="1"/>
          <p:nvPr/>
        </p:nvSpPr>
        <p:spPr>
          <a:xfrm>
            <a:off x="8686800" y="1450848"/>
            <a:ext cx="609600" cy="170688"/>
          </a:xfrm>
          <a:prstGeom prst="rect">
            <a:avLst/>
          </a:prstGeom>
          <a:noFill/>
        </p:spPr>
        <p:txBody>
          <a:bodyPr wrap="square" anchor="ctr" lIns="0" rIns="0" tIns="0" bIns="0">
            <a:spAutoFit/>
          </a:bodyPr>
          <a:lstStyle/>
          <a:p>
            <a:pPr algn="ctr"/>
            <a:r>
              <a:rPr sz="800" b="1" i="0">
                <a:solidFill>
                  <a:srgbClr val="555B66"/>
                </a:solidFill>
                <a:latin typeface="Arial"/>
              </a:rPr>
              <a:t>INDICATIF</a:t>
            </a:r>
          </a:p>
        </p:txBody>
      </p:sp>
      <p:sp>
        <p:nvSpPr>
          <p:cNvPr id="38" name="TextBox 37"/>
          <p:cNvSpPr txBox="1"/>
          <p:nvPr/>
        </p:nvSpPr>
        <p:spPr>
          <a:xfrm>
            <a:off x="8101584" y="1706880"/>
            <a:ext cx="1219200" cy="121920"/>
          </a:xfrm>
          <a:prstGeom prst="rect">
            <a:avLst/>
          </a:prstGeom>
          <a:noFill/>
        </p:spPr>
        <p:txBody>
          <a:bodyPr wrap="square" anchor="t" lIns="0" rIns="0" tIns="0" bIns="0">
            <a:spAutoFit/>
          </a:bodyPr>
          <a:lstStyle/>
          <a:p>
            <a:pPr algn="l"/>
            <a:r>
              <a:rPr sz="1000" b="1" i="0">
                <a:solidFill>
                  <a:srgbClr val="8A93A6"/>
                </a:solidFill>
                <a:latin typeface="Arial"/>
              </a:rPr>
              <a:t>CVR</a:t>
            </a:r>
          </a:p>
        </p:txBody>
      </p:sp>
      <p:sp>
        <p:nvSpPr>
          <p:cNvPr id="39" name="TextBox 38"/>
          <p:cNvSpPr txBox="1"/>
          <p:nvPr/>
        </p:nvSpPr>
        <p:spPr>
          <a:xfrm>
            <a:off x="8101584" y="1889760"/>
            <a:ext cx="1219200" cy="274320"/>
          </a:xfrm>
          <a:prstGeom prst="rect">
            <a:avLst/>
          </a:prstGeom>
          <a:noFill/>
        </p:spPr>
        <p:txBody>
          <a:bodyPr wrap="square" anchor="t" lIns="0" rIns="0" tIns="0" bIns="0">
            <a:spAutoFit/>
          </a:bodyPr>
          <a:lstStyle/>
          <a:p>
            <a:pPr algn="l"/>
            <a:r>
              <a:rPr sz="2200" b="1" i="0">
                <a:solidFill>
                  <a:srgbClr val="8A93A6"/>
                </a:solidFill>
                <a:latin typeface="Arial"/>
              </a:rPr>
              <a:t>N/C</a:t>
            </a:r>
          </a:p>
        </p:txBody>
      </p:sp>
      <p:sp>
        <p:nvSpPr>
          <p:cNvPr id="40" name="TextBox 39"/>
          <p:cNvSpPr txBox="1"/>
          <p:nvPr/>
        </p:nvSpPr>
        <p:spPr>
          <a:xfrm>
            <a:off x="8101584" y="2243328"/>
            <a:ext cx="1219200" cy="109728"/>
          </a:xfrm>
          <a:prstGeom prst="rect">
            <a:avLst/>
          </a:prstGeom>
          <a:noFill/>
        </p:spPr>
        <p:txBody>
          <a:bodyPr wrap="square" anchor="t" lIns="0" rIns="0" tIns="0" bIns="0">
            <a:spAutoFit/>
          </a:bodyPr>
          <a:lstStyle/>
          <a:p>
            <a:pPr algn="l"/>
            <a:r>
              <a:rPr sz="1000" b="1" i="0">
                <a:solidFill>
                  <a:srgbClr val="8A93A6"/>
                </a:solidFill>
                <a:latin typeface="Arial"/>
              </a:rPr>
              <a:t>—</a:t>
            </a:r>
          </a:p>
        </p:txBody>
      </p:sp>
      <p:sp>
        <p:nvSpPr>
          <p:cNvPr id="41" name="TextBox 40"/>
          <p:cNvSpPr txBox="1"/>
          <p:nvPr/>
        </p:nvSpPr>
        <p:spPr>
          <a:xfrm>
            <a:off x="8101584" y="2499360"/>
            <a:ext cx="1219200" cy="91440"/>
          </a:xfrm>
          <a:prstGeom prst="rect">
            <a:avLst/>
          </a:prstGeom>
          <a:noFill/>
        </p:spPr>
        <p:txBody>
          <a:bodyPr wrap="square" anchor="t" lIns="0" rIns="0" tIns="0" bIns="0">
            <a:spAutoFit/>
          </a:bodyPr>
          <a:lstStyle/>
          <a:p>
            <a:pPr algn="l"/>
            <a:r>
              <a:rPr sz="800" b="0" i="1">
                <a:solidFill>
                  <a:srgbClr val="8A93A6"/>
                </a:solidFill>
                <a:latin typeface="Arial"/>
              </a:rPr>
              <a:t>YTD —</a:t>
            </a:r>
          </a:p>
        </p:txBody>
      </p:sp>
      <p:sp>
        <p:nvSpPr>
          <p:cNvPr id="42" name="Rectangle 41"/>
          <p:cNvSpPr/>
          <p:nvPr/>
        </p:nvSpPr>
        <p:spPr>
          <a:xfrm>
            <a:off x="9826752" y="1536192"/>
            <a:ext cx="1389888" cy="1127760"/>
          </a:xfrm>
          <a:prstGeom prst="rect">
            <a:avLst/>
          </a:prstGeom>
          <a:solidFill>
            <a:srgbClr val="F1EFEB"/>
          </a:solidFill>
          <a:ln>
            <a:noFill/>
          </a:ln>
          <a:effectLst/>
        </p:spPr>
        <p:txBody>
          <a:bodyPr rtlCol="0" anchor="ctr"/>
          <a:lstStyle/>
          <a:p>
            <a:pPr algn="ctr"/>
          </a:p>
        </p:txBody>
      </p:sp>
      <p:sp>
        <p:nvSpPr>
          <p:cNvPr id="43" name="Rounded Rectangle 42"/>
          <p:cNvSpPr/>
          <p:nvPr/>
        </p:nvSpPr>
        <p:spPr>
          <a:xfrm>
            <a:off x="10546080" y="1450848"/>
            <a:ext cx="609600" cy="170688"/>
          </a:xfrm>
          <a:prstGeom prst="roundRect">
            <a:avLst>
              <a:gd name="adj" fmla="val 50000"/>
            </a:avLst>
          </a:prstGeom>
          <a:solidFill>
            <a:srgbClr val="D9D6D1"/>
          </a:solidFill>
          <a:ln>
            <a:noFill/>
          </a:ln>
          <a:effectLst/>
        </p:spPr>
        <p:txBody>
          <a:bodyPr rtlCol="0" anchor="ctr"/>
          <a:lstStyle/>
          <a:p>
            <a:pPr algn="ctr"/>
          </a:p>
        </p:txBody>
      </p:sp>
      <p:sp>
        <p:nvSpPr>
          <p:cNvPr id="44" name="TextBox 43"/>
          <p:cNvSpPr txBox="1"/>
          <p:nvPr/>
        </p:nvSpPr>
        <p:spPr>
          <a:xfrm>
            <a:off x="10546080" y="1450848"/>
            <a:ext cx="609600" cy="170688"/>
          </a:xfrm>
          <a:prstGeom prst="rect">
            <a:avLst/>
          </a:prstGeom>
          <a:noFill/>
        </p:spPr>
        <p:txBody>
          <a:bodyPr wrap="square" anchor="ctr" lIns="0" rIns="0" tIns="0" bIns="0">
            <a:spAutoFit/>
          </a:bodyPr>
          <a:lstStyle/>
          <a:p>
            <a:pPr algn="ctr"/>
            <a:r>
              <a:rPr sz="800" b="1" i="0">
                <a:solidFill>
                  <a:srgbClr val="555B66"/>
                </a:solidFill>
                <a:latin typeface="Arial"/>
              </a:rPr>
              <a:t>INDICATIF</a:t>
            </a:r>
          </a:p>
        </p:txBody>
      </p:sp>
      <p:sp>
        <p:nvSpPr>
          <p:cNvPr id="45" name="TextBox 44"/>
          <p:cNvSpPr txBox="1"/>
          <p:nvPr/>
        </p:nvSpPr>
        <p:spPr>
          <a:xfrm>
            <a:off x="9960864" y="1706880"/>
            <a:ext cx="1219200" cy="121920"/>
          </a:xfrm>
          <a:prstGeom prst="rect">
            <a:avLst/>
          </a:prstGeom>
          <a:noFill/>
        </p:spPr>
        <p:txBody>
          <a:bodyPr wrap="square" anchor="t" lIns="0" rIns="0" tIns="0" bIns="0">
            <a:spAutoFit/>
          </a:bodyPr>
          <a:lstStyle/>
          <a:p>
            <a:pPr algn="l"/>
            <a:r>
              <a:rPr sz="1000" b="1" i="0">
                <a:solidFill>
                  <a:srgbClr val="8A93A6"/>
                </a:solidFill>
                <a:latin typeface="Arial"/>
              </a:rPr>
              <a:t>ROAS</a:t>
            </a:r>
          </a:p>
        </p:txBody>
      </p:sp>
      <p:sp>
        <p:nvSpPr>
          <p:cNvPr id="46" name="TextBox 45"/>
          <p:cNvSpPr txBox="1"/>
          <p:nvPr/>
        </p:nvSpPr>
        <p:spPr>
          <a:xfrm>
            <a:off x="9960864" y="1889760"/>
            <a:ext cx="1219200" cy="274320"/>
          </a:xfrm>
          <a:prstGeom prst="rect">
            <a:avLst/>
          </a:prstGeom>
          <a:noFill/>
        </p:spPr>
        <p:txBody>
          <a:bodyPr wrap="square" anchor="t" lIns="0" rIns="0" tIns="0" bIns="0">
            <a:spAutoFit/>
          </a:bodyPr>
          <a:lstStyle/>
          <a:p>
            <a:pPr algn="l"/>
            <a:r>
              <a:rPr sz="2200" b="1" i="0">
                <a:solidFill>
                  <a:srgbClr val="8A93A6"/>
                </a:solidFill>
                <a:latin typeface="Arial"/>
              </a:rPr>
              <a:t>N/C</a:t>
            </a:r>
          </a:p>
        </p:txBody>
      </p:sp>
      <p:sp>
        <p:nvSpPr>
          <p:cNvPr id="47" name="TextBox 46"/>
          <p:cNvSpPr txBox="1"/>
          <p:nvPr/>
        </p:nvSpPr>
        <p:spPr>
          <a:xfrm>
            <a:off x="9960864" y="2243328"/>
            <a:ext cx="1219200" cy="109728"/>
          </a:xfrm>
          <a:prstGeom prst="rect">
            <a:avLst/>
          </a:prstGeom>
          <a:noFill/>
        </p:spPr>
        <p:txBody>
          <a:bodyPr wrap="square" anchor="t" lIns="0" rIns="0" tIns="0" bIns="0">
            <a:spAutoFit/>
          </a:bodyPr>
          <a:lstStyle/>
          <a:p>
            <a:pPr algn="l"/>
            <a:r>
              <a:rPr sz="1000" b="1" i="0">
                <a:solidFill>
                  <a:srgbClr val="8A93A6"/>
                </a:solidFill>
                <a:latin typeface="Arial"/>
              </a:rPr>
              <a:t>—</a:t>
            </a:r>
          </a:p>
        </p:txBody>
      </p:sp>
      <p:sp>
        <p:nvSpPr>
          <p:cNvPr id="48" name="TextBox 47"/>
          <p:cNvSpPr txBox="1"/>
          <p:nvPr/>
        </p:nvSpPr>
        <p:spPr>
          <a:xfrm>
            <a:off x="9960864" y="2499360"/>
            <a:ext cx="1219200" cy="91440"/>
          </a:xfrm>
          <a:prstGeom prst="rect">
            <a:avLst/>
          </a:prstGeom>
          <a:noFill/>
        </p:spPr>
        <p:txBody>
          <a:bodyPr wrap="square" anchor="t" lIns="0" rIns="0" tIns="0" bIns="0">
            <a:spAutoFit/>
          </a:bodyPr>
          <a:lstStyle/>
          <a:p>
            <a:pPr algn="l"/>
            <a:r>
              <a:rPr sz="800" b="0" i="1">
                <a:solidFill>
                  <a:srgbClr val="8A93A6"/>
                </a:solidFill>
                <a:latin typeface="Arial"/>
              </a:rPr>
              <a:t>YTD —</a:t>
            </a:r>
          </a:p>
        </p:txBody>
      </p:sp>
      <p:sp>
        <p:nvSpPr>
          <p:cNvPr id="49" name="Isosceles Triangle 48"/>
          <p:cNvSpPr/>
          <p:nvPr/>
        </p:nvSpPr>
        <p:spPr>
          <a:xfrm>
            <a:off x="8564880" y="2688336"/>
            <a:ext cx="182880" cy="85344"/>
          </a:xfrm>
          <a:prstGeom prst="triangle">
            <a:avLst/>
          </a:prstGeom>
          <a:solidFill>
            <a:srgbClr val="EBE9E5"/>
          </a:solidFill>
          <a:ln>
            <a:noFill/>
          </a:ln>
          <a:effectLst/>
        </p:spPr>
        <p:txBody>
          <a:bodyPr rtlCol="0" anchor="ctr"/>
          <a:lstStyle/>
          <a:p>
            <a:pPr algn="ctr"/>
          </a:p>
        </p:txBody>
      </p:sp>
      <p:sp>
        <p:nvSpPr>
          <p:cNvPr id="50" name="Rounded Rectangle 49"/>
          <p:cNvSpPr/>
          <p:nvPr/>
        </p:nvSpPr>
        <p:spPr>
          <a:xfrm>
            <a:off x="6108192" y="2773680"/>
            <a:ext cx="5108448" cy="438912"/>
          </a:xfrm>
          <a:prstGeom prst="roundRect">
            <a:avLst>
              <a:gd name="adj" fmla="val 15000"/>
            </a:avLst>
          </a:prstGeom>
          <a:solidFill>
            <a:srgbClr val="EBE9E5"/>
          </a:solidFill>
          <a:ln>
            <a:noFill/>
          </a:ln>
          <a:effectLst/>
        </p:spPr>
        <p:txBody>
          <a:bodyPr rtlCol="0" anchor="ctr"/>
          <a:lstStyle/>
          <a:p>
            <a:pPr algn="ctr"/>
          </a:p>
        </p:txBody>
      </p:sp>
      <p:sp>
        <p:nvSpPr>
          <p:cNvPr id="51" name="TextBox 50"/>
          <p:cNvSpPr txBox="1"/>
          <p:nvPr/>
        </p:nvSpPr>
        <p:spPr>
          <a:xfrm>
            <a:off x="6230112" y="2816352"/>
            <a:ext cx="4864608" cy="365760"/>
          </a:xfrm>
          <a:prstGeom prst="rect">
            <a:avLst/>
          </a:prstGeom>
          <a:noFill/>
        </p:spPr>
        <p:txBody>
          <a:bodyPr wrap="square" anchor="ctr" lIns="0" rIns="0" tIns="0" bIns="0">
            <a:spAutoFit/>
          </a:bodyPr>
          <a:lstStyle/>
          <a:p>
            <a:pPr algn="l"/>
            <a:r>
              <a:rPr sz="900" b="1" i="0">
                <a:solidFill>
                  <a:srgbClr val="555B66"/>
                </a:solidFill>
                <a:latin typeface="Arial"/>
              </a:rPr>
              <a:t>Campagne mesurée au clic : </a:t>
            </a:r>
            <a:r>
              <a:rPr sz="900" b="0" i="0">
                <a:solidFill>
                  <a:srgbClr val="555B66"/>
                </a:solidFill>
                <a:latin typeface="Arial"/>
              </a:rPr>
              <a:t>pas de suivi de conversion prévu.</a:t>
            </a:r>
          </a:p>
        </p:txBody>
      </p:sp>
      <p:sp>
        <p:nvSpPr>
          <p:cNvPr id="52" name="TextBox 51"/>
          <p:cNvSpPr txBox="1"/>
          <p:nvPr/>
        </p:nvSpPr>
        <p:spPr>
          <a:xfrm>
            <a:off x="530352" y="3322320"/>
            <a:ext cx="7315200" cy="182880"/>
          </a:xfrm>
          <a:prstGeom prst="rect">
            <a:avLst/>
          </a:prstGeom>
          <a:noFill/>
        </p:spPr>
        <p:txBody>
          <a:bodyPr wrap="square" anchor="t" lIns="0" rIns="0" tIns="0" bIns="0">
            <a:spAutoFit/>
          </a:bodyPr>
          <a:lstStyle/>
          <a:p>
            <a:pPr algn="l"/>
            <a:r>
              <a:rPr sz="1400" b="1" i="0">
                <a:solidFill>
                  <a:srgbClr val="EE6A2C"/>
                </a:solidFill>
                <a:latin typeface="Arial"/>
              </a:rPr>
              <a:t>INSIGHTS QUALITATIFS · ANALYSE DES RECHERCHES</a:t>
            </a:r>
          </a:p>
        </p:txBody>
      </p:sp>
      <p:sp>
        <p:nvSpPr>
          <p:cNvPr id="53" name="Rectangle 52"/>
          <p:cNvSpPr/>
          <p:nvPr/>
        </p:nvSpPr>
        <p:spPr>
          <a:xfrm>
            <a:off x="530352" y="3584448"/>
            <a:ext cx="3401568" cy="2560320"/>
          </a:xfrm>
          <a:prstGeom prst="rect">
            <a:avLst/>
          </a:prstGeom>
          <a:solidFill>
            <a:srgbClr val="FFFFFF"/>
          </a:solidFill>
          <a:ln>
            <a:noFill/>
          </a:ln>
          <a:effectLst/>
        </p:spPr>
        <p:txBody>
          <a:bodyPr rtlCol="0" anchor="ctr"/>
          <a:lstStyle/>
          <a:p>
            <a:pPr algn="ctr"/>
          </a:p>
        </p:txBody>
      </p:sp>
      <p:sp>
        <p:nvSpPr>
          <p:cNvPr id="54" name="Rectangle 53"/>
          <p:cNvSpPr/>
          <p:nvPr/>
        </p:nvSpPr>
        <p:spPr>
          <a:xfrm>
            <a:off x="4194048" y="3584448"/>
            <a:ext cx="3401568" cy="2560320"/>
          </a:xfrm>
          <a:prstGeom prst="rect">
            <a:avLst/>
          </a:prstGeom>
          <a:solidFill>
            <a:srgbClr val="FFFFFF"/>
          </a:solidFill>
          <a:ln>
            <a:noFill/>
          </a:ln>
          <a:effectLst/>
        </p:spPr>
        <p:txBody>
          <a:bodyPr rtlCol="0" anchor="ctr"/>
          <a:lstStyle/>
          <a:p>
            <a:pPr algn="ctr"/>
          </a:p>
        </p:txBody>
      </p:sp>
      <p:sp>
        <p:nvSpPr>
          <p:cNvPr id="55" name="Rectangle 54"/>
          <p:cNvSpPr/>
          <p:nvPr/>
        </p:nvSpPr>
        <p:spPr>
          <a:xfrm>
            <a:off x="7857744" y="3584448"/>
            <a:ext cx="3401568" cy="2560320"/>
          </a:xfrm>
          <a:prstGeom prst="rect">
            <a:avLst/>
          </a:prstGeom>
          <a:solidFill>
            <a:srgbClr val="FFFFFF"/>
          </a:solidFill>
          <a:ln>
            <a:noFill/>
          </a:ln>
          <a:effectLst/>
        </p:spPr>
        <p:txBody>
          <a:bodyPr rtlCol="0" anchor="ctr"/>
          <a:lstStyle/>
          <a:p>
            <a:pPr algn="ctr"/>
          </a:p>
        </p:txBody>
      </p:sp>
      <p:sp>
        <p:nvSpPr>
          <p:cNvPr id="56" name="TextBox 55"/>
          <p:cNvSpPr txBox="1"/>
          <p:nvPr/>
        </p:nvSpPr>
        <p:spPr>
          <a:xfrm>
            <a:off x="774192" y="3767328"/>
            <a:ext cx="2926080" cy="152400"/>
          </a:xfrm>
          <a:prstGeom prst="rect">
            <a:avLst/>
          </a:prstGeom>
          <a:noFill/>
        </p:spPr>
        <p:txBody>
          <a:bodyPr wrap="square" anchor="t" lIns="0" rIns="0" tIns="0" bIns="0">
            <a:spAutoFit/>
          </a:bodyPr>
          <a:lstStyle/>
          <a:p>
            <a:pPr algn="l"/>
            <a:r>
              <a:rPr sz="1300" b="1" i="0">
                <a:solidFill>
                  <a:srgbClr val="555B66"/>
                </a:solidFill>
                <a:latin typeface="Arial"/>
              </a:rPr>
              <a:t>CHAMP LEXICAL</a:t>
            </a:r>
          </a:p>
        </p:txBody>
      </p:sp>
      <p:sp>
        <p:nvSpPr>
          <p:cNvPr id="57" name="TextBox 56"/>
          <p:cNvSpPr txBox="1"/>
          <p:nvPr/>
        </p:nvSpPr>
        <p:spPr>
          <a:xfrm>
            <a:off x="774192" y="3992880"/>
            <a:ext cx="2926080" cy="121920"/>
          </a:xfrm>
          <a:prstGeom prst="rect">
            <a:avLst/>
          </a:prstGeom>
          <a:noFill/>
        </p:spPr>
        <p:txBody>
          <a:bodyPr wrap="square" anchor="t" lIns="0" rIns="0" tIns="0" bIns="0">
            <a:spAutoFit/>
          </a:bodyPr>
          <a:lstStyle/>
          <a:p>
            <a:pPr algn="l"/>
            <a:r>
              <a:rPr sz="1000" b="0" i="1">
                <a:solidFill>
                  <a:srgbClr val="8A93A6"/>
                </a:solidFill>
                <a:latin typeface="Arial"/>
              </a:rPr>
              <a:t>Termes les plus fréquents</a:t>
            </a:r>
          </a:p>
        </p:txBody>
      </p:sp>
      <p:sp>
        <p:nvSpPr>
          <p:cNvPr id="58" name="TextBox 57"/>
          <p:cNvSpPr txBox="1"/>
          <p:nvPr/>
        </p:nvSpPr>
        <p:spPr>
          <a:xfrm>
            <a:off x="774192" y="4236720"/>
            <a:ext cx="2987040" cy="1828800"/>
          </a:xfrm>
          <a:prstGeom prst="rect">
            <a:avLst/>
          </a:prstGeom>
          <a:noFill/>
        </p:spPr>
        <p:txBody>
          <a:bodyPr wrap="square" anchor="t" lIns="0" rIns="0" tIns="0" bIns="0">
            <a:spAutoFit/>
          </a:bodyPr>
          <a:lstStyle/>
          <a:p>
            <a:pPr algn="l">
              <a:spcAft>
                <a:spcPts val="500"/>
              </a:spcAft>
            </a:pPr>
            <a:r>
              <a:rPr sz="1800" b="1" i="0">
                <a:solidFill>
                  <a:srgbClr val="EE6A2C"/>
                </a:solidFill>
                <a:latin typeface="Arial"/>
              </a:rPr>
              <a:t>conduite accompagnée</a:t>
            </a:r>
            <a:r>
              <a:rPr sz="1600" b="1" i="0">
                <a:solidFill>
                  <a:srgbClr val="111111"/>
                </a:solidFill>
                <a:latin typeface="Arial"/>
              </a:rPr>
              <a:t>   permis</a:t>
            </a:r>
          </a:p>
          <a:p>
            <a:pPr algn="l">
              <a:spcAft>
                <a:spcPts val="500"/>
              </a:spcAft>
            </a:pPr>
            <a:r>
              <a:rPr sz="1500" b="1" i="0">
                <a:solidFill>
                  <a:srgbClr val="111111"/>
                </a:solidFill>
                <a:latin typeface="Arial"/>
              </a:rPr>
              <a:t>achat d'une voiture</a:t>
            </a:r>
            <a:r>
              <a:rPr sz="1400" b="1" i="0">
                <a:solidFill>
                  <a:srgbClr val="111111"/>
                </a:solidFill>
                <a:latin typeface="Arial"/>
              </a:rPr>
              <a:t>   15 ans</a:t>
            </a:r>
          </a:p>
          <a:p>
            <a:pPr algn="l">
              <a:spcAft>
                <a:spcPts val="500"/>
              </a:spcAft>
            </a:pPr>
            <a:r>
              <a:rPr sz="1300" b="1" i="0">
                <a:solidFill>
                  <a:srgbClr val="EE6A2C"/>
                </a:solidFill>
                <a:latin typeface="Arial"/>
              </a:rPr>
              <a:t>vie en van</a:t>
            </a:r>
            <a:r>
              <a:rPr sz="1200" b="0" i="0">
                <a:solidFill>
                  <a:srgbClr val="111111"/>
                </a:solidFill>
                <a:latin typeface="Arial"/>
              </a:rPr>
              <a:t>   vacances</a:t>
            </a:r>
          </a:p>
          <a:p>
            <a:pPr algn="l">
              <a:spcAft>
                <a:spcPts val="500"/>
              </a:spcAft>
            </a:pPr>
            <a:r>
              <a:rPr sz="1100" b="1" i="0">
                <a:solidFill>
                  <a:srgbClr val="EE6A2C"/>
                </a:solidFill>
                <a:latin typeface="Arial"/>
              </a:rPr>
              <a:t>auto-école</a:t>
            </a:r>
            <a:r>
              <a:rPr sz="1100" b="1" i="0">
                <a:solidFill>
                  <a:srgbClr val="111111"/>
                </a:solidFill>
                <a:latin typeface="Arial"/>
              </a:rPr>
              <a:t>   3 000 km</a:t>
            </a:r>
          </a:p>
          <a:p>
            <a:pPr algn="l">
              <a:spcAft>
                <a:spcPts val="500"/>
              </a:spcAft>
            </a:pPr>
            <a:r>
              <a:rPr sz="1100" b="1" i="0">
                <a:solidFill>
                  <a:srgbClr val="111111"/>
                </a:solidFill>
                <a:latin typeface="Arial"/>
              </a:rPr>
              <a:t>raid en montagne</a:t>
            </a:r>
            <a:r>
              <a:rPr sz="1100" b="0" i="0">
                <a:solidFill>
                  <a:srgbClr val="111111"/>
                </a:solidFill>
                <a:latin typeface="Arial"/>
              </a:rPr>
              <a:t>   accident</a:t>
            </a:r>
          </a:p>
          <a:p>
            <a:pPr algn="l">
              <a:spcAft>
                <a:spcPts val="500"/>
              </a:spcAft>
            </a:pPr>
            <a:r>
              <a:rPr sz="1100" b="1" i="0">
                <a:solidFill>
                  <a:srgbClr val="111111"/>
                </a:solidFill>
                <a:latin typeface="Arial"/>
              </a:rPr>
              <a:t>prévention</a:t>
            </a:r>
            <a:r>
              <a:rPr sz="1100" b="0" i="0">
                <a:solidFill>
                  <a:srgbClr val="111111"/>
                </a:solidFill>
                <a:latin typeface="Arial"/>
              </a:rPr>
              <a:t>   sécurité</a:t>
            </a:r>
          </a:p>
        </p:txBody>
      </p:sp>
      <p:sp>
        <p:nvSpPr>
          <p:cNvPr id="59" name="TextBox 58"/>
          <p:cNvSpPr txBox="1"/>
          <p:nvPr/>
        </p:nvSpPr>
        <p:spPr>
          <a:xfrm>
            <a:off x="4437888" y="3767328"/>
            <a:ext cx="2926080" cy="152400"/>
          </a:xfrm>
          <a:prstGeom prst="rect">
            <a:avLst/>
          </a:prstGeom>
          <a:noFill/>
        </p:spPr>
        <p:txBody>
          <a:bodyPr wrap="square" anchor="t" lIns="0" rIns="0" tIns="0" bIns="0">
            <a:spAutoFit/>
          </a:bodyPr>
          <a:lstStyle/>
          <a:p>
            <a:pPr algn="l"/>
            <a:r>
              <a:rPr sz="1300" b="1" i="0">
                <a:solidFill>
                  <a:srgbClr val="555B66"/>
                </a:solidFill>
                <a:latin typeface="Arial"/>
              </a:rPr>
              <a:t>EXEMPLES DE REQUÊTES</a:t>
            </a:r>
          </a:p>
        </p:txBody>
      </p:sp>
      <p:sp>
        <p:nvSpPr>
          <p:cNvPr id="60" name="TextBox 59"/>
          <p:cNvSpPr txBox="1"/>
          <p:nvPr/>
        </p:nvSpPr>
        <p:spPr>
          <a:xfrm>
            <a:off x="4437888" y="3992880"/>
            <a:ext cx="2926080" cy="121920"/>
          </a:xfrm>
          <a:prstGeom prst="rect">
            <a:avLst/>
          </a:prstGeom>
          <a:noFill/>
        </p:spPr>
        <p:txBody>
          <a:bodyPr wrap="square" anchor="t" lIns="0" rIns="0" tIns="0" bIns="0">
            <a:spAutoFit/>
          </a:bodyPr>
          <a:lstStyle/>
          <a:p>
            <a:pPr algn="l"/>
            <a:r>
              <a:rPr sz="1000" b="0" i="1">
                <a:solidFill>
                  <a:srgbClr val="8A93A6"/>
                </a:solidFill>
                <a:latin typeface="Arial"/>
              </a:rPr>
              <a:t>Questions posées aux IA</a:t>
            </a:r>
          </a:p>
        </p:txBody>
      </p:sp>
      <p:sp>
        <p:nvSpPr>
          <p:cNvPr id="61" name="TextBox 60"/>
          <p:cNvSpPr txBox="1"/>
          <p:nvPr/>
        </p:nvSpPr>
        <p:spPr>
          <a:xfrm>
            <a:off x="4437888" y="4267200"/>
            <a:ext cx="2913888" cy="304800"/>
          </a:xfrm>
          <a:prstGeom prst="rect">
            <a:avLst/>
          </a:prstGeom>
          <a:noFill/>
        </p:spPr>
        <p:txBody>
          <a:bodyPr wrap="square" anchor="ctr" lIns="0" rIns="0" tIns="0" bIns="0">
            <a:spAutoFit/>
          </a:bodyPr>
          <a:lstStyle/>
          <a:p>
            <a:pPr algn="l"/>
            <a:r>
              <a:rPr sz="1000" b="0" i="0">
                <a:solidFill>
                  <a:srgbClr val="111111"/>
                </a:solidFill>
                <a:latin typeface="Arial"/>
              </a:rPr>
              <a:t>À compléter : le rapport d'insights ne fournit pas d'exemples de requêtes pour la Sécurité Routière</a:t>
            </a:r>
          </a:p>
        </p:txBody>
      </p:sp>
      <p:sp>
        <p:nvSpPr>
          <p:cNvPr id="62" name="TextBox 61"/>
          <p:cNvSpPr txBox="1"/>
          <p:nvPr/>
        </p:nvSpPr>
        <p:spPr>
          <a:xfrm>
            <a:off x="8101584" y="3767328"/>
            <a:ext cx="2926080" cy="152400"/>
          </a:xfrm>
          <a:prstGeom prst="rect">
            <a:avLst/>
          </a:prstGeom>
          <a:noFill/>
        </p:spPr>
        <p:txBody>
          <a:bodyPr wrap="square" anchor="t" lIns="0" rIns="0" tIns="0" bIns="0">
            <a:spAutoFit/>
          </a:bodyPr>
          <a:lstStyle/>
          <a:p>
            <a:pPr algn="l"/>
            <a:r>
              <a:rPr sz="1300" b="1" i="0">
                <a:solidFill>
                  <a:srgbClr val="555B66"/>
                </a:solidFill>
                <a:latin typeface="Arial"/>
              </a:rPr>
              <a:t>MOMENTS DE VIE</a:t>
            </a:r>
          </a:p>
        </p:txBody>
      </p:sp>
      <p:sp>
        <p:nvSpPr>
          <p:cNvPr id="63" name="TextBox 62"/>
          <p:cNvSpPr txBox="1"/>
          <p:nvPr/>
        </p:nvSpPr>
        <p:spPr>
          <a:xfrm>
            <a:off x="8101584" y="3992880"/>
            <a:ext cx="2926080" cy="121920"/>
          </a:xfrm>
          <a:prstGeom prst="rect">
            <a:avLst/>
          </a:prstGeom>
          <a:noFill/>
        </p:spPr>
        <p:txBody>
          <a:bodyPr wrap="square" anchor="t" lIns="0" rIns="0" tIns="0" bIns="0">
            <a:spAutoFit/>
          </a:bodyPr>
          <a:lstStyle/>
          <a:p>
            <a:pPr algn="l"/>
            <a:r>
              <a:rPr sz="1000" b="0" i="1">
                <a:solidFill>
                  <a:srgbClr val="8A93A6"/>
                </a:solidFill>
                <a:latin typeface="Arial"/>
              </a:rPr>
              <a:t>Conversations déclenchées par un événement</a:t>
            </a:r>
          </a:p>
        </p:txBody>
      </p:sp>
      <p:sp>
        <p:nvSpPr>
          <p:cNvPr id="64" name="TextBox 63"/>
          <p:cNvSpPr txBox="1"/>
          <p:nvPr/>
        </p:nvSpPr>
        <p:spPr>
          <a:xfrm>
            <a:off x="8101584" y="4267200"/>
            <a:ext cx="2194560" cy="134112"/>
          </a:xfrm>
          <a:prstGeom prst="rect">
            <a:avLst/>
          </a:prstGeom>
          <a:noFill/>
        </p:spPr>
        <p:txBody>
          <a:bodyPr wrap="square" anchor="t" lIns="0" rIns="0" tIns="0" bIns="0">
            <a:spAutoFit/>
          </a:bodyPr>
          <a:lstStyle/>
          <a:p>
            <a:pPr algn="l"/>
            <a:r>
              <a:rPr sz="1000" b="0" i="0">
                <a:solidFill>
                  <a:srgbClr val="111111"/>
                </a:solidFill>
                <a:latin typeface="Arial"/>
              </a:rPr>
              <a:t>Achat d'une voiture</a:t>
            </a:r>
          </a:p>
        </p:txBody>
      </p:sp>
      <p:sp>
        <p:nvSpPr>
          <p:cNvPr id="65" name="Rectangle 64"/>
          <p:cNvSpPr/>
          <p:nvPr/>
        </p:nvSpPr>
        <p:spPr>
          <a:xfrm>
            <a:off x="8101584" y="4419600"/>
            <a:ext cx="2011680" cy="54864"/>
          </a:xfrm>
          <a:prstGeom prst="rect">
            <a:avLst/>
          </a:prstGeom>
          <a:solidFill>
            <a:srgbClr val="ECEAE5"/>
          </a:solidFill>
          <a:ln>
            <a:noFill/>
          </a:ln>
          <a:effectLst/>
        </p:spPr>
        <p:txBody>
          <a:bodyPr rtlCol="0" anchor="ctr"/>
          <a:lstStyle/>
          <a:p>
            <a:pPr algn="ctr"/>
          </a:p>
        </p:txBody>
      </p:sp>
      <p:sp>
        <p:nvSpPr>
          <p:cNvPr id="66" name="Rectangle 65"/>
          <p:cNvSpPr/>
          <p:nvPr/>
        </p:nvSpPr>
        <p:spPr>
          <a:xfrm>
            <a:off x="8101584" y="4419600"/>
            <a:ext cx="824788" cy="54864"/>
          </a:xfrm>
          <a:prstGeom prst="rect">
            <a:avLst/>
          </a:prstGeom>
          <a:solidFill>
            <a:srgbClr val="EE6A2C"/>
          </a:solidFill>
          <a:ln>
            <a:noFill/>
          </a:ln>
          <a:effectLst/>
        </p:spPr>
        <p:txBody>
          <a:bodyPr rtlCol="0" anchor="ctr"/>
          <a:lstStyle/>
          <a:p>
            <a:pPr algn="ctr"/>
          </a:p>
        </p:txBody>
      </p:sp>
      <p:sp>
        <p:nvSpPr>
          <p:cNvPr id="67" name="TextBox 66"/>
          <p:cNvSpPr txBox="1"/>
          <p:nvPr/>
        </p:nvSpPr>
        <p:spPr>
          <a:xfrm>
            <a:off x="10241280" y="4340352"/>
            <a:ext cx="792480" cy="182880"/>
          </a:xfrm>
          <a:prstGeom prst="rect">
            <a:avLst/>
          </a:prstGeom>
          <a:noFill/>
        </p:spPr>
        <p:txBody>
          <a:bodyPr wrap="square" anchor="ctr" lIns="0" rIns="0" tIns="0" bIns="0">
            <a:spAutoFit/>
          </a:bodyPr>
          <a:lstStyle/>
          <a:p>
            <a:pPr algn="r"/>
            <a:r>
              <a:rPr sz="1300" b="1" i="0">
                <a:solidFill>
                  <a:srgbClr val="111111"/>
                </a:solidFill>
                <a:latin typeface="Arial"/>
              </a:rPr>
              <a:t>41 %</a:t>
            </a:r>
          </a:p>
        </p:txBody>
      </p:sp>
      <p:sp>
        <p:nvSpPr>
          <p:cNvPr id="68" name="TextBox 67"/>
          <p:cNvSpPr txBox="1"/>
          <p:nvPr/>
        </p:nvSpPr>
        <p:spPr>
          <a:xfrm>
            <a:off x="8101584" y="4572000"/>
            <a:ext cx="2194560" cy="134112"/>
          </a:xfrm>
          <a:prstGeom prst="rect">
            <a:avLst/>
          </a:prstGeom>
          <a:noFill/>
        </p:spPr>
        <p:txBody>
          <a:bodyPr wrap="square" anchor="t" lIns="0" rIns="0" tIns="0" bIns="0">
            <a:spAutoFit/>
          </a:bodyPr>
          <a:lstStyle/>
          <a:p>
            <a:pPr algn="l"/>
            <a:r>
              <a:rPr sz="1000" b="0" i="0">
                <a:solidFill>
                  <a:srgbClr val="111111"/>
                </a:solidFill>
                <a:latin typeface="Arial"/>
              </a:rPr>
              <a:t>Vie en van</a:t>
            </a:r>
          </a:p>
        </p:txBody>
      </p:sp>
      <p:sp>
        <p:nvSpPr>
          <p:cNvPr id="69" name="Rectangle 68"/>
          <p:cNvSpPr/>
          <p:nvPr/>
        </p:nvSpPr>
        <p:spPr>
          <a:xfrm>
            <a:off x="8101584" y="4724400"/>
            <a:ext cx="2011680" cy="54864"/>
          </a:xfrm>
          <a:prstGeom prst="rect">
            <a:avLst/>
          </a:prstGeom>
          <a:solidFill>
            <a:srgbClr val="ECEAE5"/>
          </a:solidFill>
          <a:ln>
            <a:noFill/>
          </a:ln>
          <a:effectLst/>
        </p:spPr>
        <p:txBody>
          <a:bodyPr rtlCol="0" anchor="ctr"/>
          <a:lstStyle/>
          <a:p>
            <a:pPr algn="ctr"/>
          </a:p>
        </p:txBody>
      </p:sp>
      <p:sp>
        <p:nvSpPr>
          <p:cNvPr id="70" name="Rectangle 69"/>
          <p:cNvSpPr/>
          <p:nvPr/>
        </p:nvSpPr>
        <p:spPr>
          <a:xfrm>
            <a:off x="8101584" y="4724400"/>
            <a:ext cx="341985" cy="54864"/>
          </a:xfrm>
          <a:prstGeom prst="rect">
            <a:avLst/>
          </a:prstGeom>
          <a:solidFill>
            <a:srgbClr val="9AA3B2"/>
          </a:solidFill>
          <a:ln>
            <a:noFill/>
          </a:ln>
          <a:effectLst/>
        </p:spPr>
        <p:txBody>
          <a:bodyPr rtlCol="0" anchor="ctr"/>
          <a:lstStyle/>
          <a:p>
            <a:pPr algn="ctr"/>
          </a:p>
        </p:txBody>
      </p:sp>
      <p:sp>
        <p:nvSpPr>
          <p:cNvPr id="71" name="TextBox 70"/>
          <p:cNvSpPr txBox="1"/>
          <p:nvPr/>
        </p:nvSpPr>
        <p:spPr>
          <a:xfrm>
            <a:off x="10241280" y="4645152"/>
            <a:ext cx="792480" cy="182880"/>
          </a:xfrm>
          <a:prstGeom prst="rect">
            <a:avLst/>
          </a:prstGeom>
          <a:noFill/>
        </p:spPr>
        <p:txBody>
          <a:bodyPr wrap="square" anchor="ctr" lIns="0" rIns="0" tIns="0" bIns="0">
            <a:spAutoFit/>
          </a:bodyPr>
          <a:lstStyle/>
          <a:p>
            <a:pPr algn="r"/>
            <a:r>
              <a:rPr sz="1300" b="1" i="0">
                <a:solidFill>
                  <a:srgbClr val="111111"/>
                </a:solidFill>
                <a:latin typeface="Arial"/>
              </a:rPr>
              <a:t>17 %</a:t>
            </a:r>
          </a:p>
        </p:txBody>
      </p:sp>
      <p:sp>
        <p:nvSpPr>
          <p:cNvPr id="72" name="TextBox 71"/>
          <p:cNvSpPr txBox="1"/>
          <p:nvPr/>
        </p:nvSpPr>
        <p:spPr>
          <a:xfrm>
            <a:off x="8101584" y="4876800"/>
            <a:ext cx="2194560" cy="134112"/>
          </a:xfrm>
          <a:prstGeom prst="rect">
            <a:avLst/>
          </a:prstGeom>
          <a:noFill/>
        </p:spPr>
        <p:txBody>
          <a:bodyPr wrap="square" anchor="t" lIns="0" rIns="0" tIns="0" bIns="0">
            <a:spAutoFit/>
          </a:bodyPr>
          <a:lstStyle/>
          <a:p>
            <a:pPr algn="l"/>
            <a:r>
              <a:rPr sz="1000" b="0" i="0">
                <a:solidFill>
                  <a:srgbClr val="111111"/>
                </a:solidFill>
                <a:latin typeface="Arial"/>
              </a:rPr>
              <a:t>Départ en vacances</a:t>
            </a:r>
          </a:p>
        </p:txBody>
      </p:sp>
      <p:sp>
        <p:nvSpPr>
          <p:cNvPr id="73" name="Rectangle 72"/>
          <p:cNvSpPr/>
          <p:nvPr/>
        </p:nvSpPr>
        <p:spPr>
          <a:xfrm>
            <a:off x="8101584" y="5029200"/>
            <a:ext cx="2011680" cy="54864"/>
          </a:xfrm>
          <a:prstGeom prst="rect">
            <a:avLst/>
          </a:prstGeom>
          <a:solidFill>
            <a:srgbClr val="ECEAE5"/>
          </a:solidFill>
          <a:ln>
            <a:noFill/>
          </a:ln>
          <a:effectLst/>
        </p:spPr>
        <p:txBody>
          <a:bodyPr rtlCol="0" anchor="ctr"/>
          <a:lstStyle/>
          <a:p>
            <a:pPr algn="ctr"/>
          </a:p>
        </p:txBody>
      </p:sp>
      <p:sp>
        <p:nvSpPr>
          <p:cNvPr id="74" name="Rectangle 73"/>
          <p:cNvSpPr/>
          <p:nvPr/>
        </p:nvSpPr>
        <p:spPr>
          <a:xfrm>
            <a:off x="8101584" y="5029200"/>
            <a:ext cx="341985" cy="54864"/>
          </a:xfrm>
          <a:prstGeom prst="rect">
            <a:avLst/>
          </a:prstGeom>
          <a:solidFill>
            <a:srgbClr val="9AA3B2"/>
          </a:solidFill>
          <a:ln>
            <a:noFill/>
          </a:ln>
          <a:effectLst/>
        </p:spPr>
        <p:txBody>
          <a:bodyPr rtlCol="0" anchor="ctr"/>
          <a:lstStyle/>
          <a:p>
            <a:pPr algn="ctr"/>
          </a:p>
        </p:txBody>
      </p:sp>
      <p:sp>
        <p:nvSpPr>
          <p:cNvPr id="75" name="TextBox 74"/>
          <p:cNvSpPr txBox="1"/>
          <p:nvPr/>
        </p:nvSpPr>
        <p:spPr>
          <a:xfrm>
            <a:off x="10241280" y="4949952"/>
            <a:ext cx="792480" cy="182880"/>
          </a:xfrm>
          <a:prstGeom prst="rect">
            <a:avLst/>
          </a:prstGeom>
          <a:noFill/>
        </p:spPr>
        <p:txBody>
          <a:bodyPr wrap="square" anchor="ctr" lIns="0" rIns="0" tIns="0" bIns="0">
            <a:spAutoFit/>
          </a:bodyPr>
          <a:lstStyle/>
          <a:p>
            <a:pPr algn="r"/>
            <a:r>
              <a:rPr sz="1300" b="1" i="0">
                <a:solidFill>
                  <a:srgbClr val="111111"/>
                </a:solidFill>
                <a:latin typeface="Arial"/>
              </a:rPr>
              <a:t>17 %</a:t>
            </a:r>
          </a:p>
        </p:txBody>
      </p:sp>
      <p:sp>
        <p:nvSpPr>
          <p:cNvPr id="76" name="TextBox 75"/>
          <p:cNvSpPr txBox="1"/>
          <p:nvPr/>
        </p:nvSpPr>
        <p:spPr>
          <a:xfrm>
            <a:off x="8101584" y="5181600"/>
            <a:ext cx="2194560" cy="134112"/>
          </a:xfrm>
          <a:prstGeom prst="rect">
            <a:avLst/>
          </a:prstGeom>
          <a:noFill/>
        </p:spPr>
        <p:txBody>
          <a:bodyPr wrap="square" anchor="t" lIns="0" rIns="0" tIns="0" bIns="0">
            <a:spAutoFit/>
          </a:bodyPr>
          <a:lstStyle/>
          <a:p>
            <a:pPr algn="l"/>
            <a:r>
              <a:rPr sz="1000" b="0" i="0">
                <a:solidFill>
                  <a:srgbClr val="111111"/>
                </a:solidFill>
                <a:latin typeface="Arial"/>
              </a:rPr>
              <a:t>Raid en montagne</a:t>
            </a:r>
          </a:p>
        </p:txBody>
      </p:sp>
      <p:sp>
        <p:nvSpPr>
          <p:cNvPr id="77" name="Rectangle 76"/>
          <p:cNvSpPr/>
          <p:nvPr/>
        </p:nvSpPr>
        <p:spPr>
          <a:xfrm>
            <a:off x="8101584" y="5334000"/>
            <a:ext cx="2011680" cy="54864"/>
          </a:xfrm>
          <a:prstGeom prst="rect">
            <a:avLst/>
          </a:prstGeom>
          <a:solidFill>
            <a:srgbClr val="ECEAE5"/>
          </a:solidFill>
          <a:ln>
            <a:noFill/>
          </a:ln>
          <a:effectLst/>
        </p:spPr>
        <p:txBody>
          <a:bodyPr rtlCol="0" anchor="ctr"/>
          <a:lstStyle/>
          <a:p>
            <a:pPr algn="ctr"/>
          </a:p>
        </p:txBody>
      </p:sp>
      <p:sp>
        <p:nvSpPr>
          <p:cNvPr id="78" name="Rectangle 77"/>
          <p:cNvSpPr/>
          <p:nvPr/>
        </p:nvSpPr>
        <p:spPr>
          <a:xfrm>
            <a:off x="8101584" y="5334000"/>
            <a:ext cx="241401" cy="54864"/>
          </a:xfrm>
          <a:prstGeom prst="rect">
            <a:avLst/>
          </a:prstGeom>
          <a:solidFill>
            <a:srgbClr val="9AA3B2"/>
          </a:solidFill>
          <a:ln>
            <a:noFill/>
          </a:ln>
          <a:effectLst/>
        </p:spPr>
        <p:txBody>
          <a:bodyPr rtlCol="0" anchor="ctr"/>
          <a:lstStyle/>
          <a:p>
            <a:pPr algn="ctr"/>
          </a:p>
        </p:txBody>
      </p:sp>
      <p:sp>
        <p:nvSpPr>
          <p:cNvPr id="79" name="TextBox 78"/>
          <p:cNvSpPr txBox="1"/>
          <p:nvPr/>
        </p:nvSpPr>
        <p:spPr>
          <a:xfrm>
            <a:off x="10241280" y="5254752"/>
            <a:ext cx="792480" cy="182880"/>
          </a:xfrm>
          <a:prstGeom prst="rect">
            <a:avLst/>
          </a:prstGeom>
          <a:noFill/>
        </p:spPr>
        <p:txBody>
          <a:bodyPr wrap="square" anchor="ctr" lIns="0" rIns="0" tIns="0" bIns="0">
            <a:spAutoFit/>
          </a:bodyPr>
          <a:lstStyle/>
          <a:p>
            <a:pPr algn="r"/>
            <a:r>
              <a:rPr sz="1300" b="1" i="0">
                <a:solidFill>
                  <a:srgbClr val="111111"/>
                </a:solidFill>
                <a:latin typeface="Arial"/>
              </a:rPr>
              <a:t>12 %</a:t>
            </a:r>
          </a:p>
        </p:txBody>
      </p:sp>
      <p:sp>
        <p:nvSpPr>
          <p:cNvPr id="80" name="TextBox 79"/>
          <p:cNvSpPr txBox="1"/>
          <p:nvPr/>
        </p:nvSpPr>
        <p:spPr>
          <a:xfrm>
            <a:off x="8101584" y="5486400"/>
            <a:ext cx="2194560" cy="134112"/>
          </a:xfrm>
          <a:prstGeom prst="rect">
            <a:avLst/>
          </a:prstGeom>
          <a:noFill/>
        </p:spPr>
        <p:txBody>
          <a:bodyPr wrap="square" anchor="t" lIns="0" rIns="0" tIns="0" bIns="0">
            <a:spAutoFit/>
          </a:bodyPr>
          <a:lstStyle/>
          <a:p>
            <a:pPr algn="l"/>
            <a:r>
              <a:rPr sz="1000" b="0" i="0">
                <a:solidFill>
                  <a:srgbClr val="111111"/>
                </a:solidFill>
                <a:latin typeface="Arial"/>
              </a:rPr>
              <a:t>Événement automobile</a:t>
            </a:r>
          </a:p>
        </p:txBody>
      </p:sp>
      <p:sp>
        <p:nvSpPr>
          <p:cNvPr id="81" name="Rectangle 80"/>
          <p:cNvSpPr/>
          <p:nvPr/>
        </p:nvSpPr>
        <p:spPr>
          <a:xfrm>
            <a:off x="8101584" y="5638800"/>
            <a:ext cx="2011680" cy="54864"/>
          </a:xfrm>
          <a:prstGeom prst="rect">
            <a:avLst/>
          </a:prstGeom>
          <a:solidFill>
            <a:srgbClr val="ECEAE5"/>
          </a:solidFill>
          <a:ln>
            <a:noFill/>
          </a:ln>
          <a:effectLst/>
        </p:spPr>
        <p:txBody>
          <a:bodyPr rtlCol="0" anchor="ctr"/>
          <a:lstStyle/>
          <a:p>
            <a:pPr algn="ctr"/>
          </a:p>
        </p:txBody>
      </p:sp>
      <p:sp>
        <p:nvSpPr>
          <p:cNvPr id="82" name="Rectangle 81"/>
          <p:cNvSpPr/>
          <p:nvPr/>
        </p:nvSpPr>
        <p:spPr>
          <a:xfrm>
            <a:off x="8101584" y="5638800"/>
            <a:ext cx="120700" cy="54864"/>
          </a:xfrm>
          <a:prstGeom prst="rect">
            <a:avLst/>
          </a:prstGeom>
          <a:solidFill>
            <a:srgbClr val="9AA3B2"/>
          </a:solidFill>
          <a:ln>
            <a:noFill/>
          </a:ln>
          <a:effectLst/>
        </p:spPr>
        <p:txBody>
          <a:bodyPr rtlCol="0" anchor="ctr"/>
          <a:lstStyle/>
          <a:p>
            <a:pPr algn="ctr"/>
          </a:p>
        </p:txBody>
      </p:sp>
      <p:sp>
        <p:nvSpPr>
          <p:cNvPr id="83" name="TextBox 82"/>
          <p:cNvSpPr txBox="1"/>
          <p:nvPr/>
        </p:nvSpPr>
        <p:spPr>
          <a:xfrm>
            <a:off x="10241280" y="5559552"/>
            <a:ext cx="792480" cy="182880"/>
          </a:xfrm>
          <a:prstGeom prst="rect">
            <a:avLst/>
          </a:prstGeom>
          <a:noFill/>
        </p:spPr>
        <p:txBody>
          <a:bodyPr wrap="square" anchor="ctr" lIns="0" rIns="0" tIns="0" bIns="0">
            <a:spAutoFit/>
          </a:bodyPr>
          <a:lstStyle/>
          <a:p>
            <a:pPr algn="r"/>
            <a:r>
              <a:rPr sz="1300" b="1" i="0">
                <a:solidFill>
                  <a:srgbClr val="111111"/>
                </a:solidFill>
                <a:latin typeface="Arial"/>
              </a:rPr>
              <a:t>6 %</a:t>
            </a:r>
          </a:p>
        </p:txBody>
      </p:sp>
      <p:sp>
        <p:nvSpPr>
          <p:cNvPr id="84" name="TextBox 83"/>
          <p:cNvSpPr txBox="1"/>
          <p:nvPr/>
        </p:nvSpPr>
        <p:spPr>
          <a:xfrm>
            <a:off x="8101584" y="5791200"/>
            <a:ext cx="2194560" cy="134112"/>
          </a:xfrm>
          <a:prstGeom prst="rect">
            <a:avLst/>
          </a:prstGeom>
          <a:noFill/>
        </p:spPr>
        <p:txBody>
          <a:bodyPr wrap="square" anchor="t" lIns="0" rIns="0" tIns="0" bIns="0">
            <a:spAutoFit/>
          </a:bodyPr>
          <a:lstStyle/>
          <a:p>
            <a:pPr algn="l"/>
            <a:r>
              <a:rPr sz="1000" b="0" i="0">
                <a:solidFill>
                  <a:srgbClr val="111111"/>
                </a:solidFill>
                <a:latin typeface="Arial"/>
              </a:rPr>
              <a:t>Accident de voiture</a:t>
            </a:r>
          </a:p>
        </p:txBody>
      </p:sp>
      <p:sp>
        <p:nvSpPr>
          <p:cNvPr id="85" name="Rectangle 84"/>
          <p:cNvSpPr/>
          <p:nvPr/>
        </p:nvSpPr>
        <p:spPr>
          <a:xfrm>
            <a:off x="8101584" y="5943600"/>
            <a:ext cx="2011680" cy="54864"/>
          </a:xfrm>
          <a:prstGeom prst="rect">
            <a:avLst/>
          </a:prstGeom>
          <a:solidFill>
            <a:srgbClr val="ECEAE5"/>
          </a:solidFill>
          <a:ln>
            <a:noFill/>
          </a:ln>
          <a:effectLst/>
        </p:spPr>
        <p:txBody>
          <a:bodyPr rtlCol="0" anchor="ctr"/>
          <a:lstStyle/>
          <a:p>
            <a:pPr algn="ctr"/>
          </a:p>
        </p:txBody>
      </p:sp>
      <p:sp>
        <p:nvSpPr>
          <p:cNvPr id="86" name="Rectangle 85"/>
          <p:cNvSpPr/>
          <p:nvPr/>
        </p:nvSpPr>
        <p:spPr>
          <a:xfrm>
            <a:off x="8101584" y="5943600"/>
            <a:ext cx="140817" cy="54864"/>
          </a:xfrm>
          <a:prstGeom prst="rect">
            <a:avLst/>
          </a:prstGeom>
          <a:solidFill>
            <a:srgbClr val="9AA3B2"/>
          </a:solidFill>
          <a:ln>
            <a:noFill/>
          </a:ln>
          <a:effectLst/>
        </p:spPr>
        <p:txBody>
          <a:bodyPr rtlCol="0" anchor="ctr"/>
          <a:lstStyle/>
          <a:p>
            <a:pPr algn="ctr"/>
          </a:p>
        </p:txBody>
      </p:sp>
      <p:sp>
        <p:nvSpPr>
          <p:cNvPr id="87" name="TextBox 86"/>
          <p:cNvSpPr txBox="1"/>
          <p:nvPr/>
        </p:nvSpPr>
        <p:spPr>
          <a:xfrm>
            <a:off x="10241280" y="5864352"/>
            <a:ext cx="792480" cy="182880"/>
          </a:xfrm>
          <a:prstGeom prst="rect">
            <a:avLst/>
          </a:prstGeom>
          <a:noFill/>
        </p:spPr>
        <p:txBody>
          <a:bodyPr wrap="square" anchor="ctr" lIns="0" rIns="0" tIns="0" bIns="0">
            <a:spAutoFit/>
          </a:bodyPr>
          <a:lstStyle/>
          <a:p>
            <a:pPr algn="r"/>
            <a:r>
              <a:rPr sz="1300" b="1" i="0">
                <a:solidFill>
                  <a:srgbClr val="111111"/>
                </a:solidFill>
                <a:latin typeface="Arial"/>
              </a:rPr>
              <a:t>7 %</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6F2"/>
          </a:solidFill>
          <a:ln>
            <a:noFill/>
          </a:ln>
          <a:effectLst/>
        </p:spPr>
        <p:txBody>
          <a:bodyPr rtlCol="0" anchor="ctr"/>
          <a:lstStyle/>
          <a:p>
            <a:pPr algn="ctr"/>
          </a:p>
        </p:txBody>
      </p:sp>
      <p:sp>
        <p:nvSpPr>
          <p:cNvPr id="3" name="TextBox 2"/>
          <p:cNvSpPr txBox="1"/>
          <p:nvPr/>
        </p:nvSpPr>
        <p:spPr>
          <a:xfrm>
            <a:off x="579120" y="426720"/>
            <a:ext cx="7315200" cy="182880"/>
          </a:xfrm>
          <a:prstGeom prst="rect">
            <a:avLst/>
          </a:prstGeom>
          <a:noFill/>
        </p:spPr>
        <p:txBody>
          <a:bodyPr wrap="square" anchor="t" lIns="0" rIns="0" tIns="0" bIns="0">
            <a:spAutoFit/>
          </a:bodyPr>
          <a:lstStyle/>
          <a:p>
            <a:pPr algn="l"/>
            <a:r>
              <a:rPr sz="1300" b="1" i="0">
                <a:solidFill>
                  <a:srgbClr val="EE6A2C"/>
                </a:solidFill>
                <a:latin typeface="Arial"/>
              </a:rPr>
              <a:t>INSIGHTS QUALITATIFS · SEPTEMBRE 2026</a:t>
            </a:r>
          </a:p>
        </p:txBody>
      </p:sp>
      <p:sp>
        <p:nvSpPr>
          <p:cNvPr id="4" name="TextBox 3"/>
          <p:cNvSpPr txBox="1"/>
          <p:nvPr/>
        </p:nvSpPr>
        <p:spPr>
          <a:xfrm>
            <a:off x="579120" y="609600"/>
            <a:ext cx="7315200" cy="487680"/>
          </a:xfrm>
          <a:prstGeom prst="rect">
            <a:avLst/>
          </a:prstGeom>
          <a:noFill/>
        </p:spPr>
        <p:txBody>
          <a:bodyPr wrap="square" anchor="t" lIns="0" rIns="0" tIns="0" bIns="0">
            <a:spAutoFit/>
          </a:bodyPr>
          <a:lstStyle/>
          <a:p>
            <a:pPr algn="l"/>
            <a:r>
              <a:rPr sz="3600" b="1" i="0">
                <a:solidFill>
                  <a:srgbClr val="111111"/>
                </a:solidFill>
                <a:latin typeface="Arial"/>
              </a:rPr>
              <a:t>Sécurité Routière</a:t>
            </a:r>
          </a:p>
        </p:txBody>
      </p:sp>
      <p:sp>
        <p:nvSpPr>
          <p:cNvPr id="5" name="TextBox 4"/>
          <p:cNvSpPr txBox="1"/>
          <p:nvPr/>
        </p:nvSpPr>
        <p:spPr>
          <a:xfrm>
            <a:off x="9144000" y="499872"/>
            <a:ext cx="1889760" cy="182880"/>
          </a:xfrm>
          <a:prstGeom prst="rect">
            <a:avLst/>
          </a:prstGeom>
          <a:noFill/>
        </p:spPr>
        <p:txBody>
          <a:bodyPr wrap="square" anchor="t" lIns="0" rIns="0" tIns="0" bIns="0">
            <a:spAutoFit/>
          </a:bodyPr>
          <a:lstStyle/>
          <a:p>
            <a:pPr algn="r"/>
            <a:r>
              <a:rPr sz="1500" b="1" i="0">
                <a:solidFill>
                  <a:srgbClr val="111111"/>
                </a:solidFill>
                <a:latin typeface="Arial"/>
              </a:rPr>
              <a:t>Lemrock</a:t>
            </a:r>
          </a:p>
        </p:txBody>
      </p:sp>
      <p:sp>
        <p:nvSpPr>
          <p:cNvPr id="6" name="TextBox 5"/>
          <p:cNvSpPr txBox="1"/>
          <p:nvPr/>
        </p:nvSpPr>
        <p:spPr>
          <a:xfrm>
            <a:off x="579120" y="1219200"/>
            <a:ext cx="9144000" cy="182880"/>
          </a:xfrm>
          <a:prstGeom prst="rect">
            <a:avLst/>
          </a:prstGeom>
          <a:noFill/>
        </p:spPr>
        <p:txBody>
          <a:bodyPr wrap="square" anchor="t" lIns="0" rIns="0" tIns="0" bIns="0">
            <a:spAutoFit/>
          </a:bodyPr>
          <a:lstStyle/>
          <a:p>
            <a:pPr algn="l"/>
            <a:r>
              <a:rPr sz="1300" b="1" i="0">
                <a:solidFill>
                  <a:srgbClr val="EE6A2C"/>
                </a:solidFill>
                <a:latin typeface="Arial"/>
              </a:rPr>
              <a:t>OBJECTIF   </a:t>
            </a:r>
            <a:r>
              <a:rPr sz="1300" b="0" i="0">
                <a:solidFill>
                  <a:srgbClr val="111111"/>
                </a:solidFill>
                <a:latin typeface="Arial"/>
              </a:rPr>
              <a:t>À définir</a:t>
            </a:r>
          </a:p>
        </p:txBody>
      </p:sp>
      <p:sp>
        <p:nvSpPr>
          <p:cNvPr id="7" name="TextBox 6"/>
          <p:cNvSpPr txBox="1"/>
          <p:nvPr/>
        </p:nvSpPr>
        <p:spPr>
          <a:xfrm>
            <a:off x="579120" y="1524000"/>
            <a:ext cx="4876800" cy="182880"/>
          </a:xfrm>
          <a:prstGeom prst="rect">
            <a:avLst/>
          </a:prstGeom>
          <a:noFill/>
        </p:spPr>
        <p:txBody>
          <a:bodyPr wrap="square" anchor="t" lIns="0" rIns="0" tIns="0" bIns="0">
            <a:spAutoFit/>
          </a:bodyPr>
          <a:lstStyle/>
          <a:p>
            <a:pPr algn="l"/>
            <a:r>
              <a:rPr sz="1400" b="1" i="0">
                <a:solidFill>
                  <a:srgbClr val="555B66"/>
                </a:solidFill>
                <a:latin typeface="Arial"/>
              </a:rPr>
              <a:t>INSIGHTS QUALITATIFS</a:t>
            </a:r>
          </a:p>
        </p:txBody>
      </p:sp>
      <p:sp>
        <p:nvSpPr>
          <p:cNvPr id="8" name="Rectangle 7"/>
          <p:cNvSpPr/>
          <p:nvPr/>
        </p:nvSpPr>
        <p:spPr>
          <a:xfrm>
            <a:off x="579120" y="1816608"/>
            <a:ext cx="5071872" cy="2121408"/>
          </a:xfrm>
          <a:prstGeom prst="rect">
            <a:avLst/>
          </a:prstGeom>
          <a:solidFill>
            <a:srgbClr val="FFFFFF"/>
          </a:solidFill>
          <a:ln>
            <a:noFill/>
          </a:ln>
          <a:effectLst/>
        </p:spPr>
        <p:txBody>
          <a:bodyPr rtlCol="0" anchor="ctr"/>
          <a:lstStyle/>
          <a:p>
            <a:pPr algn="ctr"/>
          </a:p>
        </p:txBody>
      </p:sp>
      <p:sp>
        <p:nvSpPr>
          <p:cNvPr id="9" name="TextBox 8"/>
          <p:cNvSpPr txBox="1"/>
          <p:nvPr/>
        </p:nvSpPr>
        <p:spPr>
          <a:xfrm>
            <a:off x="835152" y="2029968"/>
            <a:ext cx="487680" cy="243840"/>
          </a:xfrm>
          <a:prstGeom prst="rect">
            <a:avLst/>
          </a:prstGeom>
          <a:noFill/>
        </p:spPr>
        <p:txBody>
          <a:bodyPr wrap="square" anchor="t" lIns="0" rIns="0" tIns="0" bIns="0">
            <a:spAutoFit/>
          </a:bodyPr>
          <a:lstStyle/>
          <a:p>
            <a:pPr algn="l"/>
            <a:r>
              <a:rPr sz="2000" b="1" i="0">
                <a:solidFill>
                  <a:srgbClr val="EE6A2C"/>
                </a:solidFill>
                <a:latin typeface="Arial"/>
              </a:rPr>
              <a:t>01</a:t>
            </a:r>
          </a:p>
        </p:txBody>
      </p:sp>
      <p:sp>
        <p:nvSpPr>
          <p:cNvPr id="10" name="TextBox 9"/>
          <p:cNvSpPr txBox="1"/>
          <p:nvPr/>
        </p:nvSpPr>
        <p:spPr>
          <a:xfrm>
            <a:off x="1383792" y="2048256"/>
            <a:ext cx="4023360" cy="365760"/>
          </a:xfrm>
          <a:prstGeom prst="rect">
            <a:avLst/>
          </a:prstGeom>
          <a:noFill/>
        </p:spPr>
        <p:txBody>
          <a:bodyPr wrap="square" anchor="t" lIns="0" rIns="0" tIns="0" bIns="0">
            <a:spAutoFit/>
          </a:bodyPr>
          <a:lstStyle/>
          <a:p>
            <a:pPr algn="l"/>
            <a:r>
              <a:rPr sz="1400" b="1" i="0">
                <a:solidFill>
                  <a:srgbClr val="111111"/>
                </a:solidFill>
                <a:latin typeface="Arial"/>
              </a:rPr>
              <a:t>Mettre un chiffre dans le titre</a:t>
            </a:r>
          </a:p>
        </p:txBody>
      </p:sp>
      <p:sp>
        <p:nvSpPr>
          <p:cNvPr id="11" name="TextBox 10"/>
          <p:cNvSpPr txBox="1"/>
          <p:nvPr/>
        </p:nvSpPr>
        <p:spPr>
          <a:xfrm>
            <a:off x="835152" y="2609088"/>
            <a:ext cx="4572000" cy="731520"/>
          </a:xfrm>
          <a:prstGeom prst="rect">
            <a:avLst/>
          </a:prstGeom>
          <a:noFill/>
        </p:spPr>
        <p:txBody>
          <a:bodyPr wrap="square" anchor="t" lIns="0" rIns="0" tIns="0" bIns="0">
            <a:spAutoFit/>
          </a:bodyPr>
          <a:lstStyle/>
          <a:p>
            <a:pPr algn="l"/>
            <a:r>
              <a:rPr sz="1100" b="0" i="0">
                <a:solidFill>
                  <a:srgbClr val="555B66"/>
                </a:solidFill>
                <a:latin typeface="Arial"/>
              </a:rPr>
              <a:t>Le titre met en avant l'âge (« 15 ans, c'est le bon moment ») ; les bénéfices chiffrés (3 000 km au volant) ne figurent que dans la description.</a:t>
            </a:r>
          </a:p>
        </p:txBody>
      </p:sp>
      <p:sp>
        <p:nvSpPr>
          <p:cNvPr id="12" name="TextBox 11"/>
          <p:cNvSpPr txBox="1"/>
          <p:nvPr/>
        </p:nvSpPr>
        <p:spPr>
          <a:xfrm>
            <a:off x="835152" y="3310128"/>
            <a:ext cx="4572000" cy="487680"/>
          </a:xfrm>
          <a:prstGeom prst="rect">
            <a:avLst/>
          </a:prstGeom>
          <a:noFill/>
        </p:spPr>
        <p:txBody>
          <a:bodyPr wrap="square" anchor="t" lIns="0" rIns="0" tIns="0" bIns="0">
            <a:spAutoFit/>
          </a:bodyPr>
          <a:lstStyle/>
          <a:p>
            <a:pPr algn="l"/>
            <a:r>
              <a:rPr sz="900" b="1" i="0">
                <a:solidFill>
                  <a:srgbClr val="555B66"/>
                </a:solidFill>
                <a:latin typeface="Arial"/>
              </a:rPr>
              <a:t>→  Tester un titre avec un bénéfice chiffré : « 3 000 km au volant avant le permis ».</a:t>
            </a:r>
          </a:p>
        </p:txBody>
      </p:sp>
      <p:sp>
        <p:nvSpPr>
          <p:cNvPr id="13" name="Rectangle 12"/>
          <p:cNvSpPr/>
          <p:nvPr/>
        </p:nvSpPr>
        <p:spPr>
          <a:xfrm>
            <a:off x="5992368" y="1816608"/>
            <a:ext cx="5071872" cy="2121408"/>
          </a:xfrm>
          <a:prstGeom prst="rect">
            <a:avLst/>
          </a:prstGeom>
          <a:solidFill>
            <a:srgbClr val="FFFFFF"/>
          </a:solidFill>
          <a:ln>
            <a:noFill/>
          </a:ln>
          <a:effectLst/>
        </p:spPr>
        <p:txBody>
          <a:bodyPr rtlCol="0" anchor="ctr"/>
          <a:lstStyle/>
          <a:p>
            <a:pPr algn="ctr"/>
          </a:p>
        </p:txBody>
      </p:sp>
      <p:sp>
        <p:nvSpPr>
          <p:cNvPr id="14" name="TextBox 13"/>
          <p:cNvSpPr txBox="1"/>
          <p:nvPr/>
        </p:nvSpPr>
        <p:spPr>
          <a:xfrm>
            <a:off x="6248400" y="2029968"/>
            <a:ext cx="487680" cy="243840"/>
          </a:xfrm>
          <a:prstGeom prst="rect">
            <a:avLst/>
          </a:prstGeom>
          <a:noFill/>
        </p:spPr>
        <p:txBody>
          <a:bodyPr wrap="square" anchor="t" lIns="0" rIns="0" tIns="0" bIns="0">
            <a:spAutoFit/>
          </a:bodyPr>
          <a:lstStyle/>
          <a:p>
            <a:pPr algn="l"/>
            <a:r>
              <a:rPr sz="2000" b="1" i="0">
                <a:solidFill>
                  <a:srgbClr val="EE6A2C"/>
                </a:solidFill>
                <a:latin typeface="Arial"/>
              </a:rPr>
              <a:t>02</a:t>
            </a:r>
          </a:p>
        </p:txBody>
      </p:sp>
      <p:sp>
        <p:nvSpPr>
          <p:cNvPr id="15" name="TextBox 14"/>
          <p:cNvSpPr txBox="1"/>
          <p:nvPr/>
        </p:nvSpPr>
        <p:spPr>
          <a:xfrm>
            <a:off x="6797040" y="2048256"/>
            <a:ext cx="4023360" cy="365760"/>
          </a:xfrm>
          <a:prstGeom prst="rect">
            <a:avLst/>
          </a:prstGeom>
          <a:noFill/>
        </p:spPr>
        <p:txBody>
          <a:bodyPr wrap="square" anchor="t" lIns="0" rIns="0" tIns="0" bIns="0">
            <a:spAutoFit/>
          </a:bodyPr>
          <a:lstStyle/>
          <a:p>
            <a:pPr algn="l"/>
            <a:r>
              <a:rPr sz="1400" b="1" i="0">
                <a:solidFill>
                  <a:srgbClr val="111111"/>
                </a:solidFill>
                <a:latin typeface="Arial"/>
              </a:rPr>
              <a:t>Une seule annonce diffusée</a:t>
            </a:r>
          </a:p>
        </p:txBody>
      </p:sp>
      <p:sp>
        <p:nvSpPr>
          <p:cNvPr id="16" name="TextBox 15"/>
          <p:cNvSpPr txBox="1"/>
          <p:nvPr/>
        </p:nvSpPr>
        <p:spPr>
          <a:xfrm>
            <a:off x="6248400" y="2609088"/>
            <a:ext cx="4572000" cy="731520"/>
          </a:xfrm>
          <a:prstGeom prst="rect">
            <a:avLst/>
          </a:prstGeom>
          <a:noFill/>
        </p:spPr>
        <p:txBody>
          <a:bodyPr wrap="square" anchor="t" lIns="0" rIns="0" tIns="0" bIns="0">
            <a:spAutoFit/>
          </a:bodyPr>
          <a:lstStyle/>
          <a:p>
            <a:pPr algn="l"/>
            <a:r>
              <a:rPr sz="1100" b="0" i="0">
                <a:solidFill>
                  <a:srgbClr val="555B66"/>
                </a:solidFill>
                <a:latin typeface="Arial"/>
              </a:rPr>
              <a:t>Toute la campagne repose sur l'annonce « Conduite accompagnée : 15 ans, c'est le bon moment », qui génère 1 591 clics pour un CTR de 0,43 %.</a:t>
            </a:r>
          </a:p>
        </p:txBody>
      </p:sp>
      <p:sp>
        <p:nvSpPr>
          <p:cNvPr id="17" name="TextBox 16"/>
          <p:cNvSpPr txBox="1"/>
          <p:nvPr/>
        </p:nvSpPr>
        <p:spPr>
          <a:xfrm>
            <a:off x="6248400" y="3310128"/>
            <a:ext cx="4572000" cy="487680"/>
          </a:xfrm>
          <a:prstGeom prst="rect">
            <a:avLst/>
          </a:prstGeom>
          <a:noFill/>
        </p:spPr>
        <p:txBody>
          <a:bodyPr wrap="square" anchor="t" lIns="0" rIns="0" tIns="0" bIns="0">
            <a:spAutoFit/>
          </a:bodyPr>
          <a:lstStyle/>
          <a:p>
            <a:pPr algn="l"/>
            <a:r>
              <a:rPr sz="900" b="1" i="0">
                <a:solidFill>
                  <a:srgbClr val="555B66"/>
                </a:solidFill>
                <a:latin typeface="Arial"/>
              </a:rPr>
              <a:t>→  Ajouter des annonces variées (parents, économies, réussite au permis) pour identifier les messages qui cliquent le plus.</a:t>
            </a:r>
          </a:p>
        </p:txBody>
      </p:sp>
      <p:sp>
        <p:nvSpPr>
          <p:cNvPr id="18" name="Rectangle 17"/>
          <p:cNvSpPr/>
          <p:nvPr/>
        </p:nvSpPr>
        <p:spPr>
          <a:xfrm>
            <a:off x="579120" y="4133088"/>
            <a:ext cx="5071872" cy="2121408"/>
          </a:xfrm>
          <a:prstGeom prst="rect">
            <a:avLst/>
          </a:prstGeom>
          <a:solidFill>
            <a:srgbClr val="FFFFFF"/>
          </a:solidFill>
          <a:ln>
            <a:noFill/>
          </a:ln>
          <a:effectLst/>
        </p:spPr>
        <p:txBody>
          <a:bodyPr rtlCol="0" anchor="ctr"/>
          <a:lstStyle/>
          <a:p>
            <a:pPr algn="ctr"/>
          </a:p>
        </p:txBody>
      </p:sp>
      <p:sp>
        <p:nvSpPr>
          <p:cNvPr id="19" name="TextBox 18"/>
          <p:cNvSpPr txBox="1"/>
          <p:nvPr/>
        </p:nvSpPr>
        <p:spPr>
          <a:xfrm>
            <a:off x="835152" y="4346448"/>
            <a:ext cx="487680" cy="243840"/>
          </a:xfrm>
          <a:prstGeom prst="rect">
            <a:avLst/>
          </a:prstGeom>
          <a:noFill/>
        </p:spPr>
        <p:txBody>
          <a:bodyPr wrap="square" anchor="t" lIns="0" rIns="0" tIns="0" bIns="0">
            <a:spAutoFit/>
          </a:bodyPr>
          <a:lstStyle/>
          <a:p>
            <a:pPr algn="l"/>
            <a:r>
              <a:rPr sz="2000" b="1" i="0">
                <a:solidFill>
                  <a:srgbClr val="EE6A2C"/>
                </a:solidFill>
                <a:latin typeface="Arial"/>
              </a:rPr>
              <a:t>03</a:t>
            </a:r>
          </a:p>
        </p:txBody>
      </p:sp>
      <p:sp>
        <p:nvSpPr>
          <p:cNvPr id="20" name="TextBox 19"/>
          <p:cNvSpPr txBox="1"/>
          <p:nvPr/>
        </p:nvSpPr>
        <p:spPr>
          <a:xfrm>
            <a:off x="1383792" y="4364736"/>
            <a:ext cx="4023360" cy="365760"/>
          </a:xfrm>
          <a:prstGeom prst="rect">
            <a:avLst/>
          </a:prstGeom>
          <a:noFill/>
        </p:spPr>
        <p:txBody>
          <a:bodyPr wrap="square" anchor="t" lIns="0" rIns="0" tIns="0" bIns="0">
            <a:spAutoFit/>
          </a:bodyPr>
          <a:lstStyle/>
          <a:p>
            <a:pPr algn="l"/>
            <a:r>
              <a:rPr sz="1400" b="1" i="0">
                <a:solidFill>
                  <a:srgbClr val="111111"/>
                </a:solidFill>
                <a:latin typeface="Arial"/>
              </a:rPr>
              <a:t>Parler aux parents</a:t>
            </a:r>
          </a:p>
        </p:txBody>
      </p:sp>
      <p:sp>
        <p:nvSpPr>
          <p:cNvPr id="21" name="TextBox 20"/>
          <p:cNvSpPr txBox="1"/>
          <p:nvPr/>
        </p:nvSpPr>
        <p:spPr>
          <a:xfrm>
            <a:off x="835152" y="4925568"/>
            <a:ext cx="4572000" cy="731520"/>
          </a:xfrm>
          <a:prstGeom prst="rect">
            <a:avLst/>
          </a:prstGeom>
          <a:noFill/>
        </p:spPr>
        <p:txBody>
          <a:bodyPr wrap="square" anchor="t" lIns="0" rIns="0" tIns="0" bIns="0">
            <a:spAutoFit/>
          </a:bodyPr>
          <a:lstStyle/>
          <a:p>
            <a:pPr algn="l"/>
            <a:r>
              <a:rPr sz="1100" b="0" i="0">
                <a:solidFill>
                  <a:srgbClr val="555B66"/>
                </a:solidFill>
                <a:latin typeface="Arial"/>
              </a:rPr>
              <a:t>Les bénéfices de l'annonce (3 000 km au volant, meilleurs résultats au permis, moins d'accidents, moins cher) s'adressent surtout aux parents.</a:t>
            </a:r>
          </a:p>
        </p:txBody>
      </p:sp>
      <p:sp>
        <p:nvSpPr>
          <p:cNvPr id="22" name="TextBox 21"/>
          <p:cNvSpPr txBox="1"/>
          <p:nvPr/>
        </p:nvSpPr>
        <p:spPr>
          <a:xfrm>
            <a:off x="835152" y="5626608"/>
            <a:ext cx="4572000" cy="487680"/>
          </a:xfrm>
          <a:prstGeom prst="rect">
            <a:avLst/>
          </a:prstGeom>
          <a:noFill/>
        </p:spPr>
        <p:txBody>
          <a:bodyPr wrap="square" anchor="t" lIns="0" rIns="0" tIns="0" bIns="0">
            <a:spAutoFit/>
          </a:bodyPr>
          <a:lstStyle/>
          <a:p>
            <a:pPr algn="l"/>
            <a:r>
              <a:rPr sz="900" b="1" i="0">
                <a:solidFill>
                  <a:srgbClr val="555B66"/>
                </a:solidFill>
                <a:latin typeface="Arial"/>
              </a:rPr>
              <a:t>→  Tester une version dédiée aux parents et une version dédiée aux jeunes de 15 ans.</a:t>
            </a:r>
          </a:p>
        </p:txBody>
      </p:sp>
      <p:sp>
        <p:nvSpPr>
          <p:cNvPr id="23" name="Rectangle 22"/>
          <p:cNvSpPr/>
          <p:nvPr/>
        </p:nvSpPr>
        <p:spPr>
          <a:xfrm>
            <a:off x="5992368" y="4133088"/>
            <a:ext cx="5071872" cy="2121408"/>
          </a:xfrm>
          <a:prstGeom prst="rect">
            <a:avLst/>
          </a:prstGeom>
          <a:solidFill>
            <a:srgbClr val="FFFFFF"/>
          </a:solidFill>
          <a:ln>
            <a:noFill/>
          </a:ln>
          <a:effectLst/>
        </p:spPr>
        <p:txBody>
          <a:bodyPr rtlCol="0" anchor="ctr"/>
          <a:lstStyle/>
          <a:p>
            <a:pPr algn="ctr"/>
          </a:p>
        </p:txBody>
      </p:sp>
      <p:sp>
        <p:nvSpPr>
          <p:cNvPr id="24" name="TextBox 23"/>
          <p:cNvSpPr txBox="1"/>
          <p:nvPr/>
        </p:nvSpPr>
        <p:spPr>
          <a:xfrm>
            <a:off x="6248400" y="4346448"/>
            <a:ext cx="487680" cy="243840"/>
          </a:xfrm>
          <a:prstGeom prst="rect">
            <a:avLst/>
          </a:prstGeom>
          <a:noFill/>
        </p:spPr>
        <p:txBody>
          <a:bodyPr wrap="square" anchor="t" lIns="0" rIns="0" tIns="0" bIns="0">
            <a:spAutoFit/>
          </a:bodyPr>
          <a:lstStyle/>
          <a:p>
            <a:pPr algn="l"/>
            <a:r>
              <a:rPr sz="2000" b="1" i="0">
                <a:solidFill>
                  <a:srgbClr val="EE6A2C"/>
                </a:solidFill>
                <a:latin typeface="Arial"/>
              </a:rPr>
              <a:t>04</a:t>
            </a:r>
          </a:p>
        </p:txBody>
      </p:sp>
      <p:sp>
        <p:nvSpPr>
          <p:cNvPr id="25" name="TextBox 24"/>
          <p:cNvSpPr txBox="1"/>
          <p:nvPr/>
        </p:nvSpPr>
        <p:spPr>
          <a:xfrm>
            <a:off x="6797040" y="4364736"/>
            <a:ext cx="4023360" cy="365760"/>
          </a:xfrm>
          <a:prstGeom prst="rect">
            <a:avLst/>
          </a:prstGeom>
          <a:noFill/>
        </p:spPr>
        <p:txBody>
          <a:bodyPr wrap="square" anchor="t" lIns="0" rIns="0" tIns="0" bIns="0">
            <a:spAutoFit/>
          </a:bodyPr>
          <a:lstStyle/>
          <a:p>
            <a:pPr algn="l"/>
            <a:r>
              <a:rPr sz="1400" b="1" i="0">
                <a:solidFill>
                  <a:srgbClr val="111111"/>
                </a:solidFill>
                <a:latin typeface="Arial"/>
              </a:rPr>
              <a:t>Premier mois de diffusion</a:t>
            </a:r>
          </a:p>
        </p:txBody>
      </p:sp>
      <p:sp>
        <p:nvSpPr>
          <p:cNvPr id="26" name="TextBox 25"/>
          <p:cNvSpPr txBox="1"/>
          <p:nvPr/>
        </p:nvSpPr>
        <p:spPr>
          <a:xfrm>
            <a:off x="6248400" y="4925568"/>
            <a:ext cx="4572000" cy="731520"/>
          </a:xfrm>
          <a:prstGeom prst="rect">
            <a:avLst/>
          </a:prstGeom>
          <a:noFill/>
        </p:spPr>
        <p:txBody>
          <a:bodyPr wrap="square" anchor="t" lIns="0" rIns="0" tIns="0" bIns="0">
            <a:spAutoFit/>
          </a:bodyPr>
          <a:lstStyle/>
          <a:p>
            <a:pPr algn="l"/>
            <a:r>
              <a:rPr sz="1100" b="0" i="0">
                <a:solidFill>
                  <a:srgbClr val="555B66"/>
                </a:solidFill>
                <a:latin typeface="Arial"/>
              </a:rPr>
              <a:t>La campagne génère 374 204 impressions et 1 591 clics en septembre.</a:t>
            </a:r>
          </a:p>
        </p:txBody>
      </p:sp>
      <p:sp>
        <p:nvSpPr>
          <p:cNvPr id="27" name="TextBox 26"/>
          <p:cNvSpPr txBox="1"/>
          <p:nvPr/>
        </p:nvSpPr>
        <p:spPr>
          <a:xfrm>
            <a:off x="6248400" y="5626608"/>
            <a:ext cx="4572000" cy="487680"/>
          </a:xfrm>
          <a:prstGeom prst="rect">
            <a:avLst/>
          </a:prstGeom>
          <a:noFill/>
        </p:spPr>
        <p:txBody>
          <a:bodyPr wrap="square" anchor="t" lIns="0" rIns="0" tIns="0" bIns="0">
            <a:spAutoFit/>
          </a:bodyPr>
          <a:lstStyle/>
          <a:p>
            <a:pPr algn="l"/>
            <a:r>
              <a:rPr sz="900" b="1" i="0">
                <a:solidFill>
                  <a:srgbClr val="555B66"/>
                </a:solidFill>
                <a:latin typeface="Arial"/>
              </a:rPr>
              <a:t>→  Définir un objectif de campagne (inscriptions, visites de la page) pour piloter la suite.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6F2"/>
          </a:solidFill>
          <a:ln>
            <a:noFill/>
          </a:ln>
          <a:effectLst/>
        </p:spPr>
        <p:txBody>
          <a:bodyPr rtlCol="0" anchor="ctr"/>
          <a:lstStyle/>
          <a:p>
            <a:pPr algn="ctr"/>
          </a:p>
        </p:txBody>
      </p:sp>
      <p:sp>
        <p:nvSpPr>
          <p:cNvPr id="3" name="TextBox 2"/>
          <p:cNvSpPr txBox="1"/>
          <p:nvPr/>
        </p:nvSpPr>
        <p:spPr>
          <a:xfrm>
            <a:off x="530352" y="487680"/>
            <a:ext cx="7315200" cy="182880"/>
          </a:xfrm>
          <a:prstGeom prst="rect">
            <a:avLst/>
          </a:prstGeom>
          <a:noFill/>
        </p:spPr>
        <p:txBody>
          <a:bodyPr wrap="square" anchor="t" lIns="0" rIns="0" tIns="0" bIns="0">
            <a:spAutoFit/>
          </a:bodyPr>
          <a:lstStyle/>
          <a:p>
            <a:pPr algn="l"/>
            <a:r>
              <a:rPr sz="1300" b="1" i="0">
                <a:solidFill>
                  <a:srgbClr val="EE6A2C"/>
                </a:solidFill>
                <a:latin typeface="Arial"/>
              </a:rPr>
              <a:t>RAPPORT DE PERFORMANCE · 01/09/2026 → 30/09/2026</a:t>
            </a:r>
          </a:p>
        </p:txBody>
      </p:sp>
      <p:sp>
        <p:nvSpPr>
          <p:cNvPr id="4" name="TextBox 3"/>
          <p:cNvSpPr txBox="1"/>
          <p:nvPr/>
        </p:nvSpPr>
        <p:spPr>
          <a:xfrm>
            <a:off x="530352" y="640080"/>
            <a:ext cx="7315200" cy="487680"/>
          </a:xfrm>
          <a:prstGeom prst="rect">
            <a:avLst/>
          </a:prstGeom>
          <a:noFill/>
        </p:spPr>
        <p:txBody>
          <a:bodyPr wrap="square" anchor="t" lIns="0" rIns="0" tIns="0" bIns="0">
            <a:spAutoFit/>
          </a:bodyPr>
          <a:lstStyle/>
          <a:p>
            <a:pPr algn="l"/>
            <a:r>
              <a:rPr sz="3600" b="1" i="0">
                <a:solidFill>
                  <a:srgbClr val="111111"/>
                </a:solidFill>
                <a:latin typeface="Arial"/>
              </a:rPr>
              <a:t>FidMe</a:t>
            </a:r>
          </a:p>
        </p:txBody>
      </p:sp>
      <p:sp>
        <p:nvSpPr>
          <p:cNvPr id="5" name="TextBox 4"/>
          <p:cNvSpPr txBox="1"/>
          <p:nvPr/>
        </p:nvSpPr>
        <p:spPr>
          <a:xfrm>
            <a:off x="7924800" y="591312"/>
            <a:ext cx="3304032" cy="152400"/>
          </a:xfrm>
          <a:prstGeom prst="rect">
            <a:avLst/>
          </a:prstGeom>
          <a:noFill/>
        </p:spPr>
        <p:txBody>
          <a:bodyPr wrap="square" anchor="t" lIns="0" rIns="0" tIns="0" bIns="0">
            <a:spAutoFit/>
          </a:bodyPr>
          <a:lstStyle/>
          <a:p>
            <a:pPr algn="r"/>
            <a:r>
              <a:rPr sz="1200" b="1" i="0">
                <a:solidFill>
                  <a:srgbClr val="8A93A6"/>
                </a:solidFill>
                <a:latin typeface="Arial"/>
              </a:rPr>
              <a:t>COMPARAISON</a:t>
            </a:r>
          </a:p>
        </p:txBody>
      </p:sp>
      <p:sp>
        <p:nvSpPr>
          <p:cNvPr id="6" name="TextBox 5"/>
          <p:cNvSpPr txBox="1"/>
          <p:nvPr/>
        </p:nvSpPr>
        <p:spPr>
          <a:xfrm>
            <a:off x="7924800" y="780288"/>
            <a:ext cx="3304032" cy="182880"/>
          </a:xfrm>
          <a:prstGeom prst="rect">
            <a:avLst/>
          </a:prstGeom>
          <a:noFill/>
        </p:spPr>
        <p:txBody>
          <a:bodyPr wrap="square" anchor="t" lIns="0" rIns="0" tIns="0" bIns="0">
            <a:spAutoFit/>
          </a:bodyPr>
          <a:lstStyle/>
          <a:p>
            <a:pPr algn="r"/>
            <a:r>
              <a:rPr sz="1500" b="1" i="0">
                <a:solidFill>
                  <a:srgbClr val="111111"/>
                </a:solidFill>
                <a:latin typeface="Arial"/>
              </a:rPr>
              <a:t>vs 01/08/2026 → 31/08/2026</a:t>
            </a:r>
          </a:p>
        </p:txBody>
      </p:sp>
      <p:sp>
        <p:nvSpPr>
          <p:cNvPr id="7" name="TextBox 6"/>
          <p:cNvSpPr txBox="1"/>
          <p:nvPr/>
        </p:nvSpPr>
        <p:spPr>
          <a:xfrm>
            <a:off x="530352" y="1280160"/>
            <a:ext cx="2438400" cy="182880"/>
          </a:xfrm>
          <a:prstGeom prst="rect">
            <a:avLst/>
          </a:prstGeom>
          <a:noFill/>
        </p:spPr>
        <p:txBody>
          <a:bodyPr wrap="square" anchor="t" lIns="0" rIns="0" tIns="0" bIns="0">
            <a:spAutoFit/>
          </a:bodyPr>
          <a:lstStyle/>
          <a:p>
            <a:pPr algn="l"/>
            <a:r>
              <a:rPr sz="1400" b="1" i="0">
                <a:solidFill>
                  <a:srgbClr val="EE6A2C"/>
                </a:solidFill>
                <a:latin typeface="Arial"/>
              </a:rPr>
              <a:t>DIFFUSION</a:t>
            </a:r>
          </a:p>
        </p:txBody>
      </p:sp>
      <p:sp>
        <p:nvSpPr>
          <p:cNvPr id="8" name="TextBox 7"/>
          <p:cNvSpPr txBox="1"/>
          <p:nvPr/>
        </p:nvSpPr>
        <p:spPr>
          <a:xfrm>
            <a:off x="2389632" y="1280160"/>
            <a:ext cx="2438400" cy="182880"/>
          </a:xfrm>
          <a:prstGeom prst="rect">
            <a:avLst/>
          </a:prstGeom>
          <a:noFill/>
        </p:spPr>
        <p:txBody>
          <a:bodyPr wrap="square" anchor="t" lIns="0" rIns="0" tIns="0" bIns="0">
            <a:spAutoFit/>
          </a:bodyPr>
          <a:lstStyle/>
          <a:p>
            <a:pPr algn="l"/>
            <a:r>
              <a:rPr sz="1400" b="1" i="0">
                <a:solidFill>
                  <a:srgbClr val="EE6A2C"/>
                </a:solidFill>
                <a:latin typeface="Arial"/>
              </a:rPr>
              <a:t>ENGAGEMENT</a:t>
            </a:r>
          </a:p>
        </p:txBody>
      </p:sp>
      <p:sp>
        <p:nvSpPr>
          <p:cNvPr id="9" name="TextBox 8"/>
          <p:cNvSpPr txBox="1"/>
          <p:nvPr/>
        </p:nvSpPr>
        <p:spPr>
          <a:xfrm>
            <a:off x="6108192" y="1280160"/>
            <a:ext cx="2438400" cy="182880"/>
          </a:xfrm>
          <a:prstGeom prst="rect">
            <a:avLst/>
          </a:prstGeom>
          <a:noFill/>
        </p:spPr>
        <p:txBody>
          <a:bodyPr wrap="square" anchor="t" lIns="0" rIns="0" tIns="0" bIns="0">
            <a:spAutoFit/>
          </a:bodyPr>
          <a:lstStyle/>
          <a:p>
            <a:pPr algn="l"/>
            <a:r>
              <a:rPr sz="1400" b="1" i="0">
                <a:solidFill>
                  <a:srgbClr val="EE6A2C"/>
                </a:solidFill>
                <a:latin typeface="Arial"/>
              </a:rPr>
              <a:t>CONVERSION</a:t>
            </a:r>
          </a:p>
        </p:txBody>
      </p:sp>
      <p:sp>
        <p:nvSpPr>
          <p:cNvPr id="10" name="Rectangle 9"/>
          <p:cNvSpPr/>
          <p:nvPr/>
        </p:nvSpPr>
        <p:spPr>
          <a:xfrm>
            <a:off x="530352" y="1536192"/>
            <a:ext cx="1389888" cy="1127760"/>
          </a:xfrm>
          <a:prstGeom prst="rect">
            <a:avLst/>
          </a:prstGeom>
          <a:solidFill>
            <a:srgbClr val="FFFFFF"/>
          </a:solidFill>
          <a:ln>
            <a:noFill/>
          </a:ln>
          <a:effectLst/>
        </p:spPr>
        <p:txBody>
          <a:bodyPr rtlCol="0" anchor="ctr"/>
          <a:lstStyle/>
          <a:p>
            <a:pPr algn="ctr"/>
          </a:p>
        </p:txBody>
      </p:sp>
      <p:sp>
        <p:nvSpPr>
          <p:cNvPr id="11" name="Rectangle 10"/>
          <p:cNvSpPr/>
          <p:nvPr/>
        </p:nvSpPr>
        <p:spPr>
          <a:xfrm>
            <a:off x="530352" y="1536192"/>
            <a:ext cx="24384" cy="1127760"/>
          </a:xfrm>
          <a:prstGeom prst="rect">
            <a:avLst/>
          </a:prstGeom>
          <a:solidFill>
            <a:srgbClr val="EE6A2C"/>
          </a:solidFill>
          <a:ln>
            <a:noFill/>
          </a:ln>
          <a:effectLst/>
        </p:spPr>
        <p:txBody>
          <a:bodyPr rtlCol="0" anchor="ctr"/>
          <a:lstStyle/>
          <a:p>
            <a:pPr algn="ctr"/>
          </a:p>
        </p:txBody>
      </p:sp>
      <p:sp>
        <p:nvSpPr>
          <p:cNvPr id="12" name="TextBox 11"/>
          <p:cNvSpPr txBox="1"/>
          <p:nvPr/>
        </p:nvSpPr>
        <p:spPr>
          <a:xfrm>
            <a:off x="664464" y="1615440"/>
            <a:ext cx="1219200" cy="121920"/>
          </a:xfrm>
          <a:prstGeom prst="rect">
            <a:avLst/>
          </a:prstGeom>
          <a:noFill/>
        </p:spPr>
        <p:txBody>
          <a:bodyPr wrap="square" anchor="t" lIns="0" rIns="0" tIns="0" bIns="0">
            <a:spAutoFit/>
          </a:bodyPr>
          <a:lstStyle/>
          <a:p>
            <a:pPr algn="l"/>
            <a:r>
              <a:rPr sz="1000" b="1" i="0">
                <a:solidFill>
                  <a:srgbClr val="555B66"/>
                </a:solidFill>
                <a:latin typeface="Arial"/>
              </a:rPr>
              <a:t>IMPRESSIONS</a:t>
            </a:r>
          </a:p>
        </p:txBody>
      </p:sp>
      <p:sp>
        <p:nvSpPr>
          <p:cNvPr id="13" name="TextBox 12"/>
          <p:cNvSpPr txBox="1"/>
          <p:nvPr/>
        </p:nvSpPr>
        <p:spPr>
          <a:xfrm>
            <a:off x="664464" y="1889760"/>
            <a:ext cx="1219200" cy="274320"/>
          </a:xfrm>
          <a:prstGeom prst="rect">
            <a:avLst/>
          </a:prstGeom>
          <a:noFill/>
        </p:spPr>
        <p:txBody>
          <a:bodyPr wrap="square" anchor="t" lIns="0" rIns="0" tIns="0" bIns="0">
            <a:spAutoFit/>
          </a:bodyPr>
          <a:lstStyle/>
          <a:p>
            <a:pPr algn="l"/>
            <a:r>
              <a:rPr sz="2200" b="1" i="0">
                <a:solidFill>
                  <a:srgbClr val="111111"/>
                </a:solidFill>
                <a:latin typeface="Arial"/>
              </a:rPr>
              <a:t>705 558</a:t>
            </a:r>
          </a:p>
        </p:txBody>
      </p:sp>
      <p:sp>
        <p:nvSpPr>
          <p:cNvPr id="14" name="TextBox 13"/>
          <p:cNvSpPr txBox="1"/>
          <p:nvPr/>
        </p:nvSpPr>
        <p:spPr>
          <a:xfrm>
            <a:off x="664464" y="2243328"/>
            <a:ext cx="1219200" cy="109728"/>
          </a:xfrm>
          <a:prstGeom prst="rect">
            <a:avLst/>
          </a:prstGeom>
          <a:noFill/>
        </p:spPr>
        <p:txBody>
          <a:bodyPr wrap="square" anchor="t" lIns="0" rIns="0" tIns="0" bIns="0">
            <a:spAutoFit/>
          </a:bodyPr>
          <a:lstStyle/>
          <a:p>
            <a:pPr algn="l"/>
            <a:r>
              <a:rPr sz="1000" b="1" i="0">
                <a:solidFill>
                  <a:srgbClr val="1E7B34"/>
                </a:solidFill>
                <a:latin typeface="Arial"/>
              </a:rPr>
              <a:t>▲ +16 %</a:t>
            </a:r>
          </a:p>
        </p:txBody>
      </p:sp>
      <p:sp>
        <p:nvSpPr>
          <p:cNvPr id="15" name="TextBox 14"/>
          <p:cNvSpPr txBox="1"/>
          <p:nvPr/>
        </p:nvSpPr>
        <p:spPr>
          <a:xfrm>
            <a:off x="664464" y="2499360"/>
            <a:ext cx="1219200" cy="91440"/>
          </a:xfrm>
          <a:prstGeom prst="rect">
            <a:avLst/>
          </a:prstGeom>
          <a:noFill/>
        </p:spPr>
        <p:txBody>
          <a:bodyPr wrap="square" anchor="t" lIns="0" rIns="0" tIns="0" bIns="0">
            <a:spAutoFit/>
          </a:bodyPr>
          <a:lstStyle/>
          <a:p>
            <a:pPr algn="l"/>
            <a:r>
              <a:rPr sz="800" b="0" i="1">
                <a:solidFill>
                  <a:srgbClr val="555B66"/>
                </a:solidFill>
                <a:latin typeface="Arial"/>
              </a:rPr>
              <a:t>YTD 3 385 630</a:t>
            </a:r>
          </a:p>
        </p:txBody>
      </p:sp>
      <p:sp>
        <p:nvSpPr>
          <p:cNvPr id="16" name="Rectangle 15"/>
          <p:cNvSpPr/>
          <p:nvPr/>
        </p:nvSpPr>
        <p:spPr>
          <a:xfrm>
            <a:off x="2389632" y="1536192"/>
            <a:ext cx="1389888" cy="1127760"/>
          </a:xfrm>
          <a:prstGeom prst="rect">
            <a:avLst/>
          </a:prstGeom>
          <a:solidFill>
            <a:srgbClr val="FFFFFF"/>
          </a:solidFill>
          <a:ln>
            <a:noFill/>
          </a:ln>
          <a:effectLst/>
        </p:spPr>
        <p:txBody>
          <a:bodyPr rtlCol="0" anchor="ctr"/>
          <a:lstStyle/>
          <a:p>
            <a:pPr algn="ctr"/>
          </a:p>
        </p:txBody>
      </p:sp>
      <p:sp>
        <p:nvSpPr>
          <p:cNvPr id="17" name="Rectangle 16"/>
          <p:cNvSpPr/>
          <p:nvPr/>
        </p:nvSpPr>
        <p:spPr>
          <a:xfrm>
            <a:off x="2389632" y="1536192"/>
            <a:ext cx="24384" cy="1127760"/>
          </a:xfrm>
          <a:prstGeom prst="rect">
            <a:avLst/>
          </a:prstGeom>
          <a:solidFill>
            <a:srgbClr val="EE6A2C"/>
          </a:solidFill>
          <a:ln>
            <a:noFill/>
          </a:ln>
          <a:effectLst/>
        </p:spPr>
        <p:txBody>
          <a:bodyPr rtlCol="0" anchor="ctr"/>
          <a:lstStyle/>
          <a:p>
            <a:pPr algn="ctr"/>
          </a:p>
        </p:txBody>
      </p:sp>
      <p:sp>
        <p:nvSpPr>
          <p:cNvPr id="18" name="TextBox 17"/>
          <p:cNvSpPr txBox="1"/>
          <p:nvPr/>
        </p:nvSpPr>
        <p:spPr>
          <a:xfrm>
            <a:off x="2523744" y="1615440"/>
            <a:ext cx="1219200" cy="121920"/>
          </a:xfrm>
          <a:prstGeom prst="rect">
            <a:avLst/>
          </a:prstGeom>
          <a:noFill/>
        </p:spPr>
        <p:txBody>
          <a:bodyPr wrap="square" anchor="t" lIns="0" rIns="0" tIns="0" bIns="0">
            <a:spAutoFit/>
          </a:bodyPr>
          <a:lstStyle/>
          <a:p>
            <a:pPr algn="l"/>
            <a:r>
              <a:rPr sz="1000" b="1" i="0">
                <a:solidFill>
                  <a:srgbClr val="555B66"/>
                </a:solidFill>
                <a:latin typeface="Arial"/>
              </a:rPr>
              <a:t>CLICS</a:t>
            </a:r>
          </a:p>
        </p:txBody>
      </p:sp>
      <p:sp>
        <p:nvSpPr>
          <p:cNvPr id="19" name="TextBox 18"/>
          <p:cNvSpPr txBox="1"/>
          <p:nvPr/>
        </p:nvSpPr>
        <p:spPr>
          <a:xfrm>
            <a:off x="2523744" y="1889760"/>
            <a:ext cx="1219200" cy="274320"/>
          </a:xfrm>
          <a:prstGeom prst="rect">
            <a:avLst/>
          </a:prstGeom>
          <a:noFill/>
        </p:spPr>
        <p:txBody>
          <a:bodyPr wrap="square" anchor="t" lIns="0" rIns="0" tIns="0" bIns="0">
            <a:spAutoFit/>
          </a:bodyPr>
          <a:lstStyle/>
          <a:p>
            <a:pPr algn="l"/>
            <a:r>
              <a:rPr sz="2200" b="1" i="0">
                <a:solidFill>
                  <a:srgbClr val="111111"/>
                </a:solidFill>
                <a:latin typeface="Arial"/>
              </a:rPr>
              <a:t>3 086</a:t>
            </a:r>
          </a:p>
        </p:txBody>
      </p:sp>
      <p:sp>
        <p:nvSpPr>
          <p:cNvPr id="20" name="TextBox 19"/>
          <p:cNvSpPr txBox="1"/>
          <p:nvPr/>
        </p:nvSpPr>
        <p:spPr>
          <a:xfrm>
            <a:off x="2523744" y="2243328"/>
            <a:ext cx="1219200" cy="109728"/>
          </a:xfrm>
          <a:prstGeom prst="rect">
            <a:avLst/>
          </a:prstGeom>
          <a:noFill/>
        </p:spPr>
        <p:txBody>
          <a:bodyPr wrap="square" anchor="t" lIns="0" rIns="0" tIns="0" bIns="0">
            <a:spAutoFit/>
          </a:bodyPr>
          <a:lstStyle/>
          <a:p>
            <a:pPr algn="l"/>
            <a:r>
              <a:rPr sz="1000" b="1" i="0">
                <a:solidFill>
                  <a:srgbClr val="1E7B34"/>
                </a:solidFill>
                <a:latin typeface="Arial"/>
              </a:rPr>
              <a:t>▲ +124 %</a:t>
            </a:r>
          </a:p>
        </p:txBody>
      </p:sp>
      <p:sp>
        <p:nvSpPr>
          <p:cNvPr id="21" name="TextBox 20"/>
          <p:cNvSpPr txBox="1"/>
          <p:nvPr/>
        </p:nvSpPr>
        <p:spPr>
          <a:xfrm>
            <a:off x="2523744" y="2499360"/>
            <a:ext cx="1219200" cy="91440"/>
          </a:xfrm>
          <a:prstGeom prst="rect">
            <a:avLst/>
          </a:prstGeom>
          <a:noFill/>
        </p:spPr>
        <p:txBody>
          <a:bodyPr wrap="square" anchor="t" lIns="0" rIns="0" tIns="0" bIns="0">
            <a:spAutoFit/>
          </a:bodyPr>
          <a:lstStyle/>
          <a:p>
            <a:pPr algn="l"/>
            <a:r>
              <a:rPr sz="800" b="0" i="1">
                <a:solidFill>
                  <a:srgbClr val="555B66"/>
                </a:solidFill>
                <a:latin typeface="Arial"/>
              </a:rPr>
              <a:t>YTD 8 342</a:t>
            </a:r>
          </a:p>
        </p:txBody>
      </p:sp>
      <p:sp>
        <p:nvSpPr>
          <p:cNvPr id="22" name="Rectangle 21"/>
          <p:cNvSpPr/>
          <p:nvPr/>
        </p:nvSpPr>
        <p:spPr>
          <a:xfrm>
            <a:off x="4248912" y="1536192"/>
            <a:ext cx="1389888" cy="1127760"/>
          </a:xfrm>
          <a:prstGeom prst="rect">
            <a:avLst/>
          </a:prstGeom>
          <a:solidFill>
            <a:srgbClr val="FFFFFF"/>
          </a:solidFill>
          <a:ln>
            <a:noFill/>
          </a:ln>
          <a:effectLst/>
        </p:spPr>
        <p:txBody>
          <a:bodyPr rtlCol="0" anchor="ctr"/>
          <a:lstStyle/>
          <a:p>
            <a:pPr algn="ctr"/>
          </a:p>
        </p:txBody>
      </p:sp>
      <p:sp>
        <p:nvSpPr>
          <p:cNvPr id="23" name="Rectangle 22"/>
          <p:cNvSpPr/>
          <p:nvPr/>
        </p:nvSpPr>
        <p:spPr>
          <a:xfrm>
            <a:off x="4248912" y="1536192"/>
            <a:ext cx="24384" cy="1127760"/>
          </a:xfrm>
          <a:prstGeom prst="rect">
            <a:avLst/>
          </a:prstGeom>
          <a:solidFill>
            <a:srgbClr val="EE6A2C"/>
          </a:solidFill>
          <a:ln>
            <a:noFill/>
          </a:ln>
          <a:effectLst/>
        </p:spPr>
        <p:txBody>
          <a:bodyPr rtlCol="0" anchor="ctr"/>
          <a:lstStyle/>
          <a:p>
            <a:pPr algn="ctr"/>
          </a:p>
        </p:txBody>
      </p:sp>
      <p:sp>
        <p:nvSpPr>
          <p:cNvPr id="24" name="TextBox 23"/>
          <p:cNvSpPr txBox="1"/>
          <p:nvPr/>
        </p:nvSpPr>
        <p:spPr>
          <a:xfrm>
            <a:off x="4383024" y="1615440"/>
            <a:ext cx="1219200" cy="121920"/>
          </a:xfrm>
          <a:prstGeom prst="rect">
            <a:avLst/>
          </a:prstGeom>
          <a:noFill/>
        </p:spPr>
        <p:txBody>
          <a:bodyPr wrap="square" anchor="t" lIns="0" rIns="0" tIns="0" bIns="0">
            <a:spAutoFit/>
          </a:bodyPr>
          <a:lstStyle/>
          <a:p>
            <a:pPr algn="l"/>
            <a:r>
              <a:rPr sz="1000" b="1" i="0">
                <a:solidFill>
                  <a:srgbClr val="555B66"/>
                </a:solidFill>
                <a:latin typeface="Arial"/>
              </a:rPr>
              <a:t>CTR</a:t>
            </a:r>
          </a:p>
        </p:txBody>
      </p:sp>
      <p:sp>
        <p:nvSpPr>
          <p:cNvPr id="25" name="TextBox 24"/>
          <p:cNvSpPr txBox="1"/>
          <p:nvPr/>
        </p:nvSpPr>
        <p:spPr>
          <a:xfrm>
            <a:off x="4383024" y="1889760"/>
            <a:ext cx="1219200" cy="274320"/>
          </a:xfrm>
          <a:prstGeom prst="rect">
            <a:avLst/>
          </a:prstGeom>
          <a:noFill/>
        </p:spPr>
        <p:txBody>
          <a:bodyPr wrap="square" anchor="t" lIns="0" rIns="0" tIns="0" bIns="0">
            <a:spAutoFit/>
          </a:bodyPr>
          <a:lstStyle/>
          <a:p>
            <a:pPr algn="l"/>
            <a:r>
              <a:rPr sz="2200" b="1" i="0">
                <a:solidFill>
                  <a:srgbClr val="111111"/>
                </a:solidFill>
                <a:latin typeface="Arial"/>
              </a:rPr>
              <a:t>0,44 %</a:t>
            </a:r>
          </a:p>
        </p:txBody>
      </p:sp>
      <p:sp>
        <p:nvSpPr>
          <p:cNvPr id="26" name="TextBox 25"/>
          <p:cNvSpPr txBox="1"/>
          <p:nvPr/>
        </p:nvSpPr>
        <p:spPr>
          <a:xfrm>
            <a:off x="4383024" y="2243328"/>
            <a:ext cx="1219200" cy="109728"/>
          </a:xfrm>
          <a:prstGeom prst="rect">
            <a:avLst/>
          </a:prstGeom>
          <a:noFill/>
        </p:spPr>
        <p:txBody>
          <a:bodyPr wrap="square" anchor="t" lIns="0" rIns="0" tIns="0" bIns="0">
            <a:spAutoFit/>
          </a:bodyPr>
          <a:lstStyle/>
          <a:p>
            <a:pPr algn="l"/>
            <a:r>
              <a:rPr sz="1000" b="1" i="0">
                <a:solidFill>
                  <a:srgbClr val="1E7B34"/>
                </a:solidFill>
                <a:latin typeface="Arial"/>
              </a:rPr>
              <a:t>▲ +0,21 pt</a:t>
            </a:r>
          </a:p>
        </p:txBody>
      </p:sp>
      <p:sp>
        <p:nvSpPr>
          <p:cNvPr id="27" name="TextBox 26"/>
          <p:cNvSpPr txBox="1"/>
          <p:nvPr/>
        </p:nvSpPr>
        <p:spPr>
          <a:xfrm>
            <a:off x="4383024" y="2499360"/>
            <a:ext cx="1219200" cy="91440"/>
          </a:xfrm>
          <a:prstGeom prst="rect">
            <a:avLst/>
          </a:prstGeom>
          <a:noFill/>
        </p:spPr>
        <p:txBody>
          <a:bodyPr wrap="square" anchor="t" lIns="0" rIns="0" tIns="0" bIns="0">
            <a:spAutoFit/>
          </a:bodyPr>
          <a:lstStyle/>
          <a:p>
            <a:pPr algn="l"/>
            <a:r>
              <a:rPr sz="800" b="0" i="1">
                <a:solidFill>
                  <a:srgbClr val="555B66"/>
                </a:solidFill>
                <a:latin typeface="Arial"/>
              </a:rPr>
              <a:t>YTD 0,25 %</a:t>
            </a:r>
          </a:p>
        </p:txBody>
      </p:sp>
      <p:sp>
        <p:nvSpPr>
          <p:cNvPr id="28" name="Rectangle 27"/>
          <p:cNvSpPr/>
          <p:nvPr/>
        </p:nvSpPr>
        <p:spPr>
          <a:xfrm>
            <a:off x="6108192" y="1536192"/>
            <a:ext cx="1389888" cy="1127760"/>
          </a:xfrm>
          <a:prstGeom prst="rect">
            <a:avLst/>
          </a:prstGeom>
          <a:solidFill>
            <a:srgbClr val="F1EFEB"/>
          </a:solidFill>
          <a:ln>
            <a:noFill/>
          </a:ln>
          <a:effectLst/>
        </p:spPr>
        <p:txBody>
          <a:bodyPr rtlCol="0" anchor="ctr"/>
          <a:lstStyle/>
          <a:p>
            <a:pPr algn="ctr"/>
          </a:p>
        </p:txBody>
      </p:sp>
      <p:sp>
        <p:nvSpPr>
          <p:cNvPr id="29" name="Rounded Rectangle 28"/>
          <p:cNvSpPr/>
          <p:nvPr/>
        </p:nvSpPr>
        <p:spPr>
          <a:xfrm>
            <a:off x="6827520" y="1450848"/>
            <a:ext cx="609600" cy="170688"/>
          </a:xfrm>
          <a:prstGeom prst="roundRect">
            <a:avLst>
              <a:gd name="adj" fmla="val 50000"/>
            </a:avLst>
          </a:prstGeom>
          <a:solidFill>
            <a:srgbClr val="D9D6D1"/>
          </a:solidFill>
          <a:ln>
            <a:noFill/>
          </a:ln>
          <a:effectLst/>
        </p:spPr>
        <p:txBody>
          <a:bodyPr rtlCol="0" anchor="ctr"/>
          <a:lstStyle/>
          <a:p>
            <a:pPr algn="ctr"/>
          </a:p>
        </p:txBody>
      </p:sp>
      <p:sp>
        <p:nvSpPr>
          <p:cNvPr id="30" name="TextBox 29"/>
          <p:cNvSpPr txBox="1"/>
          <p:nvPr/>
        </p:nvSpPr>
        <p:spPr>
          <a:xfrm>
            <a:off x="6827520" y="1450848"/>
            <a:ext cx="609600" cy="170688"/>
          </a:xfrm>
          <a:prstGeom prst="rect">
            <a:avLst/>
          </a:prstGeom>
          <a:noFill/>
        </p:spPr>
        <p:txBody>
          <a:bodyPr wrap="square" anchor="ctr" lIns="0" rIns="0" tIns="0" bIns="0">
            <a:spAutoFit/>
          </a:bodyPr>
          <a:lstStyle/>
          <a:p>
            <a:pPr algn="ctr"/>
            <a:r>
              <a:rPr sz="800" b="1" i="0">
                <a:solidFill>
                  <a:srgbClr val="555B66"/>
                </a:solidFill>
                <a:latin typeface="Arial"/>
              </a:rPr>
              <a:t>INDICATIF</a:t>
            </a:r>
          </a:p>
        </p:txBody>
      </p:sp>
      <p:sp>
        <p:nvSpPr>
          <p:cNvPr id="31" name="TextBox 30"/>
          <p:cNvSpPr txBox="1"/>
          <p:nvPr/>
        </p:nvSpPr>
        <p:spPr>
          <a:xfrm>
            <a:off x="6242304" y="1706880"/>
            <a:ext cx="1219200" cy="121920"/>
          </a:xfrm>
          <a:prstGeom prst="rect">
            <a:avLst/>
          </a:prstGeom>
          <a:noFill/>
        </p:spPr>
        <p:txBody>
          <a:bodyPr wrap="square" anchor="t" lIns="0" rIns="0" tIns="0" bIns="0">
            <a:spAutoFit/>
          </a:bodyPr>
          <a:lstStyle/>
          <a:p>
            <a:pPr algn="l"/>
            <a:r>
              <a:rPr sz="1000" b="1" i="0">
                <a:solidFill>
                  <a:srgbClr val="8A93A6"/>
                </a:solidFill>
                <a:latin typeface="Arial"/>
              </a:rPr>
              <a:t>CONVERSIONS</a:t>
            </a:r>
          </a:p>
        </p:txBody>
      </p:sp>
      <p:sp>
        <p:nvSpPr>
          <p:cNvPr id="32" name="TextBox 31"/>
          <p:cNvSpPr txBox="1"/>
          <p:nvPr/>
        </p:nvSpPr>
        <p:spPr>
          <a:xfrm>
            <a:off x="6242304" y="1889760"/>
            <a:ext cx="1219200" cy="274320"/>
          </a:xfrm>
          <a:prstGeom prst="rect">
            <a:avLst/>
          </a:prstGeom>
          <a:noFill/>
        </p:spPr>
        <p:txBody>
          <a:bodyPr wrap="square" anchor="t" lIns="0" rIns="0" tIns="0" bIns="0">
            <a:spAutoFit/>
          </a:bodyPr>
          <a:lstStyle/>
          <a:p>
            <a:pPr algn="l"/>
            <a:r>
              <a:rPr sz="2200" b="1" i="0">
                <a:solidFill>
                  <a:srgbClr val="8A93A6"/>
                </a:solidFill>
                <a:latin typeface="Arial"/>
              </a:rPr>
              <a:t>N/C</a:t>
            </a:r>
          </a:p>
        </p:txBody>
      </p:sp>
      <p:sp>
        <p:nvSpPr>
          <p:cNvPr id="33" name="TextBox 32"/>
          <p:cNvSpPr txBox="1"/>
          <p:nvPr/>
        </p:nvSpPr>
        <p:spPr>
          <a:xfrm>
            <a:off x="6242304" y="2243328"/>
            <a:ext cx="1219200" cy="109728"/>
          </a:xfrm>
          <a:prstGeom prst="rect">
            <a:avLst/>
          </a:prstGeom>
          <a:noFill/>
        </p:spPr>
        <p:txBody>
          <a:bodyPr wrap="square" anchor="t" lIns="0" rIns="0" tIns="0" bIns="0">
            <a:spAutoFit/>
          </a:bodyPr>
          <a:lstStyle/>
          <a:p>
            <a:pPr algn="l"/>
            <a:r>
              <a:rPr sz="1000" b="1" i="0">
                <a:solidFill>
                  <a:srgbClr val="8A93A6"/>
                </a:solidFill>
                <a:latin typeface="Arial"/>
              </a:rPr>
              <a:t>—</a:t>
            </a:r>
          </a:p>
        </p:txBody>
      </p:sp>
      <p:sp>
        <p:nvSpPr>
          <p:cNvPr id="34" name="TextBox 33"/>
          <p:cNvSpPr txBox="1"/>
          <p:nvPr/>
        </p:nvSpPr>
        <p:spPr>
          <a:xfrm>
            <a:off x="6242304" y="2499360"/>
            <a:ext cx="1219200" cy="91440"/>
          </a:xfrm>
          <a:prstGeom prst="rect">
            <a:avLst/>
          </a:prstGeom>
          <a:noFill/>
        </p:spPr>
        <p:txBody>
          <a:bodyPr wrap="square" anchor="t" lIns="0" rIns="0" tIns="0" bIns="0">
            <a:spAutoFit/>
          </a:bodyPr>
          <a:lstStyle/>
          <a:p>
            <a:pPr algn="l"/>
            <a:r>
              <a:rPr sz="800" b="0" i="1">
                <a:solidFill>
                  <a:srgbClr val="8A93A6"/>
                </a:solidFill>
                <a:latin typeface="Arial"/>
              </a:rPr>
              <a:t>YTD —</a:t>
            </a:r>
          </a:p>
        </p:txBody>
      </p:sp>
      <p:sp>
        <p:nvSpPr>
          <p:cNvPr id="35" name="Rectangle 34"/>
          <p:cNvSpPr/>
          <p:nvPr/>
        </p:nvSpPr>
        <p:spPr>
          <a:xfrm>
            <a:off x="7967472" y="1536192"/>
            <a:ext cx="1389888" cy="1127760"/>
          </a:xfrm>
          <a:prstGeom prst="rect">
            <a:avLst/>
          </a:prstGeom>
          <a:solidFill>
            <a:srgbClr val="F1EFEB"/>
          </a:solidFill>
          <a:ln>
            <a:noFill/>
          </a:ln>
          <a:effectLst/>
        </p:spPr>
        <p:txBody>
          <a:bodyPr rtlCol="0" anchor="ctr"/>
          <a:lstStyle/>
          <a:p>
            <a:pPr algn="ctr"/>
          </a:p>
        </p:txBody>
      </p:sp>
      <p:sp>
        <p:nvSpPr>
          <p:cNvPr id="36" name="Rounded Rectangle 35"/>
          <p:cNvSpPr/>
          <p:nvPr/>
        </p:nvSpPr>
        <p:spPr>
          <a:xfrm>
            <a:off x="8686800" y="1450848"/>
            <a:ext cx="609600" cy="170688"/>
          </a:xfrm>
          <a:prstGeom prst="roundRect">
            <a:avLst>
              <a:gd name="adj" fmla="val 50000"/>
            </a:avLst>
          </a:prstGeom>
          <a:solidFill>
            <a:srgbClr val="D9D6D1"/>
          </a:solidFill>
          <a:ln>
            <a:noFill/>
          </a:ln>
          <a:effectLst/>
        </p:spPr>
        <p:txBody>
          <a:bodyPr rtlCol="0" anchor="ctr"/>
          <a:lstStyle/>
          <a:p>
            <a:pPr algn="ctr"/>
          </a:p>
        </p:txBody>
      </p:sp>
      <p:sp>
        <p:nvSpPr>
          <p:cNvPr id="37" name="TextBox 36"/>
          <p:cNvSpPr txBox="1"/>
          <p:nvPr/>
        </p:nvSpPr>
        <p:spPr>
          <a:xfrm>
            <a:off x="8686800" y="1450848"/>
            <a:ext cx="609600" cy="170688"/>
          </a:xfrm>
          <a:prstGeom prst="rect">
            <a:avLst/>
          </a:prstGeom>
          <a:noFill/>
        </p:spPr>
        <p:txBody>
          <a:bodyPr wrap="square" anchor="ctr" lIns="0" rIns="0" tIns="0" bIns="0">
            <a:spAutoFit/>
          </a:bodyPr>
          <a:lstStyle/>
          <a:p>
            <a:pPr algn="ctr"/>
            <a:r>
              <a:rPr sz="800" b="1" i="0">
                <a:solidFill>
                  <a:srgbClr val="555B66"/>
                </a:solidFill>
                <a:latin typeface="Arial"/>
              </a:rPr>
              <a:t>INDICATIF</a:t>
            </a:r>
          </a:p>
        </p:txBody>
      </p:sp>
      <p:sp>
        <p:nvSpPr>
          <p:cNvPr id="38" name="TextBox 37"/>
          <p:cNvSpPr txBox="1"/>
          <p:nvPr/>
        </p:nvSpPr>
        <p:spPr>
          <a:xfrm>
            <a:off x="8101584" y="1706880"/>
            <a:ext cx="1219200" cy="121920"/>
          </a:xfrm>
          <a:prstGeom prst="rect">
            <a:avLst/>
          </a:prstGeom>
          <a:noFill/>
        </p:spPr>
        <p:txBody>
          <a:bodyPr wrap="square" anchor="t" lIns="0" rIns="0" tIns="0" bIns="0">
            <a:spAutoFit/>
          </a:bodyPr>
          <a:lstStyle/>
          <a:p>
            <a:pPr algn="l"/>
            <a:r>
              <a:rPr sz="1000" b="1" i="0">
                <a:solidFill>
                  <a:srgbClr val="8A93A6"/>
                </a:solidFill>
                <a:latin typeface="Arial"/>
              </a:rPr>
              <a:t>CVR</a:t>
            </a:r>
          </a:p>
        </p:txBody>
      </p:sp>
      <p:sp>
        <p:nvSpPr>
          <p:cNvPr id="39" name="TextBox 38"/>
          <p:cNvSpPr txBox="1"/>
          <p:nvPr/>
        </p:nvSpPr>
        <p:spPr>
          <a:xfrm>
            <a:off x="8101584" y="1889760"/>
            <a:ext cx="1219200" cy="274320"/>
          </a:xfrm>
          <a:prstGeom prst="rect">
            <a:avLst/>
          </a:prstGeom>
          <a:noFill/>
        </p:spPr>
        <p:txBody>
          <a:bodyPr wrap="square" anchor="t" lIns="0" rIns="0" tIns="0" bIns="0">
            <a:spAutoFit/>
          </a:bodyPr>
          <a:lstStyle/>
          <a:p>
            <a:pPr algn="l"/>
            <a:r>
              <a:rPr sz="2200" b="1" i="0">
                <a:solidFill>
                  <a:srgbClr val="8A93A6"/>
                </a:solidFill>
                <a:latin typeface="Arial"/>
              </a:rPr>
              <a:t>N/C</a:t>
            </a:r>
          </a:p>
        </p:txBody>
      </p:sp>
      <p:sp>
        <p:nvSpPr>
          <p:cNvPr id="40" name="TextBox 39"/>
          <p:cNvSpPr txBox="1"/>
          <p:nvPr/>
        </p:nvSpPr>
        <p:spPr>
          <a:xfrm>
            <a:off x="8101584" y="2243328"/>
            <a:ext cx="1219200" cy="109728"/>
          </a:xfrm>
          <a:prstGeom prst="rect">
            <a:avLst/>
          </a:prstGeom>
          <a:noFill/>
        </p:spPr>
        <p:txBody>
          <a:bodyPr wrap="square" anchor="t" lIns="0" rIns="0" tIns="0" bIns="0">
            <a:spAutoFit/>
          </a:bodyPr>
          <a:lstStyle/>
          <a:p>
            <a:pPr algn="l"/>
            <a:r>
              <a:rPr sz="1000" b="1" i="0">
                <a:solidFill>
                  <a:srgbClr val="8A93A6"/>
                </a:solidFill>
                <a:latin typeface="Arial"/>
              </a:rPr>
              <a:t>—</a:t>
            </a:r>
          </a:p>
        </p:txBody>
      </p:sp>
      <p:sp>
        <p:nvSpPr>
          <p:cNvPr id="41" name="TextBox 40"/>
          <p:cNvSpPr txBox="1"/>
          <p:nvPr/>
        </p:nvSpPr>
        <p:spPr>
          <a:xfrm>
            <a:off x="8101584" y="2499360"/>
            <a:ext cx="1219200" cy="91440"/>
          </a:xfrm>
          <a:prstGeom prst="rect">
            <a:avLst/>
          </a:prstGeom>
          <a:noFill/>
        </p:spPr>
        <p:txBody>
          <a:bodyPr wrap="square" anchor="t" lIns="0" rIns="0" tIns="0" bIns="0">
            <a:spAutoFit/>
          </a:bodyPr>
          <a:lstStyle/>
          <a:p>
            <a:pPr algn="l"/>
            <a:r>
              <a:rPr sz="800" b="0" i="1">
                <a:solidFill>
                  <a:srgbClr val="8A93A6"/>
                </a:solidFill>
                <a:latin typeface="Arial"/>
              </a:rPr>
              <a:t>YTD —</a:t>
            </a:r>
          </a:p>
        </p:txBody>
      </p:sp>
      <p:sp>
        <p:nvSpPr>
          <p:cNvPr id="42" name="Rectangle 41"/>
          <p:cNvSpPr/>
          <p:nvPr/>
        </p:nvSpPr>
        <p:spPr>
          <a:xfrm>
            <a:off x="9826752" y="1536192"/>
            <a:ext cx="1389888" cy="1127760"/>
          </a:xfrm>
          <a:prstGeom prst="rect">
            <a:avLst/>
          </a:prstGeom>
          <a:solidFill>
            <a:srgbClr val="F1EFEB"/>
          </a:solidFill>
          <a:ln>
            <a:noFill/>
          </a:ln>
          <a:effectLst/>
        </p:spPr>
        <p:txBody>
          <a:bodyPr rtlCol="0" anchor="ctr"/>
          <a:lstStyle/>
          <a:p>
            <a:pPr algn="ctr"/>
          </a:p>
        </p:txBody>
      </p:sp>
      <p:sp>
        <p:nvSpPr>
          <p:cNvPr id="43" name="Rounded Rectangle 42"/>
          <p:cNvSpPr/>
          <p:nvPr/>
        </p:nvSpPr>
        <p:spPr>
          <a:xfrm>
            <a:off x="10546080" y="1450848"/>
            <a:ext cx="609600" cy="170688"/>
          </a:xfrm>
          <a:prstGeom prst="roundRect">
            <a:avLst>
              <a:gd name="adj" fmla="val 50000"/>
            </a:avLst>
          </a:prstGeom>
          <a:solidFill>
            <a:srgbClr val="D9D6D1"/>
          </a:solidFill>
          <a:ln>
            <a:noFill/>
          </a:ln>
          <a:effectLst/>
        </p:spPr>
        <p:txBody>
          <a:bodyPr rtlCol="0" anchor="ctr"/>
          <a:lstStyle/>
          <a:p>
            <a:pPr algn="ctr"/>
          </a:p>
        </p:txBody>
      </p:sp>
      <p:sp>
        <p:nvSpPr>
          <p:cNvPr id="44" name="TextBox 43"/>
          <p:cNvSpPr txBox="1"/>
          <p:nvPr/>
        </p:nvSpPr>
        <p:spPr>
          <a:xfrm>
            <a:off x="10546080" y="1450848"/>
            <a:ext cx="609600" cy="170688"/>
          </a:xfrm>
          <a:prstGeom prst="rect">
            <a:avLst/>
          </a:prstGeom>
          <a:noFill/>
        </p:spPr>
        <p:txBody>
          <a:bodyPr wrap="square" anchor="ctr" lIns="0" rIns="0" tIns="0" bIns="0">
            <a:spAutoFit/>
          </a:bodyPr>
          <a:lstStyle/>
          <a:p>
            <a:pPr algn="ctr"/>
            <a:r>
              <a:rPr sz="800" b="1" i="0">
                <a:solidFill>
                  <a:srgbClr val="555B66"/>
                </a:solidFill>
                <a:latin typeface="Arial"/>
              </a:rPr>
              <a:t>INDICATIF</a:t>
            </a:r>
          </a:p>
        </p:txBody>
      </p:sp>
      <p:sp>
        <p:nvSpPr>
          <p:cNvPr id="45" name="TextBox 44"/>
          <p:cNvSpPr txBox="1"/>
          <p:nvPr/>
        </p:nvSpPr>
        <p:spPr>
          <a:xfrm>
            <a:off x="9960864" y="1706880"/>
            <a:ext cx="1219200" cy="121920"/>
          </a:xfrm>
          <a:prstGeom prst="rect">
            <a:avLst/>
          </a:prstGeom>
          <a:noFill/>
        </p:spPr>
        <p:txBody>
          <a:bodyPr wrap="square" anchor="t" lIns="0" rIns="0" tIns="0" bIns="0">
            <a:spAutoFit/>
          </a:bodyPr>
          <a:lstStyle/>
          <a:p>
            <a:pPr algn="l"/>
            <a:r>
              <a:rPr sz="1000" b="1" i="0">
                <a:solidFill>
                  <a:srgbClr val="8A93A6"/>
                </a:solidFill>
                <a:latin typeface="Arial"/>
              </a:rPr>
              <a:t>ROAS</a:t>
            </a:r>
          </a:p>
        </p:txBody>
      </p:sp>
      <p:sp>
        <p:nvSpPr>
          <p:cNvPr id="46" name="TextBox 45"/>
          <p:cNvSpPr txBox="1"/>
          <p:nvPr/>
        </p:nvSpPr>
        <p:spPr>
          <a:xfrm>
            <a:off x="9960864" y="1889760"/>
            <a:ext cx="1219200" cy="274320"/>
          </a:xfrm>
          <a:prstGeom prst="rect">
            <a:avLst/>
          </a:prstGeom>
          <a:noFill/>
        </p:spPr>
        <p:txBody>
          <a:bodyPr wrap="square" anchor="t" lIns="0" rIns="0" tIns="0" bIns="0">
            <a:spAutoFit/>
          </a:bodyPr>
          <a:lstStyle/>
          <a:p>
            <a:pPr algn="l"/>
            <a:r>
              <a:rPr sz="2200" b="1" i="0">
                <a:solidFill>
                  <a:srgbClr val="8A93A6"/>
                </a:solidFill>
                <a:latin typeface="Arial"/>
              </a:rPr>
              <a:t>N/C</a:t>
            </a:r>
          </a:p>
        </p:txBody>
      </p:sp>
      <p:sp>
        <p:nvSpPr>
          <p:cNvPr id="47" name="TextBox 46"/>
          <p:cNvSpPr txBox="1"/>
          <p:nvPr/>
        </p:nvSpPr>
        <p:spPr>
          <a:xfrm>
            <a:off x="9960864" y="2243328"/>
            <a:ext cx="1219200" cy="109728"/>
          </a:xfrm>
          <a:prstGeom prst="rect">
            <a:avLst/>
          </a:prstGeom>
          <a:noFill/>
        </p:spPr>
        <p:txBody>
          <a:bodyPr wrap="square" anchor="t" lIns="0" rIns="0" tIns="0" bIns="0">
            <a:spAutoFit/>
          </a:bodyPr>
          <a:lstStyle/>
          <a:p>
            <a:pPr algn="l"/>
            <a:r>
              <a:rPr sz="1000" b="1" i="0">
                <a:solidFill>
                  <a:srgbClr val="8A93A6"/>
                </a:solidFill>
                <a:latin typeface="Arial"/>
              </a:rPr>
              <a:t>—</a:t>
            </a:r>
          </a:p>
        </p:txBody>
      </p:sp>
      <p:sp>
        <p:nvSpPr>
          <p:cNvPr id="48" name="TextBox 47"/>
          <p:cNvSpPr txBox="1"/>
          <p:nvPr/>
        </p:nvSpPr>
        <p:spPr>
          <a:xfrm>
            <a:off x="9960864" y="2499360"/>
            <a:ext cx="1219200" cy="91440"/>
          </a:xfrm>
          <a:prstGeom prst="rect">
            <a:avLst/>
          </a:prstGeom>
          <a:noFill/>
        </p:spPr>
        <p:txBody>
          <a:bodyPr wrap="square" anchor="t" lIns="0" rIns="0" tIns="0" bIns="0">
            <a:spAutoFit/>
          </a:bodyPr>
          <a:lstStyle/>
          <a:p>
            <a:pPr algn="l"/>
            <a:r>
              <a:rPr sz="800" b="0" i="1">
                <a:solidFill>
                  <a:srgbClr val="8A93A6"/>
                </a:solidFill>
                <a:latin typeface="Arial"/>
              </a:rPr>
              <a:t>YTD —</a:t>
            </a:r>
          </a:p>
        </p:txBody>
      </p:sp>
      <p:sp>
        <p:nvSpPr>
          <p:cNvPr id="49" name="Isosceles Triangle 48"/>
          <p:cNvSpPr/>
          <p:nvPr/>
        </p:nvSpPr>
        <p:spPr>
          <a:xfrm>
            <a:off x="8564880" y="2688336"/>
            <a:ext cx="182880" cy="85344"/>
          </a:xfrm>
          <a:prstGeom prst="triangle">
            <a:avLst/>
          </a:prstGeom>
          <a:solidFill>
            <a:srgbClr val="EBE9E5"/>
          </a:solidFill>
          <a:ln>
            <a:noFill/>
          </a:ln>
          <a:effectLst/>
        </p:spPr>
        <p:txBody>
          <a:bodyPr rtlCol="0" anchor="ctr"/>
          <a:lstStyle/>
          <a:p>
            <a:pPr algn="ctr"/>
          </a:p>
        </p:txBody>
      </p:sp>
      <p:sp>
        <p:nvSpPr>
          <p:cNvPr id="50" name="Rounded Rectangle 49"/>
          <p:cNvSpPr/>
          <p:nvPr/>
        </p:nvSpPr>
        <p:spPr>
          <a:xfrm>
            <a:off x="6108192" y="2773680"/>
            <a:ext cx="5108448" cy="438912"/>
          </a:xfrm>
          <a:prstGeom prst="roundRect">
            <a:avLst>
              <a:gd name="adj" fmla="val 15000"/>
            </a:avLst>
          </a:prstGeom>
          <a:solidFill>
            <a:srgbClr val="EBE9E5"/>
          </a:solidFill>
          <a:ln>
            <a:noFill/>
          </a:ln>
          <a:effectLst/>
        </p:spPr>
        <p:txBody>
          <a:bodyPr rtlCol="0" anchor="ctr"/>
          <a:lstStyle/>
          <a:p>
            <a:pPr algn="ctr"/>
          </a:p>
        </p:txBody>
      </p:sp>
      <p:sp>
        <p:nvSpPr>
          <p:cNvPr id="51" name="TextBox 50"/>
          <p:cNvSpPr txBox="1"/>
          <p:nvPr/>
        </p:nvSpPr>
        <p:spPr>
          <a:xfrm>
            <a:off x="6230112" y="2816352"/>
            <a:ext cx="4864608" cy="365760"/>
          </a:xfrm>
          <a:prstGeom prst="rect">
            <a:avLst/>
          </a:prstGeom>
          <a:noFill/>
        </p:spPr>
        <p:txBody>
          <a:bodyPr wrap="square" anchor="ctr" lIns="0" rIns="0" tIns="0" bIns="0">
            <a:spAutoFit/>
          </a:bodyPr>
          <a:lstStyle/>
          <a:p>
            <a:pPr algn="l"/>
            <a:r>
              <a:rPr sz="900" b="0" i="0">
                <a:solidFill>
                  <a:srgbClr val="555B66"/>
                </a:solidFill>
                <a:latin typeface="Arial"/>
              </a:rPr>
              <a:t>Conversions non mesurées par Lemrock sur cette campagne. Elles seront intégrées à ce rapport à partir de vos données dès leur transmission.</a:t>
            </a:r>
          </a:p>
        </p:txBody>
      </p:sp>
      <p:sp>
        <p:nvSpPr>
          <p:cNvPr id="52" name="TextBox 51"/>
          <p:cNvSpPr txBox="1"/>
          <p:nvPr/>
        </p:nvSpPr>
        <p:spPr>
          <a:xfrm>
            <a:off x="530352" y="3322320"/>
            <a:ext cx="7315200" cy="182880"/>
          </a:xfrm>
          <a:prstGeom prst="rect">
            <a:avLst/>
          </a:prstGeom>
          <a:noFill/>
        </p:spPr>
        <p:txBody>
          <a:bodyPr wrap="square" anchor="t" lIns="0" rIns="0" tIns="0" bIns="0">
            <a:spAutoFit/>
          </a:bodyPr>
          <a:lstStyle/>
          <a:p>
            <a:pPr algn="l"/>
            <a:r>
              <a:rPr sz="1400" b="1" i="0">
                <a:solidFill>
                  <a:srgbClr val="EE6A2C"/>
                </a:solidFill>
                <a:latin typeface="Arial"/>
              </a:rPr>
              <a:t>INSIGHTS QUALITATIFS · ANALYSE DES RECHERCHES</a:t>
            </a:r>
          </a:p>
        </p:txBody>
      </p:sp>
      <p:sp>
        <p:nvSpPr>
          <p:cNvPr id="53" name="Rectangle 52"/>
          <p:cNvSpPr/>
          <p:nvPr/>
        </p:nvSpPr>
        <p:spPr>
          <a:xfrm>
            <a:off x="530352" y="3584448"/>
            <a:ext cx="3401568" cy="2560320"/>
          </a:xfrm>
          <a:prstGeom prst="rect">
            <a:avLst/>
          </a:prstGeom>
          <a:solidFill>
            <a:srgbClr val="FFFFFF"/>
          </a:solidFill>
          <a:ln>
            <a:noFill/>
          </a:ln>
          <a:effectLst/>
        </p:spPr>
        <p:txBody>
          <a:bodyPr rtlCol="0" anchor="ctr"/>
          <a:lstStyle/>
          <a:p>
            <a:pPr algn="ctr"/>
          </a:p>
        </p:txBody>
      </p:sp>
      <p:sp>
        <p:nvSpPr>
          <p:cNvPr id="54" name="Rectangle 53"/>
          <p:cNvSpPr/>
          <p:nvPr/>
        </p:nvSpPr>
        <p:spPr>
          <a:xfrm>
            <a:off x="4194048" y="3584448"/>
            <a:ext cx="3401568" cy="2560320"/>
          </a:xfrm>
          <a:prstGeom prst="rect">
            <a:avLst/>
          </a:prstGeom>
          <a:solidFill>
            <a:srgbClr val="FFFFFF"/>
          </a:solidFill>
          <a:ln>
            <a:noFill/>
          </a:ln>
          <a:effectLst/>
        </p:spPr>
        <p:txBody>
          <a:bodyPr rtlCol="0" anchor="ctr"/>
          <a:lstStyle/>
          <a:p>
            <a:pPr algn="ctr"/>
          </a:p>
        </p:txBody>
      </p:sp>
      <p:sp>
        <p:nvSpPr>
          <p:cNvPr id="55" name="Rectangle 54"/>
          <p:cNvSpPr/>
          <p:nvPr/>
        </p:nvSpPr>
        <p:spPr>
          <a:xfrm>
            <a:off x="7857744" y="3584448"/>
            <a:ext cx="3401568" cy="2560320"/>
          </a:xfrm>
          <a:prstGeom prst="rect">
            <a:avLst/>
          </a:prstGeom>
          <a:solidFill>
            <a:srgbClr val="FFFFFF"/>
          </a:solidFill>
          <a:ln>
            <a:noFill/>
          </a:ln>
          <a:effectLst/>
        </p:spPr>
        <p:txBody>
          <a:bodyPr rtlCol="0" anchor="ctr"/>
          <a:lstStyle/>
          <a:p>
            <a:pPr algn="ctr"/>
          </a:p>
        </p:txBody>
      </p:sp>
      <p:sp>
        <p:nvSpPr>
          <p:cNvPr id="56" name="TextBox 55"/>
          <p:cNvSpPr txBox="1"/>
          <p:nvPr/>
        </p:nvSpPr>
        <p:spPr>
          <a:xfrm>
            <a:off x="774192" y="3767328"/>
            <a:ext cx="2926080" cy="152400"/>
          </a:xfrm>
          <a:prstGeom prst="rect">
            <a:avLst/>
          </a:prstGeom>
          <a:noFill/>
        </p:spPr>
        <p:txBody>
          <a:bodyPr wrap="square" anchor="t" lIns="0" rIns="0" tIns="0" bIns="0">
            <a:spAutoFit/>
          </a:bodyPr>
          <a:lstStyle/>
          <a:p>
            <a:pPr algn="l"/>
            <a:r>
              <a:rPr sz="1300" b="1" i="0">
                <a:solidFill>
                  <a:srgbClr val="555B66"/>
                </a:solidFill>
                <a:latin typeface="Arial"/>
              </a:rPr>
              <a:t>CHAMP LEXICAL</a:t>
            </a:r>
          </a:p>
        </p:txBody>
      </p:sp>
      <p:sp>
        <p:nvSpPr>
          <p:cNvPr id="57" name="TextBox 56"/>
          <p:cNvSpPr txBox="1"/>
          <p:nvPr/>
        </p:nvSpPr>
        <p:spPr>
          <a:xfrm>
            <a:off x="774192" y="3992880"/>
            <a:ext cx="2926080" cy="121920"/>
          </a:xfrm>
          <a:prstGeom prst="rect">
            <a:avLst/>
          </a:prstGeom>
          <a:noFill/>
        </p:spPr>
        <p:txBody>
          <a:bodyPr wrap="square" anchor="t" lIns="0" rIns="0" tIns="0" bIns="0">
            <a:spAutoFit/>
          </a:bodyPr>
          <a:lstStyle/>
          <a:p>
            <a:pPr algn="l"/>
            <a:r>
              <a:rPr sz="1000" b="0" i="1">
                <a:solidFill>
                  <a:srgbClr val="8A93A6"/>
                </a:solidFill>
                <a:latin typeface="Arial"/>
              </a:rPr>
              <a:t>Termes les plus fréquents</a:t>
            </a:r>
          </a:p>
        </p:txBody>
      </p:sp>
      <p:sp>
        <p:nvSpPr>
          <p:cNvPr id="58" name="TextBox 57"/>
          <p:cNvSpPr txBox="1"/>
          <p:nvPr/>
        </p:nvSpPr>
        <p:spPr>
          <a:xfrm>
            <a:off x="774192" y="4236720"/>
            <a:ext cx="2987040" cy="1828800"/>
          </a:xfrm>
          <a:prstGeom prst="rect">
            <a:avLst/>
          </a:prstGeom>
          <a:noFill/>
        </p:spPr>
        <p:txBody>
          <a:bodyPr wrap="square" anchor="t" lIns="0" rIns="0" tIns="0" bIns="0">
            <a:spAutoFit/>
          </a:bodyPr>
          <a:lstStyle/>
          <a:p>
            <a:pPr algn="l">
              <a:spcAft>
                <a:spcPts val="500"/>
              </a:spcAft>
            </a:pPr>
            <a:r>
              <a:rPr sz="1800" b="1" i="0">
                <a:solidFill>
                  <a:srgbClr val="EE6A2C"/>
                </a:solidFill>
                <a:latin typeface="Arial"/>
              </a:rPr>
              <a:t>cadeau</a:t>
            </a:r>
            <a:r>
              <a:rPr sz="1600" b="1" i="0">
                <a:solidFill>
                  <a:srgbClr val="111111"/>
                </a:solidFill>
                <a:latin typeface="Arial"/>
              </a:rPr>
              <a:t>   LEGO</a:t>
            </a:r>
          </a:p>
          <a:p>
            <a:pPr algn="l">
              <a:spcAft>
                <a:spcPts val="500"/>
              </a:spcAft>
            </a:pPr>
            <a:r>
              <a:rPr sz="1500" b="1" i="0">
                <a:solidFill>
                  <a:srgbClr val="111111"/>
                </a:solidFill>
                <a:latin typeface="Arial"/>
              </a:rPr>
              <a:t>Dealabs</a:t>
            </a:r>
            <a:r>
              <a:rPr sz="1400" b="1" i="0">
                <a:solidFill>
                  <a:srgbClr val="111111"/>
                </a:solidFill>
                <a:latin typeface="Arial"/>
              </a:rPr>
              <a:t>   iGraal</a:t>
            </a:r>
          </a:p>
          <a:p>
            <a:pPr algn="l">
              <a:spcAft>
                <a:spcPts val="500"/>
              </a:spcAft>
            </a:pPr>
            <a:r>
              <a:rPr sz="1300" b="1" i="0">
                <a:solidFill>
                  <a:srgbClr val="EE6A2C"/>
                </a:solidFill>
                <a:latin typeface="Arial"/>
              </a:rPr>
              <a:t>Google Wallet</a:t>
            </a:r>
            <a:r>
              <a:rPr sz="1200" b="0" i="0">
                <a:solidFill>
                  <a:srgbClr val="111111"/>
                </a:solidFill>
                <a:latin typeface="Arial"/>
              </a:rPr>
              <a:t>   Apple Wallet</a:t>
            </a:r>
          </a:p>
          <a:p>
            <a:pPr algn="l">
              <a:spcAft>
                <a:spcPts val="500"/>
              </a:spcAft>
            </a:pPr>
            <a:r>
              <a:rPr sz="1100" b="1" i="0">
                <a:solidFill>
                  <a:srgbClr val="EE6A2C"/>
                </a:solidFill>
                <a:latin typeface="Arial"/>
              </a:rPr>
              <a:t>Shopmium</a:t>
            </a:r>
            <a:r>
              <a:rPr sz="1100" b="1" i="0">
                <a:solidFill>
                  <a:srgbClr val="111111"/>
                </a:solidFill>
                <a:latin typeface="Arial"/>
              </a:rPr>
              <a:t>   Coupon Network</a:t>
            </a:r>
          </a:p>
          <a:p>
            <a:pPr algn="l">
              <a:spcAft>
                <a:spcPts val="500"/>
              </a:spcAft>
            </a:pPr>
            <a:r>
              <a:rPr sz="1100" b="1" i="0">
                <a:solidFill>
                  <a:srgbClr val="111111"/>
                </a:solidFill>
                <a:latin typeface="Arial"/>
              </a:rPr>
              <a:t>Joko</a:t>
            </a:r>
            <a:r>
              <a:rPr sz="1100" b="0" i="0">
                <a:solidFill>
                  <a:srgbClr val="111111"/>
                </a:solidFill>
                <a:latin typeface="Arial"/>
              </a:rPr>
              <a:t>   Poulpeo</a:t>
            </a:r>
            <a:r>
              <a:rPr sz="1100" b="1" i="0">
                <a:solidFill>
                  <a:srgbClr val="EE6A2C"/>
                </a:solidFill>
                <a:latin typeface="Arial"/>
              </a:rPr>
              <a:t>   eBuyClub</a:t>
            </a:r>
          </a:p>
          <a:p>
            <a:pPr algn="l">
              <a:spcAft>
                <a:spcPts val="500"/>
              </a:spcAft>
            </a:pPr>
            <a:r>
              <a:rPr sz="1100" b="1" i="0">
                <a:solidFill>
                  <a:srgbClr val="111111"/>
                </a:solidFill>
                <a:latin typeface="Arial"/>
              </a:rPr>
              <a:t>naissance</a:t>
            </a:r>
            <a:r>
              <a:rPr sz="1100" b="0" i="0">
                <a:solidFill>
                  <a:srgbClr val="111111"/>
                </a:solidFill>
                <a:latin typeface="Arial"/>
              </a:rPr>
              <a:t>   Widilo</a:t>
            </a:r>
          </a:p>
        </p:txBody>
      </p:sp>
      <p:sp>
        <p:nvSpPr>
          <p:cNvPr id="59" name="TextBox 58"/>
          <p:cNvSpPr txBox="1"/>
          <p:nvPr/>
        </p:nvSpPr>
        <p:spPr>
          <a:xfrm>
            <a:off x="4437888" y="3767328"/>
            <a:ext cx="2926080" cy="152400"/>
          </a:xfrm>
          <a:prstGeom prst="rect">
            <a:avLst/>
          </a:prstGeom>
          <a:noFill/>
        </p:spPr>
        <p:txBody>
          <a:bodyPr wrap="square" anchor="t" lIns="0" rIns="0" tIns="0" bIns="0">
            <a:spAutoFit/>
          </a:bodyPr>
          <a:lstStyle/>
          <a:p>
            <a:pPr algn="l"/>
            <a:r>
              <a:rPr sz="1300" b="1" i="0">
                <a:solidFill>
                  <a:srgbClr val="555B66"/>
                </a:solidFill>
                <a:latin typeface="Arial"/>
              </a:rPr>
              <a:t>EXEMPLES DE REQUÊTES</a:t>
            </a:r>
          </a:p>
        </p:txBody>
      </p:sp>
      <p:sp>
        <p:nvSpPr>
          <p:cNvPr id="60" name="TextBox 59"/>
          <p:cNvSpPr txBox="1"/>
          <p:nvPr/>
        </p:nvSpPr>
        <p:spPr>
          <a:xfrm>
            <a:off x="4437888" y="3992880"/>
            <a:ext cx="2926080" cy="121920"/>
          </a:xfrm>
          <a:prstGeom prst="rect">
            <a:avLst/>
          </a:prstGeom>
          <a:noFill/>
        </p:spPr>
        <p:txBody>
          <a:bodyPr wrap="square" anchor="t" lIns="0" rIns="0" tIns="0" bIns="0">
            <a:spAutoFit/>
          </a:bodyPr>
          <a:lstStyle/>
          <a:p>
            <a:pPr algn="l"/>
            <a:r>
              <a:rPr sz="1000" b="0" i="1">
                <a:solidFill>
                  <a:srgbClr val="8A93A6"/>
                </a:solidFill>
                <a:latin typeface="Arial"/>
              </a:rPr>
              <a:t>Questions posées aux IA</a:t>
            </a:r>
          </a:p>
        </p:txBody>
      </p:sp>
      <p:sp>
        <p:nvSpPr>
          <p:cNvPr id="61" name="TextBox 60"/>
          <p:cNvSpPr txBox="1"/>
          <p:nvPr/>
        </p:nvSpPr>
        <p:spPr>
          <a:xfrm>
            <a:off x="4437888" y="4267200"/>
            <a:ext cx="2913888" cy="304800"/>
          </a:xfrm>
          <a:prstGeom prst="rect">
            <a:avLst/>
          </a:prstGeom>
          <a:noFill/>
        </p:spPr>
        <p:txBody>
          <a:bodyPr wrap="square" anchor="ctr" lIns="0" rIns="0" tIns="0" bIns="0">
            <a:spAutoFit/>
          </a:bodyPr>
          <a:lstStyle/>
          <a:p>
            <a:pPr algn="l"/>
            <a:r>
              <a:rPr sz="1000" b="0" i="0">
                <a:solidFill>
                  <a:srgbClr val="111111"/>
                </a:solidFill>
                <a:latin typeface="Arial"/>
              </a:rPr>
              <a:t>Quelles offres de remboursement sur mes courses ?</a:t>
            </a:r>
          </a:p>
        </p:txBody>
      </p:sp>
      <p:sp>
        <p:nvSpPr>
          <p:cNvPr id="62" name="Rectangle 61"/>
          <p:cNvSpPr/>
          <p:nvPr/>
        </p:nvSpPr>
        <p:spPr>
          <a:xfrm>
            <a:off x="4437888" y="4602480"/>
            <a:ext cx="2913888" cy="6096"/>
          </a:xfrm>
          <a:prstGeom prst="rect">
            <a:avLst/>
          </a:prstGeom>
          <a:solidFill>
            <a:srgbClr val="E6E3DE"/>
          </a:solidFill>
          <a:ln>
            <a:noFill/>
          </a:ln>
          <a:effectLst/>
        </p:spPr>
        <p:txBody>
          <a:bodyPr rtlCol="0" anchor="ctr"/>
          <a:lstStyle/>
          <a:p>
            <a:pPr algn="ctr"/>
          </a:p>
        </p:txBody>
      </p:sp>
      <p:sp>
        <p:nvSpPr>
          <p:cNvPr id="63" name="TextBox 62"/>
          <p:cNvSpPr txBox="1"/>
          <p:nvPr/>
        </p:nvSpPr>
        <p:spPr>
          <a:xfrm>
            <a:off x="4437888" y="4632960"/>
            <a:ext cx="2913888" cy="304800"/>
          </a:xfrm>
          <a:prstGeom prst="rect">
            <a:avLst/>
          </a:prstGeom>
          <a:noFill/>
        </p:spPr>
        <p:txBody>
          <a:bodyPr wrap="square" anchor="ctr" lIns="0" rIns="0" tIns="0" bIns="0">
            <a:spAutoFit/>
          </a:bodyPr>
          <a:lstStyle/>
          <a:p>
            <a:pPr algn="l"/>
            <a:r>
              <a:rPr sz="1000" b="0" i="0">
                <a:solidFill>
                  <a:srgbClr val="111111"/>
                </a:solidFill>
                <a:latin typeface="Arial"/>
              </a:rPr>
              <a:t>Quelle boisson protéinée prendre avant un entraînement ?</a:t>
            </a:r>
          </a:p>
        </p:txBody>
      </p:sp>
      <p:sp>
        <p:nvSpPr>
          <p:cNvPr id="64" name="Rectangle 63"/>
          <p:cNvSpPr/>
          <p:nvPr/>
        </p:nvSpPr>
        <p:spPr>
          <a:xfrm>
            <a:off x="4437888" y="4968240"/>
            <a:ext cx="2913888" cy="6096"/>
          </a:xfrm>
          <a:prstGeom prst="rect">
            <a:avLst/>
          </a:prstGeom>
          <a:solidFill>
            <a:srgbClr val="E6E3DE"/>
          </a:solidFill>
          <a:ln>
            <a:noFill/>
          </a:ln>
          <a:effectLst/>
        </p:spPr>
        <p:txBody>
          <a:bodyPr rtlCol="0" anchor="ctr"/>
          <a:lstStyle/>
          <a:p>
            <a:pPr algn="ctr"/>
          </a:p>
        </p:txBody>
      </p:sp>
      <p:sp>
        <p:nvSpPr>
          <p:cNvPr id="65" name="TextBox 64"/>
          <p:cNvSpPr txBox="1"/>
          <p:nvPr/>
        </p:nvSpPr>
        <p:spPr>
          <a:xfrm>
            <a:off x="4437888" y="4998720"/>
            <a:ext cx="2913888" cy="304800"/>
          </a:xfrm>
          <a:prstGeom prst="rect">
            <a:avLst/>
          </a:prstGeom>
          <a:noFill/>
        </p:spPr>
        <p:txBody>
          <a:bodyPr wrap="square" anchor="ctr" lIns="0" rIns="0" tIns="0" bIns="0">
            <a:spAutoFit/>
          </a:bodyPr>
          <a:lstStyle/>
          <a:p>
            <a:pPr algn="l"/>
            <a:r>
              <a:rPr sz="1000" b="0" i="0">
                <a:solidFill>
                  <a:srgbClr val="111111"/>
                </a:solidFill>
                <a:latin typeface="Arial"/>
              </a:rPr>
              <a:t>Quel yaourt riche en protéines pour une collation ?</a:t>
            </a:r>
          </a:p>
        </p:txBody>
      </p:sp>
      <p:sp>
        <p:nvSpPr>
          <p:cNvPr id="66" name="Rectangle 65"/>
          <p:cNvSpPr/>
          <p:nvPr/>
        </p:nvSpPr>
        <p:spPr>
          <a:xfrm>
            <a:off x="4437888" y="5334000"/>
            <a:ext cx="2913888" cy="6096"/>
          </a:xfrm>
          <a:prstGeom prst="rect">
            <a:avLst/>
          </a:prstGeom>
          <a:solidFill>
            <a:srgbClr val="E6E3DE"/>
          </a:solidFill>
          <a:ln>
            <a:noFill/>
          </a:ln>
          <a:effectLst/>
        </p:spPr>
        <p:txBody>
          <a:bodyPr rtlCol="0" anchor="ctr"/>
          <a:lstStyle/>
          <a:p>
            <a:pPr algn="ctr"/>
          </a:p>
        </p:txBody>
      </p:sp>
      <p:sp>
        <p:nvSpPr>
          <p:cNvPr id="67" name="TextBox 66"/>
          <p:cNvSpPr txBox="1"/>
          <p:nvPr/>
        </p:nvSpPr>
        <p:spPr>
          <a:xfrm>
            <a:off x="4437888" y="5364480"/>
            <a:ext cx="2913888" cy="304800"/>
          </a:xfrm>
          <a:prstGeom prst="rect">
            <a:avLst/>
          </a:prstGeom>
          <a:noFill/>
        </p:spPr>
        <p:txBody>
          <a:bodyPr wrap="square" anchor="ctr" lIns="0" rIns="0" tIns="0" bIns="0">
            <a:spAutoFit/>
          </a:bodyPr>
          <a:lstStyle/>
          <a:p>
            <a:pPr algn="l"/>
            <a:r>
              <a:rPr sz="1000" b="0" i="0">
                <a:solidFill>
                  <a:srgbClr val="111111"/>
                </a:solidFill>
                <a:latin typeface="Arial"/>
              </a:rPr>
              <a:t>Quel dentifrice blanchissant utiliser au quotidien ?</a:t>
            </a:r>
          </a:p>
        </p:txBody>
      </p:sp>
      <p:sp>
        <p:nvSpPr>
          <p:cNvPr id="68" name="Rectangle 67"/>
          <p:cNvSpPr/>
          <p:nvPr/>
        </p:nvSpPr>
        <p:spPr>
          <a:xfrm>
            <a:off x="4437888" y="5699760"/>
            <a:ext cx="2913888" cy="6096"/>
          </a:xfrm>
          <a:prstGeom prst="rect">
            <a:avLst/>
          </a:prstGeom>
          <a:solidFill>
            <a:srgbClr val="E6E3DE"/>
          </a:solidFill>
          <a:ln>
            <a:noFill/>
          </a:ln>
          <a:effectLst/>
        </p:spPr>
        <p:txBody>
          <a:bodyPr rtlCol="0" anchor="ctr"/>
          <a:lstStyle/>
          <a:p>
            <a:pPr algn="ctr"/>
          </a:p>
        </p:txBody>
      </p:sp>
      <p:sp>
        <p:nvSpPr>
          <p:cNvPr id="69" name="TextBox 68"/>
          <p:cNvSpPr txBox="1"/>
          <p:nvPr/>
        </p:nvSpPr>
        <p:spPr>
          <a:xfrm>
            <a:off x="4437888" y="5730240"/>
            <a:ext cx="2913888" cy="304800"/>
          </a:xfrm>
          <a:prstGeom prst="rect">
            <a:avLst/>
          </a:prstGeom>
          <a:noFill/>
        </p:spPr>
        <p:txBody>
          <a:bodyPr wrap="square" anchor="ctr" lIns="0" rIns="0" tIns="0" bIns="0">
            <a:spAutoFit/>
          </a:bodyPr>
          <a:lstStyle/>
          <a:p>
            <a:pPr algn="l"/>
            <a:r>
              <a:rPr sz="1000" b="0" i="0">
                <a:solidFill>
                  <a:srgbClr val="111111"/>
                </a:solidFill>
                <a:latin typeface="Arial"/>
              </a:rPr>
              <a:t>Où trouver une promotion sur les pochons pour chat ?</a:t>
            </a:r>
          </a:p>
        </p:txBody>
      </p:sp>
      <p:sp>
        <p:nvSpPr>
          <p:cNvPr id="70" name="TextBox 69"/>
          <p:cNvSpPr txBox="1"/>
          <p:nvPr/>
        </p:nvSpPr>
        <p:spPr>
          <a:xfrm>
            <a:off x="8101584" y="3767328"/>
            <a:ext cx="2926080" cy="152400"/>
          </a:xfrm>
          <a:prstGeom prst="rect">
            <a:avLst/>
          </a:prstGeom>
          <a:noFill/>
        </p:spPr>
        <p:txBody>
          <a:bodyPr wrap="square" anchor="t" lIns="0" rIns="0" tIns="0" bIns="0">
            <a:spAutoFit/>
          </a:bodyPr>
          <a:lstStyle/>
          <a:p>
            <a:pPr algn="l"/>
            <a:r>
              <a:rPr sz="1300" b="1" i="0">
                <a:solidFill>
                  <a:srgbClr val="555B66"/>
                </a:solidFill>
                <a:latin typeface="Arial"/>
              </a:rPr>
              <a:t>CATÉGORIES DE PRODUITS</a:t>
            </a:r>
          </a:p>
        </p:txBody>
      </p:sp>
      <p:sp>
        <p:nvSpPr>
          <p:cNvPr id="71" name="TextBox 70"/>
          <p:cNvSpPr txBox="1"/>
          <p:nvPr/>
        </p:nvSpPr>
        <p:spPr>
          <a:xfrm>
            <a:off x="8101584" y="3992880"/>
            <a:ext cx="2926080" cy="121920"/>
          </a:xfrm>
          <a:prstGeom prst="rect">
            <a:avLst/>
          </a:prstGeom>
          <a:noFill/>
        </p:spPr>
        <p:txBody>
          <a:bodyPr wrap="square" anchor="t" lIns="0" rIns="0" tIns="0" bIns="0">
            <a:spAutoFit/>
          </a:bodyPr>
          <a:lstStyle/>
          <a:p>
            <a:pPr algn="l"/>
            <a:r>
              <a:rPr sz="1000" b="0" i="1">
                <a:solidFill>
                  <a:srgbClr val="8A93A6"/>
                </a:solidFill>
                <a:latin typeface="Arial"/>
              </a:rPr>
              <a:t>Répartition des requêtes</a:t>
            </a:r>
          </a:p>
        </p:txBody>
      </p:sp>
      <p:sp>
        <p:nvSpPr>
          <p:cNvPr id="72" name="TextBox 71"/>
          <p:cNvSpPr txBox="1"/>
          <p:nvPr/>
        </p:nvSpPr>
        <p:spPr>
          <a:xfrm>
            <a:off x="8101584" y="4267200"/>
            <a:ext cx="2194560" cy="134112"/>
          </a:xfrm>
          <a:prstGeom prst="rect">
            <a:avLst/>
          </a:prstGeom>
          <a:noFill/>
        </p:spPr>
        <p:txBody>
          <a:bodyPr wrap="square" anchor="t" lIns="0" rIns="0" tIns="0" bIns="0">
            <a:spAutoFit/>
          </a:bodyPr>
          <a:lstStyle/>
          <a:p>
            <a:pPr algn="l"/>
            <a:r>
              <a:rPr sz="1000" b="0" i="0">
                <a:solidFill>
                  <a:srgbClr val="111111"/>
                </a:solidFill>
                <a:latin typeface="Arial"/>
              </a:rPr>
              <a:t>Boissons</a:t>
            </a:r>
          </a:p>
        </p:txBody>
      </p:sp>
      <p:sp>
        <p:nvSpPr>
          <p:cNvPr id="73" name="Rectangle 72"/>
          <p:cNvSpPr/>
          <p:nvPr/>
        </p:nvSpPr>
        <p:spPr>
          <a:xfrm>
            <a:off x="8101584" y="4419600"/>
            <a:ext cx="2011680" cy="54864"/>
          </a:xfrm>
          <a:prstGeom prst="rect">
            <a:avLst/>
          </a:prstGeom>
          <a:solidFill>
            <a:srgbClr val="ECEAE5"/>
          </a:solidFill>
          <a:ln>
            <a:noFill/>
          </a:ln>
          <a:effectLst/>
        </p:spPr>
        <p:txBody>
          <a:bodyPr rtlCol="0" anchor="ctr"/>
          <a:lstStyle/>
          <a:p>
            <a:pPr algn="ctr"/>
          </a:p>
        </p:txBody>
      </p:sp>
      <p:sp>
        <p:nvSpPr>
          <p:cNvPr id="74" name="Rectangle 73"/>
          <p:cNvSpPr/>
          <p:nvPr/>
        </p:nvSpPr>
        <p:spPr>
          <a:xfrm>
            <a:off x="8101584" y="4419600"/>
            <a:ext cx="482803" cy="54864"/>
          </a:xfrm>
          <a:prstGeom prst="rect">
            <a:avLst/>
          </a:prstGeom>
          <a:solidFill>
            <a:srgbClr val="EE6A2C"/>
          </a:solidFill>
          <a:ln>
            <a:noFill/>
          </a:ln>
          <a:effectLst/>
        </p:spPr>
        <p:txBody>
          <a:bodyPr rtlCol="0" anchor="ctr"/>
          <a:lstStyle/>
          <a:p>
            <a:pPr algn="ctr"/>
          </a:p>
        </p:txBody>
      </p:sp>
      <p:sp>
        <p:nvSpPr>
          <p:cNvPr id="75" name="TextBox 74"/>
          <p:cNvSpPr txBox="1"/>
          <p:nvPr/>
        </p:nvSpPr>
        <p:spPr>
          <a:xfrm>
            <a:off x="10241280" y="4340352"/>
            <a:ext cx="792480" cy="182880"/>
          </a:xfrm>
          <a:prstGeom prst="rect">
            <a:avLst/>
          </a:prstGeom>
          <a:noFill/>
        </p:spPr>
        <p:txBody>
          <a:bodyPr wrap="square" anchor="ctr" lIns="0" rIns="0" tIns="0" bIns="0">
            <a:spAutoFit/>
          </a:bodyPr>
          <a:lstStyle/>
          <a:p>
            <a:pPr algn="r"/>
            <a:r>
              <a:rPr sz="1300" b="1" i="0">
                <a:solidFill>
                  <a:srgbClr val="111111"/>
                </a:solidFill>
                <a:latin typeface="Arial"/>
              </a:rPr>
              <a:t>24 %</a:t>
            </a:r>
          </a:p>
        </p:txBody>
      </p:sp>
      <p:sp>
        <p:nvSpPr>
          <p:cNvPr id="76" name="TextBox 75"/>
          <p:cNvSpPr txBox="1"/>
          <p:nvPr/>
        </p:nvSpPr>
        <p:spPr>
          <a:xfrm>
            <a:off x="8101584" y="4572000"/>
            <a:ext cx="2194560" cy="134112"/>
          </a:xfrm>
          <a:prstGeom prst="rect">
            <a:avLst/>
          </a:prstGeom>
          <a:noFill/>
        </p:spPr>
        <p:txBody>
          <a:bodyPr wrap="square" anchor="t" lIns="0" rIns="0" tIns="0" bIns="0">
            <a:spAutoFit/>
          </a:bodyPr>
          <a:lstStyle/>
          <a:p>
            <a:pPr algn="l"/>
            <a:r>
              <a:rPr sz="1000" b="0" i="0">
                <a:solidFill>
                  <a:srgbClr val="111111"/>
                </a:solidFill>
                <a:latin typeface="Arial"/>
              </a:rPr>
              <a:t>Produits frais et végétaux</a:t>
            </a:r>
          </a:p>
        </p:txBody>
      </p:sp>
      <p:sp>
        <p:nvSpPr>
          <p:cNvPr id="77" name="Rectangle 76"/>
          <p:cNvSpPr/>
          <p:nvPr/>
        </p:nvSpPr>
        <p:spPr>
          <a:xfrm>
            <a:off x="8101584" y="4724400"/>
            <a:ext cx="2011680" cy="54864"/>
          </a:xfrm>
          <a:prstGeom prst="rect">
            <a:avLst/>
          </a:prstGeom>
          <a:solidFill>
            <a:srgbClr val="ECEAE5"/>
          </a:solidFill>
          <a:ln>
            <a:noFill/>
          </a:ln>
          <a:effectLst/>
        </p:spPr>
        <p:txBody>
          <a:bodyPr rtlCol="0" anchor="ctr"/>
          <a:lstStyle/>
          <a:p>
            <a:pPr algn="ctr"/>
          </a:p>
        </p:txBody>
      </p:sp>
      <p:sp>
        <p:nvSpPr>
          <p:cNvPr id="78" name="Rectangle 77"/>
          <p:cNvSpPr/>
          <p:nvPr/>
        </p:nvSpPr>
        <p:spPr>
          <a:xfrm>
            <a:off x="8101584" y="4724400"/>
            <a:ext cx="341985" cy="54864"/>
          </a:xfrm>
          <a:prstGeom prst="rect">
            <a:avLst/>
          </a:prstGeom>
          <a:solidFill>
            <a:srgbClr val="9AA3B2"/>
          </a:solidFill>
          <a:ln>
            <a:noFill/>
          </a:ln>
          <a:effectLst/>
        </p:spPr>
        <p:txBody>
          <a:bodyPr rtlCol="0" anchor="ctr"/>
          <a:lstStyle/>
          <a:p>
            <a:pPr algn="ctr"/>
          </a:p>
        </p:txBody>
      </p:sp>
      <p:sp>
        <p:nvSpPr>
          <p:cNvPr id="79" name="TextBox 78"/>
          <p:cNvSpPr txBox="1"/>
          <p:nvPr/>
        </p:nvSpPr>
        <p:spPr>
          <a:xfrm>
            <a:off x="10241280" y="4645152"/>
            <a:ext cx="792480" cy="182880"/>
          </a:xfrm>
          <a:prstGeom prst="rect">
            <a:avLst/>
          </a:prstGeom>
          <a:noFill/>
        </p:spPr>
        <p:txBody>
          <a:bodyPr wrap="square" anchor="ctr" lIns="0" rIns="0" tIns="0" bIns="0">
            <a:spAutoFit/>
          </a:bodyPr>
          <a:lstStyle/>
          <a:p>
            <a:pPr algn="r"/>
            <a:r>
              <a:rPr sz="1300" b="1" i="0">
                <a:solidFill>
                  <a:srgbClr val="111111"/>
                </a:solidFill>
                <a:latin typeface="Arial"/>
              </a:rPr>
              <a:t>17 %</a:t>
            </a:r>
          </a:p>
        </p:txBody>
      </p:sp>
      <p:sp>
        <p:nvSpPr>
          <p:cNvPr id="80" name="TextBox 79"/>
          <p:cNvSpPr txBox="1"/>
          <p:nvPr/>
        </p:nvSpPr>
        <p:spPr>
          <a:xfrm>
            <a:off x="8101584" y="4876800"/>
            <a:ext cx="2194560" cy="134112"/>
          </a:xfrm>
          <a:prstGeom prst="rect">
            <a:avLst/>
          </a:prstGeom>
          <a:noFill/>
        </p:spPr>
        <p:txBody>
          <a:bodyPr wrap="square" anchor="t" lIns="0" rIns="0" tIns="0" bIns="0">
            <a:spAutoFit/>
          </a:bodyPr>
          <a:lstStyle/>
          <a:p>
            <a:pPr algn="l"/>
            <a:r>
              <a:rPr sz="1000" b="0" i="0">
                <a:solidFill>
                  <a:srgbClr val="111111"/>
                </a:solidFill>
                <a:latin typeface="Arial"/>
              </a:rPr>
              <a:t>Épicerie et snacking</a:t>
            </a:r>
          </a:p>
        </p:txBody>
      </p:sp>
      <p:sp>
        <p:nvSpPr>
          <p:cNvPr id="81" name="Rectangle 80"/>
          <p:cNvSpPr/>
          <p:nvPr/>
        </p:nvSpPr>
        <p:spPr>
          <a:xfrm>
            <a:off x="8101584" y="5029200"/>
            <a:ext cx="2011680" cy="54864"/>
          </a:xfrm>
          <a:prstGeom prst="rect">
            <a:avLst/>
          </a:prstGeom>
          <a:solidFill>
            <a:srgbClr val="ECEAE5"/>
          </a:solidFill>
          <a:ln>
            <a:noFill/>
          </a:ln>
          <a:effectLst/>
        </p:spPr>
        <p:txBody>
          <a:bodyPr rtlCol="0" anchor="ctr"/>
          <a:lstStyle/>
          <a:p>
            <a:pPr algn="ctr"/>
          </a:p>
        </p:txBody>
      </p:sp>
      <p:sp>
        <p:nvSpPr>
          <p:cNvPr id="82" name="Rectangle 81"/>
          <p:cNvSpPr/>
          <p:nvPr/>
        </p:nvSpPr>
        <p:spPr>
          <a:xfrm>
            <a:off x="8101584" y="5029200"/>
            <a:ext cx="362102" cy="54864"/>
          </a:xfrm>
          <a:prstGeom prst="rect">
            <a:avLst/>
          </a:prstGeom>
          <a:solidFill>
            <a:srgbClr val="9AA3B2"/>
          </a:solidFill>
          <a:ln>
            <a:noFill/>
          </a:ln>
          <a:effectLst/>
        </p:spPr>
        <p:txBody>
          <a:bodyPr rtlCol="0" anchor="ctr"/>
          <a:lstStyle/>
          <a:p>
            <a:pPr algn="ctr"/>
          </a:p>
        </p:txBody>
      </p:sp>
      <p:sp>
        <p:nvSpPr>
          <p:cNvPr id="83" name="TextBox 82"/>
          <p:cNvSpPr txBox="1"/>
          <p:nvPr/>
        </p:nvSpPr>
        <p:spPr>
          <a:xfrm>
            <a:off x="10241280" y="4949952"/>
            <a:ext cx="792480" cy="182880"/>
          </a:xfrm>
          <a:prstGeom prst="rect">
            <a:avLst/>
          </a:prstGeom>
          <a:noFill/>
        </p:spPr>
        <p:txBody>
          <a:bodyPr wrap="square" anchor="ctr" lIns="0" rIns="0" tIns="0" bIns="0">
            <a:spAutoFit/>
          </a:bodyPr>
          <a:lstStyle/>
          <a:p>
            <a:pPr algn="r"/>
            <a:r>
              <a:rPr sz="1300" b="1" i="0">
                <a:solidFill>
                  <a:srgbClr val="111111"/>
                </a:solidFill>
                <a:latin typeface="Arial"/>
              </a:rPr>
              <a:t>18 %</a:t>
            </a:r>
          </a:p>
        </p:txBody>
      </p:sp>
      <p:sp>
        <p:nvSpPr>
          <p:cNvPr id="84" name="TextBox 83"/>
          <p:cNvSpPr txBox="1"/>
          <p:nvPr/>
        </p:nvSpPr>
        <p:spPr>
          <a:xfrm>
            <a:off x="8101584" y="5181600"/>
            <a:ext cx="2194560" cy="134112"/>
          </a:xfrm>
          <a:prstGeom prst="rect">
            <a:avLst/>
          </a:prstGeom>
          <a:noFill/>
        </p:spPr>
        <p:txBody>
          <a:bodyPr wrap="square" anchor="t" lIns="0" rIns="0" tIns="0" bIns="0">
            <a:spAutoFit/>
          </a:bodyPr>
          <a:lstStyle/>
          <a:p>
            <a:pPr algn="l"/>
            <a:r>
              <a:rPr sz="1000" b="0" i="0">
                <a:solidFill>
                  <a:srgbClr val="111111"/>
                </a:solidFill>
                <a:latin typeface="Arial"/>
              </a:rPr>
              <a:t>Cashback et coupons</a:t>
            </a:r>
          </a:p>
        </p:txBody>
      </p:sp>
      <p:sp>
        <p:nvSpPr>
          <p:cNvPr id="85" name="Rectangle 84"/>
          <p:cNvSpPr/>
          <p:nvPr/>
        </p:nvSpPr>
        <p:spPr>
          <a:xfrm>
            <a:off x="8101584" y="5334000"/>
            <a:ext cx="2011680" cy="54864"/>
          </a:xfrm>
          <a:prstGeom prst="rect">
            <a:avLst/>
          </a:prstGeom>
          <a:solidFill>
            <a:srgbClr val="ECEAE5"/>
          </a:solidFill>
          <a:ln>
            <a:noFill/>
          </a:ln>
          <a:effectLst/>
        </p:spPr>
        <p:txBody>
          <a:bodyPr rtlCol="0" anchor="ctr"/>
          <a:lstStyle/>
          <a:p>
            <a:pPr algn="ctr"/>
          </a:p>
        </p:txBody>
      </p:sp>
      <p:sp>
        <p:nvSpPr>
          <p:cNvPr id="86" name="Rectangle 85"/>
          <p:cNvSpPr/>
          <p:nvPr/>
        </p:nvSpPr>
        <p:spPr>
          <a:xfrm>
            <a:off x="8101584" y="5334000"/>
            <a:ext cx="261518" cy="54864"/>
          </a:xfrm>
          <a:prstGeom prst="rect">
            <a:avLst/>
          </a:prstGeom>
          <a:solidFill>
            <a:srgbClr val="9AA3B2"/>
          </a:solidFill>
          <a:ln>
            <a:noFill/>
          </a:ln>
          <a:effectLst/>
        </p:spPr>
        <p:txBody>
          <a:bodyPr rtlCol="0" anchor="ctr"/>
          <a:lstStyle/>
          <a:p>
            <a:pPr algn="ctr"/>
          </a:p>
        </p:txBody>
      </p:sp>
      <p:sp>
        <p:nvSpPr>
          <p:cNvPr id="87" name="TextBox 86"/>
          <p:cNvSpPr txBox="1"/>
          <p:nvPr/>
        </p:nvSpPr>
        <p:spPr>
          <a:xfrm>
            <a:off x="10241280" y="5254752"/>
            <a:ext cx="792480" cy="182880"/>
          </a:xfrm>
          <a:prstGeom prst="rect">
            <a:avLst/>
          </a:prstGeom>
          <a:noFill/>
        </p:spPr>
        <p:txBody>
          <a:bodyPr wrap="square" anchor="ctr" lIns="0" rIns="0" tIns="0" bIns="0">
            <a:spAutoFit/>
          </a:bodyPr>
          <a:lstStyle/>
          <a:p>
            <a:pPr algn="r"/>
            <a:r>
              <a:rPr sz="1300" b="1" i="0">
                <a:solidFill>
                  <a:srgbClr val="111111"/>
                </a:solidFill>
                <a:latin typeface="Arial"/>
              </a:rPr>
              <a:t>13 %</a:t>
            </a:r>
          </a:p>
        </p:txBody>
      </p:sp>
      <p:sp>
        <p:nvSpPr>
          <p:cNvPr id="88" name="TextBox 87"/>
          <p:cNvSpPr txBox="1"/>
          <p:nvPr/>
        </p:nvSpPr>
        <p:spPr>
          <a:xfrm>
            <a:off x="8101584" y="5486400"/>
            <a:ext cx="2194560" cy="134112"/>
          </a:xfrm>
          <a:prstGeom prst="rect">
            <a:avLst/>
          </a:prstGeom>
          <a:noFill/>
        </p:spPr>
        <p:txBody>
          <a:bodyPr wrap="square" anchor="t" lIns="0" rIns="0" tIns="0" bIns="0">
            <a:spAutoFit/>
          </a:bodyPr>
          <a:lstStyle/>
          <a:p>
            <a:pPr algn="l"/>
            <a:r>
              <a:rPr sz="1000" b="0" i="0">
                <a:solidFill>
                  <a:srgbClr val="111111"/>
                </a:solidFill>
                <a:latin typeface="Arial"/>
              </a:rPr>
              <a:t>Alimentation pour animaux</a:t>
            </a:r>
          </a:p>
        </p:txBody>
      </p:sp>
      <p:sp>
        <p:nvSpPr>
          <p:cNvPr id="89" name="Rectangle 88"/>
          <p:cNvSpPr/>
          <p:nvPr/>
        </p:nvSpPr>
        <p:spPr>
          <a:xfrm>
            <a:off x="8101584" y="5638800"/>
            <a:ext cx="2011680" cy="54864"/>
          </a:xfrm>
          <a:prstGeom prst="rect">
            <a:avLst/>
          </a:prstGeom>
          <a:solidFill>
            <a:srgbClr val="ECEAE5"/>
          </a:solidFill>
          <a:ln>
            <a:noFill/>
          </a:ln>
          <a:effectLst/>
        </p:spPr>
        <p:txBody>
          <a:bodyPr rtlCol="0" anchor="ctr"/>
          <a:lstStyle/>
          <a:p>
            <a:pPr algn="ctr"/>
          </a:p>
        </p:txBody>
      </p:sp>
      <p:sp>
        <p:nvSpPr>
          <p:cNvPr id="90" name="Rectangle 89"/>
          <p:cNvSpPr/>
          <p:nvPr/>
        </p:nvSpPr>
        <p:spPr>
          <a:xfrm>
            <a:off x="8101584" y="5638800"/>
            <a:ext cx="80467" cy="54864"/>
          </a:xfrm>
          <a:prstGeom prst="rect">
            <a:avLst/>
          </a:prstGeom>
          <a:solidFill>
            <a:srgbClr val="9AA3B2"/>
          </a:solidFill>
          <a:ln>
            <a:noFill/>
          </a:ln>
          <a:effectLst/>
        </p:spPr>
        <p:txBody>
          <a:bodyPr rtlCol="0" anchor="ctr"/>
          <a:lstStyle/>
          <a:p>
            <a:pPr algn="ctr"/>
          </a:p>
        </p:txBody>
      </p:sp>
      <p:sp>
        <p:nvSpPr>
          <p:cNvPr id="91" name="TextBox 90"/>
          <p:cNvSpPr txBox="1"/>
          <p:nvPr/>
        </p:nvSpPr>
        <p:spPr>
          <a:xfrm>
            <a:off x="10241280" y="5559552"/>
            <a:ext cx="792480" cy="182880"/>
          </a:xfrm>
          <a:prstGeom prst="rect">
            <a:avLst/>
          </a:prstGeom>
          <a:noFill/>
        </p:spPr>
        <p:txBody>
          <a:bodyPr wrap="square" anchor="ctr" lIns="0" rIns="0" tIns="0" bIns="0">
            <a:spAutoFit/>
          </a:bodyPr>
          <a:lstStyle/>
          <a:p>
            <a:pPr algn="r"/>
            <a:r>
              <a:rPr sz="1300" b="1" i="0">
                <a:solidFill>
                  <a:srgbClr val="111111"/>
                </a:solidFill>
                <a:latin typeface="Arial"/>
              </a:rPr>
              <a:t>4 %</a:t>
            </a:r>
          </a:p>
        </p:txBody>
      </p:sp>
      <p:sp>
        <p:nvSpPr>
          <p:cNvPr id="92" name="TextBox 91"/>
          <p:cNvSpPr txBox="1"/>
          <p:nvPr/>
        </p:nvSpPr>
        <p:spPr>
          <a:xfrm>
            <a:off x="8101584" y="5791200"/>
            <a:ext cx="2194560" cy="134112"/>
          </a:xfrm>
          <a:prstGeom prst="rect">
            <a:avLst/>
          </a:prstGeom>
          <a:noFill/>
        </p:spPr>
        <p:txBody>
          <a:bodyPr wrap="square" anchor="t" lIns="0" rIns="0" tIns="0" bIns="0">
            <a:spAutoFit/>
          </a:bodyPr>
          <a:lstStyle/>
          <a:p>
            <a:pPr algn="l"/>
            <a:r>
              <a:rPr sz="1000" b="0" i="0">
                <a:solidFill>
                  <a:srgbClr val="111111"/>
                </a:solidFill>
                <a:latin typeface="Arial"/>
              </a:rPr>
              <a:t>Hygiène, entretien et bébé</a:t>
            </a:r>
          </a:p>
        </p:txBody>
      </p:sp>
      <p:sp>
        <p:nvSpPr>
          <p:cNvPr id="93" name="Rectangle 92"/>
          <p:cNvSpPr/>
          <p:nvPr/>
        </p:nvSpPr>
        <p:spPr>
          <a:xfrm>
            <a:off x="8101584" y="5943600"/>
            <a:ext cx="2011680" cy="54864"/>
          </a:xfrm>
          <a:prstGeom prst="rect">
            <a:avLst/>
          </a:prstGeom>
          <a:solidFill>
            <a:srgbClr val="ECEAE5"/>
          </a:solidFill>
          <a:ln>
            <a:noFill/>
          </a:ln>
          <a:effectLst/>
        </p:spPr>
        <p:txBody>
          <a:bodyPr rtlCol="0" anchor="ctr"/>
          <a:lstStyle/>
          <a:p>
            <a:pPr algn="ctr"/>
          </a:p>
        </p:txBody>
      </p:sp>
      <p:sp>
        <p:nvSpPr>
          <p:cNvPr id="94" name="Rectangle 93"/>
          <p:cNvSpPr/>
          <p:nvPr/>
        </p:nvSpPr>
        <p:spPr>
          <a:xfrm>
            <a:off x="8101584" y="5943600"/>
            <a:ext cx="482803" cy="54864"/>
          </a:xfrm>
          <a:prstGeom prst="rect">
            <a:avLst/>
          </a:prstGeom>
          <a:solidFill>
            <a:srgbClr val="EE6A2C"/>
          </a:solidFill>
          <a:ln>
            <a:noFill/>
          </a:ln>
          <a:effectLst/>
        </p:spPr>
        <p:txBody>
          <a:bodyPr rtlCol="0" anchor="ctr"/>
          <a:lstStyle/>
          <a:p>
            <a:pPr algn="ctr"/>
          </a:p>
        </p:txBody>
      </p:sp>
      <p:sp>
        <p:nvSpPr>
          <p:cNvPr id="95" name="TextBox 94"/>
          <p:cNvSpPr txBox="1"/>
          <p:nvPr/>
        </p:nvSpPr>
        <p:spPr>
          <a:xfrm>
            <a:off x="10241280" y="5864352"/>
            <a:ext cx="792480" cy="182880"/>
          </a:xfrm>
          <a:prstGeom prst="rect">
            <a:avLst/>
          </a:prstGeom>
          <a:noFill/>
        </p:spPr>
        <p:txBody>
          <a:bodyPr wrap="square" anchor="ctr" lIns="0" rIns="0" tIns="0" bIns="0">
            <a:spAutoFit/>
          </a:bodyPr>
          <a:lstStyle/>
          <a:p>
            <a:pPr algn="r"/>
            <a:r>
              <a:rPr sz="1300" b="1" i="0">
                <a:solidFill>
                  <a:srgbClr val="111111"/>
                </a:solidFill>
                <a:latin typeface="Arial"/>
              </a:rPr>
              <a:t>24 %</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6F2"/>
          </a:solidFill>
          <a:ln>
            <a:noFill/>
          </a:ln>
          <a:effectLst/>
        </p:spPr>
        <p:txBody>
          <a:bodyPr rtlCol="0" anchor="ctr"/>
          <a:lstStyle/>
          <a:p>
            <a:pPr algn="ctr"/>
          </a:p>
        </p:txBody>
      </p:sp>
      <p:sp>
        <p:nvSpPr>
          <p:cNvPr id="3" name="TextBox 2"/>
          <p:cNvSpPr txBox="1"/>
          <p:nvPr/>
        </p:nvSpPr>
        <p:spPr>
          <a:xfrm>
            <a:off x="579120" y="426720"/>
            <a:ext cx="7315200" cy="182880"/>
          </a:xfrm>
          <a:prstGeom prst="rect">
            <a:avLst/>
          </a:prstGeom>
          <a:noFill/>
        </p:spPr>
        <p:txBody>
          <a:bodyPr wrap="square" anchor="t" lIns="0" rIns="0" tIns="0" bIns="0">
            <a:spAutoFit/>
          </a:bodyPr>
          <a:lstStyle/>
          <a:p>
            <a:pPr algn="l"/>
            <a:r>
              <a:rPr sz="1300" b="1" i="0">
                <a:solidFill>
                  <a:srgbClr val="EE6A2C"/>
                </a:solidFill>
                <a:latin typeface="Arial"/>
              </a:rPr>
              <a:t>INSIGHTS QUALITATIFS · SEPTEMBRE 2026</a:t>
            </a:r>
          </a:p>
        </p:txBody>
      </p:sp>
      <p:sp>
        <p:nvSpPr>
          <p:cNvPr id="4" name="TextBox 3"/>
          <p:cNvSpPr txBox="1"/>
          <p:nvPr/>
        </p:nvSpPr>
        <p:spPr>
          <a:xfrm>
            <a:off x="579120" y="609600"/>
            <a:ext cx="7315200" cy="487680"/>
          </a:xfrm>
          <a:prstGeom prst="rect">
            <a:avLst/>
          </a:prstGeom>
          <a:noFill/>
        </p:spPr>
        <p:txBody>
          <a:bodyPr wrap="square" anchor="t" lIns="0" rIns="0" tIns="0" bIns="0">
            <a:spAutoFit/>
          </a:bodyPr>
          <a:lstStyle/>
          <a:p>
            <a:pPr algn="l"/>
            <a:r>
              <a:rPr sz="3600" b="1" i="0">
                <a:solidFill>
                  <a:srgbClr val="111111"/>
                </a:solidFill>
                <a:latin typeface="Arial"/>
              </a:rPr>
              <a:t>FidMe</a:t>
            </a:r>
          </a:p>
        </p:txBody>
      </p:sp>
      <p:sp>
        <p:nvSpPr>
          <p:cNvPr id="5" name="TextBox 4"/>
          <p:cNvSpPr txBox="1"/>
          <p:nvPr/>
        </p:nvSpPr>
        <p:spPr>
          <a:xfrm>
            <a:off x="9144000" y="499872"/>
            <a:ext cx="1889760" cy="182880"/>
          </a:xfrm>
          <a:prstGeom prst="rect">
            <a:avLst/>
          </a:prstGeom>
          <a:noFill/>
        </p:spPr>
        <p:txBody>
          <a:bodyPr wrap="square" anchor="t" lIns="0" rIns="0" tIns="0" bIns="0">
            <a:spAutoFit/>
          </a:bodyPr>
          <a:lstStyle/>
          <a:p>
            <a:pPr algn="r"/>
            <a:r>
              <a:rPr sz="1500" b="1" i="0">
                <a:solidFill>
                  <a:srgbClr val="111111"/>
                </a:solidFill>
                <a:latin typeface="Arial"/>
              </a:rPr>
              <a:t>Lemrock</a:t>
            </a:r>
          </a:p>
        </p:txBody>
      </p:sp>
      <p:sp>
        <p:nvSpPr>
          <p:cNvPr id="6" name="TextBox 5"/>
          <p:cNvSpPr txBox="1"/>
          <p:nvPr/>
        </p:nvSpPr>
        <p:spPr>
          <a:xfrm>
            <a:off x="579120" y="1219200"/>
            <a:ext cx="9144000" cy="182880"/>
          </a:xfrm>
          <a:prstGeom prst="rect">
            <a:avLst/>
          </a:prstGeom>
          <a:noFill/>
        </p:spPr>
        <p:txBody>
          <a:bodyPr wrap="square" anchor="t" lIns="0" rIns="0" tIns="0" bIns="0">
            <a:spAutoFit/>
          </a:bodyPr>
          <a:lstStyle/>
          <a:p>
            <a:pPr algn="l"/>
            <a:r>
              <a:rPr sz="1300" b="1" i="0">
                <a:solidFill>
                  <a:srgbClr val="EE6A2C"/>
                </a:solidFill>
                <a:latin typeface="Arial"/>
              </a:rPr>
              <a:t>OBJECTIF   </a:t>
            </a:r>
            <a:r>
              <a:rPr sz="1300" b="0" i="0">
                <a:solidFill>
                  <a:srgbClr val="111111"/>
                </a:solidFill>
                <a:latin typeface="Arial"/>
              </a:rPr>
              <a:t>Acquérir de nouveaux clients.</a:t>
            </a:r>
          </a:p>
        </p:txBody>
      </p:sp>
      <p:sp>
        <p:nvSpPr>
          <p:cNvPr id="7" name="TextBox 6"/>
          <p:cNvSpPr txBox="1"/>
          <p:nvPr/>
        </p:nvSpPr>
        <p:spPr>
          <a:xfrm>
            <a:off x="579120" y="1524000"/>
            <a:ext cx="4876800" cy="182880"/>
          </a:xfrm>
          <a:prstGeom prst="rect">
            <a:avLst/>
          </a:prstGeom>
          <a:noFill/>
        </p:spPr>
        <p:txBody>
          <a:bodyPr wrap="square" anchor="t" lIns="0" rIns="0" tIns="0" bIns="0">
            <a:spAutoFit/>
          </a:bodyPr>
          <a:lstStyle/>
          <a:p>
            <a:pPr algn="l"/>
            <a:r>
              <a:rPr sz="1400" b="1" i="0">
                <a:solidFill>
                  <a:srgbClr val="555B66"/>
                </a:solidFill>
                <a:latin typeface="Arial"/>
              </a:rPr>
              <a:t>INSIGHTS QUALITATIFS</a:t>
            </a:r>
          </a:p>
        </p:txBody>
      </p:sp>
      <p:sp>
        <p:nvSpPr>
          <p:cNvPr id="8" name="Rectangle 7"/>
          <p:cNvSpPr/>
          <p:nvPr/>
        </p:nvSpPr>
        <p:spPr>
          <a:xfrm>
            <a:off x="579120" y="1816608"/>
            <a:ext cx="5071872" cy="2121408"/>
          </a:xfrm>
          <a:prstGeom prst="rect">
            <a:avLst/>
          </a:prstGeom>
          <a:solidFill>
            <a:srgbClr val="FFFFFF"/>
          </a:solidFill>
          <a:ln>
            <a:noFill/>
          </a:ln>
          <a:effectLst/>
        </p:spPr>
        <p:txBody>
          <a:bodyPr rtlCol="0" anchor="ctr"/>
          <a:lstStyle/>
          <a:p>
            <a:pPr algn="ctr"/>
          </a:p>
        </p:txBody>
      </p:sp>
      <p:sp>
        <p:nvSpPr>
          <p:cNvPr id="9" name="TextBox 8"/>
          <p:cNvSpPr txBox="1"/>
          <p:nvPr/>
        </p:nvSpPr>
        <p:spPr>
          <a:xfrm>
            <a:off x="835152" y="2029968"/>
            <a:ext cx="487680" cy="243840"/>
          </a:xfrm>
          <a:prstGeom prst="rect">
            <a:avLst/>
          </a:prstGeom>
          <a:noFill/>
        </p:spPr>
        <p:txBody>
          <a:bodyPr wrap="square" anchor="t" lIns="0" rIns="0" tIns="0" bIns="0">
            <a:spAutoFit/>
          </a:bodyPr>
          <a:lstStyle/>
          <a:p>
            <a:pPr algn="l"/>
            <a:r>
              <a:rPr sz="2000" b="1" i="0">
                <a:solidFill>
                  <a:srgbClr val="EE6A2C"/>
                </a:solidFill>
                <a:latin typeface="Arial"/>
              </a:rPr>
              <a:t>01</a:t>
            </a:r>
          </a:p>
        </p:txBody>
      </p:sp>
      <p:sp>
        <p:nvSpPr>
          <p:cNvPr id="10" name="TextBox 9"/>
          <p:cNvSpPr txBox="1"/>
          <p:nvPr/>
        </p:nvSpPr>
        <p:spPr>
          <a:xfrm>
            <a:off x="1383792" y="2048256"/>
            <a:ext cx="4023360" cy="365760"/>
          </a:xfrm>
          <a:prstGeom prst="rect">
            <a:avLst/>
          </a:prstGeom>
          <a:noFill/>
        </p:spPr>
        <p:txBody>
          <a:bodyPr wrap="square" anchor="t" lIns="0" rIns="0" tIns="0" bIns="0">
            <a:spAutoFit/>
          </a:bodyPr>
          <a:lstStyle/>
          <a:p>
            <a:pPr algn="l"/>
            <a:r>
              <a:rPr sz="1400" b="1" i="0">
                <a:solidFill>
                  <a:srgbClr val="111111"/>
                </a:solidFill>
                <a:latin typeface="Arial"/>
              </a:rPr>
              <a:t>Les offres concrètes cliquent le mieux</a:t>
            </a:r>
          </a:p>
        </p:txBody>
      </p:sp>
      <p:sp>
        <p:nvSpPr>
          <p:cNvPr id="11" name="TextBox 10"/>
          <p:cNvSpPr txBox="1"/>
          <p:nvPr/>
        </p:nvSpPr>
        <p:spPr>
          <a:xfrm>
            <a:off x="835152" y="2609088"/>
            <a:ext cx="4572000" cy="731520"/>
          </a:xfrm>
          <a:prstGeom prst="rect">
            <a:avLst/>
          </a:prstGeom>
          <a:noFill/>
        </p:spPr>
        <p:txBody>
          <a:bodyPr wrap="square" anchor="t" lIns="0" rIns="0" tIns="0" bIns="0">
            <a:spAutoFit/>
          </a:bodyPr>
          <a:lstStyle/>
          <a:p>
            <a:pPr algn="l"/>
            <a:r>
              <a:rPr sz="1100" b="0" i="0">
                <a:solidFill>
                  <a:srgbClr val="555B66"/>
                </a:solidFill>
                <a:latin typeface="Arial"/>
              </a:rPr>
              <a:t>L'offre « 2 € pour l'achat d'un pack STABILO » atteint 2,07 fois le CTR moyen.</a:t>
            </a:r>
          </a:p>
        </p:txBody>
      </p:sp>
      <p:sp>
        <p:nvSpPr>
          <p:cNvPr id="12" name="TextBox 11"/>
          <p:cNvSpPr txBox="1"/>
          <p:nvPr/>
        </p:nvSpPr>
        <p:spPr>
          <a:xfrm>
            <a:off x="835152" y="3310128"/>
            <a:ext cx="4572000" cy="487680"/>
          </a:xfrm>
          <a:prstGeom prst="rect">
            <a:avLst/>
          </a:prstGeom>
          <a:noFill/>
        </p:spPr>
        <p:txBody>
          <a:bodyPr wrap="square" anchor="t" lIns="0" rIns="0" tIns="0" bIns="0">
            <a:spAutoFit/>
          </a:bodyPr>
          <a:lstStyle/>
          <a:p>
            <a:pPr algn="l"/>
            <a:r>
              <a:rPr sz="900" b="1" i="0">
                <a:solidFill>
                  <a:srgbClr val="555B66"/>
                </a:solidFill>
                <a:latin typeface="Arial"/>
              </a:rPr>
              <a:t>→  Mettre le montant remboursé dans le titre de l'annonce.</a:t>
            </a:r>
          </a:p>
        </p:txBody>
      </p:sp>
      <p:sp>
        <p:nvSpPr>
          <p:cNvPr id="13" name="Rectangle 12"/>
          <p:cNvSpPr/>
          <p:nvPr/>
        </p:nvSpPr>
        <p:spPr>
          <a:xfrm>
            <a:off x="5992368" y="1816608"/>
            <a:ext cx="5071872" cy="2121408"/>
          </a:xfrm>
          <a:prstGeom prst="rect">
            <a:avLst/>
          </a:prstGeom>
          <a:solidFill>
            <a:srgbClr val="FFFFFF"/>
          </a:solidFill>
          <a:ln>
            <a:noFill/>
          </a:ln>
          <a:effectLst/>
        </p:spPr>
        <p:txBody>
          <a:bodyPr rtlCol="0" anchor="ctr"/>
          <a:lstStyle/>
          <a:p>
            <a:pPr algn="ctr"/>
          </a:p>
        </p:txBody>
      </p:sp>
      <p:sp>
        <p:nvSpPr>
          <p:cNvPr id="14" name="TextBox 13"/>
          <p:cNvSpPr txBox="1"/>
          <p:nvPr/>
        </p:nvSpPr>
        <p:spPr>
          <a:xfrm>
            <a:off x="6248400" y="2029968"/>
            <a:ext cx="487680" cy="243840"/>
          </a:xfrm>
          <a:prstGeom prst="rect">
            <a:avLst/>
          </a:prstGeom>
          <a:noFill/>
        </p:spPr>
        <p:txBody>
          <a:bodyPr wrap="square" anchor="t" lIns="0" rIns="0" tIns="0" bIns="0">
            <a:spAutoFit/>
          </a:bodyPr>
          <a:lstStyle/>
          <a:p>
            <a:pPr algn="l"/>
            <a:r>
              <a:rPr sz="2000" b="1" i="0">
                <a:solidFill>
                  <a:srgbClr val="EE6A2C"/>
                </a:solidFill>
                <a:latin typeface="Arial"/>
              </a:rPr>
              <a:t>02</a:t>
            </a:r>
          </a:p>
        </p:txBody>
      </p:sp>
      <p:sp>
        <p:nvSpPr>
          <p:cNvPr id="15" name="TextBox 14"/>
          <p:cNvSpPr txBox="1"/>
          <p:nvPr/>
        </p:nvSpPr>
        <p:spPr>
          <a:xfrm>
            <a:off x="6797040" y="2048256"/>
            <a:ext cx="4023360" cy="365760"/>
          </a:xfrm>
          <a:prstGeom prst="rect">
            <a:avLst/>
          </a:prstGeom>
          <a:noFill/>
        </p:spPr>
        <p:txBody>
          <a:bodyPr wrap="square" anchor="t" lIns="0" rIns="0" tIns="0" bIns="0">
            <a:spAutoFit/>
          </a:bodyPr>
          <a:lstStyle/>
          <a:p>
            <a:pPr algn="l"/>
            <a:r>
              <a:rPr sz="1400" b="1" i="0">
                <a:solidFill>
                  <a:srgbClr val="111111"/>
                </a:solidFill>
                <a:latin typeface="Arial"/>
              </a:rPr>
              <a:t>Les vins et les gourmandises surperforment</a:t>
            </a:r>
          </a:p>
        </p:txBody>
      </p:sp>
      <p:sp>
        <p:nvSpPr>
          <p:cNvPr id="16" name="TextBox 15"/>
          <p:cNvSpPr txBox="1"/>
          <p:nvPr/>
        </p:nvSpPr>
        <p:spPr>
          <a:xfrm>
            <a:off x="6248400" y="2609088"/>
            <a:ext cx="4572000" cy="731520"/>
          </a:xfrm>
          <a:prstGeom prst="rect">
            <a:avLst/>
          </a:prstGeom>
          <a:noFill/>
        </p:spPr>
        <p:txBody>
          <a:bodyPr wrap="square" anchor="t" lIns="0" rIns="0" tIns="0" bIns="0">
            <a:spAutoFit/>
          </a:bodyPr>
          <a:lstStyle/>
          <a:p>
            <a:pPr algn="l"/>
            <a:r>
              <a:rPr sz="1100" b="0" i="0">
                <a:solidFill>
                  <a:srgbClr val="555B66"/>
                </a:solidFill>
                <a:latin typeface="Arial"/>
              </a:rPr>
              <a:t>Les vins (1,28 fois), les snacks et confiseries (1,19 fois) et les boissons (1,18 fois) dépassent la moyenne.</a:t>
            </a:r>
          </a:p>
        </p:txBody>
      </p:sp>
      <p:sp>
        <p:nvSpPr>
          <p:cNvPr id="17" name="TextBox 16"/>
          <p:cNvSpPr txBox="1"/>
          <p:nvPr/>
        </p:nvSpPr>
        <p:spPr>
          <a:xfrm>
            <a:off x="6248400" y="3310128"/>
            <a:ext cx="4572000" cy="487680"/>
          </a:xfrm>
          <a:prstGeom prst="rect">
            <a:avLst/>
          </a:prstGeom>
          <a:noFill/>
        </p:spPr>
        <p:txBody>
          <a:bodyPr wrap="square" anchor="t" lIns="0" rIns="0" tIns="0" bIns="0">
            <a:spAutoFit/>
          </a:bodyPr>
          <a:lstStyle/>
          <a:p>
            <a:pPr algn="l"/>
            <a:r>
              <a:rPr sz="900" b="1" i="0">
                <a:solidFill>
                  <a:srgbClr val="555B66"/>
                </a:solidFill>
                <a:latin typeface="Arial"/>
              </a:rPr>
              <a:t>→  Donner plus de place aux vins et gourmandises à l'approche des fêtes.</a:t>
            </a:r>
          </a:p>
        </p:txBody>
      </p:sp>
      <p:sp>
        <p:nvSpPr>
          <p:cNvPr id="18" name="Rectangle 17"/>
          <p:cNvSpPr/>
          <p:nvPr/>
        </p:nvSpPr>
        <p:spPr>
          <a:xfrm>
            <a:off x="579120" y="4133088"/>
            <a:ext cx="5071872" cy="2121408"/>
          </a:xfrm>
          <a:prstGeom prst="rect">
            <a:avLst/>
          </a:prstGeom>
          <a:solidFill>
            <a:srgbClr val="FFFFFF"/>
          </a:solidFill>
          <a:ln>
            <a:noFill/>
          </a:ln>
          <a:effectLst/>
        </p:spPr>
        <p:txBody>
          <a:bodyPr rtlCol="0" anchor="ctr"/>
          <a:lstStyle/>
          <a:p>
            <a:pPr algn="ctr"/>
          </a:p>
        </p:txBody>
      </p:sp>
      <p:sp>
        <p:nvSpPr>
          <p:cNvPr id="19" name="TextBox 18"/>
          <p:cNvSpPr txBox="1"/>
          <p:nvPr/>
        </p:nvSpPr>
        <p:spPr>
          <a:xfrm>
            <a:off x="835152" y="4346448"/>
            <a:ext cx="487680" cy="243840"/>
          </a:xfrm>
          <a:prstGeom prst="rect">
            <a:avLst/>
          </a:prstGeom>
          <a:noFill/>
        </p:spPr>
        <p:txBody>
          <a:bodyPr wrap="square" anchor="t" lIns="0" rIns="0" tIns="0" bIns="0">
            <a:spAutoFit/>
          </a:bodyPr>
          <a:lstStyle/>
          <a:p>
            <a:pPr algn="l"/>
            <a:r>
              <a:rPr sz="2000" b="1" i="0">
                <a:solidFill>
                  <a:srgbClr val="EE6A2C"/>
                </a:solidFill>
                <a:latin typeface="Arial"/>
              </a:rPr>
              <a:t>03</a:t>
            </a:r>
          </a:p>
        </p:txBody>
      </p:sp>
      <p:sp>
        <p:nvSpPr>
          <p:cNvPr id="20" name="TextBox 19"/>
          <p:cNvSpPr txBox="1"/>
          <p:nvPr/>
        </p:nvSpPr>
        <p:spPr>
          <a:xfrm>
            <a:off x="1383792" y="4364736"/>
            <a:ext cx="4023360" cy="365760"/>
          </a:xfrm>
          <a:prstGeom prst="rect">
            <a:avLst/>
          </a:prstGeom>
          <a:noFill/>
        </p:spPr>
        <p:txBody>
          <a:bodyPr wrap="square" anchor="t" lIns="0" rIns="0" tIns="0" bIns="0">
            <a:spAutoFit/>
          </a:bodyPr>
          <a:lstStyle/>
          <a:p>
            <a:pPr algn="l"/>
            <a:r>
              <a:rPr sz="1400" b="1" i="0">
                <a:solidFill>
                  <a:srgbClr val="111111"/>
                </a:solidFill>
                <a:latin typeface="Arial"/>
              </a:rPr>
              <a:t>Revoir le végétal, le bébé et l'animalerie</a:t>
            </a:r>
          </a:p>
        </p:txBody>
      </p:sp>
      <p:sp>
        <p:nvSpPr>
          <p:cNvPr id="21" name="TextBox 20"/>
          <p:cNvSpPr txBox="1"/>
          <p:nvPr/>
        </p:nvSpPr>
        <p:spPr>
          <a:xfrm>
            <a:off x="835152" y="4925568"/>
            <a:ext cx="4572000" cy="731520"/>
          </a:xfrm>
          <a:prstGeom prst="rect">
            <a:avLst/>
          </a:prstGeom>
          <a:noFill/>
        </p:spPr>
        <p:txBody>
          <a:bodyPr wrap="square" anchor="t" lIns="0" rIns="0" tIns="0" bIns="0">
            <a:spAutoFit/>
          </a:bodyPr>
          <a:lstStyle/>
          <a:p>
            <a:pPr algn="l"/>
            <a:r>
              <a:rPr sz="1100" b="0" i="0">
                <a:solidFill>
                  <a:srgbClr val="555B66"/>
                </a:solidFill>
                <a:latin typeface="Arial"/>
              </a:rPr>
              <a:t>Les boissons végétales Bjorg (0,56 fois), Le Gaulois Végétal (0,60 fois), Blédichef (0,64 fois) et Whiskas (0,70 fois) restent sous la moyenne.</a:t>
            </a:r>
          </a:p>
        </p:txBody>
      </p:sp>
      <p:sp>
        <p:nvSpPr>
          <p:cNvPr id="22" name="TextBox 21"/>
          <p:cNvSpPr txBox="1"/>
          <p:nvPr/>
        </p:nvSpPr>
        <p:spPr>
          <a:xfrm>
            <a:off x="835152" y="5626608"/>
            <a:ext cx="4572000" cy="487680"/>
          </a:xfrm>
          <a:prstGeom prst="rect">
            <a:avLst/>
          </a:prstGeom>
          <a:noFill/>
        </p:spPr>
        <p:txBody>
          <a:bodyPr wrap="square" anchor="t" lIns="0" rIns="0" tIns="0" bIns="0">
            <a:spAutoFit/>
          </a:bodyPr>
          <a:lstStyle/>
          <a:p>
            <a:pPr algn="l"/>
            <a:r>
              <a:rPr sz="900" b="1" i="0">
                <a:solidFill>
                  <a:srgbClr val="555B66"/>
                </a:solidFill>
                <a:latin typeface="Arial"/>
              </a:rPr>
              <a:t>→  Tester des accroches centrées sur l'économie réalisée.</a:t>
            </a:r>
          </a:p>
        </p:txBody>
      </p:sp>
      <p:sp>
        <p:nvSpPr>
          <p:cNvPr id="23" name="Rectangle 22"/>
          <p:cNvSpPr/>
          <p:nvPr/>
        </p:nvSpPr>
        <p:spPr>
          <a:xfrm>
            <a:off x="5992368" y="4133088"/>
            <a:ext cx="5071872" cy="2121408"/>
          </a:xfrm>
          <a:prstGeom prst="rect">
            <a:avLst/>
          </a:prstGeom>
          <a:solidFill>
            <a:srgbClr val="FFFFFF"/>
          </a:solidFill>
          <a:ln>
            <a:noFill/>
          </a:ln>
          <a:effectLst/>
        </p:spPr>
        <p:txBody>
          <a:bodyPr rtlCol="0" anchor="ctr"/>
          <a:lstStyle/>
          <a:p>
            <a:pPr algn="ctr"/>
          </a:p>
        </p:txBody>
      </p:sp>
      <p:sp>
        <p:nvSpPr>
          <p:cNvPr id="24" name="TextBox 23"/>
          <p:cNvSpPr txBox="1"/>
          <p:nvPr/>
        </p:nvSpPr>
        <p:spPr>
          <a:xfrm>
            <a:off x="6248400" y="4346448"/>
            <a:ext cx="487680" cy="243840"/>
          </a:xfrm>
          <a:prstGeom prst="rect">
            <a:avLst/>
          </a:prstGeom>
          <a:noFill/>
        </p:spPr>
        <p:txBody>
          <a:bodyPr wrap="square" anchor="t" lIns="0" rIns="0" tIns="0" bIns="0">
            <a:spAutoFit/>
          </a:bodyPr>
          <a:lstStyle/>
          <a:p>
            <a:pPr algn="l"/>
            <a:r>
              <a:rPr sz="2000" b="1" i="0">
                <a:solidFill>
                  <a:srgbClr val="EE6A2C"/>
                </a:solidFill>
                <a:latin typeface="Arial"/>
              </a:rPr>
              <a:t>04</a:t>
            </a:r>
          </a:p>
        </p:txBody>
      </p:sp>
      <p:sp>
        <p:nvSpPr>
          <p:cNvPr id="25" name="TextBox 24"/>
          <p:cNvSpPr txBox="1"/>
          <p:nvPr/>
        </p:nvSpPr>
        <p:spPr>
          <a:xfrm>
            <a:off x="6797040" y="4364736"/>
            <a:ext cx="4023360" cy="365760"/>
          </a:xfrm>
          <a:prstGeom prst="rect">
            <a:avLst/>
          </a:prstGeom>
          <a:noFill/>
        </p:spPr>
        <p:txBody>
          <a:bodyPr wrap="square" anchor="t" lIns="0" rIns="0" tIns="0" bIns="0">
            <a:spAutoFit/>
          </a:bodyPr>
          <a:lstStyle/>
          <a:p>
            <a:pPr algn="l"/>
            <a:r>
              <a:rPr sz="1400" b="1" i="0">
                <a:solidFill>
                  <a:srgbClr val="111111"/>
                </a:solidFill>
                <a:latin typeface="Arial"/>
              </a:rPr>
              <a:t>Le CTR double</a:t>
            </a:r>
          </a:p>
        </p:txBody>
      </p:sp>
      <p:sp>
        <p:nvSpPr>
          <p:cNvPr id="26" name="TextBox 25"/>
          <p:cNvSpPr txBox="1"/>
          <p:nvPr/>
        </p:nvSpPr>
        <p:spPr>
          <a:xfrm>
            <a:off x="6248400" y="4925568"/>
            <a:ext cx="4572000" cy="731520"/>
          </a:xfrm>
          <a:prstGeom prst="rect">
            <a:avLst/>
          </a:prstGeom>
          <a:noFill/>
        </p:spPr>
        <p:txBody>
          <a:bodyPr wrap="square" anchor="t" lIns="0" rIns="0" tIns="0" bIns="0">
            <a:spAutoFit/>
          </a:bodyPr>
          <a:lstStyle/>
          <a:p>
            <a:pPr algn="l"/>
            <a:r>
              <a:rPr sz="1100" b="0" i="0">
                <a:solidFill>
                  <a:srgbClr val="555B66"/>
                </a:solidFill>
                <a:latin typeface="Arial"/>
              </a:rPr>
              <a:t>Les clics passent de 1 378 à 3 086. Le CTR passe de 0,23 % à 0,44 %. WaterWipes représente 16 % de la diffusion.</a:t>
            </a:r>
          </a:p>
        </p:txBody>
      </p:sp>
      <p:sp>
        <p:nvSpPr>
          <p:cNvPr id="27" name="TextBox 26"/>
          <p:cNvSpPr txBox="1"/>
          <p:nvPr/>
        </p:nvSpPr>
        <p:spPr>
          <a:xfrm>
            <a:off x="6248400" y="5626608"/>
            <a:ext cx="4572000" cy="487680"/>
          </a:xfrm>
          <a:prstGeom prst="rect">
            <a:avLst/>
          </a:prstGeom>
          <a:noFill/>
        </p:spPr>
        <p:txBody>
          <a:bodyPr wrap="square" anchor="t" lIns="0" rIns="0" tIns="0" bIns="0">
            <a:spAutoFit/>
          </a:bodyPr>
          <a:lstStyle/>
          <a:p>
            <a:pPr algn="l"/>
            <a:r>
              <a:rPr sz="900" b="1" i="0">
                <a:solidFill>
                  <a:srgbClr val="555B66"/>
                </a:solidFill>
                <a:latin typeface="Arial"/>
              </a:rPr>
              <a:t>→  Poursuivre sur les offres qui performent et préparer les offres de Noël.</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6F2"/>
          </a:solidFill>
          <a:ln>
            <a:noFill/>
          </a:ln>
          <a:effectLst/>
        </p:spPr>
        <p:txBody>
          <a:bodyPr rtlCol="0" anchor="ctr"/>
          <a:lstStyle/>
          <a:p>
            <a:pPr algn="ctr"/>
          </a:p>
        </p:txBody>
      </p:sp>
      <p:sp>
        <p:nvSpPr>
          <p:cNvPr id="3" name="TextBox 2"/>
          <p:cNvSpPr txBox="1"/>
          <p:nvPr/>
        </p:nvSpPr>
        <p:spPr>
          <a:xfrm>
            <a:off x="530352" y="487680"/>
            <a:ext cx="7315200" cy="182880"/>
          </a:xfrm>
          <a:prstGeom prst="rect">
            <a:avLst/>
          </a:prstGeom>
          <a:noFill/>
        </p:spPr>
        <p:txBody>
          <a:bodyPr wrap="square" anchor="t" lIns="0" rIns="0" tIns="0" bIns="0">
            <a:spAutoFit/>
          </a:bodyPr>
          <a:lstStyle/>
          <a:p>
            <a:pPr algn="l"/>
            <a:r>
              <a:rPr sz="1300" b="1" i="0">
                <a:solidFill>
                  <a:srgbClr val="EE6A2C"/>
                </a:solidFill>
                <a:latin typeface="Arial"/>
              </a:rPr>
              <a:t>PERFORMANCE REPORT · 01/09/2026 → 30/09/2026</a:t>
            </a:r>
          </a:p>
        </p:txBody>
      </p:sp>
      <p:sp>
        <p:nvSpPr>
          <p:cNvPr id="4" name="TextBox 3"/>
          <p:cNvSpPr txBox="1"/>
          <p:nvPr/>
        </p:nvSpPr>
        <p:spPr>
          <a:xfrm>
            <a:off x="530352" y="640080"/>
            <a:ext cx="7315200" cy="487680"/>
          </a:xfrm>
          <a:prstGeom prst="rect">
            <a:avLst/>
          </a:prstGeom>
          <a:noFill/>
        </p:spPr>
        <p:txBody>
          <a:bodyPr wrap="square" anchor="t" lIns="0" rIns="0" tIns="0" bIns="0">
            <a:spAutoFit/>
          </a:bodyPr>
          <a:lstStyle/>
          <a:p>
            <a:pPr algn="l"/>
            <a:r>
              <a:rPr sz="3600" b="1" i="0">
                <a:solidFill>
                  <a:srgbClr val="111111"/>
                </a:solidFill>
                <a:latin typeface="Arial"/>
              </a:rPr>
              <a:t>Levi's</a:t>
            </a:r>
          </a:p>
        </p:txBody>
      </p:sp>
      <p:sp>
        <p:nvSpPr>
          <p:cNvPr id="5" name="TextBox 4"/>
          <p:cNvSpPr txBox="1"/>
          <p:nvPr/>
        </p:nvSpPr>
        <p:spPr>
          <a:xfrm>
            <a:off x="7924800" y="591312"/>
            <a:ext cx="3304032" cy="152400"/>
          </a:xfrm>
          <a:prstGeom prst="rect">
            <a:avLst/>
          </a:prstGeom>
          <a:noFill/>
        </p:spPr>
        <p:txBody>
          <a:bodyPr wrap="square" anchor="t" lIns="0" rIns="0" tIns="0" bIns="0">
            <a:spAutoFit/>
          </a:bodyPr>
          <a:lstStyle/>
          <a:p>
            <a:pPr algn="r"/>
            <a:r>
              <a:rPr sz="1200" b="1" i="0">
                <a:solidFill>
                  <a:srgbClr val="8A93A6"/>
                </a:solidFill>
                <a:latin typeface="Arial"/>
              </a:rPr>
              <a:t>COMPARISON</a:t>
            </a:r>
          </a:p>
        </p:txBody>
      </p:sp>
      <p:sp>
        <p:nvSpPr>
          <p:cNvPr id="6" name="TextBox 5"/>
          <p:cNvSpPr txBox="1"/>
          <p:nvPr/>
        </p:nvSpPr>
        <p:spPr>
          <a:xfrm>
            <a:off x="7924800" y="780288"/>
            <a:ext cx="3304032" cy="182880"/>
          </a:xfrm>
          <a:prstGeom prst="rect">
            <a:avLst/>
          </a:prstGeom>
          <a:noFill/>
        </p:spPr>
        <p:txBody>
          <a:bodyPr wrap="square" anchor="t" lIns="0" rIns="0" tIns="0" bIns="0">
            <a:spAutoFit/>
          </a:bodyPr>
          <a:lstStyle/>
          <a:p>
            <a:pPr algn="r"/>
            <a:r>
              <a:rPr sz="1500" b="1" i="0">
                <a:solidFill>
                  <a:srgbClr val="111111"/>
                </a:solidFill>
                <a:latin typeface="Arial"/>
              </a:rPr>
              <a:t>vs 01/08/2026 → 31/08/2026</a:t>
            </a:r>
          </a:p>
        </p:txBody>
      </p:sp>
      <p:sp>
        <p:nvSpPr>
          <p:cNvPr id="7" name="TextBox 6"/>
          <p:cNvSpPr txBox="1"/>
          <p:nvPr/>
        </p:nvSpPr>
        <p:spPr>
          <a:xfrm>
            <a:off x="530352" y="1280160"/>
            <a:ext cx="2438400" cy="182880"/>
          </a:xfrm>
          <a:prstGeom prst="rect">
            <a:avLst/>
          </a:prstGeom>
          <a:noFill/>
        </p:spPr>
        <p:txBody>
          <a:bodyPr wrap="square" anchor="t" lIns="0" rIns="0" tIns="0" bIns="0">
            <a:spAutoFit/>
          </a:bodyPr>
          <a:lstStyle/>
          <a:p>
            <a:pPr algn="l"/>
            <a:r>
              <a:rPr sz="1400" b="1" i="0">
                <a:solidFill>
                  <a:srgbClr val="EE6A2C"/>
                </a:solidFill>
                <a:latin typeface="Arial"/>
              </a:rPr>
              <a:t>REACH</a:t>
            </a:r>
          </a:p>
        </p:txBody>
      </p:sp>
      <p:sp>
        <p:nvSpPr>
          <p:cNvPr id="8" name="TextBox 7"/>
          <p:cNvSpPr txBox="1"/>
          <p:nvPr/>
        </p:nvSpPr>
        <p:spPr>
          <a:xfrm>
            <a:off x="2389632" y="1280160"/>
            <a:ext cx="2438400" cy="182880"/>
          </a:xfrm>
          <a:prstGeom prst="rect">
            <a:avLst/>
          </a:prstGeom>
          <a:noFill/>
        </p:spPr>
        <p:txBody>
          <a:bodyPr wrap="square" anchor="t" lIns="0" rIns="0" tIns="0" bIns="0">
            <a:spAutoFit/>
          </a:bodyPr>
          <a:lstStyle/>
          <a:p>
            <a:pPr algn="l"/>
            <a:r>
              <a:rPr sz="1400" b="1" i="0">
                <a:solidFill>
                  <a:srgbClr val="EE6A2C"/>
                </a:solidFill>
                <a:latin typeface="Arial"/>
              </a:rPr>
              <a:t>ENGAGEMENT</a:t>
            </a:r>
          </a:p>
        </p:txBody>
      </p:sp>
      <p:sp>
        <p:nvSpPr>
          <p:cNvPr id="9" name="TextBox 8"/>
          <p:cNvSpPr txBox="1"/>
          <p:nvPr/>
        </p:nvSpPr>
        <p:spPr>
          <a:xfrm>
            <a:off x="6108192" y="1280160"/>
            <a:ext cx="2438400" cy="182880"/>
          </a:xfrm>
          <a:prstGeom prst="rect">
            <a:avLst/>
          </a:prstGeom>
          <a:noFill/>
        </p:spPr>
        <p:txBody>
          <a:bodyPr wrap="square" anchor="t" lIns="0" rIns="0" tIns="0" bIns="0">
            <a:spAutoFit/>
          </a:bodyPr>
          <a:lstStyle/>
          <a:p>
            <a:pPr algn="l"/>
            <a:r>
              <a:rPr sz="1400" b="1" i="0">
                <a:solidFill>
                  <a:srgbClr val="EE6A2C"/>
                </a:solidFill>
                <a:latin typeface="Arial"/>
              </a:rPr>
              <a:t>CONVERSION</a:t>
            </a:r>
          </a:p>
        </p:txBody>
      </p:sp>
      <p:sp>
        <p:nvSpPr>
          <p:cNvPr id="10" name="Rectangle 9"/>
          <p:cNvSpPr/>
          <p:nvPr/>
        </p:nvSpPr>
        <p:spPr>
          <a:xfrm>
            <a:off x="530352" y="1536192"/>
            <a:ext cx="1389888" cy="1127760"/>
          </a:xfrm>
          <a:prstGeom prst="rect">
            <a:avLst/>
          </a:prstGeom>
          <a:solidFill>
            <a:srgbClr val="FFFFFF"/>
          </a:solidFill>
          <a:ln>
            <a:noFill/>
          </a:ln>
          <a:effectLst/>
        </p:spPr>
        <p:txBody>
          <a:bodyPr rtlCol="0" anchor="ctr"/>
          <a:lstStyle/>
          <a:p>
            <a:pPr algn="ctr"/>
          </a:p>
        </p:txBody>
      </p:sp>
      <p:sp>
        <p:nvSpPr>
          <p:cNvPr id="11" name="Rectangle 10"/>
          <p:cNvSpPr/>
          <p:nvPr/>
        </p:nvSpPr>
        <p:spPr>
          <a:xfrm>
            <a:off x="530352" y="1536192"/>
            <a:ext cx="24384" cy="1127760"/>
          </a:xfrm>
          <a:prstGeom prst="rect">
            <a:avLst/>
          </a:prstGeom>
          <a:solidFill>
            <a:srgbClr val="EE6A2C"/>
          </a:solidFill>
          <a:ln>
            <a:noFill/>
          </a:ln>
          <a:effectLst/>
        </p:spPr>
        <p:txBody>
          <a:bodyPr rtlCol="0" anchor="ctr"/>
          <a:lstStyle/>
          <a:p>
            <a:pPr algn="ctr"/>
          </a:p>
        </p:txBody>
      </p:sp>
      <p:sp>
        <p:nvSpPr>
          <p:cNvPr id="12" name="TextBox 11"/>
          <p:cNvSpPr txBox="1"/>
          <p:nvPr/>
        </p:nvSpPr>
        <p:spPr>
          <a:xfrm>
            <a:off x="664464" y="1615440"/>
            <a:ext cx="1219200" cy="121920"/>
          </a:xfrm>
          <a:prstGeom prst="rect">
            <a:avLst/>
          </a:prstGeom>
          <a:noFill/>
        </p:spPr>
        <p:txBody>
          <a:bodyPr wrap="square" anchor="t" lIns="0" rIns="0" tIns="0" bIns="0">
            <a:spAutoFit/>
          </a:bodyPr>
          <a:lstStyle/>
          <a:p>
            <a:pPr algn="l"/>
            <a:r>
              <a:rPr sz="1000" b="1" i="0">
                <a:solidFill>
                  <a:srgbClr val="555B66"/>
                </a:solidFill>
                <a:latin typeface="Arial"/>
              </a:rPr>
              <a:t>IMPRESSIONS</a:t>
            </a:r>
          </a:p>
        </p:txBody>
      </p:sp>
      <p:sp>
        <p:nvSpPr>
          <p:cNvPr id="13" name="TextBox 12"/>
          <p:cNvSpPr txBox="1"/>
          <p:nvPr/>
        </p:nvSpPr>
        <p:spPr>
          <a:xfrm>
            <a:off x="664464" y="1889760"/>
            <a:ext cx="1219200" cy="274320"/>
          </a:xfrm>
          <a:prstGeom prst="rect">
            <a:avLst/>
          </a:prstGeom>
          <a:noFill/>
        </p:spPr>
        <p:txBody>
          <a:bodyPr wrap="square" anchor="t" lIns="0" rIns="0" tIns="0" bIns="0">
            <a:spAutoFit/>
          </a:bodyPr>
          <a:lstStyle/>
          <a:p>
            <a:pPr algn="l"/>
            <a:r>
              <a:rPr sz="2200" b="1" i="0">
                <a:solidFill>
                  <a:srgbClr val="111111"/>
                </a:solidFill>
                <a:latin typeface="Arial"/>
              </a:rPr>
              <a:t>378 398</a:t>
            </a:r>
          </a:p>
        </p:txBody>
      </p:sp>
      <p:sp>
        <p:nvSpPr>
          <p:cNvPr id="14" name="TextBox 13"/>
          <p:cNvSpPr txBox="1"/>
          <p:nvPr/>
        </p:nvSpPr>
        <p:spPr>
          <a:xfrm>
            <a:off x="664464" y="2243328"/>
            <a:ext cx="1219200" cy="109728"/>
          </a:xfrm>
          <a:prstGeom prst="rect">
            <a:avLst/>
          </a:prstGeom>
          <a:noFill/>
        </p:spPr>
        <p:txBody>
          <a:bodyPr wrap="square" anchor="t" lIns="0" rIns="0" tIns="0" bIns="0">
            <a:spAutoFit/>
          </a:bodyPr>
          <a:lstStyle/>
          <a:p>
            <a:pPr algn="l"/>
            <a:r>
              <a:rPr sz="1000" b="1" i="0">
                <a:solidFill>
                  <a:srgbClr val="B04837"/>
                </a:solidFill>
                <a:latin typeface="Arial"/>
              </a:rPr>
              <a:t>▼ −29 %</a:t>
            </a:r>
          </a:p>
        </p:txBody>
      </p:sp>
      <p:sp>
        <p:nvSpPr>
          <p:cNvPr id="15" name="TextBox 14"/>
          <p:cNvSpPr txBox="1"/>
          <p:nvPr/>
        </p:nvSpPr>
        <p:spPr>
          <a:xfrm>
            <a:off x="664464" y="2499360"/>
            <a:ext cx="1219200" cy="91440"/>
          </a:xfrm>
          <a:prstGeom prst="rect">
            <a:avLst/>
          </a:prstGeom>
          <a:noFill/>
        </p:spPr>
        <p:txBody>
          <a:bodyPr wrap="square" anchor="t" lIns="0" rIns="0" tIns="0" bIns="0">
            <a:spAutoFit/>
          </a:bodyPr>
          <a:lstStyle/>
          <a:p>
            <a:pPr algn="l"/>
            <a:r>
              <a:rPr sz="800" b="0" i="1">
                <a:solidFill>
                  <a:srgbClr val="555B66"/>
                </a:solidFill>
                <a:latin typeface="Arial"/>
              </a:rPr>
              <a:t>YTD 1 193 411</a:t>
            </a:r>
          </a:p>
        </p:txBody>
      </p:sp>
      <p:sp>
        <p:nvSpPr>
          <p:cNvPr id="16" name="Rectangle 15"/>
          <p:cNvSpPr/>
          <p:nvPr/>
        </p:nvSpPr>
        <p:spPr>
          <a:xfrm>
            <a:off x="2389632" y="1536192"/>
            <a:ext cx="1389888" cy="1127760"/>
          </a:xfrm>
          <a:prstGeom prst="rect">
            <a:avLst/>
          </a:prstGeom>
          <a:solidFill>
            <a:srgbClr val="FFFFFF"/>
          </a:solidFill>
          <a:ln>
            <a:noFill/>
          </a:ln>
          <a:effectLst/>
        </p:spPr>
        <p:txBody>
          <a:bodyPr rtlCol="0" anchor="ctr"/>
          <a:lstStyle/>
          <a:p>
            <a:pPr algn="ctr"/>
          </a:p>
        </p:txBody>
      </p:sp>
      <p:sp>
        <p:nvSpPr>
          <p:cNvPr id="17" name="Rectangle 16"/>
          <p:cNvSpPr/>
          <p:nvPr/>
        </p:nvSpPr>
        <p:spPr>
          <a:xfrm>
            <a:off x="2389632" y="1536192"/>
            <a:ext cx="24384" cy="1127760"/>
          </a:xfrm>
          <a:prstGeom prst="rect">
            <a:avLst/>
          </a:prstGeom>
          <a:solidFill>
            <a:srgbClr val="EE6A2C"/>
          </a:solidFill>
          <a:ln>
            <a:noFill/>
          </a:ln>
          <a:effectLst/>
        </p:spPr>
        <p:txBody>
          <a:bodyPr rtlCol="0" anchor="ctr"/>
          <a:lstStyle/>
          <a:p>
            <a:pPr algn="ctr"/>
          </a:p>
        </p:txBody>
      </p:sp>
      <p:sp>
        <p:nvSpPr>
          <p:cNvPr id="18" name="TextBox 17"/>
          <p:cNvSpPr txBox="1"/>
          <p:nvPr/>
        </p:nvSpPr>
        <p:spPr>
          <a:xfrm>
            <a:off x="2523744" y="1615440"/>
            <a:ext cx="1219200" cy="121920"/>
          </a:xfrm>
          <a:prstGeom prst="rect">
            <a:avLst/>
          </a:prstGeom>
          <a:noFill/>
        </p:spPr>
        <p:txBody>
          <a:bodyPr wrap="square" anchor="t" lIns="0" rIns="0" tIns="0" bIns="0">
            <a:spAutoFit/>
          </a:bodyPr>
          <a:lstStyle/>
          <a:p>
            <a:pPr algn="l"/>
            <a:r>
              <a:rPr sz="1000" b="1" i="0">
                <a:solidFill>
                  <a:srgbClr val="555B66"/>
                </a:solidFill>
                <a:latin typeface="Arial"/>
              </a:rPr>
              <a:t>CLICKS</a:t>
            </a:r>
          </a:p>
        </p:txBody>
      </p:sp>
      <p:sp>
        <p:nvSpPr>
          <p:cNvPr id="19" name="TextBox 18"/>
          <p:cNvSpPr txBox="1"/>
          <p:nvPr/>
        </p:nvSpPr>
        <p:spPr>
          <a:xfrm>
            <a:off x="2523744" y="1889760"/>
            <a:ext cx="1219200" cy="274320"/>
          </a:xfrm>
          <a:prstGeom prst="rect">
            <a:avLst/>
          </a:prstGeom>
          <a:noFill/>
        </p:spPr>
        <p:txBody>
          <a:bodyPr wrap="square" anchor="t" lIns="0" rIns="0" tIns="0" bIns="0">
            <a:spAutoFit/>
          </a:bodyPr>
          <a:lstStyle/>
          <a:p>
            <a:pPr algn="l"/>
            <a:r>
              <a:rPr sz="2200" b="1" i="0">
                <a:solidFill>
                  <a:srgbClr val="111111"/>
                </a:solidFill>
                <a:latin typeface="Arial"/>
              </a:rPr>
              <a:t>1 677</a:t>
            </a:r>
          </a:p>
        </p:txBody>
      </p:sp>
      <p:sp>
        <p:nvSpPr>
          <p:cNvPr id="20" name="TextBox 19"/>
          <p:cNvSpPr txBox="1"/>
          <p:nvPr/>
        </p:nvSpPr>
        <p:spPr>
          <a:xfrm>
            <a:off x="2523744" y="2243328"/>
            <a:ext cx="1219200" cy="109728"/>
          </a:xfrm>
          <a:prstGeom prst="rect">
            <a:avLst/>
          </a:prstGeom>
          <a:noFill/>
        </p:spPr>
        <p:txBody>
          <a:bodyPr wrap="square" anchor="t" lIns="0" rIns="0" tIns="0" bIns="0">
            <a:spAutoFit/>
          </a:bodyPr>
          <a:lstStyle/>
          <a:p>
            <a:pPr algn="l"/>
            <a:r>
              <a:rPr sz="1000" b="1" i="0">
                <a:solidFill>
                  <a:srgbClr val="1E7B34"/>
                </a:solidFill>
                <a:latin typeface="Arial"/>
              </a:rPr>
              <a:t>▲ +46 %</a:t>
            </a:r>
          </a:p>
        </p:txBody>
      </p:sp>
      <p:sp>
        <p:nvSpPr>
          <p:cNvPr id="21" name="TextBox 20"/>
          <p:cNvSpPr txBox="1"/>
          <p:nvPr/>
        </p:nvSpPr>
        <p:spPr>
          <a:xfrm>
            <a:off x="2523744" y="2499360"/>
            <a:ext cx="1219200" cy="91440"/>
          </a:xfrm>
          <a:prstGeom prst="rect">
            <a:avLst/>
          </a:prstGeom>
          <a:noFill/>
        </p:spPr>
        <p:txBody>
          <a:bodyPr wrap="square" anchor="t" lIns="0" rIns="0" tIns="0" bIns="0">
            <a:spAutoFit/>
          </a:bodyPr>
          <a:lstStyle/>
          <a:p>
            <a:pPr algn="l"/>
            <a:r>
              <a:rPr sz="800" b="0" i="1">
                <a:solidFill>
                  <a:srgbClr val="555B66"/>
                </a:solidFill>
                <a:latin typeface="Arial"/>
              </a:rPr>
              <a:t>YTD 3 370</a:t>
            </a:r>
          </a:p>
        </p:txBody>
      </p:sp>
      <p:sp>
        <p:nvSpPr>
          <p:cNvPr id="22" name="Rectangle 21"/>
          <p:cNvSpPr/>
          <p:nvPr/>
        </p:nvSpPr>
        <p:spPr>
          <a:xfrm>
            <a:off x="4248912" y="1536192"/>
            <a:ext cx="1389888" cy="1127760"/>
          </a:xfrm>
          <a:prstGeom prst="rect">
            <a:avLst/>
          </a:prstGeom>
          <a:solidFill>
            <a:srgbClr val="FFFFFF"/>
          </a:solidFill>
          <a:ln>
            <a:noFill/>
          </a:ln>
          <a:effectLst/>
        </p:spPr>
        <p:txBody>
          <a:bodyPr rtlCol="0" anchor="ctr"/>
          <a:lstStyle/>
          <a:p>
            <a:pPr algn="ctr"/>
          </a:p>
        </p:txBody>
      </p:sp>
      <p:sp>
        <p:nvSpPr>
          <p:cNvPr id="23" name="Rectangle 22"/>
          <p:cNvSpPr/>
          <p:nvPr/>
        </p:nvSpPr>
        <p:spPr>
          <a:xfrm>
            <a:off x="4248912" y="1536192"/>
            <a:ext cx="24384" cy="1127760"/>
          </a:xfrm>
          <a:prstGeom prst="rect">
            <a:avLst/>
          </a:prstGeom>
          <a:solidFill>
            <a:srgbClr val="EE6A2C"/>
          </a:solidFill>
          <a:ln>
            <a:noFill/>
          </a:ln>
          <a:effectLst/>
        </p:spPr>
        <p:txBody>
          <a:bodyPr rtlCol="0" anchor="ctr"/>
          <a:lstStyle/>
          <a:p>
            <a:pPr algn="ctr"/>
          </a:p>
        </p:txBody>
      </p:sp>
      <p:sp>
        <p:nvSpPr>
          <p:cNvPr id="24" name="TextBox 23"/>
          <p:cNvSpPr txBox="1"/>
          <p:nvPr/>
        </p:nvSpPr>
        <p:spPr>
          <a:xfrm>
            <a:off x="4383024" y="1615440"/>
            <a:ext cx="1219200" cy="121920"/>
          </a:xfrm>
          <a:prstGeom prst="rect">
            <a:avLst/>
          </a:prstGeom>
          <a:noFill/>
        </p:spPr>
        <p:txBody>
          <a:bodyPr wrap="square" anchor="t" lIns="0" rIns="0" tIns="0" bIns="0">
            <a:spAutoFit/>
          </a:bodyPr>
          <a:lstStyle/>
          <a:p>
            <a:pPr algn="l"/>
            <a:r>
              <a:rPr sz="1000" b="1" i="0">
                <a:solidFill>
                  <a:srgbClr val="555B66"/>
                </a:solidFill>
                <a:latin typeface="Arial"/>
              </a:rPr>
              <a:t>CTR</a:t>
            </a:r>
          </a:p>
        </p:txBody>
      </p:sp>
      <p:sp>
        <p:nvSpPr>
          <p:cNvPr id="25" name="TextBox 24"/>
          <p:cNvSpPr txBox="1"/>
          <p:nvPr/>
        </p:nvSpPr>
        <p:spPr>
          <a:xfrm>
            <a:off x="4383024" y="1889760"/>
            <a:ext cx="1219200" cy="274320"/>
          </a:xfrm>
          <a:prstGeom prst="rect">
            <a:avLst/>
          </a:prstGeom>
          <a:noFill/>
        </p:spPr>
        <p:txBody>
          <a:bodyPr wrap="square" anchor="t" lIns="0" rIns="0" tIns="0" bIns="0">
            <a:spAutoFit/>
          </a:bodyPr>
          <a:lstStyle/>
          <a:p>
            <a:pPr algn="l"/>
            <a:r>
              <a:rPr sz="2200" b="1" i="0">
                <a:solidFill>
                  <a:srgbClr val="111111"/>
                </a:solidFill>
                <a:latin typeface="Arial"/>
              </a:rPr>
              <a:t>0,44 %</a:t>
            </a:r>
          </a:p>
        </p:txBody>
      </p:sp>
      <p:sp>
        <p:nvSpPr>
          <p:cNvPr id="26" name="TextBox 25"/>
          <p:cNvSpPr txBox="1"/>
          <p:nvPr/>
        </p:nvSpPr>
        <p:spPr>
          <a:xfrm>
            <a:off x="4383024" y="2243328"/>
            <a:ext cx="1219200" cy="109728"/>
          </a:xfrm>
          <a:prstGeom prst="rect">
            <a:avLst/>
          </a:prstGeom>
          <a:noFill/>
        </p:spPr>
        <p:txBody>
          <a:bodyPr wrap="square" anchor="t" lIns="0" rIns="0" tIns="0" bIns="0">
            <a:spAutoFit/>
          </a:bodyPr>
          <a:lstStyle/>
          <a:p>
            <a:pPr algn="l"/>
            <a:r>
              <a:rPr sz="1000" b="1" i="0">
                <a:solidFill>
                  <a:srgbClr val="1E7B34"/>
                </a:solidFill>
                <a:latin typeface="Arial"/>
              </a:rPr>
              <a:t>▲ +0,23 pt</a:t>
            </a:r>
          </a:p>
        </p:txBody>
      </p:sp>
      <p:sp>
        <p:nvSpPr>
          <p:cNvPr id="27" name="TextBox 26"/>
          <p:cNvSpPr txBox="1"/>
          <p:nvPr/>
        </p:nvSpPr>
        <p:spPr>
          <a:xfrm>
            <a:off x="4383024" y="2499360"/>
            <a:ext cx="1219200" cy="91440"/>
          </a:xfrm>
          <a:prstGeom prst="rect">
            <a:avLst/>
          </a:prstGeom>
          <a:noFill/>
        </p:spPr>
        <p:txBody>
          <a:bodyPr wrap="square" anchor="t" lIns="0" rIns="0" tIns="0" bIns="0">
            <a:spAutoFit/>
          </a:bodyPr>
          <a:lstStyle/>
          <a:p>
            <a:pPr algn="l"/>
            <a:r>
              <a:rPr sz="800" b="0" i="1">
                <a:solidFill>
                  <a:srgbClr val="555B66"/>
                </a:solidFill>
                <a:latin typeface="Arial"/>
              </a:rPr>
              <a:t>YTD 0,28 %</a:t>
            </a:r>
          </a:p>
        </p:txBody>
      </p:sp>
      <p:sp>
        <p:nvSpPr>
          <p:cNvPr id="28" name="Rectangle 27"/>
          <p:cNvSpPr/>
          <p:nvPr/>
        </p:nvSpPr>
        <p:spPr>
          <a:xfrm>
            <a:off x="6108192" y="1536192"/>
            <a:ext cx="1389888" cy="1127760"/>
          </a:xfrm>
          <a:prstGeom prst="rect">
            <a:avLst/>
          </a:prstGeom>
          <a:solidFill>
            <a:srgbClr val="F1EFEB"/>
          </a:solidFill>
          <a:ln>
            <a:noFill/>
          </a:ln>
          <a:effectLst/>
        </p:spPr>
        <p:txBody>
          <a:bodyPr rtlCol="0" anchor="ctr"/>
          <a:lstStyle/>
          <a:p>
            <a:pPr algn="ctr"/>
          </a:p>
        </p:txBody>
      </p:sp>
      <p:sp>
        <p:nvSpPr>
          <p:cNvPr id="29" name="Rounded Rectangle 28"/>
          <p:cNvSpPr/>
          <p:nvPr/>
        </p:nvSpPr>
        <p:spPr>
          <a:xfrm>
            <a:off x="6827520" y="1450848"/>
            <a:ext cx="609600" cy="170688"/>
          </a:xfrm>
          <a:prstGeom prst="roundRect">
            <a:avLst>
              <a:gd name="adj" fmla="val 50000"/>
            </a:avLst>
          </a:prstGeom>
          <a:solidFill>
            <a:srgbClr val="D9D6D1"/>
          </a:solidFill>
          <a:ln>
            <a:noFill/>
          </a:ln>
          <a:effectLst/>
        </p:spPr>
        <p:txBody>
          <a:bodyPr rtlCol="0" anchor="ctr"/>
          <a:lstStyle/>
          <a:p>
            <a:pPr algn="ctr"/>
          </a:p>
        </p:txBody>
      </p:sp>
      <p:sp>
        <p:nvSpPr>
          <p:cNvPr id="30" name="TextBox 29"/>
          <p:cNvSpPr txBox="1"/>
          <p:nvPr/>
        </p:nvSpPr>
        <p:spPr>
          <a:xfrm>
            <a:off x="6827520" y="1450848"/>
            <a:ext cx="609600" cy="170688"/>
          </a:xfrm>
          <a:prstGeom prst="rect">
            <a:avLst/>
          </a:prstGeom>
          <a:noFill/>
        </p:spPr>
        <p:txBody>
          <a:bodyPr wrap="square" anchor="ctr" lIns="0" rIns="0" tIns="0" bIns="0">
            <a:spAutoFit/>
          </a:bodyPr>
          <a:lstStyle/>
          <a:p>
            <a:pPr algn="ctr"/>
            <a:r>
              <a:rPr sz="800" b="1" i="0">
                <a:solidFill>
                  <a:srgbClr val="555B66"/>
                </a:solidFill>
                <a:latin typeface="Arial"/>
              </a:rPr>
              <a:t>INDICATIF</a:t>
            </a:r>
          </a:p>
        </p:txBody>
      </p:sp>
      <p:sp>
        <p:nvSpPr>
          <p:cNvPr id="31" name="TextBox 30"/>
          <p:cNvSpPr txBox="1"/>
          <p:nvPr/>
        </p:nvSpPr>
        <p:spPr>
          <a:xfrm>
            <a:off x="6242304" y="1706880"/>
            <a:ext cx="1219200" cy="121920"/>
          </a:xfrm>
          <a:prstGeom prst="rect">
            <a:avLst/>
          </a:prstGeom>
          <a:noFill/>
        </p:spPr>
        <p:txBody>
          <a:bodyPr wrap="square" anchor="t" lIns="0" rIns="0" tIns="0" bIns="0">
            <a:spAutoFit/>
          </a:bodyPr>
          <a:lstStyle/>
          <a:p>
            <a:pPr algn="l"/>
            <a:r>
              <a:rPr sz="1000" b="1" i="0">
                <a:solidFill>
                  <a:srgbClr val="8A93A6"/>
                </a:solidFill>
                <a:latin typeface="Arial"/>
              </a:rPr>
              <a:t>CONVERSIONS</a:t>
            </a:r>
          </a:p>
        </p:txBody>
      </p:sp>
      <p:sp>
        <p:nvSpPr>
          <p:cNvPr id="32" name="TextBox 31"/>
          <p:cNvSpPr txBox="1"/>
          <p:nvPr/>
        </p:nvSpPr>
        <p:spPr>
          <a:xfrm>
            <a:off x="6242304" y="1889760"/>
            <a:ext cx="1219200" cy="274320"/>
          </a:xfrm>
          <a:prstGeom prst="rect">
            <a:avLst/>
          </a:prstGeom>
          <a:noFill/>
        </p:spPr>
        <p:txBody>
          <a:bodyPr wrap="square" anchor="t" lIns="0" rIns="0" tIns="0" bIns="0">
            <a:spAutoFit/>
          </a:bodyPr>
          <a:lstStyle/>
          <a:p>
            <a:pPr algn="l"/>
            <a:r>
              <a:rPr sz="2200" b="1" i="0">
                <a:solidFill>
                  <a:srgbClr val="8A93A6"/>
                </a:solidFill>
                <a:latin typeface="Arial"/>
              </a:rPr>
              <a:t>N/A</a:t>
            </a:r>
          </a:p>
        </p:txBody>
      </p:sp>
      <p:sp>
        <p:nvSpPr>
          <p:cNvPr id="33" name="TextBox 32"/>
          <p:cNvSpPr txBox="1"/>
          <p:nvPr/>
        </p:nvSpPr>
        <p:spPr>
          <a:xfrm>
            <a:off x="6242304" y="2243328"/>
            <a:ext cx="1219200" cy="109728"/>
          </a:xfrm>
          <a:prstGeom prst="rect">
            <a:avLst/>
          </a:prstGeom>
          <a:noFill/>
        </p:spPr>
        <p:txBody>
          <a:bodyPr wrap="square" anchor="t" lIns="0" rIns="0" tIns="0" bIns="0">
            <a:spAutoFit/>
          </a:bodyPr>
          <a:lstStyle/>
          <a:p>
            <a:pPr algn="l"/>
            <a:r>
              <a:rPr sz="1000" b="1" i="0">
                <a:solidFill>
                  <a:srgbClr val="8A93A6"/>
                </a:solidFill>
                <a:latin typeface="Arial"/>
              </a:rPr>
              <a:t>—</a:t>
            </a:r>
          </a:p>
        </p:txBody>
      </p:sp>
      <p:sp>
        <p:nvSpPr>
          <p:cNvPr id="34" name="TextBox 33"/>
          <p:cNvSpPr txBox="1"/>
          <p:nvPr/>
        </p:nvSpPr>
        <p:spPr>
          <a:xfrm>
            <a:off x="6242304" y="2499360"/>
            <a:ext cx="1219200" cy="91440"/>
          </a:xfrm>
          <a:prstGeom prst="rect">
            <a:avLst/>
          </a:prstGeom>
          <a:noFill/>
        </p:spPr>
        <p:txBody>
          <a:bodyPr wrap="square" anchor="t" lIns="0" rIns="0" tIns="0" bIns="0">
            <a:spAutoFit/>
          </a:bodyPr>
          <a:lstStyle/>
          <a:p>
            <a:pPr algn="l"/>
            <a:r>
              <a:rPr sz="800" b="0" i="1">
                <a:solidFill>
                  <a:srgbClr val="8A93A6"/>
                </a:solidFill>
                <a:latin typeface="Arial"/>
              </a:rPr>
              <a:t>YTD —</a:t>
            </a:r>
          </a:p>
        </p:txBody>
      </p:sp>
      <p:sp>
        <p:nvSpPr>
          <p:cNvPr id="35" name="Rectangle 34"/>
          <p:cNvSpPr/>
          <p:nvPr/>
        </p:nvSpPr>
        <p:spPr>
          <a:xfrm>
            <a:off x="7967472" y="1536192"/>
            <a:ext cx="1389888" cy="1127760"/>
          </a:xfrm>
          <a:prstGeom prst="rect">
            <a:avLst/>
          </a:prstGeom>
          <a:solidFill>
            <a:srgbClr val="F1EFEB"/>
          </a:solidFill>
          <a:ln>
            <a:noFill/>
          </a:ln>
          <a:effectLst/>
        </p:spPr>
        <p:txBody>
          <a:bodyPr rtlCol="0" anchor="ctr"/>
          <a:lstStyle/>
          <a:p>
            <a:pPr algn="ctr"/>
          </a:p>
        </p:txBody>
      </p:sp>
      <p:sp>
        <p:nvSpPr>
          <p:cNvPr id="36" name="Rounded Rectangle 35"/>
          <p:cNvSpPr/>
          <p:nvPr/>
        </p:nvSpPr>
        <p:spPr>
          <a:xfrm>
            <a:off x="8686800" y="1450848"/>
            <a:ext cx="609600" cy="170688"/>
          </a:xfrm>
          <a:prstGeom prst="roundRect">
            <a:avLst>
              <a:gd name="adj" fmla="val 50000"/>
            </a:avLst>
          </a:prstGeom>
          <a:solidFill>
            <a:srgbClr val="D9D6D1"/>
          </a:solidFill>
          <a:ln>
            <a:noFill/>
          </a:ln>
          <a:effectLst/>
        </p:spPr>
        <p:txBody>
          <a:bodyPr rtlCol="0" anchor="ctr"/>
          <a:lstStyle/>
          <a:p>
            <a:pPr algn="ctr"/>
          </a:p>
        </p:txBody>
      </p:sp>
      <p:sp>
        <p:nvSpPr>
          <p:cNvPr id="37" name="TextBox 36"/>
          <p:cNvSpPr txBox="1"/>
          <p:nvPr/>
        </p:nvSpPr>
        <p:spPr>
          <a:xfrm>
            <a:off x="8686800" y="1450848"/>
            <a:ext cx="609600" cy="170688"/>
          </a:xfrm>
          <a:prstGeom prst="rect">
            <a:avLst/>
          </a:prstGeom>
          <a:noFill/>
        </p:spPr>
        <p:txBody>
          <a:bodyPr wrap="square" anchor="ctr" lIns="0" rIns="0" tIns="0" bIns="0">
            <a:spAutoFit/>
          </a:bodyPr>
          <a:lstStyle/>
          <a:p>
            <a:pPr algn="ctr"/>
            <a:r>
              <a:rPr sz="800" b="1" i="0">
                <a:solidFill>
                  <a:srgbClr val="555B66"/>
                </a:solidFill>
                <a:latin typeface="Arial"/>
              </a:rPr>
              <a:t>INDICATIF</a:t>
            </a:r>
          </a:p>
        </p:txBody>
      </p:sp>
      <p:sp>
        <p:nvSpPr>
          <p:cNvPr id="38" name="TextBox 37"/>
          <p:cNvSpPr txBox="1"/>
          <p:nvPr/>
        </p:nvSpPr>
        <p:spPr>
          <a:xfrm>
            <a:off x="8101584" y="1706880"/>
            <a:ext cx="1219200" cy="121920"/>
          </a:xfrm>
          <a:prstGeom prst="rect">
            <a:avLst/>
          </a:prstGeom>
          <a:noFill/>
        </p:spPr>
        <p:txBody>
          <a:bodyPr wrap="square" anchor="t" lIns="0" rIns="0" tIns="0" bIns="0">
            <a:spAutoFit/>
          </a:bodyPr>
          <a:lstStyle/>
          <a:p>
            <a:pPr algn="l"/>
            <a:r>
              <a:rPr sz="1000" b="1" i="0">
                <a:solidFill>
                  <a:srgbClr val="8A93A6"/>
                </a:solidFill>
                <a:latin typeface="Arial"/>
              </a:rPr>
              <a:t>CVR</a:t>
            </a:r>
          </a:p>
        </p:txBody>
      </p:sp>
      <p:sp>
        <p:nvSpPr>
          <p:cNvPr id="39" name="TextBox 38"/>
          <p:cNvSpPr txBox="1"/>
          <p:nvPr/>
        </p:nvSpPr>
        <p:spPr>
          <a:xfrm>
            <a:off x="8101584" y="1889760"/>
            <a:ext cx="1219200" cy="274320"/>
          </a:xfrm>
          <a:prstGeom prst="rect">
            <a:avLst/>
          </a:prstGeom>
          <a:noFill/>
        </p:spPr>
        <p:txBody>
          <a:bodyPr wrap="square" anchor="t" lIns="0" rIns="0" tIns="0" bIns="0">
            <a:spAutoFit/>
          </a:bodyPr>
          <a:lstStyle/>
          <a:p>
            <a:pPr algn="l"/>
            <a:r>
              <a:rPr sz="2200" b="1" i="0">
                <a:solidFill>
                  <a:srgbClr val="8A93A6"/>
                </a:solidFill>
                <a:latin typeface="Arial"/>
              </a:rPr>
              <a:t>N/A</a:t>
            </a:r>
          </a:p>
        </p:txBody>
      </p:sp>
      <p:sp>
        <p:nvSpPr>
          <p:cNvPr id="40" name="TextBox 39"/>
          <p:cNvSpPr txBox="1"/>
          <p:nvPr/>
        </p:nvSpPr>
        <p:spPr>
          <a:xfrm>
            <a:off x="8101584" y="2243328"/>
            <a:ext cx="1219200" cy="109728"/>
          </a:xfrm>
          <a:prstGeom prst="rect">
            <a:avLst/>
          </a:prstGeom>
          <a:noFill/>
        </p:spPr>
        <p:txBody>
          <a:bodyPr wrap="square" anchor="t" lIns="0" rIns="0" tIns="0" bIns="0">
            <a:spAutoFit/>
          </a:bodyPr>
          <a:lstStyle/>
          <a:p>
            <a:pPr algn="l"/>
            <a:r>
              <a:rPr sz="1000" b="1" i="0">
                <a:solidFill>
                  <a:srgbClr val="8A93A6"/>
                </a:solidFill>
                <a:latin typeface="Arial"/>
              </a:rPr>
              <a:t>—</a:t>
            </a:r>
          </a:p>
        </p:txBody>
      </p:sp>
      <p:sp>
        <p:nvSpPr>
          <p:cNvPr id="41" name="TextBox 40"/>
          <p:cNvSpPr txBox="1"/>
          <p:nvPr/>
        </p:nvSpPr>
        <p:spPr>
          <a:xfrm>
            <a:off x="8101584" y="2499360"/>
            <a:ext cx="1219200" cy="91440"/>
          </a:xfrm>
          <a:prstGeom prst="rect">
            <a:avLst/>
          </a:prstGeom>
          <a:noFill/>
        </p:spPr>
        <p:txBody>
          <a:bodyPr wrap="square" anchor="t" lIns="0" rIns="0" tIns="0" bIns="0">
            <a:spAutoFit/>
          </a:bodyPr>
          <a:lstStyle/>
          <a:p>
            <a:pPr algn="l"/>
            <a:r>
              <a:rPr sz="800" b="0" i="1">
                <a:solidFill>
                  <a:srgbClr val="8A93A6"/>
                </a:solidFill>
                <a:latin typeface="Arial"/>
              </a:rPr>
              <a:t>YTD —</a:t>
            </a:r>
          </a:p>
        </p:txBody>
      </p:sp>
      <p:sp>
        <p:nvSpPr>
          <p:cNvPr id="42" name="Rectangle 41"/>
          <p:cNvSpPr/>
          <p:nvPr/>
        </p:nvSpPr>
        <p:spPr>
          <a:xfrm>
            <a:off x="9826752" y="1536192"/>
            <a:ext cx="1389888" cy="1127760"/>
          </a:xfrm>
          <a:prstGeom prst="rect">
            <a:avLst/>
          </a:prstGeom>
          <a:solidFill>
            <a:srgbClr val="F1EFEB"/>
          </a:solidFill>
          <a:ln>
            <a:noFill/>
          </a:ln>
          <a:effectLst/>
        </p:spPr>
        <p:txBody>
          <a:bodyPr rtlCol="0" anchor="ctr"/>
          <a:lstStyle/>
          <a:p>
            <a:pPr algn="ctr"/>
          </a:p>
        </p:txBody>
      </p:sp>
      <p:sp>
        <p:nvSpPr>
          <p:cNvPr id="43" name="Rounded Rectangle 42"/>
          <p:cNvSpPr/>
          <p:nvPr/>
        </p:nvSpPr>
        <p:spPr>
          <a:xfrm>
            <a:off x="10546080" y="1450848"/>
            <a:ext cx="609600" cy="170688"/>
          </a:xfrm>
          <a:prstGeom prst="roundRect">
            <a:avLst>
              <a:gd name="adj" fmla="val 50000"/>
            </a:avLst>
          </a:prstGeom>
          <a:solidFill>
            <a:srgbClr val="D9D6D1"/>
          </a:solidFill>
          <a:ln>
            <a:noFill/>
          </a:ln>
          <a:effectLst/>
        </p:spPr>
        <p:txBody>
          <a:bodyPr rtlCol="0" anchor="ctr"/>
          <a:lstStyle/>
          <a:p>
            <a:pPr algn="ctr"/>
          </a:p>
        </p:txBody>
      </p:sp>
      <p:sp>
        <p:nvSpPr>
          <p:cNvPr id="44" name="TextBox 43"/>
          <p:cNvSpPr txBox="1"/>
          <p:nvPr/>
        </p:nvSpPr>
        <p:spPr>
          <a:xfrm>
            <a:off x="10546080" y="1450848"/>
            <a:ext cx="609600" cy="170688"/>
          </a:xfrm>
          <a:prstGeom prst="rect">
            <a:avLst/>
          </a:prstGeom>
          <a:noFill/>
        </p:spPr>
        <p:txBody>
          <a:bodyPr wrap="square" anchor="ctr" lIns="0" rIns="0" tIns="0" bIns="0">
            <a:spAutoFit/>
          </a:bodyPr>
          <a:lstStyle/>
          <a:p>
            <a:pPr algn="ctr"/>
            <a:r>
              <a:rPr sz="800" b="1" i="0">
                <a:solidFill>
                  <a:srgbClr val="555B66"/>
                </a:solidFill>
                <a:latin typeface="Arial"/>
              </a:rPr>
              <a:t>INDICATIF</a:t>
            </a:r>
          </a:p>
        </p:txBody>
      </p:sp>
      <p:sp>
        <p:nvSpPr>
          <p:cNvPr id="45" name="TextBox 44"/>
          <p:cNvSpPr txBox="1"/>
          <p:nvPr/>
        </p:nvSpPr>
        <p:spPr>
          <a:xfrm>
            <a:off x="9960864" y="1706880"/>
            <a:ext cx="1219200" cy="121920"/>
          </a:xfrm>
          <a:prstGeom prst="rect">
            <a:avLst/>
          </a:prstGeom>
          <a:noFill/>
        </p:spPr>
        <p:txBody>
          <a:bodyPr wrap="square" anchor="t" lIns="0" rIns="0" tIns="0" bIns="0">
            <a:spAutoFit/>
          </a:bodyPr>
          <a:lstStyle/>
          <a:p>
            <a:pPr algn="l"/>
            <a:r>
              <a:rPr sz="1000" b="1" i="0">
                <a:solidFill>
                  <a:srgbClr val="8A93A6"/>
                </a:solidFill>
                <a:latin typeface="Arial"/>
              </a:rPr>
              <a:t>ROAS</a:t>
            </a:r>
          </a:p>
        </p:txBody>
      </p:sp>
      <p:sp>
        <p:nvSpPr>
          <p:cNvPr id="46" name="TextBox 45"/>
          <p:cNvSpPr txBox="1"/>
          <p:nvPr/>
        </p:nvSpPr>
        <p:spPr>
          <a:xfrm>
            <a:off x="9960864" y="1889760"/>
            <a:ext cx="1219200" cy="274320"/>
          </a:xfrm>
          <a:prstGeom prst="rect">
            <a:avLst/>
          </a:prstGeom>
          <a:noFill/>
        </p:spPr>
        <p:txBody>
          <a:bodyPr wrap="square" anchor="t" lIns="0" rIns="0" tIns="0" bIns="0">
            <a:spAutoFit/>
          </a:bodyPr>
          <a:lstStyle/>
          <a:p>
            <a:pPr algn="l"/>
            <a:r>
              <a:rPr sz="2200" b="1" i="0">
                <a:solidFill>
                  <a:srgbClr val="8A93A6"/>
                </a:solidFill>
                <a:latin typeface="Arial"/>
              </a:rPr>
              <a:t>N/A</a:t>
            </a:r>
          </a:p>
        </p:txBody>
      </p:sp>
      <p:sp>
        <p:nvSpPr>
          <p:cNvPr id="47" name="TextBox 46"/>
          <p:cNvSpPr txBox="1"/>
          <p:nvPr/>
        </p:nvSpPr>
        <p:spPr>
          <a:xfrm>
            <a:off x="9960864" y="2243328"/>
            <a:ext cx="1219200" cy="109728"/>
          </a:xfrm>
          <a:prstGeom prst="rect">
            <a:avLst/>
          </a:prstGeom>
          <a:noFill/>
        </p:spPr>
        <p:txBody>
          <a:bodyPr wrap="square" anchor="t" lIns="0" rIns="0" tIns="0" bIns="0">
            <a:spAutoFit/>
          </a:bodyPr>
          <a:lstStyle/>
          <a:p>
            <a:pPr algn="l"/>
            <a:r>
              <a:rPr sz="1000" b="1" i="0">
                <a:solidFill>
                  <a:srgbClr val="8A93A6"/>
                </a:solidFill>
                <a:latin typeface="Arial"/>
              </a:rPr>
              <a:t>—</a:t>
            </a:r>
          </a:p>
        </p:txBody>
      </p:sp>
      <p:sp>
        <p:nvSpPr>
          <p:cNvPr id="48" name="TextBox 47"/>
          <p:cNvSpPr txBox="1"/>
          <p:nvPr/>
        </p:nvSpPr>
        <p:spPr>
          <a:xfrm>
            <a:off x="9960864" y="2499360"/>
            <a:ext cx="1219200" cy="91440"/>
          </a:xfrm>
          <a:prstGeom prst="rect">
            <a:avLst/>
          </a:prstGeom>
          <a:noFill/>
        </p:spPr>
        <p:txBody>
          <a:bodyPr wrap="square" anchor="t" lIns="0" rIns="0" tIns="0" bIns="0">
            <a:spAutoFit/>
          </a:bodyPr>
          <a:lstStyle/>
          <a:p>
            <a:pPr algn="l"/>
            <a:r>
              <a:rPr sz="800" b="0" i="1">
                <a:solidFill>
                  <a:srgbClr val="8A93A6"/>
                </a:solidFill>
                <a:latin typeface="Arial"/>
              </a:rPr>
              <a:t>YTD —</a:t>
            </a:r>
          </a:p>
        </p:txBody>
      </p:sp>
      <p:sp>
        <p:nvSpPr>
          <p:cNvPr id="49" name="Isosceles Triangle 48"/>
          <p:cNvSpPr/>
          <p:nvPr/>
        </p:nvSpPr>
        <p:spPr>
          <a:xfrm>
            <a:off x="8564880" y="2688336"/>
            <a:ext cx="182880" cy="85344"/>
          </a:xfrm>
          <a:prstGeom prst="triangle">
            <a:avLst/>
          </a:prstGeom>
          <a:solidFill>
            <a:srgbClr val="EBE9E5"/>
          </a:solidFill>
          <a:ln>
            <a:noFill/>
          </a:ln>
          <a:effectLst/>
        </p:spPr>
        <p:txBody>
          <a:bodyPr rtlCol="0" anchor="ctr"/>
          <a:lstStyle/>
          <a:p>
            <a:pPr algn="ctr"/>
          </a:p>
        </p:txBody>
      </p:sp>
      <p:sp>
        <p:nvSpPr>
          <p:cNvPr id="50" name="Rounded Rectangle 49"/>
          <p:cNvSpPr/>
          <p:nvPr/>
        </p:nvSpPr>
        <p:spPr>
          <a:xfrm>
            <a:off x="6108192" y="2773680"/>
            <a:ext cx="5108448" cy="438912"/>
          </a:xfrm>
          <a:prstGeom prst="roundRect">
            <a:avLst>
              <a:gd name="adj" fmla="val 15000"/>
            </a:avLst>
          </a:prstGeom>
          <a:solidFill>
            <a:srgbClr val="EBE9E5"/>
          </a:solidFill>
          <a:ln>
            <a:noFill/>
          </a:ln>
          <a:effectLst/>
        </p:spPr>
        <p:txBody>
          <a:bodyPr rtlCol="0" anchor="ctr"/>
          <a:lstStyle/>
          <a:p>
            <a:pPr algn="ctr"/>
          </a:p>
        </p:txBody>
      </p:sp>
      <p:sp>
        <p:nvSpPr>
          <p:cNvPr id="51" name="TextBox 50"/>
          <p:cNvSpPr txBox="1"/>
          <p:nvPr/>
        </p:nvSpPr>
        <p:spPr>
          <a:xfrm>
            <a:off x="6230112" y="2816352"/>
            <a:ext cx="4864608" cy="365760"/>
          </a:xfrm>
          <a:prstGeom prst="rect">
            <a:avLst/>
          </a:prstGeom>
          <a:noFill/>
        </p:spPr>
        <p:txBody>
          <a:bodyPr wrap="square" anchor="ctr" lIns="0" rIns="0" tIns="0" bIns="0">
            <a:spAutoFit/>
          </a:bodyPr>
          <a:lstStyle/>
          <a:p>
            <a:pPr algn="l"/>
            <a:r>
              <a:rPr sz="900" b="0" i="0">
                <a:solidFill>
                  <a:srgbClr val="555B66"/>
                </a:solidFill>
                <a:latin typeface="Arial"/>
              </a:rPr>
              <a:t>The Conversion Tracker is not installed yet. Conversions will appear in this report once it is integrated.</a:t>
            </a:r>
          </a:p>
        </p:txBody>
      </p:sp>
      <p:sp>
        <p:nvSpPr>
          <p:cNvPr id="52" name="TextBox 51"/>
          <p:cNvSpPr txBox="1"/>
          <p:nvPr/>
        </p:nvSpPr>
        <p:spPr>
          <a:xfrm>
            <a:off x="530352" y="3322320"/>
            <a:ext cx="7315200" cy="182880"/>
          </a:xfrm>
          <a:prstGeom prst="rect">
            <a:avLst/>
          </a:prstGeom>
          <a:noFill/>
        </p:spPr>
        <p:txBody>
          <a:bodyPr wrap="square" anchor="t" lIns="0" rIns="0" tIns="0" bIns="0">
            <a:spAutoFit/>
          </a:bodyPr>
          <a:lstStyle/>
          <a:p>
            <a:pPr algn="l"/>
            <a:r>
              <a:rPr sz="1400" b="1" i="0">
                <a:solidFill>
                  <a:srgbClr val="EE6A2C"/>
                </a:solidFill>
                <a:latin typeface="Arial"/>
              </a:rPr>
              <a:t>QUALITATIVE INSIGHTS · SEARCH ANALYSIS</a:t>
            </a:r>
          </a:p>
        </p:txBody>
      </p:sp>
      <p:sp>
        <p:nvSpPr>
          <p:cNvPr id="53" name="Rectangle 52"/>
          <p:cNvSpPr/>
          <p:nvPr/>
        </p:nvSpPr>
        <p:spPr>
          <a:xfrm>
            <a:off x="530352" y="3584448"/>
            <a:ext cx="3401568" cy="2560320"/>
          </a:xfrm>
          <a:prstGeom prst="rect">
            <a:avLst/>
          </a:prstGeom>
          <a:solidFill>
            <a:srgbClr val="FFFFFF"/>
          </a:solidFill>
          <a:ln>
            <a:noFill/>
          </a:ln>
          <a:effectLst/>
        </p:spPr>
        <p:txBody>
          <a:bodyPr rtlCol="0" anchor="ctr"/>
          <a:lstStyle/>
          <a:p>
            <a:pPr algn="ctr"/>
          </a:p>
        </p:txBody>
      </p:sp>
      <p:sp>
        <p:nvSpPr>
          <p:cNvPr id="54" name="Rectangle 53"/>
          <p:cNvSpPr/>
          <p:nvPr/>
        </p:nvSpPr>
        <p:spPr>
          <a:xfrm>
            <a:off x="4194048" y="3584448"/>
            <a:ext cx="3401568" cy="2560320"/>
          </a:xfrm>
          <a:prstGeom prst="rect">
            <a:avLst/>
          </a:prstGeom>
          <a:solidFill>
            <a:srgbClr val="FFFFFF"/>
          </a:solidFill>
          <a:ln>
            <a:noFill/>
          </a:ln>
          <a:effectLst/>
        </p:spPr>
        <p:txBody>
          <a:bodyPr rtlCol="0" anchor="ctr"/>
          <a:lstStyle/>
          <a:p>
            <a:pPr algn="ctr"/>
          </a:p>
        </p:txBody>
      </p:sp>
      <p:sp>
        <p:nvSpPr>
          <p:cNvPr id="55" name="Rectangle 54"/>
          <p:cNvSpPr/>
          <p:nvPr/>
        </p:nvSpPr>
        <p:spPr>
          <a:xfrm>
            <a:off x="7857744" y="3584448"/>
            <a:ext cx="3401568" cy="2560320"/>
          </a:xfrm>
          <a:prstGeom prst="rect">
            <a:avLst/>
          </a:prstGeom>
          <a:solidFill>
            <a:srgbClr val="FFFFFF"/>
          </a:solidFill>
          <a:ln>
            <a:noFill/>
          </a:ln>
          <a:effectLst/>
        </p:spPr>
        <p:txBody>
          <a:bodyPr rtlCol="0" anchor="ctr"/>
          <a:lstStyle/>
          <a:p>
            <a:pPr algn="ctr"/>
          </a:p>
        </p:txBody>
      </p:sp>
      <p:sp>
        <p:nvSpPr>
          <p:cNvPr id="56" name="TextBox 55"/>
          <p:cNvSpPr txBox="1"/>
          <p:nvPr/>
        </p:nvSpPr>
        <p:spPr>
          <a:xfrm>
            <a:off x="774192" y="3767328"/>
            <a:ext cx="2926080" cy="152400"/>
          </a:xfrm>
          <a:prstGeom prst="rect">
            <a:avLst/>
          </a:prstGeom>
          <a:noFill/>
        </p:spPr>
        <p:txBody>
          <a:bodyPr wrap="square" anchor="t" lIns="0" rIns="0" tIns="0" bIns="0">
            <a:spAutoFit/>
          </a:bodyPr>
          <a:lstStyle/>
          <a:p>
            <a:pPr algn="l"/>
            <a:r>
              <a:rPr sz="1300" b="1" i="0">
                <a:solidFill>
                  <a:srgbClr val="555B66"/>
                </a:solidFill>
                <a:latin typeface="Arial"/>
              </a:rPr>
              <a:t>LEXICAL FIELD</a:t>
            </a:r>
          </a:p>
        </p:txBody>
      </p:sp>
      <p:sp>
        <p:nvSpPr>
          <p:cNvPr id="57" name="TextBox 56"/>
          <p:cNvSpPr txBox="1"/>
          <p:nvPr/>
        </p:nvSpPr>
        <p:spPr>
          <a:xfrm>
            <a:off x="774192" y="3992880"/>
            <a:ext cx="2926080" cy="121920"/>
          </a:xfrm>
          <a:prstGeom prst="rect">
            <a:avLst/>
          </a:prstGeom>
          <a:noFill/>
        </p:spPr>
        <p:txBody>
          <a:bodyPr wrap="square" anchor="t" lIns="0" rIns="0" tIns="0" bIns="0">
            <a:spAutoFit/>
          </a:bodyPr>
          <a:lstStyle/>
          <a:p>
            <a:pPr algn="l"/>
            <a:r>
              <a:rPr sz="1000" b="0" i="1">
                <a:solidFill>
                  <a:srgbClr val="8A93A6"/>
                </a:solidFill>
                <a:latin typeface="Arial"/>
              </a:rPr>
              <a:t>Most frequent terms</a:t>
            </a:r>
          </a:p>
        </p:txBody>
      </p:sp>
      <p:sp>
        <p:nvSpPr>
          <p:cNvPr id="58" name="TextBox 57"/>
          <p:cNvSpPr txBox="1"/>
          <p:nvPr/>
        </p:nvSpPr>
        <p:spPr>
          <a:xfrm>
            <a:off x="774192" y="4236720"/>
            <a:ext cx="2987040" cy="1828800"/>
          </a:xfrm>
          <a:prstGeom prst="rect">
            <a:avLst/>
          </a:prstGeom>
          <a:noFill/>
        </p:spPr>
        <p:txBody>
          <a:bodyPr wrap="square" anchor="t" lIns="0" rIns="0" tIns="0" bIns="0">
            <a:spAutoFit/>
          </a:bodyPr>
          <a:lstStyle/>
          <a:p>
            <a:pPr algn="l">
              <a:spcAft>
                <a:spcPts val="500"/>
              </a:spcAft>
            </a:pPr>
            <a:r>
              <a:rPr sz="1800" b="1" i="0">
                <a:solidFill>
                  <a:srgbClr val="EE6A2C"/>
                </a:solidFill>
                <a:latin typeface="Arial"/>
              </a:rPr>
              <a:t>jeans</a:t>
            </a:r>
            <a:r>
              <a:rPr sz="1600" b="1" i="0">
                <a:solidFill>
                  <a:srgbClr val="111111"/>
                </a:solidFill>
                <a:latin typeface="Arial"/>
              </a:rPr>
              <a:t>   501 Original Fit</a:t>
            </a:r>
          </a:p>
          <a:p>
            <a:pPr algn="l">
              <a:spcAft>
                <a:spcPts val="500"/>
              </a:spcAft>
            </a:pPr>
            <a:r>
              <a:rPr sz="1500" b="1" i="0">
                <a:solidFill>
                  <a:srgbClr val="111111"/>
                </a:solidFill>
                <a:latin typeface="Arial"/>
              </a:rPr>
              <a:t>tulip jeans</a:t>
            </a:r>
            <a:r>
              <a:rPr sz="1400" b="1" i="0">
                <a:solidFill>
                  <a:srgbClr val="111111"/>
                </a:solidFill>
                <a:latin typeface="Arial"/>
              </a:rPr>
              <a:t>   stretch</a:t>
            </a:r>
          </a:p>
          <a:p>
            <a:pPr algn="l">
              <a:spcAft>
                <a:spcPts val="500"/>
              </a:spcAft>
            </a:pPr>
            <a:r>
              <a:rPr sz="1300" b="1" i="0">
                <a:solidFill>
                  <a:srgbClr val="EE6A2C"/>
                </a:solidFill>
                <a:latin typeface="Arial"/>
              </a:rPr>
              <a:t>fitted tops</a:t>
            </a:r>
            <a:r>
              <a:rPr sz="1200" b="0" i="0">
                <a:solidFill>
                  <a:srgbClr val="111111"/>
                </a:solidFill>
                <a:latin typeface="Arial"/>
              </a:rPr>
              <a:t>   puffer jacket</a:t>
            </a:r>
          </a:p>
          <a:p>
            <a:pPr algn="l">
              <a:spcAft>
                <a:spcPts val="500"/>
              </a:spcAft>
            </a:pPr>
            <a:r>
              <a:rPr sz="1100" b="1" i="0">
                <a:solidFill>
                  <a:srgbClr val="EE6A2C"/>
                </a:solidFill>
                <a:latin typeface="Arial"/>
              </a:rPr>
              <a:t>denim skirt</a:t>
            </a:r>
            <a:r>
              <a:rPr sz="1100" b="1" i="0">
                <a:solidFill>
                  <a:srgbClr val="111111"/>
                </a:solidFill>
                <a:latin typeface="Arial"/>
              </a:rPr>
              <a:t>   jacket</a:t>
            </a:r>
          </a:p>
          <a:p>
            <a:pPr algn="l">
              <a:spcAft>
                <a:spcPts val="500"/>
              </a:spcAft>
            </a:pPr>
            <a:r>
              <a:rPr sz="1100" b="1" i="0">
                <a:solidFill>
                  <a:srgbClr val="111111"/>
                </a:solidFill>
                <a:latin typeface="Arial"/>
              </a:rPr>
              <a:t>Zara</a:t>
            </a:r>
            <a:r>
              <a:rPr sz="1100" b="0" i="0">
                <a:solidFill>
                  <a:srgbClr val="111111"/>
                </a:solidFill>
                <a:latin typeface="Arial"/>
              </a:rPr>
              <a:t>   Uniqlo</a:t>
            </a:r>
            <a:r>
              <a:rPr sz="1100" b="1" i="0">
                <a:solidFill>
                  <a:srgbClr val="EE6A2C"/>
                </a:solidFill>
                <a:latin typeface="Arial"/>
              </a:rPr>
              <a:t>   Wrangler</a:t>
            </a:r>
          </a:p>
          <a:p>
            <a:pPr algn="l">
              <a:spcAft>
                <a:spcPts val="500"/>
              </a:spcAft>
            </a:pPr>
            <a:r>
              <a:rPr sz="1100" b="1" i="0">
                <a:solidFill>
                  <a:srgbClr val="111111"/>
                </a:solidFill>
                <a:latin typeface="Arial"/>
              </a:rPr>
              <a:t>tights</a:t>
            </a:r>
            <a:r>
              <a:rPr sz="1100" b="0" i="0">
                <a:solidFill>
                  <a:srgbClr val="111111"/>
                </a:solidFill>
                <a:latin typeface="Arial"/>
              </a:rPr>
              <a:t>   Celio</a:t>
            </a:r>
          </a:p>
        </p:txBody>
      </p:sp>
      <p:sp>
        <p:nvSpPr>
          <p:cNvPr id="59" name="TextBox 58"/>
          <p:cNvSpPr txBox="1"/>
          <p:nvPr/>
        </p:nvSpPr>
        <p:spPr>
          <a:xfrm>
            <a:off x="4437888" y="3767328"/>
            <a:ext cx="2926080" cy="152400"/>
          </a:xfrm>
          <a:prstGeom prst="rect">
            <a:avLst/>
          </a:prstGeom>
          <a:noFill/>
        </p:spPr>
        <p:txBody>
          <a:bodyPr wrap="square" anchor="t" lIns="0" rIns="0" tIns="0" bIns="0">
            <a:spAutoFit/>
          </a:bodyPr>
          <a:lstStyle/>
          <a:p>
            <a:pPr algn="l"/>
            <a:r>
              <a:rPr sz="1300" b="1" i="0">
                <a:solidFill>
                  <a:srgbClr val="555B66"/>
                </a:solidFill>
                <a:latin typeface="Arial"/>
              </a:rPr>
              <a:t>SAMPLE QUERIES</a:t>
            </a:r>
          </a:p>
        </p:txBody>
      </p:sp>
      <p:sp>
        <p:nvSpPr>
          <p:cNvPr id="60" name="TextBox 59"/>
          <p:cNvSpPr txBox="1"/>
          <p:nvPr/>
        </p:nvSpPr>
        <p:spPr>
          <a:xfrm>
            <a:off x="4437888" y="3992880"/>
            <a:ext cx="2926080" cy="121920"/>
          </a:xfrm>
          <a:prstGeom prst="rect">
            <a:avLst/>
          </a:prstGeom>
          <a:noFill/>
        </p:spPr>
        <p:txBody>
          <a:bodyPr wrap="square" anchor="t" lIns="0" rIns="0" tIns="0" bIns="0">
            <a:spAutoFit/>
          </a:bodyPr>
          <a:lstStyle/>
          <a:p>
            <a:pPr algn="l"/>
            <a:r>
              <a:rPr sz="1000" b="0" i="1">
                <a:solidFill>
                  <a:srgbClr val="8A93A6"/>
                </a:solidFill>
                <a:latin typeface="Arial"/>
              </a:rPr>
              <a:t>Questions asked to AI</a:t>
            </a:r>
          </a:p>
        </p:txBody>
      </p:sp>
      <p:sp>
        <p:nvSpPr>
          <p:cNvPr id="61" name="TextBox 60"/>
          <p:cNvSpPr txBox="1"/>
          <p:nvPr/>
        </p:nvSpPr>
        <p:spPr>
          <a:xfrm>
            <a:off x="4437888" y="4267200"/>
            <a:ext cx="2913888" cy="304800"/>
          </a:xfrm>
          <a:prstGeom prst="rect">
            <a:avLst/>
          </a:prstGeom>
          <a:noFill/>
        </p:spPr>
        <p:txBody>
          <a:bodyPr wrap="square" anchor="ctr" lIns="0" rIns="0" tIns="0" bIns="0">
            <a:spAutoFit/>
          </a:bodyPr>
          <a:lstStyle/>
          <a:p>
            <a:pPr algn="l"/>
            <a:r>
              <a:rPr sz="1000" b="0" i="0">
                <a:solidFill>
                  <a:srgbClr val="111111"/>
                </a:solidFill>
                <a:latin typeface="Arial"/>
              </a:rPr>
              <a:t>Which Levi's jeans for a relaxed fit?</a:t>
            </a:r>
          </a:p>
        </p:txBody>
      </p:sp>
      <p:sp>
        <p:nvSpPr>
          <p:cNvPr id="62" name="Rectangle 61"/>
          <p:cNvSpPr/>
          <p:nvPr/>
        </p:nvSpPr>
        <p:spPr>
          <a:xfrm>
            <a:off x="4437888" y="4602480"/>
            <a:ext cx="2913888" cy="6096"/>
          </a:xfrm>
          <a:prstGeom prst="rect">
            <a:avLst/>
          </a:prstGeom>
          <a:solidFill>
            <a:srgbClr val="E6E3DE"/>
          </a:solidFill>
          <a:ln>
            <a:noFill/>
          </a:ln>
          <a:effectLst/>
        </p:spPr>
        <p:txBody>
          <a:bodyPr rtlCol="0" anchor="ctr"/>
          <a:lstStyle/>
          <a:p>
            <a:pPr algn="ctr"/>
          </a:p>
        </p:txBody>
      </p:sp>
      <p:sp>
        <p:nvSpPr>
          <p:cNvPr id="63" name="TextBox 62"/>
          <p:cNvSpPr txBox="1"/>
          <p:nvPr/>
        </p:nvSpPr>
        <p:spPr>
          <a:xfrm>
            <a:off x="4437888" y="4632960"/>
            <a:ext cx="2913888" cy="304800"/>
          </a:xfrm>
          <a:prstGeom prst="rect">
            <a:avLst/>
          </a:prstGeom>
          <a:noFill/>
        </p:spPr>
        <p:txBody>
          <a:bodyPr wrap="square" anchor="ctr" lIns="0" rIns="0" tIns="0" bIns="0">
            <a:spAutoFit/>
          </a:bodyPr>
          <a:lstStyle/>
          <a:p>
            <a:pPr algn="l"/>
            <a:r>
              <a:rPr sz="1000" b="0" i="0">
                <a:solidFill>
                  <a:srgbClr val="111111"/>
                </a:solidFill>
                <a:latin typeface="Arial"/>
              </a:rPr>
              <a:t>Straight-leg or wide-leg jeans, what's the difference?</a:t>
            </a:r>
          </a:p>
        </p:txBody>
      </p:sp>
      <p:sp>
        <p:nvSpPr>
          <p:cNvPr id="64" name="Rectangle 63"/>
          <p:cNvSpPr/>
          <p:nvPr/>
        </p:nvSpPr>
        <p:spPr>
          <a:xfrm>
            <a:off x="4437888" y="4968240"/>
            <a:ext cx="2913888" cy="6096"/>
          </a:xfrm>
          <a:prstGeom prst="rect">
            <a:avLst/>
          </a:prstGeom>
          <a:solidFill>
            <a:srgbClr val="E6E3DE"/>
          </a:solidFill>
          <a:ln>
            <a:noFill/>
          </a:ln>
          <a:effectLst/>
        </p:spPr>
        <p:txBody>
          <a:bodyPr rtlCol="0" anchor="ctr"/>
          <a:lstStyle/>
          <a:p>
            <a:pPr algn="ctr"/>
          </a:p>
        </p:txBody>
      </p:sp>
      <p:sp>
        <p:nvSpPr>
          <p:cNvPr id="65" name="TextBox 64"/>
          <p:cNvSpPr txBox="1"/>
          <p:nvPr/>
        </p:nvSpPr>
        <p:spPr>
          <a:xfrm>
            <a:off x="4437888" y="4998720"/>
            <a:ext cx="2913888" cy="304800"/>
          </a:xfrm>
          <a:prstGeom prst="rect">
            <a:avLst/>
          </a:prstGeom>
          <a:noFill/>
        </p:spPr>
        <p:txBody>
          <a:bodyPr wrap="square" anchor="ctr" lIns="0" rIns="0" tIns="0" bIns="0">
            <a:spAutoFit/>
          </a:bodyPr>
          <a:lstStyle/>
          <a:p>
            <a:pPr algn="l"/>
            <a:r>
              <a:rPr sz="1000" b="0" i="0">
                <a:solidFill>
                  <a:srgbClr val="111111"/>
                </a:solidFill>
                <a:latin typeface="Arial"/>
              </a:rPr>
              <a:t>How should a pair of 501 jeans fit?</a:t>
            </a:r>
          </a:p>
        </p:txBody>
      </p:sp>
      <p:sp>
        <p:nvSpPr>
          <p:cNvPr id="66" name="Rectangle 65"/>
          <p:cNvSpPr/>
          <p:nvPr/>
        </p:nvSpPr>
        <p:spPr>
          <a:xfrm>
            <a:off x="4437888" y="5334000"/>
            <a:ext cx="2913888" cy="6096"/>
          </a:xfrm>
          <a:prstGeom prst="rect">
            <a:avLst/>
          </a:prstGeom>
          <a:solidFill>
            <a:srgbClr val="E6E3DE"/>
          </a:solidFill>
          <a:ln>
            <a:noFill/>
          </a:ln>
          <a:effectLst/>
        </p:spPr>
        <p:txBody>
          <a:bodyPr rtlCol="0" anchor="ctr"/>
          <a:lstStyle/>
          <a:p>
            <a:pPr algn="ctr"/>
          </a:p>
        </p:txBody>
      </p:sp>
      <p:sp>
        <p:nvSpPr>
          <p:cNvPr id="67" name="TextBox 66"/>
          <p:cNvSpPr txBox="1"/>
          <p:nvPr/>
        </p:nvSpPr>
        <p:spPr>
          <a:xfrm>
            <a:off x="4437888" y="5364480"/>
            <a:ext cx="2913888" cy="304800"/>
          </a:xfrm>
          <a:prstGeom prst="rect">
            <a:avLst/>
          </a:prstGeom>
          <a:noFill/>
        </p:spPr>
        <p:txBody>
          <a:bodyPr wrap="square" anchor="ctr" lIns="0" rIns="0" tIns="0" bIns="0">
            <a:spAutoFit/>
          </a:bodyPr>
          <a:lstStyle/>
          <a:p>
            <a:pPr algn="l"/>
            <a:r>
              <a:rPr sz="1000" b="0" i="0">
                <a:solidFill>
                  <a:srgbClr val="111111"/>
                </a:solidFill>
                <a:latin typeface="Arial"/>
              </a:rPr>
              <a:t>Which high-rise jeans make the legs look longer?</a:t>
            </a:r>
          </a:p>
        </p:txBody>
      </p:sp>
      <p:sp>
        <p:nvSpPr>
          <p:cNvPr id="68" name="Rectangle 67"/>
          <p:cNvSpPr/>
          <p:nvPr/>
        </p:nvSpPr>
        <p:spPr>
          <a:xfrm>
            <a:off x="4437888" y="5699760"/>
            <a:ext cx="2913888" cy="6096"/>
          </a:xfrm>
          <a:prstGeom prst="rect">
            <a:avLst/>
          </a:prstGeom>
          <a:solidFill>
            <a:srgbClr val="E6E3DE"/>
          </a:solidFill>
          <a:ln>
            <a:noFill/>
          </a:ln>
          <a:effectLst/>
        </p:spPr>
        <p:txBody>
          <a:bodyPr rtlCol="0" anchor="ctr"/>
          <a:lstStyle/>
          <a:p>
            <a:pPr algn="ctr"/>
          </a:p>
        </p:txBody>
      </p:sp>
      <p:sp>
        <p:nvSpPr>
          <p:cNvPr id="69" name="TextBox 68"/>
          <p:cNvSpPr txBox="1"/>
          <p:nvPr/>
        </p:nvSpPr>
        <p:spPr>
          <a:xfrm>
            <a:off x="4437888" y="5730240"/>
            <a:ext cx="2913888" cy="304800"/>
          </a:xfrm>
          <a:prstGeom prst="rect">
            <a:avLst/>
          </a:prstGeom>
          <a:noFill/>
        </p:spPr>
        <p:txBody>
          <a:bodyPr wrap="square" anchor="ctr" lIns="0" rIns="0" tIns="0" bIns="0">
            <a:spAutoFit/>
          </a:bodyPr>
          <a:lstStyle/>
          <a:p>
            <a:pPr algn="l"/>
            <a:r>
              <a:rPr sz="1000" b="0" i="0">
                <a:solidFill>
                  <a:srgbClr val="111111"/>
                </a:solidFill>
                <a:latin typeface="Arial"/>
              </a:rPr>
              <a:t>How does a Levi's Trucker jacket age over time?</a:t>
            </a:r>
          </a:p>
        </p:txBody>
      </p:sp>
      <p:sp>
        <p:nvSpPr>
          <p:cNvPr id="70" name="TextBox 69"/>
          <p:cNvSpPr txBox="1"/>
          <p:nvPr/>
        </p:nvSpPr>
        <p:spPr>
          <a:xfrm>
            <a:off x="8101584" y="3767328"/>
            <a:ext cx="2926080" cy="152400"/>
          </a:xfrm>
          <a:prstGeom prst="rect">
            <a:avLst/>
          </a:prstGeom>
          <a:noFill/>
        </p:spPr>
        <p:txBody>
          <a:bodyPr wrap="square" anchor="t" lIns="0" rIns="0" tIns="0" bIns="0">
            <a:spAutoFit/>
          </a:bodyPr>
          <a:lstStyle/>
          <a:p>
            <a:pPr algn="l"/>
            <a:r>
              <a:rPr sz="1300" b="1" i="0">
                <a:solidFill>
                  <a:srgbClr val="555B66"/>
                </a:solidFill>
                <a:latin typeface="Arial"/>
              </a:rPr>
              <a:t>PRODUCT CATEGORIES</a:t>
            </a:r>
          </a:p>
        </p:txBody>
      </p:sp>
      <p:sp>
        <p:nvSpPr>
          <p:cNvPr id="71" name="TextBox 70"/>
          <p:cNvSpPr txBox="1"/>
          <p:nvPr/>
        </p:nvSpPr>
        <p:spPr>
          <a:xfrm>
            <a:off x="8101584" y="3992880"/>
            <a:ext cx="2926080" cy="121920"/>
          </a:xfrm>
          <a:prstGeom prst="rect">
            <a:avLst/>
          </a:prstGeom>
          <a:noFill/>
        </p:spPr>
        <p:txBody>
          <a:bodyPr wrap="square" anchor="t" lIns="0" rIns="0" tIns="0" bIns="0">
            <a:spAutoFit/>
          </a:bodyPr>
          <a:lstStyle/>
          <a:p>
            <a:pPr algn="l"/>
            <a:r>
              <a:rPr sz="1000" b="0" i="1">
                <a:solidFill>
                  <a:srgbClr val="8A93A6"/>
                </a:solidFill>
                <a:latin typeface="Arial"/>
              </a:rPr>
              <a:t>Campaign product mix</a:t>
            </a:r>
          </a:p>
        </p:txBody>
      </p:sp>
      <p:sp>
        <p:nvSpPr>
          <p:cNvPr id="72" name="TextBox 71"/>
          <p:cNvSpPr txBox="1"/>
          <p:nvPr/>
        </p:nvSpPr>
        <p:spPr>
          <a:xfrm>
            <a:off x="8101584" y="4267200"/>
            <a:ext cx="2194560" cy="134112"/>
          </a:xfrm>
          <a:prstGeom prst="rect">
            <a:avLst/>
          </a:prstGeom>
          <a:noFill/>
        </p:spPr>
        <p:txBody>
          <a:bodyPr wrap="square" anchor="t" lIns="0" rIns="0" tIns="0" bIns="0">
            <a:spAutoFit/>
          </a:bodyPr>
          <a:lstStyle/>
          <a:p>
            <a:pPr algn="l"/>
            <a:r>
              <a:rPr sz="1000" b="0" i="0">
                <a:solidFill>
                  <a:srgbClr val="111111"/>
                </a:solidFill>
                <a:latin typeface="Arial"/>
              </a:rPr>
              <a:t>Jeans</a:t>
            </a:r>
          </a:p>
        </p:txBody>
      </p:sp>
      <p:sp>
        <p:nvSpPr>
          <p:cNvPr id="73" name="Rectangle 72"/>
          <p:cNvSpPr/>
          <p:nvPr/>
        </p:nvSpPr>
        <p:spPr>
          <a:xfrm>
            <a:off x="8101584" y="4419600"/>
            <a:ext cx="2011680" cy="54864"/>
          </a:xfrm>
          <a:prstGeom prst="rect">
            <a:avLst/>
          </a:prstGeom>
          <a:solidFill>
            <a:srgbClr val="ECEAE5"/>
          </a:solidFill>
          <a:ln>
            <a:noFill/>
          </a:ln>
          <a:effectLst/>
        </p:spPr>
        <p:txBody>
          <a:bodyPr rtlCol="0" anchor="ctr"/>
          <a:lstStyle/>
          <a:p>
            <a:pPr algn="ctr"/>
          </a:p>
        </p:txBody>
      </p:sp>
      <p:sp>
        <p:nvSpPr>
          <p:cNvPr id="74" name="Rectangle 73"/>
          <p:cNvSpPr/>
          <p:nvPr/>
        </p:nvSpPr>
        <p:spPr>
          <a:xfrm>
            <a:off x="8101584" y="4419600"/>
            <a:ext cx="784555" cy="54864"/>
          </a:xfrm>
          <a:prstGeom prst="rect">
            <a:avLst/>
          </a:prstGeom>
          <a:solidFill>
            <a:srgbClr val="EE6A2C"/>
          </a:solidFill>
          <a:ln>
            <a:noFill/>
          </a:ln>
          <a:effectLst/>
        </p:spPr>
        <p:txBody>
          <a:bodyPr rtlCol="0" anchor="ctr"/>
          <a:lstStyle/>
          <a:p>
            <a:pPr algn="ctr"/>
          </a:p>
        </p:txBody>
      </p:sp>
      <p:sp>
        <p:nvSpPr>
          <p:cNvPr id="75" name="TextBox 74"/>
          <p:cNvSpPr txBox="1"/>
          <p:nvPr/>
        </p:nvSpPr>
        <p:spPr>
          <a:xfrm>
            <a:off x="10241280" y="4340352"/>
            <a:ext cx="792480" cy="182880"/>
          </a:xfrm>
          <a:prstGeom prst="rect">
            <a:avLst/>
          </a:prstGeom>
          <a:noFill/>
        </p:spPr>
        <p:txBody>
          <a:bodyPr wrap="square" anchor="ctr" lIns="0" rIns="0" tIns="0" bIns="0">
            <a:spAutoFit/>
          </a:bodyPr>
          <a:lstStyle/>
          <a:p>
            <a:pPr algn="r"/>
            <a:r>
              <a:rPr sz="1300" b="1" i="0">
                <a:solidFill>
                  <a:srgbClr val="111111"/>
                </a:solidFill>
                <a:latin typeface="Arial"/>
              </a:rPr>
              <a:t>39 %</a:t>
            </a:r>
          </a:p>
        </p:txBody>
      </p:sp>
      <p:sp>
        <p:nvSpPr>
          <p:cNvPr id="76" name="TextBox 75"/>
          <p:cNvSpPr txBox="1"/>
          <p:nvPr/>
        </p:nvSpPr>
        <p:spPr>
          <a:xfrm>
            <a:off x="8101584" y="4528457"/>
            <a:ext cx="2194560" cy="134112"/>
          </a:xfrm>
          <a:prstGeom prst="rect">
            <a:avLst/>
          </a:prstGeom>
          <a:noFill/>
        </p:spPr>
        <p:txBody>
          <a:bodyPr wrap="square" anchor="t" lIns="0" rIns="0" tIns="0" bIns="0">
            <a:spAutoFit/>
          </a:bodyPr>
          <a:lstStyle/>
          <a:p>
            <a:pPr algn="l"/>
            <a:r>
              <a:rPr sz="1000" b="0" i="0">
                <a:solidFill>
                  <a:srgbClr val="111111"/>
                </a:solidFill>
                <a:latin typeface="Arial"/>
              </a:rPr>
              <a:t>Tops and shirts</a:t>
            </a:r>
          </a:p>
        </p:txBody>
      </p:sp>
      <p:sp>
        <p:nvSpPr>
          <p:cNvPr id="77" name="Rectangle 76"/>
          <p:cNvSpPr/>
          <p:nvPr/>
        </p:nvSpPr>
        <p:spPr>
          <a:xfrm>
            <a:off x="8101584" y="4680857"/>
            <a:ext cx="2011680" cy="54864"/>
          </a:xfrm>
          <a:prstGeom prst="rect">
            <a:avLst/>
          </a:prstGeom>
          <a:solidFill>
            <a:srgbClr val="ECEAE5"/>
          </a:solidFill>
          <a:ln>
            <a:noFill/>
          </a:ln>
          <a:effectLst/>
        </p:spPr>
        <p:txBody>
          <a:bodyPr rtlCol="0" anchor="ctr"/>
          <a:lstStyle/>
          <a:p>
            <a:pPr algn="ctr"/>
          </a:p>
        </p:txBody>
      </p:sp>
      <p:sp>
        <p:nvSpPr>
          <p:cNvPr id="78" name="Rectangle 77"/>
          <p:cNvSpPr/>
          <p:nvPr/>
        </p:nvSpPr>
        <p:spPr>
          <a:xfrm>
            <a:off x="8101584" y="4680857"/>
            <a:ext cx="462686" cy="54864"/>
          </a:xfrm>
          <a:prstGeom prst="rect">
            <a:avLst/>
          </a:prstGeom>
          <a:solidFill>
            <a:srgbClr val="9AA3B2"/>
          </a:solidFill>
          <a:ln>
            <a:noFill/>
          </a:ln>
          <a:effectLst/>
        </p:spPr>
        <p:txBody>
          <a:bodyPr rtlCol="0" anchor="ctr"/>
          <a:lstStyle/>
          <a:p>
            <a:pPr algn="ctr"/>
          </a:p>
        </p:txBody>
      </p:sp>
      <p:sp>
        <p:nvSpPr>
          <p:cNvPr id="79" name="TextBox 78"/>
          <p:cNvSpPr txBox="1"/>
          <p:nvPr/>
        </p:nvSpPr>
        <p:spPr>
          <a:xfrm>
            <a:off x="10241280" y="4601609"/>
            <a:ext cx="792480" cy="182880"/>
          </a:xfrm>
          <a:prstGeom prst="rect">
            <a:avLst/>
          </a:prstGeom>
          <a:noFill/>
        </p:spPr>
        <p:txBody>
          <a:bodyPr wrap="square" anchor="ctr" lIns="0" rIns="0" tIns="0" bIns="0">
            <a:spAutoFit/>
          </a:bodyPr>
          <a:lstStyle/>
          <a:p>
            <a:pPr algn="r"/>
            <a:r>
              <a:rPr sz="1300" b="1" i="0">
                <a:solidFill>
                  <a:srgbClr val="111111"/>
                </a:solidFill>
                <a:latin typeface="Arial"/>
              </a:rPr>
              <a:t>23 %</a:t>
            </a:r>
          </a:p>
        </p:txBody>
      </p:sp>
      <p:sp>
        <p:nvSpPr>
          <p:cNvPr id="80" name="TextBox 79"/>
          <p:cNvSpPr txBox="1"/>
          <p:nvPr/>
        </p:nvSpPr>
        <p:spPr>
          <a:xfrm>
            <a:off x="8101584" y="4789714"/>
            <a:ext cx="2194560" cy="134112"/>
          </a:xfrm>
          <a:prstGeom prst="rect">
            <a:avLst/>
          </a:prstGeom>
          <a:noFill/>
        </p:spPr>
        <p:txBody>
          <a:bodyPr wrap="square" anchor="t" lIns="0" rIns="0" tIns="0" bIns="0">
            <a:spAutoFit/>
          </a:bodyPr>
          <a:lstStyle/>
          <a:p>
            <a:pPr algn="l"/>
            <a:r>
              <a:rPr sz="1000" b="0" i="0">
                <a:solidFill>
                  <a:srgbClr val="111111"/>
                </a:solidFill>
                <a:latin typeface="Arial"/>
              </a:rPr>
              <a:t>Dresses, skirts and shorts</a:t>
            </a:r>
          </a:p>
        </p:txBody>
      </p:sp>
      <p:sp>
        <p:nvSpPr>
          <p:cNvPr id="81" name="Rectangle 80"/>
          <p:cNvSpPr/>
          <p:nvPr/>
        </p:nvSpPr>
        <p:spPr>
          <a:xfrm>
            <a:off x="8101584" y="4942114"/>
            <a:ext cx="2011680" cy="54864"/>
          </a:xfrm>
          <a:prstGeom prst="rect">
            <a:avLst/>
          </a:prstGeom>
          <a:solidFill>
            <a:srgbClr val="ECEAE5"/>
          </a:solidFill>
          <a:ln>
            <a:noFill/>
          </a:ln>
          <a:effectLst/>
        </p:spPr>
        <p:txBody>
          <a:bodyPr rtlCol="0" anchor="ctr"/>
          <a:lstStyle/>
          <a:p>
            <a:pPr algn="ctr"/>
          </a:p>
        </p:txBody>
      </p:sp>
      <p:sp>
        <p:nvSpPr>
          <p:cNvPr id="82" name="Rectangle 81"/>
          <p:cNvSpPr/>
          <p:nvPr/>
        </p:nvSpPr>
        <p:spPr>
          <a:xfrm>
            <a:off x="8101584" y="4942114"/>
            <a:ext cx="181051" cy="54864"/>
          </a:xfrm>
          <a:prstGeom prst="rect">
            <a:avLst/>
          </a:prstGeom>
          <a:solidFill>
            <a:srgbClr val="9AA3B2"/>
          </a:solidFill>
          <a:ln>
            <a:noFill/>
          </a:ln>
          <a:effectLst/>
        </p:spPr>
        <p:txBody>
          <a:bodyPr rtlCol="0" anchor="ctr"/>
          <a:lstStyle/>
          <a:p>
            <a:pPr algn="ctr"/>
          </a:p>
        </p:txBody>
      </p:sp>
      <p:sp>
        <p:nvSpPr>
          <p:cNvPr id="83" name="TextBox 82"/>
          <p:cNvSpPr txBox="1"/>
          <p:nvPr/>
        </p:nvSpPr>
        <p:spPr>
          <a:xfrm>
            <a:off x="10241280" y="4862866"/>
            <a:ext cx="792480" cy="182880"/>
          </a:xfrm>
          <a:prstGeom prst="rect">
            <a:avLst/>
          </a:prstGeom>
          <a:noFill/>
        </p:spPr>
        <p:txBody>
          <a:bodyPr wrap="square" anchor="ctr" lIns="0" rIns="0" tIns="0" bIns="0">
            <a:spAutoFit/>
          </a:bodyPr>
          <a:lstStyle/>
          <a:p>
            <a:pPr algn="r"/>
            <a:r>
              <a:rPr sz="1300" b="1" i="0">
                <a:solidFill>
                  <a:srgbClr val="111111"/>
                </a:solidFill>
                <a:latin typeface="Arial"/>
              </a:rPr>
              <a:t>9 %</a:t>
            </a:r>
          </a:p>
        </p:txBody>
      </p:sp>
      <p:sp>
        <p:nvSpPr>
          <p:cNvPr id="84" name="TextBox 83"/>
          <p:cNvSpPr txBox="1"/>
          <p:nvPr/>
        </p:nvSpPr>
        <p:spPr>
          <a:xfrm>
            <a:off x="8101584" y="5050971"/>
            <a:ext cx="2194560" cy="134112"/>
          </a:xfrm>
          <a:prstGeom prst="rect">
            <a:avLst/>
          </a:prstGeom>
          <a:noFill/>
        </p:spPr>
        <p:txBody>
          <a:bodyPr wrap="square" anchor="t" lIns="0" rIns="0" tIns="0" bIns="0">
            <a:spAutoFit/>
          </a:bodyPr>
          <a:lstStyle/>
          <a:p>
            <a:pPr algn="l"/>
            <a:r>
              <a:rPr sz="1000" b="0" i="0">
                <a:solidFill>
                  <a:srgbClr val="111111"/>
                </a:solidFill>
                <a:latin typeface="Arial"/>
              </a:rPr>
              <a:t>Accessories</a:t>
            </a:r>
          </a:p>
        </p:txBody>
      </p:sp>
      <p:sp>
        <p:nvSpPr>
          <p:cNvPr id="85" name="Rectangle 84"/>
          <p:cNvSpPr/>
          <p:nvPr/>
        </p:nvSpPr>
        <p:spPr>
          <a:xfrm>
            <a:off x="8101584" y="5203371"/>
            <a:ext cx="2011680" cy="54864"/>
          </a:xfrm>
          <a:prstGeom prst="rect">
            <a:avLst/>
          </a:prstGeom>
          <a:solidFill>
            <a:srgbClr val="ECEAE5"/>
          </a:solidFill>
          <a:ln>
            <a:noFill/>
          </a:ln>
          <a:effectLst/>
        </p:spPr>
        <p:txBody>
          <a:bodyPr rtlCol="0" anchor="ctr"/>
          <a:lstStyle/>
          <a:p>
            <a:pPr algn="ctr"/>
          </a:p>
        </p:txBody>
      </p:sp>
      <p:sp>
        <p:nvSpPr>
          <p:cNvPr id="86" name="Rectangle 85"/>
          <p:cNvSpPr/>
          <p:nvPr/>
        </p:nvSpPr>
        <p:spPr>
          <a:xfrm>
            <a:off x="8101584" y="5203371"/>
            <a:ext cx="442569" cy="54864"/>
          </a:xfrm>
          <a:prstGeom prst="rect">
            <a:avLst/>
          </a:prstGeom>
          <a:solidFill>
            <a:srgbClr val="9AA3B2"/>
          </a:solidFill>
          <a:ln>
            <a:noFill/>
          </a:ln>
          <a:effectLst/>
        </p:spPr>
        <p:txBody>
          <a:bodyPr rtlCol="0" anchor="ctr"/>
          <a:lstStyle/>
          <a:p>
            <a:pPr algn="ctr"/>
          </a:p>
        </p:txBody>
      </p:sp>
      <p:sp>
        <p:nvSpPr>
          <p:cNvPr id="87" name="TextBox 86"/>
          <p:cNvSpPr txBox="1"/>
          <p:nvPr/>
        </p:nvSpPr>
        <p:spPr>
          <a:xfrm>
            <a:off x="10241280" y="5124123"/>
            <a:ext cx="792480" cy="182880"/>
          </a:xfrm>
          <a:prstGeom prst="rect">
            <a:avLst/>
          </a:prstGeom>
          <a:noFill/>
        </p:spPr>
        <p:txBody>
          <a:bodyPr wrap="square" anchor="ctr" lIns="0" rIns="0" tIns="0" bIns="0">
            <a:spAutoFit/>
          </a:bodyPr>
          <a:lstStyle/>
          <a:p>
            <a:pPr algn="r"/>
            <a:r>
              <a:rPr sz="1300" b="1" i="0">
                <a:solidFill>
                  <a:srgbClr val="111111"/>
                </a:solidFill>
                <a:latin typeface="Arial"/>
              </a:rPr>
              <a:t>22 %</a:t>
            </a:r>
          </a:p>
        </p:txBody>
      </p:sp>
      <p:sp>
        <p:nvSpPr>
          <p:cNvPr id="88" name="TextBox 87"/>
          <p:cNvSpPr txBox="1"/>
          <p:nvPr/>
        </p:nvSpPr>
        <p:spPr>
          <a:xfrm>
            <a:off x="8101584" y="5312228"/>
            <a:ext cx="2194560" cy="134112"/>
          </a:xfrm>
          <a:prstGeom prst="rect">
            <a:avLst/>
          </a:prstGeom>
          <a:noFill/>
        </p:spPr>
        <p:txBody>
          <a:bodyPr wrap="square" anchor="t" lIns="0" rIns="0" tIns="0" bIns="0">
            <a:spAutoFit/>
          </a:bodyPr>
          <a:lstStyle/>
          <a:p>
            <a:pPr algn="l"/>
            <a:r>
              <a:rPr sz="1000" b="0" i="0">
                <a:solidFill>
                  <a:srgbClr val="111111"/>
                </a:solidFill>
                <a:latin typeface="Arial"/>
              </a:rPr>
              <a:t>Other relaxed bottoms</a:t>
            </a:r>
          </a:p>
        </p:txBody>
      </p:sp>
      <p:sp>
        <p:nvSpPr>
          <p:cNvPr id="89" name="Rectangle 88"/>
          <p:cNvSpPr/>
          <p:nvPr/>
        </p:nvSpPr>
        <p:spPr>
          <a:xfrm>
            <a:off x="8101584" y="5464628"/>
            <a:ext cx="2011680" cy="54864"/>
          </a:xfrm>
          <a:prstGeom prst="rect">
            <a:avLst/>
          </a:prstGeom>
          <a:solidFill>
            <a:srgbClr val="ECEAE5"/>
          </a:solidFill>
          <a:ln>
            <a:noFill/>
          </a:ln>
          <a:effectLst/>
        </p:spPr>
        <p:txBody>
          <a:bodyPr rtlCol="0" anchor="ctr"/>
          <a:lstStyle/>
          <a:p>
            <a:pPr algn="ctr"/>
          </a:p>
        </p:txBody>
      </p:sp>
      <p:sp>
        <p:nvSpPr>
          <p:cNvPr id="90" name="TextBox 89"/>
          <p:cNvSpPr txBox="1"/>
          <p:nvPr/>
        </p:nvSpPr>
        <p:spPr>
          <a:xfrm>
            <a:off x="10241280" y="5385380"/>
            <a:ext cx="792480" cy="182880"/>
          </a:xfrm>
          <a:prstGeom prst="rect">
            <a:avLst/>
          </a:prstGeom>
          <a:noFill/>
        </p:spPr>
        <p:txBody>
          <a:bodyPr wrap="square" anchor="ctr" lIns="0" rIns="0" tIns="0" bIns="0">
            <a:spAutoFit/>
          </a:bodyPr>
          <a:lstStyle/>
          <a:p>
            <a:pPr algn="r"/>
            <a:r>
              <a:rPr sz="1000" b="1" i="0">
                <a:solidFill>
                  <a:srgbClr val="8A93A6"/>
                </a:solidFill>
                <a:latin typeface="Arial"/>
              </a:rPr>
              <a:t>&lt; 1%</a:t>
            </a:r>
          </a:p>
        </p:txBody>
      </p:sp>
      <p:sp>
        <p:nvSpPr>
          <p:cNvPr id="91" name="TextBox 90"/>
          <p:cNvSpPr txBox="1"/>
          <p:nvPr/>
        </p:nvSpPr>
        <p:spPr>
          <a:xfrm>
            <a:off x="8101584" y="5573485"/>
            <a:ext cx="2194560" cy="134112"/>
          </a:xfrm>
          <a:prstGeom prst="rect">
            <a:avLst/>
          </a:prstGeom>
          <a:noFill/>
        </p:spPr>
        <p:txBody>
          <a:bodyPr wrap="square" anchor="t" lIns="0" rIns="0" tIns="0" bIns="0">
            <a:spAutoFit/>
          </a:bodyPr>
          <a:lstStyle/>
          <a:p>
            <a:pPr algn="l"/>
            <a:r>
              <a:rPr sz="1000" b="0" i="0">
                <a:solidFill>
                  <a:srgbClr val="111111"/>
                </a:solidFill>
                <a:latin typeface="Arial"/>
              </a:rPr>
              <a:t>Jackets</a:t>
            </a:r>
          </a:p>
        </p:txBody>
      </p:sp>
      <p:sp>
        <p:nvSpPr>
          <p:cNvPr id="92" name="Rectangle 91"/>
          <p:cNvSpPr/>
          <p:nvPr/>
        </p:nvSpPr>
        <p:spPr>
          <a:xfrm>
            <a:off x="8101584" y="5725885"/>
            <a:ext cx="2011680" cy="54864"/>
          </a:xfrm>
          <a:prstGeom prst="rect">
            <a:avLst/>
          </a:prstGeom>
          <a:solidFill>
            <a:srgbClr val="ECEAE5"/>
          </a:solidFill>
          <a:ln>
            <a:noFill/>
          </a:ln>
          <a:effectLst/>
        </p:spPr>
        <p:txBody>
          <a:bodyPr rtlCol="0" anchor="ctr"/>
          <a:lstStyle/>
          <a:p>
            <a:pPr algn="ctr"/>
          </a:p>
        </p:txBody>
      </p:sp>
      <p:sp>
        <p:nvSpPr>
          <p:cNvPr id="93" name="Rectangle 92"/>
          <p:cNvSpPr/>
          <p:nvPr/>
        </p:nvSpPr>
        <p:spPr>
          <a:xfrm>
            <a:off x="8101584" y="5725885"/>
            <a:ext cx="120700" cy="54864"/>
          </a:xfrm>
          <a:prstGeom prst="rect">
            <a:avLst/>
          </a:prstGeom>
          <a:solidFill>
            <a:srgbClr val="9AA3B2"/>
          </a:solidFill>
          <a:ln>
            <a:noFill/>
          </a:ln>
          <a:effectLst/>
        </p:spPr>
        <p:txBody>
          <a:bodyPr rtlCol="0" anchor="ctr"/>
          <a:lstStyle/>
          <a:p>
            <a:pPr algn="ctr"/>
          </a:p>
        </p:txBody>
      </p:sp>
      <p:sp>
        <p:nvSpPr>
          <p:cNvPr id="94" name="TextBox 93"/>
          <p:cNvSpPr txBox="1"/>
          <p:nvPr/>
        </p:nvSpPr>
        <p:spPr>
          <a:xfrm>
            <a:off x="10241280" y="5646637"/>
            <a:ext cx="792480" cy="182880"/>
          </a:xfrm>
          <a:prstGeom prst="rect">
            <a:avLst/>
          </a:prstGeom>
          <a:noFill/>
        </p:spPr>
        <p:txBody>
          <a:bodyPr wrap="square" anchor="ctr" lIns="0" rIns="0" tIns="0" bIns="0">
            <a:spAutoFit/>
          </a:bodyPr>
          <a:lstStyle/>
          <a:p>
            <a:pPr algn="r"/>
            <a:r>
              <a:rPr sz="1300" b="1" i="0">
                <a:solidFill>
                  <a:srgbClr val="111111"/>
                </a:solidFill>
                <a:latin typeface="Arial"/>
              </a:rPr>
              <a:t>6 %</a:t>
            </a:r>
          </a:p>
        </p:txBody>
      </p:sp>
      <p:sp>
        <p:nvSpPr>
          <p:cNvPr id="95" name="TextBox 94"/>
          <p:cNvSpPr txBox="1"/>
          <p:nvPr/>
        </p:nvSpPr>
        <p:spPr>
          <a:xfrm>
            <a:off x="8101584" y="5834742"/>
            <a:ext cx="2194560" cy="134112"/>
          </a:xfrm>
          <a:prstGeom prst="rect">
            <a:avLst/>
          </a:prstGeom>
          <a:noFill/>
        </p:spPr>
        <p:txBody>
          <a:bodyPr wrap="square" anchor="t" lIns="0" rIns="0" tIns="0" bIns="0">
            <a:spAutoFit/>
          </a:bodyPr>
          <a:lstStyle/>
          <a:p>
            <a:pPr algn="l"/>
            <a:r>
              <a:rPr sz="1000" b="0" i="0">
                <a:solidFill>
                  <a:srgbClr val="111111"/>
                </a:solidFill>
                <a:latin typeface="Arial"/>
              </a:rPr>
              <a:t>Chinos and cargos</a:t>
            </a:r>
          </a:p>
        </p:txBody>
      </p:sp>
      <p:sp>
        <p:nvSpPr>
          <p:cNvPr id="96" name="Rectangle 95"/>
          <p:cNvSpPr/>
          <p:nvPr/>
        </p:nvSpPr>
        <p:spPr>
          <a:xfrm>
            <a:off x="8101584" y="5987142"/>
            <a:ext cx="2011680" cy="54864"/>
          </a:xfrm>
          <a:prstGeom prst="rect">
            <a:avLst/>
          </a:prstGeom>
          <a:solidFill>
            <a:srgbClr val="ECEAE5"/>
          </a:solidFill>
          <a:ln>
            <a:noFill/>
          </a:ln>
          <a:effectLst/>
        </p:spPr>
        <p:txBody>
          <a:bodyPr rtlCol="0" anchor="ctr"/>
          <a:lstStyle/>
          <a:p>
            <a:pPr algn="ctr"/>
          </a:p>
        </p:txBody>
      </p:sp>
      <p:sp>
        <p:nvSpPr>
          <p:cNvPr id="97" name="Rectangle 96"/>
          <p:cNvSpPr/>
          <p:nvPr/>
        </p:nvSpPr>
        <p:spPr>
          <a:xfrm>
            <a:off x="8101584" y="5987142"/>
            <a:ext cx="24384" cy="54864"/>
          </a:xfrm>
          <a:prstGeom prst="rect">
            <a:avLst/>
          </a:prstGeom>
          <a:solidFill>
            <a:srgbClr val="9AA3B2"/>
          </a:solidFill>
          <a:ln>
            <a:noFill/>
          </a:ln>
          <a:effectLst/>
        </p:spPr>
        <p:txBody>
          <a:bodyPr rtlCol="0" anchor="ctr"/>
          <a:lstStyle/>
          <a:p>
            <a:pPr algn="ctr"/>
          </a:p>
        </p:txBody>
      </p:sp>
      <p:sp>
        <p:nvSpPr>
          <p:cNvPr id="98" name="TextBox 97"/>
          <p:cNvSpPr txBox="1"/>
          <p:nvPr/>
        </p:nvSpPr>
        <p:spPr>
          <a:xfrm>
            <a:off x="10241280" y="5907894"/>
            <a:ext cx="792480" cy="182880"/>
          </a:xfrm>
          <a:prstGeom prst="rect">
            <a:avLst/>
          </a:prstGeom>
          <a:noFill/>
        </p:spPr>
        <p:txBody>
          <a:bodyPr wrap="square" anchor="ctr" lIns="0" rIns="0" tIns="0" bIns="0">
            <a:spAutoFit/>
          </a:bodyPr>
          <a:lstStyle/>
          <a:p>
            <a:pPr algn="r"/>
            <a:r>
              <a:rPr sz="1300" b="1" i="0">
                <a:solidFill>
                  <a:srgbClr val="111111"/>
                </a:solidFill>
                <a:latin typeface="Arial"/>
              </a:rPr>
              <a:t>1 %</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6F2"/>
          </a:solidFill>
          <a:ln>
            <a:noFill/>
          </a:ln>
          <a:effectLst/>
        </p:spPr>
        <p:txBody>
          <a:bodyPr rtlCol="0" anchor="ctr"/>
          <a:lstStyle/>
          <a:p>
            <a:pPr algn="ctr"/>
          </a:p>
        </p:txBody>
      </p:sp>
      <p:sp>
        <p:nvSpPr>
          <p:cNvPr id="3" name="TextBox 2"/>
          <p:cNvSpPr txBox="1"/>
          <p:nvPr/>
        </p:nvSpPr>
        <p:spPr>
          <a:xfrm>
            <a:off x="579120" y="426720"/>
            <a:ext cx="7315200" cy="182880"/>
          </a:xfrm>
          <a:prstGeom prst="rect">
            <a:avLst/>
          </a:prstGeom>
          <a:noFill/>
        </p:spPr>
        <p:txBody>
          <a:bodyPr wrap="square" anchor="t" lIns="0" rIns="0" tIns="0" bIns="0">
            <a:spAutoFit/>
          </a:bodyPr>
          <a:lstStyle/>
          <a:p>
            <a:pPr algn="l"/>
            <a:r>
              <a:rPr sz="1300" b="1" i="0">
                <a:solidFill>
                  <a:srgbClr val="EE6A2C"/>
                </a:solidFill>
                <a:latin typeface="Arial"/>
              </a:rPr>
              <a:t>QUALITATIVE INSIGHTS · SEPTEMBER 2026</a:t>
            </a:r>
          </a:p>
        </p:txBody>
      </p:sp>
      <p:sp>
        <p:nvSpPr>
          <p:cNvPr id="4" name="TextBox 3"/>
          <p:cNvSpPr txBox="1"/>
          <p:nvPr/>
        </p:nvSpPr>
        <p:spPr>
          <a:xfrm>
            <a:off x="579120" y="609600"/>
            <a:ext cx="7315200" cy="487680"/>
          </a:xfrm>
          <a:prstGeom prst="rect">
            <a:avLst/>
          </a:prstGeom>
          <a:noFill/>
        </p:spPr>
        <p:txBody>
          <a:bodyPr wrap="square" anchor="t" lIns="0" rIns="0" tIns="0" bIns="0">
            <a:spAutoFit/>
          </a:bodyPr>
          <a:lstStyle/>
          <a:p>
            <a:pPr algn="l"/>
            <a:r>
              <a:rPr sz="3600" b="1" i="0">
                <a:solidFill>
                  <a:srgbClr val="111111"/>
                </a:solidFill>
                <a:latin typeface="Arial"/>
              </a:rPr>
              <a:t>Levi's</a:t>
            </a:r>
          </a:p>
        </p:txBody>
      </p:sp>
      <p:sp>
        <p:nvSpPr>
          <p:cNvPr id="5" name="TextBox 4"/>
          <p:cNvSpPr txBox="1"/>
          <p:nvPr/>
        </p:nvSpPr>
        <p:spPr>
          <a:xfrm>
            <a:off x="9144000" y="499872"/>
            <a:ext cx="1889760" cy="182880"/>
          </a:xfrm>
          <a:prstGeom prst="rect">
            <a:avLst/>
          </a:prstGeom>
          <a:noFill/>
        </p:spPr>
        <p:txBody>
          <a:bodyPr wrap="square" anchor="t" lIns="0" rIns="0" tIns="0" bIns="0">
            <a:spAutoFit/>
          </a:bodyPr>
          <a:lstStyle/>
          <a:p>
            <a:pPr algn="r"/>
            <a:r>
              <a:rPr sz="1500" b="1" i="0">
                <a:solidFill>
                  <a:srgbClr val="111111"/>
                </a:solidFill>
                <a:latin typeface="Arial"/>
              </a:rPr>
              <a:t>Lemrock</a:t>
            </a:r>
          </a:p>
        </p:txBody>
      </p:sp>
      <p:sp>
        <p:nvSpPr>
          <p:cNvPr id="6" name="TextBox 5"/>
          <p:cNvSpPr txBox="1"/>
          <p:nvPr/>
        </p:nvSpPr>
        <p:spPr>
          <a:xfrm>
            <a:off x="579120" y="1219200"/>
            <a:ext cx="9144000" cy="182880"/>
          </a:xfrm>
          <a:prstGeom prst="rect">
            <a:avLst/>
          </a:prstGeom>
          <a:noFill/>
        </p:spPr>
        <p:txBody>
          <a:bodyPr wrap="square" anchor="t" lIns="0" rIns="0" tIns="0" bIns="0">
            <a:spAutoFit/>
          </a:bodyPr>
          <a:lstStyle/>
          <a:p>
            <a:pPr algn="l"/>
            <a:r>
              <a:rPr sz="1300" b="1" i="0">
                <a:solidFill>
                  <a:srgbClr val="EE6A2C"/>
                </a:solidFill>
                <a:latin typeface="Arial"/>
              </a:rPr>
              <a:t>OBJECTIVE   </a:t>
            </a:r>
            <a:r>
              <a:rPr sz="1300" b="0" i="0">
                <a:solidFill>
                  <a:srgbClr val="111111"/>
                </a:solidFill>
                <a:latin typeface="Arial"/>
              </a:rPr>
              <a:t>To be defined</a:t>
            </a:r>
          </a:p>
        </p:txBody>
      </p:sp>
      <p:sp>
        <p:nvSpPr>
          <p:cNvPr id="7" name="TextBox 6"/>
          <p:cNvSpPr txBox="1"/>
          <p:nvPr/>
        </p:nvSpPr>
        <p:spPr>
          <a:xfrm>
            <a:off x="579120" y="1524000"/>
            <a:ext cx="4876800" cy="182880"/>
          </a:xfrm>
          <a:prstGeom prst="rect">
            <a:avLst/>
          </a:prstGeom>
          <a:noFill/>
        </p:spPr>
        <p:txBody>
          <a:bodyPr wrap="square" anchor="t" lIns="0" rIns="0" tIns="0" bIns="0">
            <a:spAutoFit/>
          </a:bodyPr>
          <a:lstStyle/>
          <a:p>
            <a:pPr algn="l"/>
            <a:r>
              <a:rPr sz="1400" b="1" i="0">
                <a:solidFill>
                  <a:srgbClr val="555B66"/>
                </a:solidFill>
                <a:latin typeface="Arial"/>
              </a:rPr>
              <a:t>QUALITATIVE INSIGHTS</a:t>
            </a:r>
          </a:p>
        </p:txBody>
      </p:sp>
      <p:sp>
        <p:nvSpPr>
          <p:cNvPr id="8" name="Rectangle 7"/>
          <p:cNvSpPr/>
          <p:nvPr/>
        </p:nvSpPr>
        <p:spPr>
          <a:xfrm>
            <a:off x="579120" y="1816608"/>
            <a:ext cx="5071872" cy="2121408"/>
          </a:xfrm>
          <a:prstGeom prst="rect">
            <a:avLst/>
          </a:prstGeom>
          <a:solidFill>
            <a:srgbClr val="FFFFFF"/>
          </a:solidFill>
          <a:ln>
            <a:noFill/>
          </a:ln>
          <a:effectLst/>
        </p:spPr>
        <p:txBody>
          <a:bodyPr rtlCol="0" anchor="ctr"/>
          <a:lstStyle/>
          <a:p>
            <a:pPr algn="ctr"/>
          </a:p>
        </p:txBody>
      </p:sp>
      <p:sp>
        <p:nvSpPr>
          <p:cNvPr id="9" name="TextBox 8"/>
          <p:cNvSpPr txBox="1"/>
          <p:nvPr/>
        </p:nvSpPr>
        <p:spPr>
          <a:xfrm>
            <a:off x="835152" y="2029968"/>
            <a:ext cx="487680" cy="243840"/>
          </a:xfrm>
          <a:prstGeom prst="rect">
            <a:avLst/>
          </a:prstGeom>
          <a:noFill/>
        </p:spPr>
        <p:txBody>
          <a:bodyPr wrap="square" anchor="t" lIns="0" rIns="0" tIns="0" bIns="0">
            <a:spAutoFit/>
          </a:bodyPr>
          <a:lstStyle/>
          <a:p>
            <a:pPr algn="l"/>
            <a:r>
              <a:rPr sz="2000" b="1" i="0">
                <a:solidFill>
                  <a:srgbClr val="EE6A2C"/>
                </a:solidFill>
                <a:latin typeface="Arial"/>
              </a:rPr>
              <a:t>01</a:t>
            </a:r>
          </a:p>
        </p:txBody>
      </p:sp>
      <p:sp>
        <p:nvSpPr>
          <p:cNvPr id="10" name="TextBox 9"/>
          <p:cNvSpPr txBox="1"/>
          <p:nvPr/>
        </p:nvSpPr>
        <p:spPr>
          <a:xfrm>
            <a:off x="1383792" y="2048256"/>
            <a:ext cx="4023360" cy="365760"/>
          </a:xfrm>
          <a:prstGeom prst="rect">
            <a:avLst/>
          </a:prstGeom>
          <a:noFill/>
        </p:spPr>
        <p:txBody>
          <a:bodyPr wrap="square" anchor="t" lIns="0" rIns="0" tIns="0" bIns="0">
            <a:spAutoFit/>
          </a:bodyPr>
          <a:lstStyle/>
          <a:p>
            <a:pPr algn="l"/>
            <a:r>
              <a:rPr sz="1400" b="1" i="0">
                <a:solidFill>
                  <a:srgbClr val="111111"/>
                </a:solidFill>
                <a:latin typeface="Arial"/>
              </a:rPr>
              <a:t>Vintage and heritage pieces drive clicks</a:t>
            </a:r>
          </a:p>
        </p:txBody>
      </p:sp>
      <p:sp>
        <p:nvSpPr>
          <p:cNvPr id="11" name="TextBox 10"/>
          <p:cNvSpPr txBox="1"/>
          <p:nvPr/>
        </p:nvSpPr>
        <p:spPr>
          <a:xfrm>
            <a:off x="835152" y="2609088"/>
            <a:ext cx="4572000" cy="731520"/>
          </a:xfrm>
          <a:prstGeom prst="rect">
            <a:avLst/>
          </a:prstGeom>
          <a:noFill/>
        </p:spPr>
        <p:txBody>
          <a:bodyPr wrap="square" anchor="t" lIns="0" rIns="0" tIns="0" bIns="0">
            <a:spAutoFit/>
          </a:bodyPr>
          <a:lstStyle/>
          <a:p>
            <a:pPr algn="l"/>
            <a:r>
              <a:rPr sz="1100" b="0" i="0">
                <a:solidFill>
                  <a:srgbClr val="555B66"/>
                </a:solidFill>
                <a:latin typeface="Arial"/>
              </a:rPr>
              <a:t>The Vintage Red Tab™ T-shirt reaches 1.84 times the average CTR, the Vintage Boxy sweatshirt 1.31 times and the Trucker jacket 1.38 times.</a:t>
            </a:r>
          </a:p>
        </p:txBody>
      </p:sp>
      <p:sp>
        <p:nvSpPr>
          <p:cNvPr id="12" name="TextBox 11"/>
          <p:cNvSpPr txBox="1"/>
          <p:nvPr/>
        </p:nvSpPr>
        <p:spPr>
          <a:xfrm>
            <a:off x="835152" y="3310128"/>
            <a:ext cx="4572000" cy="487680"/>
          </a:xfrm>
          <a:prstGeom prst="rect">
            <a:avLst/>
          </a:prstGeom>
          <a:noFill/>
        </p:spPr>
        <p:txBody>
          <a:bodyPr wrap="square" anchor="t" lIns="0" rIns="0" tIns="0" bIns="0">
            <a:spAutoFit/>
          </a:bodyPr>
          <a:lstStyle/>
          <a:p>
            <a:pPr algn="l"/>
            <a:r>
              <a:rPr sz="900" b="1" i="0">
                <a:solidFill>
                  <a:srgbClr val="555B66"/>
                </a:solidFill>
                <a:latin typeface="Arial"/>
              </a:rPr>
              <a:t>→  Put vintage and heritage pieces forward in the campaign.</a:t>
            </a:r>
          </a:p>
        </p:txBody>
      </p:sp>
      <p:sp>
        <p:nvSpPr>
          <p:cNvPr id="13" name="Rectangle 12"/>
          <p:cNvSpPr/>
          <p:nvPr/>
        </p:nvSpPr>
        <p:spPr>
          <a:xfrm>
            <a:off x="5992368" y="1816608"/>
            <a:ext cx="5071872" cy="2121408"/>
          </a:xfrm>
          <a:prstGeom prst="rect">
            <a:avLst/>
          </a:prstGeom>
          <a:solidFill>
            <a:srgbClr val="FFFFFF"/>
          </a:solidFill>
          <a:ln>
            <a:noFill/>
          </a:ln>
          <a:effectLst/>
        </p:spPr>
        <p:txBody>
          <a:bodyPr rtlCol="0" anchor="ctr"/>
          <a:lstStyle/>
          <a:p>
            <a:pPr algn="ctr"/>
          </a:p>
        </p:txBody>
      </p:sp>
      <p:sp>
        <p:nvSpPr>
          <p:cNvPr id="14" name="TextBox 13"/>
          <p:cNvSpPr txBox="1"/>
          <p:nvPr/>
        </p:nvSpPr>
        <p:spPr>
          <a:xfrm>
            <a:off x="6248400" y="2029968"/>
            <a:ext cx="487680" cy="243840"/>
          </a:xfrm>
          <a:prstGeom prst="rect">
            <a:avLst/>
          </a:prstGeom>
          <a:noFill/>
        </p:spPr>
        <p:txBody>
          <a:bodyPr wrap="square" anchor="t" lIns="0" rIns="0" tIns="0" bIns="0">
            <a:spAutoFit/>
          </a:bodyPr>
          <a:lstStyle/>
          <a:p>
            <a:pPr algn="l"/>
            <a:r>
              <a:rPr sz="2000" b="1" i="0">
                <a:solidFill>
                  <a:srgbClr val="EE6A2C"/>
                </a:solidFill>
                <a:latin typeface="Arial"/>
              </a:rPr>
              <a:t>02</a:t>
            </a:r>
          </a:p>
        </p:txBody>
      </p:sp>
      <p:sp>
        <p:nvSpPr>
          <p:cNvPr id="15" name="TextBox 14"/>
          <p:cNvSpPr txBox="1"/>
          <p:nvPr/>
        </p:nvSpPr>
        <p:spPr>
          <a:xfrm>
            <a:off x="6797040" y="2048256"/>
            <a:ext cx="4023360" cy="365760"/>
          </a:xfrm>
          <a:prstGeom prst="rect">
            <a:avLst/>
          </a:prstGeom>
          <a:noFill/>
        </p:spPr>
        <p:txBody>
          <a:bodyPr wrap="square" anchor="t" lIns="0" rIns="0" tIns="0" bIns="0">
            <a:spAutoFit/>
          </a:bodyPr>
          <a:lstStyle/>
          <a:p>
            <a:pPr algn="l"/>
            <a:r>
              <a:rPr sz="1400" b="1" i="0">
                <a:solidFill>
                  <a:srgbClr val="111111"/>
                </a:solidFill>
                <a:latin typeface="Arial"/>
              </a:rPr>
              <a:t>Jeans stay above average</a:t>
            </a:r>
          </a:p>
        </p:txBody>
      </p:sp>
      <p:sp>
        <p:nvSpPr>
          <p:cNvPr id="16" name="TextBox 15"/>
          <p:cNvSpPr txBox="1"/>
          <p:nvPr/>
        </p:nvSpPr>
        <p:spPr>
          <a:xfrm>
            <a:off x="6248400" y="2609088"/>
            <a:ext cx="4572000" cy="731520"/>
          </a:xfrm>
          <a:prstGeom prst="rect">
            <a:avLst/>
          </a:prstGeom>
          <a:noFill/>
        </p:spPr>
        <p:txBody>
          <a:bodyPr wrap="square" anchor="t" lIns="0" rIns="0" tIns="0" bIns="0">
            <a:spAutoFit/>
          </a:bodyPr>
          <a:lstStyle/>
          <a:p>
            <a:pPr algn="l"/>
            <a:r>
              <a:rPr sz="1100" b="0" i="0">
                <a:solidFill>
                  <a:srgbClr val="555B66"/>
                </a:solidFill>
                <a:latin typeface="Arial"/>
              </a:rPr>
              <a:t>Men's jeans reach 1.13 times the average and women's jeans 1.05 times. The XL Straight jean reaches 1.28 times.</a:t>
            </a:r>
          </a:p>
        </p:txBody>
      </p:sp>
      <p:sp>
        <p:nvSpPr>
          <p:cNvPr id="17" name="TextBox 16"/>
          <p:cNvSpPr txBox="1"/>
          <p:nvPr/>
        </p:nvSpPr>
        <p:spPr>
          <a:xfrm>
            <a:off x="6248400" y="3310128"/>
            <a:ext cx="4572000" cy="487680"/>
          </a:xfrm>
          <a:prstGeom prst="rect">
            <a:avLst/>
          </a:prstGeom>
          <a:noFill/>
        </p:spPr>
        <p:txBody>
          <a:bodyPr wrap="square" anchor="t" lIns="0" rIns="0" tIns="0" bIns="0">
            <a:spAutoFit/>
          </a:bodyPr>
          <a:lstStyle/>
          <a:p>
            <a:pPr algn="l"/>
            <a:r>
              <a:rPr sz="900" b="1" i="0">
                <a:solidFill>
                  <a:srgbClr val="555B66"/>
                </a:solidFill>
                <a:latin typeface="Arial"/>
              </a:rPr>
              <a:t>→  Keep jeans at the centre, with a focus on relaxed and straight fits.</a:t>
            </a:r>
          </a:p>
        </p:txBody>
      </p:sp>
      <p:sp>
        <p:nvSpPr>
          <p:cNvPr id="18" name="Rectangle 17"/>
          <p:cNvSpPr/>
          <p:nvPr/>
        </p:nvSpPr>
        <p:spPr>
          <a:xfrm>
            <a:off x="579120" y="4133088"/>
            <a:ext cx="5071872" cy="2121408"/>
          </a:xfrm>
          <a:prstGeom prst="rect">
            <a:avLst/>
          </a:prstGeom>
          <a:solidFill>
            <a:srgbClr val="FFFFFF"/>
          </a:solidFill>
          <a:ln>
            <a:noFill/>
          </a:ln>
          <a:effectLst/>
        </p:spPr>
        <p:txBody>
          <a:bodyPr rtlCol="0" anchor="ctr"/>
          <a:lstStyle/>
          <a:p>
            <a:pPr algn="ctr"/>
          </a:p>
        </p:txBody>
      </p:sp>
      <p:sp>
        <p:nvSpPr>
          <p:cNvPr id="19" name="TextBox 18"/>
          <p:cNvSpPr txBox="1"/>
          <p:nvPr/>
        </p:nvSpPr>
        <p:spPr>
          <a:xfrm>
            <a:off x="835152" y="4346448"/>
            <a:ext cx="487680" cy="243840"/>
          </a:xfrm>
          <a:prstGeom prst="rect">
            <a:avLst/>
          </a:prstGeom>
          <a:noFill/>
        </p:spPr>
        <p:txBody>
          <a:bodyPr wrap="square" anchor="t" lIns="0" rIns="0" tIns="0" bIns="0">
            <a:spAutoFit/>
          </a:bodyPr>
          <a:lstStyle/>
          <a:p>
            <a:pPr algn="l"/>
            <a:r>
              <a:rPr sz="2000" b="1" i="0">
                <a:solidFill>
                  <a:srgbClr val="EE6A2C"/>
                </a:solidFill>
                <a:latin typeface="Arial"/>
              </a:rPr>
              <a:t>03</a:t>
            </a:r>
          </a:p>
        </p:txBody>
      </p:sp>
      <p:sp>
        <p:nvSpPr>
          <p:cNvPr id="20" name="TextBox 19"/>
          <p:cNvSpPr txBox="1"/>
          <p:nvPr/>
        </p:nvSpPr>
        <p:spPr>
          <a:xfrm>
            <a:off x="1383792" y="4364736"/>
            <a:ext cx="4023360" cy="365760"/>
          </a:xfrm>
          <a:prstGeom prst="rect">
            <a:avLst/>
          </a:prstGeom>
          <a:noFill/>
        </p:spPr>
        <p:txBody>
          <a:bodyPr wrap="square" anchor="t" lIns="0" rIns="0" tIns="0" bIns="0">
            <a:spAutoFit/>
          </a:bodyPr>
          <a:lstStyle/>
          <a:p>
            <a:pPr algn="l"/>
            <a:r>
              <a:rPr sz="1400" b="1" i="0">
                <a:solidFill>
                  <a:srgbClr val="111111"/>
                </a:solidFill>
                <a:latin typeface="Arial"/>
              </a:rPr>
              <a:t>Accessories underperform</a:t>
            </a:r>
          </a:p>
        </p:txBody>
      </p:sp>
      <p:sp>
        <p:nvSpPr>
          <p:cNvPr id="21" name="TextBox 20"/>
          <p:cNvSpPr txBox="1"/>
          <p:nvPr/>
        </p:nvSpPr>
        <p:spPr>
          <a:xfrm>
            <a:off x="835152" y="4925568"/>
            <a:ext cx="4572000" cy="731520"/>
          </a:xfrm>
          <a:prstGeom prst="rect">
            <a:avLst/>
          </a:prstGeom>
          <a:noFill/>
        </p:spPr>
        <p:txBody>
          <a:bodyPr wrap="square" anchor="t" lIns="0" rIns="0" tIns="0" bIns="0">
            <a:spAutoFit/>
          </a:bodyPr>
          <a:lstStyle/>
          <a:p>
            <a:pPr algn="l"/>
            <a:r>
              <a:rPr sz="1100" b="0" i="0">
                <a:solidFill>
                  <a:srgbClr val="555B66"/>
                </a:solidFill>
                <a:latin typeface="Arial"/>
              </a:rPr>
              <a:t>Belts, beanies and caps stay at 0.49 times the average.</a:t>
            </a:r>
          </a:p>
        </p:txBody>
      </p:sp>
      <p:sp>
        <p:nvSpPr>
          <p:cNvPr id="22" name="TextBox 21"/>
          <p:cNvSpPr txBox="1"/>
          <p:nvPr/>
        </p:nvSpPr>
        <p:spPr>
          <a:xfrm>
            <a:off x="835152" y="5626608"/>
            <a:ext cx="4572000" cy="487680"/>
          </a:xfrm>
          <a:prstGeom prst="rect">
            <a:avLst/>
          </a:prstGeom>
          <a:noFill/>
        </p:spPr>
        <p:txBody>
          <a:bodyPr wrap="square" anchor="t" lIns="0" rIns="0" tIns="0" bIns="0">
            <a:spAutoFit/>
          </a:bodyPr>
          <a:lstStyle/>
          <a:p>
            <a:pPr algn="l"/>
            <a:r>
              <a:rPr sz="900" b="1" i="0">
                <a:solidFill>
                  <a:srgbClr val="555B66"/>
                </a:solidFill>
                <a:latin typeface="Arial"/>
              </a:rPr>
              <a:t>→  Show accessories as a complement once the shopper has found their jeans.</a:t>
            </a:r>
          </a:p>
        </p:txBody>
      </p:sp>
      <p:sp>
        <p:nvSpPr>
          <p:cNvPr id="23" name="Rectangle 22"/>
          <p:cNvSpPr/>
          <p:nvPr/>
        </p:nvSpPr>
        <p:spPr>
          <a:xfrm>
            <a:off x="5992368" y="4133088"/>
            <a:ext cx="5071872" cy="2121408"/>
          </a:xfrm>
          <a:prstGeom prst="rect">
            <a:avLst/>
          </a:prstGeom>
          <a:solidFill>
            <a:srgbClr val="FFFFFF"/>
          </a:solidFill>
          <a:ln>
            <a:noFill/>
          </a:ln>
          <a:effectLst/>
        </p:spPr>
        <p:txBody>
          <a:bodyPr rtlCol="0" anchor="ctr"/>
          <a:lstStyle/>
          <a:p>
            <a:pPr algn="ctr"/>
          </a:p>
        </p:txBody>
      </p:sp>
      <p:sp>
        <p:nvSpPr>
          <p:cNvPr id="24" name="TextBox 23"/>
          <p:cNvSpPr txBox="1"/>
          <p:nvPr/>
        </p:nvSpPr>
        <p:spPr>
          <a:xfrm>
            <a:off x="6248400" y="4346448"/>
            <a:ext cx="487680" cy="243840"/>
          </a:xfrm>
          <a:prstGeom prst="rect">
            <a:avLst/>
          </a:prstGeom>
          <a:noFill/>
        </p:spPr>
        <p:txBody>
          <a:bodyPr wrap="square" anchor="t" lIns="0" rIns="0" tIns="0" bIns="0">
            <a:spAutoFit/>
          </a:bodyPr>
          <a:lstStyle/>
          <a:p>
            <a:pPr algn="l"/>
            <a:r>
              <a:rPr sz="2000" b="1" i="0">
                <a:solidFill>
                  <a:srgbClr val="EE6A2C"/>
                </a:solidFill>
                <a:latin typeface="Arial"/>
              </a:rPr>
              <a:t>04</a:t>
            </a:r>
          </a:p>
        </p:txBody>
      </p:sp>
      <p:sp>
        <p:nvSpPr>
          <p:cNvPr id="25" name="TextBox 24"/>
          <p:cNvSpPr txBox="1"/>
          <p:nvPr/>
        </p:nvSpPr>
        <p:spPr>
          <a:xfrm>
            <a:off x="6797040" y="4364736"/>
            <a:ext cx="4023360" cy="365760"/>
          </a:xfrm>
          <a:prstGeom prst="rect">
            <a:avLst/>
          </a:prstGeom>
          <a:noFill/>
        </p:spPr>
        <p:txBody>
          <a:bodyPr wrap="square" anchor="t" lIns="0" rIns="0" tIns="0" bIns="0">
            <a:spAutoFit/>
          </a:bodyPr>
          <a:lstStyle/>
          <a:p>
            <a:pPr algn="l"/>
            <a:r>
              <a:rPr sz="1400" b="1" i="0">
                <a:solidFill>
                  <a:srgbClr val="111111"/>
                </a:solidFill>
                <a:latin typeface="Arial"/>
              </a:rPr>
              <a:t>Jackets and sweats are rising</a:t>
            </a:r>
          </a:p>
        </p:txBody>
      </p:sp>
      <p:sp>
        <p:nvSpPr>
          <p:cNvPr id="26" name="TextBox 25"/>
          <p:cNvSpPr txBox="1"/>
          <p:nvPr/>
        </p:nvSpPr>
        <p:spPr>
          <a:xfrm>
            <a:off x="6248400" y="4925568"/>
            <a:ext cx="4572000" cy="731520"/>
          </a:xfrm>
          <a:prstGeom prst="rect">
            <a:avLst/>
          </a:prstGeom>
          <a:noFill/>
        </p:spPr>
        <p:txBody>
          <a:bodyPr wrap="square" anchor="t" lIns="0" rIns="0" tIns="0" bIns="0">
            <a:spAutoFit/>
          </a:bodyPr>
          <a:lstStyle/>
          <a:p>
            <a:pPr algn="l"/>
            <a:r>
              <a:rPr sz="1100" b="0" i="0">
                <a:solidFill>
                  <a:srgbClr val="555B66"/>
                </a:solidFill>
                <a:latin typeface="Arial"/>
              </a:rPr>
              <a:t>Jackets and sweats reach 1.24 times the average and skirts and dresses 1.20 times.</a:t>
            </a:r>
          </a:p>
        </p:txBody>
      </p:sp>
      <p:sp>
        <p:nvSpPr>
          <p:cNvPr id="27" name="TextBox 26"/>
          <p:cNvSpPr txBox="1"/>
          <p:nvPr/>
        </p:nvSpPr>
        <p:spPr>
          <a:xfrm>
            <a:off x="6248400" y="5626608"/>
            <a:ext cx="4572000" cy="487680"/>
          </a:xfrm>
          <a:prstGeom prst="rect">
            <a:avLst/>
          </a:prstGeom>
          <a:noFill/>
        </p:spPr>
        <p:txBody>
          <a:bodyPr wrap="square" anchor="t" lIns="0" rIns="0" tIns="0" bIns="0">
            <a:spAutoFit/>
          </a:bodyPr>
          <a:lstStyle/>
          <a:p>
            <a:pPr algn="l"/>
            <a:r>
              <a:rPr sz="900" b="1" i="0">
                <a:solidFill>
                  <a:srgbClr val="555B66"/>
                </a:solidFill>
                <a:latin typeface="Arial"/>
              </a:rPr>
              <a:t>→  Push outerwear for the cold season (Trucker, sherpa, sweats).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6F2"/>
          </a:solidFill>
          <a:ln>
            <a:noFill/>
          </a:ln>
          <a:effectLst/>
        </p:spPr>
        <p:txBody>
          <a:bodyPr rtlCol="0" anchor="ctr"/>
          <a:lstStyle/>
          <a:p>
            <a:pPr algn="ctr"/>
          </a:p>
        </p:txBody>
      </p:sp>
      <p:sp>
        <p:nvSpPr>
          <p:cNvPr id="3" name="TextBox 2"/>
          <p:cNvSpPr txBox="1"/>
          <p:nvPr/>
        </p:nvSpPr>
        <p:spPr>
          <a:xfrm>
            <a:off x="530352" y="487680"/>
            <a:ext cx="7315200" cy="182880"/>
          </a:xfrm>
          <a:prstGeom prst="rect">
            <a:avLst/>
          </a:prstGeom>
          <a:noFill/>
        </p:spPr>
        <p:txBody>
          <a:bodyPr wrap="square" anchor="t" lIns="0" rIns="0" tIns="0" bIns="0">
            <a:spAutoFit/>
          </a:bodyPr>
          <a:lstStyle/>
          <a:p>
            <a:pPr algn="l"/>
            <a:r>
              <a:rPr sz="1300" b="1" i="0">
                <a:solidFill>
                  <a:srgbClr val="EE6A2C"/>
                </a:solidFill>
                <a:latin typeface="Arial"/>
              </a:rPr>
              <a:t>RAPPORT DE PERFORMANCE · 01/09/2026 → 30/09/2026</a:t>
            </a:r>
          </a:p>
        </p:txBody>
      </p:sp>
      <p:sp>
        <p:nvSpPr>
          <p:cNvPr id="4" name="TextBox 3"/>
          <p:cNvSpPr txBox="1"/>
          <p:nvPr/>
        </p:nvSpPr>
        <p:spPr>
          <a:xfrm>
            <a:off x="530352" y="640080"/>
            <a:ext cx="7315200" cy="487680"/>
          </a:xfrm>
          <a:prstGeom prst="rect">
            <a:avLst/>
          </a:prstGeom>
          <a:noFill/>
        </p:spPr>
        <p:txBody>
          <a:bodyPr wrap="square" anchor="t" lIns="0" rIns="0" tIns="0" bIns="0">
            <a:spAutoFit/>
          </a:bodyPr>
          <a:lstStyle/>
          <a:p>
            <a:pPr algn="l"/>
            <a:r>
              <a:rPr sz="3600" b="1" i="0">
                <a:solidFill>
                  <a:srgbClr val="111111"/>
                </a:solidFill>
                <a:latin typeface="Arial"/>
              </a:rPr>
              <a:t>Mabex</a:t>
            </a:r>
          </a:p>
        </p:txBody>
      </p:sp>
      <p:sp>
        <p:nvSpPr>
          <p:cNvPr id="5" name="TextBox 4"/>
          <p:cNvSpPr txBox="1"/>
          <p:nvPr/>
        </p:nvSpPr>
        <p:spPr>
          <a:xfrm>
            <a:off x="7924800" y="591312"/>
            <a:ext cx="3304032" cy="152400"/>
          </a:xfrm>
          <a:prstGeom prst="rect">
            <a:avLst/>
          </a:prstGeom>
          <a:noFill/>
        </p:spPr>
        <p:txBody>
          <a:bodyPr wrap="square" anchor="t" lIns="0" rIns="0" tIns="0" bIns="0">
            <a:spAutoFit/>
          </a:bodyPr>
          <a:lstStyle/>
          <a:p>
            <a:pPr algn="r"/>
            <a:r>
              <a:rPr sz="1200" b="1" i="0">
                <a:solidFill>
                  <a:srgbClr val="8A93A6"/>
                </a:solidFill>
                <a:latin typeface="Arial"/>
              </a:rPr>
              <a:t>COMPARAISON</a:t>
            </a:r>
          </a:p>
        </p:txBody>
      </p:sp>
      <p:sp>
        <p:nvSpPr>
          <p:cNvPr id="6" name="TextBox 5"/>
          <p:cNvSpPr txBox="1"/>
          <p:nvPr/>
        </p:nvSpPr>
        <p:spPr>
          <a:xfrm>
            <a:off x="7924800" y="780288"/>
            <a:ext cx="3304032" cy="182880"/>
          </a:xfrm>
          <a:prstGeom prst="rect">
            <a:avLst/>
          </a:prstGeom>
          <a:noFill/>
        </p:spPr>
        <p:txBody>
          <a:bodyPr wrap="square" anchor="t" lIns="0" rIns="0" tIns="0" bIns="0">
            <a:spAutoFit/>
          </a:bodyPr>
          <a:lstStyle/>
          <a:p>
            <a:pPr algn="r"/>
            <a:r>
              <a:rPr sz="1500" b="1" i="0">
                <a:solidFill>
                  <a:srgbClr val="111111"/>
                </a:solidFill>
                <a:latin typeface="Arial"/>
              </a:rPr>
              <a:t>vs 01/08/2026 → 31/08/2026</a:t>
            </a:r>
          </a:p>
        </p:txBody>
      </p:sp>
      <p:sp>
        <p:nvSpPr>
          <p:cNvPr id="7" name="TextBox 6"/>
          <p:cNvSpPr txBox="1"/>
          <p:nvPr/>
        </p:nvSpPr>
        <p:spPr>
          <a:xfrm>
            <a:off x="530352" y="1280160"/>
            <a:ext cx="2438400" cy="182880"/>
          </a:xfrm>
          <a:prstGeom prst="rect">
            <a:avLst/>
          </a:prstGeom>
          <a:noFill/>
        </p:spPr>
        <p:txBody>
          <a:bodyPr wrap="square" anchor="t" lIns="0" rIns="0" tIns="0" bIns="0">
            <a:spAutoFit/>
          </a:bodyPr>
          <a:lstStyle/>
          <a:p>
            <a:pPr algn="l"/>
            <a:r>
              <a:rPr sz="1400" b="1" i="0">
                <a:solidFill>
                  <a:srgbClr val="EE6A2C"/>
                </a:solidFill>
                <a:latin typeface="Arial"/>
              </a:rPr>
              <a:t>DIFFUSION</a:t>
            </a:r>
          </a:p>
        </p:txBody>
      </p:sp>
      <p:sp>
        <p:nvSpPr>
          <p:cNvPr id="8" name="TextBox 7"/>
          <p:cNvSpPr txBox="1"/>
          <p:nvPr/>
        </p:nvSpPr>
        <p:spPr>
          <a:xfrm>
            <a:off x="2389632" y="1280160"/>
            <a:ext cx="2438400" cy="182880"/>
          </a:xfrm>
          <a:prstGeom prst="rect">
            <a:avLst/>
          </a:prstGeom>
          <a:noFill/>
        </p:spPr>
        <p:txBody>
          <a:bodyPr wrap="square" anchor="t" lIns="0" rIns="0" tIns="0" bIns="0">
            <a:spAutoFit/>
          </a:bodyPr>
          <a:lstStyle/>
          <a:p>
            <a:pPr algn="l"/>
            <a:r>
              <a:rPr sz="1400" b="1" i="0">
                <a:solidFill>
                  <a:srgbClr val="EE6A2C"/>
                </a:solidFill>
                <a:latin typeface="Arial"/>
              </a:rPr>
              <a:t>ENGAGEMENT</a:t>
            </a:r>
          </a:p>
        </p:txBody>
      </p:sp>
      <p:sp>
        <p:nvSpPr>
          <p:cNvPr id="9" name="TextBox 8"/>
          <p:cNvSpPr txBox="1"/>
          <p:nvPr/>
        </p:nvSpPr>
        <p:spPr>
          <a:xfrm>
            <a:off x="6108192" y="1280160"/>
            <a:ext cx="2438400" cy="182880"/>
          </a:xfrm>
          <a:prstGeom prst="rect">
            <a:avLst/>
          </a:prstGeom>
          <a:noFill/>
        </p:spPr>
        <p:txBody>
          <a:bodyPr wrap="square" anchor="t" lIns="0" rIns="0" tIns="0" bIns="0">
            <a:spAutoFit/>
          </a:bodyPr>
          <a:lstStyle/>
          <a:p>
            <a:pPr algn="l"/>
            <a:r>
              <a:rPr sz="1400" b="1" i="0">
                <a:solidFill>
                  <a:srgbClr val="EE6A2C"/>
                </a:solidFill>
                <a:latin typeface="Arial"/>
              </a:rPr>
              <a:t>CONVERSION</a:t>
            </a:r>
          </a:p>
        </p:txBody>
      </p:sp>
      <p:sp>
        <p:nvSpPr>
          <p:cNvPr id="10" name="Rectangle 9"/>
          <p:cNvSpPr/>
          <p:nvPr/>
        </p:nvSpPr>
        <p:spPr>
          <a:xfrm>
            <a:off x="530352" y="1536192"/>
            <a:ext cx="1389888" cy="1127760"/>
          </a:xfrm>
          <a:prstGeom prst="rect">
            <a:avLst/>
          </a:prstGeom>
          <a:solidFill>
            <a:srgbClr val="FFFFFF"/>
          </a:solidFill>
          <a:ln>
            <a:noFill/>
          </a:ln>
          <a:effectLst/>
        </p:spPr>
        <p:txBody>
          <a:bodyPr rtlCol="0" anchor="ctr"/>
          <a:lstStyle/>
          <a:p>
            <a:pPr algn="ctr"/>
          </a:p>
        </p:txBody>
      </p:sp>
      <p:sp>
        <p:nvSpPr>
          <p:cNvPr id="11" name="Rectangle 10"/>
          <p:cNvSpPr/>
          <p:nvPr/>
        </p:nvSpPr>
        <p:spPr>
          <a:xfrm>
            <a:off x="530352" y="1536192"/>
            <a:ext cx="24384" cy="1127760"/>
          </a:xfrm>
          <a:prstGeom prst="rect">
            <a:avLst/>
          </a:prstGeom>
          <a:solidFill>
            <a:srgbClr val="EE6A2C"/>
          </a:solidFill>
          <a:ln>
            <a:noFill/>
          </a:ln>
          <a:effectLst/>
        </p:spPr>
        <p:txBody>
          <a:bodyPr rtlCol="0" anchor="ctr"/>
          <a:lstStyle/>
          <a:p>
            <a:pPr algn="ctr"/>
          </a:p>
        </p:txBody>
      </p:sp>
      <p:sp>
        <p:nvSpPr>
          <p:cNvPr id="12" name="TextBox 11"/>
          <p:cNvSpPr txBox="1"/>
          <p:nvPr/>
        </p:nvSpPr>
        <p:spPr>
          <a:xfrm>
            <a:off x="664464" y="1615440"/>
            <a:ext cx="1219200" cy="121920"/>
          </a:xfrm>
          <a:prstGeom prst="rect">
            <a:avLst/>
          </a:prstGeom>
          <a:noFill/>
        </p:spPr>
        <p:txBody>
          <a:bodyPr wrap="square" anchor="t" lIns="0" rIns="0" tIns="0" bIns="0">
            <a:spAutoFit/>
          </a:bodyPr>
          <a:lstStyle/>
          <a:p>
            <a:pPr algn="l"/>
            <a:r>
              <a:rPr sz="1000" b="1" i="0">
                <a:solidFill>
                  <a:srgbClr val="555B66"/>
                </a:solidFill>
                <a:latin typeface="Arial"/>
              </a:rPr>
              <a:t>IMPRESSIONS</a:t>
            </a:r>
          </a:p>
        </p:txBody>
      </p:sp>
      <p:sp>
        <p:nvSpPr>
          <p:cNvPr id="13" name="TextBox 12"/>
          <p:cNvSpPr txBox="1"/>
          <p:nvPr/>
        </p:nvSpPr>
        <p:spPr>
          <a:xfrm>
            <a:off x="664464" y="1889760"/>
            <a:ext cx="1219200" cy="274320"/>
          </a:xfrm>
          <a:prstGeom prst="rect">
            <a:avLst/>
          </a:prstGeom>
          <a:noFill/>
        </p:spPr>
        <p:txBody>
          <a:bodyPr wrap="square" anchor="t" lIns="0" rIns="0" tIns="0" bIns="0">
            <a:spAutoFit/>
          </a:bodyPr>
          <a:lstStyle/>
          <a:p>
            <a:pPr algn="l"/>
            <a:r>
              <a:rPr sz="2200" b="1" i="0">
                <a:solidFill>
                  <a:srgbClr val="111111"/>
                </a:solidFill>
                <a:latin typeface="Arial"/>
              </a:rPr>
              <a:t>313 395</a:t>
            </a:r>
          </a:p>
        </p:txBody>
      </p:sp>
      <p:sp>
        <p:nvSpPr>
          <p:cNvPr id="14" name="TextBox 13"/>
          <p:cNvSpPr txBox="1"/>
          <p:nvPr/>
        </p:nvSpPr>
        <p:spPr>
          <a:xfrm>
            <a:off x="664464" y="2243328"/>
            <a:ext cx="1219200" cy="109728"/>
          </a:xfrm>
          <a:prstGeom prst="rect">
            <a:avLst/>
          </a:prstGeom>
          <a:noFill/>
        </p:spPr>
        <p:txBody>
          <a:bodyPr wrap="square" anchor="t" lIns="0" rIns="0" tIns="0" bIns="0">
            <a:spAutoFit/>
          </a:bodyPr>
          <a:lstStyle/>
          <a:p>
            <a:pPr algn="l"/>
            <a:r>
              <a:rPr sz="1000" b="1" i="0">
                <a:solidFill>
                  <a:srgbClr val="1E7B34"/>
                </a:solidFill>
                <a:latin typeface="Arial"/>
              </a:rPr>
              <a:t>▲ +259 %</a:t>
            </a:r>
          </a:p>
        </p:txBody>
      </p:sp>
      <p:sp>
        <p:nvSpPr>
          <p:cNvPr id="15" name="TextBox 14"/>
          <p:cNvSpPr txBox="1"/>
          <p:nvPr/>
        </p:nvSpPr>
        <p:spPr>
          <a:xfrm>
            <a:off x="664464" y="2499360"/>
            <a:ext cx="1219200" cy="91440"/>
          </a:xfrm>
          <a:prstGeom prst="rect">
            <a:avLst/>
          </a:prstGeom>
          <a:noFill/>
        </p:spPr>
        <p:txBody>
          <a:bodyPr wrap="square" anchor="t" lIns="0" rIns="0" tIns="0" bIns="0">
            <a:spAutoFit/>
          </a:bodyPr>
          <a:lstStyle/>
          <a:p>
            <a:pPr algn="l"/>
            <a:r>
              <a:rPr sz="800" b="0" i="1">
                <a:solidFill>
                  <a:srgbClr val="555B66"/>
                </a:solidFill>
                <a:latin typeface="Arial"/>
              </a:rPr>
              <a:t>YTD 426 644</a:t>
            </a:r>
          </a:p>
        </p:txBody>
      </p:sp>
      <p:sp>
        <p:nvSpPr>
          <p:cNvPr id="16" name="Rectangle 15"/>
          <p:cNvSpPr/>
          <p:nvPr/>
        </p:nvSpPr>
        <p:spPr>
          <a:xfrm>
            <a:off x="2389632" y="1536192"/>
            <a:ext cx="1389888" cy="1127760"/>
          </a:xfrm>
          <a:prstGeom prst="rect">
            <a:avLst/>
          </a:prstGeom>
          <a:solidFill>
            <a:srgbClr val="FFFFFF"/>
          </a:solidFill>
          <a:ln>
            <a:noFill/>
          </a:ln>
          <a:effectLst/>
        </p:spPr>
        <p:txBody>
          <a:bodyPr rtlCol="0" anchor="ctr"/>
          <a:lstStyle/>
          <a:p>
            <a:pPr algn="ctr"/>
          </a:p>
        </p:txBody>
      </p:sp>
      <p:sp>
        <p:nvSpPr>
          <p:cNvPr id="17" name="Rectangle 16"/>
          <p:cNvSpPr/>
          <p:nvPr/>
        </p:nvSpPr>
        <p:spPr>
          <a:xfrm>
            <a:off x="2389632" y="1536192"/>
            <a:ext cx="24384" cy="1127760"/>
          </a:xfrm>
          <a:prstGeom prst="rect">
            <a:avLst/>
          </a:prstGeom>
          <a:solidFill>
            <a:srgbClr val="EE6A2C"/>
          </a:solidFill>
          <a:ln>
            <a:noFill/>
          </a:ln>
          <a:effectLst/>
        </p:spPr>
        <p:txBody>
          <a:bodyPr rtlCol="0" anchor="ctr"/>
          <a:lstStyle/>
          <a:p>
            <a:pPr algn="ctr"/>
          </a:p>
        </p:txBody>
      </p:sp>
      <p:sp>
        <p:nvSpPr>
          <p:cNvPr id="18" name="TextBox 17"/>
          <p:cNvSpPr txBox="1"/>
          <p:nvPr/>
        </p:nvSpPr>
        <p:spPr>
          <a:xfrm>
            <a:off x="2523744" y="1615440"/>
            <a:ext cx="1219200" cy="121920"/>
          </a:xfrm>
          <a:prstGeom prst="rect">
            <a:avLst/>
          </a:prstGeom>
          <a:noFill/>
        </p:spPr>
        <p:txBody>
          <a:bodyPr wrap="square" anchor="t" lIns="0" rIns="0" tIns="0" bIns="0">
            <a:spAutoFit/>
          </a:bodyPr>
          <a:lstStyle/>
          <a:p>
            <a:pPr algn="l"/>
            <a:r>
              <a:rPr sz="1000" b="1" i="0">
                <a:solidFill>
                  <a:srgbClr val="555B66"/>
                </a:solidFill>
                <a:latin typeface="Arial"/>
              </a:rPr>
              <a:t>CLICS</a:t>
            </a:r>
          </a:p>
        </p:txBody>
      </p:sp>
      <p:sp>
        <p:nvSpPr>
          <p:cNvPr id="19" name="TextBox 18"/>
          <p:cNvSpPr txBox="1"/>
          <p:nvPr/>
        </p:nvSpPr>
        <p:spPr>
          <a:xfrm>
            <a:off x="2523744" y="1889760"/>
            <a:ext cx="1219200" cy="274320"/>
          </a:xfrm>
          <a:prstGeom prst="rect">
            <a:avLst/>
          </a:prstGeom>
          <a:noFill/>
        </p:spPr>
        <p:txBody>
          <a:bodyPr wrap="square" anchor="t" lIns="0" rIns="0" tIns="0" bIns="0">
            <a:spAutoFit/>
          </a:bodyPr>
          <a:lstStyle/>
          <a:p>
            <a:pPr algn="l"/>
            <a:r>
              <a:rPr sz="2200" b="1" i="0">
                <a:solidFill>
                  <a:srgbClr val="111111"/>
                </a:solidFill>
                <a:latin typeface="Arial"/>
              </a:rPr>
              <a:t>1 668</a:t>
            </a:r>
          </a:p>
        </p:txBody>
      </p:sp>
      <p:sp>
        <p:nvSpPr>
          <p:cNvPr id="20" name="TextBox 19"/>
          <p:cNvSpPr txBox="1"/>
          <p:nvPr/>
        </p:nvSpPr>
        <p:spPr>
          <a:xfrm>
            <a:off x="2523744" y="2243328"/>
            <a:ext cx="1219200" cy="109728"/>
          </a:xfrm>
          <a:prstGeom prst="rect">
            <a:avLst/>
          </a:prstGeom>
          <a:noFill/>
        </p:spPr>
        <p:txBody>
          <a:bodyPr wrap="square" anchor="t" lIns="0" rIns="0" tIns="0" bIns="0">
            <a:spAutoFit/>
          </a:bodyPr>
          <a:lstStyle/>
          <a:p>
            <a:pPr algn="l"/>
            <a:r>
              <a:rPr sz="1000" b="1" i="0">
                <a:solidFill>
                  <a:srgbClr val="1E7B34"/>
                </a:solidFill>
                <a:latin typeface="Arial"/>
              </a:rPr>
              <a:t>▲ +379 %</a:t>
            </a:r>
          </a:p>
        </p:txBody>
      </p:sp>
      <p:sp>
        <p:nvSpPr>
          <p:cNvPr id="21" name="TextBox 20"/>
          <p:cNvSpPr txBox="1"/>
          <p:nvPr/>
        </p:nvSpPr>
        <p:spPr>
          <a:xfrm>
            <a:off x="2523744" y="2499360"/>
            <a:ext cx="1219200" cy="91440"/>
          </a:xfrm>
          <a:prstGeom prst="rect">
            <a:avLst/>
          </a:prstGeom>
          <a:noFill/>
        </p:spPr>
        <p:txBody>
          <a:bodyPr wrap="square" anchor="t" lIns="0" rIns="0" tIns="0" bIns="0">
            <a:spAutoFit/>
          </a:bodyPr>
          <a:lstStyle/>
          <a:p>
            <a:pPr algn="l"/>
            <a:r>
              <a:rPr sz="800" b="0" i="1">
                <a:solidFill>
                  <a:srgbClr val="555B66"/>
                </a:solidFill>
                <a:latin typeface="Arial"/>
              </a:rPr>
              <a:t>YTD 2 085</a:t>
            </a:r>
          </a:p>
        </p:txBody>
      </p:sp>
      <p:sp>
        <p:nvSpPr>
          <p:cNvPr id="22" name="Rectangle 21"/>
          <p:cNvSpPr/>
          <p:nvPr/>
        </p:nvSpPr>
        <p:spPr>
          <a:xfrm>
            <a:off x="4248912" y="1536192"/>
            <a:ext cx="1389888" cy="1127760"/>
          </a:xfrm>
          <a:prstGeom prst="rect">
            <a:avLst/>
          </a:prstGeom>
          <a:solidFill>
            <a:srgbClr val="FFFFFF"/>
          </a:solidFill>
          <a:ln>
            <a:noFill/>
          </a:ln>
          <a:effectLst/>
        </p:spPr>
        <p:txBody>
          <a:bodyPr rtlCol="0" anchor="ctr"/>
          <a:lstStyle/>
          <a:p>
            <a:pPr algn="ctr"/>
          </a:p>
        </p:txBody>
      </p:sp>
      <p:sp>
        <p:nvSpPr>
          <p:cNvPr id="23" name="Rectangle 22"/>
          <p:cNvSpPr/>
          <p:nvPr/>
        </p:nvSpPr>
        <p:spPr>
          <a:xfrm>
            <a:off x="4248912" y="1536192"/>
            <a:ext cx="24384" cy="1127760"/>
          </a:xfrm>
          <a:prstGeom prst="rect">
            <a:avLst/>
          </a:prstGeom>
          <a:solidFill>
            <a:srgbClr val="EE6A2C"/>
          </a:solidFill>
          <a:ln>
            <a:noFill/>
          </a:ln>
          <a:effectLst/>
        </p:spPr>
        <p:txBody>
          <a:bodyPr rtlCol="0" anchor="ctr"/>
          <a:lstStyle/>
          <a:p>
            <a:pPr algn="ctr"/>
          </a:p>
        </p:txBody>
      </p:sp>
      <p:sp>
        <p:nvSpPr>
          <p:cNvPr id="24" name="TextBox 23"/>
          <p:cNvSpPr txBox="1"/>
          <p:nvPr/>
        </p:nvSpPr>
        <p:spPr>
          <a:xfrm>
            <a:off x="4383024" y="1615440"/>
            <a:ext cx="1219200" cy="121920"/>
          </a:xfrm>
          <a:prstGeom prst="rect">
            <a:avLst/>
          </a:prstGeom>
          <a:noFill/>
        </p:spPr>
        <p:txBody>
          <a:bodyPr wrap="square" anchor="t" lIns="0" rIns="0" tIns="0" bIns="0">
            <a:spAutoFit/>
          </a:bodyPr>
          <a:lstStyle/>
          <a:p>
            <a:pPr algn="l"/>
            <a:r>
              <a:rPr sz="1000" b="1" i="0">
                <a:solidFill>
                  <a:srgbClr val="555B66"/>
                </a:solidFill>
                <a:latin typeface="Arial"/>
              </a:rPr>
              <a:t>CTR</a:t>
            </a:r>
          </a:p>
        </p:txBody>
      </p:sp>
      <p:sp>
        <p:nvSpPr>
          <p:cNvPr id="25" name="TextBox 24"/>
          <p:cNvSpPr txBox="1"/>
          <p:nvPr/>
        </p:nvSpPr>
        <p:spPr>
          <a:xfrm>
            <a:off x="4383024" y="1889760"/>
            <a:ext cx="1219200" cy="274320"/>
          </a:xfrm>
          <a:prstGeom prst="rect">
            <a:avLst/>
          </a:prstGeom>
          <a:noFill/>
        </p:spPr>
        <p:txBody>
          <a:bodyPr wrap="square" anchor="t" lIns="0" rIns="0" tIns="0" bIns="0">
            <a:spAutoFit/>
          </a:bodyPr>
          <a:lstStyle/>
          <a:p>
            <a:pPr algn="l"/>
            <a:r>
              <a:rPr sz="2200" b="1" i="0">
                <a:solidFill>
                  <a:srgbClr val="111111"/>
                </a:solidFill>
                <a:latin typeface="Arial"/>
              </a:rPr>
              <a:t>0,53 %</a:t>
            </a:r>
          </a:p>
        </p:txBody>
      </p:sp>
      <p:sp>
        <p:nvSpPr>
          <p:cNvPr id="26" name="TextBox 25"/>
          <p:cNvSpPr txBox="1"/>
          <p:nvPr/>
        </p:nvSpPr>
        <p:spPr>
          <a:xfrm>
            <a:off x="4383024" y="2243328"/>
            <a:ext cx="1219200" cy="109728"/>
          </a:xfrm>
          <a:prstGeom prst="rect">
            <a:avLst/>
          </a:prstGeom>
          <a:noFill/>
        </p:spPr>
        <p:txBody>
          <a:bodyPr wrap="square" anchor="t" lIns="0" rIns="0" tIns="0" bIns="0">
            <a:spAutoFit/>
          </a:bodyPr>
          <a:lstStyle/>
          <a:p>
            <a:pPr algn="l"/>
            <a:r>
              <a:rPr sz="1000" b="1" i="0">
                <a:solidFill>
                  <a:srgbClr val="1E7B34"/>
                </a:solidFill>
                <a:latin typeface="Arial"/>
              </a:rPr>
              <a:t>▲ +0,13 pt</a:t>
            </a:r>
          </a:p>
        </p:txBody>
      </p:sp>
      <p:sp>
        <p:nvSpPr>
          <p:cNvPr id="27" name="TextBox 26"/>
          <p:cNvSpPr txBox="1"/>
          <p:nvPr/>
        </p:nvSpPr>
        <p:spPr>
          <a:xfrm>
            <a:off x="4383024" y="2499360"/>
            <a:ext cx="1219200" cy="91440"/>
          </a:xfrm>
          <a:prstGeom prst="rect">
            <a:avLst/>
          </a:prstGeom>
          <a:noFill/>
        </p:spPr>
        <p:txBody>
          <a:bodyPr wrap="square" anchor="t" lIns="0" rIns="0" tIns="0" bIns="0">
            <a:spAutoFit/>
          </a:bodyPr>
          <a:lstStyle/>
          <a:p>
            <a:pPr algn="l"/>
            <a:r>
              <a:rPr sz="800" b="0" i="1">
                <a:solidFill>
                  <a:srgbClr val="555B66"/>
                </a:solidFill>
                <a:latin typeface="Arial"/>
              </a:rPr>
              <a:t>YTD 0,49 %</a:t>
            </a:r>
          </a:p>
        </p:txBody>
      </p:sp>
      <p:sp>
        <p:nvSpPr>
          <p:cNvPr id="28" name="Rectangle 27"/>
          <p:cNvSpPr/>
          <p:nvPr/>
        </p:nvSpPr>
        <p:spPr>
          <a:xfrm>
            <a:off x="6108192" y="1536192"/>
            <a:ext cx="1389888" cy="1127760"/>
          </a:xfrm>
          <a:prstGeom prst="rect">
            <a:avLst/>
          </a:prstGeom>
          <a:solidFill>
            <a:srgbClr val="F1EFEB"/>
          </a:solidFill>
          <a:ln>
            <a:noFill/>
          </a:ln>
          <a:effectLst/>
        </p:spPr>
        <p:txBody>
          <a:bodyPr rtlCol="0" anchor="ctr"/>
          <a:lstStyle/>
          <a:p>
            <a:pPr algn="ctr"/>
          </a:p>
        </p:txBody>
      </p:sp>
      <p:sp>
        <p:nvSpPr>
          <p:cNvPr id="29" name="Rounded Rectangle 28"/>
          <p:cNvSpPr/>
          <p:nvPr/>
        </p:nvSpPr>
        <p:spPr>
          <a:xfrm>
            <a:off x="6827520" y="1450848"/>
            <a:ext cx="609600" cy="170688"/>
          </a:xfrm>
          <a:prstGeom prst="roundRect">
            <a:avLst>
              <a:gd name="adj" fmla="val 50000"/>
            </a:avLst>
          </a:prstGeom>
          <a:solidFill>
            <a:srgbClr val="D9D6D1"/>
          </a:solidFill>
          <a:ln>
            <a:noFill/>
          </a:ln>
          <a:effectLst/>
        </p:spPr>
        <p:txBody>
          <a:bodyPr rtlCol="0" anchor="ctr"/>
          <a:lstStyle/>
          <a:p>
            <a:pPr algn="ctr"/>
          </a:p>
        </p:txBody>
      </p:sp>
      <p:sp>
        <p:nvSpPr>
          <p:cNvPr id="30" name="TextBox 29"/>
          <p:cNvSpPr txBox="1"/>
          <p:nvPr/>
        </p:nvSpPr>
        <p:spPr>
          <a:xfrm>
            <a:off x="6827520" y="1450848"/>
            <a:ext cx="609600" cy="170688"/>
          </a:xfrm>
          <a:prstGeom prst="rect">
            <a:avLst/>
          </a:prstGeom>
          <a:noFill/>
        </p:spPr>
        <p:txBody>
          <a:bodyPr wrap="square" anchor="ctr" lIns="0" rIns="0" tIns="0" bIns="0">
            <a:spAutoFit/>
          </a:bodyPr>
          <a:lstStyle/>
          <a:p>
            <a:pPr algn="ctr"/>
            <a:r>
              <a:rPr sz="800" b="1" i="0">
                <a:solidFill>
                  <a:srgbClr val="555B66"/>
                </a:solidFill>
                <a:latin typeface="Arial"/>
              </a:rPr>
              <a:t>INDICATIF</a:t>
            </a:r>
          </a:p>
        </p:txBody>
      </p:sp>
      <p:sp>
        <p:nvSpPr>
          <p:cNvPr id="31" name="TextBox 30"/>
          <p:cNvSpPr txBox="1"/>
          <p:nvPr/>
        </p:nvSpPr>
        <p:spPr>
          <a:xfrm>
            <a:off x="6242304" y="1706880"/>
            <a:ext cx="1219200" cy="121920"/>
          </a:xfrm>
          <a:prstGeom prst="rect">
            <a:avLst/>
          </a:prstGeom>
          <a:noFill/>
        </p:spPr>
        <p:txBody>
          <a:bodyPr wrap="square" anchor="t" lIns="0" rIns="0" tIns="0" bIns="0">
            <a:spAutoFit/>
          </a:bodyPr>
          <a:lstStyle/>
          <a:p>
            <a:pPr algn="l"/>
            <a:r>
              <a:rPr sz="1000" b="1" i="0">
                <a:solidFill>
                  <a:srgbClr val="8A93A6"/>
                </a:solidFill>
                <a:latin typeface="Arial"/>
              </a:rPr>
              <a:t>CONVERSIONS</a:t>
            </a:r>
          </a:p>
        </p:txBody>
      </p:sp>
      <p:sp>
        <p:nvSpPr>
          <p:cNvPr id="32" name="TextBox 31"/>
          <p:cNvSpPr txBox="1"/>
          <p:nvPr/>
        </p:nvSpPr>
        <p:spPr>
          <a:xfrm>
            <a:off x="6242304" y="1889760"/>
            <a:ext cx="1219200" cy="274320"/>
          </a:xfrm>
          <a:prstGeom prst="rect">
            <a:avLst/>
          </a:prstGeom>
          <a:noFill/>
        </p:spPr>
        <p:txBody>
          <a:bodyPr wrap="square" anchor="t" lIns="0" rIns="0" tIns="0" bIns="0">
            <a:spAutoFit/>
          </a:bodyPr>
          <a:lstStyle/>
          <a:p>
            <a:pPr algn="l"/>
            <a:r>
              <a:rPr sz="2200" b="1" i="0">
                <a:solidFill>
                  <a:srgbClr val="8A93A6"/>
                </a:solidFill>
                <a:latin typeface="Arial"/>
              </a:rPr>
              <a:t>N/C</a:t>
            </a:r>
          </a:p>
        </p:txBody>
      </p:sp>
      <p:sp>
        <p:nvSpPr>
          <p:cNvPr id="33" name="TextBox 32"/>
          <p:cNvSpPr txBox="1"/>
          <p:nvPr/>
        </p:nvSpPr>
        <p:spPr>
          <a:xfrm>
            <a:off x="6242304" y="2243328"/>
            <a:ext cx="1219200" cy="109728"/>
          </a:xfrm>
          <a:prstGeom prst="rect">
            <a:avLst/>
          </a:prstGeom>
          <a:noFill/>
        </p:spPr>
        <p:txBody>
          <a:bodyPr wrap="square" anchor="t" lIns="0" rIns="0" tIns="0" bIns="0">
            <a:spAutoFit/>
          </a:bodyPr>
          <a:lstStyle/>
          <a:p>
            <a:pPr algn="l"/>
            <a:r>
              <a:rPr sz="1000" b="1" i="0">
                <a:solidFill>
                  <a:srgbClr val="8A93A6"/>
                </a:solidFill>
                <a:latin typeface="Arial"/>
              </a:rPr>
              <a:t>—</a:t>
            </a:r>
          </a:p>
        </p:txBody>
      </p:sp>
      <p:sp>
        <p:nvSpPr>
          <p:cNvPr id="34" name="TextBox 33"/>
          <p:cNvSpPr txBox="1"/>
          <p:nvPr/>
        </p:nvSpPr>
        <p:spPr>
          <a:xfrm>
            <a:off x="6242304" y="2499360"/>
            <a:ext cx="1219200" cy="91440"/>
          </a:xfrm>
          <a:prstGeom prst="rect">
            <a:avLst/>
          </a:prstGeom>
          <a:noFill/>
        </p:spPr>
        <p:txBody>
          <a:bodyPr wrap="square" anchor="t" lIns="0" rIns="0" tIns="0" bIns="0">
            <a:spAutoFit/>
          </a:bodyPr>
          <a:lstStyle/>
          <a:p>
            <a:pPr algn="l"/>
            <a:r>
              <a:rPr sz="800" b="0" i="1">
                <a:solidFill>
                  <a:srgbClr val="8A93A6"/>
                </a:solidFill>
                <a:latin typeface="Arial"/>
              </a:rPr>
              <a:t>YTD —</a:t>
            </a:r>
          </a:p>
        </p:txBody>
      </p:sp>
      <p:sp>
        <p:nvSpPr>
          <p:cNvPr id="35" name="Rectangle 34"/>
          <p:cNvSpPr/>
          <p:nvPr/>
        </p:nvSpPr>
        <p:spPr>
          <a:xfrm>
            <a:off x="7967472" y="1536192"/>
            <a:ext cx="1389888" cy="1127760"/>
          </a:xfrm>
          <a:prstGeom prst="rect">
            <a:avLst/>
          </a:prstGeom>
          <a:solidFill>
            <a:srgbClr val="F1EFEB"/>
          </a:solidFill>
          <a:ln>
            <a:noFill/>
          </a:ln>
          <a:effectLst/>
        </p:spPr>
        <p:txBody>
          <a:bodyPr rtlCol="0" anchor="ctr"/>
          <a:lstStyle/>
          <a:p>
            <a:pPr algn="ctr"/>
          </a:p>
        </p:txBody>
      </p:sp>
      <p:sp>
        <p:nvSpPr>
          <p:cNvPr id="36" name="Rounded Rectangle 35"/>
          <p:cNvSpPr/>
          <p:nvPr/>
        </p:nvSpPr>
        <p:spPr>
          <a:xfrm>
            <a:off x="8686800" y="1450848"/>
            <a:ext cx="609600" cy="170688"/>
          </a:xfrm>
          <a:prstGeom prst="roundRect">
            <a:avLst>
              <a:gd name="adj" fmla="val 50000"/>
            </a:avLst>
          </a:prstGeom>
          <a:solidFill>
            <a:srgbClr val="D9D6D1"/>
          </a:solidFill>
          <a:ln>
            <a:noFill/>
          </a:ln>
          <a:effectLst/>
        </p:spPr>
        <p:txBody>
          <a:bodyPr rtlCol="0" anchor="ctr"/>
          <a:lstStyle/>
          <a:p>
            <a:pPr algn="ctr"/>
          </a:p>
        </p:txBody>
      </p:sp>
      <p:sp>
        <p:nvSpPr>
          <p:cNvPr id="37" name="TextBox 36"/>
          <p:cNvSpPr txBox="1"/>
          <p:nvPr/>
        </p:nvSpPr>
        <p:spPr>
          <a:xfrm>
            <a:off x="8686800" y="1450848"/>
            <a:ext cx="609600" cy="170688"/>
          </a:xfrm>
          <a:prstGeom prst="rect">
            <a:avLst/>
          </a:prstGeom>
          <a:noFill/>
        </p:spPr>
        <p:txBody>
          <a:bodyPr wrap="square" anchor="ctr" lIns="0" rIns="0" tIns="0" bIns="0">
            <a:spAutoFit/>
          </a:bodyPr>
          <a:lstStyle/>
          <a:p>
            <a:pPr algn="ctr"/>
            <a:r>
              <a:rPr sz="800" b="1" i="0">
                <a:solidFill>
                  <a:srgbClr val="555B66"/>
                </a:solidFill>
                <a:latin typeface="Arial"/>
              </a:rPr>
              <a:t>INDICATIF</a:t>
            </a:r>
          </a:p>
        </p:txBody>
      </p:sp>
      <p:sp>
        <p:nvSpPr>
          <p:cNvPr id="38" name="TextBox 37"/>
          <p:cNvSpPr txBox="1"/>
          <p:nvPr/>
        </p:nvSpPr>
        <p:spPr>
          <a:xfrm>
            <a:off x="8101584" y="1706880"/>
            <a:ext cx="1219200" cy="121920"/>
          </a:xfrm>
          <a:prstGeom prst="rect">
            <a:avLst/>
          </a:prstGeom>
          <a:noFill/>
        </p:spPr>
        <p:txBody>
          <a:bodyPr wrap="square" anchor="t" lIns="0" rIns="0" tIns="0" bIns="0">
            <a:spAutoFit/>
          </a:bodyPr>
          <a:lstStyle/>
          <a:p>
            <a:pPr algn="l"/>
            <a:r>
              <a:rPr sz="1000" b="1" i="0">
                <a:solidFill>
                  <a:srgbClr val="8A93A6"/>
                </a:solidFill>
                <a:latin typeface="Arial"/>
              </a:rPr>
              <a:t>CVR</a:t>
            </a:r>
          </a:p>
        </p:txBody>
      </p:sp>
      <p:sp>
        <p:nvSpPr>
          <p:cNvPr id="39" name="TextBox 38"/>
          <p:cNvSpPr txBox="1"/>
          <p:nvPr/>
        </p:nvSpPr>
        <p:spPr>
          <a:xfrm>
            <a:off x="8101584" y="1889760"/>
            <a:ext cx="1219200" cy="274320"/>
          </a:xfrm>
          <a:prstGeom prst="rect">
            <a:avLst/>
          </a:prstGeom>
          <a:noFill/>
        </p:spPr>
        <p:txBody>
          <a:bodyPr wrap="square" anchor="t" lIns="0" rIns="0" tIns="0" bIns="0">
            <a:spAutoFit/>
          </a:bodyPr>
          <a:lstStyle/>
          <a:p>
            <a:pPr algn="l"/>
            <a:r>
              <a:rPr sz="2200" b="1" i="0">
                <a:solidFill>
                  <a:srgbClr val="8A93A6"/>
                </a:solidFill>
                <a:latin typeface="Arial"/>
              </a:rPr>
              <a:t>N/C</a:t>
            </a:r>
          </a:p>
        </p:txBody>
      </p:sp>
      <p:sp>
        <p:nvSpPr>
          <p:cNvPr id="40" name="TextBox 39"/>
          <p:cNvSpPr txBox="1"/>
          <p:nvPr/>
        </p:nvSpPr>
        <p:spPr>
          <a:xfrm>
            <a:off x="8101584" y="2243328"/>
            <a:ext cx="1219200" cy="109728"/>
          </a:xfrm>
          <a:prstGeom prst="rect">
            <a:avLst/>
          </a:prstGeom>
          <a:noFill/>
        </p:spPr>
        <p:txBody>
          <a:bodyPr wrap="square" anchor="t" lIns="0" rIns="0" tIns="0" bIns="0">
            <a:spAutoFit/>
          </a:bodyPr>
          <a:lstStyle/>
          <a:p>
            <a:pPr algn="l"/>
            <a:r>
              <a:rPr sz="1000" b="1" i="0">
                <a:solidFill>
                  <a:srgbClr val="8A93A6"/>
                </a:solidFill>
                <a:latin typeface="Arial"/>
              </a:rPr>
              <a:t>—</a:t>
            </a:r>
          </a:p>
        </p:txBody>
      </p:sp>
      <p:sp>
        <p:nvSpPr>
          <p:cNvPr id="41" name="TextBox 40"/>
          <p:cNvSpPr txBox="1"/>
          <p:nvPr/>
        </p:nvSpPr>
        <p:spPr>
          <a:xfrm>
            <a:off x="8101584" y="2499360"/>
            <a:ext cx="1219200" cy="91440"/>
          </a:xfrm>
          <a:prstGeom prst="rect">
            <a:avLst/>
          </a:prstGeom>
          <a:noFill/>
        </p:spPr>
        <p:txBody>
          <a:bodyPr wrap="square" anchor="t" lIns="0" rIns="0" tIns="0" bIns="0">
            <a:spAutoFit/>
          </a:bodyPr>
          <a:lstStyle/>
          <a:p>
            <a:pPr algn="l"/>
            <a:r>
              <a:rPr sz="800" b="0" i="1">
                <a:solidFill>
                  <a:srgbClr val="8A93A6"/>
                </a:solidFill>
                <a:latin typeface="Arial"/>
              </a:rPr>
              <a:t>YTD —</a:t>
            </a:r>
          </a:p>
        </p:txBody>
      </p:sp>
      <p:sp>
        <p:nvSpPr>
          <p:cNvPr id="42" name="Rectangle 41"/>
          <p:cNvSpPr/>
          <p:nvPr/>
        </p:nvSpPr>
        <p:spPr>
          <a:xfrm>
            <a:off x="9826752" y="1536192"/>
            <a:ext cx="1389888" cy="1127760"/>
          </a:xfrm>
          <a:prstGeom prst="rect">
            <a:avLst/>
          </a:prstGeom>
          <a:solidFill>
            <a:srgbClr val="F1EFEB"/>
          </a:solidFill>
          <a:ln>
            <a:noFill/>
          </a:ln>
          <a:effectLst/>
        </p:spPr>
        <p:txBody>
          <a:bodyPr rtlCol="0" anchor="ctr"/>
          <a:lstStyle/>
          <a:p>
            <a:pPr algn="ctr"/>
          </a:p>
        </p:txBody>
      </p:sp>
      <p:sp>
        <p:nvSpPr>
          <p:cNvPr id="43" name="Rounded Rectangle 42"/>
          <p:cNvSpPr/>
          <p:nvPr/>
        </p:nvSpPr>
        <p:spPr>
          <a:xfrm>
            <a:off x="10546080" y="1450848"/>
            <a:ext cx="609600" cy="170688"/>
          </a:xfrm>
          <a:prstGeom prst="roundRect">
            <a:avLst>
              <a:gd name="adj" fmla="val 50000"/>
            </a:avLst>
          </a:prstGeom>
          <a:solidFill>
            <a:srgbClr val="D9D6D1"/>
          </a:solidFill>
          <a:ln>
            <a:noFill/>
          </a:ln>
          <a:effectLst/>
        </p:spPr>
        <p:txBody>
          <a:bodyPr rtlCol="0" anchor="ctr"/>
          <a:lstStyle/>
          <a:p>
            <a:pPr algn="ctr"/>
          </a:p>
        </p:txBody>
      </p:sp>
      <p:sp>
        <p:nvSpPr>
          <p:cNvPr id="44" name="TextBox 43"/>
          <p:cNvSpPr txBox="1"/>
          <p:nvPr/>
        </p:nvSpPr>
        <p:spPr>
          <a:xfrm>
            <a:off x="10546080" y="1450848"/>
            <a:ext cx="609600" cy="170688"/>
          </a:xfrm>
          <a:prstGeom prst="rect">
            <a:avLst/>
          </a:prstGeom>
          <a:noFill/>
        </p:spPr>
        <p:txBody>
          <a:bodyPr wrap="square" anchor="ctr" lIns="0" rIns="0" tIns="0" bIns="0">
            <a:spAutoFit/>
          </a:bodyPr>
          <a:lstStyle/>
          <a:p>
            <a:pPr algn="ctr"/>
            <a:r>
              <a:rPr sz="800" b="1" i="0">
                <a:solidFill>
                  <a:srgbClr val="555B66"/>
                </a:solidFill>
                <a:latin typeface="Arial"/>
              </a:rPr>
              <a:t>INDICATIF</a:t>
            </a:r>
          </a:p>
        </p:txBody>
      </p:sp>
      <p:sp>
        <p:nvSpPr>
          <p:cNvPr id="45" name="TextBox 44"/>
          <p:cNvSpPr txBox="1"/>
          <p:nvPr/>
        </p:nvSpPr>
        <p:spPr>
          <a:xfrm>
            <a:off x="9960864" y="1706880"/>
            <a:ext cx="1219200" cy="121920"/>
          </a:xfrm>
          <a:prstGeom prst="rect">
            <a:avLst/>
          </a:prstGeom>
          <a:noFill/>
        </p:spPr>
        <p:txBody>
          <a:bodyPr wrap="square" anchor="t" lIns="0" rIns="0" tIns="0" bIns="0">
            <a:spAutoFit/>
          </a:bodyPr>
          <a:lstStyle/>
          <a:p>
            <a:pPr algn="l"/>
            <a:r>
              <a:rPr sz="1000" b="1" i="0">
                <a:solidFill>
                  <a:srgbClr val="8A93A6"/>
                </a:solidFill>
                <a:latin typeface="Arial"/>
              </a:rPr>
              <a:t>ROAS</a:t>
            </a:r>
          </a:p>
        </p:txBody>
      </p:sp>
      <p:sp>
        <p:nvSpPr>
          <p:cNvPr id="46" name="TextBox 45"/>
          <p:cNvSpPr txBox="1"/>
          <p:nvPr/>
        </p:nvSpPr>
        <p:spPr>
          <a:xfrm>
            <a:off x="9960864" y="1889760"/>
            <a:ext cx="1219200" cy="274320"/>
          </a:xfrm>
          <a:prstGeom prst="rect">
            <a:avLst/>
          </a:prstGeom>
          <a:noFill/>
        </p:spPr>
        <p:txBody>
          <a:bodyPr wrap="square" anchor="t" lIns="0" rIns="0" tIns="0" bIns="0">
            <a:spAutoFit/>
          </a:bodyPr>
          <a:lstStyle/>
          <a:p>
            <a:pPr algn="l"/>
            <a:r>
              <a:rPr sz="2200" b="1" i="0">
                <a:solidFill>
                  <a:srgbClr val="8A93A6"/>
                </a:solidFill>
                <a:latin typeface="Arial"/>
              </a:rPr>
              <a:t>N/C</a:t>
            </a:r>
          </a:p>
        </p:txBody>
      </p:sp>
      <p:sp>
        <p:nvSpPr>
          <p:cNvPr id="47" name="TextBox 46"/>
          <p:cNvSpPr txBox="1"/>
          <p:nvPr/>
        </p:nvSpPr>
        <p:spPr>
          <a:xfrm>
            <a:off x="9960864" y="2243328"/>
            <a:ext cx="1219200" cy="109728"/>
          </a:xfrm>
          <a:prstGeom prst="rect">
            <a:avLst/>
          </a:prstGeom>
          <a:noFill/>
        </p:spPr>
        <p:txBody>
          <a:bodyPr wrap="square" anchor="t" lIns="0" rIns="0" tIns="0" bIns="0">
            <a:spAutoFit/>
          </a:bodyPr>
          <a:lstStyle/>
          <a:p>
            <a:pPr algn="l"/>
            <a:r>
              <a:rPr sz="1000" b="1" i="0">
                <a:solidFill>
                  <a:srgbClr val="8A93A6"/>
                </a:solidFill>
                <a:latin typeface="Arial"/>
              </a:rPr>
              <a:t>—</a:t>
            </a:r>
          </a:p>
        </p:txBody>
      </p:sp>
      <p:sp>
        <p:nvSpPr>
          <p:cNvPr id="48" name="TextBox 47"/>
          <p:cNvSpPr txBox="1"/>
          <p:nvPr/>
        </p:nvSpPr>
        <p:spPr>
          <a:xfrm>
            <a:off x="9960864" y="2499360"/>
            <a:ext cx="1219200" cy="91440"/>
          </a:xfrm>
          <a:prstGeom prst="rect">
            <a:avLst/>
          </a:prstGeom>
          <a:noFill/>
        </p:spPr>
        <p:txBody>
          <a:bodyPr wrap="square" anchor="t" lIns="0" rIns="0" tIns="0" bIns="0">
            <a:spAutoFit/>
          </a:bodyPr>
          <a:lstStyle/>
          <a:p>
            <a:pPr algn="l"/>
            <a:r>
              <a:rPr sz="800" b="0" i="1">
                <a:solidFill>
                  <a:srgbClr val="8A93A6"/>
                </a:solidFill>
                <a:latin typeface="Arial"/>
              </a:rPr>
              <a:t>YTD —</a:t>
            </a:r>
          </a:p>
        </p:txBody>
      </p:sp>
      <p:sp>
        <p:nvSpPr>
          <p:cNvPr id="49" name="Isosceles Triangle 48"/>
          <p:cNvSpPr/>
          <p:nvPr/>
        </p:nvSpPr>
        <p:spPr>
          <a:xfrm>
            <a:off x="8564880" y="2688336"/>
            <a:ext cx="182880" cy="85344"/>
          </a:xfrm>
          <a:prstGeom prst="triangle">
            <a:avLst/>
          </a:prstGeom>
          <a:solidFill>
            <a:srgbClr val="EBE9E5"/>
          </a:solidFill>
          <a:ln>
            <a:noFill/>
          </a:ln>
          <a:effectLst/>
        </p:spPr>
        <p:txBody>
          <a:bodyPr rtlCol="0" anchor="ctr"/>
          <a:lstStyle/>
          <a:p>
            <a:pPr algn="ctr"/>
          </a:p>
        </p:txBody>
      </p:sp>
      <p:sp>
        <p:nvSpPr>
          <p:cNvPr id="50" name="Rounded Rectangle 49"/>
          <p:cNvSpPr/>
          <p:nvPr/>
        </p:nvSpPr>
        <p:spPr>
          <a:xfrm>
            <a:off x="6108192" y="2773680"/>
            <a:ext cx="5108448" cy="438912"/>
          </a:xfrm>
          <a:prstGeom prst="roundRect">
            <a:avLst>
              <a:gd name="adj" fmla="val 15000"/>
            </a:avLst>
          </a:prstGeom>
          <a:solidFill>
            <a:srgbClr val="EBE9E5"/>
          </a:solidFill>
          <a:ln>
            <a:noFill/>
          </a:ln>
          <a:effectLst/>
        </p:spPr>
        <p:txBody>
          <a:bodyPr rtlCol="0" anchor="ctr"/>
          <a:lstStyle/>
          <a:p>
            <a:pPr algn="ctr"/>
          </a:p>
        </p:txBody>
      </p:sp>
      <p:sp>
        <p:nvSpPr>
          <p:cNvPr id="51" name="TextBox 50"/>
          <p:cNvSpPr txBox="1"/>
          <p:nvPr/>
        </p:nvSpPr>
        <p:spPr>
          <a:xfrm>
            <a:off x="6230112" y="2816352"/>
            <a:ext cx="4864608" cy="365760"/>
          </a:xfrm>
          <a:prstGeom prst="rect">
            <a:avLst/>
          </a:prstGeom>
          <a:noFill/>
        </p:spPr>
        <p:txBody>
          <a:bodyPr wrap="square" anchor="ctr" lIns="0" rIns="0" tIns="0" bIns="0">
            <a:spAutoFit/>
          </a:bodyPr>
          <a:lstStyle/>
          <a:p>
            <a:pPr algn="l"/>
            <a:r>
              <a:rPr sz="900" b="0" i="0">
                <a:solidFill>
                  <a:srgbClr val="555B66"/>
                </a:solidFill>
                <a:latin typeface="Arial"/>
              </a:rPr>
              <a:t>Le Conversion Tracker est en cours d'implémentation. Les conversions apparaîtront dans ce rapport dès que la remontée des données sera validée.</a:t>
            </a:r>
          </a:p>
        </p:txBody>
      </p:sp>
      <p:sp>
        <p:nvSpPr>
          <p:cNvPr id="52" name="TextBox 51"/>
          <p:cNvSpPr txBox="1"/>
          <p:nvPr/>
        </p:nvSpPr>
        <p:spPr>
          <a:xfrm>
            <a:off x="530352" y="3322320"/>
            <a:ext cx="7315200" cy="182880"/>
          </a:xfrm>
          <a:prstGeom prst="rect">
            <a:avLst/>
          </a:prstGeom>
          <a:noFill/>
        </p:spPr>
        <p:txBody>
          <a:bodyPr wrap="square" anchor="t" lIns="0" rIns="0" tIns="0" bIns="0">
            <a:spAutoFit/>
          </a:bodyPr>
          <a:lstStyle/>
          <a:p>
            <a:pPr algn="l"/>
            <a:r>
              <a:rPr sz="1400" b="1" i="0">
                <a:solidFill>
                  <a:srgbClr val="EE6A2C"/>
                </a:solidFill>
                <a:latin typeface="Arial"/>
              </a:rPr>
              <a:t>INSIGHTS QUALITATIFS · ANALYSE DES RECHERCHES</a:t>
            </a:r>
          </a:p>
        </p:txBody>
      </p:sp>
      <p:sp>
        <p:nvSpPr>
          <p:cNvPr id="53" name="Rectangle 52"/>
          <p:cNvSpPr/>
          <p:nvPr/>
        </p:nvSpPr>
        <p:spPr>
          <a:xfrm>
            <a:off x="530352" y="3584448"/>
            <a:ext cx="3401568" cy="2560320"/>
          </a:xfrm>
          <a:prstGeom prst="rect">
            <a:avLst/>
          </a:prstGeom>
          <a:solidFill>
            <a:srgbClr val="FFFFFF"/>
          </a:solidFill>
          <a:ln>
            <a:noFill/>
          </a:ln>
          <a:effectLst/>
        </p:spPr>
        <p:txBody>
          <a:bodyPr rtlCol="0" anchor="ctr"/>
          <a:lstStyle/>
          <a:p>
            <a:pPr algn="ctr"/>
          </a:p>
        </p:txBody>
      </p:sp>
      <p:sp>
        <p:nvSpPr>
          <p:cNvPr id="54" name="Rectangle 53"/>
          <p:cNvSpPr/>
          <p:nvPr/>
        </p:nvSpPr>
        <p:spPr>
          <a:xfrm>
            <a:off x="4194048" y="3584448"/>
            <a:ext cx="3401568" cy="2560320"/>
          </a:xfrm>
          <a:prstGeom prst="rect">
            <a:avLst/>
          </a:prstGeom>
          <a:solidFill>
            <a:srgbClr val="FFFFFF"/>
          </a:solidFill>
          <a:ln>
            <a:noFill/>
          </a:ln>
          <a:effectLst/>
        </p:spPr>
        <p:txBody>
          <a:bodyPr rtlCol="0" anchor="ctr"/>
          <a:lstStyle/>
          <a:p>
            <a:pPr algn="ctr"/>
          </a:p>
        </p:txBody>
      </p:sp>
      <p:sp>
        <p:nvSpPr>
          <p:cNvPr id="55" name="Rectangle 54"/>
          <p:cNvSpPr/>
          <p:nvPr/>
        </p:nvSpPr>
        <p:spPr>
          <a:xfrm>
            <a:off x="7857744" y="3584448"/>
            <a:ext cx="3401568" cy="2560320"/>
          </a:xfrm>
          <a:prstGeom prst="rect">
            <a:avLst/>
          </a:prstGeom>
          <a:solidFill>
            <a:srgbClr val="FFFFFF"/>
          </a:solidFill>
          <a:ln>
            <a:noFill/>
          </a:ln>
          <a:effectLst/>
        </p:spPr>
        <p:txBody>
          <a:bodyPr rtlCol="0" anchor="ctr"/>
          <a:lstStyle/>
          <a:p>
            <a:pPr algn="ctr"/>
          </a:p>
        </p:txBody>
      </p:sp>
      <p:sp>
        <p:nvSpPr>
          <p:cNvPr id="56" name="TextBox 55"/>
          <p:cNvSpPr txBox="1"/>
          <p:nvPr/>
        </p:nvSpPr>
        <p:spPr>
          <a:xfrm>
            <a:off x="774192" y="3767328"/>
            <a:ext cx="2926080" cy="152400"/>
          </a:xfrm>
          <a:prstGeom prst="rect">
            <a:avLst/>
          </a:prstGeom>
          <a:noFill/>
        </p:spPr>
        <p:txBody>
          <a:bodyPr wrap="square" anchor="t" lIns="0" rIns="0" tIns="0" bIns="0">
            <a:spAutoFit/>
          </a:bodyPr>
          <a:lstStyle/>
          <a:p>
            <a:pPr algn="l"/>
            <a:r>
              <a:rPr sz="1300" b="1" i="0">
                <a:solidFill>
                  <a:srgbClr val="555B66"/>
                </a:solidFill>
                <a:latin typeface="Arial"/>
              </a:rPr>
              <a:t>CHAMP LEXICAL</a:t>
            </a:r>
          </a:p>
        </p:txBody>
      </p:sp>
      <p:sp>
        <p:nvSpPr>
          <p:cNvPr id="57" name="TextBox 56"/>
          <p:cNvSpPr txBox="1"/>
          <p:nvPr/>
        </p:nvSpPr>
        <p:spPr>
          <a:xfrm>
            <a:off x="774192" y="3992880"/>
            <a:ext cx="2926080" cy="121920"/>
          </a:xfrm>
          <a:prstGeom prst="rect">
            <a:avLst/>
          </a:prstGeom>
          <a:noFill/>
        </p:spPr>
        <p:txBody>
          <a:bodyPr wrap="square" anchor="t" lIns="0" rIns="0" tIns="0" bIns="0">
            <a:spAutoFit/>
          </a:bodyPr>
          <a:lstStyle/>
          <a:p>
            <a:pPr algn="l"/>
            <a:r>
              <a:rPr sz="1000" b="0" i="1">
                <a:solidFill>
                  <a:srgbClr val="8A93A6"/>
                </a:solidFill>
                <a:latin typeface="Arial"/>
              </a:rPr>
              <a:t>Termes les plus fréquents</a:t>
            </a:r>
          </a:p>
        </p:txBody>
      </p:sp>
      <p:sp>
        <p:nvSpPr>
          <p:cNvPr id="58" name="TextBox 57"/>
          <p:cNvSpPr txBox="1"/>
          <p:nvPr/>
        </p:nvSpPr>
        <p:spPr>
          <a:xfrm>
            <a:off x="774192" y="4236720"/>
            <a:ext cx="2987040" cy="1828800"/>
          </a:xfrm>
          <a:prstGeom prst="rect">
            <a:avLst/>
          </a:prstGeom>
          <a:noFill/>
        </p:spPr>
        <p:txBody>
          <a:bodyPr wrap="square" anchor="t" lIns="0" rIns="0" tIns="0" bIns="0">
            <a:spAutoFit/>
          </a:bodyPr>
          <a:lstStyle/>
          <a:p>
            <a:pPr algn="l">
              <a:spcAft>
                <a:spcPts val="500"/>
              </a:spcAft>
            </a:pPr>
            <a:r>
              <a:rPr sz="1800" b="1" i="0">
                <a:solidFill>
                  <a:srgbClr val="EE6A2C"/>
                </a:solidFill>
                <a:latin typeface="Arial"/>
              </a:rPr>
              <a:t>prises connectées</a:t>
            </a:r>
            <a:r>
              <a:rPr sz="1600" b="1" i="0">
                <a:solidFill>
                  <a:srgbClr val="111111"/>
                </a:solidFill>
                <a:latin typeface="Arial"/>
              </a:rPr>
              <a:t>   canalisations</a:t>
            </a:r>
          </a:p>
          <a:p>
            <a:pPr algn="l">
              <a:spcAft>
                <a:spcPts val="500"/>
              </a:spcAft>
            </a:pPr>
            <a:r>
              <a:rPr sz="1500" b="1" i="0">
                <a:solidFill>
                  <a:srgbClr val="111111"/>
                </a:solidFill>
                <a:latin typeface="Arial"/>
              </a:rPr>
              <a:t>outils</a:t>
            </a:r>
            <a:r>
              <a:rPr sz="1400" b="1" i="0">
                <a:solidFill>
                  <a:srgbClr val="111111"/>
                </a:solidFill>
                <a:latin typeface="Arial"/>
              </a:rPr>
              <a:t>   tuyaux PVC</a:t>
            </a:r>
          </a:p>
          <a:p>
            <a:pPr algn="l">
              <a:spcAft>
                <a:spcPts val="500"/>
              </a:spcAft>
            </a:pPr>
            <a:r>
              <a:rPr sz="1300" b="1" i="0">
                <a:solidFill>
                  <a:srgbClr val="EE6A2C"/>
                </a:solidFill>
                <a:latin typeface="Arial"/>
              </a:rPr>
              <a:t>gel</a:t>
            </a:r>
            <a:r>
              <a:rPr sz="1200" b="0" i="0">
                <a:solidFill>
                  <a:srgbClr val="111111"/>
                </a:solidFill>
                <a:latin typeface="Arial"/>
              </a:rPr>
              <a:t>   humidimètre</a:t>
            </a:r>
          </a:p>
          <a:p>
            <a:pPr algn="l">
              <a:spcAft>
                <a:spcPts val="500"/>
              </a:spcAft>
            </a:pPr>
            <a:r>
              <a:rPr sz="1100" b="1" i="0">
                <a:solidFill>
                  <a:srgbClr val="EE6A2C"/>
                </a:solidFill>
                <a:latin typeface="Arial"/>
              </a:rPr>
              <a:t>Legrand</a:t>
            </a:r>
            <a:r>
              <a:rPr sz="1100" b="1" i="0">
                <a:solidFill>
                  <a:srgbClr val="111111"/>
                </a:solidFill>
                <a:latin typeface="Arial"/>
              </a:rPr>
              <a:t>   Bosch</a:t>
            </a:r>
            <a:r>
              <a:rPr sz="1100" b="0" i="0">
                <a:solidFill>
                  <a:srgbClr val="111111"/>
                </a:solidFill>
                <a:latin typeface="Arial"/>
              </a:rPr>
              <a:t>   Makita</a:t>
            </a:r>
          </a:p>
          <a:p>
            <a:pPr algn="l">
              <a:spcAft>
                <a:spcPts val="500"/>
              </a:spcAft>
            </a:pPr>
            <a:r>
              <a:rPr sz="1100" b="1" i="0">
                <a:solidFill>
                  <a:srgbClr val="111111"/>
                </a:solidFill>
                <a:latin typeface="Arial"/>
              </a:rPr>
              <a:t>chantier</a:t>
            </a:r>
            <a:r>
              <a:rPr sz="1100" b="0" i="0">
                <a:solidFill>
                  <a:srgbClr val="111111"/>
                </a:solidFill>
                <a:latin typeface="Arial"/>
              </a:rPr>
              <a:t>   peinture</a:t>
            </a:r>
          </a:p>
          <a:p>
            <a:pPr algn="l">
              <a:spcAft>
                <a:spcPts val="500"/>
              </a:spcAft>
            </a:pPr>
            <a:r>
              <a:rPr sz="1100" b="1" i="0">
                <a:solidFill>
                  <a:srgbClr val="111111"/>
                </a:solidFill>
                <a:latin typeface="Arial"/>
              </a:rPr>
              <a:t>Leroy Merlin</a:t>
            </a:r>
            <a:r>
              <a:rPr sz="1100" b="0" i="0">
                <a:solidFill>
                  <a:srgbClr val="111111"/>
                </a:solidFill>
                <a:latin typeface="Arial"/>
              </a:rPr>
              <a:t>   Chausson</a:t>
            </a:r>
          </a:p>
        </p:txBody>
      </p:sp>
      <p:sp>
        <p:nvSpPr>
          <p:cNvPr id="59" name="TextBox 58"/>
          <p:cNvSpPr txBox="1"/>
          <p:nvPr/>
        </p:nvSpPr>
        <p:spPr>
          <a:xfrm>
            <a:off x="4437888" y="3767328"/>
            <a:ext cx="2926080" cy="152400"/>
          </a:xfrm>
          <a:prstGeom prst="rect">
            <a:avLst/>
          </a:prstGeom>
          <a:noFill/>
        </p:spPr>
        <p:txBody>
          <a:bodyPr wrap="square" anchor="t" lIns="0" rIns="0" tIns="0" bIns="0">
            <a:spAutoFit/>
          </a:bodyPr>
          <a:lstStyle/>
          <a:p>
            <a:pPr algn="l"/>
            <a:r>
              <a:rPr sz="1300" b="1" i="0">
                <a:solidFill>
                  <a:srgbClr val="555B66"/>
                </a:solidFill>
                <a:latin typeface="Arial"/>
              </a:rPr>
              <a:t>EXEMPLES DE REQUÊTES</a:t>
            </a:r>
          </a:p>
        </p:txBody>
      </p:sp>
      <p:sp>
        <p:nvSpPr>
          <p:cNvPr id="60" name="TextBox 59"/>
          <p:cNvSpPr txBox="1"/>
          <p:nvPr/>
        </p:nvSpPr>
        <p:spPr>
          <a:xfrm>
            <a:off x="4437888" y="3992880"/>
            <a:ext cx="2926080" cy="121920"/>
          </a:xfrm>
          <a:prstGeom prst="rect">
            <a:avLst/>
          </a:prstGeom>
          <a:noFill/>
        </p:spPr>
        <p:txBody>
          <a:bodyPr wrap="square" anchor="t" lIns="0" rIns="0" tIns="0" bIns="0">
            <a:spAutoFit/>
          </a:bodyPr>
          <a:lstStyle/>
          <a:p>
            <a:pPr algn="l"/>
            <a:r>
              <a:rPr sz="1000" b="0" i="1">
                <a:solidFill>
                  <a:srgbClr val="8A93A6"/>
                </a:solidFill>
                <a:latin typeface="Arial"/>
              </a:rPr>
              <a:t>Questions posées aux IA</a:t>
            </a:r>
          </a:p>
        </p:txBody>
      </p:sp>
      <p:sp>
        <p:nvSpPr>
          <p:cNvPr id="61" name="TextBox 60"/>
          <p:cNvSpPr txBox="1"/>
          <p:nvPr/>
        </p:nvSpPr>
        <p:spPr>
          <a:xfrm>
            <a:off x="4437888" y="4267200"/>
            <a:ext cx="2913888" cy="304800"/>
          </a:xfrm>
          <a:prstGeom prst="rect">
            <a:avLst/>
          </a:prstGeom>
          <a:noFill/>
        </p:spPr>
        <p:txBody>
          <a:bodyPr wrap="square" anchor="ctr" lIns="0" rIns="0" tIns="0" bIns="0">
            <a:spAutoFit/>
          </a:bodyPr>
          <a:lstStyle/>
          <a:p>
            <a:pPr algn="l"/>
            <a:r>
              <a:rPr sz="1000" b="0" i="0">
                <a:solidFill>
                  <a:srgbClr val="111111"/>
                </a:solidFill>
                <a:latin typeface="Arial"/>
              </a:rPr>
              <a:t>Quel interrupteur va-et-vient pour une rénovation ?</a:t>
            </a:r>
          </a:p>
        </p:txBody>
      </p:sp>
      <p:sp>
        <p:nvSpPr>
          <p:cNvPr id="62" name="Rectangle 61"/>
          <p:cNvSpPr/>
          <p:nvPr/>
        </p:nvSpPr>
        <p:spPr>
          <a:xfrm>
            <a:off x="4437888" y="4602480"/>
            <a:ext cx="2913888" cy="6096"/>
          </a:xfrm>
          <a:prstGeom prst="rect">
            <a:avLst/>
          </a:prstGeom>
          <a:solidFill>
            <a:srgbClr val="E6E3DE"/>
          </a:solidFill>
          <a:ln>
            <a:noFill/>
          </a:ln>
          <a:effectLst/>
        </p:spPr>
        <p:txBody>
          <a:bodyPr rtlCol="0" anchor="ctr"/>
          <a:lstStyle/>
          <a:p>
            <a:pPr algn="ctr"/>
          </a:p>
        </p:txBody>
      </p:sp>
      <p:sp>
        <p:nvSpPr>
          <p:cNvPr id="63" name="TextBox 62"/>
          <p:cNvSpPr txBox="1"/>
          <p:nvPr/>
        </p:nvSpPr>
        <p:spPr>
          <a:xfrm>
            <a:off x="4437888" y="4632960"/>
            <a:ext cx="2913888" cy="304800"/>
          </a:xfrm>
          <a:prstGeom prst="rect">
            <a:avLst/>
          </a:prstGeom>
          <a:noFill/>
        </p:spPr>
        <p:txBody>
          <a:bodyPr wrap="square" anchor="ctr" lIns="0" rIns="0" tIns="0" bIns="0">
            <a:spAutoFit/>
          </a:bodyPr>
          <a:lstStyle/>
          <a:p>
            <a:pPr algn="l"/>
            <a:r>
              <a:rPr sz="1000" b="0" i="0">
                <a:solidFill>
                  <a:srgbClr val="111111"/>
                </a:solidFill>
                <a:latin typeface="Arial"/>
              </a:rPr>
              <a:t>Quel radiateur électrique vertical pour une petite pièce ?</a:t>
            </a:r>
          </a:p>
        </p:txBody>
      </p:sp>
      <p:sp>
        <p:nvSpPr>
          <p:cNvPr id="64" name="Rectangle 63"/>
          <p:cNvSpPr/>
          <p:nvPr/>
        </p:nvSpPr>
        <p:spPr>
          <a:xfrm>
            <a:off x="4437888" y="4968240"/>
            <a:ext cx="2913888" cy="6096"/>
          </a:xfrm>
          <a:prstGeom prst="rect">
            <a:avLst/>
          </a:prstGeom>
          <a:solidFill>
            <a:srgbClr val="E6E3DE"/>
          </a:solidFill>
          <a:ln>
            <a:noFill/>
          </a:ln>
          <a:effectLst/>
        </p:spPr>
        <p:txBody>
          <a:bodyPr rtlCol="0" anchor="ctr"/>
          <a:lstStyle/>
          <a:p>
            <a:pPr algn="ctr"/>
          </a:p>
        </p:txBody>
      </p:sp>
      <p:sp>
        <p:nvSpPr>
          <p:cNvPr id="65" name="TextBox 64"/>
          <p:cNvSpPr txBox="1"/>
          <p:nvPr/>
        </p:nvSpPr>
        <p:spPr>
          <a:xfrm>
            <a:off x="4437888" y="4998720"/>
            <a:ext cx="2913888" cy="304800"/>
          </a:xfrm>
          <a:prstGeom prst="rect">
            <a:avLst/>
          </a:prstGeom>
          <a:noFill/>
        </p:spPr>
        <p:txBody>
          <a:bodyPr wrap="square" anchor="ctr" lIns="0" rIns="0" tIns="0" bIns="0">
            <a:spAutoFit/>
          </a:bodyPr>
          <a:lstStyle/>
          <a:p>
            <a:pPr algn="l"/>
            <a:r>
              <a:rPr sz="1000" b="0" i="0">
                <a:solidFill>
                  <a:srgbClr val="111111"/>
                </a:solidFill>
                <a:latin typeface="Arial"/>
              </a:rPr>
              <a:t>Quel chauffe-eau compact installer sous un évier ?</a:t>
            </a:r>
          </a:p>
        </p:txBody>
      </p:sp>
      <p:sp>
        <p:nvSpPr>
          <p:cNvPr id="66" name="Rectangle 65"/>
          <p:cNvSpPr/>
          <p:nvPr/>
        </p:nvSpPr>
        <p:spPr>
          <a:xfrm>
            <a:off x="4437888" y="5334000"/>
            <a:ext cx="2913888" cy="6096"/>
          </a:xfrm>
          <a:prstGeom prst="rect">
            <a:avLst/>
          </a:prstGeom>
          <a:solidFill>
            <a:srgbClr val="E6E3DE"/>
          </a:solidFill>
          <a:ln>
            <a:noFill/>
          </a:ln>
          <a:effectLst/>
        </p:spPr>
        <p:txBody>
          <a:bodyPr rtlCol="0" anchor="ctr"/>
          <a:lstStyle/>
          <a:p>
            <a:pPr algn="ctr"/>
          </a:p>
        </p:txBody>
      </p:sp>
      <p:sp>
        <p:nvSpPr>
          <p:cNvPr id="67" name="TextBox 66"/>
          <p:cNvSpPr txBox="1"/>
          <p:nvPr/>
        </p:nvSpPr>
        <p:spPr>
          <a:xfrm>
            <a:off x="4437888" y="5364480"/>
            <a:ext cx="2913888" cy="304800"/>
          </a:xfrm>
          <a:prstGeom prst="rect">
            <a:avLst/>
          </a:prstGeom>
          <a:noFill/>
        </p:spPr>
        <p:txBody>
          <a:bodyPr wrap="square" anchor="ctr" lIns="0" rIns="0" tIns="0" bIns="0">
            <a:spAutoFit/>
          </a:bodyPr>
          <a:lstStyle/>
          <a:p>
            <a:pPr algn="l"/>
            <a:r>
              <a:rPr sz="1000" b="0" i="0">
                <a:solidFill>
                  <a:srgbClr val="111111"/>
                </a:solidFill>
                <a:latin typeface="Arial"/>
              </a:rPr>
              <a:t>Quels gants nitrile pour manipuler des produits chimiques ?</a:t>
            </a:r>
          </a:p>
        </p:txBody>
      </p:sp>
      <p:sp>
        <p:nvSpPr>
          <p:cNvPr id="68" name="Rectangle 67"/>
          <p:cNvSpPr/>
          <p:nvPr/>
        </p:nvSpPr>
        <p:spPr>
          <a:xfrm>
            <a:off x="4437888" y="5699760"/>
            <a:ext cx="2913888" cy="6096"/>
          </a:xfrm>
          <a:prstGeom prst="rect">
            <a:avLst/>
          </a:prstGeom>
          <a:solidFill>
            <a:srgbClr val="E6E3DE"/>
          </a:solidFill>
          <a:ln>
            <a:noFill/>
          </a:ln>
          <a:effectLst/>
        </p:spPr>
        <p:txBody>
          <a:bodyPr rtlCol="0" anchor="ctr"/>
          <a:lstStyle/>
          <a:p>
            <a:pPr algn="ctr"/>
          </a:p>
        </p:txBody>
      </p:sp>
      <p:sp>
        <p:nvSpPr>
          <p:cNvPr id="69" name="TextBox 68"/>
          <p:cNvSpPr txBox="1"/>
          <p:nvPr/>
        </p:nvSpPr>
        <p:spPr>
          <a:xfrm>
            <a:off x="4437888" y="5730240"/>
            <a:ext cx="2913888" cy="304800"/>
          </a:xfrm>
          <a:prstGeom prst="rect">
            <a:avLst/>
          </a:prstGeom>
          <a:noFill/>
        </p:spPr>
        <p:txBody>
          <a:bodyPr wrap="square" anchor="ctr" lIns="0" rIns="0" tIns="0" bIns="0">
            <a:spAutoFit/>
          </a:bodyPr>
          <a:lstStyle/>
          <a:p>
            <a:pPr algn="l"/>
            <a:r>
              <a:rPr sz="1000" b="0" i="0">
                <a:solidFill>
                  <a:srgbClr val="111111"/>
                </a:solidFill>
                <a:latin typeface="Arial"/>
              </a:rPr>
              <a:t>Quel extracteur pour retirer une pièce sans l'abîmer ?</a:t>
            </a:r>
          </a:p>
        </p:txBody>
      </p:sp>
      <p:sp>
        <p:nvSpPr>
          <p:cNvPr id="70" name="TextBox 69"/>
          <p:cNvSpPr txBox="1"/>
          <p:nvPr/>
        </p:nvSpPr>
        <p:spPr>
          <a:xfrm>
            <a:off x="8101584" y="3767328"/>
            <a:ext cx="2926080" cy="152400"/>
          </a:xfrm>
          <a:prstGeom prst="rect">
            <a:avLst/>
          </a:prstGeom>
          <a:noFill/>
        </p:spPr>
        <p:txBody>
          <a:bodyPr wrap="square" anchor="t" lIns="0" rIns="0" tIns="0" bIns="0">
            <a:spAutoFit/>
          </a:bodyPr>
          <a:lstStyle/>
          <a:p>
            <a:pPr algn="l"/>
            <a:r>
              <a:rPr sz="1300" b="1" i="0">
                <a:solidFill>
                  <a:srgbClr val="555B66"/>
                </a:solidFill>
                <a:latin typeface="Arial"/>
              </a:rPr>
              <a:t>CATÉGORIES DE PRODUITS</a:t>
            </a:r>
          </a:p>
        </p:txBody>
      </p:sp>
      <p:sp>
        <p:nvSpPr>
          <p:cNvPr id="71" name="TextBox 70"/>
          <p:cNvSpPr txBox="1"/>
          <p:nvPr/>
        </p:nvSpPr>
        <p:spPr>
          <a:xfrm>
            <a:off x="8101584" y="3992880"/>
            <a:ext cx="2926080" cy="121920"/>
          </a:xfrm>
          <a:prstGeom prst="rect">
            <a:avLst/>
          </a:prstGeom>
          <a:noFill/>
        </p:spPr>
        <p:txBody>
          <a:bodyPr wrap="square" anchor="t" lIns="0" rIns="0" tIns="0" bIns="0">
            <a:spAutoFit/>
          </a:bodyPr>
          <a:lstStyle/>
          <a:p>
            <a:pPr algn="l"/>
            <a:r>
              <a:rPr sz="1000" b="0" i="1">
                <a:solidFill>
                  <a:srgbClr val="8A93A6"/>
                </a:solidFill>
                <a:latin typeface="Arial"/>
              </a:rPr>
              <a:t>Répartition des requêtes</a:t>
            </a:r>
          </a:p>
        </p:txBody>
      </p:sp>
      <p:sp>
        <p:nvSpPr>
          <p:cNvPr id="72" name="TextBox 71"/>
          <p:cNvSpPr txBox="1"/>
          <p:nvPr/>
        </p:nvSpPr>
        <p:spPr>
          <a:xfrm>
            <a:off x="8101584" y="4267200"/>
            <a:ext cx="2194560" cy="134112"/>
          </a:xfrm>
          <a:prstGeom prst="rect">
            <a:avLst/>
          </a:prstGeom>
          <a:noFill/>
        </p:spPr>
        <p:txBody>
          <a:bodyPr wrap="square" anchor="t" lIns="0" rIns="0" tIns="0" bIns="0">
            <a:spAutoFit/>
          </a:bodyPr>
          <a:lstStyle/>
          <a:p>
            <a:pPr algn="l"/>
            <a:r>
              <a:rPr sz="1000" b="0" i="0">
                <a:solidFill>
                  <a:srgbClr val="111111"/>
                </a:solidFill>
                <a:latin typeface="Arial"/>
              </a:rPr>
              <a:t>Électricité, interrupteurs et prises</a:t>
            </a:r>
          </a:p>
        </p:txBody>
      </p:sp>
      <p:sp>
        <p:nvSpPr>
          <p:cNvPr id="73" name="Rectangle 72"/>
          <p:cNvSpPr/>
          <p:nvPr/>
        </p:nvSpPr>
        <p:spPr>
          <a:xfrm>
            <a:off x="8101584" y="4419600"/>
            <a:ext cx="2011680" cy="54864"/>
          </a:xfrm>
          <a:prstGeom prst="rect">
            <a:avLst/>
          </a:prstGeom>
          <a:solidFill>
            <a:srgbClr val="ECEAE5"/>
          </a:solidFill>
          <a:ln>
            <a:noFill/>
          </a:ln>
          <a:effectLst/>
        </p:spPr>
        <p:txBody>
          <a:bodyPr rtlCol="0" anchor="ctr"/>
          <a:lstStyle/>
          <a:p>
            <a:pPr algn="ctr"/>
          </a:p>
        </p:txBody>
      </p:sp>
      <p:sp>
        <p:nvSpPr>
          <p:cNvPr id="74" name="Rectangle 73"/>
          <p:cNvSpPr/>
          <p:nvPr/>
        </p:nvSpPr>
        <p:spPr>
          <a:xfrm>
            <a:off x="8101584" y="4419600"/>
            <a:ext cx="80467" cy="54864"/>
          </a:xfrm>
          <a:prstGeom prst="rect">
            <a:avLst/>
          </a:prstGeom>
          <a:solidFill>
            <a:srgbClr val="9AA3B2"/>
          </a:solidFill>
          <a:ln>
            <a:noFill/>
          </a:ln>
          <a:effectLst/>
        </p:spPr>
        <p:txBody>
          <a:bodyPr rtlCol="0" anchor="ctr"/>
          <a:lstStyle/>
          <a:p>
            <a:pPr algn="ctr"/>
          </a:p>
        </p:txBody>
      </p:sp>
      <p:sp>
        <p:nvSpPr>
          <p:cNvPr id="75" name="TextBox 74"/>
          <p:cNvSpPr txBox="1"/>
          <p:nvPr/>
        </p:nvSpPr>
        <p:spPr>
          <a:xfrm>
            <a:off x="10241280" y="4340352"/>
            <a:ext cx="792480" cy="182880"/>
          </a:xfrm>
          <a:prstGeom prst="rect">
            <a:avLst/>
          </a:prstGeom>
          <a:noFill/>
        </p:spPr>
        <p:txBody>
          <a:bodyPr wrap="square" anchor="ctr" lIns="0" rIns="0" tIns="0" bIns="0">
            <a:spAutoFit/>
          </a:bodyPr>
          <a:lstStyle/>
          <a:p>
            <a:pPr algn="r"/>
            <a:r>
              <a:rPr sz="1300" b="1" i="0">
                <a:solidFill>
                  <a:srgbClr val="111111"/>
                </a:solidFill>
                <a:latin typeface="Arial"/>
              </a:rPr>
              <a:t>4 %</a:t>
            </a:r>
          </a:p>
        </p:txBody>
      </p:sp>
      <p:sp>
        <p:nvSpPr>
          <p:cNvPr id="76" name="TextBox 75"/>
          <p:cNvSpPr txBox="1"/>
          <p:nvPr/>
        </p:nvSpPr>
        <p:spPr>
          <a:xfrm>
            <a:off x="8101584" y="4584192"/>
            <a:ext cx="2194560" cy="134112"/>
          </a:xfrm>
          <a:prstGeom prst="rect">
            <a:avLst/>
          </a:prstGeom>
          <a:noFill/>
        </p:spPr>
        <p:txBody>
          <a:bodyPr wrap="square" anchor="t" lIns="0" rIns="0" tIns="0" bIns="0">
            <a:spAutoFit/>
          </a:bodyPr>
          <a:lstStyle/>
          <a:p>
            <a:pPr algn="l"/>
            <a:r>
              <a:rPr sz="1000" b="0" i="0">
                <a:solidFill>
                  <a:srgbClr val="111111"/>
                </a:solidFill>
                <a:latin typeface="Arial"/>
              </a:rPr>
              <a:t>Chauffe-eau et eau chaude</a:t>
            </a:r>
          </a:p>
        </p:txBody>
      </p:sp>
      <p:sp>
        <p:nvSpPr>
          <p:cNvPr id="77" name="Rectangle 76"/>
          <p:cNvSpPr/>
          <p:nvPr/>
        </p:nvSpPr>
        <p:spPr>
          <a:xfrm>
            <a:off x="8101584" y="4736592"/>
            <a:ext cx="2011680" cy="54864"/>
          </a:xfrm>
          <a:prstGeom prst="rect">
            <a:avLst/>
          </a:prstGeom>
          <a:solidFill>
            <a:srgbClr val="ECEAE5"/>
          </a:solidFill>
          <a:ln>
            <a:noFill/>
          </a:ln>
          <a:effectLst/>
        </p:spPr>
        <p:txBody>
          <a:bodyPr rtlCol="0" anchor="ctr"/>
          <a:lstStyle/>
          <a:p>
            <a:pPr algn="ctr"/>
          </a:p>
        </p:txBody>
      </p:sp>
      <p:sp>
        <p:nvSpPr>
          <p:cNvPr id="78" name="Rectangle 77"/>
          <p:cNvSpPr/>
          <p:nvPr/>
        </p:nvSpPr>
        <p:spPr>
          <a:xfrm>
            <a:off x="8101584" y="4736592"/>
            <a:ext cx="221284" cy="54864"/>
          </a:xfrm>
          <a:prstGeom prst="rect">
            <a:avLst/>
          </a:prstGeom>
          <a:solidFill>
            <a:srgbClr val="9AA3B2"/>
          </a:solidFill>
          <a:ln>
            <a:noFill/>
          </a:ln>
          <a:effectLst/>
        </p:spPr>
        <p:txBody>
          <a:bodyPr rtlCol="0" anchor="ctr"/>
          <a:lstStyle/>
          <a:p>
            <a:pPr algn="ctr"/>
          </a:p>
        </p:txBody>
      </p:sp>
      <p:sp>
        <p:nvSpPr>
          <p:cNvPr id="79" name="TextBox 78"/>
          <p:cNvSpPr txBox="1"/>
          <p:nvPr/>
        </p:nvSpPr>
        <p:spPr>
          <a:xfrm>
            <a:off x="10241280" y="4657344"/>
            <a:ext cx="792480" cy="182880"/>
          </a:xfrm>
          <a:prstGeom prst="rect">
            <a:avLst/>
          </a:prstGeom>
          <a:noFill/>
        </p:spPr>
        <p:txBody>
          <a:bodyPr wrap="square" anchor="ctr" lIns="0" rIns="0" tIns="0" bIns="0">
            <a:spAutoFit/>
          </a:bodyPr>
          <a:lstStyle/>
          <a:p>
            <a:pPr algn="r"/>
            <a:r>
              <a:rPr sz="1300" b="1" i="0">
                <a:solidFill>
                  <a:srgbClr val="111111"/>
                </a:solidFill>
                <a:latin typeface="Arial"/>
              </a:rPr>
              <a:t>11 %</a:t>
            </a:r>
          </a:p>
        </p:txBody>
      </p:sp>
      <p:sp>
        <p:nvSpPr>
          <p:cNvPr id="80" name="TextBox 79"/>
          <p:cNvSpPr txBox="1"/>
          <p:nvPr/>
        </p:nvSpPr>
        <p:spPr>
          <a:xfrm>
            <a:off x="8101584" y="4901184"/>
            <a:ext cx="2194560" cy="134112"/>
          </a:xfrm>
          <a:prstGeom prst="rect">
            <a:avLst/>
          </a:prstGeom>
          <a:noFill/>
        </p:spPr>
        <p:txBody>
          <a:bodyPr wrap="square" anchor="t" lIns="0" rIns="0" tIns="0" bIns="0">
            <a:spAutoFit/>
          </a:bodyPr>
          <a:lstStyle/>
          <a:p>
            <a:pPr algn="l"/>
            <a:r>
              <a:rPr sz="1000" b="0" i="0">
                <a:solidFill>
                  <a:srgbClr val="111111"/>
                </a:solidFill>
                <a:latin typeface="Arial"/>
              </a:rPr>
              <a:t>Chauffage et radiateurs</a:t>
            </a:r>
          </a:p>
        </p:txBody>
      </p:sp>
      <p:sp>
        <p:nvSpPr>
          <p:cNvPr id="81" name="Rectangle 80"/>
          <p:cNvSpPr/>
          <p:nvPr/>
        </p:nvSpPr>
        <p:spPr>
          <a:xfrm>
            <a:off x="8101584" y="5053584"/>
            <a:ext cx="2011680" cy="54864"/>
          </a:xfrm>
          <a:prstGeom prst="rect">
            <a:avLst/>
          </a:prstGeom>
          <a:solidFill>
            <a:srgbClr val="ECEAE5"/>
          </a:solidFill>
          <a:ln>
            <a:noFill/>
          </a:ln>
          <a:effectLst/>
        </p:spPr>
        <p:txBody>
          <a:bodyPr rtlCol="0" anchor="ctr"/>
          <a:lstStyle/>
          <a:p>
            <a:pPr algn="ctr"/>
          </a:p>
        </p:txBody>
      </p:sp>
      <p:sp>
        <p:nvSpPr>
          <p:cNvPr id="82" name="Rectangle 81"/>
          <p:cNvSpPr/>
          <p:nvPr/>
        </p:nvSpPr>
        <p:spPr>
          <a:xfrm>
            <a:off x="8101584" y="5053584"/>
            <a:ext cx="60350" cy="54864"/>
          </a:xfrm>
          <a:prstGeom prst="rect">
            <a:avLst/>
          </a:prstGeom>
          <a:solidFill>
            <a:srgbClr val="9AA3B2"/>
          </a:solidFill>
          <a:ln>
            <a:noFill/>
          </a:ln>
          <a:effectLst/>
        </p:spPr>
        <p:txBody>
          <a:bodyPr rtlCol="0" anchor="ctr"/>
          <a:lstStyle/>
          <a:p>
            <a:pPr algn="ctr"/>
          </a:p>
        </p:txBody>
      </p:sp>
      <p:sp>
        <p:nvSpPr>
          <p:cNvPr id="83" name="TextBox 82"/>
          <p:cNvSpPr txBox="1"/>
          <p:nvPr/>
        </p:nvSpPr>
        <p:spPr>
          <a:xfrm>
            <a:off x="10241280" y="4974336"/>
            <a:ext cx="792480" cy="182880"/>
          </a:xfrm>
          <a:prstGeom prst="rect">
            <a:avLst/>
          </a:prstGeom>
          <a:noFill/>
        </p:spPr>
        <p:txBody>
          <a:bodyPr wrap="square" anchor="ctr" lIns="0" rIns="0" tIns="0" bIns="0">
            <a:spAutoFit/>
          </a:bodyPr>
          <a:lstStyle/>
          <a:p>
            <a:pPr algn="r"/>
            <a:r>
              <a:rPr sz="1300" b="1" i="0">
                <a:solidFill>
                  <a:srgbClr val="111111"/>
                </a:solidFill>
                <a:latin typeface="Arial"/>
              </a:rPr>
              <a:t>3 %</a:t>
            </a:r>
          </a:p>
        </p:txBody>
      </p:sp>
      <p:sp>
        <p:nvSpPr>
          <p:cNvPr id="84" name="TextBox 83"/>
          <p:cNvSpPr txBox="1"/>
          <p:nvPr/>
        </p:nvSpPr>
        <p:spPr>
          <a:xfrm>
            <a:off x="8101584" y="5218176"/>
            <a:ext cx="2194560" cy="134112"/>
          </a:xfrm>
          <a:prstGeom prst="rect">
            <a:avLst/>
          </a:prstGeom>
          <a:noFill/>
        </p:spPr>
        <p:txBody>
          <a:bodyPr wrap="square" anchor="t" lIns="0" rIns="0" tIns="0" bIns="0">
            <a:spAutoFit/>
          </a:bodyPr>
          <a:lstStyle/>
          <a:p>
            <a:pPr algn="l"/>
            <a:r>
              <a:rPr sz="1000" b="0" i="0">
                <a:solidFill>
                  <a:srgbClr val="111111"/>
                </a:solidFill>
                <a:latin typeface="Arial"/>
              </a:rPr>
              <a:t>EPI et vêtements de sécurité</a:t>
            </a:r>
          </a:p>
        </p:txBody>
      </p:sp>
      <p:sp>
        <p:nvSpPr>
          <p:cNvPr id="85" name="Rectangle 84"/>
          <p:cNvSpPr/>
          <p:nvPr/>
        </p:nvSpPr>
        <p:spPr>
          <a:xfrm>
            <a:off x="8101584" y="5370576"/>
            <a:ext cx="2011680" cy="54864"/>
          </a:xfrm>
          <a:prstGeom prst="rect">
            <a:avLst/>
          </a:prstGeom>
          <a:solidFill>
            <a:srgbClr val="ECEAE5"/>
          </a:solidFill>
          <a:ln>
            <a:noFill/>
          </a:ln>
          <a:effectLst/>
        </p:spPr>
        <p:txBody>
          <a:bodyPr rtlCol="0" anchor="ctr"/>
          <a:lstStyle/>
          <a:p>
            <a:pPr algn="ctr"/>
          </a:p>
        </p:txBody>
      </p:sp>
      <p:sp>
        <p:nvSpPr>
          <p:cNvPr id="86" name="Rectangle 85"/>
          <p:cNvSpPr/>
          <p:nvPr/>
        </p:nvSpPr>
        <p:spPr>
          <a:xfrm>
            <a:off x="8101584" y="5370576"/>
            <a:ext cx="261518" cy="54864"/>
          </a:xfrm>
          <a:prstGeom prst="rect">
            <a:avLst/>
          </a:prstGeom>
          <a:solidFill>
            <a:srgbClr val="9AA3B2"/>
          </a:solidFill>
          <a:ln>
            <a:noFill/>
          </a:ln>
          <a:effectLst/>
        </p:spPr>
        <p:txBody>
          <a:bodyPr rtlCol="0" anchor="ctr"/>
          <a:lstStyle/>
          <a:p>
            <a:pPr algn="ctr"/>
          </a:p>
        </p:txBody>
      </p:sp>
      <p:sp>
        <p:nvSpPr>
          <p:cNvPr id="87" name="TextBox 86"/>
          <p:cNvSpPr txBox="1"/>
          <p:nvPr/>
        </p:nvSpPr>
        <p:spPr>
          <a:xfrm>
            <a:off x="10241280" y="5291328"/>
            <a:ext cx="792480" cy="182880"/>
          </a:xfrm>
          <a:prstGeom prst="rect">
            <a:avLst/>
          </a:prstGeom>
          <a:noFill/>
        </p:spPr>
        <p:txBody>
          <a:bodyPr wrap="square" anchor="ctr" lIns="0" rIns="0" tIns="0" bIns="0">
            <a:spAutoFit/>
          </a:bodyPr>
          <a:lstStyle/>
          <a:p>
            <a:pPr algn="r"/>
            <a:r>
              <a:rPr sz="1300" b="1" i="0">
                <a:solidFill>
                  <a:srgbClr val="111111"/>
                </a:solidFill>
                <a:latin typeface="Arial"/>
              </a:rPr>
              <a:t>13 %</a:t>
            </a:r>
          </a:p>
        </p:txBody>
      </p:sp>
      <p:sp>
        <p:nvSpPr>
          <p:cNvPr id="88" name="TextBox 87"/>
          <p:cNvSpPr txBox="1"/>
          <p:nvPr/>
        </p:nvSpPr>
        <p:spPr>
          <a:xfrm>
            <a:off x="8101584" y="5535168"/>
            <a:ext cx="2194560" cy="134112"/>
          </a:xfrm>
          <a:prstGeom prst="rect">
            <a:avLst/>
          </a:prstGeom>
          <a:noFill/>
        </p:spPr>
        <p:txBody>
          <a:bodyPr wrap="square" anchor="t" lIns="0" rIns="0" tIns="0" bIns="0">
            <a:spAutoFit/>
          </a:bodyPr>
          <a:lstStyle/>
          <a:p>
            <a:pPr algn="l"/>
            <a:r>
              <a:rPr sz="1000" b="0" i="0">
                <a:solidFill>
                  <a:srgbClr val="111111"/>
                </a:solidFill>
                <a:latin typeface="Arial"/>
              </a:rPr>
              <a:t>Outillage et plomberie</a:t>
            </a:r>
          </a:p>
        </p:txBody>
      </p:sp>
      <p:sp>
        <p:nvSpPr>
          <p:cNvPr id="89" name="Rectangle 88"/>
          <p:cNvSpPr/>
          <p:nvPr/>
        </p:nvSpPr>
        <p:spPr>
          <a:xfrm>
            <a:off x="8101584" y="5687568"/>
            <a:ext cx="2011680" cy="54864"/>
          </a:xfrm>
          <a:prstGeom prst="rect">
            <a:avLst/>
          </a:prstGeom>
          <a:solidFill>
            <a:srgbClr val="ECEAE5"/>
          </a:solidFill>
          <a:ln>
            <a:noFill/>
          </a:ln>
          <a:effectLst/>
        </p:spPr>
        <p:txBody>
          <a:bodyPr rtlCol="0" anchor="ctr"/>
          <a:lstStyle/>
          <a:p>
            <a:pPr algn="ctr"/>
          </a:p>
        </p:txBody>
      </p:sp>
      <p:sp>
        <p:nvSpPr>
          <p:cNvPr id="90" name="Rectangle 89"/>
          <p:cNvSpPr/>
          <p:nvPr/>
        </p:nvSpPr>
        <p:spPr>
          <a:xfrm>
            <a:off x="8101584" y="5687568"/>
            <a:ext cx="1388059" cy="54864"/>
          </a:xfrm>
          <a:prstGeom prst="rect">
            <a:avLst/>
          </a:prstGeom>
          <a:solidFill>
            <a:srgbClr val="EE6A2C"/>
          </a:solidFill>
          <a:ln>
            <a:noFill/>
          </a:ln>
          <a:effectLst/>
        </p:spPr>
        <p:txBody>
          <a:bodyPr rtlCol="0" anchor="ctr"/>
          <a:lstStyle/>
          <a:p>
            <a:pPr algn="ctr"/>
          </a:p>
        </p:txBody>
      </p:sp>
      <p:sp>
        <p:nvSpPr>
          <p:cNvPr id="91" name="TextBox 90"/>
          <p:cNvSpPr txBox="1"/>
          <p:nvPr/>
        </p:nvSpPr>
        <p:spPr>
          <a:xfrm>
            <a:off x="10241280" y="5608320"/>
            <a:ext cx="792480" cy="182880"/>
          </a:xfrm>
          <a:prstGeom prst="rect">
            <a:avLst/>
          </a:prstGeom>
          <a:noFill/>
        </p:spPr>
        <p:txBody>
          <a:bodyPr wrap="square" anchor="ctr" lIns="0" rIns="0" tIns="0" bIns="0">
            <a:spAutoFit/>
          </a:bodyPr>
          <a:lstStyle/>
          <a:p>
            <a:pPr algn="r"/>
            <a:r>
              <a:rPr sz="1300" b="1" i="0">
                <a:solidFill>
                  <a:srgbClr val="111111"/>
                </a:solidFill>
                <a:latin typeface="Arial"/>
              </a:rPr>
              <a:t>69 %</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6F2"/>
          </a:solidFill>
          <a:ln>
            <a:noFill/>
          </a:ln>
          <a:effectLst/>
        </p:spPr>
        <p:txBody>
          <a:bodyPr rtlCol="0" anchor="ctr"/>
          <a:lstStyle/>
          <a:p>
            <a:pPr algn="ctr"/>
          </a:p>
        </p:txBody>
      </p:sp>
      <p:sp>
        <p:nvSpPr>
          <p:cNvPr id="3" name="TextBox 2"/>
          <p:cNvSpPr txBox="1"/>
          <p:nvPr/>
        </p:nvSpPr>
        <p:spPr>
          <a:xfrm>
            <a:off x="579120" y="426720"/>
            <a:ext cx="7315200" cy="182880"/>
          </a:xfrm>
          <a:prstGeom prst="rect">
            <a:avLst/>
          </a:prstGeom>
          <a:noFill/>
        </p:spPr>
        <p:txBody>
          <a:bodyPr wrap="square" anchor="t" lIns="0" rIns="0" tIns="0" bIns="0">
            <a:spAutoFit/>
          </a:bodyPr>
          <a:lstStyle/>
          <a:p>
            <a:pPr algn="l"/>
            <a:r>
              <a:rPr sz="1300" b="1" i="0">
                <a:solidFill>
                  <a:srgbClr val="EE6A2C"/>
                </a:solidFill>
                <a:latin typeface="Arial"/>
              </a:rPr>
              <a:t>INSIGHTS QUALITATIFS · SEPTEMBRE 2026</a:t>
            </a:r>
          </a:p>
        </p:txBody>
      </p:sp>
      <p:sp>
        <p:nvSpPr>
          <p:cNvPr id="4" name="TextBox 3"/>
          <p:cNvSpPr txBox="1"/>
          <p:nvPr/>
        </p:nvSpPr>
        <p:spPr>
          <a:xfrm>
            <a:off x="579120" y="609600"/>
            <a:ext cx="7315200" cy="487680"/>
          </a:xfrm>
          <a:prstGeom prst="rect">
            <a:avLst/>
          </a:prstGeom>
          <a:noFill/>
        </p:spPr>
        <p:txBody>
          <a:bodyPr wrap="square" anchor="t" lIns="0" rIns="0" tIns="0" bIns="0">
            <a:spAutoFit/>
          </a:bodyPr>
          <a:lstStyle/>
          <a:p>
            <a:pPr algn="l"/>
            <a:r>
              <a:rPr sz="3600" b="1" i="0">
                <a:solidFill>
                  <a:srgbClr val="111111"/>
                </a:solidFill>
                <a:latin typeface="Arial"/>
              </a:rPr>
              <a:t>Mabex</a:t>
            </a:r>
          </a:p>
        </p:txBody>
      </p:sp>
      <p:sp>
        <p:nvSpPr>
          <p:cNvPr id="5" name="TextBox 4"/>
          <p:cNvSpPr txBox="1"/>
          <p:nvPr/>
        </p:nvSpPr>
        <p:spPr>
          <a:xfrm>
            <a:off x="9144000" y="499872"/>
            <a:ext cx="1889760" cy="182880"/>
          </a:xfrm>
          <a:prstGeom prst="rect">
            <a:avLst/>
          </a:prstGeom>
          <a:noFill/>
        </p:spPr>
        <p:txBody>
          <a:bodyPr wrap="square" anchor="t" lIns="0" rIns="0" tIns="0" bIns="0">
            <a:spAutoFit/>
          </a:bodyPr>
          <a:lstStyle/>
          <a:p>
            <a:pPr algn="r"/>
            <a:r>
              <a:rPr sz="1500" b="1" i="0">
                <a:solidFill>
                  <a:srgbClr val="111111"/>
                </a:solidFill>
                <a:latin typeface="Arial"/>
              </a:rPr>
              <a:t>Lemrock</a:t>
            </a:r>
          </a:p>
        </p:txBody>
      </p:sp>
      <p:sp>
        <p:nvSpPr>
          <p:cNvPr id="6" name="TextBox 5"/>
          <p:cNvSpPr txBox="1"/>
          <p:nvPr/>
        </p:nvSpPr>
        <p:spPr>
          <a:xfrm>
            <a:off x="579120" y="1219200"/>
            <a:ext cx="9144000" cy="182880"/>
          </a:xfrm>
          <a:prstGeom prst="rect">
            <a:avLst/>
          </a:prstGeom>
          <a:noFill/>
        </p:spPr>
        <p:txBody>
          <a:bodyPr wrap="square" anchor="t" lIns="0" rIns="0" tIns="0" bIns="0">
            <a:spAutoFit/>
          </a:bodyPr>
          <a:lstStyle/>
          <a:p>
            <a:pPr algn="l"/>
            <a:r>
              <a:rPr sz="1300" b="1" i="0">
                <a:solidFill>
                  <a:srgbClr val="EE6A2C"/>
                </a:solidFill>
                <a:latin typeface="Arial"/>
              </a:rPr>
              <a:t>OBJECTIF   </a:t>
            </a:r>
            <a:r>
              <a:rPr sz="1300" b="0" i="0">
                <a:solidFill>
                  <a:srgbClr val="111111"/>
                </a:solidFill>
                <a:latin typeface="Arial"/>
              </a:rPr>
              <a:t>Atteindre un ROAS d'au moins 10 (idéalement 12).</a:t>
            </a:r>
          </a:p>
        </p:txBody>
      </p:sp>
      <p:sp>
        <p:nvSpPr>
          <p:cNvPr id="7" name="TextBox 6"/>
          <p:cNvSpPr txBox="1"/>
          <p:nvPr/>
        </p:nvSpPr>
        <p:spPr>
          <a:xfrm>
            <a:off x="579120" y="1524000"/>
            <a:ext cx="4876800" cy="182880"/>
          </a:xfrm>
          <a:prstGeom prst="rect">
            <a:avLst/>
          </a:prstGeom>
          <a:noFill/>
        </p:spPr>
        <p:txBody>
          <a:bodyPr wrap="square" anchor="t" lIns="0" rIns="0" tIns="0" bIns="0">
            <a:spAutoFit/>
          </a:bodyPr>
          <a:lstStyle/>
          <a:p>
            <a:pPr algn="l"/>
            <a:r>
              <a:rPr sz="1400" b="1" i="0">
                <a:solidFill>
                  <a:srgbClr val="555B66"/>
                </a:solidFill>
                <a:latin typeface="Arial"/>
              </a:rPr>
              <a:t>INSIGHTS QUALITATIFS</a:t>
            </a:r>
          </a:p>
        </p:txBody>
      </p:sp>
      <p:sp>
        <p:nvSpPr>
          <p:cNvPr id="8" name="Rectangle 7"/>
          <p:cNvSpPr/>
          <p:nvPr/>
        </p:nvSpPr>
        <p:spPr>
          <a:xfrm>
            <a:off x="579120" y="1816608"/>
            <a:ext cx="5071872" cy="2121408"/>
          </a:xfrm>
          <a:prstGeom prst="rect">
            <a:avLst/>
          </a:prstGeom>
          <a:solidFill>
            <a:srgbClr val="FFFFFF"/>
          </a:solidFill>
          <a:ln>
            <a:noFill/>
          </a:ln>
          <a:effectLst/>
        </p:spPr>
        <p:txBody>
          <a:bodyPr rtlCol="0" anchor="ctr"/>
          <a:lstStyle/>
          <a:p>
            <a:pPr algn="ctr"/>
          </a:p>
        </p:txBody>
      </p:sp>
      <p:sp>
        <p:nvSpPr>
          <p:cNvPr id="9" name="TextBox 8"/>
          <p:cNvSpPr txBox="1"/>
          <p:nvPr/>
        </p:nvSpPr>
        <p:spPr>
          <a:xfrm>
            <a:off x="835152" y="2029968"/>
            <a:ext cx="487680" cy="243840"/>
          </a:xfrm>
          <a:prstGeom prst="rect">
            <a:avLst/>
          </a:prstGeom>
          <a:noFill/>
        </p:spPr>
        <p:txBody>
          <a:bodyPr wrap="square" anchor="t" lIns="0" rIns="0" tIns="0" bIns="0">
            <a:spAutoFit/>
          </a:bodyPr>
          <a:lstStyle/>
          <a:p>
            <a:pPr algn="l"/>
            <a:r>
              <a:rPr sz="2000" b="1" i="0">
                <a:solidFill>
                  <a:srgbClr val="EE6A2C"/>
                </a:solidFill>
                <a:latin typeface="Arial"/>
              </a:rPr>
              <a:t>01</a:t>
            </a:r>
          </a:p>
        </p:txBody>
      </p:sp>
      <p:sp>
        <p:nvSpPr>
          <p:cNvPr id="10" name="TextBox 9"/>
          <p:cNvSpPr txBox="1"/>
          <p:nvPr/>
        </p:nvSpPr>
        <p:spPr>
          <a:xfrm>
            <a:off x="1383792" y="2048256"/>
            <a:ext cx="4023360" cy="365760"/>
          </a:xfrm>
          <a:prstGeom prst="rect">
            <a:avLst/>
          </a:prstGeom>
          <a:noFill/>
        </p:spPr>
        <p:txBody>
          <a:bodyPr wrap="square" anchor="t" lIns="0" rIns="0" tIns="0" bIns="0">
            <a:spAutoFit/>
          </a:bodyPr>
          <a:lstStyle/>
          <a:p>
            <a:pPr algn="l"/>
            <a:r>
              <a:rPr sz="1400" b="1" i="0">
                <a:solidFill>
                  <a:srgbClr val="111111"/>
                </a:solidFill>
                <a:latin typeface="Arial"/>
              </a:rPr>
              <a:t>La plomberie clique le plus</a:t>
            </a:r>
          </a:p>
        </p:txBody>
      </p:sp>
      <p:sp>
        <p:nvSpPr>
          <p:cNvPr id="11" name="TextBox 10"/>
          <p:cNvSpPr txBox="1"/>
          <p:nvPr/>
        </p:nvSpPr>
        <p:spPr>
          <a:xfrm>
            <a:off x="835152" y="2609088"/>
            <a:ext cx="4572000" cy="731520"/>
          </a:xfrm>
          <a:prstGeom prst="rect">
            <a:avLst/>
          </a:prstGeom>
          <a:noFill/>
        </p:spPr>
        <p:txBody>
          <a:bodyPr wrap="square" anchor="t" lIns="0" rIns="0" tIns="0" bIns="0">
            <a:spAutoFit/>
          </a:bodyPr>
          <a:lstStyle/>
          <a:p>
            <a:pPr algn="l"/>
            <a:r>
              <a:rPr sz="1100" b="0" i="0">
                <a:solidFill>
                  <a:srgbClr val="555B66"/>
                </a:solidFill>
                <a:latin typeface="Arial"/>
              </a:rPr>
              <a:t>Le groupe plomberie atteint 1,43 fois le CTR moyen. L'annonce sur les colliers monobloc Nicoll atteint 2,35 fois.</a:t>
            </a:r>
          </a:p>
        </p:txBody>
      </p:sp>
      <p:sp>
        <p:nvSpPr>
          <p:cNvPr id="12" name="TextBox 11"/>
          <p:cNvSpPr txBox="1"/>
          <p:nvPr/>
        </p:nvSpPr>
        <p:spPr>
          <a:xfrm>
            <a:off x="835152" y="3310128"/>
            <a:ext cx="4572000" cy="487680"/>
          </a:xfrm>
          <a:prstGeom prst="rect">
            <a:avLst/>
          </a:prstGeom>
          <a:noFill/>
        </p:spPr>
        <p:txBody>
          <a:bodyPr wrap="square" anchor="t" lIns="0" rIns="0" tIns="0" bIns="0">
            <a:spAutoFit/>
          </a:bodyPr>
          <a:lstStyle/>
          <a:p>
            <a:pPr algn="l"/>
            <a:r>
              <a:rPr sz="900" b="1" i="0">
                <a:solidFill>
                  <a:srgbClr val="555B66"/>
                </a:solidFill>
                <a:latin typeface="Arial"/>
              </a:rPr>
              <a:t>→  Donner plus de place à la plomberie et au chauffe-eau dans la diffusion.</a:t>
            </a:r>
          </a:p>
        </p:txBody>
      </p:sp>
      <p:sp>
        <p:nvSpPr>
          <p:cNvPr id="13" name="Rectangle 12"/>
          <p:cNvSpPr/>
          <p:nvPr/>
        </p:nvSpPr>
        <p:spPr>
          <a:xfrm>
            <a:off x="5992368" y="1816608"/>
            <a:ext cx="5071872" cy="2121408"/>
          </a:xfrm>
          <a:prstGeom prst="rect">
            <a:avLst/>
          </a:prstGeom>
          <a:solidFill>
            <a:srgbClr val="FFFFFF"/>
          </a:solidFill>
          <a:ln>
            <a:noFill/>
          </a:ln>
          <a:effectLst/>
        </p:spPr>
        <p:txBody>
          <a:bodyPr rtlCol="0" anchor="ctr"/>
          <a:lstStyle/>
          <a:p>
            <a:pPr algn="ctr"/>
          </a:p>
        </p:txBody>
      </p:sp>
      <p:sp>
        <p:nvSpPr>
          <p:cNvPr id="14" name="TextBox 13"/>
          <p:cNvSpPr txBox="1"/>
          <p:nvPr/>
        </p:nvSpPr>
        <p:spPr>
          <a:xfrm>
            <a:off x="6248400" y="2029968"/>
            <a:ext cx="487680" cy="243840"/>
          </a:xfrm>
          <a:prstGeom prst="rect">
            <a:avLst/>
          </a:prstGeom>
          <a:noFill/>
        </p:spPr>
        <p:txBody>
          <a:bodyPr wrap="square" anchor="t" lIns="0" rIns="0" tIns="0" bIns="0">
            <a:spAutoFit/>
          </a:bodyPr>
          <a:lstStyle/>
          <a:p>
            <a:pPr algn="l"/>
            <a:r>
              <a:rPr sz="2000" b="1" i="0">
                <a:solidFill>
                  <a:srgbClr val="EE6A2C"/>
                </a:solidFill>
                <a:latin typeface="Arial"/>
              </a:rPr>
              <a:t>02</a:t>
            </a:r>
          </a:p>
        </p:txBody>
      </p:sp>
      <p:sp>
        <p:nvSpPr>
          <p:cNvPr id="15" name="TextBox 14"/>
          <p:cNvSpPr txBox="1"/>
          <p:nvPr/>
        </p:nvSpPr>
        <p:spPr>
          <a:xfrm>
            <a:off x="6797040" y="2048256"/>
            <a:ext cx="4023360" cy="365760"/>
          </a:xfrm>
          <a:prstGeom prst="rect">
            <a:avLst/>
          </a:prstGeom>
          <a:noFill/>
        </p:spPr>
        <p:txBody>
          <a:bodyPr wrap="square" anchor="t" lIns="0" rIns="0" tIns="0" bIns="0">
            <a:spAutoFit/>
          </a:bodyPr>
          <a:lstStyle/>
          <a:p>
            <a:pPr algn="l"/>
            <a:r>
              <a:rPr sz="1400" b="1" i="0">
                <a:solidFill>
                  <a:srgbClr val="111111"/>
                </a:solidFill>
                <a:latin typeface="Arial"/>
              </a:rPr>
              <a:t>Les packs d'outils séduisent les pros</a:t>
            </a:r>
          </a:p>
        </p:txBody>
      </p:sp>
      <p:sp>
        <p:nvSpPr>
          <p:cNvPr id="16" name="TextBox 15"/>
          <p:cNvSpPr txBox="1"/>
          <p:nvPr/>
        </p:nvSpPr>
        <p:spPr>
          <a:xfrm>
            <a:off x="6248400" y="2609088"/>
            <a:ext cx="4572000" cy="731520"/>
          </a:xfrm>
          <a:prstGeom prst="rect">
            <a:avLst/>
          </a:prstGeom>
          <a:noFill/>
        </p:spPr>
        <p:txBody>
          <a:bodyPr wrap="square" anchor="t" lIns="0" rIns="0" tIns="0" bIns="0">
            <a:spAutoFit/>
          </a:bodyPr>
          <a:lstStyle/>
          <a:p>
            <a:pPr algn="l"/>
            <a:r>
              <a:rPr sz="1100" b="0" i="0">
                <a:solidFill>
                  <a:srgbClr val="555B66"/>
                </a:solidFill>
                <a:latin typeface="Arial"/>
              </a:rPr>
              <a:t>Les packs d'outils électroportatifs (Milwaukee, Makita, Dewalt…) atteignent 1,87 fois la moyenne, avec la livraison offerte dès 120 € HT.</a:t>
            </a:r>
          </a:p>
        </p:txBody>
      </p:sp>
      <p:sp>
        <p:nvSpPr>
          <p:cNvPr id="17" name="TextBox 16"/>
          <p:cNvSpPr txBox="1"/>
          <p:nvPr/>
        </p:nvSpPr>
        <p:spPr>
          <a:xfrm>
            <a:off x="6248400" y="3310128"/>
            <a:ext cx="4572000" cy="487680"/>
          </a:xfrm>
          <a:prstGeom prst="rect">
            <a:avLst/>
          </a:prstGeom>
          <a:noFill/>
        </p:spPr>
        <p:txBody>
          <a:bodyPr wrap="square" anchor="t" lIns="0" rIns="0" tIns="0" bIns="0">
            <a:spAutoFit/>
          </a:bodyPr>
          <a:lstStyle/>
          <a:p>
            <a:pPr algn="l"/>
            <a:r>
              <a:rPr sz="900" b="1" i="0">
                <a:solidFill>
                  <a:srgbClr val="555B66"/>
                </a:solidFill>
                <a:latin typeface="Arial"/>
              </a:rPr>
              <a:t>→  Mettre en avant les packs chantier et la livraison offerte.</a:t>
            </a:r>
          </a:p>
        </p:txBody>
      </p:sp>
      <p:sp>
        <p:nvSpPr>
          <p:cNvPr id="18" name="Rectangle 17"/>
          <p:cNvSpPr/>
          <p:nvPr/>
        </p:nvSpPr>
        <p:spPr>
          <a:xfrm>
            <a:off x="579120" y="4133088"/>
            <a:ext cx="5071872" cy="2121408"/>
          </a:xfrm>
          <a:prstGeom prst="rect">
            <a:avLst/>
          </a:prstGeom>
          <a:solidFill>
            <a:srgbClr val="FFFFFF"/>
          </a:solidFill>
          <a:ln>
            <a:noFill/>
          </a:ln>
          <a:effectLst/>
        </p:spPr>
        <p:txBody>
          <a:bodyPr rtlCol="0" anchor="ctr"/>
          <a:lstStyle/>
          <a:p>
            <a:pPr algn="ctr"/>
          </a:p>
        </p:txBody>
      </p:sp>
      <p:sp>
        <p:nvSpPr>
          <p:cNvPr id="19" name="TextBox 18"/>
          <p:cNvSpPr txBox="1"/>
          <p:nvPr/>
        </p:nvSpPr>
        <p:spPr>
          <a:xfrm>
            <a:off x="835152" y="4346448"/>
            <a:ext cx="487680" cy="243840"/>
          </a:xfrm>
          <a:prstGeom prst="rect">
            <a:avLst/>
          </a:prstGeom>
          <a:noFill/>
        </p:spPr>
        <p:txBody>
          <a:bodyPr wrap="square" anchor="t" lIns="0" rIns="0" tIns="0" bIns="0">
            <a:spAutoFit/>
          </a:bodyPr>
          <a:lstStyle/>
          <a:p>
            <a:pPr algn="l"/>
            <a:r>
              <a:rPr sz="2000" b="1" i="0">
                <a:solidFill>
                  <a:srgbClr val="EE6A2C"/>
                </a:solidFill>
                <a:latin typeface="Arial"/>
              </a:rPr>
              <a:t>03</a:t>
            </a:r>
          </a:p>
        </p:txBody>
      </p:sp>
      <p:sp>
        <p:nvSpPr>
          <p:cNvPr id="20" name="TextBox 19"/>
          <p:cNvSpPr txBox="1"/>
          <p:nvPr/>
        </p:nvSpPr>
        <p:spPr>
          <a:xfrm>
            <a:off x="1383792" y="4364736"/>
            <a:ext cx="4023360" cy="365760"/>
          </a:xfrm>
          <a:prstGeom prst="rect">
            <a:avLst/>
          </a:prstGeom>
          <a:noFill/>
        </p:spPr>
        <p:txBody>
          <a:bodyPr wrap="square" anchor="t" lIns="0" rIns="0" tIns="0" bIns="0">
            <a:spAutoFit/>
          </a:bodyPr>
          <a:lstStyle/>
          <a:p>
            <a:pPr algn="l"/>
            <a:r>
              <a:rPr sz="1400" b="1" i="0">
                <a:solidFill>
                  <a:srgbClr val="111111"/>
                </a:solidFill>
                <a:latin typeface="Arial"/>
              </a:rPr>
              <a:t>Les interrupteurs restent un point fort</a:t>
            </a:r>
          </a:p>
        </p:txBody>
      </p:sp>
      <p:sp>
        <p:nvSpPr>
          <p:cNvPr id="21" name="TextBox 20"/>
          <p:cNvSpPr txBox="1"/>
          <p:nvPr/>
        </p:nvSpPr>
        <p:spPr>
          <a:xfrm>
            <a:off x="835152" y="4925568"/>
            <a:ext cx="4572000" cy="731520"/>
          </a:xfrm>
          <a:prstGeom prst="rect">
            <a:avLst/>
          </a:prstGeom>
          <a:noFill/>
        </p:spPr>
        <p:txBody>
          <a:bodyPr wrap="square" anchor="t" lIns="0" rIns="0" tIns="0" bIns="0">
            <a:spAutoFit/>
          </a:bodyPr>
          <a:lstStyle/>
          <a:p>
            <a:pPr algn="l"/>
            <a:r>
              <a:rPr sz="1100" b="0" i="0">
                <a:solidFill>
                  <a:srgbClr val="555B66"/>
                </a:solidFill>
                <a:latin typeface="Arial"/>
              </a:rPr>
              <a:t>Les commandes d'éclairage Schneider Odace atteignent 1,36 fois la moyenne.</a:t>
            </a:r>
          </a:p>
        </p:txBody>
      </p:sp>
      <p:sp>
        <p:nvSpPr>
          <p:cNvPr id="22" name="TextBox 21"/>
          <p:cNvSpPr txBox="1"/>
          <p:nvPr/>
        </p:nvSpPr>
        <p:spPr>
          <a:xfrm>
            <a:off x="835152" y="5626608"/>
            <a:ext cx="4572000" cy="487680"/>
          </a:xfrm>
          <a:prstGeom prst="rect">
            <a:avLst/>
          </a:prstGeom>
          <a:noFill/>
        </p:spPr>
        <p:txBody>
          <a:bodyPr wrap="square" anchor="t" lIns="0" rIns="0" tIns="0" bIns="0">
            <a:spAutoFit/>
          </a:bodyPr>
          <a:lstStyle/>
          <a:p>
            <a:pPr algn="l"/>
            <a:r>
              <a:rPr sz="900" b="1" i="0">
                <a:solidFill>
                  <a:srgbClr val="555B66"/>
                </a:solidFill>
                <a:latin typeface="Arial"/>
              </a:rPr>
              <a:t>→  Conserver l'électricité comme univers clé de la campagne.</a:t>
            </a:r>
          </a:p>
        </p:txBody>
      </p:sp>
      <p:sp>
        <p:nvSpPr>
          <p:cNvPr id="23" name="Rectangle 22"/>
          <p:cNvSpPr/>
          <p:nvPr/>
        </p:nvSpPr>
        <p:spPr>
          <a:xfrm>
            <a:off x="5992368" y="4133088"/>
            <a:ext cx="5071872" cy="2121408"/>
          </a:xfrm>
          <a:prstGeom prst="rect">
            <a:avLst/>
          </a:prstGeom>
          <a:solidFill>
            <a:srgbClr val="FFFFFF"/>
          </a:solidFill>
          <a:ln>
            <a:noFill/>
          </a:ln>
          <a:effectLst/>
        </p:spPr>
        <p:txBody>
          <a:bodyPr rtlCol="0" anchor="ctr"/>
          <a:lstStyle/>
          <a:p>
            <a:pPr algn="ctr"/>
          </a:p>
        </p:txBody>
      </p:sp>
      <p:sp>
        <p:nvSpPr>
          <p:cNvPr id="24" name="TextBox 23"/>
          <p:cNvSpPr txBox="1"/>
          <p:nvPr/>
        </p:nvSpPr>
        <p:spPr>
          <a:xfrm>
            <a:off x="6248400" y="4346448"/>
            <a:ext cx="487680" cy="243840"/>
          </a:xfrm>
          <a:prstGeom prst="rect">
            <a:avLst/>
          </a:prstGeom>
          <a:noFill/>
        </p:spPr>
        <p:txBody>
          <a:bodyPr wrap="square" anchor="t" lIns="0" rIns="0" tIns="0" bIns="0">
            <a:spAutoFit/>
          </a:bodyPr>
          <a:lstStyle/>
          <a:p>
            <a:pPr algn="l"/>
            <a:r>
              <a:rPr sz="2000" b="1" i="0">
                <a:solidFill>
                  <a:srgbClr val="EE6A2C"/>
                </a:solidFill>
                <a:latin typeface="Arial"/>
              </a:rPr>
              <a:t>04</a:t>
            </a:r>
          </a:p>
        </p:txBody>
      </p:sp>
      <p:sp>
        <p:nvSpPr>
          <p:cNvPr id="25" name="TextBox 24"/>
          <p:cNvSpPr txBox="1"/>
          <p:nvPr/>
        </p:nvSpPr>
        <p:spPr>
          <a:xfrm>
            <a:off x="6797040" y="4364736"/>
            <a:ext cx="4023360" cy="365760"/>
          </a:xfrm>
          <a:prstGeom prst="rect">
            <a:avLst/>
          </a:prstGeom>
          <a:noFill/>
        </p:spPr>
        <p:txBody>
          <a:bodyPr wrap="square" anchor="t" lIns="0" rIns="0" tIns="0" bIns="0">
            <a:spAutoFit/>
          </a:bodyPr>
          <a:lstStyle/>
          <a:p>
            <a:pPr algn="l"/>
            <a:r>
              <a:rPr sz="1400" b="1" i="0">
                <a:solidFill>
                  <a:srgbClr val="111111"/>
                </a:solidFill>
                <a:latin typeface="Arial"/>
              </a:rPr>
              <a:t>Revoir les fiches produit génériques</a:t>
            </a:r>
          </a:p>
        </p:txBody>
      </p:sp>
      <p:sp>
        <p:nvSpPr>
          <p:cNvPr id="26" name="TextBox 25"/>
          <p:cNvSpPr txBox="1"/>
          <p:nvPr/>
        </p:nvSpPr>
        <p:spPr>
          <a:xfrm>
            <a:off x="6248400" y="4925568"/>
            <a:ext cx="4572000" cy="731520"/>
          </a:xfrm>
          <a:prstGeom prst="rect">
            <a:avLst/>
          </a:prstGeom>
          <a:noFill/>
        </p:spPr>
        <p:txBody>
          <a:bodyPr wrap="square" anchor="t" lIns="0" rIns="0" tIns="0" bIns="0">
            <a:spAutoFit/>
          </a:bodyPr>
          <a:lstStyle/>
          <a:p>
            <a:pPr algn="l"/>
            <a:r>
              <a:rPr sz="1100" b="0" i="0">
                <a:solidFill>
                  <a:srgbClr val="555B66"/>
                </a:solidFill>
                <a:latin typeface="Arial"/>
              </a:rPr>
              <a:t>Les annonces au format « Référence + Tout l'équipement pro au meilleur prix » restent sous la moyenne (veste haute visibilité 0,52 fois, radiateur 0,58 fois).</a:t>
            </a:r>
          </a:p>
        </p:txBody>
      </p:sp>
      <p:sp>
        <p:nvSpPr>
          <p:cNvPr id="27" name="TextBox 26"/>
          <p:cNvSpPr txBox="1"/>
          <p:nvPr/>
        </p:nvSpPr>
        <p:spPr>
          <a:xfrm>
            <a:off x="6248400" y="5626608"/>
            <a:ext cx="4572000" cy="487680"/>
          </a:xfrm>
          <a:prstGeom prst="rect">
            <a:avLst/>
          </a:prstGeom>
          <a:noFill/>
        </p:spPr>
        <p:txBody>
          <a:bodyPr wrap="square" anchor="t" lIns="0" rIns="0" tIns="0" bIns="0">
            <a:spAutoFit/>
          </a:bodyPr>
          <a:lstStyle/>
          <a:p>
            <a:pPr algn="l"/>
            <a:r>
              <a:rPr sz="900" b="1" i="0">
                <a:solidFill>
                  <a:srgbClr val="555B66"/>
                </a:solidFill>
                <a:latin typeface="Arial"/>
              </a:rPr>
              <a:t>→  Décrire le bénéfice pour le chantier plutôt que la seule référence.</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6F2"/>
          </a:solidFill>
          <a:ln>
            <a:noFill/>
          </a:ln>
          <a:effectLst/>
        </p:spPr>
        <p:txBody>
          <a:bodyPr rtlCol="0" anchor="ctr"/>
          <a:lstStyle/>
          <a:p>
            <a:pPr algn="ctr"/>
          </a:p>
        </p:txBody>
      </p:sp>
      <p:sp>
        <p:nvSpPr>
          <p:cNvPr id="3" name="TextBox 2"/>
          <p:cNvSpPr txBox="1"/>
          <p:nvPr/>
        </p:nvSpPr>
        <p:spPr>
          <a:xfrm>
            <a:off x="530352" y="487680"/>
            <a:ext cx="7315200" cy="182880"/>
          </a:xfrm>
          <a:prstGeom prst="rect">
            <a:avLst/>
          </a:prstGeom>
          <a:noFill/>
        </p:spPr>
        <p:txBody>
          <a:bodyPr wrap="square" anchor="t" lIns="0" rIns="0" tIns="0" bIns="0">
            <a:spAutoFit/>
          </a:bodyPr>
          <a:lstStyle/>
          <a:p>
            <a:pPr algn="l"/>
            <a:r>
              <a:rPr sz="1300" b="1" i="0">
                <a:solidFill>
                  <a:srgbClr val="EE6A2C"/>
                </a:solidFill>
                <a:latin typeface="Arial"/>
              </a:rPr>
              <a:t>RAPPORT DE PERFORMANCE · 01/09/2026 → 30/09/2026</a:t>
            </a:r>
          </a:p>
        </p:txBody>
      </p:sp>
      <p:sp>
        <p:nvSpPr>
          <p:cNvPr id="4" name="TextBox 3"/>
          <p:cNvSpPr txBox="1"/>
          <p:nvPr/>
        </p:nvSpPr>
        <p:spPr>
          <a:xfrm>
            <a:off x="530352" y="640080"/>
            <a:ext cx="7315200" cy="487680"/>
          </a:xfrm>
          <a:prstGeom prst="rect">
            <a:avLst/>
          </a:prstGeom>
          <a:noFill/>
        </p:spPr>
        <p:txBody>
          <a:bodyPr wrap="square" anchor="t" lIns="0" rIns="0" tIns="0" bIns="0">
            <a:spAutoFit/>
          </a:bodyPr>
          <a:lstStyle/>
          <a:p>
            <a:pPr algn="l"/>
            <a:r>
              <a:rPr sz="3600" b="1" i="0">
                <a:solidFill>
                  <a:srgbClr val="111111"/>
                </a:solidFill>
                <a:latin typeface="Arial"/>
              </a:rPr>
              <a:t>Marshall</a:t>
            </a:r>
          </a:p>
        </p:txBody>
      </p:sp>
      <p:sp>
        <p:nvSpPr>
          <p:cNvPr id="5" name="TextBox 4"/>
          <p:cNvSpPr txBox="1"/>
          <p:nvPr/>
        </p:nvSpPr>
        <p:spPr>
          <a:xfrm>
            <a:off x="7924800" y="591312"/>
            <a:ext cx="3304032" cy="152400"/>
          </a:xfrm>
          <a:prstGeom prst="rect">
            <a:avLst/>
          </a:prstGeom>
          <a:noFill/>
        </p:spPr>
        <p:txBody>
          <a:bodyPr wrap="square" anchor="t" lIns="0" rIns="0" tIns="0" bIns="0">
            <a:spAutoFit/>
          </a:bodyPr>
          <a:lstStyle/>
          <a:p>
            <a:pPr algn="r"/>
            <a:r>
              <a:rPr sz="1200" b="1" i="0">
                <a:solidFill>
                  <a:srgbClr val="8A93A6"/>
                </a:solidFill>
                <a:latin typeface="Arial"/>
              </a:rPr>
              <a:t>COMPARAISON</a:t>
            </a:r>
          </a:p>
        </p:txBody>
      </p:sp>
      <p:sp>
        <p:nvSpPr>
          <p:cNvPr id="6" name="TextBox 5"/>
          <p:cNvSpPr txBox="1"/>
          <p:nvPr/>
        </p:nvSpPr>
        <p:spPr>
          <a:xfrm>
            <a:off x="7924800" y="780288"/>
            <a:ext cx="3304032" cy="182880"/>
          </a:xfrm>
          <a:prstGeom prst="rect">
            <a:avLst/>
          </a:prstGeom>
          <a:noFill/>
        </p:spPr>
        <p:txBody>
          <a:bodyPr wrap="square" anchor="t" lIns="0" rIns="0" tIns="0" bIns="0">
            <a:spAutoFit/>
          </a:bodyPr>
          <a:lstStyle/>
          <a:p>
            <a:pPr algn="r"/>
            <a:r>
              <a:rPr sz="1500" b="1" i="0">
                <a:solidFill>
                  <a:srgbClr val="111111"/>
                </a:solidFill>
                <a:latin typeface="Arial"/>
              </a:rPr>
              <a:t>vs 01/08/2026 → 31/08/2026</a:t>
            </a:r>
          </a:p>
        </p:txBody>
      </p:sp>
      <p:sp>
        <p:nvSpPr>
          <p:cNvPr id="7" name="TextBox 6"/>
          <p:cNvSpPr txBox="1"/>
          <p:nvPr/>
        </p:nvSpPr>
        <p:spPr>
          <a:xfrm>
            <a:off x="530352" y="1280160"/>
            <a:ext cx="2438400" cy="182880"/>
          </a:xfrm>
          <a:prstGeom prst="rect">
            <a:avLst/>
          </a:prstGeom>
          <a:noFill/>
        </p:spPr>
        <p:txBody>
          <a:bodyPr wrap="square" anchor="t" lIns="0" rIns="0" tIns="0" bIns="0">
            <a:spAutoFit/>
          </a:bodyPr>
          <a:lstStyle/>
          <a:p>
            <a:pPr algn="l"/>
            <a:r>
              <a:rPr sz="1400" b="1" i="0">
                <a:solidFill>
                  <a:srgbClr val="EE6A2C"/>
                </a:solidFill>
                <a:latin typeface="Arial"/>
              </a:rPr>
              <a:t>DIFFUSION</a:t>
            </a:r>
          </a:p>
        </p:txBody>
      </p:sp>
      <p:sp>
        <p:nvSpPr>
          <p:cNvPr id="8" name="TextBox 7"/>
          <p:cNvSpPr txBox="1"/>
          <p:nvPr/>
        </p:nvSpPr>
        <p:spPr>
          <a:xfrm>
            <a:off x="2389632" y="1280160"/>
            <a:ext cx="2438400" cy="182880"/>
          </a:xfrm>
          <a:prstGeom prst="rect">
            <a:avLst/>
          </a:prstGeom>
          <a:noFill/>
        </p:spPr>
        <p:txBody>
          <a:bodyPr wrap="square" anchor="t" lIns="0" rIns="0" tIns="0" bIns="0">
            <a:spAutoFit/>
          </a:bodyPr>
          <a:lstStyle/>
          <a:p>
            <a:pPr algn="l"/>
            <a:r>
              <a:rPr sz="1400" b="1" i="0">
                <a:solidFill>
                  <a:srgbClr val="EE6A2C"/>
                </a:solidFill>
                <a:latin typeface="Arial"/>
              </a:rPr>
              <a:t>ENGAGEMENT</a:t>
            </a:r>
          </a:p>
        </p:txBody>
      </p:sp>
      <p:sp>
        <p:nvSpPr>
          <p:cNvPr id="9" name="TextBox 8"/>
          <p:cNvSpPr txBox="1"/>
          <p:nvPr/>
        </p:nvSpPr>
        <p:spPr>
          <a:xfrm>
            <a:off x="6108192" y="1280160"/>
            <a:ext cx="2438400" cy="182880"/>
          </a:xfrm>
          <a:prstGeom prst="rect">
            <a:avLst/>
          </a:prstGeom>
          <a:noFill/>
        </p:spPr>
        <p:txBody>
          <a:bodyPr wrap="square" anchor="t" lIns="0" rIns="0" tIns="0" bIns="0">
            <a:spAutoFit/>
          </a:bodyPr>
          <a:lstStyle/>
          <a:p>
            <a:pPr algn="l"/>
            <a:r>
              <a:rPr sz="1400" b="1" i="0">
                <a:solidFill>
                  <a:srgbClr val="EE6A2C"/>
                </a:solidFill>
                <a:latin typeface="Arial"/>
              </a:rPr>
              <a:t>CONVERSION</a:t>
            </a:r>
          </a:p>
        </p:txBody>
      </p:sp>
      <p:sp>
        <p:nvSpPr>
          <p:cNvPr id="10" name="Rectangle 9"/>
          <p:cNvSpPr/>
          <p:nvPr/>
        </p:nvSpPr>
        <p:spPr>
          <a:xfrm>
            <a:off x="530352" y="1536192"/>
            <a:ext cx="1389888" cy="1127760"/>
          </a:xfrm>
          <a:prstGeom prst="rect">
            <a:avLst/>
          </a:prstGeom>
          <a:solidFill>
            <a:srgbClr val="FFFFFF"/>
          </a:solidFill>
          <a:ln>
            <a:noFill/>
          </a:ln>
          <a:effectLst/>
        </p:spPr>
        <p:txBody>
          <a:bodyPr rtlCol="0" anchor="ctr"/>
          <a:lstStyle/>
          <a:p>
            <a:pPr algn="ctr"/>
          </a:p>
        </p:txBody>
      </p:sp>
      <p:sp>
        <p:nvSpPr>
          <p:cNvPr id="11" name="Rectangle 10"/>
          <p:cNvSpPr/>
          <p:nvPr/>
        </p:nvSpPr>
        <p:spPr>
          <a:xfrm>
            <a:off x="530352" y="1536192"/>
            <a:ext cx="24384" cy="1127760"/>
          </a:xfrm>
          <a:prstGeom prst="rect">
            <a:avLst/>
          </a:prstGeom>
          <a:solidFill>
            <a:srgbClr val="EE6A2C"/>
          </a:solidFill>
          <a:ln>
            <a:noFill/>
          </a:ln>
          <a:effectLst/>
        </p:spPr>
        <p:txBody>
          <a:bodyPr rtlCol="0" anchor="ctr"/>
          <a:lstStyle/>
          <a:p>
            <a:pPr algn="ctr"/>
          </a:p>
        </p:txBody>
      </p:sp>
      <p:sp>
        <p:nvSpPr>
          <p:cNvPr id="12" name="TextBox 11"/>
          <p:cNvSpPr txBox="1"/>
          <p:nvPr/>
        </p:nvSpPr>
        <p:spPr>
          <a:xfrm>
            <a:off x="664464" y="1615440"/>
            <a:ext cx="1219200" cy="121920"/>
          </a:xfrm>
          <a:prstGeom prst="rect">
            <a:avLst/>
          </a:prstGeom>
          <a:noFill/>
        </p:spPr>
        <p:txBody>
          <a:bodyPr wrap="square" anchor="t" lIns="0" rIns="0" tIns="0" bIns="0">
            <a:spAutoFit/>
          </a:bodyPr>
          <a:lstStyle/>
          <a:p>
            <a:pPr algn="l"/>
            <a:r>
              <a:rPr sz="1000" b="1" i="0">
                <a:solidFill>
                  <a:srgbClr val="555B66"/>
                </a:solidFill>
                <a:latin typeface="Arial"/>
              </a:rPr>
              <a:t>IMPRESSIONS</a:t>
            </a:r>
          </a:p>
        </p:txBody>
      </p:sp>
      <p:sp>
        <p:nvSpPr>
          <p:cNvPr id="13" name="TextBox 12"/>
          <p:cNvSpPr txBox="1"/>
          <p:nvPr/>
        </p:nvSpPr>
        <p:spPr>
          <a:xfrm>
            <a:off x="664464" y="1889760"/>
            <a:ext cx="1219200" cy="274320"/>
          </a:xfrm>
          <a:prstGeom prst="rect">
            <a:avLst/>
          </a:prstGeom>
          <a:noFill/>
        </p:spPr>
        <p:txBody>
          <a:bodyPr wrap="square" anchor="t" lIns="0" rIns="0" tIns="0" bIns="0">
            <a:spAutoFit/>
          </a:bodyPr>
          <a:lstStyle/>
          <a:p>
            <a:pPr algn="l"/>
            <a:r>
              <a:rPr sz="2200" b="1" i="0">
                <a:solidFill>
                  <a:srgbClr val="111111"/>
                </a:solidFill>
                <a:latin typeface="Arial"/>
              </a:rPr>
              <a:t>498 934</a:t>
            </a:r>
          </a:p>
        </p:txBody>
      </p:sp>
      <p:sp>
        <p:nvSpPr>
          <p:cNvPr id="14" name="TextBox 13"/>
          <p:cNvSpPr txBox="1"/>
          <p:nvPr/>
        </p:nvSpPr>
        <p:spPr>
          <a:xfrm>
            <a:off x="664464" y="2243328"/>
            <a:ext cx="1219200" cy="109728"/>
          </a:xfrm>
          <a:prstGeom prst="rect">
            <a:avLst/>
          </a:prstGeom>
          <a:noFill/>
        </p:spPr>
        <p:txBody>
          <a:bodyPr wrap="square" anchor="t" lIns="0" rIns="0" tIns="0" bIns="0">
            <a:spAutoFit/>
          </a:bodyPr>
          <a:lstStyle/>
          <a:p>
            <a:pPr algn="l"/>
            <a:r>
              <a:rPr sz="1000" b="1" i="0">
                <a:solidFill>
                  <a:srgbClr val="1E7B34"/>
                </a:solidFill>
                <a:latin typeface="Arial"/>
              </a:rPr>
              <a:t>▲ +15 %</a:t>
            </a:r>
          </a:p>
        </p:txBody>
      </p:sp>
      <p:sp>
        <p:nvSpPr>
          <p:cNvPr id="15" name="TextBox 14"/>
          <p:cNvSpPr txBox="1"/>
          <p:nvPr/>
        </p:nvSpPr>
        <p:spPr>
          <a:xfrm>
            <a:off x="664464" y="2499360"/>
            <a:ext cx="1219200" cy="91440"/>
          </a:xfrm>
          <a:prstGeom prst="rect">
            <a:avLst/>
          </a:prstGeom>
          <a:noFill/>
        </p:spPr>
        <p:txBody>
          <a:bodyPr wrap="square" anchor="t" lIns="0" rIns="0" tIns="0" bIns="0">
            <a:spAutoFit/>
          </a:bodyPr>
          <a:lstStyle/>
          <a:p>
            <a:pPr algn="l"/>
            <a:r>
              <a:rPr sz="800" b="0" i="1">
                <a:solidFill>
                  <a:srgbClr val="555B66"/>
                </a:solidFill>
                <a:latin typeface="Arial"/>
              </a:rPr>
              <a:t>YTD 1 490 670</a:t>
            </a:r>
          </a:p>
        </p:txBody>
      </p:sp>
      <p:sp>
        <p:nvSpPr>
          <p:cNvPr id="16" name="Rectangle 15"/>
          <p:cNvSpPr/>
          <p:nvPr/>
        </p:nvSpPr>
        <p:spPr>
          <a:xfrm>
            <a:off x="2389632" y="1536192"/>
            <a:ext cx="1389888" cy="1127760"/>
          </a:xfrm>
          <a:prstGeom prst="rect">
            <a:avLst/>
          </a:prstGeom>
          <a:solidFill>
            <a:srgbClr val="FFFFFF"/>
          </a:solidFill>
          <a:ln>
            <a:noFill/>
          </a:ln>
          <a:effectLst/>
        </p:spPr>
        <p:txBody>
          <a:bodyPr rtlCol="0" anchor="ctr"/>
          <a:lstStyle/>
          <a:p>
            <a:pPr algn="ctr"/>
          </a:p>
        </p:txBody>
      </p:sp>
      <p:sp>
        <p:nvSpPr>
          <p:cNvPr id="17" name="Rectangle 16"/>
          <p:cNvSpPr/>
          <p:nvPr/>
        </p:nvSpPr>
        <p:spPr>
          <a:xfrm>
            <a:off x="2389632" y="1536192"/>
            <a:ext cx="24384" cy="1127760"/>
          </a:xfrm>
          <a:prstGeom prst="rect">
            <a:avLst/>
          </a:prstGeom>
          <a:solidFill>
            <a:srgbClr val="EE6A2C"/>
          </a:solidFill>
          <a:ln>
            <a:noFill/>
          </a:ln>
          <a:effectLst/>
        </p:spPr>
        <p:txBody>
          <a:bodyPr rtlCol="0" anchor="ctr"/>
          <a:lstStyle/>
          <a:p>
            <a:pPr algn="ctr"/>
          </a:p>
        </p:txBody>
      </p:sp>
      <p:sp>
        <p:nvSpPr>
          <p:cNvPr id="18" name="TextBox 17"/>
          <p:cNvSpPr txBox="1"/>
          <p:nvPr/>
        </p:nvSpPr>
        <p:spPr>
          <a:xfrm>
            <a:off x="2523744" y="1615440"/>
            <a:ext cx="1219200" cy="121920"/>
          </a:xfrm>
          <a:prstGeom prst="rect">
            <a:avLst/>
          </a:prstGeom>
          <a:noFill/>
        </p:spPr>
        <p:txBody>
          <a:bodyPr wrap="square" anchor="t" lIns="0" rIns="0" tIns="0" bIns="0">
            <a:spAutoFit/>
          </a:bodyPr>
          <a:lstStyle/>
          <a:p>
            <a:pPr algn="l"/>
            <a:r>
              <a:rPr sz="1000" b="1" i="0">
                <a:solidFill>
                  <a:srgbClr val="555B66"/>
                </a:solidFill>
                <a:latin typeface="Arial"/>
              </a:rPr>
              <a:t>CLICS</a:t>
            </a:r>
          </a:p>
        </p:txBody>
      </p:sp>
      <p:sp>
        <p:nvSpPr>
          <p:cNvPr id="19" name="TextBox 18"/>
          <p:cNvSpPr txBox="1"/>
          <p:nvPr/>
        </p:nvSpPr>
        <p:spPr>
          <a:xfrm>
            <a:off x="2523744" y="1889760"/>
            <a:ext cx="1219200" cy="274320"/>
          </a:xfrm>
          <a:prstGeom prst="rect">
            <a:avLst/>
          </a:prstGeom>
          <a:noFill/>
        </p:spPr>
        <p:txBody>
          <a:bodyPr wrap="square" anchor="t" lIns="0" rIns="0" tIns="0" bIns="0">
            <a:spAutoFit/>
          </a:bodyPr>
          <a:lstStyle/>
          <a:p>
            <a:pPr algn="l"/>
            <a:r>
              <a:rPr sz="2200" b="1" i="0">
                <a:solidFill>
                  <a:srgbClr val="111111"/>
                </a:solidFill>
                <a:latin typeface="Arial"/>
              </a:rPr>
              <a:t>1 862</a:t>
            </a:r>
          </a:p>
        </p:txBody>
      </p:sp>
      <p:sp>
        <p:nvSpPr>
          <p:cNvPr id="20" name="TextBox 19"/>
          <p:cNvSpPr txBox="1"/>
          <p:nvPr/>
        </p:nvSpPr>
        <p:spPr>
          <a:xfrm>
            <a:off x="2523744" y="2243328"/>
            <a:ext cx="1219200" cy="109728"/>
          </a:xfrm>
          <a:prstGeom prst="rect">
            <a:avLst/>
          </a:prstGeom>
          <a:noFill/>
        </p:spPr>
        <p:txBody>
          <a:bodyPr wrap="square" anchor="t" lIns="0" rIns="0" tIns="0" bIns="0">
            <a:spAutoFit/>
          </a:bodyPr>
          <a:lstStyle/>
          <a:p>
            <a:pPr algn="l"/>
            <a:r>
              <a:rPr sz="1000" b="1" i="0">
                <a:solidFill>
                  <a:srgbClr val="1E7B34"/>
                </a:solidFill>
                <a:latin typeface="Arial"/>
              </a:rPr>
              <a:t>▲ +88 %</a:t>
            </a:r>
          </a:p>
        </p:txBody>
      </p:sp>
      <p:sp>
        <p:nvSpPr>
          <p:cNvPr id="21" name="TextBox 20"/>
          <p:cNvSpPr txBox="1"/>
          <p:nvPr/>
        </p:nvSpPr>
        <p:spPr>
          <a:xfrm>
            <a:off x="2523744" y="2499360"/>
            <a:ext cx="1219200" cy="91440"/>
          </a:xfrm>
          <a:prstGeom prst="rect">
            <a:avLst/>
          </a:prstGeom>
          <a:noFill/>
        </p:spPr>
        <p:txBody>
          <a:bodyPr wrap="square" anchor="t" lIns="0" rIns="0" tIns="0" bIns="0">
            <a:spAutoFit/>
          </a:bodyPr>
          <a:lstStyle/>
          <a:p>
            <a:pPr algn="l"/>
            <a:r>
              <a:rPr sz="800" b="0" i="1">
                <a:solidFill>
                  <a:srgbClr val="555B66"/>
                </a:solidFill>
                <a:latin typeface="Arial"/>
              </a:rPr>
              <a:t>YTD 3 995</a:t>
            </a:r>
          </a:p>
        </p:txBody>
      </p:sp>
      <p:sp>
        <p:nvSpPr>
          <p:cNvPr id="22" name="Rectangle 21"/>
          <p:cNvSpPr/>
          <p:nvPr/>
        </p:nvSpPr>
        <p:spPr>
          <a:xfrm>
            <a:off x="4248912" y="1536192"/>
            <a:ext cx="1389888" cy="1127760"/>
          </a:xfrm>
          <a:prstGeom prst="rect">
            <a:avLst/>
          </a:prstGeom>
          <a:solidFill>
            <a:srgbClr val="FFFFFF"/>
          </a:solidFill>
          <a:ln>
            <a:noFill/>
          </a:ln>
          <a:effectLst/>
        </p:spPr>
        <p:txBody>
          <a:bodyPr rtlCol="0" anchor="ctr"/>
          <a:lstStyle/>
          <a:p>
            <a:pPr algn="ctr"/>
          </a:p>
        </p:txBody>
      </p:sp>
      <p:sp>
        <p:nvSpPr>
          <p:cNvPr id="23" name="Rectangle 22"/>
          <p:cNvSpPr/>
          <p:nvPr/>
        </p:nvSpPr>
        <p:spPr>
          <a:xfrm>
            <a:off x="4248912" y="1536192"/>
            <a:ext cx="24384" cy="1127760"/>
          </a:xfrm>
          <a:prstGeom prst="rect">
            <a:avLst/>
          </a:prstGeom>
          <a:solidFill>
            <a:srgbClr val="EE6A2C"/>
          </a:solidFill>
          <a:ln>
            <a:noFill/>
          </a:ln>
          <a:effectLst/>
        </p:spPr>
        <p:txBody>
          <a:bodyPr rtlCol="0" anchor="ctr"/>
          <a:lstStyle/>
          <a:p>
            <a:pPr algn="ctr"/>
          </a:p>
        </p:txBody>
      </p:sp>
      <p:sp>
        <p:nvSpPr>
          <p:cNvPr id="24" name="TextBox 23"/>
          <p:cNvSpPr txBox="1"/>
          <p:nvPr/>
        </p:nvSpPr>
        <p:spPr>
          <a:xfrm>
            <a:off x="4383024" y="1615440"/>
            <a:ext cx="1219200" cy="121920"/>
          </a:xfrm>
          <a:prstGeom prst="rect">
            <a:avLst/>
          </a:prstGeom>
          <a:noFill/>
        </p:spPr>
        <p:txBody>
          <a:bodyPr wrap="square" anchor="t" lIns="0" rIns="0" tIns="0" bIns="0">
            <a:spAutoFit/>
          </a:bodyPr>
          <a:lstStyle/>
          <a:p>
            <a:pPr algn="l"/>
            <a:r>
              <a:rPr sz="1000" b="1" i="0">
                <a:solidFill>
                  <a:srgbClr val="555B66"/>
                </a:solidFill>
                <a:latin typeface="Arial"/>
              </a:rPr>
              <a:t>CTR</a:t>
            </a:r>
          </a:p>
        </p:txBody>
      </p:sp>
      <p:sp>
        <p:nvSpPr>
          <p:cNvPr id="25" name="TextBox 24"/>
          <p:cNvSpPr txBox="1"/>
          <p:nvPr/>
        </p:nvSpPr>
        <p:spPr>
          <a:xfrm>
            <a:off x="4383024" y="1889760"/>
            <a:ext cx="1219200" cy="274320"/>
          </a:xfrm>
          <a:prstGeom prst="rect">
            <a:avLst/>
          </a:prstGeom>
          <a:noFill/>
        </p:spPr>
        <p:txBody>
          <a:bodyPr wrap="square" anchor="t" lIns="0" rIns="0" tIns="0" bIns="0">
            <a:spAutoFit/>
          </a:bodyPr>
          <a:lstStyle/>
          <a:p>
            <a:pPr algn="l"/>
            <a:r>
              <a:rPr sz="2200" b="1" i="0">
                <a:solidFill>
                  <a:srgbClr val="111111"/>
                </a:solidFill>
                <a:latin typeface="Arial"/>
              </a:rPr>
              <a:t>0,37 %</a:t>
            </a:r>
          </a:p>
        </p:txBody>
      </p:sp>
      <p:sp>
        <p:nvSpPr>
          <p:cNvPr id="26" name="TextBox 25"/>
          <p:cNvSpPr txBox="1"/>
          <p:nvPr/>
        </p:nvSpPr>
        <p:spPr>
          <a:xfrm>
            <a:off x="4383024" y="2243328"/>
            <a:ext cx="1219200" cy="109728"/>
          </a:xfrm>
          <a:prstGeom prst="rect">
            <a:avLst/>
          </a:prstGeom>
          <a:noFill/>
        </p:spPr>
        <p:txBody>
          <a:bodyPr wrap="square" anchor="t" lIns="0" rIns="0" tIns="0" bIns="0">
            <a:spAutoFit/>
          </a:bodyPr>
          <a:lstStyle/>
          <a:p>
            <a:pPr algn="l"/>
            <a:r>
              <a:rPr sz="1000" b="1" i="0">
                <a:solidFill>
                  <a:srgbClr val="1E7B34"/>
                </a:solidFill>
                <a:latin typeface="Arial"/>
              </a:rPr>
              <a:t>▲ +0,14 pt</a:t>
            </a:r>
          </a:p>
        </p:txBody>
      </p:sp>
      <p:sp>
        <p:nvSpPr>
          <p:cNvPr id="27" name="TextBox 26"/>
          <p:cNvSpPr txBox="1"/>
          <p:nvPr/>
        </p:nvSpPr>
        <p:spPr>
          <a:xfrm>
            <a:off x="4383024" y="2499360"/>
            <a:ext cx="1219200" cy="91440"/>
          </a:xfrm>
          <a:prstGeom prst="rect">
            <a:avLst/>
          </a:prstGeom>
          <a:noFill/>
        </p:spPr>
        <p:txBody>
          <a:bodyPr wrap="square" anchor="t" lIns="0" rIns="0" tIns="0" bIns="0">
            <a:spAutoFit/>
          </a:bodyPr>
          <a:lstStyle/>
          <a:p>
            <a:pPr algn="l"/>
            <a:r>
              <a:rPr sz="800" b="0" i="1">
                <a:solidFill>
                  <a:srgbClr val="555B66"/>
                </a:solidFill>
                <a:latin typeface="Arial"/>
              </a:rPr>
              <a:t>YTD 0,27 %</a:t>
            </a:r>
          </a:p>
        </p:txBody>
      </p:sp>
      <p:sp>
        <p:nvSpPr>
          <p:cNvPr id="28" name="Rectangle 27"/>
          <p:cNvSpPr/>
          <p:nvPr/>
        </p:nvSpPr>
        <p:spPr>
          <a:xfrm>
            <a:off x="6108192" y="1536192"/>
            <a:ext cx="1389888" cy="1127760"/>
          </a:xfrm>
          <a:prstGeom prst="rect">
            <a:avLst/>
          </a:prstGeom>
          <a:solidFill>
            <a:srgbClr val="F1EFEB"/>
          </a:solidFill>
          <a:ln>
            <a:noFill/>
          </a:ln>
          <a:effectLst/>
        </p:spPr>
        <p:txBody>
          <a:bodyPr rtlCol="0" anchor="ctr"/>
          <a:lstStyle/>
          <a:p>
            <a:pPr algn="ctr"/>
          </a:p>
        </p:txBody>
      </p:sp>
      <p:sp>
        <p:nvSpPr>
          <p:cNvPr id="29" name="Rounded Rectangle 28"/>
          <p:cNvSpPr/>
          <p:nvPr/>
        </p:nvSpPr>
        <p:spPr>
          <a:xfrm>
            <a:off x="6827520" y="1450848"/>
            <a:ext cx="609600" cy="170688"/>
          </a:xfrm>
          <a:prstGeom prst="roundRect">
            <a:avLst>
              <a:gd name="adj" fmla="val 50000"/>
            </a:avLst>
          </a:prstGeom>
          <a:solidFill>
            <a:srgbClr val="D9D6D1"/>
          </a:solidFill>
          <a:ln>
            <a:noFill/>
          </a:ln>
          <a:effectLst/>
        </p:spPr>
        <p:txBody>
          <a:bodyPr rtlCol="0" anchor="ctr"/>
          <a:lstStyle/>
          <a:p>
            <a:pPr algn="ctr"/>
          </a:p>
        </p:txBody>
      </p:sp>
      <p:sp>
        <p:nvSpPr>
          <p:cNvPr id="30" name="TextBox 29"/>
          <p:cNvSpPr txBox="1"/>
          <p:nvPr/>
        </p:nvSpPr>
        <p:spPr>
          <a:xfrm>
            <a:off x="6827520" y="1450848"/>
            <a:ext cx="609600" cy="170688"/>
          </a:xfrm>
          <a:prstGeom prst="rect">
            <a:avLst/>
          </a:prstGeom>
          <a:noFill/>
        </p:spPr>
        <p:txBody>
          <a:bodyPr wrap="square" anchor="ctr" lIns="0" rIns="0" tIns="0" bIns="0">
            <a:spAutoFit/>
          </a:bodyPr>
          <a:lstStyle/>
          <a:p>
            <a:pPr algn="ctr"/>
            <a:r>
              <a:rPr sz="800" b="1" i="0">
                <a:solidFill>
                  <a:srgbClr val="555B66"/>
                </a:solidFill>
                <a:latin typeface="Arial"/>
              </a:rPr>
              <a:t>INDICATIF</a:t>
            </a:r>
          </a:p>
        </p:txBody>
      </p:sp>
      <p:sp>
        <p:nvSpPr>
          <p:cNvPr id="31" name="TextBox 30"/>
          <p:cNvSpPr txBox="1"/>
          <p:nvPr/>
        </p:nvSpPr>
        <p:spPr>
          <a:xfrm>
            <a:off x="6242304" y="1706880"/>
            <a:ext cx="1219200" cy="121920"/>
          </a:xfrm>
          <a:prstGeom prst="rect">
            <a:avLst/>
          </a:prstGeom>
          <a:noFill/>
        </p:spPr>
        <p:txBody>
          <a:bodyPr wrap="square" anchor="t" lIns="0" rIns="0" tIns="0" bIns="0">
            <a:spAutoFit/>
          </a:bodyPr>
          <a:lstStyle/>
          <a:p>
            <a:pPr algn="l"/>
            <a:r>
              <a:rPr sz="1000" b="1" i="0">
                <a:solidFill>
                  <a:srgbClr val="8A93A6"/>
                </a:solidFill>
                <a:latin typeface="Arial"/>
              </a:rPr>
              <a:t>CONVERSIONS</a:t>
            </a:r>
          </a:p>
        </p:txBody>
      </p:sp>
      <p:sp>
        <p:nvSpPr>
          <p:cNvPr id="32" name="TextBox 31"/>
          <p:cNvSpPr txBox="1"/>
          <p:nvPr/>
        </p:nvSpPr>
        <p:spPr>
          <a:xfrm>
            <a:off x="6242304" y="1889760"/>
            <a:ext cx="1219200" cy="274320"/>
          </a:xfrm>
          <a:prstGeom prst="rect">
            <a:avLst/>
          </a:prstGeom>
          <a:noFill/>
        </p:spPr>
        <p:txBody>
          <a:bodyPr wrap="square" anchor="t" lIns="0" rIns="0" tIns="0" bIns="0">
            <a:spAutoFit/>
          </a:bodyPr>
          <a:lstStyle/>
          <a:p>
            <a:pPr algn="l"/>
            <a:r>
              <a:rPr sz="2200" b="1" i="0">
                <a:solidFill>
                  <a:srgbClr val="8A93A6"/>
                </a:solidFill>
                <a:latin typeface="Arial"/>
              </a:rPr>
              <a:t>N/C</a:t>
            </a:r>
          </a:p>
        </p:txBody>
      </p:sp>
      <p:sp>
        <p:nvSpPr>
          <p:cNvPr id="33" name="TextBox 32"/>
          <p:cNvSpPr txBox="1"/>
          <p:nvPr/>
        </p:nvSpPr>
        <p:spPr>
          <a:xfrm>
            <a:off x="6242304" y="2243328"/>
            <a:ext cx="1219200" cy="109728"/>
          </a:xfrm>
          <a:prstGeom prst="rect">
            <a:avLst/>
          </a:prstGeom>
          <a:noFill/>
        </p:spPr>
        <p:txBody>
          <a:bodyPr wrap="square" anchor="t" lIns="0" rIns="0" tIns="0" bIns="0">
            <a:spAutoFit/>
          </a:bodyPr>
          <a:lstStyle/>
          <a:p>
            <a:pPr algn="l"/>
            <a:r>
              <a:rPr sz="1000" b="1" i="0">
                <a:solidFill>
                  <a:srgbClr val="8A93A6"/>
                </a:solidFill>
                <a:latin typeface="Arial"/>
              </a:rPr>
              <a:t>—</a:t>
            </a:r>
          </a:p>
        </p:txBody>
      </p:sp>
      <p:sp>
        <p:nvSpPr>
          <p:cNvPr id="34" name="TextBox 33"/>
          <p:cNvSpPr txBox="1"/>
          <p:nvPr/>
        </p:nvSpPr>
        <p:spPr>
          <a:xfrm>
            <a:off x="6242304" y="2499360"/>
            <a:ext cx="1219200" cy="91440"/>
          </a:xfrm>
          <a:prstGeom prst="rect">
            <a:avLst/>
          </a:prstGeom>
          <a:noFill/>
        </p:spPr>
        <p:txBody>
          <a:bodyPr wrap="square" anchor="t" lIns="0" rIns="0" tIns="0" bIns="0">
            <a:spAutoFit/>
          </a:bodyPr>
          <a:lstStyle/>
          <a:p>
            <a:pPr algn="l"/>
            <a:r>
              <a:rPr sz="800" b="0" i="1">
                <a:solidFill>
                  <a:srgbClr val="8A93A6"/>
                </a:solidFill>
                <a:latin typeface="Arial"/>
              </a:rPr>
              <a:t>YTD —</a:t>
            </a:r>
          </a:p>
        </p:txBody>
      </p:sp>
      <p:sp>
        <p:nvSpPr>
          <p:cNvPr id="35" name="Rectangle 34"/>
          <p:cNvSpPr/>
          <p:nvPr/>
        </p:nvSpPr>
        <p:spPr>
          <a:xfrm>
            <a:off x="7967472" y="1536192"/>
            <a:ext cx="1389888" cy="1127760"/>
          </a:xfrm>
          <a:prstGeom prst="rect">
            <a:avLst/>
          </a:prstGeom>
          <a:solidFill>
            <a:srgbClr val="F1EFEB"/>
          </a:solidFill>
          <a:ln>
            <a:noFill/>
          </a:ln>
          <a:effectLst/>
        </p:spPr>
        <p:txBody>
          <a:bodyPr rtlCol="0" anchor="ctr"/>
          <a:lstStyle/>
          <a:p>
            <a:pPr algn="ctr"/>
          </a:p>
        </p:txBody>
      </p:sp>
      <p:sp>
        <p:nvSpPr>
          <p:cNvPr id="36" name="Rounded Rectangle 35"/>
          <p:cNvSpPr/>
          <p:nvPr/>
        </p:nvSpPr>
        <p:spPr>
          <a:xfrm>
            <a:off x="8686800" y="1450848"/>
            <a:ext cx="609600" cy="170688"/>
          </a:xfrm>
          <a:prstGeom prst="roundRect">
            <a:avLst>
              <a:gd name="adj" fmla="val 50000"/>
            </a:avLst>
          </a:prstGeom>
          <a:solidFill>
            <a:srgbClr val="D9D6D1"/>
          </a:solidFill>
          <a:ln>
            <a:noFill/>
          </a:ln>
          <a:effectLst/>
        </p:spPr>
        <p:txBody>
          <a:bodyPr rtlCol="0" anchor="ctr"/>
          <a:lstStyle/>
          <a:p>
            <a:pPr algn="ctr"/>
          </a:p>
        </p:txBody>
      </p:sp>
      <p:sp>
        <p:nvSpPr>
          <p:cNvPr id="37" name="TextBox 36"/>
          <p:cNvSpPr txBox="1"/>
          <p:nvPr/>
        </p:nvSpPr>
        <p:spPr>
          <a:xfrm>
            <a:off x="8686800" y="1450848"/>
            <a:ext cx="609600" cy="170688"/>
          </a:xfrm>
          <a:prstGeom prst="rect">
            <a:avLst/>
          </a:prstGeom>
          <a:noFill/>
        </p:spPr>
        <p:txBody>
          <a:bodyPr wrap="square" anchor="ctr" lIns="0" rIns="0" tIns="0" bIns="0">
            <a:spAutoFit/>
          </a:bodyPr>
          <a:lstStyle/>
          <a:p>
            <a:pPr algn="ctr"/>
            <a:r>
              <a:rPr sz="800" b="1" i="0">
                <a:solidFill>
                  <a:srgbClr val="555B66"/>
                </a:solidFill>
                <a:latin typeface="Arial"/>
              </a:rPr>
              <a:t>INDICATIF</a:t>
            </a:r>
          </a:p>
        </p:txBody>
      </p:sp>
      <p:sp>
        <p:nvSpPr>
          <p:cNvPr id="38" name="TextBox 37"/>
          <p:cNvSpPr txBox="1"/>
          <p:nvPr/>
        </p:nvSpPr>
        <p:spPr>
          <a:xfrm>
            <a:off x="8101584" y="1706880"/>
            <a:ext cx="1219200" cy="121920"/>
          </a:xfrm>
          <a:prstGeom prst="rect">
            <a:avLst/>
          </a:prstGeom>
          <a:noFill/>
        </p:spPr>
        <p:txBody>
          <a:bodyPr wrap="square" anchor="t" lIns="0" rIns="0" tIns="0" bIns="0">
            <a:spAutoFit/>
          </a:bodyPr>
          <a:lstStyle/>
          <a:p>
            <a:pPr algn="l"/>
            <a:r>
              <a:rPr sz="1000" b="1" i="0">
                <a:solidFill>
                  <a:srgbClr val="8A93A6"/>
                </a:solidFill>
                <a:latin typeface="Arial"/>
              </a:rPr>
              <a:t>CVR</a:t>
            </a:r>
          </a:p>
        </p:txBody>
      </p:sp>
      <p:sp>
        <p:nvSpPr>
          <p:cNvPr id="39" name="TextBox 38"/>
          <p:cNvSpPr txBox="1"/>
          <p:nvPr/>
        </p:nvSpPr>
        <p:spPr>
          <a:xfrm>
            <a:off x="8101584" y="1889760"/>
            <a:ext cx="1219200" cy="274320"/>
          </a:xfrm>
          <a:prstGeom prst="rect">
            <a:avLst/>
          </a:prstGeom>
          <a:noFill/>
        </p:spPr>
        <p:txBody>
          <a:bodyPr wrap="square" anchor="t" lIns="0" rIns="0" tIns="0" bIns="0">
            <a:spAutoFit/>
          </a:bodyPr>
          <a:lstStyle/>
          <a:p>
            <a:pPr algn="l"/>
            <a:r>
              <a:rPr sz="2200" b="1" i="0">
                <a:solidFill>
                  <a:srgbClr val="8A93A6"/>
                </a:solidFill>
                <a:latin typeface="Arial"/>
              </a:rPr>
              <a:t>N/C</a:t>
            </a:r>
          </a:p>
        </p:txBody>
      </p:sp>
      <p:sp>
        <p:nvSpPr>
          <p:cNvPr id="40" name="TextBox 39"/>
          <p:cNvSpPr txBox="1"/>
          <p:nvPr/>
        </p:nvSpPr>
        <p:spPr>
          <a:xfrm>
            <a:off x="8101584" y="2243328"/>
            <a:ext cx="1219200" cy="109728"/>
          </a:xfrm>
          <a:prstGeom prst="rect">
            <a:avLst/>
          </a:prstGeom>
          <a:noFill/>
        </p:spPr>
        <p:txBody>
          <a:bodyPr wrap="square" anchor="t" lIns="0" rIns="0" tIns="0" bIns="0">
            <a:spAutoFit/>
          </a:bodyPr>
          <a:lstStyle/>
          <a:p>
            <a:pPr algn="l"/>
            <a:r>
              <a:rPr sz="1000" b="1" i="0">
                <a:solidFill>
                  <a:srgbClr val="8A93A6"/>
                </a:solidFill>
                <a:latin typeface="Arial"/>
              </a:rPr>
              <a:t>—</a:t>
            </a:r>
          </a:p>
        </p:txBody>
      </p:sp>
      <p:sp>
        <p:nvSpPr>
          <p:cNvPr id="41" name="TextBox 40"/>
          <p:cNvSpPr txBox="1"/>
          <p:nvPr/>
        </p:nvSpPr>
        <p:spPr>
          <a:xfrm>
            <a:off x="8101584" y="2499360"/>
            <a:ext cx="1219200" cy="91440"/>
          </a:xfrm>
          <a:prstGeom prst="rect">
            <a:avLst/>
          </a:prstGeom>
          <a:noFill/>
        </p:spPr>
        <p:txBody>
          <a:bodyPr wrap="square" anchor="t" lIns="0" rIns="0" tIns="0" bIns="0">
            <a:spAutoFit/>
          </a:bodyPr>
          <a:lstStyle/>
          <a:p>
            <a:pPr algn="l"/>
            <a:r>
              <a:rPr sz="800" b="0" i="1">
                <a:solidFill>
                  <a:srgbClr val="8A93A6"/>
                </a:solidFill>
                <a:latin typeface="Arial"/>
              </a:rPr>
              <a:t>YTD —</a:t>
            </a:r>
          </a:p>
        </p:txBody>
      </p:sp>
      <p:sp>
        <p:nvSpPr>
          <p:cNvPr id="42" name="Rectangle 41"/>
          <p:cNvSpPr/>
          <p:nvPr/>
        </p:nvSpPr>
        <p:spPr>
          <a:xfrm>
            <a:off x="9826752" y="1536192"/>
            <a:ext cx="1389888" cy="1127760"/>
          </a:xfrm>
          <a:prstGeom prst="rect">
            <a:avLst/>
          </a:prstGeom>
          <a:solidFill>
            <a:srgbClr val="F1EFEB"/>
          </a:solidFill>
          <a:ln>
            <a:noFill/>
          </a:ln>
          <a:effectLst/>
        </p:spPr>
        <p:txBody>
          <a:bodyPr rtlCol="0" anchor="ctr"/>
          <a:lstStyle/>
          <a:p>
            <a:pPr algn="ctr"/>
          </a:p>
        </p:txBody>
      </p:sp>
      <p:sp>
        <p:nvSpPr>
          <p:cNvPr id="43" name="Rounded Rectangle 42"/>
          <p:cNvSpPr/>
          <p:nvPr/>
        </p:nvSpPr>
        <p:spPr>
          <a:xfrm>
            <a:off x="10546080" y="1450848"/>
            <a:ext cx="609600" cy="170688"/>
          </a:xfrm>
          <a:prstGeom prst="roundRect">
            <a:avLst>
              <a:gd name="adj" fmla="val 50000"/>
            </a:avLst>
          </a:prstGeom>
          <a:solidFill>
            <a:srgbClr val="D9D6D1"/>
          </a:solidFill>
          <a:ln>
            <a:noFill/>
          </a:ln>
          <a:effectLst/>
        </p:spPr>
        <p:txBody>
          <a:bodyPr rtlCol="0" anchor="ctr"/>
          <a:lstStyle/>
          <a:p>
            <a:pPr algn="ctr"/>
          </a:p>
        </p:txBody>
      </p:sp>
      <p:sp>
        <p:nvSpPr>
          <p:cNvPr id="44" name="TextBox 43"/>
          <p:cNvSpPr txBox="1"/>
          <p:nvPr/>
        </p:nvSpPr>
        <p:spPr>
          <a:xfrm>
            <a:off x="10546080" y="1450848"/>
            <a:ext cx="609600" cy="170688"/>
          </a:xfrm>
          <a:prstGeom prst="rect">
            <a:avLst/>
          </a:prstGeom>
          <a:noFill/>
        </p:spPr>
        <p:txBody>
          <a:bodyPr wrap="square" anchor="ctr" lIns="0" rIns="0" tIns="0" bIns="0">
            <a:spAutoFit/>
          </a:bodyPr>
          <a:lstStyle/>
          <a:p>
            <a:pPr algn="ctr"/>
            <a:r>
              <a:rPr sz="800" b="1" i="0">
                <a:solidFill>
                  <a:srgbClr val="555B66"/>
                </a:solidFill>
                <a:latin typeface="Arial"/>
              </a:rPr>
              <a:t>INDICATIF</a:t>
            </a:r>
          </a:p>
        </p:txBody>
      </p:sp>
      <p:sp>
        <p:nvSpPr>
          <p:cNvPr id="45" name="TextBox 44"/>
          <p:cNvSpPr txBox="1"/>
          <p:nvPr/>
        </p:nvSpPr>
        <p:spPr>
          <a:xfrm>
            <a:off x="9960864" y="1706880"/>
            <a:ext cx="1219200" cy="121920"/>
          </a:xfrm>
          <a:prstGeom prst="rect">
            <a:avLst/>
          </a:prstGeom>
          <a:noFill/>
        </p:spPr>
        <p:txBody>
          <a:bodyPr wrap="square" anchor="t" lIns="0" rIns="0" tIns="0" bIns="0">
            <a:spAutoFit/>
          </a:bodyPr>
          <a:lstStyle/>
          <a:p>
            <a:pPr algn="l"/>
            <a:r>
              <a:rPr sz="1000" b="1" i="0">
                <a:solidFill>
                  <a:srgbClr val="8A93A6"/>
                </a:solidFill>
                <a:latin typeface="Arial"/>
              </a:rPr>
              <a:t>ROAS</a:t>
            </a:r>
          </a:p>
        </p:txBody>
      </p:sp>
      <p:sp>
        <p:nvSpPr>
          <p:cNvPr id="46" name="TextBox 45"/>
          <p:cNvSpPr txBox="1"/>
          <p:nvPr/>
        </p:nvSpPr>
        <p:spPr>
          <a:xfrm>
            <a:off x="9960864" y="1889760"/>
            <a:ext cx="1219200" cy="274320"/>
          </a:xfrm>
          <a:prstGeom prst="rect">
            <a:avLst/>
          </a:prstGeom>
          <a:noFill/>
        </p:spPr>
        <p:txBody>
          <a:bodyPr wrap="square" anchor="t" lIns="0" rIns="0" tIns="0" bIns="0">
            <a:spAutoFit/>
          </a:bodyPr>
          <a:lstStyle/>
          <a:p>
            <a:pPr algn="l"/>
            <a:r>
              <a:rPr sz="2200" b="1" i="0">
                <a:solidFill>
                  <a:srgbClr val="8A93A6"/>
                </a:solidFill>
                <a:latin typeface="Arial"/>
              </a:rPr>
              <a:t>N/C</a:t>
            </a:r>
          </a:p>
        </p:txBody>
      </p:sp>
      <p:sp>
        <p:nvSpPr>
          <p:cNvPr id="47" name="TextBox 46"/>
          <p:cNvSpPr txBox="1"/>
          <p:nvPr/>
        </p:nvSpPr>
        <p:spPr>
          <a:xfrm>
            <a:off x="9960864" y="2243328"/>
            <a:ext cx="1219200" cy="109728"/>
          </a:xfrm>
          <a:prstGeom prst="rect">
            <a:avLst/>
          </a:prstGeom>
          <a:noFill/>
        </p:spPr>
        <p:txBody>
          <a:bodyPr wrap="square" anchor="t" lIns="0" rIns="0" tIns="0" bIns="0">
            <a:spAutoFit/>
          </a:bodyPr>
          <a:lstStyle/>
          <a:p>
            <a:pPr algn="l"/>
            <a:r>
              <a:rPr sz="1000" b="1" i="0">
                <a:solidFill>
                  <a:srgbClr val="8A93A6"/>
                </a:solidFill>
                <a:latin typeface="Arial"/>
              </a:rPr>
              <a:t>—</a:t>
            </a:r>
          </a:p>
        </p:txBody>
      </p:sp>
      <p:sp>
        <p:nvSpPr>
          <p:cNvPr id="48" name="TextBox 47"/>
          <p:cNvSpPr txBox="1"/>
          <p:nvPr/>
        </p:nvSpPr>
        <p:spPr>
          <a:xfrm>
            <a:off x="9960864" y="2499360"/>
            <a:ext cx="1219200" cy="91440"/>
          </a:xfrm>
          <a:prstGeom prst="rect">
            <a:avLst/>
          </a:prstGeom>
          <a:noFill/>
        </p:spPr>
        <p:txBody>
          <a:bodyPr wrap="square" anchor="t" lIns="0" rIns="0" tIns="0" bIns="0">
            <a:spAutoFit/>
          </a:bodyPr>
          <a:lstStyle/>
          <a:p>
            <a:pPr algn="l"/>
            <a:r>
              <a:rPr sz="800" b="0" i="1">
                <a:solidFill>
                  <a:srgbClr val="8A93A6"/>
                </a:solidFill>
                <a:latin typeface="Arial"/>
              </a:rPr>
              <a:t>YTD —</a:t>
            </a:r>
          </a:p>
        </p:txBody>
      </p:sp>
      <p:sp>
        <p:nvSpPr>
          <p:cNvPr id="49" name="Isosceles Triangle 48"/>
          <p:cNvSpPr/>
          <p:nvPr/>
        </p:nvSpPr>
        <p:spPr>
          <a:xfrm>
            <a:off x="8564880" y="2688336"/>
            <a:ext cx="182880" cy="85344"/>
          </a:xfrm>
          <a:prstGeom prst="triangle">
            <a:avLst/>
          </a:prstGeom>
          <a:solidFill>
            <a:srgbClr val="EBE9E5"/>
          </a:solidFill>
          <a:ln>
            <a:noFill/>
          </a:ln>
          <a:effectLst/>
        </p:spPr>
        <p:txBody>
          <a:bodyPr rtlCol="0" anchor="ctr"/>
          <a:lstStyle/>
          <a:p>
            <a:pPr algn="ctr"/>
          </a:p>
        </p:txBody>
      </p:sp>
      <p:sp>
        <p:nvSpPr>
          <p:cNvPr id="50" name="Rounded Rectangle 49"/>
          <p:cNvSpPr/>
          <p:nvPr/>
        </p:nvSpPr>
        <p:spPr>
          <a:xfrm>
            <a:off x="6108192" y="2773680"/>
            <a:ext cx="5108448" cy="438912"/>
          </a:xfrm>
          <a:prstGeom prst="roundRect">
            <a:avLst>
              <a:gd name="adj" fmla="val 15000"/>
            </a:avLst>
          </a:prstGeom>
          <a:solidFill>
            <a:srgbClr val="EBE9E5"/>
          </a:solidFill>
          <a:ln>
            <a:noFill/>
          </a:ln>
          <a:effectLst/>
        </p:spPr>
        <p:txBody>
          <a:bodyPr rtlCol="0" anchor="ctr"/>
          <a:lstStyle/>
          <a:p>
            <a:pPr algn="ctr"/>
          </a:p>
        </p:txBody>
      </p:sp>
      <p:sp>
        <p:nvSpPr>
          <p:cNvPr id="51" name="TextBox 50"/>
          <p:cNvSpPr txBox="1"/>
          <p:nvPr/>
        </p:nvSpPr>
        <p:spPr>
          <a:xfrm>
            <a:off x="6230112" y="2816352"/>
            <a:ext cx="4864608" cy="365760"/>
          </a:xfrm>
          <a:prstGeom prst="rect">
            <a:avLst/>
          </a:prstGeom>
          <a:noFill/>
        </p:spPr>
        <p:txBody>
          <a:bodyPr wrap="square" anchor="ctr" lIns="0" rIns="0" tIns="0" bIns="0">
            <a:spAutoFit/>
          </a:bodyPr>
          <a:lstStyle/>
          <a:p>
            <a:pPr algn="l"/>
            <a:r>
              <a:rPr sz="900" b="0" i="0">
                <a:solidFill>
                  <a:srgbClr val="555B66"/>
                </a:solidFill>
                <a:latin typeface="Arial"/>
              </a:rPr>
              <a:t>Conversions mesurées par Cdiscount, non intégrées à ce rapport. Elles apparaîtront ici dès l'intégration du Conversion Tracker.</a:t>
            </a:r>
          </a:p>
        </p:txBody>
      </p:sp>
      <p:sp>
        <p:nvSpPr>
          <p:cNvPr id="52" name="TextBox 51"/>
          <p:cNvSpPr txBox="1"/>
          <p:nvPr/>
        </p:nvSpPr>
        <p:spPr>
          <a:xfrm>
            <a:off x="530352" y="3322320"/>
            <a:ext cx="7315200" cy="182880"/>
          </a:xfrm>
          <a:prstGeom prst="rect">
            <a:avLst/>
          </a:prstGeom>
          <a:noFill/>
        </p:spPr>
        <p:txBody>
          <a:bodyPr wrap="square" anchor="t" lIns="0" rIns="0" tIns="0" bIns="0">
            <a:spAutoFit/>
          </a:bodyPr>
          <a:lstStyle/>
          <a:p>
            <a:pPr algn="l"/>
            <a:r>
              <a:rPr sz="1400" b="1" i="0">
                <a:solidFill>
                  <a:srgbClr val="EE6A2C"/>
                </a:solidFill>
                <a:latin typeface="Arial"/>
              </a:rPr>
              <a:t>INSIGHTS QUALITATIFS · ANALYSE DES RECHERCHES</a:t>
            </a:r>
          </a:p>
        </p:txBody>
      </p:sp>
      <p:sp>
        <p:nvSpPr>
          <p:cNvPr id="53" name="Rectangle 52"/>
          <p:cNvSpPr/>
          <p:nvPr/>
        </p:nvSpPr>
        <p:spPr>
          <a:xfrm>
            <a:off x="530352" y="3584448"/>
            <a:ext cx="3401568" cy="2560320"/>
          </a:xfrm>
          <a:prstGeom prst="rect">
            <a:avLst/>
          </a:prstGeom>
          <a:solidFill>
            <a:srgbClr val="FFFFFF"/>
          </a:solidFill>
          <a:ln>
            <a:noFill/>
          </a:ln>
          <a:effectLst/>
        </p:spPr>
        <p:txBody>
          <a:bodyPr rtlCol="0" anchor="ctr"/>
          <a:lstStyle/>
          <a:p>
            <a:pPr algn="ctr"/>
          </a:p>
        </p:txBody>
      </p:sp>
      <p:sp>
        <p:nvSpPr>
          <p:cNvPr id="54" name="Rectangle 53"/>
          <p:cNvSpPr/>
          <p:nvPr/>
        </p:nvSpPr>
        <p:spPr>
          <a:xfrm>
            <a:off x="4194048" y="3584448"/>
            <a:ext cx="3401568" cy="2560320"/>
          </a:xfrm>
          <a:prstGeom prst="rect">
            <a:avLst/>
          </a:prstGeom>
          <a:solidFill>
            <a:srgbClr val="FFFFFF"/>
          </a:solidFill>
          <a:ln>
            <a:noFill/>
          </a:ln>
          <a:effectLst/>
        </p:spPr>
        <p:txBody>
          <a:bodyPr rtlCol="0" anchor="ctr"/>
          <a:lstStyle/>
          <a:p>
            <a:pPr algn="ctr"/>
          </a:p>
        </p:txBody>
      </p:sp>
      <p:sp>
        <p:nvSpPr>
          <p:cNvPr id="55" name="Rectangle 54"/>
          <p:cNvSpPr/>
          <p:nvPr/>
        </p:nvSpPr>
        <p:spPr>
          <a:xfrm>
            <a:off x="7857744" y="3584448"/>
            <a:ext cx="3401568" cy="2560320"/>
          </a:xfrm>
          <a:prstGeom prst="rect">
            <a:avLst/>
          </a:prstGeom>
          <a:solidFill>
            <a:srgbClr val="FFFFFF"/>
          </a:solidFill>
          <a:ln>
            <a:noFill/>
          </a:ln>
          <a:effectLst/>
        </p:spPr>
        <p:txBody>
          <a:bodyPr rtlCol="0" anchor="ctr"/>
          <a:lstStyle/>
          <a:p>
            <a:pPr algn="ctr"/>
          </a:p>
        </p:txBody>
      </p:sp>
      <p:sp>
        <p:nvSpPr>
          <p:cNvPr id="56" name="TextBox 55"/>
          <p:cNvSpPr txBox="1"/>
          <p:nvPr/>
        </p:nvSpPr>
        <p:spPr>
          <a:xfrm>
            <a:off x="774192" y="3767328"/>
            <a:ext cx="2926080" cy="152400"/>
          </a:xfrm>
          <a:prstGeom prst="rect">
            <a:avLst/>
          </a:prstGeom>
          <a:noFill/>
        </p:spPr>
        <p:txBody>
          <a:bodyPr wrap="square" anchor="t" lIns="0" rIns="0" tIns="0" bIns="0">
            <a:spAutoFit/>
          </a:bodyPr>
          <a:lstStyle/>
          <a:p>
            <a:pPr algn="l"/>
            <a:r>
              <a:rPr sz="1300" b="1" i="0">
                <a:solidFill>
                  <a:srgbClr val="555B66"/>
                </a:solidFill>
                <a:latin typeface="Arial"/>
              </a:rPr>
              <a:t>CHAMP LEXICAL</a:t>
            </a:r>
          </a:p>
        </p:txBody>
      </p:sp>
      <p:sp>
        <p:nvSpPr>
          <p:cNvPr id="57" name="TextBox 56"/>
          <p:cNvSpPr txBox="1"/>
          <p:nvPr/>
        </p:nvSpPr>
        <p:spPr>
          <a:xfrm>
            <a:off x="774192" y="3992880"/>
            <a:ext cx="2926080" cy="121920"/>
          </a:xfrm>
          <a:prstGeom prst="rect">
            <a:avLst/>
          </a:prstGeom>
          <a:noFill/>
        </p:spPr>
        <p:txBody>
          <a:bodyPr wrap="square" anchor="t" lIns="0" rIns="0" tIns="0" bIns="0">
            <a:spAutoFit/>
          </a:bodyPr>
          <a:lstStyle/>
          <a:p>
            <a:pPr algn="l"/>
            <a:r>
              <a:rPr sz="1000" b="0" i="1">
                <a:solidFill>
                  <a:srgbClr val="8A93A6"/>
                </a:solidFill>
                <a:latin typeface="Arial"/>
              </a:rPr>
              <a:t>Termes les plus fréquents</a:t>
            </a:r>
          </a:p>
        </p:txBody>
      </p:sp>
      <p:sp>
        <p:nvSpPr>
          <p:cNvPr id="58" name="TextBox 57"/>
          <p:cNvSpPr txBox="1"/>
          <p:nvPr/>
        </p:nvSpPr>
        <p:spPr>
          <a:xfrm>
            <a:off x="774192" y="4236720"/>
            <a:ext cx="2987040" cy="1828800"/>
          </a:xfrm>
          <a:prstGeom prst="rect">
            <a:avLst/>
          </a:prstGeom>
          <a:noFill/>
        </p:spPr>
        <p:txBody>
          <a:bodyPr wrap="square" anchor="t" lIns="0" rIns="0" tIns="0" bIns="0">
            <a:spAutoFit/>
          </a:bodyPr>
          <a:lstStyle/>
          <a:p>
            <a:pPr algn="l">
              <a:spcAft>
                <a:spcPts val="500"/>
              </a:spcAft>
            </a:pPr>
            <a:r>
              <a:rPr sz="1800" b="1" i="0">
                <a:solidFill>
                  <a:srgbClr val="EE6A2C"/>
                </a:solidFill>
                <a:latin typeface="Arial"/>
              </a:rPr>
              <a:t>enceinte</a:t>
            </a:r>
            <a:r>
              <a:rPr sz="1600" b="1" i="0">
                <a:solidFill>
                  <a:srgbClr val="111111"/>
                </a:solidFill>
                <a:latin typeface="Arial"/>
              </a:rPr>
              <a:t>   casque</a:t>
            </a:r>
          </a:p>
          <a:p>
            <a:pPr algn="l">
              <a:spcAft>
                <a:spcPts val="500"/>
              </a:spcAft>
            </a:pPr>
            <a:r>
              <a:rPr sz="1500" b="1" i="0">
                <a:solidFill>
                  <a:srgbClr val="111111"/>
                </a:solidFill>
                <a:latin typeface="Arial"/>
              </a:rPr>
              <a:t>platine vinyle</a:t>
            </a:r>
            <a:r>
              <a:rPr sz="1400" b="1" i="0">
                <a:solidFill>
                  <a:srgbClr val="111111"/>
                </a:solidFill>
                <a:latin typeface="Arial"/>
              </a:rPr>
              <a:t>   ampli</a:t>
            </a:r>
          </a:p>
          <a:p>
            <a:pPr algn="l">
              <a:spcAft>
                <a:spcPts val="500"/>
              </a:spcAft>
            </a:pPr>
            <a:r>
              <a:rPr sz="1300" b="1" i="0">
                <a:solidFill>
                  <a:srgbClr val="EE6A2C"/>
                </a:solidFill>
                <a:latin typeface="Arial"/>
              </a:rPr>
              <a:t>budget 200 €</a:t>
            </a:r>
            <a:r>
              <a:rPr sz="1200" b="0" i="0">
                <a:solidFill>
                  <a:srgbClr val="111111"/>
                </a:solidFill>
                <a:latin typeface="Arial"/>
              </a:rPr>
              <a:t>   sans fil</a:t>
            </a:r>
          </a:p>
          <a:p>
            <a:pPr algn="l">
              <a:spcAft>
                <a:spcPts val="500"/>
              </a:spcAft>
            </a:pPr>
            <a:r>
              <a:rPr sz="1100" b="1" i="0">
                <a:solidFill>
                  <a:srgbClr val="EE6A2C"/>
                </a:solidFill>
                <a:latin typeface="Arial"/>
              </a:rPr>
              <a:t>home cinéma</a:t>
            </a:r>
            <a:r>
              <a:rPr sz="1100" b="1" i="0">
                <a:solidFill>
                  <a:srgbClr val="111111"/>
                </a:solidFill>
                <a:latin typeface="Arial"/>
              </a:rPr>
              <a:t>   DAB+</a:t>
            </a:r>
          </a:p>
          <a:p>
            <a:pPr algn="l">
              <a:spcAft>
                <a:spcPts val="500"/>
              </a:spcAft>
            </a:pPr>
            <a:r>
              <a:rPr sz="1100" b="1" i="0">
                <a:solidFill>
                  <a:srgbClr val="111111"/>
                </a:solidFill>
                <a:latin typeface="Arial"/>
              </a:rPr>
              <a:t>étudiant</a:t>
            </a:r>
            <a:r>
              <a:rPr sz="1100" b="0" i="0">
                <a:solidFill>
                  <a:srgbClr val="111111"/>
                </a:solidFill>
                <a:latin typeface="Arial"/>
              </a:rPr>
              <a:t>   vacances</a:t>
            </a:r>
            <a:r>
              <a:rPr sz="1100" b="1" i="0">
                <a:solidFill>
                  <a:srgbClr val="EE6A2C"/>
                </a:solidFill>
                <a:latin typeface="Arial"/>
              </a:rPr>
              <a:t>   French Days</a:t>
            </a:r>
          </a:p>
          <a:p>
            <a:pPr algn="l">
              <a:spcAft>
                <a:spcPts val="500"/>
              </a:spcAft>
            </a:pPr>
            <a:r>
              <a:rPr sz="1100" b="1" i="0">
                <a:solidFill>
                  <a:srgbClr val="111111"/>
                </a:solidFill>
                <a:latin typeface="Arial"/>
              </a:rPr>
              <a:t>Sony</a:t>
            </a:r>
            <a:r>
              <a:rPr sz="1100" b="0" i="0">
                <a:solidFill>
                  <a:srgbClr val="111111"/>
                </a:solidFill>
                <a:latin typeface="Arial"/>
              </a:rPr>
              <a:t>   JBL</a:t>
            </a:r>
            <a:r>
              <a:rPr sz="1100" b="0" i="0">
                <a:solidFill>
                  <a:srgbClr val="111111"/>
                </a:solidFill>
                <a:latin typeface="Arial"/>
              </a:rPr>
              <a:t>   Bose</a:t>
            </a:r>
          </a:p>
        </p:txBody>
      </p:sp>
      <p:sp>
        <p:nvSpPr>
          <p:cNvPr id="59" name="TextBox 58"/>
          <p:cNvSpPr txBox="1"/>
          <p:nvPr/>
        </p:nvSpPr>
        <p:spPr>
          <a:xfrm>
            <a:off x="4437888" y="3767328"/>
            <a:ext cx="2926080" cy="152400"/>
          </a:xfrm>
          <a:prstGeom prst="rect">
            <a:avLst/>
          </a:prstGeom>
          <a:noFill/>
        </p:spPr>
        <p:txBody>
          <a:bodyPr wrap="square" anchor="t" lIns="0" rIns="0" tIns="0" bIns="0">
            <a:spAutoFit/>
          </a:bodyPr>
          <a:lstStyle/>
          <a:p>
            <a:pPr algn="l"/>
            <a:r>
              <a:rPr sz="1300" b="1" i="0">
                <a:solidFill>
                  <a:srgbClr val="555B66"/>
                </a:solidFill>
                <a:latin typeface="Arial"/>
              </a:rPr>
              <a:t>EXEMPLES DE REQUÊTES</a:t>
            </a:r>
          </a:p>
        </p:txBody>
      </p:sp>
      <p:sp>
        <p:nvSpPr>
          <p:cNvPr id="60" name="TextBox 59"/>
          <p:cNvSpPr txBox="1"/>
          <p:nvPr/>
        </p:nvSpPr>
        <p:spPr>
          <a:xfrm>
            <a:off x="4437888" y="3992880"/>
            <a:ext cx="2926080" cy="121920"/>
          </a:xfrm>
          <a:prstGeom prst="rect">
            <a:avLst/>
          </a:prstGeom>
          <a:noFill/>
        </p:spPr>
        <p:txBody>
          <a:bodyPr wrap="square" anchor="t" lIns="0" rIns="0" tIns="0" bIns="0">
            <a:spAutoFit/>
          </a:bodyPr>
          <a:lstStyle/>
          <a:p>
            <a:pPr algn="l"/>
            <a:r>
              <a:rPr sz="1000" b="0" i="1">
                <a:solidFill>
                  <a:srgbClr val="8A93A6"/>
                </a:solidFill>
                <a:latin typeface="Arial"/>
              </a:rPr>
              <a:t>Questions posées aux IA</a:t>
            </a:r>
          </a:p>
        </p:txBody>
      </p:sp>
      <p:sp>
        <p:nvSpPr>
          <p:cNvPr id="61" name="TextBox 60"/>
          <p:cNvSpPr txBox="1"/>
          <p:nvPr/>
        </p:nvSpPr>
        <p:spPr>
          <a:xfrm>
            <a:off x="4437888" y="4267200"/>
            <a:ext cx="2913888" cy="304800"/>
          </a:xfrm>
          <a:prstGeom prst="rect">
            <a:avLst/>
          </a:prstGeom>
          <a:noFill/>
        </p:spPr>
        <p:txBody>
          <a:bodyPr wrap="square" anchor="ctr" lIns="0" rIns="0" tIns="0" bIns="0">
            <a:spAutoFit/>
          </a:bodyPr>
          <a:lstStyle/>
          <a:p>
            <a:pPr algn="l"/>
            <a:r>
              <a:rPr sz="1000" b="0" i="0">
                <a:solidFill>
                  <a:srgbClr val="111111"/>
                </a:solidFill>
                <a:latin typeface="Arial"/>
              </a:rPr>
              <a:t>Quel casque pour ne plus entendre le bruit des transports ?</a:t>
            </a:r>
          </a:p>
        </p:txBody>
      </p:sp>
      <p:sp>
        <p:nvSpPr>
          <p:cNvPr id="62" name="Rectangle 61"/>
          <p:cNvSpPr/>
          <p:nvPr/>
        </p:nvSpPr>
        <p:spPr>
          <a:xfrm>
            <a:off x="4437888" y="4602480"/>
            <a:ext cx="2913888" cy="6096"/>
          </a:xfrm>
          <a:prstGeom prst="rect">
            <a:avLst/>
          </a:prstGeom>
          <a:solidFill>
            <a:srgbClr val="E6E3DE"/>
          </a:solidFill>
          <a:ln>
            <a:noFill/>
          </a:ln>
          <a:effectLst/>
        </p:spPr>
        <p:txBody>
          <a:bodyPr rtlCol="0" anchor="ctr"/>
          <a:lstStyle/>
          <a:p>
            <a:pPr algn="ctr"/>
          </a:p>
        </p:txBody>
      </p:sp>
      <p:sp>
        <p:nvSpPr>
          <p:cNvPr id="63" name="TextBox 62"/>
          <p:cNvSpPr txBox="1"/>
          <p:nvPr/>
        </p:nvSpPr>
        <p:spPr>
          <a:xfrm>
            <a:off x="4437888" y="4632960"/>
            <a:ext cx="2913888" cy="304800"/>
          </a:xfrm>
          <a:prstGeom prst="rect">
            <a:avLst/>
          </a:prstGeom>
          <a:noFill/>
        </p:spPr>
        <p:txBody>
          <a:bodyPr wrap="square" anchor="ctr" lIns="0" rIns="0" tIns="0" bIns="0">
            <a:spAutoFit/>
          </a:bodyPr>
          <a:lstStyle/>
          <a:p>
            <a:pPr algn="l"/>
            <a:r>
              <a:rPr sz="1000" b="0" i="0">
                <a:solidFill>
                  <a:srgbClr val="111111"/>
                </a:solidFill>
                <a:latin typeface="Arial"/>
              </a:rPr>
              <a:t>Quelle enceinte Marshall choisir pour mon salon ?</a:t>
            </a:r>
          </a:p>
        </p:txBody>
      </p:sp>
      <p:sp>
        <p:nvSpPr>
          <p:cNvPr id="64" name="Rectangle 63"/>
          <p:cNvSpPr/>
          <p:nvPr/>
        </p:nvSpPr>
        <p:spPr>
          <a:xfrm>
            <a:off x="4437888" y="4968240"/>
            <a:ext cx="2913888" cy="6096"/>
          </a:xfrm>
          <a:prstGeom prst="rect">
            <a:avLst/>
          </a:prstGeom>
          <a:solidFill>
            <a:srgbClr val="E6E3DE"/>
          </a:solidFill>
          <a:ln>
            <a:noFill/>
          </a:ln>
          <a:effectLst/>
        </p:spPr>
        <p:txBody>
          <a:bodyPr rtlCol="0" anchor="ctr"/>
          <a:lstStyle/>
          <a:p>
            <a:pPr algn="ctr"/>
          </a:p>
        </p:txBody>
      </p:sp>
      <p:sp>
        <p:nvSpPr>
          <p:cNvPr id="65" name="TextBox 64"/>
          <p:cNvSpPr txBox="1"/>
          <p:nvPr/>
        </p:nvSpPr>
        <p:spPr>
          <a:xfrm>
            <a:off x="4437888" y="4998720"/>
            <a:ext cx="2913888" cy="304800"/>
          </a:xfrm>
          <a:prstGeom prst="rect">
            <a:avLst/>
          </a:prstGeom>
          <a:noFill/>
        </p:spPr>
        <p:txBody>
          <a:bodyPr wrap="square" anchor="ctr" lIns="0" rIns="0" tIns="0" bIns="0">
            <a:spAutoFit/>
          </a:bodyPr>
          <a:lstStyle/>
          <a:p>
            <a:pPr algn="l"/>
            <a:r>
              <a:rPr sz="1000" b="0" i="0">
                <a:solidFill>
                  <a:srgbClr val="111111"/>
                </a:solidFill>
                <a:latin typeface="Arial"/>
              </a:rPr>
              <a:t>Quelle enceinte Bluetooth pour partir en week-end ?</a:t>
            </a:r>
          </a:p>
        </p:txBody>
      </p:sp>
      <p:sp>
        <p:nvSpPr>
          <p:cNvPr id="66" name="Rectangle 65"/>
          <p:cNvSpPr/>
          <p:nvPr/>
        </p:nvSpPr>
        <p:spPr>
          <a:xfrm>
            <a:off x="4437888" y="5334000"/>
            <a:ext cx="2913888" cy="6096"/>
          </a:xfrm>
          <a:prstGeom prst="rect">
            <a:avLst/>
          </a:prstGeom>
          <a:solidFill>
            <a:srgbClr val="E6E3DE"/>
          </a:solidFill>
          <a:ln>
            <a:noFill/>
          </a:ln>
          <a:effectLst/>
        </p:spPr>
        <p:txBody>
          <a:bodyPr rtlCol="0" anchor="ctr"/>
          <a:lstStyle/>
          <a:p>
            <a:pPr algn="ctr"/>
          </a:p>
        </p:txBody>
      </p:sp>
      <p:sp>
        <p:nvSpPr>
          <p:cNvPr id="67" name="TextBox 66"/>
          <p:cNvSpPr txBox="1"/>
          <p:nvPr/>
        </p:nvSpPr>
        <p:spPr>
          <a:xfrm>
            <a:off x="4437888" y="5364480"/>
            <a:ext cx="2913888" cy="304800"/>
          </a:xfrm>
          <a:prstGeom prst="rect">
            <a:avLst/>
          </a:prstGeom>
          <a:noFill/>
        </p:spPr>
        <p:txBody>
          <a:bodyPr wrap="square" anchor="ctr" lIns="0" rIns="0" tIns="0" bIns="0">
            <a:spAutoFit/>
          </a:bodyPr>
          <a:lstStyle/>
          <a:p>
            <a:pPr algn="l"/>
            <a:r>
              <a:rPr sz="1000" b="0" i="0">
                <a:solidFill>
                  <a:srgbClr val="111111"/>
                </a:solidFill>
                <a:latin typeface="Arial"/>
              </a:rPr>
              <a:t>Quelle différence entre l'Emberton et la Kilburn ?</a:t>
            </a:r>
          </a:p>
        </p:txBody>
      </p:sp>
      <p:sp>
        <p:nvSpPr>
          <p:cNvPr id="68" name="Rectangle 67"/>
          <p:cNvSpPr/>
          <p:nvPr/>
        </p:nvSpPr>
        <p:spPr>
          <a:xfrm>
            <a:off x="4437888" y="5699760"/>
            <a:ext cx="2913888" cy="6096"/>
          </a:xfrm>
          <a:prstGeom prst="rect">
            <a:avLst/>
          </a:prstGeom>
          <a:solidFill>
            <a:srgbClr val="E6E3DE"/>
          </a:solidFill>
          <a:ln>
            <a:noFill/>
          </a:ln>
          <a:effectLst/>
        </p:spPr>
        <p:txBody>
          <a:bodyPr rtlCol="0" anchor="ctr"/>
          <a:lstStyle/>
          <a:p>
            <a:pPr algn="ctr"/>
          </a:p>
        </p:txBody>
      </p:sp>
      <p:sp>
        <p:nvSpPr>
          <p:cNvPr id="69" name="TextBox 68"/>
          <p:cNvSpPr txBox="1"/>
          <p:nvPr/>
        </p:nvSpPr>
        <p:spPr>
          <a:xfrm>
            <a:off x="4437888" y="5730240"/>
            <a:ext cx="2913888" cy="304800"/>
          </a:xfrm>
          <a:prstGeom prst="rect">
            <a:avLst/>
          </a:prstGeom>
          <a:noFill/>
        </p:spPr>
        <p:txBody>
          <a:bodyPr wrap="square" anchor="ctr" lIns="0" rIns="0" tIns="0" bIns="0">
            <a:spAutoFit/>
          </a:bodyPr>
          <a:lstStyle/>
          <a:p>
            <a:pPr algn="l"/>
            <a:r>
              <a:rPr sz="1000" b="0" i="0">
                <a:solidFill>
                  <a:srgbClr val="111111"/>
                </a:solidFill>
                <a:latin typeface="Arial"/>
              </a:rPr>
              <a:t>Quelle enceinte pour diffuser de la musique en soirée ?</a:t>
            </a:r>
          </a:p>
        </p:txBody>
      </p:sp>
      <p:sp>
        <p:nvSpPr>
          <p:cNvPr id="70" name="TextBox 69"/>
          <p:cNvSpPr txBox="1"/>
          <p:nvPr/>
        </p:nvSpPr>
        <p:spPr>
          <a:xfrm>
            <a:off x="8101584" y="3767328"/>
            <a:ext cx="2926080" cy="152400"/>
          </a:xfrm>
          <a:prstGeom prst="rect">
            <a:avLst/>
          </a:prstGeom>
          <a:noFill/>
        </p:spPr>
        <p:txBody>
          <a:bodyPr wrap="square" anchor="t" lIns="0" rIns="0" tIns="0" bIns="0">
            <a:spAutoFit/>
          </a:bodyPr>
          <a:lstStyle/>
          <a:p>
            <a:pPr algn="l"/>
            <a:r>
              <a:rPr sz="1300" b="1" i="0">
                <a:solidFill>
                  <a:srgbClr val="555B66"/>
                </a:solidFill>
                <a:latin typeface="Arial"/>
              </a:rPr>
              <a:t>CATÉGORIES DE PRODUITS</a:t>
            </a:r>
          </a:p>
        </p:txBody>
      </p:sp>
      <p:sp>
        <p:nvSpPr>
          <p:cNvPr id="71" name="TextBox 70"/>
          <p:cNvSpPr txBox="1"/>
          <p:nvPr/>
        </p:nvSpPr>
        <p:spPr>
          <a:xfrm>
            <a:off x="8101584" y="3992880"/>
            <a:ext cx="2926080" cy="121920"/>
          </a:xfrm>
          <a:prstGeom prst="rect">
            <a:avLst/>
          </a:prstGeom>
          <a:noFill/>
        </p:spPr>
        <p:txBody>
          <a:bodyPr wrap="square" anchor="t" lIns="0" rIns="0" tIns="0" bIns="0">
            <a:spAutoFit/>
          </a:bodyPr>
          <a:lstStyle/>
          <a:p>
            <a:pPr algn="l"/>
            <a:r>
              <a:rPr sz="1000" b="0" i="1">
                <a:solidFill>
                  <a:srgbClr val="8A93A6"/>
                </a:solidFill>
                <a:latin typeface="Arial"/>
              </a:rPr>
              <a:t>Répartition des requêtes</a:t>
            </a:r>
          </a:p>
        </p:txBody>
      </p:sp>
      <p:sp>
        <p:nvSpPr>
          <p:cNvPr id="72" name="TextBox 71"/>
          <p:cNvSpPr txBox="1"/>
          <p:nvPr/>
        </p:nvSpPr>
        <p:spPr>
          <a:xfrm>
            <a:off x="8101584" y="4267200"/>
            <a:ext cx="2194560" cy="134112"/>
          </a:xfrm>
          <a:prstGeom prst="rect">
            <a:avLst/>
          </a:prstGeom>
          <a:noFill/>
        </p:spPr>
        <p:txBody>
          <a:bodyPr wrap="square" anchor="t" lIns="0" rIns="0" tIns="0" bIns="0">
            <a:spAutoFit/>
          </a:bodyPr>
          <a:lstStyle/>
          <a:p>
            <a:pPr algn="l"/>
            <a:r>
              <a:rPr sz="1000" b="0" i="0">
                <a:solidFill>
                  <a:srgbClr val="111111"/>
                </a:solidFill>
                <a:latin typeface="Arial"/>
              </a:rPr>
              <a:t>Casques et réduction de bruit</a:t>
            </a:r>
          </a:p>
        </p:txBody>
      </p:sp>
      <p:sp>
        <p:nvSpPr>
          <p:cNvPr id="73" name="Rectangle 72"/>
          <p:cNvSpPr/>
          <p:nvPr/>
        </p:nvSpPr>
        <p:spPr>
          <a:xfrm>
            <a:off x="8101584" y="4419600"/>
            <a:ext cx="2011680" cy="54864"/>
          </a:xfrm>
          <a:prstGeom prst="rect">
            <a:avLst/>
          </a:prstGeom>
          <a:solidFill>
            <a:srgbClr val="ECEAE5"/>
          </a:solidFill>
          <a:ln>
            <a:noFill/>
          </a:ln>
          <a:effectLst/>
        </p:spPr>
        <p:txBody>
          <a:bodyPr rtlCol="0" anchor="ctr"/>
          <a:lstStyle/>
          <a:p>
            <a:pPr algn="ctr"/>
          </a:p>
        </p:txBody>
      </p:sp>
      <p:sp>
        <p:nvSpPr>
          <p:cNvPr id="74" name="Rectangle 73"/>
          <p:cNvSpPr/>
          <p:nvPr/>
        </p:nvSpPr>
        <p:spPr>
          <a:xfrm>
            <a:off x="8101584" y="4419600"/>
            <a:ext cx="724204" cy="54864"/>
          </a:xfrm>
          <a:prstGeom prst="rect">
            <a:avLst/>
          </a:prstGeom>
          <a:solidFill>
            <a:srgbClr val="EE6A2C"/>
          </a:solidFill>
          <a:ln>
            <a:noFill/>
          </a:ln>
          <a:effectLst/>
        </p:spPr>
        <p:txBody>
          <a:bodyPr rtlCol="0" anchor="ctr"/>
          <a:lstStyle/>
          <a:p>
            <a:pPr algn="ctr"/>
          </a:p>
        </p:txBody>
      </p:sp>
      <p:sp>
        <p:nvSpPr>
          <p:cNvPr id="75" name="TextBox 74"/>
          <p:cNvSpPr txBox="1"/>
          <p:nvPr/>
        </p:nvSpPr>
        <p:spPr>
          <a:xfrm>
            <a:off x="10241280" y="4340352"/>
            <a:ext cx="792480" cy="182880"/>
          </a:xfrm>
          <a:prstGeom prst="rect">
            <a:avLst/>
          </a:prstGeom>
          <a:noFill/>
        </p:spPr>
        <p:txBody>
          <a:bodyPr wrap="square" anchor="ctr" lIns="0" rIns="0" tIns="0" bIns="0">
            <a:spAutoFit/>
          </a:bodyPr>
          <a:lstStyle/>
          <a:p>
            <a:pPr algn="r"/>
            <a:r>
              <a:rPr sz="1300" b="1" i="0">
                <a:solidFill>
                  <a:srgbClr val="111111"/>
                </a:solidFill>
                <a:latin typeface="Arial"/>
              </a:rPr>
              <a:t>36 %</a:t>
            </a:r>
          </a:p>
        </p:txBody>
      </p:sp>
      <p:sp>
        <p:nvSpPr>
          <p:cNvPr id="76" name="TextBox 75"/>
          <p:cNvSpPr txBox="1"/>
          <p:nvPr/>
        </p:nvSpPr>
        <p:spPr>
          <a:xfrm>
            <a:off x="8101584" y="4584192"/>
            <a:ext cx="2194560" cy="134112"/>
          </a:xfrm>
          <a:prstGeom prst="rect">
            <a:avLst/>
          </a:prstGeom>
          <a:noFill/>
        </p:spPr>
        <p:txBody>
          <a:bodyPr wrap="square" anchor="t" lIns="0" rIns="0" tIns="0" bIns="0">
            <a:spAutoFit/>
          </a:bodyPr>
          <a:lstStyle/>
          <a:p>
            <a:pPr algn="l"/>
            <a:r>
              <a:rPr sz="1000" b="0" i="0">
                <a:solidFill>
                  <a:srgbClr val="111111"/>
                </a:solidFill>
                <a:latin typeface="Arial"/>
              </a:rPr>
              <a:t>Enceintes Bluetooth portables</a:t>
            </a:r>
          </a:p>
        </p:txBody>
      </p:sp>
      <p:sp>
        <p:nvSpPr>
          <p:cNvPr id="77" name="Rectangle 76"/>
          <p:cNvSpPr/>
          <p:nvPr/>
        </p:nvSpPr>
        <p:spPr>
          <a:xfrm>
            <a:off x="8101584" y="4736592"/>
            <a:ext cx="2011680" cy="54864"/>
          </a:xfrm>
          <a:prstGeom prst="rect">
            <a:avLst/>
          </a:prstGeom>
          <a:solidFill>
            <a:srgbClr val="ECEAE5"/>
          </a:solidFill>
          <a:ln>
            <a:noFill/>
          </a:ln>
          <a:effectLst/>
        </p:spPr>
        <p:txBody>
          <a:bodyPr rtlCol="0" anchor="ctr"/>
          <a:lstStyle/>
          <a:p>
            <a:pPr algn="ctr"/>
          </a:p>
        </p:txBody>
      </p:sp>
      <p:sp>
        <p:nvSpPr>
          <p:cNvPr id="78" name="Rectangle 77"/>
          <p:cNvSpPr/>
          <p:nvPr/>
        </p:nvSpPr>
        <p:spPr>
          <a:xfrm>
            <a:off x="8101584" y="4736592"/>
            <a:ext cx="663854" cy="54864"/>
          </a:xfrm>
          <a:prstGeom prst="rect">
            <a:avLst/>
          </a:prstGeom>
          <a:solidFill>
            <a:srgbClr val="9AA3B2"/>
          </a:solidFill>
          <a:ln>
            <a:noFill/>
          </a:ln>
          <a:effectLst/>
        </p:spPr>
        <p:txBody>
          <a:bodyPr rtlCol="0" anchor="ctr"/>
          <a:lstStyle/>
          <a:p>
            <a:pPr algn="ctr"/>
          </a:p>
        </p:txBody>
      </p:sp>
      <p:sp>
        <p:nvSpPr>
          <p:cNvPr id="79" name="TextBox 78"/>
          <p:cNvSpPr txBox="1"/>
          <p:nvPr/>
        </p:nvSpPr>
        <p:spPr>
          <a:xfrm>
            <a:off x="10241280" y="4657344"/>
            <a:ext cx="792480" cy="182880"/>
          </a:xfrm>
          <a:prstGeom prst="rect">
            <a:avLst/>
          </a:prstGeom>
          <a:noFill/>
        </p:spPr>
        <p:txBody>
          <a:bodyPr wrap="square" anchor="ctr" lIns="0" rIns="0" tIns="0" bIns="0">
            <a:spAutoFit/>
          </a:bodyPr>
          <a:lstStyle/>
          <a:p>
            <a:pPr algn="r"/>
            <a:r>
              <a:rPr sz="1300" b="1" i="0">
                <a:solidFill>
                  <a:srgbClr val="111111"/>
                </a:solidFill>
                <a:latin typeface="Arial"/>
              </a:rPr>
              <a:t>33 %</a:t>
            </a:r>
          </a:p>
        </p:txBody>
      </p:sp>
      <p:sp>
        <p:nvSpPr>
          <p:cNvPr id="80" name="TextBox 79"/>
          <p:cNvSpPr txBox="1"/>
          <p:nvPr/>
        </p:nvSpPr>
        <p:spPr>
          <a:xfrm>
            <a:off x="8101584" y="4901184"/>
            <a:ext cx="2194560" cy="134112"/>
          </a:xfrm>
          <a:prstGeom prst="rect">
            <a:avLst/>
          </a:prstGeom>
          <a:noFill/>
        </p:spPr>
        <p:txBody>
          <a:bodyPr wrap="square" anchor="t" lIns="0" rIns="0" tIns="0" bIns="0">
            <a:spAutoFit/>
          </a:bodyPr>
          <a:lstStyle/>
          <a:p>
            <a:pPr algn="l"/>
            <a:r>
              <a:rPr sz="1000" b="0" i="0">
                <a:solidFill>
                  <a:srgbClr val="111111"/>
                </a:solidFill>
                <a:latin typeface="Arial"/>
              </a:rPr>
              <a:t>Enceintes pour le salon</a:t>
            </a:r>
          </a:p>
        </p:txBody>
      </p:sp>
      <p:sp>
        <p:nvSpPr>
          <p:cNvPr id="81" name="Rectangle 80"/>
          <p:cNvSpPr/>
          <p:nvPr/>
        </p:nvSpPr>
        <p:spPr>
          <a:xfrm>
            <a:off x="8101584" y="5053584"/>
            <a:ext cx="2011680" cy="54864"/>
          </a:xfrm>
          <a:prstGeom prst="rect">
            <a:avLst/>
          </a:prstGeom>
          <a:solidFill>
            <a:srgbClr val="ECEAE5"/>
          </a:solidFill>
          <a:ln>
            <a:noFill/>
          </a:ln>
          <a:effectLst/>
        </p:spPr>
        <p:txBody>
          <a:bodyPr rtlCol="0" anchor="ctr"/>
          <a:lstStyle/>
          <a:p>
            <a:pPr algn="ctr"/>
          </a:p>
        </p:txBody>
      </p:sp>
      <p:sp>
        <p:nvSpPr>
          <p:cNvPr id="82" name="TextBox 81"/>
          <p:cNvSpPr txBox="1"/>
          <p:nvPr/>
        </p:nvSpPr>
        <p:spPr>
          <a:xfrm>
            <a:off x="10241280" y="4974336"/>
            <a:ext cx="792480" cy="182880"/>
          </a:xfrm>
          <a:prstGeom prst="rect">
            <a:avLst/>
          </a:prstGeom>
          <a:noFill/>
        </p:spPr>
        <p:txBody>
          <a:bodyPr wrap="square" anchor="ctr" lIns="0" rIns="0" tIns="0" bIns="0">
            <a:spAutoFit/>
          </a:bodyPr>
          <a:lstStyle/>
          <a:p>
            <a:pPr algn="r"/>
            <a:r>
              <a:rPr sz="1000" b="1" i="0">
                <a:solidFill>
                  <a:srgbClr val="8A93A6"/>
                </a:solidFill>
                <a:latin typeface="Arial"/>
              </a:rPr>
              <a:t>&lt; 1 %</a:t>
            </a:r>
          </a:p>
        </p:txBody>
      </p:sp>
      <p:sp>
        <p:nvSpPr>
          <p:cNvPr id="83" name="TextBox 82"/>
          <p:cNvSpPr txBox="1"/>
          <p:nvPr/>
        </p:nvSpPr>
        <p:spPr>
          <a:xfrm>
            <a:off x="8101584" y="5218176"/>
            <a:ext cx="2194560" cy="134112"/>
          </a:xfrm>
          <a:prstGeom prst="rect">
            <a:avLst/>
          </a:prstGeom>
          <a:noFill/>
        </p:spPr>
        <p:txBody>
          <a:bodyPr wrap="square" anchor="t" lIns="0" rIns="0" tIns="0" bIns="0">
            <a:spAutoFit/>
          </a:bodyPr>
          <a:lstStyle/>
          <a:p>
            <a:pPr algn="l"/>
            <a:r>
              <a:rPr sz="1000" b="0" i="0">
                <a:solidFill>
                  <a:srgbClr val="111111"/>
                </a:solidFill>
                <a:latin typeface="Arial"/>
              </a:rPr>
              <a:t>Enceintes de soirée</a:t>
            </a:r>
          </a:p>
        </p:txBody>
      </p:sp>
      <p:sp>
        <p:nvSpPr>
          <p:cNvPr id="84" name="Rectangle 83"/>
          <p:cNvSpPr/>
          <p:nvPr/>
        </p:nvSpPr>
        <p:spPr>
          <a:xfrm>
            <a:off x="8101584" y="5370576"/>
            <a:ext cx="2011680" cy="54864"/>
          </a:xfrm>
          <a:prstGeom prst="rect">
            <a:avLst/>
          </a:prstGeom>
          <a:solidFill>
            <a:srgbClr val="ECEAE5"/>
          </a:solidFill>
          <a:ln>
            <a:noFill/>
          </a:ln>
          <a:effectLst/>
        </p:spPr>
        <p:txBody>
          <a:bodyPr rtlCol="0" anchor="ctr"/>
          <a:lstStyle/>
          <a:p>
            <a:pPr algn="ctr"/>
          </a:p>
        </p:txBody>
      </p:sp>
      <p:sp>
        <p:nvSpPr>
          <p:cNvPr id="85" name="Rectangle 84"/>
          <p:cNvSpPr/>
          <p:nvPr/>
        </p:nvSpPr>
        <p:spPr>
          <a:xfrm>
            <a:off x="8101584" y="5370576"/>
            <a:ext cx="623620" cy="54864"/>
          </a:xfrm>
          <a:prstGeom prst="rect">
            <a:avLst/>
          </a:prstGeom>
          <a:solidFill>
            <a:srgbClr val="9AA3B2"/>
          </a:solidFill>
          <a:ln>
            <a:noFill/>
          </a:ln>
          <a:effectLst/>
        </p:spPr>
        <p:txBody>
          <a:bodyPr rtlCol="0" anchor="ctr"/>
          <a:lstStyle/>
          <a:p>
            <a:pPr algn="ctr"/>
          </a:p>
        </p:txBody>
      </p:sp>
      <p:sp>
        <p:nvSpPr>
          <p:cNvPr id="86" name="TextBox 85"/>
          <p:cNvSpPr txBox="1"/>
          <p:nvPr/>
        </p:nvSpPr>
        <p:spPr>
          <a:xfrm>
            <a:off x="10241280" y="5291328"/>
            <a:ext cx="792480" cy="182880"/>
          </a:xfrm>
          <a:prstGeom prst="rect">
            <a:avLst/>
          </a:prstGeom>
          <a:noFill/>
        </p:spPr>
        <p:txBody>
          <a:bodyPr wrap="square" anchor="ctr" lIns="0" rIns="0" tIns="0" bIns="0">
            <a:spAutoFit/>
          </a:bodyPr>
          <a:lstStyle/>
          <a:p>
            <a:pPr algn="r"/>
            <a:r>
              <a:rPr sz="1300" b="1" i="0">
                <a:solidFill>
                  <a:srgbClr val="111111"/>
                </a:solidFill>
                <a:latin typeface="Arial"/>
              </a:rPr>
              <a:t>31 %</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6F2"/>
          </a:solidFill>
          <a:ln>
            <a:noFill/>
          </a:ln>
          <a:effectLst/>
        </p:spPr>
        <p:txBody>
          <a:bodyPr rtlCol="0" anchor="ctr"/>
          <a:lstStyle/>
          <a:p>
            <a:pPr algn="ctr"/>
          </a:p>
        </p:txBody>
      </p:sp>
      <p:sp>
        <p:nvSpPr>
          <p:cNvPr id="3" name="TextBox 2"/>
          <p:cNvSpPr txBox="1"/>
          <p:nvPr/>
        </p:nvSpPr>
        <p:spPr>
          <a:xfrm>
            <a:off x="579120" y="426720"/>
            <a:ext cx="7315200" cy="182880"/>
          </a:xfrm>
          <a:prstGeom prst="rect">
            <a:avLst/>
          </a:prstGeom>
          <a:noFill/>
        </p:spPr>
        <p:txBody>
          <a:bodyPr wrap="square" anchor="t" lIns="0" rIns="0" tIns="0" bIns="0">
            <a:spAutoFit/>
          </a:bodyPr>
          <a:lstStyle/>
          <a:p>
            <a:pPr algn="l"/>
            <a:r>
              <a:rPr sz="1300" b="1" i="0">
                <a:solidFill>
                  <a:srgbClr val="EE6A2C"/>
                </a:solidFill>
                <a:latin typeface="Arial"/>
              </a:rPr>
              <a:t>INSIGHTS QUALITATIFS · SEPTEMBRE 2026</a:t>
            </a:r>
          </a:p>
        </p:txBody>
      </p:sp>
      <p:sp>
        <p:nvSpPr>
          <p:cNvPr id="4" name="TextBox 3"/>
          <p:cNvSpPr txBox="1"/>
          <p:nvPr/>
        </p:nvSpPr>
        <p:spPr>
          <a:xfrm>
            <a:off x="579120" y="609600"/>
            <a:ext cx="7315200" cy="487680"/>
          </a:xfrm>
          <a:prstGeom prst="rect">
            <a:avLst/>
          </a:prstGeom>
          <a:noFill/>
        </p:spPr>
        <p:txBody>
          <a:bodyPr wrap="square" anchor="t" lIns="0" rIns="0" tIns="0" bIns="0">
            <a:spAutoFit/>
          </a:bodyPr>
          <a:lstStyle/>
          <a:p>
            <a:pPr algn="l"/>
            <a:r>
              <a:rPr sz="3600" b="1" i="0">
                <a:solidFill>
                  <a:srgbClr val="111111"/>
                </a:solidFill>
                <a:latin typeface="Arial"/>
              </a:rPr>
              <a:t>Marshall</a:t>
            </a:r>
          </a:p>
        </p:txBody>
      </p:sp>
      <p:sp>
        <p:nvSpPr>
          <p:cNvPr id="5" name="TextBox 4"/>
          <p:cNvSpPr txBox="1"/>
          <p:nvPr/>
        </p:nvSpPr>
        <p:spPr>
          <a:xfrm>
            <a:off x="9144000" y="499872"/>
            <a:ext cx="1889760" cy="182880"/>
          </a:xfrm>
          <a:prstGeom prst="rect">
            <a:avLst/>
          </a:prstGeom>
          <a:noFill/>
        </p:spPr>
        <p:txBody>
          <a:bodyPr wrap="square" anchor="t" lIns="0" rIns="0" tIns="0" bIns="0">
            <a:spAutoFit/>
          </a:bodyPr>
          <a:lstStyle/>
          <a:p>
            <a:pPr algn="r"/>
            <a:r>
              <a:rPr sz="1500" b="1" i="0">
                <a:solidFill>
                  <a:srgbClr val="111111"/>
                </a:solidFill>
                <a:latin typeface="Arial"/>
              </a:rPr>
              <a:t>Lemrock</a:t>
            </a:r>
          </a:p>
        </p:txBody>
      </p:sp>
      <p:sp>
        <p:nvSpPr>
          <p:cNvPr id="6" name="TextBox 5"/>
          <p:cNvSpPr txBox="1"/>
          <p:nvPr/>
        </p:nvSpPr>
        <p:spPr>
          <a:xfrm>
            <a:off x="579120" y="1219200"/>
            <a:ext cx="9144000" cy="182880"/>
          </a:xfrm>
          <a:prstGeom prst="rect">
            <a:avLst/>
          </a:prstGeom>
          <a:noFill/>
        </p:spPr>
        <p:txBody>
          <a:bodyPr wrap="square" anchor="t" lIns="0" rIns="0" tIns="0" bIns="0">
            <a:spAutoFit/>
          </a:bodyPr>
          <a:lstStyle/>
          <a:p>
            <a:pPr algn="l"/>
            <a:r>
              <a:rPr sz="1300" b="1" i="0">
                <a:solidFill>
                  <a:srgbClr val="EE6A2C"/>
                </a:solidFill>
                <a:latin typeface="Arial"/>
              </a:rPr>
              <a:t>OBJECTIF   </a:t>
            </a:r>
            <a:r>
              <a:rPr sz="1300" b="0" i="0">
                <a:solidFill>
                  <a:srgbClr val="111111"/>
                </a:solidFill>
                <a:latin typeface="Arial"/>
              </a:rPr>
              <a:t>À définir</a:t>
            </a:r>
          </a:p>
        </p:txBody>
      </p:sp>
      <p:sp>
        <p:nvSpPr>
          <p:cNvPr id="7" name="TextBox 6"/>
          <p:cNvSpPr txBox="1"/>
          <p:nvPr/>
        </p:nvSpPr>
        <p:spPr>
          <a:xfrm>
            <a:off x="579120" y="1524000"/>
            <a:ext cx="4876800" cy="182880"/>
          </a:xfrm>
          <a:prstGeom prst="rect">
            <a:avLst/>
          </a:prstGeom>
          <a:noFill/>
        </p:spPr>
        <p:txBody>
          <a:bodyPr wrap="square" anchor="t" lIns="0" rIns="0" tIns="0" bIns="0">
            <a:spAutoFit/>
          </a:bodyPr>
          <a:lstStyle/>
          <a:p>
            <a:pPr algn="l"/>
            <a:r>
              <a:rPr sz="1400" b="1" i="0">
                <a:solidFill>
                  <a:srgbClr val="555B66"/>
                </a:solidFill>
                <a:latin typeface="Arial"/>
              </a:rPr>
              <a:t>INSIGHTS QUALITATIFS</a:t>
            </a:r>
          </a:p>
        </p:txBody>
      </p:sp>
      <p:sp>
        <p:nvSpPr>
          <p:cNvPr id="8" name="Rectangle 7"/>
          <p:cNvSpPr/>
          <p:nvPr/>
        </p:nvSpPr>
        <p:spPr>
          <a:xfrm>
            <a:off x="579120" y="1816608"/>
            <a:ext cx="5071872" cy="2121408"/>
          </a:xfrm>
          <a:prstGeom prst="rect">
            <a:avLst/>
          </a:prstGeom>
          <a:solidFill>
            <a:srgbClr val="FFFFFF"/>
          </a:solidFill>
          <a:ln>
            <a:noFill/>
          </a:ln>
          <a:effectLst/>
        </p:spPr>
        <p:txBody>
          <a:bodyPr rtlCol="0" anchor="ctr"/>
          <a:lstStyle/>
          <a:p>
            <a:pPr algn="ctr"/>
          </a:p>
        </p:txBody>
      </p:sp>
      <p:sp>
        <p:nvSpPr>
          <p:cNvPr id="9" name="TextBox 8"/>
          <p:cNvSpPr txBox="1"/>
          <p:nvPr/>
        </p:nvSpPr>
        <p:spPr>
          <a:xfrm>
            <a:off x="835152" y="2029968"/>
            <a:ext cx="487680" cy="243840"/>
          </a:xfrm>
          <a:prstGeom prst="rect">
            <a:avLst/>
          </a:prstGeom>
          <a:noFill/>
        </p:spPr>
        <p:txBody>
          <a:bodyPr wrap="square" anchor="t" lIns="0" rIns="0" tIns="0" bIns="0">
            <a:spAutoFit/>
          </a:bodyPr>
          <a:lstStyle/>
          <a:p>
            <a:pPr algn="l"/>
            <a:r>
              <a:rPr sz="2000" b="1" i="0">
                <a:solidFill>
                  <a:srgbClr val="EE6A2C"/>
                </a:solidFill>
                <a:latin typeface="Arial"/>
              </a:rPr>
              <a:t>01</a:t>
            </a:r>
          </a:p>
        </p:txBody>
      </p:sp>
      <p:sp>
        <p:nvSpPr>
          <p:cNvPr id="10" name="TextBox 9"/>
          <p:cNvSpPr txBox="1"/>
          <p:nvPr/>
        </p:nvSpPr>
        <p:spPr>
          <a:xfrm>
            <a:off x="1383792" y="2048256"/>
            <a:ext cx="4023360" cy="365760"/>
          </a:xfrm>
          <a:prstGeom prst="rect">
            <a:avLst/>
          </a:prstGeom>
          <a:noFill/>
        </p:spPr>
        <p:txBody>
          <a:bodyPr wrap="square" anchor="t" lIns="0" rIns="0" tIns="0" bIns="0">
            <a:spAutoFit/>
          </a:bodyPr>
          <a:lstStyle/>
          <a:p>
            <a:pPr algn="l"/>
            <a:r>
              <a:rPr sz="1400" b="1" i="0">
                <a:solidFill>
                  <a:srgbClr val="111111"/>
                </a:solidFill>
                <a:latin typeface="Arial"/>
              </a:rPr>
              <a:t>Mettre en avant les enceintes Bluetooth</a:t>
            </a:r>
          </a:p>
        </p:txBody>
      </p:sp>
      <p:sp>
        <p:nvSpPr>
          <p:cNvPr id="11" name="TextBox 10"/>
          <p:cNvSpPr txBox="1"/>
          <p:nvPr/>
        </p:nvSpPr>
        <p:spPr>
          <a:xfrm>
            <a:off x="835152" y="2609088"/>
            <a:ext cx="4572000" cy="731520"/>
          </a:xfrm>
          <a:prstGeom prst="rect">
            <a:avLst/>
          </a:prstGeom>
          <a:noFill/>
        </p:spPr>
        <p:txBody>
          <a:bodyPr wrap="square" anchor="t" lIns="0" rIns="0" tIns="0" bIns="0">
            <a:spAutoFit/>
          </a:bodyPr>
          <a:lstStyle/>
          <a:p>
            <a:pPr algn="l"/>
            <a:r>
              <a:rPr sz="1100" b="0" i="0">
                <a:solidFill>
                  <a:srgbClr val="555B66"/>
                </a:solidFill>
                <a:latin typeface="Arial"/>
              </a:rPr>
              <a:t>Les enceintes sans fil Bluetooth atteignent 1,28 fois le CTR moyen. L'Acton III atteint 1,79 fois et l'Emberton III 1,32 fois.</a:t>
            </a:r>
          </a:p>
        </p:txBody>
      </p:sp>
      <p:sp>
        <p:nvSpPr>
          <p:cNvPr id="12" name="TextBox 11"/>
          <p:cNvSpPr txBox="1"/>
          <p:nvPr/>
        </p:nvSpPr>
        <p:spPr>
          <a:xfrm>
            <a:off x="835152" y="3310128"/>
            <a:ext cx="4572000" cy="487680"/>
          </a:xfrm>
          <a:prstGeom prst="rect">
            <a:avLst/>
          </a:prstGeom>
          <a:noFill/>
        </p:spPr>
        <p:txBody>
          <a:bodyPr wrap="square" anchor="t" lIns="0" rIns="0" tIns="0" bIns="0">
            <a:spAutoFit/>
          </a:bodyPr>
          <a:lstStyle/>
          <a:p>
            <a:pPr algn="l"/>
            <a:r>
              <a:rPr sz="900" b="1" i="0">
                <a:solidFill>
                  <a:srgbClr val="555B66"/>
                </a:solidFill>
                <a:latin typeface="Arial"/>
              </a:rPr>
              <a:t>→  Donner plus de place aux enceintes Bluetooth dans la diffusion.</a:t>
            </a:r>
          </a:p>
        </p:txBody>
      </p:sp>
      <p:sp>
        <p:nvSpPr>
          <p:cNvPr id="13" name="Rectangle 12"/>
          <p:cNvSpPr/>
          <p:nvPr/>
        </p:nvSpPr>
        <p:spPr>
          <a:xfrm>
            <a:off x="5992368" y="1816608"/>
            <a:ext cx="5071872" cy="2121408"/>
          </a:xfrm>
          <a:prstGeom prst="rect">
            <a:avLst/>
          </a:prstGeom>
          <a:solidFill>
            <a:srgbClr val="FFFFFF"/>
          </a:solidFill>
          <a:ln>
            <a:noFill/>
          </a:ln>
          <a:effectLst/>
        </p:spPr>
        <p:txBody>
          <a:bodyPr rtlCol="0" anchor="ctr"/>
          <a:lstStyle/>
          <a:p>
            <a:pPr algn="ctr"/>
          </a:p>
        </p:txBody>
      </p:sp>
      <p:sp>
        <p:nvSpPr>
          <p:cNvPr id="14" name="TextBox 13"/>
          <p:cNvSpPr txBox="1"/>
          <p:nvPr/>
        </p:nvSpPr>
        <p:spPr>
          <a:xfrm>
            <a:off x="6248400" y="2029968"/>
            <a:ext cx="487680" cy="243840"/>
          </a:xfrm>
          <a:prstGeom prst="rect">
            <a:avLst/>
          </a:prstGeom>
          <a:noFill/>
        </p:spPr>
        <p:txBody>
          <a:bodyPr wrap="square" anchor="t" lIns="0" rIns="0" tIns="0" bIns="0">
            <a:spAutoFit/>
          </a:bodyPr>
          <a:lstStyle/>
          <a:p>
            <a:pPr algn="l"/>
            <a:r>
              <a:rPr sz="2000" b="1" i="0">
                <a:solidFill>
                  <a:srgbClr val="EE6A2C"/>
                </a:solidFill>
                <a:latin typeface="Arial"/>
              </a:rPr>
              <a:t>02</a:t>
            </a:r>
          </a:p>
        </p:txBody>
      </p:sp>
      <p:sp>
        <p:nvSpPr>
          <p:cNvPr id="15" name="TextBox 14"/>
          <p:cNvSpPr txBox="1"/>
          <p:nvPr/>
        </p:nvSpPr>
        <p:spPr>
          <a:xfrm>
            <a:off x="6797040" y="2048256"/>
            <a:ext cx="4023360" cy="365760"/>
          </a:xfrm>
          <a:prstGeom prst="rect">
            <a:avLst/>
          </a:prstGeom>
          <a:noFill/>
        </p:spPr>
        <p:txBody>
          <a:bodyPr wrap="square" anchor="t" lIns="0" rIns="0" tIns="0" bIns="0">
            <a:spAutoFit/>
          </a:bodyPr>
          <a:lstStyle/>
          <a:p>
            <a:pPr algn="l"/>
            <a:r>
              <a:rPr sz="1400" b="1" i="0">
                <a:solidFill>
                  <a:srgbClr val="111111"/>
                </a:solidFill>
                <a:latin typeface="Arial"/>
              </a:rPr>
              <a:t>Revoir les enceintes de soirée</a:t>
            </a:r>
          </a:p>
        </p:txBody>
      </p:sp>
      <p:sp>
        <p:nvSpPr>
          <p:cNvPr id="16" name="TextBox 15"/>
          <p:cNvSpPr txBox="1"/>
          <p:nvPr/>
        </p:nvSpPr>
        <p:spPr>
          <a:xfrm>
            <a:off x="6248400" y="2609088"/>
            <a:ext cx="4572000" cy="731520"/>
          </a:xfrm>
          <a:prstGeom prst="rect">
            <a:avLst/>
          </a:prstGeom>
          <a:noFill/>
        </p:spPr>
        <p:txBody>
          <a:bodyPr wrap="square" anchor="t" lIns="0" rIns="0" tIns="0" bIns="0">
            <a:spAutoFit/>
          </a:bodyPr>
          <a:lstStyle/>
          <a:p>
            <a:pPr algn="l"/>
            <a:r>
              <a:rPr sz="1100" b="0" i="0">
                <a:solidFill>
                  <a:srgbClr val="555B66"/>
                </a:solidFill>
                <a:latin typeface="Arial"/>
              </a:rPr>
              <a:t>Les enceintes sono et DJ Bromley restent à 0,63 fois la moyenne, alors qu'elles représentent 19 % de la diffusion.</a:t>
            </a:r>
          </a:p>
        </p:txBody>
      </p:sp>
      <p:sp>
        <p:nvSpPr>
          <p:cNvPr id="17" name="TextBox 16"/>
          <p:cNvSpPr txBox="1"/>
          <p:nvPr/>
        </p:nvSpPr>
        <p:spPr>
          <a:xfrm>
            <a:off x="6248400" y="3310128"/>
            <a:ext cx="4572000" cy="487680"/>
          </a:xfrm>
          <a:prstGeom prst="rect">
            <a:avLst/>
          </a:prstGeom>
          <a:noFill/>
        </p:spPr>
        <p:txBody>
          <a:bodyPr wrap="square" anchor="t" lIns="0" rIns="0" tIns="0" bIns="0">
            <a:spAutoFit/>
          </a:bodyPr>
          <a:lstStyle/>
          <a:p>
            <a:pPr algn="l"/>
            <a:r>
              <a:rPr sz="900" b="1" i="0">
                <a:solidFill>
                  <a:srgbClr val="555B66"/>
                </a:solidFill>
                <a:latin typeface="Arial"/>
              </a:rPr>
              <a:t>→  Réduire leur part ou les associer à un usage précis (fête, extérieur).</a:t>
            </a:r>
          </a:p>
        </p:txBody>
      </p:sp>
      <p:sp>
        <p:nvSpPr>
          <p:cNvPr id="18" name="Rectangle 17"/>
          <p:cNvSpPr/>
          <p:nvPr/>
        </p:nvSpPr>
        <p:spPr>
          <a:xfrm>
            <a:off x="579120" y="4133088"/>
            <a:ext cx="5071872" cy="2121408"/>
          </a:xfrm>
          <a:prstGeom prst="rect">
            <a:avLst/>
          </a:prstGeom>
          <a:solidFill>
            <a:srgbClr val="FFFFFF"/>
          </a:solidFill>
          <a:ln>
            <a:noFill/>
          </a:ln>
          <a:effectLst/>
        </p:spPr>
        <p:txBody>
          <a:bodyPr rtlCol="0" anchor="ctr"/>
          <a:lstStyle/>
          <a:p>
            <a:pPr algn="ctr"/>
          </a:p>
        </p:txBody>
      </p:sp>
      <p:sp>
        <p:nvSpPr>
          <p:cNvPr id="19" name="TextBox 18"/>
          <p:cNvSpPr txBox="1"/>
          <p:nvPr/>
        </p:nvSpPr>
        <p:spPr>
          <a:xfrm>
            <a:off x="835152" y="4346448"/>
            <a:ext cx="487680" cy="243840"/>
          </a:xfrm>
          <a:prstGeom prst="rect">
            <a:avLst/>
          </a:prstGeom>
          <a:noFill/>
        </p:spPr>
        <p:txBody>
          <a:bodyPr wrap="square" anchor="t" lIns="0" rIns="0" tIns="0" bIns="0">
            <a:spAutoFit/>
          </a:bodyPr>
          <a:lstStyle/>
          <a:p>
            <a:pPr algn="l"/>
            <a:r>
              <a:rPr sz="2000" b="1" i="0">
                <a:solidFill>
                  <a:srgbClr val="EE6A2C"/>
                </a:solidFill>
                <a:latin typeface="Arial"/>
              </a:rPr>
              <a:t>03</a:t>
            </a:r>
          </a:p>
        </p:txBody>
      </p:sp>
      <p:sp>
        <p:nvSpPr>
          <p:cNvPr id="20" name="TextBox 19"/>
          <p:cNvSpPr txBox="1"/>
          <p:nvPr/>
        </p:nvSpPr>
        <p:spPr>
          <a:xfrm>
            <a:off x="1383792" y="4364736"/>
            <a:ext cx="4023360" cy="365760"/>
          </a:xfrm>
          <a:prstGeom prst="rect">
            <a:avLst/>
          </a:prstGeom>
          <a:noFill/>
        </p:spPr>
        <p:txBody>
          <a:bodyPr wrap="square" anchor="t" lIns="0" rIns="0" tIns="0" bIns="0">
            <a:spAutoFit/>
          </a:bodyPr>
          <a:lstStyle/>
          <a:p>
            <a:pPr algn="l"/>
            <a:r>
              <a:rPr sz="1400" b="1" i="0">
                <a:solidFill>
                  <a:srgbClr val="111111"/>
                </a:solidFill>
                <a:latin typeface="Arial"/>
              </a:rPr>
              <a:t>Le prix aide à cliquer sur les casques</a:t>
            </a:r>
          </a:p>
        </p:txBody>
      </p:sp>
      <p:sp>
        <p:nvSpPr>
          <p:cNvPr id="21" name="TextBox 20"/>
          <p:cNvSpPr txBox="1"/>
          <p:nvPr/>
        </p:nvSpPr>
        <p:spPr>
          <a:xfrm>
            <a:off x="835152" y="4925568"/>
            <a:ext cx="4572000" cy="731520"/>
          </a:xfrm>
          <a:prstGeom prst="rect">
            <a:avLst/>
          </a:prstGeom>
          <a:noFill/>
        </p:spPr>
        <p:txBody>
          <a:bodyPr wrap="square" anchor="t" lIns="0" rIns="0" tIns="0" bIns="0">
            <a:spAutoFit/>
          </a:bodyPr>
          <a:lstStyle/>
          <a:p>
            <a:pPr algn="l"/>
            <a:r>
              <a:rPr sz="1100" b="0" i="0">
                <a:solidFill>
                  <a:srgbClr val="555B66"/>
                </a:solidFill>
                <a:latin typeface="Arial"/>
              </a:rPr>
              <a:t>Le casque Major V avec son prix (149,99 €) atteint 1,44 fois la moyenne. Sans prix, le même casque reste à 0,76 fois.</a:t>
            </a:r>
          </a:p>
        </p:txBody>
      </p:sp>
      <p:sp>
        <p:nvSpPr>
          <p:cNvPr id="22" name="TextBox 21"/>
          <p:cNvSpPr txBox="1"/>
          <p:nvPr/>
        </p:nvSpPr>
        <p:spPr>
          <a:xfrm>
            <a:off x="835152" y="5626608"/>
            <a:ext cx="4572000" cy="487680"/>
          </a:xfrm>
          <a:prstGeom prst="rect">
            <a:avLst/>
          </a:prstGeom>
          <a:noFill/>
        </p:spPr>
        <p:txBody>
          <a:bodyPr wrap="square" anchor="t" lIns="0" rIns="0" tIns="0" bIns="0">
            <a:spAutoFit/>
          </a:bodyPr>
          <a:lstStyle/>
          <a:p>
            <a:pPr algn="l"/>
            <a:r>
              <a:rPr sz="900" b="1" i="0">
                <a:solidFill>
                  <a:srgbClr val="555B66"/>
                </a:solidFill>
                <a:latin typeface="Arial"/>
              </a:rPr>
              <a:t>→  Afficher le prix dans les annonces casques.</a:t>
            </a:r>
          </a:p>
        </p:txBody>
      </p:sp>
      <p:sp>
        <p:nvSpPr>
          <p:cNvPr id="23" name="Rectangle 22"/>
          <p:cNvSpPr/>
          <p:nvPr/>
        </p:nvSpPr>
        <p:spPr>
          <a:xfrm>
            <a:off x="5992368" y="4133088"/>
            <a:ext cx="5071872" cy="2121408"/>
          </a:xfrm>
          <a:prstGeom prst="rect">
            <a:avLst/>
          </a:prstGeom>
          <a:solidFill>
            <a:srgbClr val="FFFFFF"/>
          </a:solidFill>
          <a:ln>
            <a:noFill/>
          </a:ln>
          <a:effectLst/>
        </p:spPr>
        <p:txBody>
          <a:bodyPr rtlCol="0" anchor="ctr"/>
          <a:lstStyle/>
          <a:p>
            <a:pPr algn="ctr"/>
          </a:p>
        </p:txBody>
      </p:sp>
      <p:sp>
        <p:nvSpPr>
          <p:cNvPr id="24" name="TextBox 23"/>
          <p:cNvSpPr txBox="1"/>
          <p:nvPr/>
        </p:nvSpPr>
        <p:spPr>
          <a:xfrm>
            <a:off x="6248400" y="4346448"/>
            <a:ext cx="487680" cy="243840"/>
          </a:xfrm>
          <a:prstGeom prst="rect">
            <a:avLst/>
          </a:prstGeom>
          <a:noFill/>
        </p:spPr>
        <p:txBody>
          <a:bodyPr wrap="square" anchor="t" lIns="0" rIns="0" tIns="0" bIns="0">
            <a:spAutoFit/>
          </a:bodyPr>
          <a:lstStyle/>
          <a:p>
            <a:pPr algn="l"/>
            <a:r>
              <a:rPr sz="2000" b="1" i="0">
                <a:solidFill>
                  <a:srgbClr val="EE6A2C"/>
                </a:solidFill>
                <a:latin typeface="Arial"/>
              </a:rPr>
              <a:t>04</a:t>
            </a:r>
          </a:p>
        </p:txBody>
      </p:sp>
      <p:sp>
        <p:nvSpPr>
          <p:cNvPr id="25" name="TextBox 24"/>
          <p:cNvSpPr txBox="1"/>
          <p:nvPr/>
        </p:nvSpPr>
        <p:spPr>
          <a:xfrm>
            <a:off x="6797040" y="4364736"/>
            <a:ext cx="4023360" cy="365760"/>
          </a:xfrm>
          <a:prstGeom prst="rect">
            <a:avLst/>
          </a:prstGeom>
          <a:noFill/>
        </p:spPr>
        <p:txBody>
          <a:bodyPr wrap="square" anchor="t" lIns="0" rIns="0" tIns="0" bIns="0">
            <a:spAutoFit/>
          </a:bodyPr>
          <a:lstStyle/>
          <a:p>
            <a:pPr algn="l"/>
            <a:r>
              <a:rPr sz="1400" b="1" i="0">
                <a:solidFill>
                  <a:srgbClr val="111111"/>
                </a:solidFill>
                <a:latin typeface="Arial"/>
              </a:rPr>
              <a:t>Les clics doublent presque</a:t>
            </a:r>
          </a:p>
        </p:txBody>
      </p:sp>
      <p:sp>
        <p:nvSpPr>
          <p:cNvPr id="26" name="TextBox 25"/>
          <p:cNvSpPr txBox="1"/>
          <p:nvPr/>
        </p:nvSpPr>
        <p:spPr>
          <a:xfrm>
            <a:off x="6248400" y="4925568"/>
            <a:ext cx="4572000" cy="731520"/>
          </a:xfrm>
          <a:prstGeom prst="rect">
            <a:avLst/>
          </a:prstGeom>
          <a:noFill/>
        </p:spPr>
        <p:txBody>
          <a:bodyPr wrap="square" anchor="t" lIns="0" rIns="0" tIns="0" bIns="0">
            <a:spAutoFit/>
          </a:bodyPr>
          <a:lstStyle/>
          <a:p>
            <a:pPr algn="l"/>
            <a:r>
              <a:rPr sz="1100" b="0" i="0">
                <a:solidFill>
                  <a:srgbClr val="555B66"/>
                </a:solidFill>
                <a:latin typeface="Arial"/>
              </a:rPr>
              <a:t>Les clics passent de 991 à 1 862 (+88 %). Le CTR passe de 0,23 % à 0,37 %.</a:t>
            </a:r>
          </a:p>
        </p:txBody>
      </p:sp>
      <p:sp>
        <p:nvSpPr>
          <p:cNvPr id="27" name="TextBox 26"/>
          <p:cNvSpPr txBox="1"/>
          <p:nvPr/>
        </p:nvSpPr>
        <p:spPr>
          <a:xfrm>
            <a:off x="6248400" y="5626608"/>
            <a:ext cx="4572000" cy="487680"/>
          </a:xfrm>
          <a:prstGeom prst="rect">
            <a:avLst/>
          </a:prstGeom>
          <a:noFill/>
        </p:spPr>
        <p:txBody>
          <a:bodyPr wrap="square" anchor="t" lIns="0" rIns="0" tIns="0" bIns="0">
            <a:spAutoFit/>
          </a:bodyPr>
          <a:lstStyle/>
          <a:p>
            <a:pPr algn="l"/>
            <a:r>
              <a:rPr sz="900" b="1" i="0">
                <a:solidFill>
                  <a:srgbClr val="555B66"/>
                </a:solidFill>
                <a:latin typeface="Arial"/>
              </a:rPr>
              <a:t>→  Concentrer le budget sur les enceintes Bluetooth et les casques avec prix.</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6F2"/>
          </a:solidFill>
          <a:ln>
            <a:noFill/>
          </a:ln>
          <a:effectLst/>
        </p:spPr>
        <p:txBody>
          <a:bodyPr rtlCol="0" anchor="ctr"/>
          <a:lstStyle/>
          <a:p>
            <a:pPr algn="ctr"/>
          </a:p>
        </p:txBody>
      </p:sp>
      <p:sp>
        <p:nvSpPr>
          <p:cNvPr id="3" name="TextBox 2"/>
          <p:cNvSpPr txBox="1"/>
          <p:nvPr/>
        </p:nvSpPr>
        <p:spPr>
          <a:xfrm>
            <a:off x="530352" y="487680"/>
            <a:ext cx="7315200" cy="182880"/>
          </a:xfrm>
          <a:prstGeom prst="rect">
            <a:avLst/>
          </a:prstGeom>
          <a:noFill/>
        </p:spPr>
        <p:txBody>
          <a:bodyPr wrap="square" anchor="t" lIns="0" rIns="0" tIns="0" bIns="0">
            <a:spAutoFit/>
          </a:bodyPr>
          <a:lstStyle/>
          <a:p>
            <a:pPr algn="l"/>
            <a:r>
              <a:rPr sz="1300" b="1" i="0">
                <a:solidFill>
                  <a:srgbClr val="EE6A2C"/>
                </a:solidFill>
                <a:latin typeface="Arial"/>
              </a:rPr>
              <a:t>RAPPORT DE PERFORMANCE · 01/09/2026 → 30/09/2026</a:t>
            </a:r>
          </a:p>
        </p:txBody>
      </p:sp>
      <p:sp>
        <p:nvSpPr>
          <p:cNvPr id="4" name="TextBox 3"/>
          <p:cNvSpPr txBox="1"/>
          <p:nvPr/>
        </p:nvSpPr>
        <p:spPr>
          <a:xfrm>
            <a:off x="530352" y="640080"/>
            <a:ext cx="7315200" cy="487680"/>
          </a:xfrm>
          <a:prstGeom prst="rect">
            <a:avLst/>
          </a:prstGeom>
          <a:noFill/>
        </p:spPr>
        <p:txBody>
          <a:bodyPr wrap="square" anchor="t" lIns="0" rIns="0" tIns="0" bIns="0">
            <a:spAutoFit/>
          </a:bodyPr>
          <a:lstStyle/>
          <a:p>
            <a:pPr algn="l"/>
            <a:r>
              <a:rPr sz="3600" b="1" i="0">
                <a:solidFill>
                  <a:srgbClr val="111111"/>
                </a:solidFill>
                <a:latin typeface="Arial"/>
              </a:rPr>
              <a:t>Monoprix Mode</a:t>
            </a:r>
          </a:p>
        </p:txBody>
      </p:sp>
      <p:sp>
        <p:nvSpPr>
          <p:cNvPr id="5" name="TextBox 4"/>
          <p:cNvSpPr txBox="1"/>
          <p:nvPr/>
        </p:nvSpPr>
        <p:spPr>
          <a:xfrm>
            <a:off x="7924800" y="591312"/>
            <a:ext cx="3304032" cy="152400"/>
          </a:xfrm>
          <a:prstGeom prst="rect">
            <a:avLst/>
          </a:prstGeom>
          <a:noFill/>
        </p:spPr>
        <p:txBody>
          <a:bodyPr wrap="square" anchor="t" lIns="0" rIns="0" tIns="0" bIns="0">
            <a:spAutoFit/>
          </a:bodyPr>
          <a:lstStyle/>
          <a:p>
            <a:pPr algn="r"/>
            <a:r>
              <a:rPr sz="1200" b="1" i="0">
                <a:solidFill>
                  <a:srgbClr val="8A93A6"/>
                </a:solidFill>
                <a:latin typeface="Arial"/>
              </a:rPr>
              <a:t>COMPARAISON</a:t>
            </a:r>
          </a:p>
        </p:txBody>
      </p:sp>
      <p:sp>
        <p:nvSpPr>
          <p:cNvPr id="6" name="TextBox 5"/>
          <p:cNvSpPr txBox="1"/>
          <p:nvPr/>
        </p:nvSpPr>
        <p:spPr>
          <a:xfrm>
            <a:off x="7924800" y="780288"/>
            <a:ext cx="3304032" cy="182880"/>
          </a:xfrm>
          <a:prstGeom prst="rect">
            <a:avLst/>
          </a:prstGeom>
          <a:noFill/>
        </p:spPr>
        <p:txBody>
          <a:bodyPr wrap="square" anchor="t" lIns="0" rIns="0" tIns="0" bIns="0">
            <a:spAutoFit/>
          </a:bodyPr>
          <a:lstStyle/>
          <a:p>
            <a:pPr algn="r"/>
            <a:r>
              <a:rPr sz="1500" b="1" i="0">
                <a:solidFill>
                  <a:srgbClr val="111111"/>
                </a:solidFill>
                <a:latin typeface="Arial"/>
              </a:rPr>
              <a:t>vs 01/08/2026 → 31/08/2026</a:t>
            </a:r>
          </a:p>
        </p:txBody>
      </p:sp>
      <p:sp>
        <p:nvSpPr>
          <p:cNvPr id="7" name="TextBox 6"/>
          <p:cNvSpPr txBox="1"/>
          <p:nvPr/>
        </p:nvSpPr>
        <p:spPr>
          <a:xfrm>
            <a:off x="530352" y="1280160"/>
            <a:ext cx="2438400" cy="182880"/>
          </a:xfrm>
          <a:prstGeom prst="rect">
            <a:avLst/>
          </a:prstGeom>
          <a:noFill/>
        </p:spPr>
        <p:txBody>
          <a:bodyPr wrap="square" anchor="t" lIns="0" rIns="0" tIns="0" bIns="0">
            <a:spAutoFit/>
          </a:bodyPr>
          <a:lstStyle/>
          <a:p>
            <a:pPr algn="l"/>
            <a:r>
              <a:rPr sz="1400" b="1" i="0">
                <a:solidFill>
                  <a:srgbClr val="EE6A2C"/>
                </a:solidFill>
                <a:latin typeface="Arial"/>
              </a:rPr>
              <a:t>DIFFUSION</a:t>
            </a:r>
          </a:p>
        </p:txBody>
      </p:sp>
      <p:sp>
        <p:nvSpPr>
          <p:cNvPr id="8" name="TextBox 7"/>
          <p:cNvSpPr txBox="1"/>
          <p:nvPr/>
        </p:nvSpPr>
        <p:spPr>
          <a:xfrm>
            <a:off x="2389632" y="1280160"/>
            <a:ext cx="2438400" cy="182880"/>
          </a:xfrm>
          <a:prstGeom prst="rect">
            <a:avLst/>
          </a:prstGeom>
          <a:noFill/>
        </p:spPr>
        <p:txBody>
          <a:bodyPr wrap="square" anchor="t" lIns="0" rIns="0" tIns="0" bIns="0">
            <a:spAutoFit/>
          </a:bodyPr>
          <a:lstStyle/>
          <a:p>
            <a:pPr algn="l"/>
            <a:r>
              <a:rPr sz="1400" b="1" i="0">
                <a:solidFill>
                  <a:srgbClr val="EE6A2C"/>
                </a:solidFill>
                <a:latin typeface="Arial"/>
              </a:rPr>
              <a:t>ENGAGEMENT</a:t>
            </a:r>
          </a:p>
        </p:txBody>
      </p:sp>
      <p:sp>
        <p:nvSpPr>
          <p:cNvPr id="9" name="TextBox 8"/>
          <p:cNvSpPr txBox="1"/>
          <p:nvPr/>
        </p:nvSpPr>
        <p:spPr>
          <a:xfrm>
            <a:off x="6108192" y="1280160"/>
            <a:ext cx="2438400" cy="182880"/>
          </a:xfrm>
          <a:prstGeom prst="rect">
            <a:avLst/>
          </a:prstGeom>
          <a:noFill/>
        </p:spPr>
        <p:txBody>
          <a:bodyPr wrap="square" anchor="t" lIns="0" rIns="0" tIns="0" bIns="0">
            <a:spAutoFit/>
          </a:bodyPr>
          <a:lstStyle/>
          <a:p>
            <a:pPr algn="l"/>
            <a:r>
              <a:rPr sz="1400" b="1" i="0">
                <a:solidFill>
                  <a:srgbClr val="EE6A2C"/>
                </a:solidFill>
                <a:latin typeface="Arial"/>
              </a:rPr>
              <a:t>CONVERSION</a:t>
            </a:r>
          </a:p>
        </p:txBody>
      </p:sp>
      <p:sp>
        <p:nvSpPr>
          <p:cNvPr id="10" name="Rectangle 9"/>
          <p:cNvSpPr/>
          <p:nvPr/>
        </p:nvSpPr>
        <p:spPr>
          <a:xfrm>
            <a:off x="530352" y="1536192"/>
            <a:ext cx="1389888" cy="1127760"/>
          </a:xfrm>
          <a:prstGeom prst="rect">
            <a:avLst/>
          </a:prstGeom>
          <a:solidFill>
            <a:srgbClr val="FFFFFF"/>
          </a:solidFill>
          <a:ln>
            <a:noFill/>
          </a:ln>
          <a:effectLst/>
        </p:spPr>
        <p:txBody>
          <a:bodyPr rtlCol="0" anchor="ctr"/>
          <a:lstStyle/>
          <a:p>
            <a:pPr algn="ctr"/>
          </a:p>
        </p:txBody>
      </p:sp>
      <p:sp>
        <p:nvSpPr>
          <p:cNvPr id="11" name="Rectangle 10"/>
          <p:cNvSpPr/>
          <p:nvPr/>
        </p:nvSpPr>
        <p:spPr>
          <a:xfrm>
            <a:off x="530352" y="1536192"/>
            <a:ext cx="24384" cy="1127760"/>
          </a:xfrm>
          <a:prstGeom prst="rect">
            <a:avLst/>
          </a:prstGeom>
          <a:solidFill>
            <a:srgbClr val="EE6A2C"/>
          </a:solidFill>
          <a:ln>
            <a:noFill/>
          </a:ln>
          <a:effectLst/>
        </p:spPr>
        <p:txBody>
          <a:bodyPr rtlCol="0" anchor="ctr"/>
          <a:lstStyle/>
          <a:p>
            <a:pPr algn="ctr"/>
          </a:p>
        </p:txBody>
      </p:sp>
      <p:sp>
        <p:nvSpPr>
          <p:cNvPr id="12" name="TextBox 11"/>
          <p:cNvSpPr txBox="1"/>
          <p:nvPr/>
        </p:nvSpPr>
        <p:spPr>
          <a:xfrm>
            <a:off x="664464" y="1615440"/>
            <a:ext cx="1219200" cy="121920"/>
          </a:xfrm>
          <a:prstGeom prst="rect">
            <a:avLst/>
          </a:prstGeom>
          <a:noFill/>
        </p:spPr>
        <p:txBody>
          <a:bodyPr wrap="square" anchor="t" lIns="0" rIns="0" tIns="0" bIns="0">
            <a:spAutoFit/>
          </a:bodyPr>
          <a:lstStyle/>
          <a:p>
            <a:pPr algn="l"/>
            <a:r>
              <a:rPr sz="1000" b="1" i="0">
                <a:solidFill>
                  <a:srgbClr val="555B66"/>
                </a:solidFill>
                <a:latin typeface="Arial"/>
              </a:rPr>
              <a:t>IMPRESSIONS</a:t>
            </a:r>
          </a:p>
        </p:txBody>
      </p:sp>
      <p:sp>
        <p:nvSpPr>
          <p:cNvPr id="13" name="TextBox 12"/>
          <p:cNvSpPr txBox="1"/>
          <p:nvPr/>
        </p:nvSpPr>
        <p:spPr>
          <a:xfrm>
            <a:off x="664464" y="1889760"/>
            <a:ext cx="1219200" cy="274320"/>
          </a:xfrm>
          <a:prstGeom prst="rect">
            <a:avLst/>
          </a:prstGeom>
          <a:noFill/>
        </p:spPr>
        <p:txBody>
          <a:bodyPr wrap="square" anchor="t" lIns="0" rIns="0" tIns="0" bIns="0">
            <a:spAutoFit/>
          </a:bodyPr>
          <a:lstStyle/>
          <a:p>
            <a:pPr algn="l"/>
            <a:r>
              <a:rPr sz="2200" b="1" i="0">
                <a:solidFill>
                  <a:srgbClr val="111111"/>
                </a:solidFill>
                <a:latin typeface="Arial"/>
              </a:rPr>
              <a:t>752 119</a:t>
            </a:r>
          </a:p>
        </p:txBody>
      </p:sp>
      <p:sp>
        <p:nvSpPr>
          <p:cNvPr id="14" name="TextBox 13"/>
          <p:cNvSpPr txBox="1"/>
          <p:nvPr/>
        </p:nvSpPr>
        <p:spPr>
          <a:xfrm>
            <a:off x="664464" y="2243328"/>
            <a:ext cx="1219200" cy="109728"/>
          </a:xfrm>
          <a:prstGeom prst="rect">
            <a:avLst/>
          </a:prstGeom>
          <a:noFill/>
        </p:spPr>
        <p:txBody>
          <a:bodyPr wrap="square" anchor="t" lIns="0" rIns="0" tIns="0" bIns="0">
            <a:spAutoFit/>
          </a:bodyPr>
          <a:lstStyle/>
          <a:p>
            <a:pPr algn="l"/>
            <a:r>
              <a:rPr sz="1000" b="1" i="0">
                <a:solidFill>
                  <a:srgbClr val="B04837"/>
                </a:solidFill>
                <a:latin typeface="Arial"/>
              </a:rPr>
              <a:t>▼ −52 %</a:t>
            </a:r>
          </a:p>
        </p:txBody>
      </p:sp>
      <p:sp>
        <p:nvSpPr>
          <p:cNvPr id="15" name="TextBox 14"/>
          <p:cNvSpPr txBox="1"/>
          <p:nvPr/>
        </p:nvSpPr>
        <p:spPr>
          <a:xfrm>
            <a:off x="664464" y="2499360"/>
            <a:ext cx="1219200" cy="91440"/>
          </a:xfrm>
          <a:prstGeom prst="rect">
            <a:avLst/>
          </a:prstGeom>
          <a:noFill/>
        </p:spPr>
        <p:txBody>
          <a:bodyPr wrap="square" anchor="t" lIns="0" rIns="0" tIns="0" bIns="0">
            <a:spAutoFit/>
          </a:bodyPr>
          <a:lstStyle/>
          <a:p>
            <a:pPr algn="l"/>
            <a:r>
              <a:rPr sz="800" b="0" i="1">
                <a:solidFill>
                  <a:srgbClr val="555B66"/>
                </a:solidFill>
                <a:latin typeface="Arial"/>
              </a:rPr>
              <a:t>YTD 9 956 850</a:t>
            </a:r>
          </a:p>
        </p:txBody>
      </p:sp>
      <p:sp>
        <p:nvSpPr>
          <p:cNvPr id="16" name="Rectangle 15"/>
          <p:cNvSpPr/>
          <p:nvPr/>
        </p:nvSpPr>
        <p:spPr>
          <a:xfrm>
            <a:off x="2389632" y="1536192"/>
            <a:ext cx="1389888" cy="1127760"/>
          </a:xfrm>
          <a:prstGeom prst="rect">
            <a:avLst/>
          </a:prstGeom>
          <a:solidFill>
            <a:srgbClr val="FFFFFF"/>
          </a:solidFill>
          <a:ln>
            <a:noFill/>
          </a:ln>
          <a:effectLst/>
        </p:spPr>
        <p:txBody>
          <a:bodyPr rtlCol="0" anchor="ctr"/>
          <a:lstStyle/>
          <a:p>
            <a:pPr algn="ctr"/>
          </a:p>
        </p:txBody>
      </p:sp>
      <p:sp>
        <p:nvSpPr>
          <p:cNvPr id="17" name="Rectangle 16"/>
          <p:cNvSpPr/>
          <p:nvPr/>
        </p:nvSpPr>
        <p:spPr>
          <a:xfrm>
            <a:off x="2389632" y="1536192"/>
            <a:ext cx="24384" cy="1127760"/>
          </a:xfrm>
          <a:prstGeom prst="rect">
            <a:avLst/>
          </a:prstGeom>
          <a:solidFill>
            <a:srgbClr val="EE6A2C"/>
          </a:solidFill>
          <a:ln>
            <a:noFill/>
          </a:ln>
          <a:effectLst/>
        </p:spPr>
        <p:txBody>
          <a:bodyPr rtlCol="0" anchor="ctr"/>
          <a:lstStyle/>
          <a:p>
            <a:pPr algn="ctr"/>
          </a:p>
        </p:txBody>
      </p:sp>
      <p:sp>
        <p:nvSpPr>
          <p:cNvPr id="18" name="TextBox 17"/>
          <p:cNvSpPr txBox="1"/>
          <p:nvPr/>
        </p:nvSpPr>
        <p:spPr>
          <a:xfrm>
            <a:off x="2523744" y="1615440"/>
            <a:ext cx="1219200" cy="121920"/>
          </a:xfrm>
          <a:prstGeom prst="rect">
            <a:avLst/>
          </a:prstGeom>
          <a:noFill/>
        </p:spPr>
        <p:txBody>
          <a:bodyPr wrap="square" anchor="t" lIns="0" rIns="0" tIns="0" bIns="0">
            <a:spAutoFit/>
          </a:bodyPr>
          <a:lstStyle/>
          <a:p>
            <a:pPr algn="l"/>
            <a:r>
              <a:rPr sz="1000" b="1" i="0">
                <a:solidFill>
                  <a:srgbClr val="555B66"/>
                </a:solidFill>
                <a:latin typeface="Arial"/>
              </a:rPr>
              <a:t>CLICS</a:t>
            </a:r>
          </a:p>
        </p:txBody>
      </p:sp>
      <p:sp>
        <p:nvSpPr>
          <p:cNvPr id="19" name="TextBox 18"/>
          <p:cNvSpPr txBox="1"/>
          <p:nvPr/>
        </p:nvSpPr>
        <p:spPr>
          <a:xfrm>
            <a:off x="2523744" y="1889760"/>
            <a:ext cx="1219200" cy="274320"/>
          </a:xfrm>
          <a:prstGeom prst="rect">
            <a:avLst/>
          </a:prstGeom>
          <a:noFill/>
        </p:spPr>
        <p:txBody>
          <a:bodyPr wrap="square" anchor="t" lIns="0" rIns="0" tIns="0" bIns="0">
            <a:spAutoFit/>
          </a:bodyPr>
          <a:lstStyle/>
          <a:p>
            <a:pPr algn="l"/>
            <a:r>
              <a:rPr sz="2200" b="1" i="0">
                <a:solidFill>
                  <a:srgbClr val="111111"/>
                </a:solidFill>
                <a:latin typeface="Arial"/>
              </a:rPr>
              <a:t>3 608</a:t>
            </a:r>
          </a:p>
        </p:txBody>
      </p:sp>
      <p:sp>
        <p:nvSpPr>
          <p:cNvPr id="20" name="TextBox 19"/>
          <p:cNvSpPr txBox="1"/>
          <p:nvPr/>
        </p:nvSpPr>
        <p:spPr>
          <a:xfrm>
            <a:off x="2523744" y="2243328"/>
            <a:ext cx="1219200" cy="109728"/>
          </a:xfrm>
          <a:prstGeom prst="rect">
            <a:avLst/>
          </a:prstGeom>
          <a:noFill/>
        </p:spPr>
        <p:txBody>
          <a:bodyPr wrap="square" anchor="t" lIns="0" rIns="0" tIns="0" bIns="0">
            <a:spAutoFit/>
          </a:bodyPr>
          <a:lstStyle/>
          <a:p>
            <a:pPr algn="l"/>
            <a:r>
              <a:rPr sz="1000" b="1" i="0">
                <a:solidFill>
                  <a:srgbClr val="1E7B34"/>
                </a:solidFill>
                <a:latin typeface="Arial"/>
              </a:rPr>
              <a:t>▲ +24 %</a:t>
            </a:r>
          </a:p>
        </p:txBody>
      </p:sp>
      <p:sp>
        <p:nvSpPr>
          <p:cNvPr id="21" name="TextBox 20"/>
          <p:cNvSpPr txBox="1"/>
          <p:nvPr/>
        </p:nvSpPr>
        <p:spPr>
          <a:xfrm>
            <a:off x="2523744" y="2499360"/>
            <a:ext cx="1219200" cy="91440"/>
          </a:xfrm>
          <a:prstGeom prst="rect">
            <a:avLst/>
          </a:prstGeom>
          <a:noFill/>
        </p:spPr>
        <p:txBody>
          <a:bodyPr wrap="square" anchor="t" lIns="0" rIns="0" tIns="0" bIns="0">
            <a:spAutoFit/>
          </a:bodyPr>
          <a:lstStyle/>
          <a:p>
            <a:pPr algn="l"/>
            <a:r>
              <a:rPr sz="800" b="0" i="1">
                <a:solidFill>
                  <a:srgbClr val="555B66"/>
                </a:solidFill>
                <a:latin typeface="Arial"/>
              </a:rPr>
              <a:t>YTD 19 420</a:t>
            </a:r>
          </a:p>
        </p:txBody>
      </p:sp>
      <p:sp>
        <p:nvSpPr>
          <p:cNvPr id="22" name="Rectangle 21"/>
          <p:cNvSpPr/>
          <p:nvPr/>
        </p:nvSpPr>
        <p:spPr>
          <a:xfrm>
            <a:off x="4248912" y="1536192"/>
            <a:ext cx="1389888" cy="1127760"/>
          </a:xfrm>
          <a:prstGeom prst="rect">
            <a:avLst/>
          </a:prstGeom>
          <a:solidFill>
            <a:srgbClr val="FFFFFF"/>
          </a:solidFill>
          <a:ln>
            <a:noFill/>
          </a:ln>
          <a:effectLst/>
        </p:spPr>
        <p:txBody>
          <a:bodyPr rtlCol="0" anchor="ctr"/>
          <a:lstStyle/>
          <a:p>
            <a:pPr algn="ctr"/>
          </a:p>
        </p:txBody>
      </p:sp>
      <p:sp>
        <p:nvSpPr>
          <p:cNvPr id="23" name="Rectangle 22"/>
          <p:cNvSpPr/>
          <p:nvPr/>
        </p:nvSpPr>
        <p:spPr>
          <a:xfrm>
            <a:off x="4248912" y="1536192"/>
            <a:ext cx="24384" cy="1127760"/>
          </a:xfrm>
          <a:prstGeom prst="rect">
            <a:avLst/>
          </a:prstGeom>
          <a:solidFill>
            <a:srgbClr val="EE6A2C"/>
          </a:solidFill>
          <a:ln>
            <a:noFill/>
          </a:ln>
          <a:effectLst/>
        </p:spPr>
        <p:txBody>
          <a:bodyPr rtlCol="0" anchor="ctr"/>
          <a:lstStyle/>
          <a:p>
            <a:pPr algn="ctr"/>
          </a:p>
        </p:txBody>
      </p:sp>
      <p:sp>
        <p:nvSpPr>
          <p:cNvPr id="24" name="TextBox 23"/>
          <p:cNvSpPr txBox="1"/>
          <p:nvPr/>
        </p:nvSpPr>
        <p:spPr>
          <a:xfrm>
            <a:off x="4383024" y="1615440"/>
            <a:ext cx="1219200" cy="121920"/>
          </a:xfrm>
          <a:prstGeom prst="rect">
            <a:avLst/>
          </a:prstGeom>
          <a:noFill/>
        </p:spPr>
        <p:txBody>
          <a:bodyPr wrap="square" anchor="t" lIns="0" rIns="0" tIns="0" bIns="0">
            <a:spAutoFit/>
          </a:bodyPr>
          <a:lstStyle/>
          <a:p>
            <a:pPr algn="l"/>
            <a:r>
              <a:rPr sz="1000" b="1" i="0">
                <a:solidFill>
                  <a:srgbClr val="555B66"/>
                </a:solidFill>
                <a:latin typeface="Arial"/>
              </a:rPr>
              <a:t>CTR</a:t>
            </a:r>
          </a:p>
        </p:txBody>
      </p:sp>
      <p:sp>
        <p:nvSpPr>
          <p:cNvPr id="25" name="TextBox 24"/>
          <p:cNvSpPr txBox="1"/>
          <p:nvPr/>
        </p:nvSpPr>
        <p:spPr>
          <a:xfrm>
            <a:off x="4383024" y="1889760"/>
            <a:ext cx="1219200" cy="274320"/>
          </a:xfrm>
          <a:prstGeom prst="rect">
            <a:avLst/>
          </a:prstGeom>
          <a:noFill/>
        </p:spPr>
        <p:txBody>
          <a:bodyPr wrap="square" anchor="t" lIns="0" rIns="0" tIns="0" bIns="0">
            <a:spAutoFit/>
          </a:bodyPr>
          <a:lstStyle/>
          <a:p>
            <a:pPr algn="l"/>
            <a:r>
              <a:rPr sz="2200" b="1" i="0">
                <a:solidFill>
                  <a:srgbClr val="111111"/>
                </a:solidFill>
                <a:latin typeface="Arial"/>
              </a:rPr>
              <a:t>0,48 %</a:t>
            </a:r>
          </a:p>
        </p:txBody>
      </p:sp>
      <p:sp>
        <p:nvSpPr>
          <p:cNvPr id="26" name="TextBox 25"/>
          <p:cNvSpPr txBox="1"/>
          <p:nvPr/>
        </p:nvSpPr>
        <p:spPr>
          <a:xfrm>
            <a:off x="4383024" y="2243328"/>
            <a:ext cx="1219200" cy="109728"/>
          </a:xfrm>
          <a:prstGeom prst="rect">
            <a:avLst/>
          </a:prstGeom>
          <a:noFill/>
        </p:spPr>
        <p:txBody>
          <a:bodyPr wrap="square" anchor="t" lIns="0" rIns="0" tIns="0" bIns="0">
            <a:spAutoFit/>
          </a:bodyPr>
          <a:lstStyle/>
          <a:p>
            <a:pPr algn="l"/>
            <a:r>
              <a:rPr sz="1000" b="1" i="0">
                <a:solidFill>
                  <a:srgbClr val="1E7B34"/>
                </a:solidFill>
                <a:latin typeface="Arial"/>
              </a:rPr>
              <a:t>▲ +0,29 pt</a:t>
            </a:r>
          </a:p>
        </p:txBody>
      </p:sp>
      <p:sp>
        <p:nvSpPr>
          <p:cNvPr id="27" name="TextBox 26"/>
          <p:cNvSpPr txBox="1"/>
          <p:nvPr/>
        </p:nvSpPr>
        <p:spPr>
          <a:xfrm>
            <a:off x="4383024" y="2499360"/>
            <a:ext cx="1219200" cy="91440"/>
          </a:xfrm>
          <a:prstGeom prst="rect">
            <a:avLst/>
          </a:prstGeom>
          <a:noFill/>
        </p:spPr>
        <p:txBody>
          <a:bodyPr wrap="square" anchor="t" lIns="0" rIns="0" tIns="0" bIns="0">
            <a:spAutoFit/>
          </a:bodyPr>
          <a:lstStyle/>
          <a:p>
            <a:pPr algn="l"/>
            <a:r>
              <a:rPr sz="800" b="0" i="1">
                <a:solidFill>
                  <a:srgbClr val="555B66"/>
                </a:solidFill>
                <a:latin typeface="Arial"/>
              </a:rPr>
              <a:t>YTD 0,20 %</a:t>
            </a:r>
          </a:p>
        </p:txBody>
      </p:sp>
      <p:sp>
        <p:nvSpPr>
          <p:cNvPr id="28" name="Rectangle 27"/>
          <p:cNvSpPr/>
          <p:nvPr/>
        </p:nvSpPr>
        <p:spPr>
          <a:xfrm>
            <a:off x="6108192" y="1536192"/>
            <a:ext cx="1389888" cy="1127760"/>
          </a:xfrm>
          <a:prstGeom prst="rect">
            <a:avLst/>
          </a:prstGeom>
          <a:solidFill>
            <a:srgbClr val="F1EFEB"/>
          </a:solidFill>
          <a:ln>
            <a:noFill/>
          </a:ln>
          <a:effectLst/>
        </p:spPr>
        <p:txBody>
          <a:bodyPr rtlCol="0" anchor="ctr"/>
          <a:lstStyle/>
          <a:p>
            <a:pPr algn="ctr"/>
          </a:p>
        </p:txBody>
      </p:sp>
      <p:sp>
        <p:nvSpPr>
          <p:cNvPr id="29" name="Rounded Rectangle 28"/>
          <p:cNvSpPr/>
          <p:nvPr/>
        </p:nvSpPr>
        <p:spPr>
          <a:xfrm>
            <a:off x="6827520" y="1450848"/>
            <a:ext cx="609600" cy="170688"/>
          </a:xfrm>
          <a:prstGeom prst="roundRect">
            <a:avLst>
              <a:gd name="adj" fmla="val 50000"/>
            </a:avLst>
          </a:prstGeom>
          <a:solidFill>
            <a:srgbClr val="D9D6D1"/>
          </a:solidFill>
          <a:ln>
            <a:noFill/>
          </a:ln>
          <a:effectLst/>
        </p:spPr>
        <p:txBody>
          <a:bodyPr rtlCol="0" anchor="ctr"/>
          <a:lstStyle/>
          <a:p>
            <a:pPr algn="ctr"/>
          </a:p>
        </p:txBody>
      </p:sp>
      <p:sp>
        <p:nvSpPr>
          <p:cNvPr id="30" name="TextBox 29"/>
          <p:cNvSpPr txBox="1"/>
          <p:nvPr/>
        </p:nvSpPr>
        <p:spPr>
          <a:xfrm>
            <a:off x="6827520" y="1450848"/>
            <a:ext cx="609600" cy="170688"/>
          </a:xfrm>
          <a:prstGeom prst="rect">
            <a:avLst/>
          </a:prstGeom>
          <a:noFill/>
        </p:spPr>
        <p:txBody>
          <a:bodyPr wrap="square" anchor="ctr" lIns="0" rIns="0" tIns="0" bIns="0">
            <a:spAutoFit/>
          </a:bodyPr>
          <a:lstStyle/>
          <a:p>
            <a:pPr algn="ctr"/>
            <a:r>
              <a:rPr sz="800" b="1" i="0">
                <a:solidFill>
                  <a:srgbClr val="555B66"/>
                </a:solidFill>
                <a:latin typeface="Arial"/>
              </a:rPr>
              <a:t>INDICATIF</a:t>
            </a:r>
          </a:p>
        </p:txBody>
      </p:sp>
      <p:sp>
        <p:nvSpPr>
          <p:cNvPr id="31" name="TextBox 30"/>
          <p:cNvSpPr txBox="1"/>
          <p:nvPr/>
        </p:nvSpPr>
        <p:spPr>
          <a:xfrm>
            <a:off x="6242304" y="1706880"/>
            <a:ext cx="1219200" cy="121920"/>
          </a:xfrm>
          <a:prstGeom prst="rect">
            <a:avLst/>
          </a:prstGeom>
          <a:noFill/>
        </p:spPr>
        <p:txBody>
          <a:bodyPr wrap="square" anchor="t" lIns="0" rIns="0" tIns="0" bIns="0">
            <a:spAutoFit/>
          </a:bodyPr>
          <a:lstStyle/>
          <a:p>
            <a:pPr algn="l"/>
            <a:r>
              <a:rPr sz="1000" b="1" i="0">
                <a:solidFill>
                  <a:srgbClr val="8A93A6"/>
                </a:solidFill>
                <a:latin typeface="Arial"/>
              </a:rPr>
              <a:t>CONVERSIONS</a:t>
            </a:r>
          </a:p>
        </p:txBody>
      </p:sp>
      <p:sp>
        <p:nvSpPr>
          <p:cNvPr id="32" name="TextBox 31"/>
          <p:cNvSpPr txBox="1"/>
          <p:nvPr/>
        </p:nvSpPr>
        <p:spPr>
          <a:xfrm>
            <a:off x="6242304" y="1889760"/>
            <a:ext cx="1219200" cy="274320"/>
          </a:xfrm>
          <a:prstGeom prst="rect">
            <a:avLst/>
          </a:prstGeom>
          <a:noFill/>
        </p:spPr>
        <p:txBody>
          <a:bodyPr wrap="square" anchor="t" lIns="0" rIns="0" tIns="0" bIns="0">
            <a:spAutoFit/>
          </a:bodyPr>
          <a:lstStyle/>
          <a:p>
            <a:pPr algn="l"/>
            <a:r>
              <a:rPr sz="2200" b="1" i="0">
                <a:solidFill>
                  <a:srgbClr val="8A93A6"/>
                </a:solidFill>
                <a:latin typeface="Arial"/>
              </a:rPr>
              <a:t>0</a:t>
            </a:r>
          </a:p>
        </p:txBody>
      </p:sp>
      <p:sp>
        <p:nvSpPr>
          <p:cNvPr id="33" name="TextBox 32"/>
          <p:cNvSpPr txBox="1"/>
          <p:nvPr/>
        </p:nvSpPr>
        <p:spPr>
          <a:xfrm>
            <a:off x="6242304" y="2243328"/>
            <a:ext cx="1219200" cy="109728"/>
          </a:xfrm>
          <a:prstGeom prst="rect">
            <a:avLst/>
          </a:prstGeom>
          <a:noFill/>
        </p:spPr>
        <p:txBody>
          <a:bodyPr wrap="square" anchor="t" lIns="0" rIns="0" tIns="0" bIns="0">
            <a:spAutoFit/>
          </a:bodyPr>
          <a:lstStyle/>
          <a:p>
            <a:pPr algn="l"/>
            <a:r>
              <a:rPr sz="1000" b="1" i="0">
                <a:solidFill>
                  <a:srgbClr val="8A93A6"/>
                </a:solidFill>
                <a:latin typeface="Arial"/>
              </a:rPr>
              <a:t>—</a:t>
            </a:r>
          </a:p>
        </p:txBody>
      </p:sp>
      <p:sp>
        <p:nvSpPr>
          <p:cNvPr id="34" name="TextBox 33"/>
          <p:cNvSpPr txBox="1"/>
          <p:nvPr/>
        </p:nvSpPr>
        <p:spPr>
          <a:xfrm>
            <a:off x="6242304" y="2499360"/>
            <a:ext cx="1219200" cy="91440"/>
          </a:xfrm>
          <a:prstGeom prst="rect">
            <a:avLst/>
          </a:prstGeom>
          <a:noFill/>
        </p:spPr>
        <p:txBody>
          <a:bodyPr wrap="square" anchor="t" lIns="0" rIns="0" tIns="0" bIns="0">
            <a:spAutoFit/>
          </a:bodyPr>
          <a:lstStyle/>
          <a:p>
            <a:pPr algn="l"/>
            <a:r>
              <a:rPr sz="800" b="0" i="1">
                <a:solidFill>
                  <a:srgbClr val="8A93A6"/>
                </a:solidFill>
                <a:latin typeface="Arial"/>
              </a:rPr>
              <a:t>YTD 0</a:t>
            </a:r>
          </a:p>
        </p:txBody>
      </p:sp>
      <p:sp>
        <p:nvSpPr>
          <p:cNvPr id="35" name="Rectangle 34"/>
          <p:cNvSpPr/>
          <p:nvPr/>
        </p:nvSpPr>
        <p:spPr>
          <a:xfrm>
            <a:off x="7967472" y="1536192"/>
            <a:ext cx="1389888" cy="1127760"/>
          </a:xfrm>
          <a:prstGeom prst="rect">
            <a:avLst/>
          </a:prstGeom>
          <a:solidFill>
            <a:srgbClr val="F1EFEB"/>
          </a:solidFill>
          <a:ln>
            <a:noFill/>
          </a:ln>
          <a:effectLst/>
        </p:spPr>
        <p:txBody>
          <a:bodyPr rtlCol="0" anchor="ctr"/>
          <a:lstStyle/>
          <a:p>
            <a:pPr algn="ctr"/>
          </a:p>
        </p:txBody>
      </p:sp>
      <p:sp>
        <p:nvSpPr>
          <p:cNvPr id="36" name="Rounded Rectangle 35"/>
          <p:cNvSpPr/>
          <p:nvPr/>
        </p:nvSpPr>
        <p:spPr>
          <a:xfrm>
            <a:off x="8686800" y="1450848"/>
            <a:ext cx="609600" cy="170688"/>
          </a:xfrm>
          <a:prstGeom prst="roundRect">
            <a:avLst>
              <a:gd name="adj" fmla="val 50000"/>
            </a:avLst>
          </a:prstGeom>
          <a:solidFill>
            <a:srgbClr val="D9D6D1"/>
          </a:solidFill>
          <a:ln>
            <a:noFill/>
          </a:ln>
          <a:effectLst/>
        </p:spPr>
        <p:txBody>
          <a:bodyPr rtlCol="0" anchor="ctr"/>
          <a:lstStyle/>
          <a:p>
            <a:pPr algn="ctr"/>
          </a:p>
        </p:txBody>
      </p:sp>
      <p:sp>
        <p:nvSpPr>
          <p:cNvPr id="37" name="TextBox 36"/>
          <p:cNvSpPr txBox="1"/>
          <p:nvPr/>
        </p:nvSpPr>
        <p:spPr>
          <a:xfrm>
            <a:off x="8686800" y="1450848"/>
            <a:ext cx="609600" cy="170688"/>
          </a:xfrm>
          <a:prstGeom prst="rect">
            <a:avLst/>
          </a:prstGeom>
          <a:noFill/>
        </p:spPr>
        <p:txBody>
          <a:bodyPr wrap="square" anchor="ctr" lIns="0" rIns="0" tIns="0" bIns="0">
            <a:spAutoFit/>
          </a:bodyPr>
          <a:lstStyle/>
          <a:p>
            <a:pPr algn="ctr"/>
            <a:r>
              <a:rPr sz="800" b="1" i="0">
                <a:solidFill>
                  <a:srgbClr val="555B66"/>
                </a:solidFill>
                <a:latin typeface="Arial"/>
              </a:rPr>
              <a:t>INDICATIF</a:t>
            </a:r>
          </a:p>
        </p:txBody>
      </p:sp>
      <p:sp>
        <p:nvSpPr>
          <p:cNvPr id="38" name="TextBox 37"/>
          <p:cNvSpPr txBox="1"/>
          <p:nvPr/>
        </p:nvSpPr>
        <p:spPr>
          <a:xfrm>
            <a:off x="8101584" y="1706880"/>
            <a:ext cx="1219200" cy="121920"/>
          </a:xfrm>
          <a:prstGeom prst="rect">
            <a:avLst/>
          </a:prstGeom>
          <a:noFill/>
        </p:spPr>
        <p:txBody>
          <a:bodyPr wrap="square" anchor="t" lIns="0" rIns="0" tIns="0" bIns="0">
            <a:spAutoFit/>
          </a:bodyPr>
          <a:lstStyle/>
          <a:p>
            <a:pPr algn="l"/>
            <a:r>
              <a:rPr sz="1000" b="1" i="0">
                <a:solidFill>
                  <a:srgbClr val="8A93A6"/>
                </a:solidFill>
                <a:latin typeface="Arial"/>
              </a:rPr>
              <a:t>CVR</a:t>
            </a:r>
          </a:p>
        </p:txBody>
      </p:sp>
      <p:sp>
        <p:nvSpPr>
          <p:cNvPr id="39" name="TextBox 38"/>
          <p:cNvSpPr txBox="1"/>
          <p:nvPr/>
        </p:nvSpPr>
        <p:spPr>
          <a:xfrm>
            <a:off x="8101584" y="1889760"/>
            <a:ext cx="1219200" cy="274320"/>
          </a:xfrm>
          <a:prstGeom prst="rect">
            <a:avLst/>
          </a:prstGeom>
          <a:noFill/>
        </p:spPr>
        <p:txBody>
          <a:bodyPr wrap="square" anchor="t" lIns="0" rIns="0" tIns="0" bIns="0">
            <a:spAutoFit/>
          </a:bodyPr>
          <a:lstStyle/>
          <a:p>
            <a:pPr algn="l"/>
            <a:r>
              <a:rPr sz="2200" b="1" i="0">
                <a:solidFill>
                  <a:srgbClr val="8A93A6"/>
                </a:solidFill>
                <a:latin typeface="Arial"/>
              </a:rPr>
              <a:t>0,00 %</a:t>
            </a:r>
          </a:p>
        </p:txBody>
      </p:sp>
      <p:sp>
        <p:nvSpPr>
          <p:cNvPr id="40" name="TextBox 39"/>
          <p:cNvSpPr txBox="1"/>
          <p:nvPr/>
        </p:nvSpPr>
        <p:spPr>
          <a:xfrm>
            <a:off x="8101584" y="2243328"/>
            <a:ext cx="1219200" cy="109728"/>
          </a:xfrm>
          <a:prstGeom prst="rect">
            <a:avLst/>
          </a:prstGeom>
          <a:noFill/>
        </p:spPr>
        <p:txBody>
          <a:bodyPr wrap="square" anchor="t" lIns="0" rIns="0" tIns="0" bIns="0">
            <a:spAutoFit/>
          </a:bodyPr>
          <a:lstStyle/>
          <a:p>
            <a:pPr algn="l"/>
            <a:r>
              <a:rPr sz="1000" b="1" i="0">
                <a:solidFill>
                  <a:srgbClr val="8A93A6"/>
                </a:solidFill>
                <a:latin typeface="Arial"/>
              </a:rPr>
              <a:t>—</a:t>
            </a:r>
          </a:p>
        </p:txBody>
      </p:sp>
      <p:sp>
        <p:nvSpPr>
          <p:cNvPr id="41" name="TextBox 40"/>
          <p:cNvSpPr txBox="1"/>
          <p:nvPr/>
        </p:nvSpPr>
        <p:spPr>
          <a:xfrm>
            <a:off x="8101584" y="2499360"/>
            <a:ext cx="1219200" cy="91440"/>
          </a:xfrm>
          <a:prstGeom prst="rect">
            <a:avLst/>
          </a:prstGeom>
          <a:noFill/>
        </p:spPr>
        <p:txBody>
          <a:bodyPr wrap="square" anchor="t" lIns="0" rIns="0" tIns="0" bIns="0">
            <a:spAutoFit/>
          </a:bodyPr>
          <a:lstStyle/>
          <a:p>
            <a:pPr algn="l"/>
            <a:r>
              <a:rPr sz="800" b="0" i="1">
                <a:solidFill>
                  <a:srgbClr val="8A93A6"/>
                </a:solidFill>
                <a:latin typeface="Arial"/>
              </a:rPr>
              <a:t>YTD 0,00 %</a:t>
            </a:r>
          </a:p>
        </p:txBody>
      </p:sp>
      <p:sp>
        <p:nvSpPr>
          <p:cNvPr id="42" name="Rectangle 41"/>
          <p:cNvSpPr/>
          <p:nvPr/>
        </p:nvSpPr>
        <p:spPr>
          <a:xfrm>
            <a:off x="9826752" y="1536192"/>
            <a:ext cx="1389888" cy="1127760"/>
          </a:xfrm>
          <a:prstGeom prst="rect">
            <a:avLst/>
          </a:prstGeom>
          <a:solidFill>
            <a:srgbClr val="F1EFEB"/>
          </a:solidFill>
          <a:ln>
            <a:noFill/>
          </a:ln>
          <a:effectLst/>
        </p:spPr>
        <p:txBody>
          <a:bodyPr rtlCol="0" anchor="ctr"/>
          <a:lstStyle/>
          <a:p>
            <a:pPr algn="ctr"/>
          </a:p>
        </p:txBody>
      </p:sp>
      <p:sp>
        <p:nvSpPr>
          <p:cNvPr id="43" name="Rounded Rectangle 42"/>
          <p:cNvSpPr/>
          <p:nvPr/>
        </p:nvSpPr>
        <p:spPr>
          <a:xfrm>
            <a:off x="10546080" y="1450848"/>
            <a:ext cx="609600" cy="170688"/>
          </a:xfrm>
          <a:prstGeom prst="roundRect">
            <a:avLst>
              <a:gd name="adj" fmla="val 50000"/>
            </a:avLst>
          </a:prstGeom>
          <a:solidFill>
            <a:srgbClr val="D9D6D1"/>
          </a:solidFill>
          <a:ln>
            <a:noFill/>
          </a:ln>
          <a:effectLst/>
        </p:spPr>
        <p:txBody>
          <a:bodyPr rtlCol="0" anchor="ctr"/>
          <a:lstStyle/>
          <a:p>
            <a:pPr algn="ctr"/>
          </a:p>
        </p:txBody>
      </p:sp>
      <p:sp>
        <p:nvSpPr>
          <p:cNvPr id="44" name="TextBox 43"/>
          <p:cNvSpPr txBox="1"/>
          <p:nvPr/>
        </p:nvSpPr>
        <p:spPr>
          <a:xfrm>
            <a:off x="10546080" y="1450848"/>
            <a:ext cx="609600" cy="170688"/>
          </a:xfrm>
          <a:prstGeom prst="rect">
            <a:avLst/>
          </a:prstGeom>
          <a:noFill/>
        </p:spPr>
        <p:txBody>
          <a:bodyPr wrap="square" anchor="ctr" lIns="0" rIns="0" tIns="0" bIns="0">
            <a:spAutoFit/>
          </a:bodyPr>
          <a:lstStyle/>
          <a:p>
            <a:pPr algn="ctr"/>
            <a:r>
              <a:rPr sz="800" b="1" i="0">
                <a:solidFill>
                  <a:srgbClr val="555B66"/>
                </a:solidFill>
                <a:latin typeface="Arial"/>
              </a:rPr>
              <a:t>INDICATIF</a:t>
            </a:r>
          </a:p>
        </p:txBody>
      </p:sp>
      <p:sp>
        <p:nvSpPr>
          <p:cNvPr id="45" name="TextBox 44"/>
          <p:cNvSpPr txBox="1"/>
          <p:nvPr/>
        </p:nvSpPr>
        <p:spPr>
          <a:xfrm>
            <a:off x="9960864" y="1706880"/>
            <a:ext cx="1219200" cy="121920"/>
          </a:xfrm>
          <a:prstGeom prst="rect">
            <a:avLst/>
          </a:prstGeom>
          <a:noFill/>
        </p:spPr>
        <p:txBody>
          <a:bodyPr wrap="square" anchor="t" lIns="0" rIns="0" tIns="0" bIns="0">
            <a:spAutoFit/>
          </a:bodyPr>
          <a:lstStyle/>
          <a:p>
            <a:pPr algn="l"/>
            <a:r>
              <a:rPr sz="1000" b="1" i="0">
                <a:solidFill>
                  <a:srgbClr val="8A93A6"/>
                </a:solidFill>
                <a:latin typeface="Arial"/>
              </a:rPr>
              <a:t>ROAS</a:t>
            </a:r>
          </a:p>
        </p:txBody>
      </p:sp>
      <p:sp>
        <p:nvSpPr>
          <p:cNvPr id="46" name="TextBox 45"/>
          <p:cNvSpPr txBox="1"/>
          <p:nvPr/>
        </p:nvSpPr>
        <p:spPr>
          <a:xfrm>
            <a:off x="9960864" y="1889760"/>
            <a:ext cx="1219200" cy="274320"/>
          </a:xfrm>
          <a:prstGeom prst="rect">
            <a:avLst/>
          </a:prstGeom>
          <a:noFill/>
        </p:spPr>
        <p:txBody>
          <a:bodyPr wrap="square" anchor="t" lIns="0" rIns="0" tIns="0" bIns="0">
            <a:spAutoFit/>
          </a:bodyPr>
          <a:lstStyle/>
          <a:p>
            <a:pPr algn="l"/>
            <a:r>
              <a:rPr sz="2200" b="1" i="0">
                <a:solidFill>
                  <a:srgbClr val="8A93A6"/>
                </a:solidFill>
                <a:latin typeface="Arial"/>
              </a:rPr>
              <a:t>0,00</a:t>
            </a:r>
          </a:p>
        </p:txBody>
      </p:sp>
      <p:sp>
        <p:nvSpPr>
          <p:cNvPr id="47" name="TextBox 46"/>
          <p:cNvSpPr txBox="1"/>
          <p:nvPr/>
        </p:nvSpPr>
        <p:spPr>
          <a:xfrm>
            <a:off x="9960864" y="2243328"/>
            <a:ext cx="1219200" cy="109728"/>
          </a:xfrm>
          <a:prstGeom prst="rect">
            <a:avLst/>
          </a:prstGeom>
          <a:noFill/>
        </p:spPr>
        <p:txBody>
          <a:bodyPr wrap="square" anchor="t" lIns="0" rIns="0" tIns="0" bIns="0">
            <a:spAutoFit/>
          </a:bodyPr>
          <a:lstStyle/>
          <a:p>
            <a:pPr algn="l"/>
            <a:r>
              <a:rPr sz="1000" b="1" i="0">
                <a:solidFill>
                  <a:srgbClr val="8A93A6"/>
                </a:solidFill>
                <a:latin typeface="Arial"/>
              </a:rPr>
              <a:t>—</a:t>
            </a:r>
          </a:p>
        </p:txBody>
      </p:sp>
      <p:sp>
        <p:nvSpPr>
          <p:cNvPr id="48" name="TextBox 47"/>
          <p:cNvSpPr txBox="1"/>
          <p:nvPr/>
        </p:nvSpPr>
        <p:spPr>
          <a:xfrm>
            <a:off x="9960864" y="2499360"/>
            <a:ext cx="1219200" cy="91440"/>
          </a:xfrm>
          <a:prstGeom prst="rect">
            <a:avLst/>
          </a:prstGeom>
          <a:noFill/>
        </p:spPr>
        <p:txBody>
          <a:bodyPr wrap="square" anchor="t" lIns="0" rIns="0" tIns="0" bIns="0">
            <a:spAutoFit/>
          </a:bodyPr>
          <a:lstStyle/>
          <a:p>
            <a:pPr algn="l"/>
            <a:r>
              <a:rPr sz="800" b="0" i="1">
                <a:solidFill>
                  <a:srgbClr val="8A93A6"/>
                </a:solidFill>
                <a:latin typeface="Arial"/>
              </a:rPr>
              <a:t>YTD 0,00</a:t>
            </a:r>
          </a:p>
        </p:txBody>
      </p:sp>
      <p:sp>
        <p:nvSpPr>
          <p:cNvPr id="49" name="Isosceles Triangle 48"/>
          <p:cNvSpPr/>
          <p:nvPr/>
        </p:nvSpPr>
        <p:spPr>
          <a:xfrm>
            <a:off x="8564880" y="2688336"/>
            <a:ext cx="182880" cy="85344"/>
          </a:xfrm>
          <a:prstGeom prst="triangle">
            <a:avLst/>
          </a:prstGeom>
          <a:solidFill>
            <a:srgbClr val="EBE9E5"/>
          </a:solidFill>
          <a:ln>
            <a:noFill/>
          </a:ln>
          <a:effectLst/>
        </p:spPr>
        <p:txBody>
          <a:bodyPr rtlCol="0" anchor="ctr"/>
          <a:lstStyle/>
          <a:p>
            <a:pPr algn="ctr"/>
          </a:p>
        </p:txBody>
      </p:sp>
      <p:sp>
        <p:nvSpPr>
          <p:cNvPr id="50" name="Rounded Rectangle 49"/>
          <p:cNvSpPr/>
          <p:nvPr/>
        </p:nvSpPr>
        <p:spPr>
          <a:xfrm>
            <a:off x="6108192" y="2773680"/>
            <a:ext cx="5108448" cy="438912"/>
          </a:xfrm>
          <a:prstGeom prst="roundRect">
            <a:avLst>
              <a:gd name="adj" fmla="val 15000"/>
            </a:avLst>
          </a:prstGeom>
          <a:solidFill>
            <a:srgbClr val="EBE9E5"/>
          </a:solidFill>
          <a:ln>
            <a:noFill/>
          </a:ln>
          <a:effectLst/>
        </p:spPr>
        <p:txBody>
          <a:bodyPr rtlCol="0" anchor="ctr"/>
          <a:lstStyle/>
          <a:p>
            <a:pPr algn="ctr"/>
          </a:p>
        </p:txBody>
      </p:sp>
      <p:sp>
        <p:nvSpPr>
          <p:cNvPr id="51" name="TextBox 50"/>
          <p:cNvSpPr txBox="1"/>
          <p:nvPr/>
        </p:nvSpPr>
        <p:spPr>
          <a:xfrm>
            <a:off x="6230112" y="2816352"/>
            <a:ext cx="4864608" cy="365760"/>
          </a:xfrm>
          <a:prstGeom prst="rect">
            <a:avLst/>
          </a:prstGeom>
          <a:noFill/>
        </p:spPr>
        <p:txBody>
          <a:bodyPr wrap="square" anchor="ctr" lIns="0" rIns="0" tIns="0" bIns="0">
            <a:spAutoFit/>
          </a:bodyPr>
          <a:lstStyle/>
          <a:p>
            <a:pPr algn="l"/>
            <a:r>
              <a:rPr sz="900" b="0" i="0">
                <a:solidFill>
                  <a:srgbClr val="555B66"/>
                </a:solidFill>
                <a:latin typeface="Arial"/>
              </a:rPr>
              <a:t>Le Conversion Tracker est en cours d'implémentation. Les conversions apparaîtront dans ce rapport dès que la remontée des données sera validée.</a:t>
            </a:r>
          </a:p>
        </p:txBody>
      </p:sp>
      <p:sp>
        <p:nvSpPr>
          <p:cNvPr id="52" name="TextBox 51"/>
          <p:cNvSpPr txBox="1"/>
          <p:nvPr/>
        </p:nvSpPr>
        <p:spPr>
          <a:xfrm>
            <a:off x="530352" y="3322320"/>
            <a:ext cx="7315200" cy="182880"/>
          </a:xfrm>
          <a:prstGeom prst="rect">
            <a:avLst/>
          </a:prstGeom>
          <a:noFill/>
        </p:spPr>
        <p:txBody>
          <a:bodyPr wrap="square" anchor="t" lIns="0" rIns="0" tIns="0" bIns="0">
            <a:spAutoFit/>
          </a:bodyPr>
          <a:lstStyle/>
          <a:p>
            <a:pPr algn="l"/>
            <a:r>
              <a:rPr sz="1400" b="1" i="0">
                <a:solidFill>
                  <a:srgbClr val="EE6A2C"/>
                </a:solidFill>
                <a:latin typeface="Arial"/>
              </a:rPr>
              <a:t>INSIGHTS QUALITATIFS · ANALYSE DES RECHERCHES</a:t>
            </a:r>
          </a:p>
        </p:txBody>
      </p:sp>
      <p:sp>
        <p:nvSpPr>
          <p:cNvPr id="53" name="Rectangle 52"/>
          <p:cNvSpPr/>
          <p:nvPr/>
        </p:nvSpPr>
        <p:spPr>
          <a:xfrm>
            <a:off x="530352" y="3584448"/>
            <a:ext cx="3401568" cy="2560320"/>
          </a:xfrm>
          <a:prstGeom prst="rect">
            <a:avLst/>
          </a:prstGeom>
          <a:solidFill>
            <a:srgbClr val="FFFFFF"/>
          </a:solidFill>
          <a:ln>
            <a:noFill/>
          </a:ln>
          <a:effectLst/>
        </p:spPr>
        <p:txBody>
          <a:bodyPr rtlCol="0" anchor="ctr"/>
          <a:lstStyle/>
          <a:p>
            <a:pPr algn="ctr"/>
          </a:p>
        </p:txBody>
      </p:sp>
      <p:sp>
        <p:nvSpPr>
          <p:cNvPr id="54" name="Rectangle 53"/>
          <p:cNvSpPr/>
          <p:nvPr/>
        </p:nvSpPr>
        <p:spPr>
          <a:xfrm>
            <a:off x="4194048" y="3584448"/>
            <a:ext cx="3401568" cy="2560320"/>
          </a:xfrm>
          <a:prstGeom prst="rect">
            <a:avLst/>
          </a:prstGeom>
          <a:solidFill>
            <a:srgbClr val="FFFFFF"/>
          </a:solidFill>
          <a:ln>
            <a:noFill/>
          </a:ln>
          <a:effectLst/>
        </p:spPr>
        <p:txBody>
          <a:bodyPr rtlCol="0" anchor="ctr"/>
          <a:lstStyle/>
          <a:p>
            <a:pPr algn="ctr"/>
          </a:p>
        </p:txBody>
      </p:sp>
      <p:sp>
        <p:nvSpPr>
          <p:cNvPr id="55" name="Rectangle 54"/>
          <p:cNvSpPr/>
          <p:nvPr/>
        </p:nvSpPr>
        <p:spPr>
          <a:xfrm>
            <a:off x="7857744" y="3584448"/>
            <a:ext cx="3401568" cy="2560320"/>
          </a:xfrm>
          <a:prstGeom prst="rect">
            <a:avLst/>
          </a:prstGeom>
          <a:solidFill>
            <a:srgbClr val="FFFFFF"/>
          </a:solidFill>
          <a:ln>
            <a:noFill/>
          </a:ln>
          <a:effectLst/>
        </p:spPr>
        <p:txBody>
          <a:bodyPr rtlCol="0" anchor="ctr"/>
          <a:lstStyle/>
          <a:p>
            <a:pPr algn="ctr"/>
          </a:p>
        </p:txBody>
      </p:sp>
      <p:sp>
        <p:nvSpPr>
          <p:cNvPr id="56" name="TextBox 55"/>
          <p:cNvSpPr txBox="1"/>
          <p:nvPr/>
        </p:nvSpPr>
        <p:spPr>
          <a:xfrm>
            <a:off x="774192" y="3767328"/>
            <a:ext cx="2926080" cy="152400"/>
          </a:xfrm>
          <a:prstGeom prst="rect">
            <a:avLst/>
          </a:prstGeom>
          <a:noFill/>
        </p:spPr>
        <p:txBody>
          <a:bodyPr wrap="square" anchor="t" lIns="0" rIns="0" tIns="0" bIns="0">
            <a:spAutoFit/>
          </a:bodyPr>
          <a:lstStyle/>
          <a:p>
            <a:pPr algn="l"/>
            <a:r>
              <a:rPr sz="1300" b="1" i="0">
                <a:solidFill>
                  <a:srgbClr val="555B66"/>
                </a:solidFill>
                <a:latin typeface="Arial"/>
              </a:rPr>
              <a:t>CHAMP LEXICAL</a:t>
            </a:r>
          </a:p>
        </p:txBody>
      </p:sp>
      <p:sp>
        <p:nvSpPr>
          <p:cNvPr id="57" name="TextBox 56"/>
          <p:cNvSpPr txBox="1"/>
          <p:nvPr/>
        </p:nvSpPr>
        <p:spPr>
          <a:xfrm>
            <a:off x="774192" y="3992880"/>
            <a:ext cx="2926080" cy="121920"/>
          </a:xfrm>
          <a:prstGeom prst="rect">
            <a:avLst/>
          </a:prstGeom>
          <a:noFill/>
        </p:spPr>
        <p:txBody>
          <a:bodyPr wrap="square" anchor="t" lIns="0" rIns="0" tIns="0" bIns="0">
            <a:spAutoFit/>
          </a:bodyPr>
          <a:lstStyle/>
          <a:p>
            <a:pPr algn="l"/>
            <a:r>
              <a:rPr sz="1000" b="0" i="1">
                <a:solidFill>
                  <a:srgbClr val="8A93A6"/>
                </a:solidFill>
                <a:latin typeface="Arial"/>
              </a:rPr>
              <a:t>Termes les plus fréquents</a:t>
            </a:r>
          </a:p>
        </p:txBody>
      </p:sp>
      <p:sp>
        <p:nvSpPr>
          <p:cNvPr id="58" name="TextBox 57"/>
          <p:cNvSpPr txBox="1"/>
          <p:nvPr/>
        </p:nvSpPr>
        <p:spPr>
          <a:xfrm>
            <a:off x="774192" y="4236720"/>
            <a:ext cx="2987040" cy="1828800"/>
          </a:xfrm>
          <a:prstGeom prst="rect">
            <a:avLst/>
          </a:prstGeom>
          <a:noFill/>
        </p:spPr>
        <p:txBody>
          <a:bodyPr wrap="square" anchor="t" lIns="0" rIns="0" tIns="0" bIns="0">
            <a:spAutoFit/>
          </a:bodyPr>
          <a:lstStyle/>
          <a:p>
            <a:pPr algn="l">
              <a:spcAft>
                <a:spcPts val="500"/>
              </a:spcAft>
            </a:pPr>
            <a:r>
              <a:rPr sz="1800" b="1" i="0">
                <a:solidFill>
                  <a:srgbClr val="EE6A2C"/>
                </a:solidFill>
                <a:latin typeface="Arial"/>
              </a:rPr>
              <a:t>chaussures</a:t>
            </a:r>
            <a:r>
              <a:rPr sz="1600" b="1" i="0">
                <a:solidFill>
                  <a:srgbClr val="111111"/>
                </a:solidFill>
                <a:latin typeface="Arial"/>
              </a:rPr>
              <a:t>   jean</a:t>
            </a:r>
          </a:p>
          <a:p>
            <a:pPr algn="l">
              <a:spcAft>
                <a:spcPts val="500"/>
              </a:spcAft>
            </a:pPr>
            <a:r>
              <a:rPr sz="1500" b="1" i="0">
                <a:solidFill>
                  <a:srgbClr val="111111"/>
                </a:solidFill>
                <a:latin typeface="Arial"/>
              </a:rPr>
              <a:t>robe</a:t>
            </a:r>
            <a:r>
              <a:rPr sz="1400" b="1" i="0">
                <a:solidFill>
                  <a:srgbClr val="111111"/>
                </a:solidFill>
                <a:latin typeface="Arial"/>
              </a:rPr>
              <a:t>   veste</a:t>
            </a:r>
          </a:p>
          <a:p>
            <a:pPr algn="l">
              <a:spcAft>
                <a:spcPts val="500"/>
              </a:spcAft>
            </a:pPr>
            <a:r>
              <a:rPr sz="1300" b="1" i="0">
                <a:solidFill>
                  <a:srgbClr val="EE6A2C"/>
                </a:solidFill>
                <a:latin typeface="Arial"/>
              </a:rPr>
              <a:t>mariage</a:t>
            </a:r>
            <a:r>
              <a:rPr sz="1200" b="0" i="0">
                <a:solidFill>
                  <a:srgbClr val="111111"/>
                </a:solidFill>
                <a:latin typeface="Arial"/>
              </a:rPr>
              <a:t>   doudoune</a:t>
            </a:r>
          </a:p>
          <a:p>
            <a:pPr algn="l">
              <a:spcAft>
                <a:spcPts val="500"/>
              </a:spcAft>
            </a:pPr>
            <a:r>
              <a:rPr sz="1100" b="1" i="0">
                <a:solidFill>
                  <a:srgbClr val="EE6A2C"/>
                </a:solidFill>
                <a:latin typeface="Arial"/>
              </a:rPr>
              <a:t>montre connectée</a:t>
            </a:r>
            <a:r>
              <a:rPr sz="1100" b="1" i="0">
                <a:solidFill>
                  <a:srgbClr val="111111"/>
                </a:solidFill>
                <a:latin typeface="Arial"/>
              </a:rPr>
              <a:t>   rentrée</a:t>
            </a:r>
          </a:p>
          <a:p>
            <a:pPr algn="l">
              <a:spcAft>
                <a:spcPts val="500"/>
              </a:spcAft>
            </a:pPr>
            <a:r>
              <a:rPr sz="1100" b="1" i="0">
                <a:solidFill>
                  <a:srgbClr val="111111"/>
                </a:solidFill>
                <a:latin typeface="Arial"/>
              </a:rPr>
              <a:t>collants</a:t>
            </a:r>
            <a:r>
              <a:rPr sz="1100" b="0" i="0">
                <a:solidFill>
                  <a:srgbClr val="111111"/>
                </a:solidFill>
                <a:latin typeface="Arial"/>
              </a:rPr>
              <a:t>   jupe midi</a:t>
            </a:r>
            <a:r>
              <a:rPr sz="1100" b="1" i="0">
                <a:solidFill>
                  <a:srgbClr val="EE6A2C"/>
                </a:solidFill>
                <a:latin typeface="Arial"/>
              </a:rPr>
              <a:t>   livraison</a:t>
            </a:r>
          </a:p>
          <a:p>
            <a:pPr algn="l">
              <a:spcAft>
                <a:spcPts val="500"/>
              </a:spcAft>
            </a:pPr>
            <a:r>
              <a:rPr sz="1100" b="1" i="0">
                <a:solidFill>
                  <a:srgbClr val="111111"/>
                </a:solidFill>
                <a:latin typeface="Arial"/>
              </a:rPr>
              <a:t>ensemble vichy</a:t>
            </a:r>
            <a:r>
              <a:rPr sz="1100" b="0" i="0">
                <a:solidFill>
                  <a:srgbClr val="111111"/>
                </a:solidFill>
                <a:latin typeface="Arial"/>
              </a:rPr>
              <a:t>   ceinture</a:t>
            </a:r>
          </a:p>
        </p:txBody>
      </p:sp>
      <p:sp>
        <p:nvSpPr>
          <p:cNvPr id="59" name="TextBox 58"/>
          <p:cNvSpPr txBox="1"/>
          <p:nvPr/>
        </p:nvSpPr>
        <p:spPr>
          <a:xfrm>
            <a:off x="4437888" y="3767328"/>
            <a:ext cx="2926080" cy="152400"/>
          </a:xfrm>
          <a:prstGeom prst="rect">
            <a:avLst/>
          </a:prstGeom>
          <a:noFill/>
        </p:spPr>
        <p:txBody>
          <a:bodyPr wrap="square" anchor="t" lIns="0" rIns="0" tIns="0" bIns="0">
            <a:spAutoFit/>
          </a:bodyPr>
          <a:lstStyle/>
          <a:p>
            <a:pPr algn="l"/>
            <a:r>
              <a:rPr sz="1300" b="1" i="0">
                <a:solidFill>
                  <a:srgbClr val="555B66"/>
                </a:solidFill>
                <a:latin typeface="Arial"/>
              </a:rPr>
              <a:t>EXEMPLES DE REQUÊTES</a:t>
            </a:r>
          </a:p>
        </p:txBody>
      </p:sp>
      <p:sp>
        <p:nvSpPr>
          <p:cNvPr id="60" name="TextBox 59"/>
          <p:cNvSpPr txBox="1"/>
          <p:nvPr/>
        </p:nvSpPr>
        <p:spPr>
          <a:xfrm>
            <a:off x="4437888" y="3992880"/>
            <a:ext cx="2926080" cy="121920"/>
          </a:xfrm>
          <a:prstGeom prst="rect">
            <a:avLst/>
          </a:prstGeom>
          <a:noFill/>
        </p:spPr>
        <p:txBody>
          <a:bodyPr wrap="square" anchor="t" lIns="0" rIns="0" tIns="0" bIns="0">
            <a:spAutoFit/>
          </a:bodyPr>
          <a:lstStyle/>
          <a:p>
            <a:pPr algn="l"/>
            <a:r>
              <a:rPr sz="1000" b="0" i="1">
                <a:solidFill>
                  <a:srgbClr val="8A93A6"/>
                </a:solidFill>
                <a:latin typeface="Arial"/>
              </a:rPr>
              <a:t>Questions posées aux IA</a:t>
            </a:r>
          </a:p>
        </p:txBody>
      </p:sp>
      <p:sp>
        <p:nvSpPr>
          <p:cNvPr id="61" name="TextBox 60"/>
          <p:cNvSpPr txBox="1"/>
          <p:nvPr/>
        </p:nvSpPr>
        <p:spPr>
          <a:xfrm>
            <a:off x="4437888" y="4267200"/>
            <a:ext cx="2913888" cy="304800"/>
          </a:xfrm>
          <a:prstGeom prst="rect">
            <a:avLst/>
          </a:prstGeom>
          <a:noFill/>
        </p:spPr>
        <p:txBody>
          <a:bodyPr wrap="square" anchor="ctr" lIns="0" rIns="0" tIns="0" bIns="0">
            <a:spAutoFit/>
          </a:bodyPr>
          <a:lstStyle/>
          <a:p>
            <a:pPr algn="l"/>
            <a:r>
              <a:rPr sz="1000" b="0" i="0">
                <a:solidFill>
                  <a:srgbClr val="111111"/>
                </a:solidFill>
                <a:latin typeface="Arial"/>
              </a:rPr>
              <a:t>Quel collant lisse la silhouette sans se voir ?</a:t>
            </a:r>
          </a:p>
        </p:txBody>
      </p:sp>
      <p:sp>
        <p:nvSpPr>
          <p:cNvPr id="62" name="Rectangle 61"/>
          <p:cNvSpPr/>
          <p:nvPr/>
        </p:nvSpPr>
        <p:spPr>
          <a:xfrm>
            <a:off x="4437888" y="4602480"/>
            <a:ext cx="2913888" cy="6096"/>
          </a:xfrm>
          <a:prstGeom prst="rect">
            <a:avLst/>
          </a:prstGeom>
          <a:solidFill>
            <a:srgbClr val="E6E3DE"/>
          </a:solidFill>
          <a:ln>
            <a:noFill/>
          </a:ln>
          <a:effectLst/>
        </p:spPr>
        <p:txBody>
          <a:bodyPr rtlCol="0" anchor="ctr"/>
          <a:lstStyle/>
          <a:p>
            <a:pPr algn="ctr"/>
          </a:p>
        </p:txBody>
      </p:sp>
      <p:sp>
        <p:nvSpPr>
          <p:cNvPr id="63" name="TextBox 62"/>
          <p:cNvSpPr txBox="1"/>
          <p:nvPr/>
        </p:nvSpPr>
        <p:spPr>
          <a:xfrm>
            <a:off x="4437888" y="4632960"/>
            <a:ext cx="2913888" cy="304800"/>
          </a:xfrm>
          <a:prstGeom prst="rect">
            <a:avLst/>
          </a:prstGeom>
          <a:noFill/>
        </p:spPr>
        <p:txBody>
          <a:bodyPr wrap="square" anchor="ctr" lIns="0" rIns="0" tIns="0" bIns="0">
            <a:spAutoFit/>
          </a:bodyPr>
          <a:lstStyle/>
          <a:p>
            <a:pPr algn="l"/>
            <a:r>
              <a:rPr sz="1000" b="0" i="0">
                <a:solidFill>
                  <a:srgbClr val="111111"/>
                </a:solidFill>
                <a:latin typeface="Arial"/>
              </a:rPr>
              <a:t>Quel collant ne marque pas la taille ?</a:t>
            </a:r>
          </a:p>
        </p:txBody>
      </p:sp>
      <p:sp>
        <p:nvSpPr>
          <p:cNvPr id="64" name="Rectangle 63"/>
          <p:cNvSpPr/>
          <p:nvPr/>
        </p:nvSpPr>
        <p:spPr>
          <a:xfrm>
            <a:off x="4437888" y="4968240"/>
            <a:ext cx="2913888" cy="6096"/>
          </a:xfrm>
          <a:prstGeom prst="rect">
            <a:avLst/>
          </a:prstGeom>
          <a:solidFill>
            <a:srgbClr val="E6E3DE"/>
          </a:solidFill>
          <a:ln>
            <a:noFill/>
          </a:ln>
          <a:effectLst/>
        </p:spPr>
        <p:txBody>
          <a:bodyPr rtlCol="0" anchor="ctr"/>
          <a:lstStyle/>
          <a:p>
            <a:pPr algn="ctr"/>
          </a:p>
        </p:txBody>
      </p:sp>
      <p:sp>
        <p:nvSpPr>
          <p:cNvPr id="65" name="TextBox 64"/>
          <p:cNvSpPr txBox="1"/>
          <p:nvPr/>
        </p:nvSpPr>
        <p:spPr>
          <a:xfrm>
            <a:off x="4437888" y="4998720"/>
            <a:ext cx="2913888" cy="304800"/>
          </a:xfrm>
          <a:prstGeom prst="rect">
            <a:avLst/>
          </a:prstGeom>
          <a:noFill/>
        </p:spPr>
        <p:txBody>
          <a:bodyPr wrap="square" anchor="ctr" lIns="0" rIns="0" tIns="0" bIns="0">
            <a:spAutoFit/>
          </a:bodyPr>
          <a:lstStyle/>
          <a:p>
            <a:pPr algn="l"/>
            <a:r>
              <a:rPr sz="1000" b="0" i="0">
                <a:solidFill>
                  <a:srgbClr val="111111"/>
                </a:solidFill>
                <a:latin typeface="Arial"/>
              </a:rPr>
              <a:t>Quel legging pour un enfant qui bouge beaucoup ?</a:t>
            </a:r>
          </a:p>
        </p:txBody>
      </p:sp>
      <p:sp>
        <p:nvSpPr>
          <p:cNvPr id="66" name="Rectangle 65"/>
          <p:cNvSpPr/>
          <p:nvPr/>
        </p:nvSpPr>
        <p:spPr>
          <a:xfrm>
            <a:off x="4437888" y="5334000"/>
            <a:ext cx="2913888" cy="6096"/>
          </a:xfrm>
          <a:prstGeom prst="rect">
            <a:avLst/>
          </a:prstGeom>
          <a:solidFill>
            <a:srgbClr val="E6E3DE"/>
          </a:solidFill>
          <a:ln>
            <a:noFill/>
          </a:ln>
          <a:effectLst/>
        </p:spPr>
        <p:txBody>
          <a:bodyPr rtlCol="0" anchor="ctr"/>
          <a:lstStyle/>
          <a:p>
            <a:pPr algn="ctr"/>
          </a:p>
        </p:txBody>
      </p:sp>
      <p:sp>
        <p:nvSpPr>
          <p:cNvPr id="67" name="TextBox 66"/>
          <p:cNvSpPr txBox="1"/>
          <p:nvPr/>
        </p:nvSpPr>
        <p:spPr>
          <a:xfrm>
            <a:off x="4437888" y="5364480"/>
            <a:ext cx="2913888" cy="304800"/>
          </a:xfrm>
          <a:prstGeom prst="rect">
            <a:avLst/>
          </a:prstGeom>
          <a:noFill/>
        </p:spPr>
        <p:txBody>
          <a:bodyPr wrap="square" anchor="ctr" lIns="0" rIns="0" tIns="0" bIns="0">
            <a:spAutoFit/>
          </a:bodyPr>
          <a:lstStyle/>
          <a:p>
            <a:pPr algn="l"/>
            <a:r>
              <a:rPr sz="1000" b="0" i="0">
                <a:solidFill>
                  <a:srgbClr val="111111"/>
                </a:solidFill>
                <a:latin typeface="Arial"/>
              </a:rPr>
              <a:t>Quelles chaussettes résistent le mieux aux lavages ?</a:t>
            </a:r>
          </a:p>
        </p:txBody>
      </p:sp>
      <p:sp>
        <p:nvSpPr>
          <p:cNvPr id="68" name="Rectangle 67"/>
          <p:cNvSpPr/>
          <p:nvPr/>
        </p:nvSpPr>
        <p:spPr>
          <a:xfrm>
            <a:off x="4437888" y="5699760"/>
            <a:ext cx="2913888" cy="6096"/>
          </a:xfrm>
          <a:prstGeom prst="rect">
            <a:avLst/>
          </a:prstGeom>
          <a:solidFill>
            <a:srgbClr val="E6E3DE"/>
          </a:solidFill>
          <a:ln>
            <a:noFill/>
          </a:ln>
          <a:effectLst/>
        </p:spPr>
        <p:txBody>
          <a:bodyPr rtlCol="0" anchor="ctr"/>
          <a:lstStyle/>
          <a:p>
            <a:pPr algn="ctr"/>
          </a:p>
        </p:txBody>
      </p:sp>
      <p:sp>
        <p:nvSpPr>
          <p:cNvPr id="69" name="TextBox 68"/>
          <p:cNvSpPr txBox="1"/>
          <p:nvPr/>
        </p:nvSpPr>
        <p:spPr>
          <a:xfrm>
            <a:off x="4437888" y="5730240"/>
            <a:ext cx="2913888" cy="304800"/>
          </a:xfrm>
          <a:prstGeom prst="rect">
            <a:avLst/>
          </a:prstGeom>
          <a:noFill/>
        </p:spPr>
        <p:txBody>
          <a:bodyPr wrap="square" anchor="ctr" lIns="0" rIns="0" tIns="0" bIns="0">
            <a:spAutoFit/>
          </a:bodyPr>
          <a:lstStyle/>
          <a:p>
            <a:pPr algn="l"/>
            <a:r>
              <a:rPr sz="1000" b="0" i="0">
                <a:solidFill>
                  <a:srgbClr val="111111"/>
                </a:solidFill>
                <a:latin typeface="Arial"/>
              </a:rPr>
              <a:t>Quel pyjama facilite le change d'un bébé la nuit ?</a:t>
            </a:r>
          </a:p>
        </p:txBody>
      </p:sp>
      <p:sp>
        <p:nvSpPr>
          <p:cNvPr id="70" name="TextBox 69"/>
          <p:cNvSpPr txBox="1"/>
          <p:nvPr/>
        </p:nvSpPr>
        <p:spPr>
          <a:xfrm>
            <a:off x="8101584" y="3767328"/>
            <a:ext cx="2926080" cy="152400"/>
          </a:xfrm>
          <a:prstGeom prst="rect">
            <a:avLst/>
          </a:prstGeom>
          <a:noFill/>
        </p:spPr>
        <p:txBody>
          <a:bodyPr wrap="square" anchor="t" lIns="0" rIns="0" tIns="0" bIns="0">
            <a:spAutoFit/>
          </a:bodyPr>
          <a:lstStyle/>
          <a:p>
            <a:pPr algn="l"/>
            <a:r>
              <a:rPr sz="1300" b="1" i="0">
                <a:solidFill>
                  <a:srgbClr val="555B66"/>
                </a:solidFill>
                <a:latin typeface="Arial"/>
              </a:rPr>
              <a:t>CATÉGORIES DE PRODUITS</a:t>
            </a:r>
          </a:p>
        </p:txBody>
      </p:sp>
      <p:sp>
        <p:nvSpPr>
          <p:cNvPr id="71" name="TextBox 70"/>
          <p:cNvSpPr txBox="1"/>
          <p:nvPr/>
        </p:nvSpPr>
        <p:spPr>
          <a:xfrm>
            <a:off x="8101584" y="3992880"/>
            <a:ext cx="2926080" cy="121920"/>
          </a:xfrm>
          <a:prstGeom prst="rect">
            <a:avLst/>
          </a:prstGeom>
          <a:noFill/>
        </p:spPr>
        <p:txBody>
          <a:bodyPr wrap="square" anchor="t" lIns="0" rIns="0" tIns="0" bIns="0">
            <a:spAutoFit/>
          </a:bodyPr>
          <a:lstStyle/>
          <a:p>
            <a:pPr algn="l"/>
            <a:r>
              <a:rPr sz="1000" b="0" i="1">
                <a:solidFill>
                  <a:srgbClr val="8A93A6"/>
                </a:solidFill>
                <a:latin typeface="Arial"/>
              </a:rPr>
              <a:t>Répartition des requêtes</a:t>
            </a:r>
          </a:p>
        </p:txBody>
      </p:sp>
      <p:sp>
        <p:nvSpPr>
          <p:cNvPr id="72" name="TextBox 71"/>
          <p:cNvSpPr txBox="1"/>
          <p:nvPr/>
        </p:nvSpPr>
        <p:spPr>
          <a:xfrm>
            <a:off x="8101584" y="4267200"/>
            <a:ext cx="2194560" cy="134112"/>
          </a:xfrm>
          <a:prstGeom prst="rect">
            <a:avLst/>
          </a:prstGeom>
          <a:noFill/>
        </p:spPr>
        <p:txBody>
          <a:bodyPr wrap="square" anchor="t" lIns="0" rIns="0" tIns="0" bIns="0">
            <a:spAutoFit/>
          </a:bodyPr>
          <a:lstStyle/>
          <a:p>
            <a:pPr algn="l"/>
            <a:r>
              <a:rPr sz="900" b="0" i="0">
                <a:solidFill>
                  <a:srgbClr val="111111"/>
                </a:solidFill>
                <a:latin typeface="Arial"/>
              </a:rPr>
              <a:t>Collants, chaussettes et sous-vêtements</a:t>
            </a:r>
          </a:p>
        </p:txBody>
      </p:sp>
      <p:sp>
        <p:nvSpPr>
          <p:cNvPr id="73" name="Rectangle 72"/>
          <p:cNvSpPr/>
          <p:nvPr/>
        </p:nvSpPr>
        <p:spPr>
          <a:xfrm>
            <a:off x="8101584" y="4419600"/>
            <a:ext cx="2011680" cy="54864"/>
          </a:xfrm>
          <a:prstGeom prst="rect">
            <a:avLst/>
          </a:prstGeom>
          <a:solidFill>
            <a:srgbClr val="ECEAE5"/>
          </a:solidFill>
          <a:ln>
            <a:noFill/>
          </a:ln>
          <a:effectLst/>
        </p:spPr>
        <p:txBody>
          <a:bodyPr rtlCol="0" anchor="ctr"/>
          <a:lstStyle/>
          <a:p>
            <a:pPr algn="ctr"/>
          </a:p>
        </p:txBody>
      </p:sp>
      <p:sp>
        <p:nvSpPr>
          <p:cNvPr id="74" name="Rectangle 73"/>
          <p:cNvSpPr/>
          <p:nvPr/>
        </p:nvSpPr>
        <p:spPr>
          <a:xfrm>
            <a:off x="8101584" y="4419600"/>
            <a:ext cx="885139" cy="54864"/>
          </a:xfrm>
          <a:prstGeom prst="rect">
            <a:avLst/>
          </a:prstGeom>
          <a:solidFill>
            <a:srgbClr val="EE6A2C"/>
          </a:solidFill>
          <a:ln>
            <a:noFill/>
          </a:ln>
          <a:effectLst/>
        </p:spPr>
        <p:txBody>
          <a:bodyPr rtlCol="0" anchor="ctr"/>
          <a:lstStyle/>
          <a:p>
            <a:pPr algn="ctr"/>
          </a:p>
        </p:txBody>
      </p:sp>
      <p:sp>
        <p:nvSpPr>
          <p:cNvPr id="75" name="TextBox 74"/>
          <p:cNvSpPr txBox="1"/>
          <p:nvPr/>
        </p:nvSpPr>
        <p:spPr>
          <a:xfrm>
            <a:off x="10241280" y="4340352"/>
            <a:ext cx="792480" cy="182880"/>
          </a:xfrm>
          <a:prstGeom prst="rect">
            <a:avLst/>
          </a:prstGeom>
          <a:noFill/>
        </p:spPr>
        <p:txBody>
          <a:bodyPr wrap="square" anchor="ctr" lIns="0" rIns="0" tIns="0" bIns="0">
            <a:spAutoFit/>
          </a:bodyPr>
          <a:lstStyle/>
          <a:p>
            <a:pPr algn="r"/>
            <a:r>
              <a:rPr sz="1300" b="1" i="0">
                <a:solidFill>
                  <a:srgbClr val="111111"/>
                </a:solidFill>
                <a:latin typeface="Arial"/>
              </a:rPr>
              <a:t>44 %</a:t>
            </a:r>
          </a:p>
        </p:txBody>
      </p:sp>
      <p:sp>
        <p:nvSpPr>
          <p:cNvPr id="76" name="TextBox 75"/>
          <p:cNvSpPr txBox="1"/>
          <p:nvPr/>
        </p:nvSpPr>
        <p:spPr>
          <a:xfrm>
            <a:off x="8101584" y="4584192"/>
            <a:ext cx="2194560" cy="134112"/>
          </a:xfrm>
          <a:prstGeom prst="rect">
            <a:avLst/>
          </a:prstGeom>
          <a:noFill/>
        </p:spPr>
        <p:txBody>
          <a:bodyPr wrap="square" anchor="t" lIns="0" rIns="0" tIns="0" bIns="0">
            <a:spAutoFit/>
          </a:bodyPr>
          <a:lstStyle/>
          <a:p>
            <a:pPr algn="l"/>
            <a:r>
              <a:rPr sz="1000" b="0" i="0">
                <a:solidFill>
                  <a:srgbClr val="111111"/>
                </a:solidFill>
                <a:latin typeface="Arial"/>
              </a:rPr>
              <a:t>Petit équipement domestique</a:t>
            </a:r>
          </a:p>
        </p:txBody>
      </p:sp>
      <p:sp>
        <p:nvSpPr>
          <p:cNvPr id="77" name="Rectangle 76"/>
          <p:cNvSpPr/>
          <p:nvPr/>
        </p:nvSpPr>
        <p:spPr>
          <a:xfrm>
            <a:off x="8101584" y="4736592"/>
            <a:ext cx="2011680" cy="54864"/>
          </a:xfrm>
          <a:prstGeom prst="rect">
            <a:avLst/>
          </a:prstGeom>
          <a:solidFill>
            <a:srgbClr val="ECEAE5"/>
          </a:solidFill>
          <a:ln>
            <a:noFill/>
          </a:ln>
          <a:effectLst/>
        </p:spPr>
        <p:txBody>
          <a:bodyPr rtlCol="0" anchor="ctr"/>
          <a:lstStyle/>
          <a:p>
            <a:pPr algn="ctr"/>
          </a:p>
        </p:txBody>
      </p:sp>
      <p:sp>
        <p:nvSpPr>
          <p:cNvPr id="78" name="Rectangle 77"/>
          <p:cNvSpPr/>
          <p:nvPr/>
        </p:nvSpPr>
        <p:spPr>
          <a:xfrm>
            <a:off x="8101584" y="4736592"/>
            <a:ext cx="301752" cy="54864"/>
          </a:xfrm>
          <a:prstGeom prst="rect">
            <a:avLst/>
          </a:prstGeom>
          <a:solidFill>
            <a:srgbClr val="9AA3B2"/>
          </a:solidFill>
          <a:ln>
            <a:noFill/>
          </a:ln>
          <a:effectLst/>
        </p:spPr>
        <p:txBody>
          <a:bodyPr rtlCol="0" anchor="ctr"/>
          <a:lstStyle/>
          <a:p>
            <a:pPr algn="ctr"/>
          </a:p>
        </p:txBody>
      </p:sp>
      <p:sp>
        <p:nvSpPr>
          <p:cNvPr id="79" name="TextBox 78"/>
          <p:cNvSpPr txBox="1"/>
          <p:nvPr/>
        </p:nvSpPr>
        <p:spPr>
          <a:xfrm>
            <a:off x="10241280" y="4657344"/>
            <a:ext cx="792480" cy="182880"/>
          </a:xfrm>
          <a:prstGeom prst="rect">
            <a:avLst/>
          </a:prstGeom>
          <a:noFill/>
        </p:spPr>
        <p:txBody>
          <a:bodyPr wrap="square" anchor="ctr" lIns="0" rIns="0" tIns="0" bIns="0">
            <a:spAutoFit/>
          </a:bodyPr>
          <a:lstStyle/>
          <a:p>
            <a:pPr algn="r"/>
            <a:r>
              <a:rPr sz="1300" b="1" i="0">
                <a:solidFill>
                  <a:srgbClr val="111111"/>
                </a:solidFill>
                <a:latin typeface="Arial"/>
              </a:rPr>
              <a:t>15 %</a:t>
            </a:r>
          </a:p>
        </p:txBody>
      </p:sp>
      <p:sp>
        <p:nvSpPr>
          <p:cNvPr id="80" name="TextBox 79"/>
          <p:cNvSpPr txBox="1"/>
          <p:nvPr/>
        </p:nvSpPr>
        <p:spPr>
          <a:xfrm>
            <a:off x="8101584" y="4901184"/>
            <a:ext cx="2194560" cy="134112"/>
          </a:xfrm>
          <a:prstGeom prst="rect">
            <a:avLst/>
          </a:prstGeom>
          <a:noFill/>
        </p:spPr>
        <p:txBody>
          <a:bodyPr wrap="square" anchor="t" lIns="0" rIns="0" tIns="0" bIns="0">
            <a:spAutoFit/>
          </a:bodyPr>
          <a:lstStyle/>
          <a:p>
            <a:pPr algn="l"/>
            <a:r>
              <a:rPr sz="1000" b="0" i="0">
                <a:solidFill>
                  <a:srgbClr val="111111"/>
                </a:solidFill>
                <a:latin typeface="Arial"/>
              </a:rPr>
              <a:t>Papeterie scolaire et créative</a:t>
            </a:r>
          </a:p>
        </p:txBody>
      </p:sp>
      <p:sp>
        <p:nvSpPr>
          <p:cNvPr id="81" name="Rectangle 80"/>
          <p:cNvSpPr/>
          <p:nvPr/>
        </p:nvSpPr>
        <p:spPr>
          <a:xfrm>
            <a:off x="8101584" y="5053584"/>
            <a:ext cx="2011680" cy="54864"/>
          </a:xfrm>
          <a:prstGeom prst="rect">
            <a:avLst/>
          </a:prstGeom>
          <a:solidFill>
            <a:srgbClr val="ECEAE5"/>
          </a:solidFill>
          <a:ln>
            <a:noFill/>
          </a:ln>
          <a:effectLst/>
        </p:spPr>
        <p:txBody>
          <a:bodyPr rtlCol="0" anchor="ctr"/>
          <a:lstStyle/>
          <a:p>
            <a:pPr algn="ctr"/>
          </a:p>
        </p:txBody>
      </p:sp>
      <p:sp>
        <p:nvSpPr>
          <p:cNvPr id="82" name="Rectangle 81"/>
          <p:cNvSpPr/>
          <p:nvPr/>
        </p:nvSpPr>
        <p:spPr>
          <a:xfrm>
            <a:off x="8101584" y="5053584"/>
            <a:ext cx="462686" cy="54864"/>
          </a:xfrm>
          <a:prstGeom prst="rect">
            <a:avLst/>
          </a:prstGeom>
          <a:solidFill>
            <a:srgbClr val="9AA3B2"/>
          </a:solidFill>
          <a:ln>
            <a:noFill/>
          </a:ln>
          <a:effectLst/>
        </p:spPr>
        <p:txBody>
          <a:bodyPr rtlCol="0" anchor="ctr"/>
          <a:lstStyle/>
          <a:p>
            <a:pPr algn="ctr"/>
          </a:p>
        </p:txBody>
      </p:sp>
      <p:sp>
        <p:nvSpPr>
          <p:cNvPr id="83" name="TextBox 82"/>
          <p:cNvSpPr txBox="1"/>
          <p:nvPr/>
        </p:nvSpPr>
        <p:spPr>
          <a:xfrm>
            <a:off x="10241280" y="4974336"/>
            <a:ext cx="792480" cy="182880"/>
          </a:xfrm>
          <a:prstGeom prst="rect">
            <a:avLst/>
          </a:prstGeom>
          <a:noFill/>
        </p:spPr>
        <p:txBody>
          <a:bodyPr wrap="square" anchor="ctr" lIns="0" rIns="0" tIns="0" bIns="0">
            <a:spAutoFit/>
          </a:bodyPr>
          <a:lstStyle/>
          <a:p>
            <a:pPr algn="r"/>
            <a:r>
              <a:rPr sz="1300" b="1" i="0">
                <a:solidFill>
                  <a:srgbClr val="111111"/>
                </a:solidFill>
                <a:latin typeface="Arial"/>
              </a:rPr>
              <a:t>23 %</a:t>
            </a:r>
          </a:p>
        </p:txBody>
      </p:sp>
      <p:sp>
        <p:nvSpPr>
          <p:cNvPr id="84" name="TextBox 83"/>
          <p:cNvSpPr txBox="1"/>
          <p:nvPr/>
        </p:nvSpPr>
        <p:spPr>
          <a:xfrm>
            <a:off x="8101584" y="5218176"/>
            <a:ext cx="2194560" cy="134112"/>
          </a:xfrm>
          <a:prstGeom prst="rect">
            <a:avLst/>
          </a:prstGeom>
          <a:noFill/>
        </p:spPr>
        <p:txBody>
          <a:bodyPr wrap="square" anchor="t" lIns="0" rIns="0" tIns="0" bIns="0">
            <a:spAutoFit/>
          </a:bodyPr>
          <a:lstStyle/>
          <a:p>
            <a:pPr algn="l"/>
            <a:r>
              <a:rPr sz="1000" b="0" i="0">
                <a:solidFill>
                  <a:srgbClr val="111111"/>
                </a:solidFill>
                <a:latin typeface="Arial"/>
              </a:rPr>
              <a:t>Vêtements et linge pour bébé</a:t>
            </a:r>
          </a:p>
        </p:txBody>
      </p:sp>
      <p:sp>
        <p:nvSpPr>
          <p:cNvPr id="85" name="Rectangle 84"/>
          <p:cNvSpPr/>
          <p:nvPr/>
        </p:nvSpPr>
        <p:spPr>
          <a:xfrm>
            <a:off x="8101584" y="5370576"/>
            <a:ext cx="2011680" cy="54864"/>
          </a:xfrm>
          <a:prstGeom prst="rect">
            <a:avLst/>
          </a:prstGeom>
          <a:solidFill>
            <a:srgbClr val="ECEAE5"/>
          </a:solidFill>
          <a:ln>
            <a:noFill/>
          </a:ln>
          <a:effectLst/>
        </p:spPr>
        <p:txBody>
          <a:bodyPr rtlCol="0" anchor="ctr"/>
          <a:lstStyle/>
          <a:p>
            <a:pPr algn="ctr"/>
          </a:p>
        </p:txBody>
      </p:sp>
      <p:sp>
        <p:nvSpPr>
          <p:cNvPr id="86" name="Rectangle 85"/>
          <p:cNvSpPr/>
          <p:nvPr/>
        </p:nvSpPr>
        <p:spPr>
          <a:xfrm>
            <a:off x="8101584" y="5370576"/>
            <a:ext cx="362102" cy="54864"/>
          </a:xfrm>
          <a:prstGeom prst="rect">
            <a:avLst/>
          </a:prstGeom>
          <a:solidFill>
            <a:srgbClr val="9AA3B2"/>
          </a:solidFill>
          <a:ln>
            <a:noFill/>
          </a:ln>
          <a:effectLst/>
        </p:spPr>
        <p:txBody>
          <a:bodyPr rtlCol="0" anchor="ctr"/>
          <a:lstStyle/>
          <a:p>
            <a:pPr algn="ctr"/>
          </a:p>
        </p:txBody>
      </p:sp>
      <p:sp>
        <p:nvSpPr>
          <p:cNvPr id="87" name="TextBox 86"/>
          <p:cNvSpPr txBox="1"/>
          <p:nvPr/>
        </p:nvSpPr>
        <p:spPr>
          <a:xfrm>
            <a:off x="10241280" y="5291328"/>
            <a:ext cx="792480" cy="182880"/>
          </a:xfrm>
          <a:prstGeom prst="rect">
            <a:avLst/>
          </a:prstGeom>
          <a:noFill/>
        </p:spPr>
        <p:txBody>
          <a:bodyPr wrap="square" anchor="ctr" lIns="0" rIns="0" tIns="0" bIns="0">
            <a:spAutoFit/>
          </a:bodyPr>
          <a:lstStyle/>
          <a:p>
            <a:pPr algn="r"/>
            <a:r>
              <a:rPr sz="1300" b="1" i="0">
                <a:solidFill>
                  <a:srgbClr val="111111"/>
                </a:solidFill>
                <a:latin typeface="Arial"/>
              </a:rPr>
              <a:t>18 %</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6F2"/>
          </a:solidFill>
          <a:ln>
            <a:noFill/>
          </a:ln>
          <a:effectLst/>
        </p:spPr>
        <p:txBody>
          <a:bodyPr rtlCol="0" anchor="ctr"/>
          <a:lstStyle/>
          <a:p>
            <a:pPr algn="ctr"/>
          </a:p>
        </p:txBody>
      </p:sp>
      <p:sp>
        <p:nvSpPr>
          <p:cNvPr id="3" name="TextBox 2"/>
          <p:cNvSpPr txBox="1"/>
          <p:nvPr/>
        </p:nvSpPr>
        <p:spPr>
          <a:xfrm>
            <a:off x="579120" y="426720"/>
            <a:ext cx="7315200" cy="182880"/>
          </a:xfrm>
          <a:prstGeom prst="rect">
            <a:avLst/>
          </a:prstGeom>
          <a:noFill/>
        </p:spPr>
        <p:txBody>
          <a:bodyPr wrap="square" anchor="t" lIns="0" rIns="0" tIns="0" bIns="0">
            <a:spAutoFit/>
          </a:bodyPr>
          <a:lstStyle/>
          <a:p>
            <a:pPr algn="l"/>
            <a:r>
              <a:rPr sz="1300" b="1" i="0">
                <a:solidFill>
                  <a:srgbClr val="EE6A2C"/>
                </a:solidFill>
                <a:latin typeface="Arial"/>
              </a:rPr>
              <a:t>INSIGHTS QUALITATIFS · SEPTEMBRE 2026</a:t>
            </a:r>
          </a:p>
        </p:txBody>
      </p:sp>
      <p:sp>
        <p:nvSpPr>
          <p:cNvPr id="4" name="TextBox 3"/>
          <p:cNvSpPr txBox="1"/>
          <p:nvPr/>
        </p:nvSpPr>
        <p:spPr>
          <a:xfrm>
            <a:off x="579120" y="609600"/>
            <a:ext cx="7315200" cy="487680"/>
          </a:xfrm>
          <a:prstGeom prst="rect">
            <a:avLst/>
          </a:prstGeom>
          <a:noFill/>
        </p:spPr>
        <p:txBody>
          <a:bodyPr wrap="square" anchor="t" lIns="0" rIns="0" tIns="0" bIns="0">
            <a:spAutoFit/>
          </a:bodyPr>
          <a:lstStyle/>
          <a:p>
            <a:pPr algn="l"/>
            <a:r>
              <a:rPr sz="3600" b="1" i="0">
                <a:solidFill>
                  <a:srgbClr val="111111"/>
                </a:solidFill>
                <a:latin typeface="Arial"/>
              </a:rPr>
              <a:t>Monoprix Mode</a:t>
            </a:r>
          </a:p>
        </p:txBody>
      </p:sp>
      <p:sp>
        <p:nvSpPr>
          <p:cNvPr id="5" name="TextBox 4"/>
          <p:cNvSpPr txBox="1"/>
          <p:nvPr/>
        </p:nvSpPr>
        <p:spPr>
          <a:xfrm>
            <a:off x="9144000" y="499872"/>
            <a:ext cx="1889760" cy="182880"/>
          </a:xfrm>
          <a:prstGeom prst="rect">
            <a:avLst/>
          </a:prstGeom>
          <a:noFill/>
        </p:spPr>
        <p:txBody>
          <a:bodyPr wrap="square" anchor="t" lIns="0" rIns="0" tIns="0" bIns="0">
            <a:spAutoFit/>
          </a:bodyPr>
          <a:lstStyle/>
          <a:p>
            <a:pPr algn="r"/>
            <a:r>
              <a:rPr sz="1500" b="1" i="0">
                <a:solidFill>
                  <a:srgbClr val="111111"/>
                </a:solidFill>
                <a:latin typeface="Arial"/>
              </a:rPr>
              <a:t>Lemrock</a:t>
            </a:r>
          </a:p>
        </p:txBody>
      </p:sp>
      <p:sp>
        <p:nvSpPr>
          <p:cNvPr id="6" name="TextBox 5"/>
          <p:cNvSpPr txBox="1"/>
          <p:nvPr/>
        </p:nvSpPr>
        <p:spPr>
          <a:xfrm>
            <a:off x="579120" y="1219200"/>
            <a:ext cx="9144000" cy="182880"/>
          </a:xfrm>
          <a:prstGeom prst="rect">
            <a:avLst/>
          </a:prstGeom>
          <a:noFill/>
        </p:spPr>
        <p:txBody>
          <a:bodyPr wrap="square" anchor="t" lIns="0" rIns="0" tIns="0" bIns="0">
            <a:spAutoFit/>
          </a:bodyPr>
          <a:lstStyle/>
          <a:p>
            <a:pPr algn="l"/>
            <a:r>
              <a:rPr sz="1300" b="1" i="0">
                <a:solidFill>
                  <a:srgbClr val="EE6A2C"/>
                </a:solidFill>
                <a:latin typeface="Arial"/>
              </a:rPr>
              <a:t>OBJECTIF   </a:t>
            </a:r>
            <a:r>
              <a:rPr sz="1300" b="0" i="0">
                <a:solidFill>
                  <a:srgbClr val="111111"/>
                </a:solidFill>
                <a:latin typeface="Arial"/>
              </a:rPr>
              <a:t>À définir</a:t>
            </a:r>
          </a:p>
        </p:txBody>
      </p:sp>
      <p:sp>
        <p:nvSpPr>
          <p:cNvPr id="7" name="TextBox 6"/>
          <p:cNvSpPr txBox="1"/>
          <p:nvPr/>
        </p:nvSpPr>
        <p:spPr>
          <a:xfrm>
            <a:off x="579120" y="1524000"/>
            <a:ext cx="4876800" cy="182880"/>
          </a:xfrm>
          <a:prstGeom prst="rect">
            <a:avLst/>
          </a:prstGeom>
          <a:noFill/>
        </p:spPr>
        <p:txBody>
          <a:bodyPr wrap="square" anchor="t" lIns="0" rIns="0" tIns="0" bIns="0">
            <a:spAutoFit/>
          </a:bodyPr>
          <a:lstStyle/>
          <a:p>
            <a:pPr algn="l"/>
            <a:r>
              <a:rPr sz="1400" b="1" i="0">
                <a:solidFill>
                  <a:srgbClr val="555B66"/>
                </a:solidFill>
                <a:latin typeface="Arial"/>
              </a:rPr>
              <a:t>INSIGHTS QUALITATIFS</a:t>
            </a:r>
          </a:p>
        </p:txBody>
      </p:sp>
      <p:sp>
        <p:nvSpPr>
          <p:cNvPr id="8" name="Rectangle 7"/>
          <p:cNvSpPr/>
          <p:nvPr/>
        </p:nvSpPr>
        <p:spPr>
          <a:xfrm>
            <a:off x="579120" y="1816608"/>
            <a:ext cx="5071872" cy="2121408"/>
          </a:xfrm>
          <a:prstGeom prst="rect">
            <a:avLst/>
          </a:prstGeom>
          <a:solidFill>
            <a:srgbClr val="FFFFFF"/>
          </a:solidFill>
          <a:ln>
            <a:noFill/>
          </a:ln>
          <a:effectLst/>
        </p:spPr>
        <p:txBody>
          <a:bodyPr rtlCol="0" anchor="ctr"/>
          <a:lstStyle/>
          <a:p>
            <a:pPr algn="ctr"/>
          </a:p>
        </p:txBody>
      </p:sp>
      <p:sp>
        <p:nvSpPr>
          <p:cNvPr id="9" name="TextBox 8"/>
          <p:cNvSpPr txBox="1"/>
          <p:nvPr/>
        </p:nvSpPr>
        <p:spPr>
          <a:xfrm>
            <a:off x="835152" y="2029968"/>
            <a:ext cx="487680" cy="243840"/>
          </a:xfrm>
          <a:prstGeom prst="rect">
            <a:avLst/>
          </a:prstGeom>
          <a:noFill/>
        </p:spPr>
        <p:txBody>
          <a:bodyPr wrap="square" anchor="t" lIns="0" rIns="0" tIns="0" bIns="0">
            <a:spAutoFit/>
          </a:bodyPr>
          <a:lstStyle/>
          <a:p>
            <a:pPr algn="l"/>
            <a:r>
              <a:rPr sz="2000" b="1" i="0">
                <a:solidFill>
                  <a:srgbClr val="EE6A2C"/>
                </a:solidFill>
                <a:latin typeface="Arial"/>
              </a:rPr>
              <a:t>01</a:t>
            </a:r>
          </a:p>
        </p:txBody>
      </p:sp>
      <p:sp>
        <p:nvSpPr>
          <p:cNvPr id="10" name="TextBox 9"/>
          <p:cNvSpPr txBox="1"/>
          <p:nvPr/>
        </p:nvSpPr>
        <p:spPr>
          <a:xfrm>
            <a:off x="1383792" y="2048256"/>
            <a:ext cx="4023360" cy="365760"/>
          </a:xfrm>
          <a:prstGeom prst="rect">
            <a:avLst/>
          </a:prstGeom>
          <a:noFill/>
        </p:spPr>
        <p:txBody>
          <a:bodyPr wrap="square" anchor="t" lIns="0" rIns="0" tIns="0" bIns="0">
            <a:spAutoFit/>
          </a:bodyPr>
          <a:lstStyle/>
          <a:p>
            <a:pPr algn="l"/>
            <a:r>
              <a:rPr sz="1400" b="1" i="0">
                <a:solidFill>
                  <a:srgbClr val="111111"/>
                </a:solidFill>
                <a:latin typeface="Arial"/>
              </a:rPr>
              <a:t>Les collants restent le point fort</a:t>
            </a:r>
          </a:p>
        </p:txBody>
      </p:sp>
      <p:sp>
        <p:nvSpPr>
          <p:cNvPr id="11" name="TextBox 10"/>
          <p:cNvSpPr txBox="1"/>
          <p:nvPr/>
        </p:nvSpPr>
        <p:spPr>
          <a:xfrm>
            <a:off x="835152" y="2609088"/>
            <a:ext cx="4572000" cy="731520"/>
          </a:xfrm>
          <a:prstGeom prst="rect">
            <a:avLst/>
          </a:prstGeom>
          <a:noFill/>
        </p:spPr>
        <p:txBody>
          <a:bodyPr wrap="square" anchor="t" lIns="0" rIns="0" tIns="0" bIns="0">
            <a:spAutoFit/>
          </a:bodyPr>
          <a:lstStyle/>
          <a:p>
            <a:pPr algn="l"/>
            <a:r>
              <a:rPr sz="1100" b="0" i="0">
                <a:solidFill>
                  <a:srgbClr val="555B66"/>
                </a:solidFill>
                <a:latin typeface="Arial"/>
              </a:rPr>
              <a:t>Les collants Sublim DIM et les bas nylon atteignent jusqu'à 1,26 fois le CTR moyen.</a:t>
            </a:r>
          </a:p>
        </p:txBody>
      </p:sp>
      <p:sp>
        <p:nvSpPr>
          <p:cNvPr id="12" name="TextBox 11"/>
          <p:cNvSpPr txBox="1"/>
          <p:nvPr/>
        </p:nvSpPr>
        <p:spPr>
          <a:xfrm>
            <a:off x="835152" y="3310128"/>
            <a:ext cx="4572000" cy="487680"/>
          </a:xfrm>
          <a:prstGeom prst="rect">
            <a:avLst/>
          </a:prstGeom>
          <a:noFill/>
        </p:spPr>
        <p:txBody>
          <a:bodyPr wrap="square" anchor="t" lIns="0" rIns="0" tIns="0" bIns="0">
            <a:spAutoFit/>
          </a:bodyPr>
          <a:lstStyle/>
          <a:p>
            <a:pPr algn="l"/>
            <a:r>
              <a:rPr sz="900" b="1" i="0">
                <a:solidFill>
                  <a:srgbClr val="555B66"/>
                </a:solidFill>
                <a:latin typeface="Arial"/>
              </a:rPr>
              <a:t>→  Garder les collants au cœur de la campagne, surtout avec l'arrivée du froid.</a:t>
            </a:r>
          </a:p>
        </p:txBody>
      </p:sp>
      <p:sp>
        <p:nvSpPr>
          <p:cNvPr id="13" name="Rectangle 12"/>
          <p:cNvSpPr/>
          <p:nvPr/>
        </p:nvSpPr>
        <p:spPr>
          <a:xfrm>
            <a:off x="5992368" y="1816608"/>
            <a:ext cx="5071872" cy="2121408"/>
          </a:xfrm>
          <a:prstGeom prst="rect">
            <a:avLst/>
          </a:prstGeom>
          <a:solidFill>
            <a:srgbClr val="FFFFFF"/>
          </a:solidFill>
          <a:ln>
            <a:noFill/>
          </a:ln>
          <a:effectLst/>
        </p:spPr>
        <p:txBody>
          <a:bodyPr rtlCol="0" anchor="ctr"/>
          <a:lstStyle/>
          <a:p>
            <a:pPr algn="ctr"/>
          </a:p>
        </p:txBody>
      </p:sp>
      <p:sp>
        <p:nvSpPr>
          <p:cNvPr id="14" name="TextBox 13"/>
          <p:cNvSpPr txBox="1"/>
          <p:nvPr/>
        </p:nvSpPr>
        <p:spPr>
          <a:xfrm>
            <a:off x="6248400" y="2029968"/>
            <a:ext cx="487680" cy="243840"/>
          </a:xfrm>
          <a:prstGeom prst="rect">
            <a:avLst/>
          </a:prstGeom>
          <a:noFill/>
        </p:spPr>
        <p:txBody>
          <a:bodyPr wrap="square" anchor="t" lIns="0" rIns="0" tIns="0" bIns="0">
            <a:spAutoFit/>
          </a:bodyPr>
          <a:lstStyle/>
          <a:p>
            <a:pPr algn="l"/>
            <a:r>
              <a:rPr sz="2000" b="1" i="0">
                <a:solidFill>
                  <a:srgbClr val="EE6A2C"/>
                </a:solidFill>
                <a:latin typeface="Arial"/>
              </a:rPr>
              <a:t>02</a:t>
            </a:r>
          </a:p>
        </p:txBody>
      </p:sp>
      <p:sp>
        <p:nvSpPr>
          <p:cNvPr id="15" name="TextBox 14"/>
          <p:cNvSpPr txBox="1"/>
          <p:nvPr/>
        </p:nvSpPr>
        <p:spPr>
          <a:xfrm>
            <a:off x="6797040" y="2048256"/>
            <a:ext cx="4023360" cy="365760"/>
          </a:xfrm>
          <a:prstGeom prst="rect">
            <a:avLst/>
          </a:prstGeom>
          <a:noFill/>
        </p:spPr>
        <p:txBody>
          <a:bodyPr wrap="square" anchor="t" lIns="0" rIns="0" tIns="0" bIns="0">
            <a:spAutoFit/>
          </a:bodyPr>
          <a:lstStyle/>
          <a:p>
            <a:pPr algn="l"/>
            <a:r>
              <a:rPr sz="1400" b="1" i="0">
                <a:solidFill>
                  <a:srgbClr val="111111"/>
                </a:solidFill>
                <a:latin typeface="Arial"/>
              </a:rPr>
              <a:t>La papeterie scolaire surprend</a:t>
            </a:r>
          </a:p>
        </p:txBody>
      </p:sp>
      <p:sp>
        <p:nvSpPr>
          <p:cNvPr id="16" name="TextBox 15"/>
          <p:cNvSpPr txBox="1"/>
          <p:nvPr/>
        </p:nvSpPr>
        <p:spPr>
          <a:xfrm>
            <a:off x="6248400" y="2609088"/>
            <a:ext cx="4572000" cy="731520"/>
          </a:xfrm>
          <a:prstGeom prst="rect">
            <a:avLst/>
          </a:prstGeom>
          <a:noFill/>
        </p:spPr>
        <p:txBody>
          <a:bodyPr wrap="square" anchor="t" lIns="0" rIns="0" tIns="0" bIns="0">
            <a:spAutoFit/>
          </a:bodyPr>
          <a:lstStyle/>
          <a:p>
            <a:pPr algn="l"/>
            <a:r>
              <a:rPr sz="1100" b="0" i="0">
                <a:solidFill>
                  <a:srgbClr val="555B66"/>
                </a:solidFill>
                <a:latin typeface="Arial"/>
              </a:rPr>
              <a:t>Les pochettes de papier à dessin Canson atteignent 1,23 fois la moyenne, et les fournitures scolaires 1,15 fois.</a:t>
            </a:r>
          </a:p>
        </p:txBody>
      </p:sp>
      <p:sp>
        <p:nvSpPr>
          <p:cNvPr id="17" name="TextBox 16"/>
          <p:cNvSpPr txBox="1"/>
          <p:nvPr/>
        </p:nvSpPr>
        <p:spPr>
          <a:xfrm>
            <a:off x="6248400" y="3310128"/>
            <a:ext cx="4572000" cy="487680"/>
          </a:xfrm>
          <a:prstGeom prst="rect">
            <a:avLst/>
          </a:prstGeom>
          <a:noFill/>
        </p:spPr>
        <p:txBody>
          <a:bodyPr wrap="square" anchor="t" lIns="0" rIns="0" tIns="0" bIns="0">
            <a:spAutoFit/>
          </a:bodyPr>
          <a:lstStyle/>
          <a:p>
            <a:pPr algn="l"/>
            <a:r>
              <a:rPr sz="900" b="1" i="0">
                <a:solidFill>
                  <a:srgbClr val="555B66"/>
                </a:solidFill>
                <a:latin typeface="Arial"/>
              </a:rPr>
              <a:t>→  Profiter de la rentrée pour garder la papeterie dans la diffusion.</a:t>
            </a:r>
          </a:p>
        </p:txBody>
      </p:sp>
      <p:sp>
        <p:nvSpPr>
          <p:cNvPr id="18" name="Rectangle 17"/>
          <p:cNvSpPr/>
          <p:nvPr/>
        </p:nvSpPr>
        <p:spPr>
          <a:xfrm>
            <a:off x="579120" y="4133088"/>
            <a:ext cx="5071872" cy="2121408"/>
          </a:xfrm>
          <a:prstGeom prst="rect">
            <a:avLst/>
          </a:prstGeom>
          <a:solidFill>
            <a:srgbClr val="FFFFFF"/>
          </a:solidFill>
          <a:ln>
            <a:noFill/>
          </a:ln>
          <a:effectLst/>
        </p:spPr>
        <p:txBody>
          <a:bodyPr rtlCol="0" anchor="ctr"/>
          <a:lstStyle/>
          <a:p>
            <a:pPr algn="ctr"/>
          </a:p>
        </p:txBody>
      </p:sp>
      <p:sp>
        <p:nvSpPr>
          <p:cNvPr id="19" name="TextBox 18"/>
          <p:cNvSpPr txBox="1"/>
          <p:nvPr/>
        </p:nvSpPr>
        <p:spPr>
          <a:xfrm>
            <a:off x="835152" y="4346448"/>
            <a:ext cx="487680" cy="243840"/>
          </a:xfrm>
          <a:prstGeom prst="rect">
            <a:avLst/>
          </a:prstGeom>
          <a:noFill/>
        </p:spPr>
        <p:txBody>
          <a:bodyPr wrap="square" anchor="t" lIns="0" rIns="0" tIns="0" bIns="0">
            <a:spAutoFit/>
          </a:bodyPr>
          <a:lstStyle/>
          <a:p>
            <a:pPr algn="l"/>
            <a:r>
              <a:rPr sz="2000" b="1" i="0">
                <a:solidFill>
                  <a:srgbClr val="EE6A2C"/>
                </a:solidFill>
                <a:latin typeface="Arial"/>
              </a:rPr>
              <a:t>03</a:t>
            </a:r>
          </a:p>
        </p:txBody>
      </p:sp>
      <p:sp>
        <p:nvSpPr>
          <p:cNvPr id="20" name="TextBox 19"/>
          <p:cNvSpPr txBox="1"/>
          <p:nvPr/>
        </p:nvSpPr>
        <p:spPr>
          <a:xfrm>
            <a:off x="1383792" y="4364736"/>
            <a:ext cx="4023360" cy="365760"/>
          </a:xfrm>
          <a:prstGeom prst="rect">
            <a:avLst/>
          </a:prstGeom>
          <a:noFill/>
        </p:spPr>
        <p:txBody>
          <a:bodyPr wrap="square" anchor="t" lIns="0" rIns="0" tIns="0" bIns="0">
            <a:spAutoFit/>
          </a:bodyPr>
          <a:lstStyle/>
          <a:p>
            <a:pPr algn="l"/>
            <a:r>
              <a:rPr sz="1400" b="1" i="0">
                <a:solidFill>
                  <a:srgbClr val="111111"/>
                </a:solidFill>
                <a:latin typeface="Arial"/>
              </a:rPr>
              <a:t>Revoir la lingerie et le linge de maison</a:t>
            </a:r>
          </a:p>
        </p:txBody>
      </p:sp>
      <p:sp>
        <p:nvSpPr>
          <p:cNvPr id="21" name="TextBox 20"/>
          <p:cNvSpPr txBox="1"/>
          <p:nvPr/>
        </p:nvSpPr>
        <p:spPr>
          <a:xfrm>
            <a:off x="835152" y="4925568"/>
            <a:ext cx="4572000" cy="731520"/>
          </a:xfrm>
          <a:prstGeom prst="rect">
            <a:avLst/>
          </a:prstGeom>
          <a:noFill/>
        </p:spPr>
        <p:txBody>
          <a:bodyPr wrap="square" anchor="t" lIns="0" rIns="0" tIns="0" bIns="0">
            <a:spAutoFit/>
          </a:bodyPr>
          <a:lstStyle/>
          <a:p>
            <a:pPr algn="l"/>
            <a:r>
              <a:rPr sz="1100" b="0" i="0">
                <a:solidFill>
                  <a:srgbClr val="555B66"/>
                </a:solidFill>
                <a:latin typeface="Arial"/>
              </a:rPr>
              <a:t>Les lots de slips DIM (0,86 fois) et le drap housse bio (0,77 fois) restent sous la moyenne.</a:t>
            </a:r>
          </a:p>
        </p:txBody>
      </p:sp>
      <p:sp>
        <p:nvSpPr>
          <p:cNvPr id="22" name="TextBox 21"/>
          <p:cNvSpPr txBox="1"/>
          <p:nvPr/>
        </p:nvSpPr>
        <p:spPr>
          <a:xfrm>
            <a:off x="835152" y="5626608"/>
            <a:ext cx="4572000" cy="487680"/>
          </a:xfrm>
          <a:prstGeom prst="rect">
            <a:avLst/>
          </a:prstGeom>
          <a:noFill/>
        </p:spPr>
        <p:txBody>
          <a:bodyPr wrap="square" anchor="t" lIns="0" rIns="0" tIns="0" bIns="0">
            <a:spAutoFit/>
          </a:bodyPr>
          <a:lstStyle/>
          <a:p>
            <a:pPr algn="l"/>
            <a:r>
              <a:rPr sz="900" b="1" i="0">
                <a:solidFill>
                  <a:srgbClr val="555B66"/>
                </a:solidFill>
                <a:latin typeface="Arial"/>
              </a:rPr>
              <a:t>→  Mettre en avant un bénéfice concret (confort, maintien) plutôt que le lot.</a:t>
            </a:r>
          </a:p>
        </p:txBody>
      </p:sp>
      <p:sp>
        <p:nvSpPr>
          <p:cNvPr id="23" name="Rectangle 22"/>
          <p:cNvSpPr/>
          <p:nvPr/>
        </p:nvSpPr>
        <p:spPr>
          <a:xfrm>
            <a:off x="5992368" y="4133088"/>
            <a:ext cx="5071872" cy="2121408"/>
          </a:xfrm>
          <a:prstGeom prst="rect">
            <a:avLst/>
          </a:prstGeom>
          <a:solidFill>
            <a:srgbClr val="FFFFFF"/>
          </a:solidFill>
          <a:ln>
            <a:noFill/>
          </a:ln>
          <a:effectLst/>
        </p:spPr>
        <p:txBody>
          <a:bodyPr rtlCol="0" anchor="ctr"/>
          <a:lstStyle/>
          <a:p>
            <a:pPr algn="ctr"/>
          </a:p>
        </p:txBody>
      </p:sp>
      <p:sp>
        <p:nvSpPr>
          <p:cNvPr id="24" name="TextBox 23"/>
          <p:cNvSpPr txBox="1"/>
          <p:nvPr/>
        </p:nvSpPr>
        <p:spPr>
          <a:xfrm>
            <a:off x="6248400" y="4346448"/>
            <a:ext cx="487680" cy="243840"/>
          </a:xfrm>
          <a:prstGeom prst="rect">
            <a:avLst/>
          </a:prstGeom>
          <a:noFill/>
        </p:spPr>
        <p:txBody>
          <a:bodyPr wrap="square" anchor="t" lIns="0" rIns="0" tIns="0" bIns="0">
            <a:spAutoFit/>
          </a:bodyPr>
          <a:lstStyle/>
          <a:p>
            <a:pPr algn="l"/>
            <a:r>
              <a:rPr sz="2000" b="1" i="0">
                <a:solidFill>
                  <a:srgbClr val="EE6A2C"/>
                </a:solidFill>
                <a:latin typeface="Arial"/>
              </a:rPr>
              <a:t>04</a:t>
            </a:r>
          </a:p>
        </p:txBody>
      </p:sp>
      <p:sp>
        <p:nvSpPr>
          <p:cNvPr id="25" name="TextBox 24"/>
          <p:cNvSpPr txBox="1"/>
          <p:nvPr/>
        </p:nvSpPr>
        <p:spPr>
          <a:xfrm>
            <a:off x="6797040" y="4364736"/>
            <a:ext cx="4023360" cy="365760"/>
          </a:xfrm>
          <a:prstGeom prst="rect">
            <a:avLst/>
          </a:prstGeom>
          <a:noFill/>
        </p:spPr>
        <p:txBody>
          <a:bodyPr wrap="square" anchor="t" lIns="0" rIns="0" tIns="0" bIns="0">
            <a:spAutoFit/>
          </a:bodyPr>
          <a:lstStyle/>
          <a:p>
            <a:pPr algn="l"/>
            <a:r>
              <a:rPr sz="1400" b="1" i="0">
                <a:solidFill>
                  <a:srgbClr val="111111"/>
                </a:solidFill>
                <a:latin typeface="Arial"/>
              </a:rPr>
              <a:t>Moins d'impressions, plus de clics</a:t>
            </a:r>
          </a:p>
        </p:txBody>
      </p:sp>
      <p:sp>
        <p:nvSpPr>
          <p:cNvPr id="26" name="TextBox 25"/>
          <p:cNvSpPr txBox="1"/>
          <p:nvPr/>
        </p:nvSpPr>
        <p:spPr>
          <a:xfrm>
            <a:off x="6248400" y="4925568"/>
            <a:ext cx="4572000" cy="731520"/>
          </a:xfrm>
          <a:prstGeom prst="rect">
            <a:avLst/>
          </a:prstGeom>
          <a:noFill/>
        </p:spPr>
        <p:txBody>
          <a:bodyPr wrap="square" anchor="t" lIns="0" rIns="0" tIns="0" bIns="0">
            <a:spAutoFit/>
          </a:bodyPr>
          <a:lstStyle/>
          <a:p>
            <a:pPr algn="l"/>
            <a:r>
              <a:rPr sz="1100" b="0" i="0">
                <a:solidFill>
                  <a:srgbClr val="555B66"/>
                </a:solidFill>
                <a:latin typeface="Arial"/>
              </a:rPr>
              <a:t>Les impressions baissent de 52 % mais les clics progressent de 24 %. Le CTR passe de 0,19 % à 0,48 %.</a:t>
            </a:r>
          </a:p>
        </p:txBody>
      </p:sp>
      <p:sp>
        <p:nvSpPr>
          <p:cNvPr id="27" name="TextBox 26"/>
          <p:cNvSpPr txBox="1"/>
          <p:nvPr/>
        </p:nvSpPr>
        <p:spPr>
          <a:xfrm>
            <a:off x="6248400" y="5626608"/>
            <a:ext cx="4572000" cy="487680"/>
          </a:xfrm>
          <a:prstGeom prst="rect">
            <a:avLst/>
          </a:prstGeom>
          <a:noFill/>
        </p:spPr>
        <p:txBody>
          <a:bodyPr wrap="square" anchor="t" lIns="0" rIns="0" tIns="0" bIns="0">
            <a:spAutoFit/>
          </a:bodyPr>
          <a:lstStyle/>
          <a:p>
            <a:pPr algn="l"/>
            <a:r>
              <a:rPr sz="900" b="1" i="0">
                <a:solidFill>
                  <a:srgbClr val="555B66"/>
                </a:solidFill>
                <a:latin typeface="Arial"/>
              </a:rPr>
              <a:t>→  Vérifier le tracking des conversions.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6F2"/>
          </a:solidFill>
          <a:ln>
            <a:noFill/>
          </a:ln>
          <a:effectLst/>
        </p:spPr>
        <p:txBody>
          <a:bodyPr rtlCol="0" anchor="ctr"/>
          <a:lstStyle/>
          <a:p>
            <a:pPr algn="ctr"/>
          </a:p>
        </p:txBody>
      </p:sp>
      <p:sp>
        <p:nvSpPr>
          <p:cNvPr id="3" name="TextBox 2"/>
          <p:cNvSpPr txBox="1"/>
          <p:nvPr/>
        </p:nvSpPr>
        <p:spPr>
          <a:xfrm>
            <a:off x="530352" y="487680"/>
            <a:ext cx="7315200" cy="182880"/>
          </a:xfrm>
          <a:prstGeom prst="rect">
            <a:avLst/>
          </a:prstGeom>
          <a:noFill/>
        </p:spPr>
        <p:txBody>
          <a:bodyPr wrap="square" anchor="t" lIns="0" rIns="0" tIns="0" bIns="0">
            <a:spAutoFit/>
          </a:bodyPr>
          <a:lstStyle/>
          <a:p>
            <a:pPr algn="l"/>
            <a:r>
              <a:rPr sz="1300" b="1" i="0">
                <a:solidFill>
                  <a:srgbClr val="EE6A2C"/>
                </a:solidFill>
                <a:latin typeface="Arial"/>
              </a:rPr>
              <a:t>RAPPORT DE PERFORMANCE · 01/09/2026 → 30/09/2026</a:t>
            </a:r>
          </a:p>
        </p:txBody>
      </p:sp>
      <p:sp>
        <p:nvSpPr>
          <p:cNvPr id="4" name="TextBox 3"/>
          <p:cNvSpPr txBox="1"/>
          <p:nvPr/>
        </p:nvSpPr>
        <p:spPr>
          <a:xfrm>
            <a:off x="530352" y="640080"/>
            <a:ext cx="7315200" cy="487680"/>
          </a:xfrm>
          <a:prstGeom prst="rect">
            <a:avLst/>
          </a:prstGeom>
          <a:noFill/>
        </p:spPr>
        <p:txBody>
          <a:bodyPr wrap="square" anchor="t" lIns="0" rIns="0" tIns="0" bIns="0">
            <a:spAutoFit/>
          </a:bodyPr>
          <a:lstStyle/>
          <a:p>
            <a:pPr algn="l"/>
            <a:r>
              <a:rPr sz="3600" b="1" i="0">
                <a:solidFill>
                  <a:srgbClr val="111111"/>
                </a:solidFill>
                <a:latin typeface="Arial"/>
              </a:rPr>
              <a:t>Pierre &amp; Vacances</a:t>
            </a:r>
          </a:p>
        </p:txBody>
      </p:sp>
      <p:sp>
        <p:nvSpPr>
          <p:cNvPr id="5" name="TextBox 4"/>
          <p:cNvSpPr txBox="1"/>
          <p:nvPr/>
        </p:nvSpPr>
        <p:spPr>
          <a:xfrm>
            <a:off x="7924800" y="591312"/>
            <a:ext cx="3304032" cy="152400"/>
          </a:xfrm>
          <a:prstGeom prst="rect">
            <a:avLst/>
          </a:prstGeom>
          <a:noFill/>
        </p:spPr>
        <p:txBody>
          <a:bodyPr wrap="square" anchor="t" lIns="0" rIns="0" tIns="0" bIns="0">
            <a:spAutoFit/>
          </a:bodyPr>
          <a:lstStyle/>
          <a:p>
            <a:pPr algn="r"/>
            <a:r>
              <a:rPr sz="1200" b="1" i="0">
                <a:solidFill>
                  <a:srgbClr val="8A93A6"/>
                </a:solidFill>
                <a:latin typeface="Arial"/>
              </a:rPr>
              <a:t>COMPARAISON</a:t>
            </a:r>
          </a:p>
        </p:txBody>
      </p:sp>
      <p:sp>
        <p:nvSpPr>
          <p:cNvPr id="6" name="TextBox 5"/>
          <p:cNvSpPr txBox="1"/>
          <p:nvPr/>
        </p:nvSpPr>
        <p:spPr>
          <a:xfrm>
            <a:off x="7924800" y="780288"/>
            <a:ext cx="3304032" cy="182880"/>
          </a:xfrm>
          <a:prstGeom prst="rect">
            <a:avLst/>
          </a:prstGeom>
          <a:noFill/>
        </p:spPr>
        <p:txBody>
          <a:bodyPr wrap="square" anchor="t" lIns="0" rIns="0" tIns="0" bIns="0">
            <a:spAutoFit/>
          </a:bodyPr>
          <a:lstStyle/>
          <a:p>
            <a:pPr algn="r"/>
            <a:r>
              <a:rPr sz="1500" b="1" i="0">
                <a:solidFill>
                  <a:srgbClr val="111111"/>
                </a:solidFill>
                <a:latin typeface="Arial"/>
              </a:rPr>
              <a:t>vs 01/08/2026 → 31/08/2026</a:t>
            </a:r>
          </a:p>
        </p:txBody>
      </p:sp>
      <p:sp>
        <p:nvSpPr>
          <p:cNvPr id="7" name="TextBox 6"/>
          <p:cNvSpPr txBox="1"/>
          <p:nvPr/>
        </p:nvSpPr>
        <p:spPr>
          <a:xfrm>
            <a:off x="530352" y="1280160"/>
            <a:ext cx="2438400" cy="182880"/>
          </a:xfrm>
          <a:prstGeom prst="rect">
            <a:avLst/>
          </a:prstGeom>
          <a:noFill/>
        </p:spPr>
        <p:txBody>
          <a:bodyPr wrap="square" anchor="t" lIns="0" rIns="0" tIns="0" bIns="0">
            <a:spAutoFit/>
          </a:bodyPr>
          <a:lstStyle/>
          <a:p>
            <a:pPr algn="l"/>
            <a:r>
              <a:rPr sz="1400" b="1" i="0">
                <a:solidFill>
                  <a:srgbClr val="EE6A2C"/>
                </a:solidFill>
                <a:latin typeface="Arial"/>
              </a:rPr>
              <a:t>DIFFUSION</a:t>
            </a:r>
          </a:p>
        </p:txBody>
      </p:sp>
      <p:sp>
        <p:nvSpPr>
          <p:cNvPr id="8" name="TextBox 7"/>
          <p:cNvSpPr txBox="1"/>
          <p:nvPr/>
        </p:nvSpPr>
        <p:spPr>
          <a:xfrm>
            <a:off x="2389632" y="1280160"/>
            <a:ext cx="2438400" cy="182880"/>
          </a:xfrm>
          <a:prstGeom prst="rect">
            <a:avLst/>
          </a:prstGeom>
          <a:noFill/>
        </p:spPr>
        <p:txBody>
          <a:bodyPr wrap="square" anchor="t" lIns="0" rIns="0" tIns="0" bIns="0">
            <a:spAutoFit/>
          </a:bodyPr>
          <a:lstStyle/>
          <a:p>
            <a:pPr algn="l"/>
            <a:r>
              <a:rPr sz="1400" b="1" i="0">
                <a:solidFill>
                  <a:srgbClr val="EE6A2C"/>
                </a:solidFill>
                <a:latin typeface="Arial"/>
              </a:rPr>
              <a:t>ENGAGEMENT</a:t>
            </a:r>
          </a:p>
        </p:txBody>
      </p:sp>
      <p:sp>
        <p:nvSpPr>
          <p:cNvPr id="9" name="TextBox 8"/>
          <p:cNvSpPr txBox="1"/>
          <p:nvPr/>
        </p:nvSpPr>
        <p:spPr>
          <a:xfrm>
            <a:off x="6108192" y="1280160"/>
            <a:ext cx="2438400" cy="182880"/>
          </a:xfrm>
          <a:prstGeom prst="rect">
            <a:avLst/>
          </a:prstGeom>
          <a:noFill/>
        </p:spPr>
        <p:txBody>
          <a:bodyPr wrap="square" anchor="t" lIns="0" rIns="0" tIns="0" bIns="0">
            <a:spAutoFit/>
          </a:bodyPr>
          <a:lstStyle/>
          <a:p>
            <a:pPr algn="l"/>
            <a:r>
              <a:rPr sz="1400" b="1" i="0">
                <a:solidFill>
                  <a:srgbClr val="EE6A2C"/>
                </a:solidFill>
                <a:latin typeface="Arial"/>
              </a:rPr>
              <a:t>CONVERSION</a:t>
            </a:r>
          </a:p>
        </p:txBody>
      </p:sp>
      <p:sp>
        <p:nvSpPr>
          <p:cNvPr id="10" name="Rectangle 9"/>
          <p:cNvSpPr/>
          <p:nvPr/>
        </p:nvSpPr>
        <p:spPr>
          <a:xfrm>
            <a:off x="530352" y="1536192"/>
            <a:ext cx="1389888" cy="1127760"/>
          </a:xfrm>
          <a:prstGeom prst="rect">
            <a:avLst/>
          </a:prstGeom>
          <a:solidFill>
            <a:srgbClr val="FFFFFF"/>
          </a:solidFill>
          <a:ln>
            <a:noFill/>
          </a:ln>
          <a:effectLst/>
        </p:spPr>
        <p:txBody>
          <a:bodyPr rtlCol="0" anchor="ctr"/>
          <a:lstStyle/>
          <a:p>
            <a:pPr algn="ctr"/>
          </a:p>
        </p:txBody>
      </p:sp>
      <p:sp>
        <p:nvSpPr>
          <p:cNvPr id="11" name="Rectangle 10"/>
          <p:cNvSpPr/>
          <p:nvPr/>
        </p:nvSpPr>
        <p:spPr>
          <a:xfrm>
            <a:off x="530352" y="1536192"/>
            <a:ext cx="24384" cy="1127760"/>
          </a:xfrm>
          <a:prstGeom prst="rect">
            <a:avLst/>
          </a:prstGeom>
          <a:solidFill>
            <a:srgbClr val="EE6A2C"/>
          </a:solidFill>
          <a:ln>
            <a:noFill/>
          </a:ln>
          <a:effectLst/>
        </p:spPr>
        <p:txBody>
          <a:bodyPr rtlCol="0" anchor="ctr"/>
          <a:lstStyle/>
          <a:p>
            <a:pPr algn="ctr"/>
          </a:p>
        </p:txBody>
      </p:sp>
      <p:sp>
        <p:nvSpPr>
          <p:cNvPr id="12" name="TextBox 11"/>
          <p:cNvSpPr txBox="1"/>
          <p:nvPr/>
        </p:nvSpPr>
        <p:spPr>
          <a:xfrm>
            <a:off x="664464" y="1615440"/>
            <a:ext cx="1219200" cy="121920"/>
          </a:xfrm>
          <a:prstGeom prst="rect">
            <a:avLst/>
          </a:prstGeom>
          <a:noFill/>
        </p:spPr>
        <p:txBody>
          <a:bodyPr wrap="square" anchor="t" lIns="0" rIns="0" tIns="0" bIns="0">
            <a:spAutoFit/>
          </a:bodyPr>
          <a:lstStyle/>
          <a:p>
            <a:pPr algn="l"/>
            <a:r>
              <a:rPr sz="1000" b="1" i="0">
                <a:solidFill>
                  <a:srgbClr val="555B66"/>
                </a:solidFill>
                <a:latin typeface="Arial"/>
              </a:rPr>
              <a:t>IMPRESSIONS</a:t>
            </a:r>
          </a:p>
        </p:txBody>
      </p:sp>
      <p:sp>
        <p:nvSpPr>
          <p:cNvPr id="13" name="TextBox 12"/>
          <p:cNvSpPr txBox="1"/>
          <p:nvPr/>
        </p:nvSpPr>
        <p:spPr>
          <a:xfrm>
            <a:off x="664464" y="1889760"/>
            <a:ext cx="1219200" cy="274320"/>
          </a:xfrm>
          <a:prstGeom prst="rect">
            <a:avLst/>
          </a:prstGeom>
          <a:noFill/>
        </p:spPr>
        <p:txBody>
          <a:bodyPr wrap="square" anchor="t" lIns="0" rIns="0" tIns="0" bIns="0">
            <a:spAutoFit/>
          </a:bodyPr>
          <a:lstStyle/>
          <a:p>
            <a:pPr algn="l"/>
            <a:r>
              <a:rPr sz="2200" b="1" i="0">
                <a:solidFill>
                  <a:srgbClr val="111111"/>
                </a:solidFill>
                <a:latin typeface="Arial"/>
              </a:rPr>
              <a:t>638 950</a:t>
            </a:r>
          </a:p>
        </p:txBody>
      </p:sp>
      <p:sp>
        <p:nvSpPr>
          <p:cNvPr id="14" name="TextBox 13"/>
          <p:cNvSpPr txBox="1"/>
          <p:nvPr/>
        </p:nvSpPr>
        <p:spPr>
          <a:xfrm>
            <a:off x="664464" y="2243328"/>
            <a:ext cx="1219200" cy="109728"/>
          </a:xfrm>
          <a:prstGeom prst="rect">
            <a:avLst/>
          </a:prstGeom>
          <a:noFill/>
        </p:spPr>
        <p:txBody>
          <a:bodyPr wrap="square" anchor="t" lIns="0" rIns="0" tIns="0" bIns="0">
            <a:spAutoFit/>
          </a:bodyPr>
          <a:lstStyle/>
          <a:p>
            <a:pPr algn="l"/>
            <a:r>
              <a:rPr sz="1000" b="1" i="0">
                <a:solidFill>
                  <a:srgbClr val="555B66"/>
                </a:solidFill>
                <a:latin typeface="Arial"/>
              </a:rPr>
              <a:t>—</a:t>
            </a:r>
          </a:p>
        </p:txBody>
      </p:sp>
      <p:sp>
        <p:nvSpPr>
          <p:cNvPr id="15" name="TextBox 14"/>
          <p:cNvSpPr txBox="1"/>
          <p:nvPr/>
        </p:nvSpPr>
        <p:spPr>
          <a:xfrm>
            <a:off x="664464" y="2499360"/>
            <a:ext cx="1219200" cy="91440"/>
          </a:xfrm>
          <a:prstGeom prst="rect">
            <a:avLst/>
          </a:prstGeom>
          <a:noFill/>
        </p:spPr>
        <p:txBody>
          <a:bodyPr wrap="square" anchor="t" lIns="0" rIns="0" tIns="0" bIns="0">
            <a:spAutoFit/>
          </a:bodyPr>
          <a:lstStyle/>
          <a:p>
            <a:pPr algn="l"/>
            <a:r>
              <a:rPr sz="800" b="0" i="1">
                <a:solidFill>
                  <a:srgbClr val="555B66"/>
                </a:solidFill>
                <a:latin typeface="Arial"/>
              </a:rPr>
              <a:t>YTD 638 950</a:t>
            </a:r>
          </a:p>
        </p:txBody>
      </p:sp>
      <p:sp>
        <p:nvSpPr>
          <p:cNvPr id="16" name="Rectangle 15"/>
          <p:cNvSpPr/>
          <p:nvPr/>
        </p:nvSpPr>
        <p:spPr>
          <a:xfrm>
            <a:off x="2389632" y="1536192"/>
            <a:ext cx="1389888" cy="1127760"/>
          </a:xfrm>
          <a:prstGeom prst="rect">
            <a:avLst/>
          </a:prstGeom>
          <a:solidFill>
            <a:srgbClr val="FFFFFF"/>
          </a:solidFill>
          <a:ln>
            <a:noFill/>
          </a:ln>
          <a:effectLst/>
        </p:spPr>
        <p:txBody>
          <a:bodyPr rtlCol="0" anchor="ctr"/>
          <a:lstStyle/>
          <a:p>
            <a:pPr algn="ctr"/>
          </a:p>
        </p:txBody>
      </p:sp>
      <p:sp>
        <p:nvSpPr>
          <p:cNvPr id="17" name="Rectangle 16"/>
          <p:cNvSpPr/>
          <p:nvPr/>
        </p:nvSpPr>
        <p:spPr>
          <a:xfrm>
            <a:off x="2389632" y="1536192"/>
            <a:ext cx="24384" cy="1127760"/>
          </a:xfrm>
          <a:prstGeom prst="rect">
            <a:avLst/>
          </a:prstGeom>
          <a:solidFill>
            <a:srgbClr val="EE6A2C"/>
          </a:solidFill>
          <a:ln>
            <a:noFill/>
          </a:ln>
          <a:effectLst/>
        </p:spPr>
        <p:txBody>
          <a:bodyPr rtlCol="0" anchor="ctr"/>
          <a:lstStyle/>
          <a:p>
            <a:pPr algn="ctr"/>
          </a:p>
        </p:txBody>
      </p:sp>
      <p:sp>
        <p:nvSpPr>
          <p:cNvPr id="18" name="TextBox 17"/>
          <p:cNvSpPr txBox="1"/>
          <p:nvPr/>
        </p:nvSpPr>
        <p:spPr>
          <a:xfrm>
            <a:off x="2523744" y="1615440"/>
            <a:ext cx="1219200" cy="121920"/>
          </a:xfrm>
          <a:prstGeom prst="rect">
            <a:avLst/>
          </a:prstGeom>
          <a:noFill/>
        </p:spPr>
        <p:txBody>
          <a:bodyPr wrap="square" anchor="t" lIns="0" rIns="0" tIns="0" bIns="0">
            <a:spAutoFit/>
          </a:bodyPr>
          <a:lstStyle/>
          <a:p>
            <a:pPr algn="l"/>
            <a:r>
              <a:rPr sz="1000" b="1" i="0">
                <a:solidFill>
                  <a:srgbClr val="555B66"/>
                </a:solidFill>
                <a:latin typeface="Arial"/>
              </a:rPr>
              <a:t>CLICS</a:t>
            </a:r>
          </a:p>
        </p:txBody>
      </p:sp>
      <p:sp>
        <p:nvSpPr>
          <p:cNvPr id="19" name="TextBox 18"/>
          <p:cNvSpPr txBox="1"/>
          <p:nvPr/>
        </p:nvSpPr>
        <p:spPr>
          <a:xfrm>
            <a:off x="2523744" y="1889760"/>
            <a:ext cx="1219200" cy="274320"/>
          </a:xfrm>
          <a:prstGeom prst="rect">
            <a:avLst/>
          </a:prstGeom>
          <a:noFill/>
        </p:spPr>
        <p:txBody>
          <a:bodyPr wrap="square" anchor="t" lIns="0" rIns="0" tIns="0" bIns="0">
            <a:spAutoFit/>
          </a:bodyPr>
          <a:lstStyle/>
          <a:p>
            <a:pPr algn="l"/>
            <a:r>
              <a:rPr sz="2200" b="1" i="0">
                <a:solidFill>
                  <a:srgbClr val="111111"/>
                </a:solidFill>
                <a:latin typeface="Arial"/>
              </a:rPr>
              <a:t>3 144</a:t>
            </a:r>
          </a:p>
        </p:txBody>
      </p:sp>
      <p:sp>
        <p:nvSpPr>
          <p:cNvPr id="20" name="TextBox 19"/>
          <p:cNvSpPr txBox="1"/>
          <p:nvPr/>
        </p:nvSpPr>
        <p:spPr>
          <a:xfrm>
            <a:off x="2523744" y="2243328"/>
            <a:ext cx="1219200" cy="109728"/>
          </a:xfrm>
          <a:prstGeom prst="rect">
            <a:avLst/>
          </a:prstGeom>
          <a:noFill/>
        </p:spPr>
        <p:txBody>
          <a:bodyPr wrap="square" anchor="t" lIns="0" rIns="0" tIns="0" bIns="0">
            <a:spAutoFit/>
          </a:bodyPr>
          <a:lstStyle/>
          <a:p>
            <a:pPr algn="l"/>
            <a:r>
              <a:rPr sz="1000" b="1" i="0">
                <a:solidFill>
                  <a:srgbClr val="555B66"/>
                </a:solidFill>
                <a:latin typeface="Arial"/>
              </a:rPr>
              <a:t>—</a:t>
            </a:r>
          </a:p>
        </p:txBody>
      </p:sp>
      <p:sp>
        <p:nvSpPr>
          <p:cNvPr id="21" name="TextBox 20"/>
          <p:cNvSpPr txBox="1"/>
          <p:nvPr/>
        </p:nvSpPr>
        <p:spPr>
          <a:xfrm>
            <a:off x="2523744" y="2499360"/>
            <a:ext cx="1219200" cy="91440"/>
          </a:xfrm>
          <a:prstGeom prst="rect">
            <a:avLst/>
          </a:prstGeom>
          <a:noFill/>
        </p:spPr>
        <p:txBody>
          <a:bodyPr wrap="square" anchor="t" lIns="0" rIns="0" tIns="0" bIns="0">
            <a:spAutoFit/>
          </a:bodyPr>
          <a:lstStyle/>
          <a:p>
            <a:pPr algn="l"/>
            <a:r>
              <a:rPr sz="800" b="0" i="1">
                <a:solidFill>
                  <a:srgbClr val="555B66"/>
                </a:solidFill>
                <a:latin typeface="Arial"/>
              </a:rPr>
              <a:t>YTD 3 144</a:t>
            </a:r>
          </a:p>
        </p:txBody>
      </p:sp>
      <p:sp>
        <p:nvSpPr>
          <p:cNvPr id="22" name="Rectangle 21"/>
          <p:cNvSpPr/>
          <p:nvPr/>
        </p:nvSpPr>
        <p:spPr>
          <a:xfrm>
            <a:off x="4248912" y="1536192"/>
            <a:ext cx="1389888" cy="1127760"/>
          </a:xfrm>
          <a:prstGeom prst="rect">
            <a:avLst/>
          </a:prstGeom>
          <a:solidFill>
            <a:srgbClr val="FFFFFF"/>
          </a:solidFill>
          <a:ln>
            <a:noFill/>
          </a:ln>
          <a:effectLst/>
        </p:spPr>
        <p:txBody>
          <a:bodyPr rtlCol="0" anchor="ctr"/>
          <a:lstStyle/>
          <a:p>
            <a:pPr algn="ctr"/>
          </a:p>
        </p:txBody>
      </p:sp>
      <p:sp>
        <p:nvSpPr>
          <p:cNvPr id="23" name="Rectangle 22"/>
          <p:cNvSpPr/>
          <p:nvPr/>
        </p:nvSpPr>
        <p:spPr>
          <a:xfrm>
            <a:off x="4248912" y="1536192"/>
            <a:ext cx="24384" cy="1127760"/>
          </a:xfrm>
          <a:prstGeom prst="rect">
            <a:avLst/>
          </a:prstGeom>
          <a:solidFill>
            <a:srgbClr val="EE6A2C"/>
          </a:solidFill>
          <a:ln>
            <a:noFill/>
          </a:ln>
          <a:effectLst/>
        </p:spPr>
        <p:txBody>
          <a:bodyPr rtlCol="0" anchor="ctr"/>
          <a:lstStyle/>
          <a:p>
            <a:pPr algn="ctr"/>
          </a:p>
        </p:txBody>
      </p:sp>
      <p:sp>
        <p:nvSpPr>
          <p:cNvPr id="24" name="TextBox 23"/>
          <p:cNvSpPr txBox="1"/>
          <p:nvPr/>
        </p:nvSpPr>
        <p:spPr>
          <a:xfrm>
            <a:off x="4383024" y="1615440"/>
            <a:ext cx="1219200" cy="121920"/>
          </a:xfrm>
          <a:prstGeom prst="rect">
            <a:avLst/>
          </a:prstGeom>
          <a:noFill/>
        </p:spPr>
        <p:txBody>
          <a:bodyPr wrap="square" anchor="t" lIns="0" rIns="0" tIns="0" bIns="0">
            <a:spAutoFit/>
          </a:bodyPr>
          <a:lstStyle/>
          <a:p>
            <a:pPr algn="l"/>
            <a:r>
              <a:rPr sz="1000" b="1" i="0">
                <a:solidFill>
                  <a:srgbClr val="555B66"/>
                </a:solidFill>
                <a:latin typeface="Arial"/>
              </a:rPr>
              <a:t>CTR</a:t>
            </a:r>
          </a:p>
        </p:txBody>
      </p:sp>
      <p:sp>
        <p:nvSpPr>
          <p:cNvPr id="25" name="TextBox 24"/>
          <p:cNvSpPr txBox="1"/>
          <p:nvPr/>
        </p:nvSpPr>
        <p:spPr>
          <a:xfrm>
            <a:off x="4383024" y="1889760"/>
            <a:ext cx="1219200" cy="274320"/>
          </a:xfrm>
          <a:prstGeom prst="rect">
            <a:avLst/>
          </a:prstGeom>
          <a:noFill/>
        </p:spPr>
        <p:txBody>
          <a:bodyPr wrap="square" anchor="t" lIns="0" rIns="0" tIns="0" bIns="0">
            <a:spAutoFit/>
          </a:bodyPr>
          <a:lstStyle/>
          <a:p>
            <a:pPr algn="l"/>
            <a:r>
              <a:rPr sz="2200" b="1" i="0">
                <a:solidFill>
                  <a:srgbClr val="111111"/>
                </a:solidFill>
                <a:latin typeface="Arial"/>
              </a:rPr>
              <a:t>0,49 %</a:t>
            </a:r>
          </a:p>
        </p:txBody>
      </p:sp>
      <p:sp>
        <p:nvSpPr>
          <p:cNvPr id="26" name="TextBox 25"/>
          <p:cNvSpPr txBox="1"/>
          <p:nvPr/>
        </p:nvSpPr>
        <p:spPr>
          <a:xfrm>
            <a:off x="4383024" y="2243328"/>
            <a:ext cx="1219200" cy="109728"/>
          </a:xfrm>
          <a:prstGeom prst="rect">
            <a:avLst/>
          </a:prstGeom>
          <a:noFill/>
        </p:spPr>
        <p:txBody>
          <a:bodyPr wrap="square" anchor="t" lIns="0" rIns="0" tIns="0" bIns="0">
            <a:spAutoFit/>
          </a:bodyPr>
          <a:lstStyle/>
          <a:p>
            <a:pPr algn="l"/>
            <a:r>
              <a:rPr sz="1000" b="1" i="0">
                <a:solidFill>
                  <a:srgbClr val="555B66"/>
                </a:solidFill>
                <a:latin typeface="Arial"/>
              </a:rPr>
              <a:t>—</a:t>
            </a:r>
          </a:p>
        </p:txBody>
      </p:sp>
      <p:sp>
        <p:nvSpPr>
          <p:cNvPr id="27" name="TextBox 26"/>
          <p:cNvSpPr txBox="1"/>
          <p:nvPr/>
        </p:nvSpPr>
        <p:spPr>
          <a:xfrm>
            <a:off x="4383024" y="2499360"/>
            <a:ext cx="1219200" cy="91440"/>
          </a:xfrm>
          <a:prstGeom prst="rect">
            <a:avLst/>
          </a:prstGeom>
          <a:noFill/>
        </p:spPr>
        <p:txBody>
          <a:bodyPr wrap="square" anchor="t" lIns="0" rIns="0" tIns="0" bIns="0">
            <a:spAutoFit/>
          </a:bodyPr>
          <a:lstStyle/>
          <a:p>
            <a:pPr algn="l"/>
            <a:r>
              <a:rPr sz="800" b="0" i="1">
                <a:solidFill>
                  <a:srgbClr val="555B66"/>
                </a:solidFill>
                <a:latin typeface="Arial"/>
              </a:rPr>
              <a:t>YTD 0,49 %</a:t>
            </a:r>
          </a:p>
        </p:txBody>
      </p:sp>
      <p:sp>
        <p:nvSpPr>
          <p:cNvPr id="28" name="Rectangle 27"/>
          <p:cNvSpPr/>
          <p:nvPr/>
        </p:nvSpPr>
        <p:spPr>
          <a:xfrm>
            <a:off x="6108192" y="1536192"/>
            <a:ext cx="1389888" cy="1127760"/>
          </a:xfrm>
          <a:prstGeom prst="rect">
            <a:avLst/>
          </a:prstGeom>
          <a:solidFill>
            <a:srgbClr val="F1EFEB"/>
          </a:solidFill>
          <a:ln>
            <a:noFill/>
          </a:ln>
          <a:effectLst/>
        </p:spPr>
        <p:txBody>
          <a:bodyPr rtlCol="0" anchor="ctr"/>
          <a:lstStyle/>
          <a:p>
            <a:pPr algn="ctr"/>
          </a:p>
        </p:txBody>
      </p:sp>
      <p:sp>
        <p:nvSpPr>
          <p:cNvPr id="29" name="Rounded Rectangle 28"/>
          <p:cNvSpPr/>
          <p:nvPr/>
        </p:nvSpPr>
        <p:spPr>
          <a:xfrm>
            <a:off x="6827520" y="1450848"/>
            <a:ext cx="609600" cy="170688"/>
          </a:xfrm>
          <a:prstGeom prst="roundRect">
            <a:avLst>
              <a:gd name="adj" fmla="val 50000"/>
            </a:avLst>
          </a:prstGeom>
          <a:solidFill>
            <a:srgbClr val="D9D6D1"/>
          </a:solidFill>
          <a:ln>
            <a:noFill/>
          </a:ln>
          <a:effectLst/>
        </p:spPr>
        <p:txBody>
          <a:bodyPr rtlCol="0" anchor="ctr"/>
          <a:lstStyle/>
          <a:p>
            <a:pPr algn="ctr"/>
          </a:p>
        </p:txBody>
      </p:sp>
      <p:sp>
        <p:nvSpPr>
          <p:cNvPr id="30" name="TextBox 29"/>
          <p:cNvSpPr txBox="1"/>
          <p:nvPr/>
        </p:nvSpPr>
        <p:spPr>
          <a:xfrm>
            <a:off x="6827520" y="1450848"/>
            <a:ext cx="609600" cy="170688"/>
          </a:xfrm>
          <a:prstGeom prst="rect">
            <a:avLst/>
          </a:prstGeom>
          <a:noFill/>
        </p:spPr>
        <p:txBody>
          <a:bodyPr wrap="square" anchor="ctr" lIns="0" rIns="0" tIns="0" bIns="0">
            <a:spAutoFit/>
          </a:bodyPr>
          <a:lstStyle/>
          <a:p>
            <a:pPr algn="ctr"/>
            <a:r>
              <a:rPr sz="800" b="1" i="0">
                <a:solidFill>
                  <a:srgbClr val="555B66"/>
                </a:solidFill>
                <a:latin typeface="Arial"/>
              </a:rPr>
              <a:t>INDICATIF</a:t>
            </a:r>
          </a:p>
        </p:txBody>
      </p:sp>
      <p:sp>
        <p:nvSpPr>
          <p:cNvPr id="31" name="TextBox 30"/>
          <p:cNvSpPr txBox="1"/>
          <p:nvPr/>
        </p:nvSpPr>
        <p:spPr>
          <a:xfrm>
            <a:off x="6242304" y="1706880"/>
            <a:ext cx="1219200" cy="121920"/>
          </a:xfrm>
          <a:prstGeom prst="rect">
            <a:avLst/>
          </a:prstGeom>
          <a:noFill/>
        </p:spPr>
        <p:txBody>
          <a:bodyPr wrap="square" anchor="t" lIns="0" rIns="0" tIns="0" bIns="0">
            <a:spAutoFit/>
          </a:bodyPr>
          <a:lstStyle/>
          <a:p>
            <a:pPr algn="l"/>
            <a:r>
              <a:rPr sz="1000" b="1" i="0">
                <a:solidFill>
                  <a:srgbClr val="8A93A6"/>
                </a:solidFill>
                <a:latin typeface="Arial"/>
              </a:rPr>
              <a:t>CONVERSIONS</a:t>
            </a:r>
          </a:p>
        </p:txBody>
      </p:sp>
      <p:sp>
        <p:nvSpPr>
          <p:cNvPr id="32" name="TextBox 31"/>
          <p:cNvSpPr txBox="1"/>
          <p:nvPr/>
        </p:nvSpPr>
        <p:spPr>
          <a:xfrm>
            <a:off x="6242304" y="1889760"/>
            <a:ext cx="1219200" cy="274320"/>
          </a:xfrm>
          <a:prstGeom prst="rect">
            <a:avLst/>
          </a:prstGeom>
          <a:noFill/>
        </p:spPr>
        <p:txBody>
          <a:bodyPr wrap="square" anchor="t" lIns="0" rIns="0" tIns="0" bIns="0">
            <a:spAutoFit/>
          </a:bodyPr>
          <a:lstStyle/>
          <a:p>
            <a:pPr algn="l"/>
            <a:r>
              <a:rPr sz="2200" b="1" i="0">
                <a:solidFill>
                  <a:srgbClr val="8A93A6"/>
                </a:solidFill>
                <a:latin typeface="Arial"/>
              </a:rPr>
              <a:t>N/C</a:t>
            </a:r>
          </a:p>
        </p:txBody>
      </p:sp>
      <p:sp>
        <p:nvSpPr>
          <p:cNvPr id="33" name="TextBox 32"/>
          <p:cNvSpPr txBox="1"/>
          <p:nvPr/>
        </p:nvSpPr>
        <p:spPr>
          <a:xfrm>
            <a:off x="6242304" y="2243328"/>
            <a:ext cx="1219200" cy="109728"/>
          </a:xfrm>
          <a:prstGeom prst="rect">
            <a:avLst/>
          </a:prstGeom>
          <a:noFill/>
        </p:spPr>
        <p:txBody>
          <a:bodyPr wrap="square" anchor="t" lIns="0" rIns="0" tIns="0" bIns="0">
            <a:spAutoFit/>
          </a:bodyPr>
          <a:lstStyle/>
          <a:p>
            <a:pPr algn="l"/>
            <a:r>
              <a:rPr sz="1000" b="1" i="0">
                <a:solidFill>
                  <a:srgbClr val="8A93A6"/>
                </a:solidFill>
                <a:latin typeface="Arial"/>
              </a:rPr>
              <a:t>—</a:t>
            </a:r>
          </a:p>
        </p:txBody>
      </p:sp>
      <p:sp>
        <p:nvSpPr>
          <p:cNvPr id="34" name="TextBox 33"/>
          <p:cNvSpPr txBox="1"/>
          <p:nvPr/>
        </p:nvSpPr>
        <p:spPr>
          <a:xfrm>
            <a:off x="6242304" y="2499360"/>
            <a:ext cx="1219200" cy="91440"/>
          </a:xfrm>
          <a:prstGeom prst="rect">
            <a:avLst/>
          </a:prstGeom>
          <a:noFill/>
        </p:spPr>
        <p:txBody>
          <a:bodyPr wrap="square" anchor="t" lIns="0" rIns="0" tIns="0" bIns="0">
            <a:spAutoFit/>
          </a:bodyPr>
          <a:lstStyle/>
          <a:p>
            <a:pPr algn="l"/>
            <a:r>
              <a:rPr sz="800" b="0" i="1">
                <a:solidFill>
                  <a:srgbClr val="8A93A6"/>
                </a:solidFill>
                <a:latin typeface="Arial"/>
              </a:rPr>
              <a:t>YTD —</a:t>
            </a:r>
          </a:p>
        </p:txBody>
      </p:sp>
      <p:sp>
        <p:nvSpPr>
          <p:cNvPr id="35" name="Rectangle 34"/>
          <p:cNvSpPr/>
          <p:nvPr/>
        </p:nvSpPr>
        <p:spPr>
          <a:xfrm>
            <a:off x="7967472" y="1536192"/>
            <a:ext cx="1389888" cy="1127760"/>
          </a:xfrm>
          <a:prstGeom prst="rect">
            <a:avLst/>
          </a:prstGeom>
          <a:solidFill>
            <a:srgbClr val="F1EFEB"/>
          </a:solidFill>
          <a:ln>
            <a:noFill/>
          </a:ln>
          <a:effectLst/>
        </p:spPr>
        <p:txBody>
          <a:bodyPr rtlCol="0" anchor="ctr"/>
          <a:lstStyle/>
          <a:p>
            <a:pPr algn="ctr"/>
          </a:p>
        </p:txBody>
      </p:sp>
      <p:sp>
        <p:nvSpPr>
          <p:cNvPr id="36" name="Rounded Rectangle 35"/>
          <p:cNvSpPr/>
          <p:nvPr/>
        </p:nvSpPr>
        <p:spPr>
          <a:xfrm>
            <a:off x="8686800" y="1450848"/>
            <a:ext cx="609600" cy="170688"/>
          </a:xfrm>
          <a:prstGeom prst="roundRect">
            <a:avLst>
              <a:gd name="adj" fmla="val 50000"/>
            </a:avLst>
          </a:prstGeom>
          <a:solidFill>
            <a:srgbClr val="D9D6D1"/>
          </a:solidFill>
          <a:ln>
            <a:noFill/>
          </a:ln>
          <a:effectLst/>
        </p:spPr>
        <p:txBody>
          <a:bodyPr rtlCol="0" anchor="ctr"/>
          <a:lstStyle/>
          <a:p>
            <a:pPr algn="ctr"/>
          </a:p>
        </p:txBody>
      </p:sp>
      <p:sp>
        <p:nvSpPr>
          <p:cNvPr id="37" name="TextBox 36"/>
          <p:cNvSpPr txBox="1"/>
          <p:nvPr/>
        </p:nvSpPr>
        <p:spPr>
          <a:xfrm>
            <a:off x="8686800" y="1450848"/>
            <a:ext cx="609600" cy="170688"/>
          </a:xfrm>
          <a:prstGeom prst="rect">
            <a:avLst/>
          </a:prstGeom>
          <a:noFill/>
        </p:spPr>
        <p:txBody>
          <a:bodyPr wrap="square" anchor="ctr" lIns="0" rIns="0" tIns="0" bIns="0">
            <a:spAutoFit/>
          </a:bodyPr>
          <a:lstStyle/>
          <a:p>
            <a:pPr algn="ctr"/>
            <a:r>
              <a:rPr sz="800" b="1" i="0">
                <a:solidFill>
                  <a:srgbClr val="555B66"/>
                </a:solidFill>
                <a:latin typeface="Arial"/>
              </a:rPr>
              <a:t>INDICATIF</a:t>
            </a:r>
          </a:p>
        </p:txBody>
      </p:sp>
      <p:sp>
        <p:nvSpPr>
          <p:cNvPr id="38" name="TextBox 37"/>
          <p:cNvSpPr txBox="1"/>
          <p:nvPr/>
        </p:nvSpPr>
        <p:spPr>
          <a:xfrm>
            <a:off x="8101584" y="1706880"/>
            <a:ext cx="1219200" cy="121920"/>
          </a:xfrm>
          <a:prstGeom prst="rect">
            <a:avLst/>
          </a:prstGeom>
          <a:noFill/>
        </p:spPr>
        <p:txBody>
          <a:bodyPr wrap="square" anchor="t" lIns="0" rIns="0" tIns="0" bIns="0">
            <a:spAutoFit/>
          </a:bodyPr>
          <a:lstStyle/>
          <a:p>
            <a:pPr algn="l"/>
            <a:r>
              <a:rPr sz="1000" b="1" i="0">
                <a:solidFill>
                  <a:srgbClr val="8A93A6"/>
                </a:solidFill>
                <a:latin typeface="Arial"/>
              </a:rPr>
              <a:t>CVR</a:t>
            </a:r>
          </a:p>
        </p:txBody>
      </p:sp>
      <p:sp>
        <p:nvSpPr>
          <p:cNvPr id="39" name="TextBox 38"/>
          <p:cNvSpPr txBox="1"/>
          <p:nvPr/>
        </p:nvSpPr>
        <p:spPr>
          <a:xfrm>
            <a:off x="8101584" y="1889760"/>
            <a:ext cx="1219200" cy="274320"/>
          </a:xfrm>
          <a:prstGeom prst="rect">
            <a:avLst/>
          </a:prstGeom>
          <a:noFill/>
        </p:spPr>
        <p:txBody>
          <a:bodyPr wrap="square" anchor="t" lIns="0" rIns="0" tIns="0" bIns="0">
            <a:spAutoFit/>
          </a:bodyPr>
          <a:lstStyle/>
          <a:p>
            <a:pPr algn="l"/>
            <a:r>
              <a:rPr sz="2200" b="1" i="0">
                <a:solidFill>
                  <a:srgbClr val="8A93A6"/>
                </a:solidFill>
                <a:latin typeface="Arial"/>
              </a:rPr>
              <a:t>N/C</a:t>
            </a:r>
          </a:p>
        </p:txBody>
      </p:sp>
      <p:sp>
        <p:nvSpPr>
          <p:cNvPr id="40" name="TextBox 39"/>
          <p:cNvSpPr txBox="1"/>
          <p:nvPr/>
        </p:nvSpPr>
        <p:spPr>
          <a:xfrm>
            <a:off x="8101584" y="2243328"/>
            <a:ext cx="1219200" cy="109728"/>
          </a:xfrm>
          <a:prstGeom prst="rect">
            <a:avLst/>
          </a:prstGeom>
          <a:noFill/>
        </p:spPr>
        <p:txBody>
          <a:bodyPr wrap="square" anchor="t" lIns="0" rIns="0" tIns="0" bIns="0">
            <a:spAutoFit/>
          </a:bodyPr>
          <a:lstStyle/>
          <a:p>
            <a:pPr algn="l"/>
            <a:r>
              <a:rPr sz="1000" b="1" i="0">
                <a:solidFill>
                  <a:srgbClr val="8A93A6"/>
                </a:solidFill>
                <a:latin typeface="Arial"/>
              </a:rPr>
              <a:t>—</a:t>
            </a:r>
          </a:p>
        </p:txBody>
      </p:sp>
      <p:sp>
        <p:nvSpPr>
          <p:cNvPr id="41" name="TextBox 40"/>
          <p:cNvSpPr txBox="1"/>
          <p:nvPr/>
        </p:nvSpPr>
        <p:spPr>
          <a:xfrm>
            <a:off x="8101584" y="2499360"/>
            <a:ext cx="1219200" cy="91440"/>
          </a:xfrm>
          <a:prstGeom prst="rect">
            <a:avLst/>
          </a:prstGeom>
          <a:noFill/>
        </p:spPr>
        <p:txBody>
          <a:bodyPr wrap="square" anchor="t" lIns="0" rIns="0" tIns="0" bIns="0">
            <a:spAutoFit/>
          </a:bodyPr>
          <a:lstStyle/>
          <a:p>
            <a:pPr algn="l"/>
            <a:r>
              <a:rPr sz="800" b="0" i="1">
                <a:solidFill>
                  <a:srgbClr val="8A93A6"/>
                </a:solidFill>
                <a:latin typeface="Arial"/>
              </a:rPr>
              <a:t>YTD —</a:t>
            </a:r>
          </a:p>
        </p:txBody>
      </p:sp>
      <p:sp>
        <p:nvSpPr>
          <p:cNvPr id="42" name="Rectangle 41"/>
          <p:cNvSpPr/>
          <p:nvPr/>
        </p:nvSpPr>
        <p:spPr>
          <a:xfrm>
            <a:off x="9826752" y="1536192"/>
            <a:ext cx="1389888" cy="1127760"/>
          </a:xfrm>
          <a:prstGeom prst="rect">
            <a:avLst/>
          </a:prstGeom>
          <a:solidFill>
            <a:srgbClr val="F1EFEB"/>
          </a:solidFill>
          <a:ln>
            <a:noFill/>
          </a:ln>
          <a:effectLst/>
        </p:spPr>
        <p:txBody>
          <a:bodyPr rtlCol="0" anchor="ctr"/>
          <a:lstStyle/>
          <a:p>
            <a:pPr algn="ctr"/>
          </a:p>
        </p:txBody>
      </p:sp>
      <p:sp>
        <p:nvSpPr>
          <p:cNvPr id="43" name="Rounded Rectangle 42"/>
          <p:cNvSpPr/>
          <p:nvPr/>
        </p:nvSpPr>
        <p:spPr>
          <a:xfrm>
            <a:off x="10546080" y="1450848"/>
            <a:ext cx="609600" cy="170688"/>
          </a:xfrm>
          <a:prstGeom prst="roundRect">
            <a:avLst>
              <a:gd name="adj" fmla="val 50000"/>
            </a:avLst>
          </a:prstGeom>
          <a:solidFill>
            <a:srgbClr val="D9D6D1"/>
          </a:solidFill>
          <a:ln>
            <a:noFill/>
          </a:ln>
          <a:effectLst/>
        </p:spPr>
        <p:txBody>
          <a:bodyPr rtlCol="0" anchor="ctr"/>
          <a:lstStyle/>
          <a:p>
            <a:pPr algn="ctr"/>
          </a:p>
        </p:txBody>
      </p:sp>
      <p:sp>
        <p:nvSpPr>
          <p:cNvPr id="44" name="TextBox 43"/>
          <p:cNvSpPr txBox="1"/>
          <p:nvPr/>
        </p:nvSpPr>
        <p:spPr>
          <a:xfrm>
            <a:off x="10546080" y="1450848"/>
            <a:ext cx="609600" cy="170688"/>
          </a:xfrm>
          <a:prstGeom prst="rect">
            <a:avLst/>
          </a:prstGeom>
          <a:noFill/>
        </p:spPr>
        <p:txBody>
          <a:bodyPr wrap="square" anchor="ctr" lIns="0" rIns="0" tIns="0" bIns="0">
            <a:spAutoFit/>
          </a:bodyPr>
          <a:lstStyle/>
          <a:p>
            <a:pPr algn="ctr"/>
            <a:r>
              <a:rPr sz="800" b="1" i="0">
                <a:solidFill>
                  <a:srgbClr val="555B66"/>
                </a:solidFill>
                <a:latin typeface="Arial"/>
              </a:rPr>
              <a:t>INDICATIF</a:t>
            </a:r>
          </a:p>
        </p:txBody>
      </p:sp>
      <p:sp>
        <p:nvSpPr>
          <p:cNvPr id="45" name="TextBox 44"/>
          <p:cNvSpPr txBox="1"/>
          <p:nvPr/>
        </p:nvSpPr>
        <p:spPr>
          <a:xfrm>
            <a:off x="9960864" y="1706880"/>
            <a:ext cx="1219200" cy="121920"/>
          </a:xfrm>
          <a:prstGeom prst="rect">
            <a:avLst/>
          </a:prstGeom>
          <a:noFill/>
        </p:spPr>
        <p:txBody>
          <a:bodyPr wrap="square" anchor="t" lIns="0" rIns="0" tIns="0" bIns="0">
            <a:spAutoFit/>
          </a:bodyPr>
          <a:lstStyle/>
          <a:p>
            <a:pPr algn="l"/>
            <a:r>
              <a:rPr sz="1000" b="1" i="0">
                <a:solidFill>
                  <a:srgbClr val="8A93A6"/>
                </a:solidFill>
                <a:latin typeface="Arial"/>
              </a:rPr>
              <a:t>ROAS</a:t>
            </a:r>
          </a:p>
        </p:txBody>
      </p:sp>
      <p:sp>
        <p:nvSpPr>
          <p:cNvPr id="46" name="TextBox 45"/>
          <p:cNvSpPr txBox="1"/>
          <p:nvPr/>
        </p:nvSpPr>
        <p:spPr>
          <a:xfrm>
            <a:off x="9960864" y="1889760"/>
            <a:ext cx="1219200" cy="274320"/>
          </a:xfrm>
          <a:prstGeom prst="rect">
            <a:avLst/>
          </a:prstGeom>
          <a:noFill/>
        </p:spPr>
        <p:txBody>
          <a:bodyPr wrap="square" anchor="t" lIns="0" rIns="0" tIns="0" bIns="0">
            <a:spAutoFit/>
          </a:bodyPr>
          <a:lstStyle/>
          <a:p>
            <a:pPr algn="l"/>
            <a:r>
              <a:rPr sz="2200" b="1" i="0">
                <a:solidFill>
                  <a:srgbClr val="8A93A6"/>
                </a:solidFill>
                <a:latin typeface="Arial"/>
              </a:rPr>
              <a:t>N/C</a:t>
            </a:r>
          </a:p>
        </p:txBody>
      </p:sp>
      <p:sp>
        <p:nvSpPr>
          <p:cNvPr id="47" name="TextBox 46"/>
          <p:cNvSpPr txBox="1"/>
          <p:nvPr/>
        </p:nvSpPr>
        <p:spPr>
          <a:xfrm>
            <a:off x="9960864" y="2243328"/>
            <a:ext cx="1219200" cy="109728"/>
          </a:xfrm>
          <a:prstGeom prst="rect">
            <a:avLst/>
          </a:prstGeom>
          <a:noFill/>
        </p:spPr>
        <p:txBody>
          <a:bodyPr wrap="square" anchor="t" lIns="0" rIns="0" tIns="0" bIns="0">
            <a:spAutoFit/>
          </a:bodyPr>
          <a:lstStyle/>
          <a:p>
            <a:pPr algn="l"/>
            <a:r>
              <a:rPr sz="1000" b="1" i="0">
                <a:solidFill>
                  <a:srgbClr val="8A93A6"/>
                </a:solidFill>
                <a:latin typeface="Arial"/>
              </a:rPr>
              <a:t>—</a:t>
            </a:r>
          </a:p>
        </p:txBody>
      </p:sp>
      <p:sp>
        <p:nvSpPr>
          <p:cNvPr id="48" name="TextBox 47"/>
          <p:cNvSpPr txBox="1"/>
          <p:nvPr/>
        </p:nvSpPr>
        <p:spPr>
          <a:xfrm>
            <a:off x="9960864" y="2499360"/>
            <a:ext cx="1219200" cy="91440"/>
          </a:xfrm>
          <a:prstGeom prst="rect">
            <a:avLst/>
          </a:prstGeom>
          <a:noFill/>
        </p:spPr>
        <p:txBody>
          <a:bodyPr wrap="square" anchor="t" lIns="0" rIns="0" tIns="0" bIns="0">
            <a:spAutoFit/>
          </a:bodyPr>
          <a:lstStyle/>
          <a:p>
            <a:pPr algn="l"/>
            <a:r>
              <a:rPr sz="800" b="0" i="1">
                <a:solidFill>
                  <a:srgbClr val="8A93A6"/>
                </a:solidFill>
                <a:latin typeface="Arial"/>
              </a:rPr>
              <a:t>YTD —</a:t>
            </a:r>
          </a:p>
        </p:txBody>
      </p:sp>
      <p:sp>
        <p:nvSpPr>
          <p:cNvPr id="49" name="Isosceles Triangle 48"/>
          <p:cNvSpPr/>
          <p:nvPr/>
        </p:nvSpPr>
        <p:spPr>
          <a:xfrm>
            <a:off x="8564880" y="2688336"/>
            <a:ext cx="182880" cy="85344"/>
          </a:xfrm>
          <a:prstGeom prst="triangle">
            <a:avLst/>
          </a:prstGeom>
          <a:solidFill>
            <a:srgbClr val="EBE9E5"/>
          </a:solidFill>
          <a:ln>
            <a:noFill/>
          </a:ln>
          <a:effectLst/>
        </p:spPr>
        <p:txBody>
          <a:bodyPr rtlCol="0" anchor="ctr"/>
          <a:lstStyle/>
          <a:p>
            <a:pPr algn="ctr"/>
          </a:p>
        </p:txBody>
      </p:sp>
      <p:sp>
        <p:nvSpPr>
          <p:cNvPr id="50" name="Rounded Rectangle 49"/>
          <p:cNvSpPr/>
          <p:nvPr/>
        </p:nvSpPr>
        <p:spPr>
          <a:xfrm>
            <a:off x="6108192" y="2773680"/>
            <a:ext cx="5108448" cy="438912"/>
          </a:xfrm>
          <a:prstGeom prst="roundRect">
            <a:avLst>
              <a:gd name="adj" fmla="val 15000"/>
            </a:avLst>
          </a:prstGeom>
          <a:solidFill>
            <a:srgbClr val="EBE9E5"/>
          </a:solidFill>
          <a:ln>
            <a:noFill/>
          </a:ln>
          <a:effectLst/>
        </p:spPr>
        <p:txBody>
          <a:bodyPr rtlCol="0" anchor="ctr"/>
          <a:lstStyle/>
          <a:p>
            <a:pPr algn="ctr"/>
          </a:p>
        </p:txBody>
      </p:sp>
      <p:sp>
        <p:nvSpPr>
          <p:cNvPr id="51" name="TextBox 50"/>
          <p:cNvSpPr txBox="1"/>
          <p:nvPr/>
        </p:nvSpPr>
        <p:spPr>
          <a:xfrm>
            <a:off x="6230112" y="2816352"/>
            <a:ext cx="4864608" cy="365760"/>
          </a:xfrm>
          <a:prstGeom prst="rect">
            <a:avLst/>
          </a:prstGeom>
          <a:noFill/>
        </p:spPr>
        <p:txBody>
          <a:bodyPr wrap="square" anchor="ctr" lIns="0" rIns="0" tIns="0" bIns="0">
            <a:spAutoFit/>
          </a:bodyPr>
          <a:lstStyle/>
          <a:p>
            <a:pPr algn="l"/>
            <a:r>
              <a:rPr sz="900" b="0" i="0">
                <a:solidFill>
                  <a:srgbClr val="555B66"/>
                </a:solidFill>
                <a:latin typeface="Arial"/>
              </a:rPr>
              <a:t>Conversions non mesurées par Lemrock sur cette campagne. Elles seront intégrées à ce rapport à partir de vos données dès leur transmission.</a:t>
            </a:r>
          </a:p>
        </p:txBody>
      </p:sp>
      <p:sp>
        <p:nvSpPr>
          <p:cNvPr id="52" name="TextBox 51"/>
          <p:cNvSpPr txBox="1"/>
          <p:nvPr/>
        </p:nvSpPr>
        <p:spPr>
          <a:xfrm>
            <a:off x="530352" y="3322320"/>
            <a:ext cx="7315200" cy="182880"/>
          </a:xfrm>
          <a:prstGeom prst="rect">
            <a:avLst/>
          </a:prstGeom>
          <a:noFill/>
        </p:spPr>
        <p:txBody>
          <a:bodyPr wrap="square" anchor="t" lIns="0" rIns="0" tIns="0" bIns="0">
            <a:spAutoFit/>
          </a:bodyPr>
          <a:lstStyle/>
          <a:p>
            <a:pPr algn="l"/>
            <a:r>
              <a:rPr sz="1400" b="1" i="0">
                <a:solidFill>
                  <a:srgbClr val="EE6A2C"/>
                </a:solidFill>
                <a:latin typeface="Arial"/>
              </a:rPr>
              <a:t>INSIGHTS QUALITATIFS · ANALYSE DES RECHERCHES</a:t>
            </a:r>
          </a:p>
        </p:txBody>
      </p:sp>
      <p:sp>
        <p:nvSpPr>
          <p:cNvPr id="53" name="Rectangle 52"/>
          <p:cNvSpPr/>
          <p:nvPr/>
        </p:nvSpPr>
        <p:spPr>
          <a:xfrm>
            <a:off x="530352" y="3584448"/>
            <a:ext cx="3401568" cy="2560320"/>
          </a:xfrm>
          <a:prstGeom prst="rect">
            <a:avLst/>
          </a:prstGeom>
          <a:solidFill>
            <a:srgbClr val="FFFFFF"/>
          </a:solidFill>
          <a:ln>
            <a:noFill/>
          </a:ln>
          <a:effectLst/>
        </p:spPr>
        <p:txBody>
          <a:bodyPr rtlCol="0" anchor="ctr"/>
          <a:lstStyle/>
          <a:p>
            <a:pPr algn="ctr"/>
          </a:p>
        </p:txBody>
      </p:sp>
      <p:sp>
        <p:nvSpPr>
          <p:cNvPr id="54" name="Rectangle 53"/>
          <p:cNvSpPr/>
          <p:nvPr/>
        </p:nvSpPr>
        <p:spPr>
          <a:xfrm>
            <a:off x="4194048" y="3584448"/>
            <a:ext cx="3401568" cy="2560320"/>
          </a:xfrm>
          <a:prstGeom prst="rect">
            <a:avLst/>
          </a:prstGeom>
          <a:solidFill>
            <a:srgbClr val="FFFFFF"/>
          </a:solidFill>
          <a:ln>
            <a:noFill/>
          </a:ln>
          <a:effectLst/>
        </p:spPr>
        <p:txBody>
          <a:bodyPr rtlCol="0" anchor="ctr"/>
          <a:lstStyle/>
          <a:p>
            <a:pPr algn="ctr"/>
          </a:p>
        </p:txBody>
      </p:sp>
      <p:sp>
        <p:nvSpPr>
          <p:cNvPr id="55" name="Rectangle 54"/>
          <p:cNvSpPr/>
          <p:nvPr/>
        </p:nvSpPr>
        <p:spPr>
          <a:xfrm>
            <a:off x="7857744" y="3584448"/>
            <a:ext cx="3401568" cy="2560320"/>
          </a:xfrm>
          <a:prstGeom prst="rect">
            <a:avLst/>
          </a:prstGeom>
          <a:solidFill>
            <a:srgbClr val="FFFFFF"/>
          </a:solidFill>
          <a:ln>
            <a:noFill/>
          </a:ln>
          <a:effectLst/>
        </p:spPr>
        <p:txBody>
          <a:bodyPr rtlCol="0" anchor="ctr"/>
          <a:lstStyle/>
          <a:p>
            <a:pPr algn="ctr"/>
          </a:p>
        </p:txBody>
      </p:sp>
      <p:sp>
        <p:nvSpPr>
          <p:cNvPr id="56" name="TextBox 55"/>
          <p:cNvSpPr txBox="1"/>
          <p:nvPr/>
        </p:nvSpPr>
        <p:spPr>
          <a:xfrm>
            <a:off x="774192" y="3767328"/>
            <a:ext cx="2926080" cy="152400"/>
          </a:xfrm>
          <a:prstGeom prst="rect">
            <a:avLst/>
          </a:prstGeom>
          <a:noFill/>
        </p:spPr>
        <p:txBody>
          <a:bodyPr wrap="square" anchor="t" lIns="0" rIns="0" tIns="0" bIns="0">
            <a:spAutoFit/>
          </a:bodyPr>
          <a:lstStyle/>
          <a:p>
            <a:pPr algn="l"/>
            <a:r>
              <a:rPr sz="1300" b="1" i="0">
                <a:solidFill>
                  <a:srgbClr val="555B66"/>
                </a:solidFill>
                <a:latin typeface="Arial"/>
              </a:rPr>
              <a:t>CHAMP LEXICAL</a:t>
            </a:r>
          </a:p>
        </p:txBody>
      </p:sp>
      <p:sp>
        <p:nvSpPr>
          <p:cNvPr id="57" name="TextBox 56"/>
          <p:cNvSpPr txBox="1"/>
          <p:nvPr/>
        </p:nvSpPr>
        <p:spPr>
          <a:xfrm>
            <a:off x="774192" y="3992880"/>
            <a:ext cx="2926080" cy="121920"/>
          </a:xfrm>
          <a:prstGeom prst="rect">
            <a:avLst/>
          </a:prstGeom>
          <a:noFill/>
        </p:spPr>
        <p:txBody>
          <a:bodyPr wrap="square" anchor="t" lIns="0" rIns="0" tIns="0" bIns="0">
            <a:spAutoFit/>
          </a:bodyPr>
          <a:lstStyle/>
          <a:p>
            <a:pPr algn="l"/>
            <a:r>
              <a:rPr sz="1000" b="0" i="1">
                <a:solidFill>
                  <a:srgbClr val="8A93A6"/>
                </a:solidFill>
                <a:latin typeface="Arial"/>
              </a:rPr>
              <a:t>Termes les plus fréquents</a:t>
            </a:r>
          </a:p>
        </p:txBody>
      </p:sp>
      <p:sp>
        <p:nvSpPr>
          <p:cNvPr id="58" name="TextBox 57"/>
          <p:cNvSpPr txBox="1"/>
          <p:nvPr/>
        </p:nvSpPr>
        <p:spPr>
          <a:xfrm>
            <a:off x="774192" y="4236720"/>
            <a:ext cx="2987040" cy="1828800"/>
          </a:xfrm>
          <a:prstGeom prst="rect">
            <a:avLst/>
          </a:prstGeom>
          <a:noFill/>
        </p:spPr>
        <p:txBody>
          <a:bodyPr wrap="square" anchor="t" lIns="0" rIns="0" tIns="0" bIns="0">
            <a:spAutoFit/>
          </a:bodyPr>
          <a:lstStyle/>
          <a:p>
            <a:pPr algn="l">
              <a:spcAft>
                <a:spcPts val="500"/>
              </a:spcAft>
            </a:pPr>
            <a:r>
              <a:rPr sz="1800" b="1" i="0">
                <a:solidFill>
                  <a:srgbClr val="EE6A2C"/>
                </a:solidFill>
                <a:latin typeface="Arial"/>
              </a:rPr>
              <a:t>départ en vacances</a:t>
            </a:r>
            <a:r>
              <a:rPr sz="1600" b="1" i="0">
                <a:solidFill>
                  <a:srgbClr val="111111"/>
                </a:solidFill>
                <a:latin typeface="Arial"/>
              </a:rPr>
              <a:t>   résidence</a:t>
            </a:r>
          </a:p>
          <a:p>
            <a:pPr algn="l">
              <a:spcAft>
                <a:spcPts val="500"/>
              </a:spcAft>
            </a:pPr>
            <a:r>
              <a:rPr sz="1500" b="1" i="0">
                <a:solidFill>
                  <a:srgbClr val="111111"/>
                </a:solidFill>
                <a:latin typeface="Arial"/>
              </a:rPr>
              <a:t>Airbnb</a:t>
            </a:r>
            <a:r>
              <a:rPr sz="1400" b="1" i="0">
                <a:solidFill>
                  <a:srgbClr val="111111"/>
                </a:solidFill>
                <a:latin typeface="Arial"/>
              </a:rPr>
              <a:t>   Booking</a:t>
            </a:r>
          </a:p>
          <a:p>
            <a:pPr algn="l">
              <a:spcAft>
                <a:spcPts val="500"/>
              </a:spcAft>
            </a:pPr>
            <a:r>
              <a:rPr sz="1300" b="1" i="0">
                <a:solidFill>
                  <a:srgbClr val="EE6A2C"/>
                </a:solidFill>
                <a:latin typeface="Arial"/>
              </a:rPr>
              <a:t>Gîtes de France</a:t>
            </a:r>
            <a:r>
              <a:rPr sz="1200" b="0" i="0">
                <a:solidFill>
                  <a:srgbClr val="111111"/>
                </a:solidFill>
                <a:latin typeface="Arial"/>
              </a:rPr>
              <a:t>   Abritel</a:t>
            </a:r>
          </a:p>
          <a:p>
            <a:pPr algn="l">
              <a:spcAft>
                <a:spcPts val="500"/>
              </a:spcAft>
            </a:pPr>
            <a:r>
              <a:rPr sz="1100" b="1" i="0">
                <a:solidFill>
                  <a:srgbClr val="EE6A2C"/>
                </a:solidFill>
                <a:latin typeface="Arial"/>
              </a:rPr>
              <a:t>vie en van</a:t>
            </a:r>
            <a:r>
              <a:rPr sz="1100" b="1" i="0">
                <a:solidFill>
                  <a:srgbClr val="111111"/>
                </a:solidFill>
                <a:latin typeface="Arial"/>
              </a:rPr>
              <a:t>   Odalys</a:t>
            </a:r>
          </a:p>
          <a:p>
            <a:pPr algn="l">
              <a:spcAft>
                <a:spcPts val="500"/>
              </a:spcAft>
            </a:pPr>
            <a:r>
              <a:rPr sz="1100" b="1" i="0">
                <a:solidFill>
                  <a:srgbClr val="111111"/>
                </a:solidFill>
                <a:latin typeface="Arial"/>
              </a:rPr>
              <a:t>Club Med</a:t>
            </a:r>
            <a:r>
              <a:rPr sz="1100" b="0" i="0">
                <a:solidFill>
                  <a:srgbClr val="111111"/>
                </a:solidFill>
                <a:latin typeface="Arial"/>
              </a:rPr>
              <a:t>   Center Parcs</a:t>
            </a:r>
            <a:r>
              <a:rPr sz="1100" b="0" i="0">
                <a:solidFill>
                  <a:srgbClr val="EE6A2C"/>
                </a:solidFill>
                <a:latin typeface="Arial"/>
              </a:rPr>
              <a:t>   Lagrange</a:t>
            </a:r>
          </a:p>
          <a:p>
            <a:pPr algn="l">
              <a:spcAft>
                <a:spcPts val="500"/>
              </a:spcAft>
            </a:pPr>
            <a:r>
              <a:rPr sz="1100" b="1" i="0">
                <a:solidFill>
                  <a:srgbClr val="111111"/>
                </a:solidFill>
                <a:latin typeface="Arial"/>
              </a:rPr>
              <a:t>Maeva</a:t>
            </a:r>
            <a:r>
              <a:rPr sz="1100" b="0" i="0">
                <a:solidFill>
                  <a:srgbClr val="111111"/>
                </a:solidFill>
                <a:latin typeface="Arial"/>
              </a:rPr>
              <a:t>   VVF</a:t>
            </a:r>
          </a:p>
        </p:txBody>
      </p:sp>
      <p:sp>
        <p:nvSpPr>
          <p:cNvPr id="59" name="TextBox 58"/>
          <p:cNvSpPr txBox="1"/>
          <p:nvPr/>
        </p:nvSpPr>
        <p:spPr>
          <a:xfrm>
            <a:off x="4437888" y="3767328"/>
            <a:ext cx="2926080" cy="152400"/>
          </a:xfrm>
          <a:prstGeom prst="rect">
            <a:avLst/>
          </a:prstGeom>
          <a:noFill/>
        </p:spPr>
        <p:txBody>
          <a:bodyPr wrap="square" anchor="t" lIns="0" rIns="0" tIns="0" bIns="0">
            <a:spAutoFit/>
          </a:bodyPr>
          <a:lstStyle/>
          <a:p>
            <a:pPr algn="l"/>
            <a:r>
              <a:rPr sz="1300" b="1" i="0">
                <a:solidFill>
                  <a:srgbClr val="555B66"/>
                </a:solidFill>
                <a:latin typeface="Arial"/>
              </a:rPr>
              <a:t>EXEMPLES DE REQUÊTES</a:t>
            </a:r>
          </a:p>
        </p:txBody>
      </p:sp>
      <p:sp>
        <p:nvSpPr>
          <p:cNvPr id="60" name="TextBox 59"/>
          <p:cNvSpPr txBox="1"/>
          <p:nvPr/>
        </p:nvSpPr>
        <p:spPr>
          <a:xfrm>
            <a:off x="4437888" y="3992880"/>
            <a:ext cx="2926080" cy="121920"/>
          </a:xfrm>
          <a:prstGeom prst="rect">
            <a:avLst/>
          </a:prstGeom>
          <a:noFill/>
        </p:spPr>
        <p:txBody>
          <a:bodyPr wrap="square" anchor="t" lIns="0" rIns="0" tIns="0" bIns="0">
            <a:spAutoFit/>
          </a:bodyPr>
          <a:lstStyle/>
          <a:p>
            <a:pPr algn="l"/>
            <a:r>
              <a:rPr sz="1000" b="0" i="1">
                <a:solidFill>
                  <a:srgbClr val="8A93A6"/>
                </a:solidFill>
                <a:latin typeface="Arial"/>
              </a:rPr>
              <a:t>Questions posées aux IA</a:t>
            </a:r>
          </a:p>
        </p:txBody>
      </p:sp>
      <p:sp>
        <p:nvSpPr>
          <p:cNvPr id="61" name="TextBox 60"/>
          <p:cNvSpPr txBox="1"/>
          <p:nvPr/>
        </p:nvSpPr>
        <p:spPr>
          <a:xfrm>
            <a:off x="4437888" y="4267200"/>
            <a:ext cx="2913888" cy="304800"/>
          </a:xfrm>
          <a:prstGeom prst="rect">
            <a:avLst/>
          </a:prstGeom>
          <a:noFill/>
        </p:spPr>
        <p:txBody>
          <a:bodyPr wrap="square" anchor="ctr" lIns="0" rIns="0" tIns="0" bIns="0">
            <a:spAutoFit/>
          </a:bodyPr>
          <a:lstStyle/>
          <a:p>
            <a:pPr algn="l"/>
            <a:r>
              <a:rPr sz="1000" b="0" i="0">
                <a:solidFill>
                  <a:srgbClr val="111111"/>
                </a:solidFill>
                <a:latin typeface="Arial"/>
              </a:rPr>
              <a:t>Comment choisir un sac cabine conforme aux dimensions des compagnies ?</a:t>
            </a:r>
          </a:p>
        </p:txBody>
      </p:sp>
      <p:sp>
        <p:nvSpPr>
          <p:cNvPr id="62" name="Rectangle 61"/>
          <p:cNvSpPr/>
          <p:nvPr/>
        </p:nvSpPr>
        <p:spPr>
          <a:xfrm>
            <a:off x="4437888" y="4602480"/>
            <a:ext cx="2913888" cy="6096"/>
          </a:xfrm>
          <a:prstGeom prst="rect">
            <a:avLst/>
          </a:prstGeom>
          <a:solidFill>
            <a:srgbClr val="E6E3DE"/>
          </a:solidFill>
          <a:ln>
            <a:noFill/>
          </a:ln>
          <a:effectLst/>
        </p:spPr>
        <p:txBody>
          <a:bodyPr rtlCol="0" anchor="ctr"/>
          <a:lstStyle/>
          <a:p>
            <a:pPr algn="ctr"/>
          </a:p>
        </p:txBody>
      </p:sp>
      <p:sp>
        <p:nvSpPr>
          <p:cNvPr id="63" name="TextBox 62"/>
          <p:cNvSpPr txBox="1"/>
          <p:nvPr/>
        </p:nvSpPr>
        <p:spPr>
          <a:xfrm>
            <a:off x="4437888" y="4632960"/>
            <a:ext cx="2913888" cy="304800"/>
          </a:xfrm>
          <a:prstGeom prst="rect">
            <a:avLst/>
          </a:prstGeom>
          <a:noFill/>
        </p:spPr>
        <p:txBody>
          <a:bodyPr wrap="square" anchor="ctr" lIns="0" rIns="0" tIns="0" bIns="0">
            <a:spAutoFit/>
          </a:bodyPr>
          <a:lstStyle/>
          <a:p>
            <a:pPr algn="l"/>
            <a:r>
              <a:rPr sz="1000" b="0" i="0">
                <a:solidFill>
                  <a:srgbClr val="111111"/>
                </a:solidFill>
                <a:latin typeface="Arial"/>
              </a:rPr>
              <a:t>Quel sac choisir pour combo randonnée et ski de rando ?</a:t>
            </a:r>
          </a:p>
        </p:txBody>
      </p:sp>
      <p:sp>
        <p:nvSpPr>
          <p:cNvPr id="64" name="Rectangle 63"/>
          <p:cNvSpPr/>
          <p:nvPr/>
        </p:nvSpPr>
        <p:spPr>
          <a:xfrm>
            <a:off x="4437888" y="4968240"/>
            <a:ext cx="2913888" cy="6096"/>
          </a:xfrm>
          <a:prstGeom prst="rect">
            <a:avLst/>
          </a:prstGeom>
          <a:solidFill>
            <a:srgbClr val="E6E3DE"/>
          </a:solidFill>
          <a:ln>
            <a:noFill/>
          </a:ln>
          <a:effectLst/>
        </p:spPr>
        <p:txBody>
          <a:bodyPr rtlCol="0" anchor="ctr"/>
          <a:lstStyle/>
          <a:p>
            <a:pPr algn="ctr"/>
          </a:p>
        </p:txBody>
      </p:sp>
      <p:sp>
        <p:nvSpPr>
          <p:cNvPr id="65" name="TextBox 64"/>
          <p:cNvSpPr txBox="1"/>
          <p:nvPr/>
        </p:nvSpPr>
        <p:spPr>
          <a:xfrm>
            <a:off x="4437888" y="4998720"/>
            <a:ext cx="2913888" cy="304800"/>
          </a:xfrm>
          <a:prstGeom prst="rect">
            <a:avLst/>
          </a:prstGeom>
          <a:noFill/>
        </p:spPr>
        <p:txBody>
          <a:bodyPr wrap="square" anchor="ctr" lIns="0" rIns="0" tIns="0" bIns="0">
            <a:spAutoFit/>
          </a:bodyPr>
          <a:lstStyle/>
          <a:p>
            <a:pPr algn="l"/>
            <a:r>
              <a:rPr sz="1000" b="0" i="0">
                <a:solidFill>
                  <a:srgbClr val="111111"/>
                </a:solidFill>
                <a:latin typeface="Arial"/>
              </a:rPr>
              <a:t>Comment organiser une trousse de toilette conforme aux règles de sécurité ?</a:t>
            </a:r>
          </a:p>
        </p:txBody>
      </p:sp>
      <p:sp>
        <p:nvSpPr>
          <p:cNvPr id="66" name="TextBox 65"/>
          <p:cNvSpPr txBox="1"/>
          <p:nvPr/>
        </p:nvSpPr>
        <p:spPr>
          <a:xfrm>
            <a:off x="8101584" y="3767328"/>
            <a:ext cx="2926080" cy="152400"/>
          </a:xfrm>
          <a:prstGeom prst="rect">
            <a:avLst/>
          </a:prstGeom>
          <a:noFill/>
        </p:spPr>
        <p:txBody>
          <a:bodyPr wrap="square" anchor="t" lIns="0" rIns="0" tIns="0" bIns="0">
            <a:spAutoFit/>
          </a:bodyPr>
          <a:lstStyle/>
          <a:p>
            <a:pPr algn="l"/>
            <a:r>
              <a:rPr sz="1300" b="1" i="0">
                <a:solidFill>
                  <a:srgbClr val="555B66"/>
                </a:solidFill>
                <a:latin typeface="Arial"/>
              </a:rPr>
              <a:t>CATÉGORIES DE PRODUITS</a:t>
            </a:r>
          </a:p>
        </p:txBody>
      </p:sp>
      <p:sp>
        <p:nvSpPr>
          <p:cNvPr id="67" name="TextBox 66"/>
          <p:cNvSpPr txBox="1"/>
          <p:nvPr/>
        </p:nvSpPr>
        <p:spPr>
          <a:xfrm>
            <a:off x="8101584" y="3992880"/>
            <a:ext cx="2926080" cy="121920"/>
          </a:xfrm>
          <a:prstGeom prst="rect">
            <a:avLst/>
          </a:prstGeom>
          <a:noFill/>
        </p:spPr>
        <p:txBody>
          <a:bodyPr wrap="square" anchor="t" lIns="0" rIns="0" tIns="0" bIns="0">
            <a:spAutoFit/>
          </a:bodyPr>
          <a:lstStyle/>
          <a:p>
            <a:pPr algn="l"/>
            <a:r>
              <a:rPr sz="1000" b="0" i="1">
                <a:solidFill>
                  <a:srgbClr val="8A93A6"/>
                </a:solidFill>
                <a:latin typeface="Arial"/>
              </a:rPr>
              <a:t>Répartition des requêtes</a:t>
            </a:r>
          </a:p>
        </p:txBody>
      </p:sp>
      <p:sp>
        <p:nvSpPr>
          <p:cNvPr id="68" name="TextBox 67"/>
          <p:cNvSpPr txBox="1"/>
          <p:nvPr/>
        </p:nvSpPr>
        <p:spPr>
          <a:xfrm>
            <a:off x="8101584" y="4267200"/>
            <a:ext cx="2194560" cy="134112"/>
          </a:xfrm>
          <a:prstGeom prst="rect">
            <a:avLst/>
          </a:prstGeom>
          <a:noFill/>
        </p:spPr>
        <p:txBody>
          <a:bodyPr wrap="square" anchor="t" lIns="0" rIns="0" tIns="0" bIns="0">
            <a:spAutoFit/>
          </a:bodyPr>
          <a:lstStyle/>
          <a:p>
            <a:pPr algn="l"/>
            <a:r>
              <a:rPr sz="1000" b="0" i="0">
                <a:solidFill>
                  <a:srgbClr val="111111"/>
                </a:solidFill>
                <a:latin typeface="Arial"/>
              </a:rPr>
              <a:t>Location de vacances France et Europe</a:t>
            </a:r>
          </a:p>
        </p:txBody>
      </p:sp>
      <p:sp>
        <p:nvSpPr>
          <p:cNvPr id="69" name="Rectangle 68"/>
          <p:cNvSpPr/>
          <p:nvPr/>
        </p:nvSpPr>
        <p:spPr>
          <a:xfrm>
            <a:off x="8101584" y="4419600"/>
            <a:ext cx="2011680" cy="54864"/>
          </a:xfrm>
          <a:prstGeom prst="rect">
            <a:avLst/>
          </a:prstGeom>
          <a:solidFill>
            <a:srgbClr val="ECEAE5"/>
          </a:solidFill>
          <a:ln>
            <a:noFill/>
          </a:ln>
          <a:effectLst/>
        </p:spPr>
        <p:txBody>
          <a:bodyPr rtlCol="0" anchor="ctr"/>
          <a:lstStyle/>
          <a:p>
            <a:pPr algn="ctr"/>
          </a:p>
        </p:txBody>
      </p:sp>
      <p:sp>
        <p:nvSpPr>
          <p:cNvPr id="70" name="Rectangle 69"/>
          <p:cNvSpPr/>
          <p:nvPr/>
        </p:nvSpPr>
        <p:spPr>
          <a:xfrm>
            <a:off x="8101584" y="4419600"/>
            <a:ext cx="1005840" cy="54864"/>
          </a:xfrm>
          <a:prstGeom prst="rect">
            <a:avLst/>
          </a:prstGeom>
          <a:solidFill>
            <a:srgbClr val="EE6A2C"/>
          </a:solidFill>
          <a:ln>
            <a:noFill/>
          </a:ln>
          <a:effectLst/>
        </p:spPr>
        <p:txBody>
          <a:bodyPr rtlCol="0" anchor="ctr"/>
          <a:lstStyle/>
          <a:p>
            <a:pPr algn="ctr"/>
          </a:p>
        </p:txBody>
      </p:sp>
      <p:sp>
        <p:nvSpPr>
          <p:cNvPr id="71" name="TextBox 70"/>
          <p:cNvSpPr txBox="1"/>
          <p:nvPr/>
        </p:nvSpPr>
        <p:spPr>
          <a:xfrm>
            <a:off x="10241280" y="4340352"/>
            <a:ext cx="792480" cy="182880"/>
          </a:xfrm>
          <a:prstGeom prst="rect">
            <a:avLst/>
          </a:prstGeom>
          <a:noFill/>
        </p:spPr>
        <p:txBody>
          <a:bodyPr wrap="square" anchor="ctr" lIns="0" rIns="0" tIns="0" bIns="0">
            <a:spAutoFit/>
          </a:bodyPr>
          <a:lstStyle/>
          <a:p>
            <a:pPr algn="r"/>
            <a:r>
              <a:rPr sz="1300" b="1" i="0">
                <a:solidFill>
                  <a:srgbClr val="111111"/>
                </a:solidFill>
                <a:latin typeface="Arial"/>
              </a:rPr>
              <a:t>50 %</a:t>
            </a:r>
          </a:p>
        </p:txBody>
      </p:sp>
      <p:sp>
        <p:nvSpPr>
          <p:cNvPr id="72" name="TextBox 71"/>
          <p:cNvSpPr txBox="1"/>
          <p:nvPr/>
        </p:nvSpPr>
        <p:spPr>
          <a:xfrm>
            <a:off x="8101584" y="4584192"/>
            <a:ext cx="2194560" cy="134112"/>
          </a:xfrm>
          <a:prstGeom prst="rect">
            <a:avLst/>
          </a:prstGeom>
          <a:noFill/>
        </p:spPr>
        <p:txBody>
          <a:bodyPr wrap="square" anchor="t" lIns="0" rIns="0" tIns="0" bIns="0">
            <a:spAutoFit/>
          </a:bodyPr>
          <a:lstStyle/>
          <a:p>
            <a:pPr algn="l"/>
            <a:r>
              <a:rPr sz="1000" b="0" i="0">
                <a:solidFill>
                  <a:srgbClr val="111111"/>
                </a:solidFill>
                <a:latin typeface="Arial"/>
              </a:rPr>
              <a:t>Séjours montagne en hiver</a:t>
            </a:r>
          </a:p>
        </p:txBody>
      </p:sp>
      <p:sp>
        <p:nvSpPr>
          <p:cNvPr id="73" name="Rectangle 72"/>
          <p:cNvSpPr/>
          <p:nvPr/>
        </p:nvSpPr>
        <p:spPr>
          <a:xfrm>
            <a:off x="8101584" y="4736592"/>
            <a:ext cx="2011680" cy="54864"/>
          </a:xfrm>
          <a:prstGeom prst="rect">
            <a:avLst/>
          </a:prstGeom>
          <a:solidFill>
            <a:srgbClr val="ECEAE5"/>
          </a:solidFill>
          <a:ln>
            <a:noFill/>
          </a:ln>
          <a:effectLst/>
        </p:spPr>
        <p:txBody>
          <a:bodyPr rtlCol="0" anchor="ctr"/>
          <a:lstStyle/>
          <a:p>
            <a:pPr algn="ctr"/>
          </a:p>
        </p:txBody>
      </p:sp>
      <p:sp>
        <p:nvSpPr>
          <p:cNvPr id="74" name="Rectangle 73"/>
          <p:cNvSpPr/>
          <p:nvPr/>
        </p:nvSpPr>
        <p:spPr>
          <a:xfrm>
            <a:off x="8101584" y="4736592"/>
            <a:ext cx="1005840" cy="54864"/>
          </a:xfrm>
          <a:prstGeom prst="rect">
            <a:avLst/>
          </a:prstGeom>
          <a:solidFill>
            <a:srgbClr val="EE6A2C"/>
          </a:solidFill>
          <a:ln>
            <a:noFill/>
          </a:ln>
          <a:effectLst/>
        </p:spPr>
        <p:txBody>
          <a:bodyPr rtlCol="0" anchor="ctr"/>
          <a:lstStyle/>
          <a:p>
            <a:pPr algn="ctr"/>
          </a:p>
        </p:txBody>
      </p:sp>
      <p:sp>
        <p:nvSpPr>
          <p:cNvPr id="75" name="TextBox 74"/>
          <p:cNvSpPr txBox="1"/>
          <p:nvPr/>
        </p:nvSpPr>
        <p:spPr>
          <a:xfrm>
            <a:off x="10241280" y="4657344"/>
            <a:ext cx="792480" cy="182880"/>
          </a:xfrm>
          <a:prstGeom prst="rect">
            <a:avLst/>
          </a:prstGeom>
          <a:noFill/>
        </p:spPr>
        <p:txBody>
          <a:bodyPr wrap="square" anchor="ctr" lIns="0" rIns="0" tIns="0" bIns="0">
            <a:spAutoFit/>
          </a:bodyPr>
          <a:lstStyle/>
          <a:p>
            <a:pPr algn="r"/>
            <a:r>
              <a:rPr sz="1300" b="1" i="0">
                <a:solidFill>
                  <a:srgbClr val="111111"/>
                </a:solidFill>
                <a:latin typeface="Arial"/>
              </a:rPr>
              <a:t>50 %</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6F2"/>
          </a:solidFill>
          <a:ln>
            <a:noFill/>
          </a:ln>
          <a:effectLst/>
        </p:spPr>
        <p:txBody>
          <a:bodyPr rtlCol="0" anchor="ctr"/>
          <a:lstStyle/>
          <a:p>
            <a:pPr algn="ctr"/>
          </a:p>
        </p:txBody>
      </p:sp>
      <p:sp>
        <p:nvSpPr>
          <p:cNvPr id="3" name="TextBox 2"/>
          <p:cNvSpPr txBox="1"/>
          <p:nvPr/>
        </p:nvSpPr>
        <p:spPr>
          <a:xfrm>
            <a:off x="579120" y="426720"/>
            <a:ext cx="7315200" cy="182880"/>
          </a:xfrm>
          <a:prstGeom prst="rect">
            <a:avLst/>
          </a:prstGeom>
          <a:noFill/>
        </p:spPr>
        <p:txBody>
          <a:bodyPr wrap="square" anchor="t" lIns="0" rIns="0" tIns="0" bIns="0">
            <a:spAutoFit/>
          </a:bodyPr>
          <a:lstStyle/>
          <a:p>
            <a:pPr algn="l"/>
            <a:r>
              <a:rPr sz="1300" b="1" i="0">
                <a:solidFill>
                  <a:srgbClr val="EE6A2C"/>
                </a:solidFill>
                <a:latin typeface="Arial"/>
              </a:rPr>
              <a:t>INSIGHTS QUALITATIFS · SEPTEMBRE 2026</a:t>
            </a:r>
          </a:p>
        </p:txBody>
      </p:sp>
      <p:sp>
        <p:nvSpPr>
          <p:cNvPr id="4" name="TextBox 3"/>
          <p:cNvSpPr txBox="1"/>
          <p:nvPr/>
        </p:nvSpPr>
        <p:spPr>
          <a:xfrm>
            <a:off x="579120" y="609600"/>
            <a:ext cx="7315200" cy="487680"/>
          </a:xfrm>
          <a:prstGeom prst="rect">
            <a:avLst/>
          </a:prstGeom>
          <a:noFill/>
        </p:spPr>
        <p:txBody>
          <a:bodyPr wrap="square" anchor="t" lIns="0" rIns="0" tIns="0" bIns="0">
            <a:spAutoFit/>
          </a:bodyPr>
          <a:lstStyle/>
          <a:p>
            <a:pPr algn="l"/>
            <a:r>
              <a:rPr sz="3600" b="1" i="0">
                <a:solidFill>
                  <a:srgbClr val="111111"/>
                </a:solidFill>
                <a:latin typeface="Arial"/>
              </a:rPr>
              <a:t>Pierre &amp; Vacances</a:t>
            </a:r>
          </a:p>
        </p:txBody>
      </p:sp>
      <p:sp>
        <p:nvSpPr>
          <p:cNvPr id="5" name="TextBox 4"/>
          <p:cNvSpPr txBox="1"/>
          <p:nvPr/>
        </p:nvSpPr>
        <p:spPr>
          <a:xfrm>
            <a:off x="9144000" y="499872"/>
            <a:ext cx="1889760" cy="182880"/>
          </a:xfrm>
          <a:prstGeom prst="rect">
            <a:avLst/>
          </a:prstGeom>
          <a:noFill/>
        </p:spPr>
        <p:txBody>
          <a:bodyPr wrap="square" anchor="t" lIns="0" rIns="0" tIns="0" bIns="0">
            <a:spAutoFit/>
          </a:bodyPr>
          <a:lstStyle/>
          <a:p>
            <a:pPr algn="r"/>
            <a:r>
              <a:rPr sz="1500" b="1" i="0">
                <a:solidFill>
                  <a:srgbClr val="111111"/>
                </a:solidFill>
                <a:latin typeface="Arial"/>
              </a:rPr>
              <a:t>Lemrock</a:t>
            </a:r>
          </a:p>
        </p:txBody>
      </p:sp>
      <p:sp>
        <p:nvSpPr>
          <p:cNvPr id="6" name="TextBox 5"/>
          <p:cNvSpPr txBox="1"/>
          <p:nvPr/>
        </p:nvSpPr>
        <p:spPr>
          <a:xfrm>
            <a:off x="579120" y="1219200"/>
            <a:ext cx="9144000" cy="182880"/>
          </a:xfrm>
          <a:prstGeom prst="rect">
            <a:avLst/>
          </a:prstGeom>
          <a:noFill/>
        </p:spPr>
        <p:txBody>
          <a:bodyPr wrap="square" anchor="t" lIns="0" rIns="0" tIns="0" bIns="0">
            <a:spAutoFit/>
          </a:bodyPr>
          <a:lstStyle/>
          <a:p>
            <a:pPr algn="l"/>
            <a:r>
              <a:rPr sz="1300" b="1" i="0">
                <a:solidFill>
                  <a:srgbClr val="EE6A2C"/>
                </a:solidFill>
                <a:latin typeface="Arial"/>
              </a:rPr>
              <a:t>OBJECTIF   </a:t>
            </a:r>
            <a:r>
              <a:rPr sz="1300" b="0" i="0">
                <a:solidFill>
                  <a:srgbClr val="111111"/>
                </a:solidFill>
                <a:latin typeface="Arial"/>
              </a:rPr>
              <a:t>À définir</a:t>
            </a:r>
          </a:p>
        </p:txBody>
      </p:sp>
      <p:sp>
        <p:nvSpPr>
          <p:cNvPr id="7" name="TextBox 6"/>
          <p:cNvSpPr txBox="1"/>
          <p:nvPr/>
        </p:nvSpPr>
        <p:spPr>
          <a:xfrm>
            <a:off x="579120" y="1524000"/>
            <a:ext cx="4876800" cy="182880"/>
          </a:xfrm>
          <a:prstGeom prst="rect">
            <a:avLst/>
          </a:prstGeom>
          <a:noFill/>
        </p:spPr>
        <p:txBody>
          <a:bodyPr wrap="square" anchor="t" lIns="0" rIns="0" tIns="0" bIns="0">
            <a:spAutoFit/>
          </a:bodyPr>
          <a:lstStyle/>
          <a:p>
            <a:pPr algn="l"/>
            <a:r>
              <a:rPr sz="1400" b="1" i="0">
                <a:solidFill>
                  <a:srgbClr val="555B66"/>
                </a:solidFill>
                <a:latin typeface="Arial"/>
              </a:rPr>
              <a:t>INSIGHTS QUALITATIFS</a:t>
            </a:r>
          </a:p>
        </p:txBody>
      </p:sp>
      <p:sp>
        <p:nvSpPr>
          <p:cNvPr id="8" name="Rectangle 7"/>
          <p:cNvSpPr/>
          <p:nvPr/>
        </p:nvSpPr>
        <p:spPr>
          <a:xfrm>
            <a:off x="579120" y="1816608"/>
            <a:ext cx="5071872" cy="2121408"/>
          </a:xfrm>
          <a:prstGeom prst="rect">
            <a:avLst/>
          </a:prstGeom>
          <a:solidFill>
            <a:srgbClr val="FFFFFF"/>
          </a:solidFill>
          <a:ln>
            <a:noFill/>
          </a:ln>
          <a:effectLst/>
        </p:spPr>
        <p:txBody>
          <a:bodyPr rtlCol="0" anchor="ctr"/>
          <a:lstStyle/>
          <a:p>
            <a:pPr algn="ctr"/>
          </a:p>
        </p:txBody>
      </p:sp>
      <p:sp>
        <p:nvSpPr>
          <p:cNvPr id="9" name="TextBox 8"/>
          <p:cNvSpPr txBox="1"/>
          <p:nvPr/>
        </p:nvSpPr>
        <p:spPr>
          <a:xfrm>
            <a:off x="835152" y="2029968"/>
            <a:ext cx="487680" cy="243840"/>
          </a:xfrm>
          <a:prstGeom prst="rect">
            <a:avLst/>
          </a:prstGeom>
          <a:noFill/>
        </p:spPr>
        <p:txBody>
          <a:bodyPr wrap="square" anchor="t" lIns="0" rIns="0" tIns="0" bIns="0">
            <a:spAutoFit/>
          </a:bodyPr>
          <a:lstStyle/>
          <a:p>
            <a:pPr algn="l"/>
            <a:r>
              <a:rPr sz="2000" b="1" i="0">
                <a:solidFill>
                  <a:srgbClr val="EE6A2C"/>
                </a:solidFill>
                <a:latin typeface="Arial"/>
              </a:rPr>
              <a:t>01</a:t>
            </a:r>
          </a:p>
        </p:txBody>
      </p:sp>
      <p:sp>
        <p:nvSpPr>
          <p:cNvPr id="10" name="TextBox 9"/>
          <p:cNvSpPr txBox="1"/>
          <p:nvPr/>
        </p:nvSpPr>
        <p:spPr>
          <a:xfrm>
            <a:off x="1383792" y="2048256"/>
            <a:ext cx="4023360" cy="365760"/>
          </a:xfrm>
          <a:prstGeom prst="rect">
            <a:avLst/>
          </a:prstGeom>
          <a:noFill/>
        </p:spPr>
        <p:txBody>
          <a:bodyPr wrap="square" anchor="t" lIns="0" rIns="0" tIns="0" bIns="0">
            <a:spAutoFit/>
          </a:bodyPr>
          <a:lstStyle/>
          <a:p>
            <a:pPr algn="l"/>
            <a:r>
              <a:rPr sz="1400" b="1" i="0">
                <a:solidFill>
                  <a:srgbClr val="111111"/>
                </a:solidFill>
                <a:latin typeface="Arial"/>
              </a:rPr>
              <a:t>Deux annonces au même niveau</a:t>
            </a:r>
          </a:p>
        </p:txBody>
      </p:sp>
      <p:sp>
        <p:nvSpPr>
          <p:cNvPr id="11" name="TextBox 10"/>
          <p:cNvSpPr txBox="1"/>
          <p:nvPr/>
        </p:nvSpPr>
        <p:spPr>
          <a:xfrm>
            <a:off x="835152" y="2609088"/>
            <a:ext cx="4572000" cy="731520"/>
          </a:xfrm>
          <a:prstGeom prst="rect">
            <a:avLst/>
          </a:prstGeom>
          <a:noFill/>
        </p:spPr>
        <p:txBody>
          <a:bodyPr wrap="square" anchor="t" lIns="0" rIns="0" tIns="0" bIns="0">
            <a:spAutoFit/>
          </a:bodyPr>
          <a:lstStyle/>
          <a:p>
            <a:pPr algn="l"/>
            <a:r>
              <a:rPr sz="1100" b="0" i="0">
                <a:solidFill>
                  <a:srgbClr val="555B66"/>
                </a:solidFill>
                <a:latin typeface="Arial"/>
              </a:rPr>
              <a:t>L'annonce location France et Europe (1,03 fois le CTR moyen) et l'annonce montagne en hiver (0,97 fois) se partagent la diffusion à parts égales.</a:t>
            </a:r>
          </a:p>
        </p:txBody>
      </p:sp>
      <p:sp>
        <p:nvSpPr>
          <p:cNvPr id="12" name="TextBox 11"/>
          <p:cNvSpPr txBox="1"/>
          <p:nvPr/>
        </p:nvSpPr>
        <p:spPr>
          <a:xfrm>
            <a:off x="835152" y="3310128"/>
            <a:ext cx="4572000" cy="487680"/>
          </a:xfrm>
          <a:prstGeom prst="rect">
            <a:avLst/>
          </a:prstGeom>
          <a:noFill/>
        </p:spPr>
        <p:txBody>
          <a:bodyPr wrap="square" anchor="t" lIns="0" rIns="0" tIns="0" bIns="0">
            <a:spAutoFit/>
          </a:bodyPr>
          <a:lstStyle/>
          <a:p>
            <a:pPr algn="l"/>
            <a:r>
              <a:rPr sz="900" b="1" i="0">
                <a:solidFill>
                  <a:srgbClr val="555B66"/>
                </a:solidFill>
                <a:latin typeface="Arial"/>
              </a:rPr>
              <a:t>→  Ajouter des annonces par destination pour identifier ce qui clique le plus.</a:t>
            </a:r>
          </a:p>
        </p:txBody>
      </p:sp>
      <p:sp>
        <p:nvSpPr>
          <p:cNvPr id="13" name="Rectangle 12"/>
          <p:cNvSpPr/>
          <p:nvPr/>
        </p:nvSpPr>
        <p:spPr>
          <a:xfrm>
            <a:off x="5992368" y="1816608"/>
            <a:ext cx="5071872" cy="2121408"/>
          </a:xfrm>
          <a:prstGeom prst="rect">
            <a:avLst/>
          </a:prstGeom>
          <a:solidFill>
            <a:srgbClr val="FFFFFF"/>
          </a:solidFill>
          <a:ln>
            <a:noFill/>
          </a:ln>
          <a:effectLst/>
        </p:spPr>
        <p:txBody>
          <a:bodyPr rtlCol="0" anchor="ctr"/>
          <a:lstStyle/>
          <a:p>
            <a:pPr algn="ctr"/>
          </a:p>
        </p:txBody>
      </p:sp>
      <p:sp>
        <p:nvSpPr>
          <p:cNvPr id="14" name="TextBox 13"/>
          <p:cNvSpPr txBox="1"/>
          <p:nvPr/>
        </p:nvSpPr>
        <p:spPr>
          <a:xfrm>
            <a:off x="6248400" y="2029968"/>
            <a:ext cx="487680" cy="243840"/>
          </a:xfrm>
          <a:prstGeom prst="rect">
            <a:avLst/>
          </a:prstGeom>
          <a:noFill/>
        </p:spPr>
        <p:txBody>
          <a:bodyPr wrap="square" anchor="t" lIns="0" rIns="0" tIns="0" bIns="0">
            <a:spAutoFit/>
          </a:bodyPr>
          <a:lstStyle/>
          <a:p>
            <a:pPr algn="l"/>
            <a:r>
              <a:rPr sz="2000" b="1" i="0">
                <a:solidFill>
                  <a:srgbClr val="EE6A2C"/>
                </a:solidFill>
                <a:latin typeface="Arial"/>
              </a:rPr>
              <a:t>02</a:t>
            </a:r>
          </a:p>
        </p:txBody>
      </p:sp>
      <p:sp>
        <p:nvSpPr>
          <p:cNvPr id="15" name="TextBox 14"/>
          <p:cNvSpPr txBox="1"/>
          <p:nvPr/>
        </p:nvSpPr>
        <p:spPr>
          <a:xfrm>
            <a:off x="6797040" y="2048256"/>
            <a:ext cx="4023360" cy="365760"/>
          </a:xfrm>
          <a:prstGeom prst="rect">
            <a:avLst/>
          </a:prstGeom>
          <a:noFill/>
        </p:spPr>
        <p:txBody>
          <a:bodyPr wrap="square" anchor="t" lIns="0" rIns="0" tIns="0" bIns="0">
            <a:spAutoFit/>
          </a:bodyPr>
          <a:lstStyle/>
          <a:p>
            <a:pPr algn="l"/>
            <a:r>
              <a:rPr sz="1400" b="1" i="0">
                <a:solidFill>
                  <a:srgbClr val="111111"/>
                </a:solidFill>
                <a:latin typeface="Arial"/>
              </a:rPr>
              <a:t>Préparer la saison d'hiver</a:t>
            </a:r>
          </a:p>
        </p:txBody>
      </p:sp>
      <p:sp>
        <p:nvSpPr>
          <p:cNvPr id="16" name="TextBox 15"/>
          <p:cNvSpPr txBox="1"/>
          <p:nvPr/>
        </p:nvSpPr>
        <p:spPr>
          <a:xfrm>
            <a:off x="6248400" y="2609088"/>
            <a:ext cx="4572000" cy="731520"/>
          </a:xfrm>
          <a:prstGeom prst="rect">
            <a:avLst/>
          </a:prstGeom>
          <a:noFill/>
        </p:spPr>
        <p:txBody>
          <a:bodyPr wrap="square" anchor="t" lIns="0" rIns="0" tIns="0" bIns="0">
            <a:spAutoFit/>
          </a:bodyPr>
          <a:lstStyle/>
          <a:p>
            <a:pPr algn="l"/>
            <a:r>
              <a:rPr sz="1100" b="0" i="0">
                <a:solidFill>
                  <a:srgbClr val="555B66"/>
                </a:solidFill>
                <a:latin typeface="Arial"/>
              </a:rPr>
              <a:t>La moitié de la diffusion porte déjà sur les séjours à la montagne cet hiver.</a:t>
            </a:r>
          </a:p>
        </p:txBody>
      </p:sp>
      <p:sp>
        <p:nvSpPr>
          <p:cNvPr id="17" name="TextBox 16"/>
          <p:cNvSpPr txBox="1"/>
          <p:nvPr/>
        </p:nvSpPr>
        <p:spPr>
          <a:xfrm>
            <a:off x="6248400" y="3310128"/>
            <a:ext cx="4572000" cy="487680"/>
          </a:xfrm>
          <a:prstGeom prst="rect">
            <a:avLst/>
          </a:prstGeom>
          <a:noFill/>
        </p:spPr>
        <p:txBody>
          <a:bodyPr wrap="square" anchor="t" lIns="0" rIns="0" tIns="0" bIns="0">
            <a:spAutoFit/>
          </a:bodyPr>
          <a:lstStyle/>
          <a:p>
            <a:pPr algn="l"/>
            <a:r>
              <a:rPr sz="900" b="1" i="0">
                <a:solidFill>
                  <a:srgbClr val="555B66"/>
                </a:solidFill>
                <a:latin typeface="Arial"/>
              </a:rPr>
              <a:t>→  Mettre en avant les résidences près des pistes pour les vacances de Noël et d'hiver.</a:t>
            </a:r>
          </a:p>
        </p:txBody>
      </p:sp>
      <p:sp>
        <p:nvSpPr>
          <p:cNvPr id="18" name="Rectangle 17"/>
          <p:cNvSpPr/>
          <p:nvPr/>
        </p:nvSpPr>
        <p:spPr>
          <a:xfrm>
            <a:off x="579120" y="4133088"/>
            <a:ext cx="5071872" cy="2121408"/>
          </a:xfrm>
          <a:prstGeom prst="rect">
            <a:avLst/>
          </a:prstGeom>
          <a:solidFill>
            <a:srgbClr val="FFFFFF"/>
          </a:solidFill>
          <a:ln>
            <a:noFill/>
          </a:ln>
          <a:effectLst/>
        </p:spPr>
        <p:txBody>
          <a:bodyPr rtlCol="0" anchor="ctr"/>
          <a:lstStyle/>
          <a:p>
            <a:pPr algn="ctr"/>
          </a:p>
        </p:txBody>
      </p:sp>
      <p:sp>
        <p:nvSpPr>
          <p:cNvPr id="19" name="TextBox 18"/>
          <p:cNvSpPr txBox="1"/>
          <p:nvPr/>
        </p:nvSpPr>
        <p:spPr>
          <a:xfrm>
            <a:off x="835152" y="4346448"/>
            <a:ext cx="487680" cy="243840"/>
          </a:xfrm>
          <a:prstGeom prst="rect">
            <a:avLst/>
          </a:prstGeom>
          <a:noFill/>
        </p:spPr>
        <p:txBody>
          <a:bodyPr wrap="square" anchor="t" lIns="0" rIns="0" tIns="0" bIns="0">
            <a:spAutoFit/>
          </a:bodyPr>
          <a:lstStyle/>
          <a:p>
            <a:pPr algn="l"/>
            <a:r>
              <a:rPr sz="2000" b="1" i="0">
                <a:solidFill>
                  <a:srgbClr val="EE6A2C"/>
                </a:solidFill>
                <a:latin typeface="Arial"/>
              </a:rPr>
              <a:t>03</a:t>
            </a:r>
          </a:p>
        </p:txBody>
      </p:sp>
      <p:sp>
        <p:nvSpPr>
          <p:cNvPr id="20" name="TextBox 19"/>
          <p:cNvSpPr txBox="1"/>
          <p:nvPr/>
        </p:nvSpPr>
        <p:spPr>
          <a:xfrm>
            <a:off x="1383792" y="4364736"/>
            <a:ext cx="4023360" cy="365760"/>
          </a:xfrm>
          <a:prstGeom prst="rect">
            <a:avLst/>
          </a:prstGeom>
          <a:noFill/>
        </p:spPr>
        <p:txBody>
          <a:bodyPr wrap="square" anchor="t" lIns="0" rIns="0" tIns="0" bIns="0">
            <a:spAutoFit/>
          </a:bodyPr>
          <a:lstStyle/>
          <a:p>
            <a:pPr algn="l"/>
            <a:r>
              <a:rPr sz="1400" b="1" i="0">
                <a:solidFill>
                  <a:srgbClr val="111111"/>
                </a:solidFill>
                <a:latin typeface="Arial"/>
              </a:rPr>
              <a:t>Des annonces sans destination ni prix</a:t>
            </a:r>
          </a:p>
        </p:txBody>
      </p:sp>
      <p:sp>
        <p:nvSpPr>
          <p:cNvPr id="21" name="TextBox 20"/>
          <p:cNvSpPr txBox="1"/>
          <p:nvPr/>
        </p:nvSpPr>
        <p:spPr>
          <a:xfrm>
            <a:off x="835152" y="4925568"/>
            <a:ext cx="4572000" cy="731520"/>
          </a:xfrm>
          <a:prstGeom prst="rect">
            <a:avLst/>
          </a:prstGeom>
          <a:noFill/>
        </p:spPr>
        <p:txBody>
          <a:bodyPr wrap="square" anchor="t" lIns="0" rIns="0" tIns="0" bIns="0">
            <a:spAutoFit/>
          </a:bodyPr>
          <a:lstStyle/>
          <a:p>
            <a:pPr algn="l"/>
            <a:r>
              <a:rPr sz="1100" b="0" i="0">
                <a:solidFill>
                  <a:srgbClr val="555B66"/>
                </a:solidFill>
                <a:latin typeface="Arial"/>
              </a:rPr>
              <a:t>Les deux annonces restent génériques (« à la mer comme à la montagne », « près des pistes ») ; aucune ne cite une station, une ville ou un prix.</a:t>
            </a:r>
          </a:p>
        </p:txBody>
      </p:sp>
      <p:sp>
        <p:nvSpPr>
          <p:cNvPr id="22" name="TextBox 21"/>
          <p:cNvSpPr txBox="1"/>
          <p:nvPr/>
        </p:nvSpPr>
        <p:spPr>
          <a:xfrm>
            <a:off x="835152" y="5626608"/>
            <a:ext cx="4572000" cy="487680"/>
          </a:xfrm>
          <a:prstGeom prst="rect">
            <a:avLst/>
          </a:prstGeom>
          <a:noFill/>
        </p:spPr>
        <p:txBody>
          <a:bodyPr wrap="square" anchor="t" lIns="0" rIns="0" tIns="0" bIns="0">
            <a:spAutoFit/>
          </a:bodyPr>
          <a:lstStyle/>
          <a:p>
            <a:pPr algn="l"/>
            <a:r>
              <a:rPr sz="900" b="1" i="0">
                <a:solidFill>
                  <a:srgbClr val="555B66"/>
                </a:solidFill>
                <a:latin typeface="Arial"/>
              </a:rPr>
              <a:t>→  Tester des annonces par station ou destination, avec un prix d'appel.</a:t>
            </a:r>
          </a:p>
        </p:txBody>
      </p:sp>
      <p:sp>
        <p:nvSpPr>
          <p:cNvPr id="23" name="Rectangle 22"/>
          <p:cNvSpPr/>
          <p:nvPr/>
        </p:nvSpPr>
        <p:spPr>
          <a:xfrm>
            <a:off x="5992368" y="4133088"/>
            <a:ext cx="5071872" cy="2121408"/>
          </a:xfrm>
          <a:prstGeom prst="rect">
            <a:avLst/>
          </a:prstGeom>
          <a:solidFill>
            <a:srgbClr val="FFFFFF"/>
          </a:solidFill>
          <a:ln>
            <a:noFill/>
          </a:ln>
          <a:effectLst/>
        </p:spPr>
        <p:txBody>
          <a:bodyPr rtlCol="0" anchor="ctr"/>
          <a:lstStyle/>
          <a:p>
            <a:pPr algn="ctr"/>
          </a:p>
        </p:txBody>
      </p:sp>
      <p:sp>
        <p:nvSpPr>
          <p:cNvPr id="24" name="TextBox 23"/>
          <p:cNvSpPr txBox="1"/>
          <p:nvPr/>
        </p:nvSpPr>
        <p:spPr>
          <a:xfrm>
            <a:off x="6248400" y="4346448"/>
            <a:ext cx="487680" cy="243840"/>
          </a:xfrm>
          <a:prstGeom prst="rect">
            <a:avLst/>
          </a:prstGeom>
          <a:noFill/>
        </p:spPr>
        <p:txBody>
          <a:bodyPr wrap="square" anchor="t" lIns="0" rIns="0" tIns="0" bIns="0">
            <a:spAutoFit/>
          </a:bodyPr>
          <a:lstStyle/>
          <a:p>
            <a:pPr algn="l"/>
            <a:r>
              <a:rPr sz="2000" b="1" i="0">
                <a:solidFill>
                  <a:srgbClr val="EE6A2C"/>
                </a:solidFill>
                <a:latin typeface="Arial"/>
              </a:rPr>
              <a:t>04</a:t>
            </a:r>
          </a:p>
        </p:txBody>
      </p:sp>
      <p:sp>
        <p:nvSpPr>
          <p:cNvPr id="25" name="TextBox 24"/>
          <p:cNvSpPr txBox="1"/>
          <p:nvPr/>
        </p:nvSpPr>
        <p:spPr>
          <a:xfrm>
            <a:off x="6797040" y="4364736"/>
            <a:ext cx="4023360" cy="365760"/>
          </a:xfrm>
          <a:prstGeom prst="rect">
            <a:avLst/>
          </a:prstGeom>
          <a:noFill/>
        </p:spPr>
        <p:txBody>
          <a:bodyPr wrap="square" anchor="t" lIns="0" rIns="0" tIns="0" bIns="0">
            <a:spAutoFit/>
          </a:bodyPr>
          <a:lstStyle/>
          <a:p>
            <a:pPr algn="l"/>
            <a:r>
              <a:rPr sz="1400" b="1" i="0">
                <a:solidFill>
                  <a:srgbClr val="111111"/>
                </a:solidFill>
                <a:latin typeface="Arial"/>
              </a:rPr>
              <a:t>Un premier mois encourageant</a:t>
            </a:r>
          </a:p>
        </p:txBody>
      </p:sp>
      <p:sp>
        <p:nvSpPr>
          <p:cNvPr id="26" name="TextBox 25"/>
          <p:cNvSpPr txBox="1"/>
          <p:nvPr/>
        </p:nvSpPr>
        <p:spPr>
          <a:xfrm>
            <a:off x="6248400" y="4925568"/>
            <a:ext cx="4572000" cy="731520"/>
          </a:xfrm>
          <a:prstGeom prst="rect">
            <a:avLst/>
          </a:prstGeom>
          <a:noFill/>
        </p:spPr>
        <p:txBody>
          <a:bodyPr wrap="square" anchor="t" lIns="0" rIns="0" tIns="0" bIns="0">
            <a:spAutoFit/>
          </a:bodyPr>
          <a:lstStyle/>
          <a:p>
            <a:pPr algn="l"/>
            <a:r>
              <a:rPr sz="1100" b="0" i="0">
                <a:solidFill>
                  <a:srgbClr val="555B66"/>
                </a:solidFill>
                <a:latin typeface="Arial"/>
              </a:rPr>
              <a:t>Lancée le 15/09, la campagne génère 3 144 clics en 16 jours, pour un CTR de 0,49 %.</a:t>
            </a:r>
          </a:p>
        </p:txBody>
      </p:sp>
      <p:sp>
        <p:nvSpPr>
          <p:cNvPr id="27" name="TextBox 26"/>
          <p:cNvSpPr txBox="1"/>
          <p:nvPr/>
        </p:nvSpPr>
        <p:spPr>
          <a:xfrm>
            <a:off x="6248400" y="5626608"/>
            <a:ext cx="4572000" cy="487680"/>
          </a:xfrm>
          <a:prstGeom prst="rect">
            <a:avLst/>
          </a:prstGeom>
          <a:noFill/>
        </p:spPr>
        <p:txBody>
          <a:bodyPr wrap="square" anchor="t" lIns="0" rIns="0" tIns="0" bIns="0">
            <a:spAutoFit/>
          </a:bodyPr>
          <a:lstStyle/>
          <a:p>
            <a:pPr algn="l"/>
            <a:r>
              <a:rPr sz="900" b="1" i="0">
                <a:solidFill>
                  <a:srgbClr val="555B66"/>
                </a:solidFill>
                <a:latin typeface="Arial"/>
              </a:rPr>
              <a:t>→  Poursuivre la diffusion sur la saison d'hiver.</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6F2"/>
          </a:solidFill>
          <a:ln>
            <a:noFill/>
          </a:ln>
          <a:effectLst/>
        </p:spPr>
        <p:txBody>
          <a:bodyPr rtlCol="0" anchor="ctr"/>
          <a:lstStyle/>
          <a:p>
            <a:pPr algn="ctr"/>
          </a:p>
        </p:txBody>
      </p:sp>
      <p:sp>
        <p:nvSpPr>
          <p:cNvPr id="3" name="TextBox 2"/>
          <p:cNvSpPr txBox="1"/>
          <p:nvPr/>
        </p:nvSpPr>
        <p:spPr>
          <a:xfrm>
            <a:off x="530352" y="487680"/>
            <a:ext cx="7315200" cy="182880"/>
          </a:xfrm>
          <a:prstGeom prst="rect">
            <a:avLst/>
          </a:prstGeom>
          <a:noFill/>
        </p:spPr>
        <p:txBody>
          <a:bodyPr wrap="square" anchor="t" lIns="0" rIns="0" tIns="0" bIns="0">
            <a:spAutoFit/>
          </a:bodyPr>
          <a:lstStyle/>
          <a:p>
            <a:pPr algn="l"/>
            <a:r>
              <a:rPr sz="1300" b="1" i="0">
                <a:solidFill>
                  <a:srgbClr val="EE6A2C"/>
                </a:solidFill>
                <a:latin typeface="Arial"/>
              </a:rPr>
              <a:t>RAPPORT DE PERFORMANCE · 01/09/2026 → 30/09/2026</a:t>
            </a:r>
          </a:p>
        </p:txBody>
      </p:sp>
      <p:sp>
        <p:nvSpPr>
          <p:cNvPr id="4" name="TextBox 3"/>
          <p:cNvSpPr txBox="1"/>
          <p:nvPr/>
        </p:nvSpPr>
        <p:spPr>
          <a:xfrm>
            <a:off x="530352" y="640080"/>
            <a:ext cx="7315200" cy="487680"/>
          </a:xfrm>
          <a:prstGeom prst="rect">
            <a:avLst/>
          </a:prstGeom>
          <a:noFill/>
        </p:spPr>
        <p:txBody>
          <a:bodyPr wrap="square" anchor="t" lIns="0" rIns="0" tIns="0" bIns="0">
            <a:spAutoFit/>
          </a:bodyPr>
          <a:lstStyle/>
          <a:p>
            <a:pPr algn="l"/>
            <a:r>
              <a:rPr sz="3600" b="1" i="0">
                <a:solidFill>
                  <a:srgbClr val="111111"/>
                </a:solidFill>
                <a:latin typeface="Arial"/>
              </a:rPr>
              <a:t>Pour de Bon</a:t>
            </a:r>
          </a:p>
        </p:txBody>
      </p:sp>
      <p:sp>
        <p:nvSpPr>
          <p:cNvPr id="5" name="TextBox 4"/>
          <p:cNvSpPr txBox="1"/>
          <p:nvPr/>
        </p:nvSpPr>
        <p:spPr>
          <a:xfrm>
            <a:off x="7924800" y="591312"/>
            <a:ext cx="3304032" cy="152400"/>
          </a:xfrm>
          <a:prstGeom prst="rect">
            <a:avLst/>
          </a:prstGeom>
          <a:noFill/>
        </p:spPr>
        <p:txBody>
          <a:bodyPr wrap="square" anchor="t" lIns="0" rIns="0" tIns="0" bIns="0">
            <a:spAutoFit/>
          </a:bodyPr>
          <a:lstStyle/>
          <a:p>
            <a:pPr algn="r"/>
            <a:r>
              <a:rPr sz="1200" b="1" i="0">
                <a:solidFill>
                  <a:srgbClr val="8A93A6"/>
                </a:solidFill>
                <a:latin typeface="Arial"/>
              </a:rPr>
              <a:t>COMPARAISON</a:t>
            </a:r>
          </a:p>
        </p:txBody>
      </p:sp>
      <p:sp>
        <p:nvSpPr>
          <p:cNvPr id="6" name="TextBox 5"/>
          <p:cNvSpPr txBox="1"/>
          <p:nvPr/>
        </p:nvSpPr>
        <p:spPr>
          <a:xfrm>
            <a:off x="7924800" y="780288"/>
            <a:ext cx="3304032" cy="182880"/>
          </a:xfrm>
          <a:prstGeom prst="rect">
            <a:avLst/>
          </a:prstGeom>
          <a:noFill/>
        </p:spPr>
        <p:txBody>
          <a:bodyPr wrap="square" anchor="t" lIns="0" rIns="0" tIns="0" bIns="0">
            <a:spAutoFit/>
          </a:bodyPr>
          <a:lstStyle/>
          <a:p>
            <a:pPr algn="r"/>
            <a:r>
              <a:rPr sz="1500" b="1" i="0">
                <a:solidFill>
                  <a:srgbClr val="111111"/>
                </a:solidFill>
                <a:latin typeface="Arial"/>
              </a:rPr>
              <a:t>vs 01/08/2026 → 31/08/2026</a:t>
            </a:r>
          </a:p>
        </p:txBody>
      </p:sp>
      <p:sp>
        <p:nvSpPr>
          <p:cNvPr id="7" name="TextBox 6"/>
          <p:cNvSpPr txBox="1"/>
          <p:nvPr/>
        </p:nvSpPr>
        <p:spPr>
          <a:xfrm>
            <a:off x="530352" y="1280160"/>
            <a:ext cx="2438400" cy="182880"/>
          </a:xfrm>
          <a:prstGeom prst="rect">
            <a:avLst/>
          </a:prstGeom>
          <a:noFill/>
        </p:spPr>
        <p:txBody>
          <a:bodyPr wrap="square" anchor="t" lIns="0" rIns="0" tIns="0" bIns="0">
            <a:spAutoFit/>
          </a:bodyPr>
          <a:lstStyle/>
          <a:p>
            <a:pPr algn="l"/>
            <a:r>
              <a:rPr sz="1400" b="1" i="0">
                <a:solidFill>
                  <a:srgbClr val="EE6A2C"/>
                </a:solidFill>
                <a:latin typeface="Arial"/>
              </a:rPr>
              <a:t>DIFFUSION</a:t>
            </a:r>
          </a:p>
        </p:txBody>
      </p:sp>
      <p:sp>
        <p:nvSpPr>
          <p:cNvPr id="8" name="TextBox 7"/>
          <p:cNvSpPr txBox="1"/>
          <p:nvPr/>
        </p:nvSpPr>
        <p:spPr>
          <a:xfrm>
            <a:off x="2389632" y="1280160"/>
            <a:ext cx="2438400" cy="182880"/>
          </a:xfrm>
          <a:prstGeom prst="rect">
            <a:avLst/>
          </a:prstGeom>
          <a:noFill/>
        </p:spPr>
        <p:txBody>
          <a:bodyPr wrap="square" anchor="t" lIns="0" rIns="0" tIns="0" bIns="0">
            <a:spAutoFit/>
          </a:bodyPr>
          <a:lstStyle/>
          <a:p>
            <a:pPr algn="l"/>
            <a:r>
              <a:rPr sz="1400" b="1" i="0">
                <a:solidFill>
                  <a:srgbClr val="EE6A2C"/>
                </a:solidFill>
                <a:latin typeface="Arial"/>
              </a:rPr>
              <a:t>ENGAGEMENT</a:t>
            </a:r>
          </a:p>
        </p:txBody>
      </p:sp>
      <p:sp>
        <p:nvSpPr>
          <p:cNvPr id="9" name="TextBox 8"/>
          <p:cNvSpPr txBox="1"/>
          <p:nvPr/>
        </p:nvSpPr>
        <p:spPr>
          <a:xfrm>
            <a:off x="6108192" y="1280160"/>
            <a:ext cx="2438400" cy="182880"/>
          </a:xfrm>
          <a:prstGeom prst="rect">
            <a:avLst/>
          </a:prstGeom>
          <a:noFill/>
        </p:spPr>
        <p:txBody>
          <a:bodyPr wrap="square" anchor="t" lIns="0" rIns="0" tIns="0" bIns="0">
            <a:spAutoFit/>
          </a:bodyPr>
          <a:lstStyle/>
          <a:p>
            <a:pPr algn="l"/>
            <a:r>
              <a:rPr sz="1400" b="1" i="0">
                <a:solidFill>
                  <a:srgbClr val="EE6A2C"/>
                </a:solidFill>
                <a:latin typeface="Arial"/>
              </a:rPr>
              <a:t>CONVERSION</a:t>
            </a:r>
          </a:p>
        </p:txBody>
      </p:sp>
      <p:sp>
        <p:nvSpPr>
          <p:cNvPr id="10" name="Rectangle 9"/>
          <p:cNvSpPr/>
          <p:nvPr/>
        </p:nvSpPr>
        <p:spPr>
          <a:xfrm>
            <a:off x="530352" y="1536192"/>
            <a:ext cx="1389888" cy="1127760"/>
          </a:xfrm>
          <a:prstGeom prst="rect">
            <a:avLst/>
          </a:prstGeom>
          <a:solidFill>
            <a:srgbClr val="FFFFFF"/>
          </a:solidFill>
          <a:ln>
            <a:noFill/>
          </a:ln>
          <a:effectLst/>
        </p:spPr>
        <p:txBody>
          <a:bodyPr rtlCol="0" anchor="ctr"/>
          <a:lstStyle/>
          <a:p>
            <a:pPr algn="ctr"/>
          </a:p>
        </p:txBody>
      </p:sp>
      <p:sp>
        <p:nvSpPr>
          <p:cNvPr id="11" name="Rectangle 10"/>
          <p:cNvSpPr/>
          <p:nvPr/>
        </p:nvSpPr>
        <p:spPr>
          <a:xfrm>
            <a:off x="530352" y="1536192"/>
            <a:ext cx="24384" cy="1127760"/>
          </a:xfrm>
          <a:prstGeom prst="rect">
            <a:avLst/>
          </a:prstGeom>
          <a:solidFill>
            <a:srgbClr val="EE6A2C"/>
          </a:solidFill>
          <a:ln>
            <a:noFill/>
          </a:ln>
          <a:effectLst/>
        </p:spPr>
        <p:txBody>
          <a:bodyPr rtlCol="0" anchor="ctr"/>
          <a:lstStyle/>
          <a:p>
            <a:pPr algn="ctr"/>
          </a:p>
        </p:txBody>
      </p:sp>
      <p:sp>
        <p:nvSpPr>
          <p:cNvPr id="12" name="TextBox 11"/>
          <p:cNvSpPr txBox="1"/>
          <p:nvPr/>
        </p:nvSpPr>
        <p:spPr>
          <a:xfrm>
            <a:off x="664464" y="1615440"/>
            <a:ext cx="1219200" cy="121920"/>
          </a:xfrm>
          <a:prstGeom prst="rect">
            <a:avLst/>
          </a:prstGeom>
          <a:noFill/>
        </p:spPr>
        <p:txBody>
          <a:bodyPr wrap="square" anchor="t" lIns="0" rIns="0" tIns="0" bIns="0">
            <a:spAutoFit/>
          </a:bodyPr>
          <a:lstStyle/>
          <a:p>
            <a:pPr algn="l"/>
            <a:r>
              <a:rPr sz="1000" b="1" i="0">
                <a:solidFill>
                  <a:srgbClr val="555B66"/>
                </a:solidFill>
                <a:latin typeface="Arial"/>
              </a:rPr>
              <a:t>IMPRESSIONS</a:t>
            </a:r>
          </a:p>
        </p:txBody>
      </p:sp>
      <p:sp>
        <p:nvSpPr>
          <p:cNvPr id="13" name="TextBox 12"/>
          <p:cNvSpPr txBox="1"/>
          <p:nvPr/>
        </p:nvSpPr>
        <p:spPr>
          <a:xfrm>
            <a:off x="664464" y="1889760"/>
            <a:ext cx="1219200" cy="274320"/>
          </a:xfrm>
          <a:prstGeom prst="rect">
            <a:avLst/>
          </a:prstGeom>
          <a:noFill/>
        </p:spPr>
        <p:txBody>
          <a:bodyPr wrap="square" anchor="t" lIns="0" rIns="0" tIns="0" bIns="0">
            <a:spAutoFit/>
          </a:bodyPr>
          <a:lstStyle/>
          <a:p>
            <a:pPr algn="l"/>
            <a:r>
              <a:rPr sz="2200" b="1" i="0">
                <a:solidFill>
                  <a:srgbClr val="111111"/>
                </a:solidFill>
                <a:latin typeface="Arial"/>
              </a:rPr>
              <a:t>701 502</a:t>
            </a:r>
          </a:p>
        </p:txBody>
      </p:sp>
      <p:sp>
        <p:nvSpPr>
          <p:cNvPr id="14" name="TextBox 13"/>
          <p:cNvSpPr txBox="1"/>
          <p:nvPr/>
        </p:nvSpPr>
        <p:spPr>
          <a:xfrm>
            <a:off x="664464" y="2243328"/>
            <a:ext cx="1219200" cy="109728"/>
          </a:xfrm>
          <a:prstGeom prst="rect">
            <a:avLst/>
          </a:prstGeom>
          <a:noFill/>
        </p:spPr>
        <p:txBody>
          <a:bodyPr wrap="square" anchor="t" lIns="0" rIns="0" tIns="0" bIns="0">
            <a:spAutoFit/>
          </a:bodyPr>
          <a:lstStyle/>
          <a:p>
            <a:pPr algn="l"/>
            <a:r>
              <a:rPr sz="1000" b="1" i="0">
                <a:solidFill>
                  <a:srgbClr val="B04837"/>
                </a:solidFill>
                <a:latin typeface="Arial"/>
              </a:rPr>
              <a:t>▼ −31 %</a:t>
            </a:r>
          </a:p>
        </p:txBody>
      </p:sp>
      <p:sp>
        <p:nvSpPr>
          <p:cNvPr id="15" name="TextBox 14"/>
          <p:cNvSpPr txBox="1"/>
          <p:nvPr/>
        </p:nvSpPr>
        <p:spPr>
          <a:xfrm>
            <a:off x="664464" y="2499360"/>
            <a:ext cx="1219200" cy="91440"/>
          </a:xfrm>
          <a:prstGeom prst="rect">
            <a:avLst/>
          </a:prstGeom>
          <a:noFill/>
        </p:spPr>
        <p:txBody>
          <a:bodyPr wrap="square" anchor="t" lIns="0" rIns="0" tIns="0" bIns="0">
            <a:spAutoFit/>
          </a:bodyPr>
          <a:lstStyle/>
          <a:p>
            <a:pPr algn="l"/>
            <a:r>
              <a:rPr sz="800" b="0" i="1">
                <a:solidFill>
                  <a:srgbClr val="555B66"/>
                </a:solidFill>
                <a:latin typeface="Arial"/>
              </a:rPr>
              <a:t>YTD 2 476 488</a:t>
            </a:r>
          </a:p>
        </p:txBody>
      </p:sp>
      <p:sp>
        <p:nvSpPr>
          <p:cNvPr id="16" name="Rectangle 15"/>
          <p:cNvSpPr/>
          <p:nvPr/>
        </p:nvSpPr>
        <p:spPr>
          <a:xfrm>
            <a:off x="2389632" y="1536192"/>
            <a:ext cx="1389888" cy="1127760"/>
          </a:xfrm>
          <a:prstGeom prst="rect">
            <a:avLst/>
          </a:prstGeom>
          <a:solidFill>
            <a:srgbClr val="FFFFFF"/>
          </a:solidFill>
          <a:ln>
            <a:noFill/>
          </a:ln>
          <a:effectLst/>
        </p:spPr>
        <p:txBody>
          <a:bodyPr rtlCol="0" anchor="ctr"/>
          <a:lstStyle/>
          <a:p>
            <a:pPr algn="ctr"/>
          </a:p>
        </p:txBody>
      </p:sp>
      <p:sp>
        <p:nvSpPr>
          <p:cNvPr id="17" name="Rectangle 16"/>
          <p:cNvSpPr/>
          <p:nvPr/>
        </p:nvSpPr>
        <p:spPr>
          <a:xfrm>
            <a:off x="2389632" y="1536192"/>
            <a:ext cx="24384" cy="1127760"/>
          </a:xfrm>
          <a:prstGeom prst="rect">
            <a:avLst/>
          </a:prstGeom>
          <a:solidFill>
            <a:srgbClr val="EE6A2C"/>
          </a:solidFill>
          <a:ln>
            <a:noFill/>
          </a:ln>
          <a:effectLst/>
        </p:spPr>
        <p:txBody>
          <a:bodyPr rtlCol="0" anchor="ctr"/>
          <a:lstStyle/>
          <a:p>
            <a:pPr algn="ctr"/>
          </a:p>
        </p:txBody>
      </p:sp>
      <p:sp>
        <p:nvSpPr>
          <p:cNvPr id="18" name="TextBox 17"/>
          <p:cNvSpPr txBox="1"/>
          <p:nvPr/>
        </p:nvSpPr>
        <p:spPr>
          <a:xfrm>
            <a:off x="2523744" y="1615440"/>
            <a:ext cx="1219200" cy="121920"/>
          </a:xfrm>
          <a:prstGeom prst="rect">
            <a:avLst/>
          </a:prstGeom>
          <a:noFill/>
        </p:spPr>
        <p:txBody>
          <a:bodyPr wrap="square" anchor="t" lIns="0" rIns="0" tIns="0" bIns="0">
            <a:spAutoFit/>
          </a:bodyPr>
          <a:lstStyle/>
          <a:p>
            <a:pPr algn="l"/>
            <a:r>
              <a:rPr sz="1000" b="1" i="0">
                <a:solidFill>
                  <a:srgbClr val="555B66"/>
                </a:solidFill>
                <a:latin typeface="Arial"/>
              </a:rPr>
              <a:t>CLICS</a:t>
            </a:r>
          </a:p>
        </p:txBody>
      </p:sp>
      <p:sp>
        <p:nvSpPr>
          <p:cNvPr id="19" name="TextBox 18"/>
          <p:cNvSpPr txBox="1"/>
          <p:nvPr/>
        </p:nvSpPr>
        <p:spPr>
          <a:xfrm>
            <a:off x="2523744" y="1889760"/>
            <a:ext cx="1219200" cy="274320"/>
          </a:xfrm>
          <a:prstGeom prst="rect">
            <a:avLst/>
          </a:prstGeom>
          <a:noFill/>
        </p:spPr>
        <p:txBody>
          <a:bodyPr wrap="square" anchor="t" lIns="0" rIns="0" tIns="0" bIns="0">
            <a:spAutoFit/>
          </a:bodyPr>
          <a:lstStyle/>
          <a:p>
            <a:pPr algn="l"/>
            <a:r>
              <a:rPr sz="2200" b="1" i="0">
                <a:solidFill>
                  <a:srgbClr val="111111"/>
                </a:solidFill>
                <a:latin typeface="Arial"/>
              </a:rPr>
              <a:t>3 334</a:t>
            </a:r>
          </a:p>
        </p:txBody>
      </p:sp>
      <p:sp>
        <p:nvSpPr>
          <p:cNvPr id="20" name="TextBox 19"/>
          <p:cNvSpPr txBox="1"/>
          <p:nvPr/>
        </p:nvSpPr>
        <p:spPr>
          <a:xfrm>
            <a:off x="2523744" y="2243328"/>
            <a:ext cx="1219200" cy="109728"/>
          </a:xfrm>
          <a:prstGeom prst="rect">
            <a:avLst/>
          </a:prstGeom>
          <a:noFill/>
        </p:spPr>
        <p:txBody>
          <a:bodyPr wrap="square" anchor="t" lIns="0" rIns="0" tIns="0" bIns="0">
            <a:spAutoFit/>
          </a:bodyPr>
          <a:lstStyle/>
          <a:p>
            <a:pPr algn="l"/>
            <a:r>
              <a:rPr sz="1000" b="1" i="0">
                <a:solidFill>
                  <a:srgbClr val="1E7B34"/>
                </a:solidFill>
                <a:latin typeface="Arial"/>
              </a:rPr>
              <a:t>▲ +32 %</a:t>
            </a:r>
          </a:p>
        </p:txBody>
      </p:sp>
      <p:sp>
        <p:nvSpPr>
          <p:cNvPr id="21" name="TextBox 20"/>
          <p:cNvSpPr txBox="1"/>
          <p:nvPr/>
        </p:nvSpPr>
        <p:spPr>
          <a:xfrm>
            <a:off x="2523744" y="2499360"/>
            <a:ext cx="1219200" cy="91440"/>
          </a:xfrm>
          <a:prstGeom prst="rect">
            <a:avLst/>
          </a:prstGeom>
          <a:noFill/>
        </p:spPr>
        <p:txBody>
          <a:bodyPr wrap="square" anchor="t" lIns="0" rIns="0" tIns="0" bIns="0">
            <a:spAutoFit/>
          </a:bodyPr>
          <a:lstStyle/>
          <a:p>
            <a:pPr algn="l"/>
            <a:r>
              <a:rPr sz="800" b="0" i="1">
                <a:solidFill>
                  <a:srgbClr val="555B66"/>
                </a:solidFill>
                <a:latin typeface="Arial"/>
              </a:rPr>
              <a:t>YTD 7 502</a:t>
            </a:r>
          </a:p>
        </p:txBody>
      </p:sp>
      <p:sp>
        <p:nvSpPr>
          <p:cNvPr id="22" name="Rectangle 21"/>
          <p:cNvSpPr/>
          <p:nvPr/>
        </p:nvSpPr>
        <p:spPr>
          <a:xfrm>
            <a:off x="4248912" y="1536192"/>
            <a:ext cx="1389888" cy="1127760"/>
          </a:xfrm>
          <a:prstGeom prst="rect">
            <a:avLst/>
          </a:prstGeom>
          <a:solidFill>
            <a:srgbClr val="FFFFFF"/>
          </a:solidFill>
          <a:ln>
            <a:noFill/>
          </a:ln>
          <a:effectLst/>
        </p:spPr>
        <p:txBody>
          <a:bodyPr rtlCol="0" anchor="ctr"/>
          <a:lstStyle/>
          <a:p>
            <a:pPr algn="ctr"/>
          </a:p>
        </p:txBody>
      </p:sp>
      <p:sp>
        <p:nvSpPr>
          <p:cNvPr id="23" name="Rectangle 22"/>
          <p:cNvSpPr/>
          <p:nvPr/>
        </p:nvSpPr>
        <p:spPr>
          <a:xfrm>
            <a:off x="4248912" y="1536192"/>
            <a:ext cx="24384" cy="1127760"/>
          </a:xfrm>
          <a:prstGeom prst="rect">
            <a:avLst/>
          </a:prstGeom>
          <a:solidFill>
            <a:srgbClr val="EE6A2C"/>
          </a:solidFill>
          <a:ln>
            <a:noFill/>
          </a:ln>
          <a:effectLst/>
        </p:spPr>
        <p:txBody>
          <a:bodyPr rtlCol="0" anchor="ctr"/>
          <a:lstStyle/>
          <a:p>
            <a:pPr algn="ctr"/>
          </a:p>
        </p:txBody>
      </p:sp>
      <p:sp>
        <p:nvSpPr>
          <p:cNvPr id="24" name="TextBox 23"/>
          <p:cNvSpPr txBox="1"/>
          <p:nvPr/>
        </p:nvSpPr>
        <p:spPr>
          <a:xfrm>
            <a:off x="4383024" y="1615440"/>
            <a:ext cx="1219200" cy="121920"/>
          </a:xfrm>
          <a:prstGeom prst="rect">
            <a:avLst/>
          </a:prstGeom>
          <a:noFill/>
        </p:spPr>
        <p:txBody>
          <a:bodyPr wrap="square" anchor="t" lIns="0" rIns="0" tIns="0" bIns="0">
            <a:spAutoFit/>
          </a:bodyPr>
          <a:lstStyle/>
          <a:p>
            <a:pPr algn="l"/>
            <a:r>
              <a:rPr sz="1000" b="1" i="0">
                <a:solidFill>
                  <a:srgbClr val="555B66"/>
                </a:solidFill>
                <a:latin typeface="Arial"/>
              </a:rPr>
              <a:t>CTR</a:t>
            </a:r>
          </a:p>
        </p:txBody>
      </p:sp>
      <p:sp>
        <p:nvSpPr>
          <p:cNvPr id="25" name="TextBox 24"/>
          <p:cNvSpPr txBox="1"/>
          <p:nvPr/>
        </p:nvSpPr>
        <p:spPr>
          <a:xfrm>
            <a:off x="4383024" y="1889760"/>
            <a:ext cx="1219200" cy="274320"/>
          </a:xfrm>
          <a:prstGeom prst="rect">
            <a:avLst/>
          </a:prstGeom>
          <a:noFill/>
        </p:spPr>
        <p:txBody>
          <a:bodyPr wrap="square" anchor="t" lIns="0" rIns="0" tIns="0" bIns="0">
            <a:spAutoFit/>
          </a:bodyPr>
          <a:lstStyle/>
          <a:p>
            <a:pPr algn="l"/>
            <a:r>
              <a:rPr sz="2200" b="1" i="0">
                <a:solidFill>
                  <a:srgbClr val="111111"/>
                </a:solidFill>
                <a:latin typeface="Arial"/>
              </a:rPr>
              <a:t>0,48 %</a:t>
            </a:r>
          </a:p>
        </p:txBody>
      </p:sp>
      <p:sp>
        <p:nvSpPr>
          <p:cNvPr id="26" name="TextBox 25"/>
          <p:cNvSpPr txBox="1"/>
          <p:nvPr/>
        </p:nvSpPr>
        <p:spPr>
          <a:xfrm>
            <a:off x="4383024" y="2243328"/>
            <a:ext cx="1219200" cy="109728"/>
          </a:xfrm>
          <a:prstGeom prst="rect">
            <a:avLst/>
          </a:prstGeom>
          <a:noFill/>
        </p:spPr>
        <p:txBody>
          <a:bodyPr wrap="square" anchor="t" lIns="0" rIns="0" tIns="0" bIns="0">
            <a:spAutoFit/>
          </a:bodyPr>
          <a:lstStyle/>
          <a:p>
            <a:pPr algn="l"/>
            <a:r>
              <a:rPr sz="1000" b="1" i="0">
                <a:solidFill>
                  <a:srgbClr val="1E7B34"/>
                </a:solidFill>
                <a:latin typeface="Arial"/>
              </a:rPr>
              <a:t>▲ +0,23 pt</a:t>
            </a:r>
          </a:p>
        </p:txBody>
      </p:sp>
      <p:sp>
        <p:nvSpPr>
          <p:cNvPr id="27" name="TextBox 26"/>
          <p:cNvSpPr txBox="1"/>
          <p:nvPr/>
        </p:nvSpPr>
        <p:spPr>
          <a:xfrm>
            <a:off x="4383024" y="2499360"/>
            <a:ext cx="1219200" cy="91440"/>
          </a:xfrm>
          <a:prstGeom prst="rect">
            <a:avLst/>
          </a:prstGeom>
          <a:noFill/>
        </p:spPr>
        <p:txBody>
          <a:bodyPr wrap="square" anchor="t" lIns="0" rIns="0" tIns="0" bIns="0">
            <a:spAutoFit/>
          </a:bodyPr>
          <a:lstStyle/>
          <a:p>
            <a:pPr algn="l"/>
            <a:r>
              <a:rPr sz="800" b="0" i="1">
                <a:solidFill>
                  <a:srgbClr val="555B66"/>
                </a:solidFill>
                <a:latin typeface="Arial"/>
              </a:rPr>
              <a:t>YTD 0,30 %</a:t>
            </a:r>
          </a:p>
        </p:txBody>
      </p:sp>
      <p:sp>
        <p:nvSpPr>
          <p:cNvPr id="28" name="Rectangle 27"/>
          <p:cNvSpPr/>
          <p:nvPr/>
        </p:nvSpPr>
        <p:spPr>
          <a:xfrm>
            <a:off x="6108192" y="1536192"/>
            <a:ext cx="1389888" cy="1127760"/>
          </a:xfrm>
          <a:prstGeom prst="rect">
            <a:avLst/>
          </a:prstGeom>
          <a:solidFill>
            <a:srgbClr val="F1EFEB"/>
          </a:solidFill>
          <a:ln>
            <a:noFill/>
          </a:ln>
          <a:effectLst/>
        </p:spPr>
        <p:txBody>
          <a:bodyPr rtlCol="0" anchor="ctr"/>
          <a:lstStyle/>
          <a:p>
            <a:pPr algn="ctr"/>
          </a:p>
        </p:txBody>
      </p:sp>
      <p:sp>
        <p:nvSpPr>
          <p:cNvPr id="29" name="Rounded Rectangle 28"/>
          <p:cNvSpPr/>
          <p:nvPr/>
        </p:nvSpPr>
        <p:spPr>
          <a:xfrm>
            <a:off x="6827520" y="1450848"/>
            <a:ext cx="609600" cy="170688"/>
          </a:xfrm>
          <a:prstGeom prst="roundRect">
            <a:avLst>
              <a:gd name="adj" fmla="val 50000"/>
            </a:avLst>
          </a:prstGeom>
          <a:solidFill>
            <a:srgbClr val="D9D6D1"/>
          </a:solidFill>
          <a:ln>
            <a:noFill/>
          </a:ln>
          <a:effectLst/>
        </p:spPr>
        <p:txBody>
          <a:bodyPr rtlCol="0" anchor="ctr"/>
          <a:lstStyle/>
          <a:p>
            <a:pPr algn="ctr"/>
          </a:p>
        </p:txBody>
      </p:sp>
      <p:sp>
        <p:nvSpPr>
          <p:cNvPr id="30" name="TextBox 29"/>
          <p:cNvSpPr txBox="1"/>
          <p:nvPr/>
        </p:nvSpPr>
        <p:spPr>
          <a:xfrm>
            <a:off x="6827520" y="1450848"/>
            <a:ext cx="609600" cy="170688"/>
          </a:xfrm>
          <a:prstGeom prst="rect">
            <a:avLst/>
          </a:prstGeom>
          <a:noFill/>
        </p:spPr>
        <p:txBody>
          <a:bodyPr wrap="square" anchor="ctr" lIns="0" rIns="0" tIns="0" bIns="0">
            <a:spAutoFit/>
          </a:bodyPr>
          <a:lstStyle/>
          <a:p>
            <a:pPr algn="ctr"/>
            <a:r>
              <a:rPr sz="800" b="1" i="0">
                <a:solidFill>
                  <a:srgbClr val="555B66"/>
                </a:solidFill>
                <a:latin typeface="Arial"/>
              </a:rPr>
              <a:t>INDICATIF</a:t>
            </a:r>
          </a:p>
        </p:txBody>
      </p:sp>
      <p:sp>
        <p:nvSpPr>
          <p:cNvPr id="31" name="TextBox 30"/>
          <p:cNvSpPr txBox="1"/>
          <p:nvPr/>
        </p:nvSpPr>
        <p:spPr>
          <a:xfrm>
            <a:off x="6242304" y="1706880"/>
            <a:ext cx="1219200" cy="121920"/>
          </a:xfrm>
          <a:prstGeom prst="rect">
            <a:avLst/>
          </a:prstGeom>
          <a:noFill/>
        </p:spPr>
        <p:txBody>
          <a:bodyPr wrap="square" anchor="t" lIns="0" rIns="0" tIns="0" bIns="0">
            <a:spAutoFit/>
          </a:bodyPr>
          <a:lstStyle/>
          <a:p>
            <a:pPr algn="l"/>
            <a:r>
              <a:rPr sz="1000" b="1" i="0">
                <a:solidFill>
                  <a:srgbClr val="8A93A6"/>
                </a:solidFill>
                <a:latin typeface="Arial"/>
              </a:rPr>
              <a:t>CONVERSIONS</a:t>
            </a:r>
          </a:p>
        </p:txBody>
      </p:sp>
      <p:sp>
        <p:nvSpPr>
          <p:cNvPr id="32" name="TextBox 31"/>
          <p:cNvSpPr txBox="1"/>
          <p:nvPr/>
        </p:nvSpPr>
        <p:spPr>
          <a:xfrm>
            <a:off x="6242304" y="1889760"/>
            <a:ext cx="1219200" cy="274320"/>
          </a:xfrm>
          <a:prstGeom prst="rect">
            <a:avLst/>
          </a:prstGeom>
          <a:noFill/>
        </p:spPr>
        <p:txBody>
          <a:bodyPr wrap="square" anchor="t" lIns="0" rIns="0" tIns="0" bIns="0">
            <a:spAutoFit/>
          </a:bodyPr>
          <a:lstStyle/>
          <a:p>
            <a:pPr algn="l"/>
            <a:r>
              <a:rPr sz="2200" b="1" i="0">
                <a:solidFill>
                  <a:srgbClr val="8A93A6"/>
                </a:solidFill>
                <a:latin typeface="Arial"/>
              </a:rPr>
              <a:t>N/C</a:t>
            </a:r>
          </a:p>
        </p:txBody>
      </p:sp>
      <p:sp>
        <p:nvSpPr>
          <p:cNvPr id="33" name="TextBox 32"/>
          <p:cNvSpPr txBox="1"/>
          <p:nvPr/>
        </p:nvSpPr>
        <p:spPr>
          <a:xfrm>
            <a:off x="6242304" y="2243328"/>
            <a:ext cx="1219200" cy="109728"/>
          </a:xfrm>
          <a:prstGeom prst="rect">
            <a:avLst/>
          </a:prstGeom>
          <a:noFill/>
        </p:spPr>
        <p:txBody>
          <a:bodyPr wrap="square" anchor="t" lIns="0" rIns="0" tIns="0" bIns="0">
            <a:spAutoFit/>
          </a:bodyPr>
          <a:lstStyle/>
          <a:p>
            <a:pPr algn="l"/>
            <a:r>
              <a:rPr sz="1000" b="1" i="0">
                <a:solidFill>
                  <a:srgbClr val="8A93A6"/>
                </a:solidFill>
                <a:latin typeface="Arial"/>
              </a:rPr>
              <a:t>—</a:t>
            </a:r>
          </a:p>
        </p:txBody>
      </p:sp>
      <p:sp>
        <p:nvSpPr>
          <p:cNvPr id="34" name="TextBox 33"/>
          <p:cNvSpPr txBox="1"/>
          <p:nvPr/>
        </p:nvSpPr>
        <p:spPr>
          <a:xfrm>
            <a:off x="6242304" y="2499360"/>
            <a:ext cx="1219200" cy="91440"/>
          </a:xfrm>
          <a:prstGeom prst="rect">
            <a:avLst/>
          </a:prstGeom>
          <a:noFill/>
        </p:spPr>
        <p:txBody>
          <a:bodyPr wrap="square" anchor="t" lIns="0" rIns="0" tIns="0" bIns="0">
            <a:spAutoFit/>
          </a:bodyPr>
          <a:lstStyle/>
          <a:p>
            <a:pPr algn="l"/>
            <a:r>
              <a:rPr sz="800" b="0" i="1">
                <a:solidFill>
                  <a:srgbClr val="8A93A6"/>
                </a:solidFill>
                <a:latin typeface="Arial"/>
              </a:rPr>
              <a:t>YTD —</a:t>
            </a:r>
          </a:p>
        </p:txBody>
      </p:sp>
      <p:sp>
        <p:nvSpPr>
          <p:cNvPr id="35" name="Rectangle 34"/>
          <p:cNvSpPr/>
          <p:nvPr/>
        </p:nvSpPr>
        <p:spPr>
          <a:xfrm>
            <a:off x="7967472" y="1536192"/>
            <a:ext cx="1389888" cy="1127760"/>
          </a:xfrm>
          <a:prstGeom prst="rect">
            <a:avLst/>
          </a:prstGeom>
          <a:solidFill>
            <a:srgbClr val="F1EFEB"/>
          </a:solidFill>
          <a:ln>
            <a:noFill/>
          </a:ln>
          <a:effectLst/>
        </p:spPr>
        <p:txBody>
          <a:bodyPr rtlCol="0" anchor="ctr"/>
          <a:lstStyle/>
          <a:p>
            <a:pPr algn="ctr"/>
          </a:p>
        </p:txBody>
      </p:sp>
      <p:sp>
        <p:nvSpPr>
          <p:cNvPr id="36" name="Rounded Rectangle 35"/>
          <p:cNvSpPr/>
          <p:nvPr/>
        </p:nvSpPr>
        <p:spPr>
          <a:xfrm>
            <a:off x="8686800" y="1450848"/>
            <a:ext cx="609600" cy="170688"/>
          </a:xfrm>
          <a:prstGeom prst="roundRect">
            <a:avLst>
              <a:gd name="adj" fmla="val 50000"/>
            </a:avLst>
          </a:prstGeom>
          <a:solidFill>
            <a:srgbClr val="D9D6D1"/>
          </a:solidFill>
          <a:ln>
            <a:noFill/>
          </a:ln>
          <a:effectLst/>
        </p:spPr>
        <p:txBody>
          <a:bodyPr rtlCol="0" anchor="ctr"/>
          <a:lstStyle/>
          <a:p>
            <a:pPr algn="ctr"/>
          </a:p>
        </p:txBody>
      </p:sp>
      <p:sp>
        <p:nvSpPr>
          <p:cNvPr id="37" name="TextBox 36"/>
          <p:cNvSpPr txBox="1"/>
          <p:nvPr/>
        </p:nvSpPr>
        <p:spPr>
          <a:xfrm>
            <a:off x="8686800" y="1450848"/>
            <a:ext cx="609600" cy="170688"/>
          </a:xfrm>
          <a:prstGeom prst="rect">
            <a:avLst/>
          </a:prstGeom>
          <a:noFill/>
        </p:spPr>
        <p:txBody>
          <a:bodyPr wrap="square" anchor="ctr" lIns="0" rIns="0" tIns="0" bIns="0">
            <a:spAutoFit/>
          </a:bodyPr>
          <a:lstStyle/>
          <a:p>
            <a:pPr algn="ctr"/>
            <a:r>
              <a:rPr sz="800" b="1" i="0">
                <a:solidFill>
                  <a:srgbClr val="555B66"/>
                </a:solidFill>
                <a:latin typeface="Arial"/>
              </a:rPr>
              <a:t>INDICATIF</a:t>
            </a:r>
          </a:p>
        </p:txBody>
      </p:sp>
      <p:sp>
        <p:nvSpPr>
          <p:cNvPr id="38" name="TextBox 37"/>
          <p:cNvSpPr txBox="1"/>
          <p:nvPr/>
        </p:nvSpPr>
        <p:spPr>
          <a:xfrm>
            <a:off x="8101584" y="1706880"/>
            <a:ext cx="1219200" cy="121920"/>
          </a:xfrm>
          <a:prstGeom prst="rect">
            <a:avLst/>
          </a:prstGeom>
          <a:noFill/>
        </p:spPr>
        <p:txBody>
          <a:bodyPr wrap="square" anchor="t" lIns="0" rIns="0" tIns="0" bIns="0">
            <a:spAutoFit/>
          </a:bodyPr>
          <a:lstStyle/>
          <a:p>
            <a:pPr algn="l"/>
            <a:r>
              <a:rPr sz="1000" b="1" i="0">
                <a:solidFill>
                  <a:srgbClr val="8A93A6"/>
                </a:solidFill>
                <a:latin typeface="Arial"/>
              </a:rPr>
              <a:t>CVR</a:t>
            </a:r>
          </a:p>
        </p:txBody>
      </p:sp>
      <p:sp>
        <p:nvSpPr>
          <p:cNvPr id="39" name="TextBox 38"/>
          <p:cNvSpPr txBox="1"/>
          <p:nvPr/>
        </p:nvSpPr>
        <p:spPr>
          <a:xfrm>
            <a:off x="8101584" y="1889760"/>
            <a:ext cx="1219200" cy="274320"/>
          </a:xfrm>
          <a:prstGeom prst="rect">
            <a:avLst/>
          </a:prstGeom>
          <a:noFill/>
        </p:spPr>
        <p:txBody>
          <a:bodyPr wrap="square" anchor="t" lIns="0" rIns="0" tIns="0" bIns="0">
            <a:spAutoFit/>
          </a:bodyPr>
          <a:lstStyle/>
          <a:p>
            <a:pPr algn="l"/>
            <a:r>
              <a:rPr sz="2200" b="1" i="0">
                <a:solidFill>
                  <a:srgbClr val="8A93A6"/>
                </a:solidFill>
                <a:latin typeface="Arial"/>
              </a:rPr>
              <a:t>N/C</a:t>
            </a:r>
          </a:p>
        </p:txBody>
      </p:sp>
      <p:sp>
        <p:nvSpPr>
          <p:cNvPr id="40" name="TextBox 39"/>
          <p:cNvSpPr txBox="1"/>
          <p:nvPr/>
        </p:nvSpPr>
        <p:spPr>
          <a:xfrm>
            <a:off x="8101584" y="2243328"/>
            <a:ext cx="1219200" cy="109728"/>
          </a:xfrm>
          <a:prstGeom prst="rect">
            <a:avLst/>
          </a:prstGeom>
          <a:noFill/>
        </p:spPr>
        <p:txBody>
          <a:bodyPr wrap="square" anchor="t" lIns="0" rIns="0" tIns="0" bIns="0">
            <a:spAutoFit/>
          </a:bodyPr>
          <a:lstStyle/>
          <a:p>
            <a:pPr algn="l"/>
            <a:r>
              <a:rPr sz="1000" b="1" i="0">
                <a:solidFill>
                  <a:srgbClr val="8A93A6"/>
                </a:solidFill>
                <a:latin typeface="Arial"/>
              </a:rPr>
              <a:t>—</a:t>
            </a:r>
          </a:p>
        </p:txBody>
      </p:sp>
      <p:sp>
        <p:nvSpPr>
          <p:cNvPr id="41" name="TextBox 40"/>
          <p:cNvSpPr txBox="1"/>
          <p:nvPr/>
        </p:nvSpPr>
        <p:spPr>
          <a:xfrm>
            <a:off x="8101584" y="2499360"/>
            <a:ext cx="1219200" cy="91440"/>
          </a:xfrm>
          <a:prstGeom prst="rect">
            <a:avLst/>
          </a:prstGeom>
          <a:noFill/>
        </p:spPr>
        <p:txBody>
          <a:bodyPr wrap="square" anchor="t" lIns="0" rIns="0" tIns="0" bIns="0">
            <a:spAutoFit/>
          </a:bodyPr>
          <a:lstStyle/>
          <a:p>
            <a:pPr algn="l"/>
            <a:r>
              <a:rPr sz="800" b="0" i="1">
                <a:solidFill>
                  <a:srgbClr val="8A93A6"/>
                </a:solidFill>
                <a:latin typeface="Arial"/>
              </a:rPr>
              <a:t>YTD —</a:t>
            </a:r>
          </a:p>
        </p:txBody>
      </p:sp>
      <p:sp>
        <p:nvSpPr>
          <p:cNvPr id="42" name="Rectangle 41"/>
          <p:cNvSpPr/>
          <p:nvPr/>
        </p:nvSpPr>
        <p:spPr>
          <a:xfrm>
            <a:off x="9826752" y="1536192"/>
            <a:ext cx="1389888" cy="1127760"/>
          </a:xfrm>
          <a:prstGeom prst="rect">
            <a:avLst/>
          </a:prstGeom>
          <a:solidFill>
            <a:srgbClr val="F1EFEB"/>
          </a:solidFill>
          <a:ln>
            <a:noFill/>
          </a:ln>
          <a:effectLst/>
        </p:spPr>
        <p:txBody>
          <a:bodyPr rtlCol="0" anchor="ctr"/>
          <a:lstStyle/>
          <a:p>
            <a:pPr algn="ctr"/>
          </a:p>
        </p:txBody>
      </p:sp>
      <p:sp>
        <p:nvSpPr>
          <p:cNvPr id="43" name="Rounded Rectangle 42"/>
          <p:cNvSpPr/>
          <p:nvPr/>
        </p:nvSpPr>
        <p:spPr>
          <a:xfrm>
            <a:off x="10546080" y="1450848"/>
            <a:ext cx="609600" cy="170688"/>
          </a:xfrm>
          <a:prstGeom prst="roundRect">
            <a:avLst>
              <a:gd name="adj" fmla="val 50000"/>
            </a:avLst>
          </a:prstGeom>
          <a:solidFill>
            <a:srgbClr val="D9D6D1"/>
          </a:solidFill>
          <a:ln>
            <a:noFill/>
          </a:ln>
          <a:effectLst/>
        </p:spPr>
        <p:txBody>
          <a:bodyPr rtlCol="0" anchor="ctr"/>
          <a:lstStyle/>
          <a:p>
            <a:pPr algn="ctr"/>
          </a:p>
        </p:txBody>
      </p:sp>
      <p:sp>
        <p:nvSpPr>
          <p:cNvPr id="44" name="TextBox 43"/>
          <p:cNvSpPr txBox="1"/>
          <p:nvPr/>
        </p:nvSpPr>
        <p:spPr>
          <a:xfrm>
            <a:off x="10546080" y="1450848"/>
            <a:ext cx="609600" cy="170688"/>
          </a:xfrm>
          <a:prstGeom prst="rect">
            <a:avLst/>
          </a:prstGeom>
          <a:noFill/>
        </p:spPr>
        <p:txBody>
          <a:bodyPr wrap="square" anchor="ctr" lIns="0" rIns="0" tIns="0" bIns="0">
            <a:spAutoFit/>
          </a:bodyPr>
          <a:lstStyle/>
          <a:p>
            <a:pPr algn="ctr"/>
            <a:r>
              <a:rPr sz="800" b="1" i="0">
                <a:solidFill>
                  <a:srgbClr val="555B66"/>
                </a:solidFill>
                <a:latin typeface="Arial"/>
              </a:rPr>
              <a:t>INDICATIF</a:t>
            </a:r>
          </a:p>
        </p:txBody>
      </p:sp>
      <p:sp>
        <p:nvSpPr>
          <p:cNvPr id="45" name="TextBox 44"/>
          <p:cNvSpPr txBox="1"/>
          <p:nvPr/>
        </p:nvSpPr>
        <p:spPr>
          <a:xfrm>
            <a:off x="9960864" y="1706880"/>
            <a:ext cx="1219200" cy="121920"/>
          </a:xfrm>
          <a:prstGeom prst="rect">
            <a:avLst/>
          </a:prstGeom>
          <a:noFill/>
        </p:spPr>
        <p:txBody>
          <a:bodyPr wrap="square" anchor="t" lIns="0" rIns="0" tIns="0" bIns="0">
            <a:spAutoFit/>
          </a:bodyPr>
          <a:lstStyle/>
          <a:p>
            <a:pPr algn="l"/>
            <a:r>
              <a:rPr sz="1000" b="1" i="0">
                <a:solidFill>
                  <a:srgbClr val="8A93A6"/>
                </a:solidFill>
                <a:latin typeface="Arial"/>
              </a:rPr>
              <a:t>ROAS</a:t>
            </a:r>
          </a:p>
        </p:txBody>
      </p:sp>
      <p:sp>
        <p:nvSpPr>
          <p:cNvPr id="46" name="TextBox 45"/>
          <p:cNvSpPr txBox="1"/>
          <p:nvPr/>
        </p:nvSpPr>
        <p:spPr>
          <a:xfrm>
            <a:off x="9960864" y="1889760"/>
            <a:ext cx="1219200" cy="274320"/>
          </a:xfrm>
          <a:prstGeom prst="rect">
            <a:avLst/>
          </a:prstGeom>
          <a:noFill/>
        </p:spPr>
        <p:txBody>
          <a:bodyPr wrap="square" anchor="t" lIns="0" rIns="0" tIns="0" bIns="0">
            <a:spAutoFit/>
          </a:bodyPr>
          <a:lstStyle/>
          <a:p>
            <a:pPr algn="l"/>
            <a:r>
              <a:rPr sz="2200" b="1" i="0">
                <a:solidFill>
                  <a:srgbClr val="8A93A6"/>
                </a:solidFill>
                <a:latin typeface="Arial"/>
              </a:rPr>
              <a:t>N/C</a:t>
            </a:r>
          </a:p>
        </p:txBody>
      </p:sp>
      <p:sp>
        <p:nvSpPr>
          <p:cNvPr id="47" name="TextBox 46"/>
          <p:cNvSpPr txBox="1"/>
          <p:nvPr/>
        </p:nvSpPr>
        <p:spPr>
          <a:xfrm>
            <a:off x="9960864" y="2243328"/>
            <a:ext cx="1219200" cy="109728"/>
          </a:xfrm>
          <a:prstGeom prst="rect">
            <a:avLst/>
          </a:prstGeom>
          <a:noFill/>
        </p:spPr>
        <p:txBody>
          <a:bodyPr wrap="square" anchor="t" lIns="0" rIns="0" tIns="0" bIns="0">
            <a:spAutoFit/>
          </a:bodyPr>
          <a:lstStyle/>
          <a:p>
            <a:pPr algn="l"/>
            <a:r>
              <a:rPr sz="1000" b="1" i="0">
                <a:solidFill>
                  <a:srgbClr val="8A93A6"/>
                </a:solidFill>
                <a:latin typeface="Arial"/>
              </a:rPr>
              <a:t>—</a:t>
            </a:r>
          </a:p>
        </p:txBody>
      </p:sp>
      <p:sp>
        <p:nvSpPr>
          <p:cNvPr id="48" name="TextBox 47"/>
          <p:cNvSpPr txBox="1"/>
          <p:nvPr/>
        </p:nvSpPr>
        <p:spPr>
          <a:xfrm>
            <a:off x="9960864" y="2499360"/>
            <a:ext cx="1219200" cy="91440"/>
          </a:xfrm>
          <a:prstGeom prst="rect">
            <a:avLst/>
          </a:prstGeom>
          <a:noFill/>
        </p:spPr>
        <p:txBody>
          <a:bodyPr wrap="square" anchor="t" lIns="0" rIns="0" tIns="0" bIns="0">
            <a:spAutoFit/>
          </a:bodyPr>
          <a:lstStyle/>
          <a:p>
            <a:pPr algn="l"/>
            <a:r>
              <a:rPr sz="800" b="0" i="1">
                <a:solidFill>
                  <a:srgbClr val="8A93A6"/>
                </a:solidFill>
                <a:latin typeface="Arial"/>
              </a:rPr>
              <a:t>YTD —</a:t>
            </a:r>
          </a:p>
        </p:txBody>
      </p:sp>
      <p:sp>
        <p:nvSpPr>
          <p:cNvPr id="49" name="Isosceles Triangle 48"/>
          <p:cNvSpPr/>
          <p:nvPr/>
        </p:nvSpPr>
        <p:spPr>
          <a:xfrm>
            <a:off x="8564880" y="2688336"/>
            <a:ext cx="182880" cy="85344"/>
          </a:xfrm>
          <a:prstGeom prst="triangle">
            <a:avLst/>
          </a:prstGeom>
          <a:solidFill>
            <a:srgbClr val="EBE9E5"/>
          </a:solidFill>
          <a:ln>
            <a:noFill/>
          </a:ln>
          <a:effectLst/>
        </p:spPr>
        <p:txBody>
          <a:bodyPr rtlCol="0" anchor="ctr"/>
          <a:lstStyle/>
          <a:p>
            <a:pPr algn="ctr"/>
          </a:p>
        </p:txBody>
      </p:sp>
      <p:sp>
        <p:nvSpPr>
          <p:cNvPr id="50" name="Rounded Rectangle 49"/>
          <p:cNvSpPr/>
          <p:nvPr/>
        </p:nvSpPr>
        <p:spPr>
          <a:xfrm>
            <a:off x="6108192" y="2773680"/>
            <a:ext cx="5108448" cy="438912"/>
          </a:xfrm>
          <a:prstGeom prst="roundRect">
            <a:avLst>
              <a:gd name="adj" fmla="val 15000"/>
            </a:avLst>
          </a:prstGeom>
          <a:solidFill>
            <a:srgbClr val="EBE9E5"/>
          </a:solidFill>
          <a:ln>
            <a:noFill/>
          </a:ln>
          <a:effectLst/>
        </p:spPr>
        <p:txBody>
          <a:bodyPr rtlCol="0" anchor="ctr"/>
          <a:lstStyle/>
          <a:p>
            <a:pPr algn="ctr"/>
          </a:p>
        </p:txBody>
      </p:sp>
      <p:sp>
        <p:nvSpPr>
          <p:cNvPr id="51" name="TextBox 50"/>
          <p:cNvSpPr txBox="1"/>
          <p:nvPr/>
        </p:nvSpPr>
        <p:spPr>
          <a:xfrm>
            <a:off x="6230112" y="2816352"/>
            <a:ext cx="4864608" cy="365760"/>
          </a:xfrm>
          <a:prstGeom prst="rect">
            <a:avLst/>
          </a:prstGeom>
          <a:noFill/>
        </p:spPr>
        <p:txBody>
          <a:bodyPr wrap="square" anchor="ctr" lIns="0" rIns="0" tIns="0" bIns="0">
            <a:spAutoFit/>
          </a:bodyPr>
          <a:lstStyle/>
          <a:p>
            <a:pPr algn="l"/>
            <a:r>
              <a:rPr sz="900" b="0" i="0">
                <a:solidFill>
                  <a:srgbClr val="555B66"/>
                </a:solidFill>
                <a:latin typeface="Arial"/>
              </a:rPr>
              <a:t>Le Conversion Tracker n'est pas encore installé. Les conversions apparaîtront dans ce rapport dès son intégration.</a:t>
            </a:r>
          </a:p>
        </p:txBody>
      </p:sp>
      <p:sp>
        <p:nvSpPr>
          <p:cNvPr id="52" name="TextBox 51"/>
          <p:cNvSpPr txBox="1"/>
          <p:nvPr/>
        </p:nvSpPr>
        <p:spPr>
          <a:xfrm>
            <a:off x="530352" y="3322320"/>
            <a:ext cx="7315200" cy="182880"/>
          </a:xfrm>
          <a:prstGeom prst="rect">
            <a:avLst/>
          </a:prstGeom>
          <a:noFill/>
        </p:spPr>
        <p:txBody>
          <a:bodyPr wrap="square" anchor="t" lIns="0" rIns="0" tIns="0" bIns="0">
            <a:spAutoFit/>
          </a:bodyPr>
          <a:lstStyle/>
          <a:p>
            <a:pPr algn="l"/>
            <a:r>
              <a:rPr sz="1400" b="1" i="0">
                <a:solidFill>
                  <a:srgbClr val="EE6A2C"/>
                </a:solidFill>
                <a:latin typeface="Arial"/>
              </a:rPr>
              <a:t>INSIGHTS QUALITATIFS · ANALYSE DES RECHERCHES</a:t>
            </a:r>
          </a:p>
        </p:txBody>
      </p:sp>
      <p:sp>
        <p:nvSpPr>
          <p:cNvPr id="53" name="Rectangle 52"/>
          <p:cNvSpPr/>
          <p:nvPr/>
        </p:nvSpPr>
        <p:spPr>
          <a:xfrm>
            <a:off x="530352" y="3584448"/>
            <a:ext cx="3401568" cy="2560320"/>
          </a:xfrm>
          <a:prstGeom prst="rect">
            <a:avLst/>
          </a:prstGeom>
          <a:solidFill>
            <a:srgbClr val="FFFFFF"/>
          </a:solidFill>
          <a:ln>
            <a:noFill/>
          </a:ln>
          <a:effectLst/>
        </p:spPr>
        <p:txBody>
          <a:bodyPr rtlCol="0" anchor="ctr"/>
          <a:lstStyle/>
          <a:p>
            <a:pPr algn="ctr"/>
          </a:p>
        </p:txBody>
      </p:sp>
      <p:sp>
        <p:nvSpPr>
          <p:cNvPr id="54" name="Rectangle 53"/>
          <p:cNvSpPr/>
          <p:nvPr/>
        </p:nvSpPr>
        <p:spPr>
          <a:xfrm>
            <a:off x="4194048" y="3584448"/>
            <a:ext cx="3401568" cy="2560320"/>
          </a:xfrm>
          <a:prstGeom prst="rect">
            <a:avLst/>
          </a:prstGeom>
          <a:solidFill>
            <a:srgbClr val="FFFFFF"/>
          </a:solidFill>
          <a:ln>
            <a:noFill/>
          </a:ln>
          <a:effectLst/>
        </p:spPr>
        <p:txBody>
          <a:bodyPr rtlCol="0" anchor="ctr"/>
          <a:lstStyle/>
          <a:p>
            <a:pPr algn="ctr"/>
          </a:p>
        </p:txBody>
      </p:sp>
      <p:sp>
        <p:nvSpPr>
          <p:cNvPr id="55" name="Rectangle 54"/>
          <p:cNvSpPr/>
          <p:nvPr/>
        </p:nvSpPr>
        <p:spPr>
          <a:xfrm>
            <a:off x="7857744" y="3584448"/>
            <a:ext cx="3401568" cy="2560320"/>
          </a:xfrm>
          <a:prstGeom prst="rect">
            <a:avLst/>
          </a:prstGeom>
          <a:solidFill>
            <a:srgbClr val="FFFFFF"/>
          </a:solidFill>
          <a:ln>
            <a:noFill/>
          </a:ln>
          <a:effectLst/>
        </p:spPr>
        <p:txBody>
          <a:bodyPr rtlCol="0" anchor="ctr"/>
          <a:lstStyle/>
          <a:p>
            <a:pPr algn="ctr"/>
          </a:p>
        </p:txBody>
      </p:sp>
      <p:sp>
        <p:nvSpPr>
          <p:cNvPr id="56" name="TextBox 55"/>
          <p:cNvSpPr txBox="1"/>
          <p:nvPr/>
        </p:nvSpPr>
        <p:spPr>
          <a:xfrm>
            <a:off x="774192" y="3767328"/>
            <a:ext cx="2926080" cy="152400"/>
          </a:xfrm>
          <a:prstGeom prst="rect">
            <a:avLst/>
          </a:prstGeom>
          <a:noFill/>
        </p:spPr>
        <p:txBody>
          <a:bodyPr wrap="square" anchor="t" lIns="0" rIns="0" tIns="0" bIns="0">
            <a:spAutoFit/>
          </a:bodyPr>
          <a:lstStyle/>
          <a:p>
            <a:pPr algn="l"/>
            <a:r>
              <a:rPr sz="1300" b="1" i="0">
                <a:solidFill>
                  <a:srgbClr val="555B66"/>
                </a:solidFill>
                <a:latin typeface="Arial"/>
              </a:rPr>
              <a:t>CHAMP LEXICAL</a:t>
            </a:r>
          </a:p>
        </p:txBody>
      </p:sp>
      <p:sp>
        <p:nvSpPr>
          <p:cNvPr id="57" name="TextBox 56"/>
          <p:cNvSpPr txBox="1"/>
          <p:nvPr/>
        </p:nvSpPr>
        <p:spPr>
          <a:xfrm>
            <a:off x="774192" y="3992880"/>
            <a:ext cx="2926080" cy="121920"/>
          </a:xfrm>
          <a:prstGeom prst="rect">
            <a:avLst/>
          </a:prstGeom>
          <a:noFill/>
        </p:spPr>
        <p:txBody>
          <a:bodyPr wrap="square" anchor="t" lIns="0" rIns="0" tIns="0" bIns="0">
            <a:spAutoFit/>
          </a:bodyPr>
          <a:lstStyle/>
          <a:p>
            <a:pPr algn="l"/>
            <a:r>
              <a:rPr sz="1000" b="0" i="1">
                <a:solidFill>
                  <a:srgbClr val="8A93A6"/>
                </a:solidFill>
                <a:latin typeface="Arial"/>
              </a:rPr>
              <a:t>Termes les plus fréquents</a:t>
            </a:r>
          </a:p>
        </p:txBody>
      </p:sp>
      <p:sp>
        <p:nvSpPr>
          <p:cNvPr id="58" name="TextBox 57"/>
          <p:cNvSpPr txBox="1"/>
          <p:nvPr/>
        </p:nvSpPr>
        <p:spPr>
          <a:xfrm>
            <a:off x="774192" y="4236720"/>
            <a:ext cx="2987040" cy="1828800"/>
          </a:xfrm>
          <a:prstGeom prst="rect">
            <a:avLst/>
          </a:prstGeom>
          <a:noFill/>
        </p:spPr>
        <p:txBody>
          <a:bodyPr wrap="square" anchor="t" lIns="0" rIns="0" tIns="0" bIns="0">
            <a:spAutoFit/>
          </a:bodyPr>
          <a:lstStyle/>
          <a:p>
            <a:pPr algn="l">
              <a:spcAft>
                <a:spcPts val="500"/>
              </a:spcAft>
            </a:pPr>
            <a:r>
              <a:rPr sz="1800" b="1" i="0">
                <a:solidFill>
                  <a:srgbClr val="EE6A2C"/>
                </a:solidFill>
                <a:latin typeface="Arial"/>
              </a:rPr>
              <a:t>sans additifs</a:t>
            </a:r>
            <a:r>
              <a:rPr sz="1600" b="1" i="0">
                <a:solidFill>
                  <a:srgbClr val="111111"/>
                </a:solidFill>
                <a:latin typeface="Arial"/>
              </a:rPr>
              <a:t>   étiquette</a:t>
            </a:r>
          </a:p>
          <a:p>
            <a:pPr algn="l">
              <a:spcAft>
                <a:spcPts val="500"/>
              </a:spcAft>
            </a:pPr>
            <a:r>
              <a:rPr sz="1500" b="1" i="0">
                <a:solidFill>
                  <a:srgbClr val="111111"/>
                </a:solidFill>
                <a:latin typeface="Arial"/>
              </a:rPr>
              <a:t>fleur de sel</a:t>
            </a:r>
            <a:r>
              <a:rPr sz="1400" b="1" i="0">
                <a:solidFill>
                  <a:srgbClr val="111111"/>
                </a:solidFill>
                <a:latin typeface="Arial"/>
              </a:rPr>
              <a:t>   huile d'olive</a:t>
            </a:r>
          </a:p>
          <a:p>
            <a:pPr algn="l">
              <a:spcAft>
                <a:spcPts val="500"/>
              </a:spcAft>
            </a:pPr>
            <a:r>
              <a:rPr sz="1300" b="1" i="0">
                <a:solidFill>
                  <a:srgbClr val="EE6A2C"/>
                </a:solidFill>
                <a:latin typeface="Arial"/>
              </a:rPr>
              <a:t>fromage</a:t>
            </a:r>
            <a:r>
              <a:rPr sz="1200" b="0" i="0">
                <a:solidFill>
                  <a:srgbClr val="111111"/>
                </a:solidFill>
                <a:latin typeface="Arial"/>
              </a:rPr>
              <a:t>   épices</a:t>
            </a:r>
          </a:p>
          <a:p>
            <a:pPr algn="l">
              <a:spcAft>
                <a:spcPts val="500"/>
              </a:spcAft>
            </a:pPr>
            <a:r>
              <a:rPr sz="1100" b="1" i="0">
                <a:solidFill>
                  <a:srgbClr val="EE6A2C"/>
                </a:solidFill>
                <a:latin typeface="Arial"/>
              </a:rPr>
              <a:t>bio</a:t>
            </a:r>
            <a:r>
              <a:rPr sz="1100" b="1" i="0">
                <a:solidFill>
                  <a:srgbClr val="111111"/>
                </a:solidFill>
                <a:latin typeface="Arial"/>
              </a:rPr>
              <a:t>   chocolat 70 %</a:t>
            </a:r>
          </a:p>
          <a:p>
            <a:pPr algn="l">
              <a:spcAft>
                <a:spcPts val="500"/>
              </a:spcAft>
            </a:pPr>
            <a:r>
              <a:rPr sz="1100" b="1" i="0">
                <a:solidFill>
                  <a:srgbClr val="111111"/>
                </a:solidFill>
                <a:latin typeface="Arial"/>
              </a:rPr>
              <a:t>frais de livraison</a:t>
            </a:r>
            <a:r>
              <a:rPr sz="1100" b="0" i="0">
                <a:solidFill>
                  <a:srgbClr val="111111"/>
                </a:solidFill>
                <a:latin typeface="Arial"/>
              </a:rPr>
              <a:t>   vinaigre</a:t>
            </a:r>
            <a:r>
              <a:rPr sz="1100" b="1" i="0">
                <a:solidFill>
                  <a:srgbClr val="EE6A2C"/>
                </a:solidFill>
                <a:latin typeface="Arial"/>
              </a:rPr>
              <a:t>   comté</a:t>
            </a:r>
          </a:p>
          <a:p>
            <a:pPr algn="l">
              <a:spcAft>
                <a:spcPts val="500"/>
              </a:spcAft>
            </a:pPr>
            <a:r>
              <a:rPr sz="1100" b="1" i="0">
                <a:solidFill>
                  <a:srgbClr val="111111"/>
                </a:solidFill>
                <a:latin typeface="Arial"/>
              </a:rPr>
              <a:t>Picard</a:t>
            </a:r>
            <a:r>
              <a:rPr sz="1100" b="0" i="0">
                <a:solidFill>
                  <a:srgbClr val="111111"/>
                </a:solidFill>
                <a:latin typeface="Arial"/>
              </a:rPr>
              <a:t>   La Grande Épicerie</a:t>
            </a:r>
          </a:p>
        </p:txBody>
      </p:sp>
      <p:sp>
        <p:nvSpPr>
          <p:cNvPr id="59" name="TextBox 58"/>
          <p:cNvSpPr txBox="1"/>
          <p:nvPr/>
        </p:nvSpPr>
        <p:spPr>
          <a:xfrm>
            <a:off x="4437888" y="3767328"/>
            <a:ext cx="2926080" cy="152400"/>
          </a:xfrm>
          <a:prstGeom prst="rect">
            <a:avLst/>
          </a:prstGeom>
          <a:noFill/>
        </p:spPr>
        <p:txBody>
          <a:bodyPr wrap="square" anchor="t" lIns="0" rIns="0" tIns="0" bIns="0">
            <a:spAutoFit/>
          </a:bodyPr>
          <a:lstStyle/>
          <a:p>
            <a:pPr algn="l"/>
            <a:r>
              <a:rPr sz="1300" b="1" i="0">
                <a:solidFill>
                  <a:srgbClr val="555B66"/>
                </a:solidFill>
                <a:latin typeface="Arial"/>
              </a:rPr>
              <a:t>EXEMPLES DE REQUÊTES</a:t>
            </a:r>
          </a:p>
        </p:txBody>
      </p:sp>
      <p:sp>
        <p:nvSpPr>
          <p:cNvPr id="60" name="TextBox 59"/>
          <p:cNvSpPr txBox="1"/>
          <p:nvPr/>
        </p:nvSpPr>
        <p:spPr>
          <a:xfrm>
            <a:off x="4437888" y="3992880"/>
            <a:ext cx="2926080" cy="121920"/>
          </a:xfrm>
          <a:prstGeom prst="rect">
            <a:avLst/>
          </a:prstGeom>
          <a:noFill/>
        </p:spPr>
        <p:txBody>
          <a:bodyPr wrap="square" anchor="t" lIns="0" rIns="0" tIns="0" bIns="0">
            <a:spAutoFit/>
          </a:bodyPr>
          <a:lstStyle/>
          <a:p>
            <a:pPr algn="l"/>
            <a:r>
              <a:rPr sz="1000" b="0" i="1">
                <a:solidFill>
                  <a:srgbClr val="8A93A6"/>
                </a:solidFill>
                <a:latin typeface="Arial"/>
              </a:rPr>
              <a:t>Questions posées aux IA</a:t>
            </a:r>
          </a:p>
        </p:txBody>
      </p:sp>
      <p:sp>
        <p:nvSpPr>
          <p:cNvPr id="61" name="TextBox 60"/>
          <p:cNvSpPr txBox="1"/>
          <p:nvPr/>
        </p:nvSpPr>
        <p:spPr>
          <a:xfrm>
            <a:off x="4437888" y="4267200"/>
            <a:ext cx="2913888" cy="304800"/>
          </a:xfrm>
          <a:prstGeom prst="rect">
            <a:avLst/>
          </a:prstGeom>
          <a:noFill/>
        </p:spPr>
        <p:txBody>
          <a:bodyPr wrap="square" anchor="ctr" lIns="0" rIns="0" tIns="0" bIns="0">
            <a:spAutoFit/>
          </a:bodyPr>
          <a:lstStyle/>
          <a:p>
            <a:pPr algn="l"/>
            <a:r>
              <a:rPr sz="1000" b="0" i="0">
                <a:solidFill>
                  <a:srgbClr val="111111"/>
                </a:solidFill>
                <a:latin typeface="Arial"/>
              </a:rPr>
              <a:t>Où acheter directement auprès de producteurs français ?</a:t>
            </a:r>
          </a:p>
        </p:txBody>
      </p:sp>
      <p:sp>
        <p:nvSpPr>
          <p:cNvPr id="62" name="Rectangle 61"/>
          <p:cNvSpPr/>
          <p:nvPr/>
        </p:nvSpPr>
        <p:spPr>
          <a:xfrm>
            <a:off x="4437888" y="4602480"/>
            <a:ext cx="2913888" cy="6096"/>
          </a:xfrm>
          <a:prstGeom prst="rect">
            <a:avLst/>
          </a:prstGeom>
          <a:solidFill>
            <a:srgbClr val="E6E3DE"/>
          </a:solidFill>
          <a:ln>
            <a:noFill/>
          </a:ln>
          <a:effectLst/>
        </p:spPr>
        <p:txBody>
          <a:bodyPr rtlCol="0" anchor="ctr"/>
          <a:lstStyle/>
          <a:p>
            <a:pPr algn="ctr"/>
          </a:p>
        </p:txBody>
      </p:sp>
      <p:sp>
        <p:nvSpPr>
          <p:cNvPr id="63" name="TextBox 62"/>
          <p:cNvSpPr txBox="1"/>
          <p:nvPr/>
        </p:nvSpPr>
        <p:spPr>
          <a:xfrm>
            <a:off x="4437888" y="4632960"/>
            <a:ext cx="2913888" cy="304800"/>
          </a:xfrm>
          <a:prstGeom prst="rect">
            <a:avLst/>
          </a:prstGeom>
          <a:noFill/>
        </p:spPr>
        <p:txBody>
          <a:bodyPr wrap="square" anchor="ctr" lIns="0" rIns="0" tIns="0" bIns="0">
            <a:spAutoFit/>
          </a:bodyPr>
          <a:lstStyle/>
          <a:p>
            <a:pPr algn="l"/>
            <a:r>
              <a:rPr sz="1000" b="0" i="0">
                <a:solidFill>
                  <a:srgbClr val="111111"/>
                </a:solidFill>
                <a:latin typeface="Arial"/>
              </a:rPr>
              <a:t>Quel fromage choisir pour un plateau régional ?</a:t>
            </a:r>
          </a:p>
        </p:txBody>
      </p:sp>
      <p:sp>
        <p:nvSpPr>
          <p:cNvPr id="64" name="Rectangle 63"/>
          <p:cNvSpPr/>
          <p:nvPr/>
        </p:nvSpPr>
        <p:spPr>
          <a:xfrm>
            <a:off x="4437888" y="4968240"/>
            <a:ext cx="2913888" cy="6096"/>
          </a:xfrm>
          <a:prstGeom prst="rect">
            <a:avLst/>
          </a:prstGeom>
          <a:solidFill>
            <a:srgbClr val="E6E3DE"/>
          </a:solidFill>
          <a:ln>
            <a:noFill/>
          </a:ln>
          <a:effectLst/>
        </p:spPr>
        <p:txBody>
          <a:bodyPr rtlCol="0" anchor="ctr"/>
          <a:lstStyle/>
          <a:p>
            <a:pPr algn="ctr"/>
          </a:p>
        </p:txBody>
      </p:sp>
      <p:sp>
        <p:nvSpPr>
          <p:cNvPr id="65" name="TextBox 64"/>
          <p:cNvSpPr txBox="1"/>
          <p:nvPr/>
        </p:nvSpPr>
        <p:spPr>
          <a:xfrm>
            <a:off x="4437888" y="4998720"/>
            <a:ext cx="2913888" cy="304800"/>
          </a:xfrm>
          <a:prstGeom prst="rect">
            <a:avLst/>
          </a:prstGeom>
          <a:noFill/>
        </p:spPr>
        <p:txBody>
          <a:bodyPr wrap="square" anchor="ctr" lIns="0" rIns="0" tIns="0" bIns="0">
            <a:spAutoFit/>
          </a:bodyPr>
          <a:lstStyle/>
          <a:p>
            <a:pPr algn="l"/>
            <a:r>
              <a:rPr sz="1000" b="0" i="0">
                <a:solidFill>
                  <a:srgbClr val="111111"/>
                </a:solidFill>
                <a:latin typeface="Arial"/>
              </a:rPr>
              <a:t>Où commander un magret directement chez un éleveur ?</a:t>
            </a:r>
          </a:p>
        </p:txBody>
      </p:sp>
      <p:sp>
        <p:nvSpPr>
          <p:cNvPr id="66" name="Rectangle 65"/>
          <p:cNvSpPr/>
          <p:nvPr/>
        </p:nvSpPr>
        <p:spPr>
          <a:xfrm>
            <a:off x="4437888" y="5334000"/>
            <a:ext cx="2913888" cy="6096"/>
          </a:xfrm>
          <a:prstGeom prst="rect">
            <a:avLst/>
          </a:prstGeom>
          <a:solidFill>
            <a:srgbClr val="E6E3DE"/>
          </a:solidFill>
          <a:ln>
            <a:noFill/>
          </a:ln>
          <a:effectLst/>
        </p:spPr>
        <p:txBody>
          <a:bodyPr rtlCol="0" anchor="ctr"/>
          <a:lstStyle/>
          <a:p>
            <a:pPr algn="ctr"/>
          </a:p>
        </p:txBody>
      </p:sp>
      <p:sp>
        <p:nvSpPr>
          <p:cNvPr id="67" name="TextBox 66"/>
          <p:cNvSpPr txBox="1"/>
          <p:nvPr/>
        </p:nvSpPr>
        <p:spPr>
          <a:xfrm>
            <a:off x="4437888" y="5364480"/>
            <a:ext cx="2913888" cy="304800"/>
          </a:xfrm>
          <a:prstGeom prst="rect">
            <a:avLst/>
          </a:prstGeom>
          <a:noFill/>
        </p:spPr>
        <p:txBody>
          <a:bodyPr wrap="square" anchor="ctr" lIns="0" rIns="0" tIns="0" bIns="0">
            <a:spAutoFit/>
          </a:bodyPr>
          <a:lstStyle/>
          <a:p>
            <a:pPr algn="l"/>
            <a:r>
              <a:rPr sz="1000" b="0" i="0">
                <a:solidFill>
                  <a:srgbClr val="111111"/>
                </a:solidFill>
                <a:latin typeface="Arial"/>
              </a:rPr>
              <a:t>Quel panier gourmand offrir à un amateur de régions ?</a:t>
            </a:r>
          </a:p>
        </p:txBody>
      </p:sp>
      <p:sp>
        <p:nvSpPr>
          <p:cNvPr id="68" name="Rectangle 67"/>
          <p:cNvSpPr/>
          <p:nvPr/>
        </p:nvSpPr>
        <p:spPr>
          <a:xfrm>
            <a:off x="4437888" y="5699760"/>
            <a:ext cx="2913888" cy="6096"/>
          </a:xfrm>
          <a:prstGeom prst="rect">
            <a:avLst/>
          </a:prstGeom>
          <a:solidFill>
            <a:srgbClr val="E6E3DE"/>
          </a:solidFill>
          <a:ln>
            <a:noFill/>
          </a:ln>
          <a:effectLst/>
        </p:spPr>
        <p:txBody>
          <a:bodyPr rtlCol="0" anchor="ctr"/>
          <a:lstStyle/>
          <a:p>
            <a:pPr algn="ctr"/>
          </a:p>
        </p:txBody>
      </p:sp>
      <p:sp>
        <p:nvSpPr>
          <p:cNvPr id="69" name="TextBox 68"/>
          <p:cNvSpPr txBox="1"/>
          <p:nvPr/>
        </p:nvSpPr>
        <p:spPr>
          <a:xfrm>
            <a:off x="4437888" y="5730240"/>
            <a:ext cx="2913888" cy="304800"/>
          </a:xfrm>
          <a:prstGeom prst="rect">
            <a:avLst/>
          </a:prstGeom>
          <a:noFill/>
        </p:spPr>
        <p:txBody>
          <a:bodyPr wrap="square" anchor="ctr" lIns="0" rIns="0" tIns="0" bIns="0">
            <a:spAutoFit/>
          </a:bodyPr>
          <a:lstStyle/>
          <a:p>
            <a:pPr algn="l"/>
            <a:r>
              <a:rPr sz="1000" b="0" i="0">
                <a:solidFill>
                  <a:srgbClr val="111111"/>
                </a:solidFill>
                <a:latin typeface="Arial"/>
              </a:rPr>
              <a:t>Peut-on faire livrer des produits fermiers au frais ?</a:t>
            </a:r>
          </a:p>
        </p:txBody>
      </p:sp>
      <p:sp>
        <p:nvSpPr>
          <p:cNvPr id="70" name="TextBox 69"/>
          <p:cNvSpPr txBox="1"/>
          <p:nvPr/>
        </p:nvSpPr>
        <p:spPr>
          <a:xfrm>
            <a:off x="8101584" y="3767328"/>
            <a:ext cx="2926080" cy="152400"/>
          </a:xfrm>
          <a:prstGeom prst="rect">
            <a:avLst/>
          </a:prstGeom>
          <a:noFill/>
        </p:spPr>
        <p:txBody>
          <a:bodyPr wrap="square" anchor="t" lIns="0" rIns="0" tIns="0" bIns="0">
            <a:spAutoFit/>
          </a:bodyPr>
          <a:lstStyle/>
          <a:p>
            <a:pPr algn="l"/>
            <a:r>
              <a:rPr sz="1300" b="1" i="0">
                <a:solidFill>
                  <a:srgbClr val="555B66"/>
                </a:solidFill>
                <a:latin typeface="Arial"/>
              </a:rPr>
              <a:t>CATÉGORIES DE PRODUITS</a:t>
            </a:r>
          </a:p>
        </p:txBody>
      </p:sp>
      <p:sp>
        <p:nvSpPr>
          <p:cNvPr id="71" name="TextBox 70"/>
          <p:cNvSpPr txBox="1"/>
          <p:nvPr/>
        </p:nvSpPr>
        <p:spPr>
          <a:xfrm>
            <a:off x="8101584" y="3992880"/>
            <a:ext cx="2926080" cy="121920"/>
          </a:xfrm>
          <a:prstGeom prst="rect">
            <a:avLst/>
          </a:prstGeom>
          <a:noFill/>
        </p:spPr>
        <p:txBody>
          <a:bodyPr wrap="square" anchor="t" lIns="0" rIns="0" tIns="0" bIns="0">
            <a:spAutoFit/>
          </a:bodyPr>
          <a:lstStyle/>
          <a:p>
            <a:pPr algn="l"/>
            <a:r>
              <a:rPr sz="1000" b="0" i="1">
                <a:solidFill>
                  <a:srgbClr val="8A93A6"/>
                </a:solidFill>
                <a:latin typeface="Arial"/>
              </a:rPr>
              <a:t>Répartition des requêtes</a:t>
            </a:r>
          </a:p>
        </p:txBody>
      </p:sp>
      <p:sp>
        <p:nvSpPr>
          <p:cNvPr id="72" name="TextBox 71"/>
          <p:cNvSpPr txBox="1"/>
          <p:nvPr/>
        </p:nvSpPr>
        <p:spPr>
          <a:xfrm>
            <a:off x="8101584" y="4267200"/>
            <a:ext cx="2194560" cy="134112"/>
          </a:xfrm>
          <a:prstGeom prst="rect">
            <a:avLst/>
          </a:prstGeom>
          <a:noFill/>
        </p:spPr>
        <p:txBody>
          <a:bodyPr wrap="square" anchor="t" lIns="0" rIns="0" tIns="0" bIns="0">
            <a:spAutoFit/>
          </a:bodyPr>
          <a:lstStyle/>
          <a:p>
            <a:pPr algn="l"/>
            <a:r>
              <a:rPr sz="1000" b="0" i="0">
                <a:solidFill>
                  <a:srgbClr val="111111"/>
                </a:solidFill>
                <a:latin typeface="Arial"/>
              </a:rPr>
              <a:t>Viandes, volailles et charcuterie</a:t>
            </a:r>
          </a:p>
        </p:txBody>
      </p:sp>
      <p:sp>
        <p:nvSpPr>
          <p:cNvPr id="73" name="Rectangle 72"/>
          <p:cNvSpPr/>
          <p:nvPr/>
        </p:nvSpPr>
        <p:spPr>
          <a:xfrm>
            <a:off x="8101584" y="4419600"/>
            <a:ext cx="2011680" cy="54864"/>
          </a:xfrm>
          <a:prstGeom prst="rect">
            <a:avLst/>
          </a:prstGeom>
          <a:solidFill>
            <a:srgbClr val="ECEAE5"/>
          </a:solidFill>
          <a:ln>
            <a:noFill/>
          </a:ln>
          <a:effectLst/>
        </p:spPr>
        <p:txBody>
          <a:bodyPr rtlCol="0" anchor="ctr"/>
          <a:lstStyle/>
          <a:p>
            <a:pPr algn="ctr"/>
          </a:p>
        </p:txBody>
      </p:sp>
      <p:sp>
        <p:nvSpPr>
          <p:cNvPr id="74" name="Rectangle 73"/>
          <p:cNvSpPr/>
          <p:nvPr/>
        </p:nvSpPr>
        <p:spPr>
          <a:xfrm>
            <a:off x="8101584" y="4419600"/>
            <a:ext cx="382219" cy="54864"/>
          </a:xfrm>
          <a:prstGeom prst="rect">
            <a:avLst/>
          </a:prstGeom>
          <a:solidFill>
            <a:srgbClr val="9AA3B2"/>
          </a:solidFill>
          <a:ln>
            <a:noFill/>
          </a:ln>
          <a:effectLst/>
        </p:spPr>
        <p:txBody>
          <a:bodyPr rtlCol="0" anchor="ctr"/>
          <a:lstStyle/>
          <a:p>
            <a:pPr algn="ctr"/>
          </a:p>
        </p:txBody>
      </p:sp>
      <p:sp>
        <p:nvSpPr>
          <p:cNvPr id="75" name="TextBox 74"/>
          <p:cNvSpPr txBox="1"/>
          <p:nvPr/>
        </p:nvSpPr>
        <p:spPr>
          <a:xfrm>
            <a:off x="10241280" y="4340352"/>
            <a:ext cx="792480" cy="182880"/>
          </a:xfrm>
          <a:prstGeom prst="rect">
            <a:avLst/>
          </a:prstGeom>
          <a:noFill/>
        </p:spPr>
        <p:txBody>
          <a:bodyPr wrap="square" anchor="ctr" lIns="0" rIns="0" tIns="0" bIns="0">
            <a:spAutoFit/>
          </a:bodyPr>
          <a:lstStyle/>
          <a:p>
            <a:pPr algn="r"/>
            <a:r>
              <a:rPr sz="1300" b="1" i="0">
                <a:solidFill>
                  <a:srgbClr val="111111"/>
                </a:solidFill>
                <a:latin typeface="Arial"/>
              </a:rPr>
              <a:t>19 %</a:t>
            </a:r>
          </a:p>
        </p:txBody>
      </p:sp>
      <p:sp>
        <p:nvSpPr>
          <p:cNvPr id="76" name="TextBox 75"/>
          <p:cNvSpPr txBox="1"/>
          <p:nvPr/>
        </p:nvSpPr>
        <p:spPr>
          <a:xfrm>
            <a:off x="8101584" y="4572000"/>
            <a:ext cx="2194560" cy="134112"/>
          </a:xfrm>
          <a:prstGeom prst="rect">
            <a:avLst/>
          </a:prstGeom>
          <a:noFill/>
        </p:spPr>
        <p:txBody>
          <a:bodyPr wrap="square" anchor="t" lIns="0" rIns="0" tIns="0" bIns="0">
            <a:spAutoFit/>
          </a:bodyPr>
          <a:lstStyle/>
          <a:p>
            <a:pPr algn="l"/>
            <a:r>
              <a:rPr sz="1000" b="0" i="0">
                <a:solidFill>
                  <a:srgbClr val="111111"/>
                </a:solidFill>
                <a:latin typeface="Arial"/>
              </a:rPr>
              <a:t>Champagnes, vins et cadeaux</a:t>
            </a:r>
          </a:p>
        </p:txBody>
      </p:sp>
      <p:sp>
        <p:nvSpPr>
          <p:cNvPr id="77" name="Rectangle 76"/>
          <p:cNvSpPr/>
          <p:nvPr/>
        </p:nvSpPr>
        <p:spPr>
          <a:xfrm>
            <a:off x="8101584" y="4724400"/>
            <a:ext cx="2011680" cy="54864"/>
          </a:xfrm>
          <a:prstGeom prst="rect">
            <a:avLst/>
          </a:prstGeom>
          <a:solidFill>
            <a:srgbClr val="ECEAE5"/>
          </a:solidFill>
          <a:ln>
            <a:noFill/>
          </a:ln>
          <a:effectLst/>
        </p:spPr>
        <p:txBody>
          <a:bodyPr rtlCol="0" anchor="ctr"/>
          <a:lstStyle/>
          <a:p>
            <a:pPr algn="ctr"/>
          </a:p>
        </p:txBody>
      </p:sp>
      <p:sp>
        <p:nvSpPr>
          <p:cNvPr id="78" name="Rectangle 77"/>
          <p:cNvSpPr/>
          <p:nvPr/>
        </p:nvSpPr>
        <p:spPr>
          <a:xfrm>
            <a:off x="8101584" y="4724400"/>
            <a:ext cx="623620" cy="54864"/>
          </a:xfrm>
          <a:prstGeom prst="rect">
            <a:avLst/>
          </a:prstGeom>
          <a:solidFill>
            <a:srgbClr val="EE6A2C"/>
          </a:solidFill>
          <a:ln>
            <a:noFill/>
          </a:ln>
          <a:effectLst/>
        </p:spPr>
        <p:txBody>
          <a:bodyPr rtlCol="0" anchor="ctr"/>
          <a:lstStyle/>
          <a:p>
            <a:pPr algn="ctr"/>
          </a:p>
        </p:txBody>
      </p:sp>
      <p:sp>
        <p:nvSpPr>
          <p:cNvPr id="79" name="TextBox 78"/>
          <p:cNvSpPr txBox="1"/>
          <p:nvPr/>
        </p:nvSpPr>
        <p:spPr>
          <a:xfrm>
            <a:off x="10241280" y="4645152"/>
            <a:ext cx="792480" cy="182880"/>
          </a:xfrm>
          <a:prstGeom prst="rect">
            <a:avLst/>
          </a:prstGeom>
          <a:noFill/>
        </p:spPr>
        <p:txBody>
          <a:bodyPr wrap="square" anchor="ctr" lIns="0" rIns="0" tIns="0" bIns="0">
            <a:spAutoFit/>
          </a:bodyPr>
          <a:lstStyle/>
          <a:p>
            <a:pPr algn="r"/>
            <a:r>
              <a:rPr sz="1300" b="1" i="0">
                <a:solidFill>
                  <a:srgbClr val="111111"/>
                </a:solidFill>
                <a:latin typeface="Arial"/>
              </a:rPr>
              <a:t>31 %</a:t>
            </a:r>
          </a:p>
        </p:txBody>
      </p:sp>
      <p:sp>
        <p:nvSpPr>
          <p:cNvPr id="80" name="TextBox 79"/>
          <p:cNvSpPr txBox="1"/>
          <p:nvPr/>
        </p:nvSpPr>
        <p:spPr>
          <a:xfrm>
            <a:off x="8101584" y="4876800"/>
            <a:ext cx="2194560" cy="134112"/>
          </a:xfrm>
          <a:prstGeom prst="rect">
            <a:avLst/>
          </a:prstGeom>
          <a:noFill/>
        </p:spPr>
        <p:txBody>
          <a:bodyPr wrap="square" anchor="t" lIns="0" rIns="0" tIns="0" bIns="0">
            <a:spAutoFit/>
          </a:bodyPr>
          <a:lstStyle/>
          <a:p>
            <a:pPr algn="l"/>
            <a:r>
              <a:rPr sz="1000" b="0" i="0">
                <a:solidFill>
                  <a:srgbClr val="111111"/>
                </a:solidFill>
                <a:latin typeface="Arial"/>
              </a:rPr>
              <a:t>Poissons et produits de la mer</a:t>
            </a:r>
          </a:p>
        </p:txBody>
      </p:sp>
      <p:sp>
        <p:nvSpPr>
          <p:cNvPr id="81" name="Rectangle 80"/>
          <p:cNvSpPr/>
          <p:nvPr/>
        </p:nvSpPr>
        <p:spPr>
          <a:xfrm>
            <a:off x="8101584" y="5029200"/>
            <a:ext cx="2011680" cy="54864"/>
          </a:xfrm>
          <a:prstGeom prst="rect">
            <a:avLst/>
          </a:prstGeom>
          <a:solidFill>
            <a:srgbClr val="ECEAE5"/>
          </a:solidFill>
          <a:ln>
            <a:noFill/>
          </a:ln>
          <a:effectLst/>
        </p:spPr>
        <p:txBody>
          <a:bodyPr rtlCol="0" anchor="ctr"/>
          <a:lstStyle/>
          <a:p>
            <a:pPr algn="ctr"/>
          </a:p>
        </p:txBody>
      </p:sp>
      <p:sp>
        <p:nvSpPr>
          <p:cNvPr id="82" name="Rectangle 81"/>
          <p:cNvSpPr/>
          <p:nvPr/>
        </p:nvSpPr>
        <p:spPr>
          <a:xfrm>
            <a:off x="8101584" y="5029200"/>
            <a:ext cx="362102" cy="54864"/>
          </a:xfrm>
          <a:prstGeom prst="rect">
            <a:avLst/>
          </a:prstGeom>
          <a:solidFill>
            <a:srgbClr val="9AA3B2"/>
          </a:solidFill>
          <a:ln>
            <a:noFill/>
          </a:ln>
          <a:effectLst/>
        </p:spPr>
        <p:txBody>
          <a:bodyPr rtlCol="0" anchor="ctr"/>
          <a:lstStyle/>
          <a:p>
            <a:pPr algn="ctr"/>
          </a:p>
        </p:txBody>
      </p:sp>
      <p:sp>
        <p:nvSpPr>
          <p:cNvPr id="83" name="TextBox 82"/>
          <p:cNvSpPr txBox="1"/>
          <p:nvPr/>
        </p:nvSpPr>
        <p:spPr>
          <a:xfrm>
            <a:off x="10241280" y="4949952"/>
            <a:ext cx="792480" cy="182880"/>
          </a:xfrm>
          <a:prstGeom prst="rect">
            <a:avLst/>
          </a:prstGeom>
          <a:noFill/>
        </p:spPr>
        <p:txBody>
          <a:bodyPr wrap="square" anchor="ctr" lIns="0" rIns="0" tIns="0" bIns="0">
            <a:spAutoFit/>
          </a:bodyPr>
          <a:lstStyle/>
          <a:p>
            <a:pPr algn="r"/>
            <a:r>
              <a:rPr sz="1300" b="1" i="0">
                <a:solidFill>
                  <a:srgbClr val="111111"/>
                </a:solidFill>
                <a:latin typeface="Arial"/>
              </a:rPr>
              <a:t>18 %</a:t>
            </a:r>
          </a:p>
        </p:txBody>
      </p:sp>
      <p:sp>
        <p:nvSpPr>
          <p:cNvPr id="84" name="TextBox 83"/>
          <p:cNvSpPr txBox="1"/>
          <p:nvPr/>
        </p:nvSpPr>
        <p:spPr>
          <a:xfrm>
            <a:off x="8101584" y="5181600"/>
            <a:ext cx="2194560" cy="134112"/>
          </a:xfrm>
          <a:prstGeom prst="rect">
            <a:avLst/>
          </a:prstGeom>
          <a:noFill/>
        </p:spPr>
        <p:txBody>
          <a:bodyPr wrap="square" anchor="t" lIns="0" rIns="0" tIns="0" bIns="0">
            <a:spAutoFit/>
          </a:bodyPr>
          <a:lstStyle/>
          <a:p>
            <a:pPr algn="l"/>
            <a:r>
              <a:rPr sz="1000" b="0" i="0">
                <a:solidFill>
                  <a:srgbClr val="111111"/>
                </a:solidFill>
                <a:latin typeface="Arial"/>
              </a:rPr>
              <a:t>Fromages et produits laitiers</a:t>
            </a:r>
          </a:p>
        </p:txBody>
      </p:sp>
      <p:sp>
        <p:nvSpPr>
          <p:cNvPr id="85" name="Rectangle 84"/>
          <p:cNvSpPr/>
          <p:nvPr/>
        </p:nvSpPr>
        <p:spPr>
          <a:xfrm>
            <a:off x="8101584" y="5334000"/>
            <a:ext cx="2011680" cy="54864"/>
          </a:xfrm>
          <a:prstGeom prst="rect">
            <a:avLst/>
          </a:prstGeom>
          <a:solidFill>
            <a:srgbClr val="ECEAE5"/>
          </a:solidFill>
          <a:ln>
            <a:noFill/>
          </a:ln>
          <a:effectLst/>
        </p:spPr>
        <p:txBody>
          <a:bodyPr rtlCol="0" anchor="ctr"/>
          <a:lstStyle/>
          <a:p>
            <a:pPr algn="ctr"/>
          </a:p>
        </p:txBody>
      </p:sp>
      <p:sp>
        <p:nvSpPr>
          <p:cNvPr id="86" name="Rectangle 85"/>
          <p:cNvSpPr/>
          <p:nvPr/>
        </p:nvSpPr>
        <p:spPr>
          <a:xfrm>
            <a:off x="8101584" y="5334000"/>
            <a:ext cx="321868" cy="54864"/>
          </a:xfrm>
          <a:prstGeom prst="rect">
            <a:avLst/>
          </a:prstGeom>
          <a:solidFill>
            <a:srgbClr val="9AA3B2"/>
          </a:solidFill>
          <a:ln>
            <a:noFill/>
          </a:ln>
          <a:effectLst/>
        </p:spPr>
        <p:txBody>
          <a:bodyPr rtlCol="0" anchor="ctr"/>
          <a:lstStyle/>
          <a:p>
            <a:pPr algn="ctr"/>
          </a:p>
        </p:txBody>
      </p:sp>
      <p:sp>
        <p:nvSpPr>
          <p:cNvPr id="87" name="TextBox 86"/>
          <p:cNvSpPr txBox="1"/>
          <p:nvPr/>
        </p:nvSpPr>
        <p:spPr>
          <a:xfrm>
            <a:off x="10241280" y="5254752"/>
            <a:ext cx="792480" cy="182880"/>
          </a:xfrm>
          <a:prstGeom prst="rect">
            <a:avLst/>
          </a:prstGeom>
          <a:noFill/>
        </p:spPr>
        <p:txBody>
          <a:bodyPr wrap="square" anchor="ctr" lIns="0" rIns="0" tIns="0" bIns="0">
            <a:spAutoFit/>
          </a:bodyPr>
          <a:lstStyle/>
          <a:p>
            <a:pPr algn="r"/>
            <a:r>
              <a:rPr sz="1300" b="1" i="0">
                <a:solidFill>
                  <a:srgbClr val="111111"/>
                </a:solidFill>
                <a:latin typeface="Arial"/>
              </a:rPr>
              <a:t>16 %</a:t>
            </a:r>
          </a:p>
        </p:txBody>
      </p:sp>
      <p:sp>
        <p:nvSpPr>
          <p:cNvPr id="88" name="TextBox 87"/>
          <p:cNvSpPr txBox="1"/>
          <p:nvPr/>
        </p:nvSpPr>
        <p:spPr>
          <a:xfrm>
            <a:off x="8101584" y="5486400"/>
            <a:ext cx="2194560" cy="134112"/>
          </a:xfrm>
          <a:prstGeom prst="rect">
            <a:avLst/>
          </a:prstGeom>
          <a:noFill/>
        </p:spPr>
        <p:txBody>
          <a:bodyPr wrap="square" anchor="t" lIns="0" rIns="0" tIns="0" bIns="0">
            <a:spAutoFit/>
          </a:bodyPr>
          <a:lstStyle/>
          <a:p>
            <a:pPr algn="l"/>
            <a:r>
              <a:rPr sz="1000" b="0" i="0">
                <a:solidFill>
                  <a:srgbClr val="111111"/>
                </a:solidFill>
                <a:latin typeface="Arial"/>
              </a:rPr>
              <a:t>Épicerie sucrée et miel</a:t>
            </a:r>
          </a:p>
        </p:txBody>
      </p:sp>
      <p:sp>
        <p:nvSpPr>
          <p:cNvPr id="89" name="Rectangle 88"/>
          <p:cNvSpPr/>
          <p:nvPr/>
        </p:nvSpPr>
        <p:spPr>
          <a:xfrm>
            <a:off x="8101584" y="5638800"/>
            <a:ext cx="2011680" cy="54864"/>
          </a:xfrm>
          <a:prstGeom prst="rect">
            <a:avLst/>
          </a:prstGeom>
          <a:solidFill>
            <a:srgbClr val="ECEAE5"/>
          </a:solidFill>
          <a:ln>
            <a:noFill/>
          </a:ln>
          <a:effectLst/>
        </p:spPr>
        <p:txBody>
          <a:bodyPr rtlCol="0" anchor="ctr"/>
          <a:lstStyle/>
          <a:p>
            <a:pPr algn="ctr"/>
          </a:p>
        </p:txBody>
      </p:sp>
      <p:sp>
        <p:nvSpPr>
          <p:cNvPr id="90" name="Rectangle 89"/>
          <p:cNvSpPr/>
          <p:nvPr/>
        </p:nvSpPr>
        <p:spPr>
          <a:xfrm>
            <a:off x="8101584" y="5638800"/>
            <a:ext cx="221284" cy="54864"/>
          </a:xfrm>
          <a:prstGeom prst="rect">
            <a:avLst/>
          </a:prstGeom>
          <a:solidFill>
            <a:srgbClr val="9AA3B2"/>
          </a:solidFill>
          <a:ln>
            <a:noFill/>
          </a:ln>
          <a:effectLst/>
        </p:spPr>
        <p:txBody>
          <a:bodyPr rtlCol="0" anchor="ctr"/>
          <a:lstStyle/>
          <a:p>
            <a:pPr algn="ctr"/>
          </a:p>
        </p:txBody>
      </p:sp>
      <p:sp>
        <p:nvSpPr>
          <p:cNvPr id="91" name="TextBox 90"/>
          <p:cNvSpPr txBox="1"/>
          <p:nvPr/>
        </p:nvSpPr>
        <p:spPr>
          <a:xfrm>
            <a:off x="10241280" y="5559552"/>
            <a:ext cx="792480" cy="182880"/>
          </a:xfrm>
          <a:prstGeom prst="rect">
            <a:avLst/>
          </a:prstGeom>
          <a:noFill/>
        </p:spPr>
        <p:txBody>
          <a:bodyPr wrap="square" anchor="ctr" lIns="0" rIns="0" tIns="0" bIns="0">
            <a:spAutoFit/>
          </a:bodyPr>
          <a:lstStyle/>
          <a:p>
            <a:pPr algn="r"/>
            <a:r>
              <a:rPr sz="1300" b="1" i="0">
                <a:solidFill>
                  <a:srgbClr val="111111"/>
                </a:solidFill>
                <a:latin typeface="Arial"/>
              </a:rPr>
              <a:t>11 %</a:t>
            </a:r>
          </a:p>
        </p:txBody>
      </p:sp>
      <p:sp>
        <p:nvSpPr>
          <p:cNvPr id="92" name="TextBox 91"/>
          <p:cNvSpPr txBox="1"/>
          <p:nvPr/>
        </p:nvSpPr>
        <p:spPr>
          <a:xfrm>
            <a:off x="8101584" y="5791200"/>
            <a:ext cx="2194560" cy="134112"/>
          </a:xfrm>
          <a:prstGeom prst="rect">
            <a:avLst/>
          </a:prstGeom>
          <a:noFill/>
        </p:spPr>
        <p:txBody>
          <a:bodyPr wrap="square" anchor="t" lIns="0" rIns="0" tIns="0" bIns="0">
            <a:spAutoFit/>
          </a:bodyPr>
          <a:lstStyle/>
          <a:p>
            <a:pPr algn="l"/>
            <a:r>
              <a:rPr sz="1000" b="0" i="0">
                <a:solidFill>
                  <a:srgbClr val="111111"/>
                </a:solidFill>
                <a:latin typeface="Arial"/>
              </a:rPr>
              <a:t>Plats préparés et spécialités</a:t>
            </a:r>
          </a:p>
        </p:txBody>
      </p:sp>
      <p:sp>
        <p:nvSpPr>
          <p:cNvPr id="93" name="Rectangle 92"/>
          <p:cNvSpPr/>
          <p:nvPr/>
        </p:nvSpPr>
        <p:spPr>
          <a:xfrm>
            <a:off x="8101584" y="5943600"/>
            <a:ext cx="2011680" cy="54864"/>
          </a:xfrm>
          <a:prstGeom prst="rect">
            <a:avLst/>
          </a:prstGeom>
          <a:solidFill>
            <a:srgbClr val="ECEAE5"/>
          </a:solidFill>
          <a:ln>
            <a:noFill/>
          </a:ln>
          <a:effectLst/>
        </p:spPr>
        <p:txBody>
          <a:bodyPr rtlCol="0" anchor="ctr"/>
          <a:lstStyle/>
          <a:p>
            <a:pPr algn="ctr"/>
          </a:p>
        </p:txBody>
      </p:sp>
      <p:sp>
        <p:nvSpPr>
          <p:cNvPr id="94" name="Rectangle 93"/>
          <p:cNvSpPr/>
          <p:nvPr/>
        </p:nvSpPr>
        <p:spPr>
          <a:xfrm>
            <a:off x="8101584" y="5943600"/>
            <a:ext cx="100584" cy="54864"/>
          </a:xfrm>
          <a:prstGeom prst="rect">
            <a:avLst/>
          </a:prstGeom>
          <a:solidFill>
            <a:srgbClr val="9AA3B2"/>
          </a:solidFill>
          <a:ln>
            <a:noFill/>
          </a:ln>
          <a:effectLst/>
        </p:spPr>
        <p:txBody>
          <a:bodyPr rtlCol="0" anchor="ctr"/>
          <a:lstStyle/>
          <a:p>
            <a:pPr algn="ctr"/>
          </a:p>
        </p:txBody>
      </p:sp>
      <p:sp>
        <p:nvSpPr>
          <p:cNvPr id="95" name="TextBox 94"/>
          <p:cNvSpPr txBox="1"/>
          <p:nvPr/>
        </p:nvSpPr>
        <p:spPr>
          <a:xfrm>
            <a:off x="10241280" y="5864352"/>
            <a:ext cx="792480" cy="182880"/>
          </a:xfrm>
          <a:prstGeom prst="rect">
            <a:avLst/>
          </a:prstGeom>
          <a:noFill/>
        </p:spPr>
        <p:txBody>
          <a:bodyPr wrap="square" anchor="ctr" lIns="0" rIns="0" tIns="0" bIns="0">
            <a:spAutoFit/>
          </a:bodyPr>
          <a:lstStyle/>
          <a:p>
            <a:pPr algn="r"/>
            <a:r>
              <a:rPr sz="1300" b="1" i="0">
                <a:solidFill>
                  <a:srgbClr val="111111"/>
                </a:solidFill>
                <a:latin typeface="Arial"/>
              </a:rPr>
              <a:t>5 %</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6F2"/>
          </a:solidFill>
          <a:ln>
            <a:noFill/>
          </a:ln>
          <a:effectLst/>
        </p:spPr>
        <p:txBody>
          <a:bodyPr rtlCol="0" anchor="ctr"/>
          <a:lstStyle/>
          <a:p>
            <a:pPr algn="ctr"/>
          </a:p>
        </p:txBody>
      </p:sp>
      <p:sp>
        <p:nvSpPr>
          <p:cNvPr id="3" name="TextBox 2"/>
          <p:cNvSpPr txBox="1"/>
          <p:nvPr/>
        </p:nvSpPr>
        <p:spPr>
          <a:xfrm>
            <a:off x="579120" y="426720"/>
            <a:ext cx="7315200" cy="182880"/>
          </a:xfrm>
          <a:prstGeom prst="rect">
            <a:avLst/>
          </a:prstGeom>
          <a:noFill/>
        </p:spPr>
        <p:txBody>
          <a:bodyPr wrap="square" anchor="t" lIns="0" rIns="0" tIns="0" bIns="0">
            <a:spAutoFit/>
          </a:bodyPr>
          <a:lstStyle/>
          <a:p>
            <a:pPr algn="l"/>
            <a:r>
              <a:rPr sz="1300" b="1" i="0">
                <a:solidFill>
                  <a:srgbClr val="EE6A2C"/>
                </a:solidFill>
                <a:latin typeface="Arial"/>
              </a:rPr>
              <a:t>INSIGHTS QUALITATIFS · SEPTEMBRE 2026</a:t>
            </a:r>
          </a:p>
        </p:txBody>
      </p:sp>
      <p:sp>
        <p:nvSpPr>
          <p:cNvPr id="4" name="TextBox 3"/>
          <p:cNvSpPr txBox="1"/>
          <p:nvPr/>
        </p:nvSpPr>
        <p:spPr>
          <a:xfrm>
            <a:off x="579120" y="609600"/>
            <a:ext cx="7315200" cy="487680"/>
          </a:xfrm>
          <a:prstGeom prst="rect">
            <a:avLst/>
          </a:prstGeom>
          <a:noFill/>
        </p:spPr>
        <p:txBody>
          <a:bodyPr wrap="square" anchor="t" lIns="0" rIns="0" tIns="0" bIns="0">
            <a:spAutoFit/>
          </a:bodyPr>
          <a:lstStyle/>
          <a:p>
            <a:pPr algn="l"/>
            <a:r>
              <a:rPr sz="3600" b="1" i="0">
                <a:solidFill>
                  <a:srgbClr val="111111"/>
                </a:solidFill>
                <a:latin typeface="Arial"/>
              </a:rPr>
              <a:t>Pour de Bon</a:t>
            </a:r>
          </a:p>
        </p:txBody>
      </p:sp>
      <p:sp>
        <p:nvSpPr>
          <p:cNvPr id="5" name="TextBox 4"/>
          <p:cNvSpPr txBox="1"/>
          <p:nvPr/>
        </p:nvSpPr>
        <p:spPr>
          <a:xfrm>
            <a:off x="9144000" y="499872"/>
            <a:ext cx="1889760" cy="182880"/>
          </a:xfrm>
          <a:prstGeom prst="rect">
            <a:avLst/>
          </a:prstGeom>
          <a:noFill/>
        </p:spPr>
        <p:txBody>
          <a:bodyPr wrap="square" anchor="t" lIns="0" rIns="0" tIns="0" bIns="0">
            <a:spAutoFit/>
          </a:bodyPr>
          <a:lstStyle/>
          <a:p>
            <a:pPr algn="r"/>
            <a:r>
              <a:rPr sz="1500" b="1" i="0">
                <a:solidFill>
                  <a:srgbClr val="111111"/>
                </a:solidFill>
                <a:latin typeface="Arial"/>
              </a:rPr>
              <a:t>Lemrock</a:t>
            </a:r>
          </a:p>
        </p:txBody>
      </p:sp>
      <p:sp>
        <p:nvSpPr>
          <p:cNvPr id="6" name="TextBox 5"/>
          <p:cNvSpPr txBox="1"/>
          <p:nvPr/>
        </p:nvSpPr>
        <p:spPr>
          <a:xfrm>
            <a:off x="579120" y="1219200"/>
            <a:ext cx="9144000" cy="182880"/>
          </a:xfrm>
          <a:prstGeom prst="rect">
            <a:avLst/>
          </a:prstGeom>
          <a:noFill/>
        </p:spPr>
        <p:txBody>
          <a:bodyPr wrap="square" anchor="t" lIns="0" rIns="0" tIns="0" bIns="0">
            <a:spAutoFit/>
          </a:bodyPr>
          <a:lstStyle/>
          <a:p>
            <a:pPr algn="l"/>
            <a:r>
              <a:rPr sz="1300" b="1" i="0">
                <a:solidFill>
                  <a:srgbClr val="EE6A2C"/>
                </a:solidFill>
                <a:latin typeface="Arial"/>
              </a:rPr>
              <a:t>OBJECTIF   </a:t>
            </a:r>
            <a:r>
              <a:rPr sz="1300" b="0" i="0">
                <a:solidFill>
                  <a:srgbClr val="111111"/>
                </a:solidFill>
                <a:latin typeface="Arial"/>
              </a:rPr>
              <a:t>À définir</a:t>
            </a:r>
          </a:p>
        </p:txBody>
      </p:sp>
      <p:sp>
        <p:nvSpPr>
          <p:cNvPr id="7" name="TextBox 6"/>
          <p:cNvSpPr txBox="1"/>
          <p:nvPr/>
        </p:nvSpPr>
        <p:spPr>
          <a:xfrm>
            <a:off x="579120" y="1524000"/>
            <a:ext cx="4876800" cy="182880"/>
          </a:xfrm>
          <a:prstGeom prst="rect">
            <a:avLst/>
          </a:prstGeom>
          <a:noFill/>
        </p:spPr>
        <p:txBody>
          <a:bodyPr wrap="square" anchor="t" lIns="0" rIns="0" tIns="0" bIns="0">
            <a:spAutoFit/>
          </a:bodyPr>
          <a:lstStyle/>
          <a:p>
            <a:pPr algn="l"/>
            <a:r>
              <a:rPr sz="1400" b="1" i="0">
                <a:solidFill>
                  <a:srgbClr val="555B66"/>
                </a:solidFill>
                <a:latin typeface="Arial"/>
              </a:rPr>
              <a:t>INSIGHTS QUALITATIFS</a:t>
            </a:r>
          </a:p>
        </p:txBody>
      </p:sp>
      <p:sp>
        <p:nvSpPr>
          <p:cNvPr id="8" name="Rectangle 7"/>
          <p:cNvSpPr/>
          <p:nvPr/>
        </p:nvSpPr>
        <p:spPr>
          <a:xfrm>
            <a:off x="579120" y="1816608"/>
            <a:ext cx="5071872" cy="2121408"/>
          </a:xfrm>
          <a:prstGeom prst="rect">
            <a:avLst/>
          </a:prstGeom>
          <a:solidFill>
            <a:srgbClr val="FFFFFF"/>
          </a:solidFill>
          <a:ln>
            <a:noFill/>
          </a:ln>
          <a:effectLst/>
        </p:spPr>
        <p:txBody>
          <a:bodyPr rtlCol="0" anchor="ctr"/>
          <a:lstStyle/>
          <a:p>
            <a:pPr algn="ctr"/>
          </a:p>
        </p:txBody>
      </p:sp>
      <p:sp>
        <p:nvSpPr>
          <p:cNvPr id="9" name="TextBox 8"/>
          <p:cNvSpPr txBox="1"/>
          <p:nvPr/>
        </p:nvSpPr>
        <p:spPr>
          <a:xfrm>
            <a:off x="835152" y="2029968"/>
            <a:ext cx="487680" cy="243840"/>
          </a:xfrm>
          <a:prstGeom prst="rect">
            <a:avLst/>
          </a:prstGeom>
          <a:noFill/>
        </p:spPr>
        <p:txBody>
          <a:bodyPr wrap="square" anchor="t" lIns="0" rIns="0" tIns="0" bIns="0">
            <a:spAutoFit/>
          </a:bodyPr>
          <a:lstStyle/>
          <a:p>
            <a:pPr algn="l"/>
            <a:r>
              <a:rPr sz="2000" b="1" i="0">
                <a:solidFill>
                  <a:srgbClr val="EE6A2C"/>
                </a:solidFill>
                <a:latin typeface="Arial"/>
              </a:rPr>
              <a:t>01</a:t>
            </a:r>
          </a:p>
        </p:txBody>
      </p:sp>
      <p:sp>
        <p:nvSpPr>
          <p:cNvPr id="10" name="TextBox 9"/>
          <p:cNvSpPr txBox="1"/>
          <p:nvPr/>
        </p:nvSpPr>
        <p:spPr>
          <a:xfrm>
            <a:off x="1383792" y="2048256"/>
            <a:ext cx="4023360" cy="365760"/>
          </a:xfrm>
          <a:prstGeom prst="rect">
            <a:avLst/>
          </a:prstGeom>
          <a:noFill/>
        </p:spPr>
        <p:txBody>
          <a:bodyPr wrap="square" anchor="t" lIns="0" rIns="0" tIns="0" bIns="0">
            <a:spAutoFit/>
          </a:bodyPr>
          <a:lstStyle/>
          <a:p>
            <a:pPr algn="l"/>
            <a:r>
              <a:rPr sz="1400" b="1" i="0">
                <a:solidFill>
                  <a:srgbClr val="111111"/>
                </a:solidFill>
                <a:latin typeface="Arial"/>
              </a:rPr>
              <a:t>Mettre en avant les coffrets cadeaux</a:t>
            </a:r>
          </a:p>
        </p:txBody>
      </p:sp>
      <p:sp>
        <p:nvSpPr>
          <p:cNvPr id="11" name="TextBox 10"/>
          <p:cNvSpPr txBox="1"/>
          <p:nvPr/>
        </p:nvSpPr>
        <p:spPr>
          <a:xfrm>
            <a:off x="835152" y="2609088"/>
            <a:ext cx="4572000" cy="731520"/>
          </a:xfrm>
          <a:prstGeom prst="rect">
            <a:avLst/>
          </a:prstGeom>
          <a:noFill/>
        </p:spPr>
        <p:txBody>
          <a:bodyPr wrap="square" anchor="t" lIns="0" rIns="0" tIns="0" bIns="0">
            <a:spAutoFit/>
          </a:bodyPr>
          <a:lstStyle/>
          <a:p>
            <a:pPr algn="l"/>
            <a:r>
              <a:rPr sz="1100" b="0" i="0">
                <a:solidFill>
                  <a:srgbClr val="555B66"/>
                </a:solidFill>
                <a:latin typeface="Arial"/>
              </a:rPr>
              <a:t>Le coffret Champagne et Safran atteint 1,96 fois le CTR moyen, le meilleur score du mois.</a:t>
            </a:r>
          </a:p>
        </p:txBody>
      </p:sp>
      <p:sp>
        <p:nvSpPr>
          <p:cNvPr id="12" name="TextBox 11"/>
          <p:cNvSpPr txBox="1"/>
          <p:nvPr/>
        </p:nvSpPr>
        <p:spPr>
          <a:xfrm>
            <a:off x="835152" y="3310128"/>
            <a:ext cx="4572000" cy="487680"/>
          </a:xfrm>
          <a:prstGeom prst="rect">
            <a:avLst/>
          </a:prstGeom>
          <a:noFill/>
        </p:spPr>
        <p:txBody>
          <a:bodyPr wrap="square" anchor="t" lIns="0" rIns="0" tIns="0" bIns="0">
            <a:spAutoFit/>
          </a:bodyPr>
          <a:lstStyle/>
          <a:p>
            <a:pPr algn="l"/>
            <a:r>
              <a:rPr sz="900" b="1" i="0">
                <a:solidFill>
                  <a:srgbClr val="555B66"/>
                </a:solidFill>
                <a:latin typeface="Arial"/>
              </a:rPr>
              <a:t>→  Préparer les coffrets cadeaux pour les fêtes de fin d'année.</a:t>
            </a:r>
          </a:p>
        </p:txBody>
      </p:sp>
      <p:sp>
        <p:nvSpPr>
          <p:cNvPr id="13" name="Rectangle 12"/>
          <p:cNvSpPr/>
          <p:nvPr/>
        </p:nvSpPr>
        <p:spPr>
          <a:xfrm>
            <a:off x="5992368" y="1816608"/>
            <a:ext cx="5071872" cy="2121408"/>
          </a:xfrm>
          <a:prstGeom prst="rect">
            <a:avLst/>
          </a:prstGeom>
          <a:solidFill>
            <a:srgbClr val="FFFFFF"/>
          </a:solidFill>
          <a:ln>
            <a:noFill/>
          </a:ln>
          <a:effectLst/>
        </p:spPr>
        <p:txBody>
          <a:bodyPr rtlCol="0" anchor="ctr"/>
          <a:lstStyle/>
          <a:p>
            <a:pPr algn="ctr"/>
          </a:p>
        </p:txBody>
      </p:sp>
      <p:sp>
        <p:nvSpPr>
          <p:cNvPr id="14" name="TextBox 13"/>
          <p:cNvSpPr txBox="1"/>
          <p:nvPr/>
        </p:nvSpPr>
        <p:spPr>
          <a:xfrm>
            <a:off x="6248400" y="2029968"/>
            <a:ext cx="487680" cy="243840"/>
          </a:xfrm>
          <a:prstGeom prst="rect">
            <a:avLst/>
          </a:prstGeom>
          <a:noFill/>
        </p:spPr>
        <p:txBody>
          <a:bodyPr wrap="square" anchor="t" lIns="0" rIns="0" tIns="0" bIns="0">
            <a:spAutoFit/>
          </a:bodyPr>
          <a:lstStyle/>
          <a:p>
            <a:pPr algn="l"/>
            <a:r>
              <a:rPr sz="2000" b="1" i="0">
                <a:solidFill>
                  <a:srgbClr val="EE6A2C"/>
                </a:solidFill>
                <a:latin typeface="Arial"/>
              </a:rPr>
              <a:t>02</a:t>
            </a:r>
          </a:p>
        </p:txBody>
      </p:sp>
      <p:sp>
        <p:nvSpPr>
          <p:cNvPr id="15" name="TextBox 14"/>
          <p:cNvSpPr txBox="1"/>
          <p:nvPr/>
        </p:nvSpPr>
        <p:spPr>
          <a:xfrm>
            <a:off x="6797040" y="2048256"/>
            <a:ext cx="4023360" cy="365760"/>
          </a:xfrm>
          <a:prstGeom prst="rect">
            <a:avLst/>
          </a:prstGeom>
          <a:noFill/>
        </p:spPr>
        <p:txBody>
          <a:bodyPr wrap="square" anchor="t" lIns="0" rIns="0" tIns="0" bIns="0">
            <a:spAutoFit/>
          </a:bodyPr>
          <a:lstStyle/>
          <a:p>
            <a:pPr algn="l"/>
            <a:r>
              <a:rPr sz="1400" b="1" i="0">
                <a:solidFill>
                  <a:srgbClr val="111111"/>
                </a:solidFill>
                <a:latin typeface="Arial"/>
              </a:rPr>
              <a:t>Les légumes de saison et les fromages cliquent bien</a:t>
            </a:r>
          </a:p>
        </p:txBody>
      </p:sp>
      <p:sp>
        <p:nvSpPr>
          <p:cNvPr id="16" name="TextBox 15"/>
          <p:cNvSpPr txBox="1"/>
          <p:nvPr/>
        </p:nvSpPr>
        <p:spPr>
          <a:xfrm>
            <a:off x="6248400" y="2609088"/>
            <a:ext cx="4572000" cy="731520"/>
          </a:xfrm>
          <a:prstGeom prst="rect">
            <a:avLst/>
          </a:prstGeom>
          <a:noFill/>
        </p:spPr>
        <p:txBody>
          <a:bodyPr wrap="square" anchor="t" lIns="0" rIns="0" tIns="0" bIns="0">
            <a:spAutoFit/>
          </a:bodyPr>
          <a:lstStyle/>
          <a:p>
            <a:pPr algn="l"/>
            <a:r>
              <a:rPr sz="1100" b="0" i="0">
                <a:solidFill>
                  <a:srgbClr val="555B66"/>
                </a:solidFill>
                <a:latin typeface="Arial"/>
              </a:rPr>
              <a:t>Les légumes de saison atteignent 1,42 fois la moyenne, le comté 12 mois AOP 1,24 fois.</a:t>
            </a:r>
          </a:p>
        </p:txBody>
      </p:sp>
      <p:sp>
        <p:nvSpPr>
          <p:cNvPr id="17" name="TextBox 16"/>
          <p:cNvSpPr txBox="1"/>
          <p:nvPr/>
        </p:nvSpPr>
        <p:spPr>
          <a:xfrm>
            <a:off x="6248400" y="3310128"/>
            <a:ext cx="4572000" cy="487680"/>
          </a:xfrm>
          <a:prstGeom prst="rect">
            <a:avLst/>
          </a:prstGeom>
          <a:noFill/>
        </p:spPr>
        <p:txBody>
          <a:bodyPr wrap="square" anchor="t" lIns="0" rIns="0" tIns="0" bIns="0">
            <a:spAutoFit/>
          </a:bodyPr>
          <a:lstStyle/>
          <a:p>
            <a:pPr algn="l"/>
            <a:r>
              <a:rPr sz="900" b="1" i="0">
                <a:solidFill>
                  <a:srgbClr val="555B66"/>
                </a:solidFill>
                <a:latin typeface="Arial"/>
              </a:rPr>
              <a:t>→  Associer chaque produit à son producteur et à sa saison.</a:t>
            </a:r>
          </a:p>
        </p:txBody>
      </p:sp>
      <p:sp>
        <p:nvSpPr>
          <p:cNvPr id="18" name="Rectangle 17"/>
          <p:cNvSpPr/>
          <p:nvPr/>
        </p:nvSpPr>
        <p:spPr>
          <a:xfrm>
            <a:off x="579120" y="4133088"/>
            <a:ext cx="5071872" cy="2121408"/>
          </a:xfrm>
          <a:prstGeom prst="rect">
            <a:avLst/>
          </a:prstGeom>
          <a:solidFill>
            <a:srgbClr val="FFFFFF"/>
          </a:solidFill>
          <a:ln>
            <a:noFill/>
          </a:ln>
          <a:effectLst/>
        </p:spPr>
        <p:txBody>
          <a:bodyPr rtlCol="0" anchor="ctr"/>
          <a:lstStyle/>
          <a:p>
            <a:pPr algn="ctr"/>
          </a:p>
        </p:txBody>
      </p:sp>
      <p:sp>
        <p:nvSpPr>
          <p:cNvPr id="19" name="TextBox 18"/>
          <p:cNvSpPr txBox="1"/>
          <p:nvPr/>
        </p:nvSpPr>
        <p:spPr>
          <a:xfrm>
            <a:off x="835152" y="4346448"/>
            <a:ext cx="487680" cy="243840"/>
          </a:xfrm>
          <a:prstGeom prst="rect">
            <a:avLst/>
          </a:prstGeom>
          <a:noFill/>
        </p:spPr>
        <p:txBody>
          <a:bodyPr wrap="square" anchor="t" lIns="0" rIns="0" tIns="0" bIns="0">
            <a:spAutoFit/>
          </a:bodyPr>
          <a:lstStyle/>
          <a:p>
            <a:pPr algn="l"/>
            <a:r>
              <a:rPr sz="2000" b="1" i="0">
                <a:solidFill>
                  <a:srgbClr val="EE6A2C"/>
                </a:solidFill>
                <a:latin typeface="Arial"/>
              </a:rPr>
              <a:t>03</a:t>
            </a:r>
          </a:p>
        </p:txBody>
      </p:sp>
      <p:sp>
        <p:nvSpPr>
          <p:cNvPr id="20" name="TextBox 19"/>
          <p:cNvSpPr txBox="1"/>
          <p:nvPr/>
        </p:nvSpPr>
        <p:spPr>
          <a:xfrm>
            <a:off x="1383792" y="4364736"/>
            <a:ext cx="4023360" cy="365760"/>
          </a:xfrm>
          <a:prstGeom prst="rect">
            <a:avLst/>
          </a:prstGeom>
          <a:noFill/>
        </p:spPr>
        <p:txBody>
          <a:bodyPr wrap="square" anchor="t" lIns="0" rIns="0" tIns="0" bIns="0">
            <a:spAutoFit/>
          </a:bodyPr>
          <a:lstStyle/>
          <a:p>
            <a:pPr algn="l"/>
            <a:r>
              <a:rPr sz="1400" b="1" i="0">
                <a:solidFill>
                  <a:srgbClr val="111111"/>
                </a:solidFill>
                <a:latin typeface="Arial"/>
              </a:rPr>
              <a:t>Revoir les poissons et fruits de mer</a:t>
            </a:r>
          </a:p>
        </p:txBody>
      </p:sp>
      <p:sp>
        <p:nvSpPr>
          <p:cNvPr id="21" name="TextBox 20"/>
          <p:cNvSpPr txBox="1"/>
          <p:nvPr/>
        </p:nvSpPr>
        <p:spPr>
          <a:xfrm>
            <a:off x="835152" y="4925568"/>
            <a:ext cx="4572000" cy="731520"/>
          </a:xfrm>
          <a:prstGeom prst="rect">
            <a:avLst/>
          </a:prstGeom>
          <a:noFill/>
        </p:spPr>
        <p:txBody>
          <a:bodyPr wrap="square" anchor="t" lIns="0" rIns="0" tIns="0" bIns="0">
            <a:spAutoFit/>
          </a:bodyPr>
          <a:lstStyle/>
          <a:p>
            <a:pPr algn="l"/>
            <a:r>
              <a:rPr sz="1100" b="0" i="0">
                <a:solidFill>
                  <a:srgbClr val="555B66"/>
                </a:solidFill>
                <a:latin typeface="Arial"/>
              </a:rPr>
              <a:t>Les poissons et fruits de mer restent à 0,52 fois la moyenne (huîtres gratinées 0,44 fois, saumon au miel 0,46 fois), alors qu'ils représentent 14 % de la diffusion.</a:t>
            </a:r>
          </a:p>
        </p:txBody>
      </p:sp>
      <p:sp>
        <p:nvSpPr>
          <p:cNvPr id="22" name="TextBox 21"/>
          <p:cNvSpPr txBox="1"/>
          <p:nvPr/>
        </p:nvSpPr>
        <p:spPr>
          <a:xfrm>
            <a:off x="835152" y="5626608"/>
            <a:ext cx="4572000" cy="487680"/>
          </a:xfrm>
          <a:prstGeom prst="rect">
            <a:avLst/>
          </a:prstGeom>
          <a:noFill/>
        </p:spPr>
        <p:txBody>
          <a:bodyPr wrap="square" anchor="t" lIns="0" rIns="0" tIns="0" bIns="0">
            <a:spAutoFit/>
          </a:bodyPr>
          <a:lstStyle/>
          <a:p>
            <a:pPr algn="l"/>
            <a:r>
              <a:rPr sz="900" b="1" i="0">
                <a:solidFill>
                  <a:srgbClr val="555B66"/>
                </a:solidFill>
                <a:latin typeface="Arial"/>
              </a:rPr>
              <a:t>→  Réduire leur part ou les présenter comme une idée de repas de fête.</a:t>
            </a:r>
          </a:p>
        </p:txBody>
      </p:sp>
      <p:sp>
        <p:nvSpPr>
          <p:cNvPr id="23" name="Rectangle 22"/>
          <p:cNvSpPr/>
          <p:nvPr/>
        </p:nvSpPr>
        <p:spPr>
          <a:xfrm>
            <a:off x="5992368" y="4133088"/>
            <a:ext cx="5071872" cy="2121408"/>
          </a:xfrm>
          <a:prstGeom prst="rect">
            <a:avLst/>
          </a:prstGeom>
          <a:solidFill>
            <a:srgbClr val="FFFFFF"/>
          </a:solidFill>
          <a:ln>
            <a:noFill/>
          </a:ln>
          <a:effectLst/>
        </p:spPr>
        <p:txBody>
          <a:bodyPr rtlCol="0" anchor="ctr"/>
          <a:lstStyle/>
          <a:p>
            <a:pPr algn="ctr"/>
          </a:p>
        </p:txBody>
      </p:sp>
      <p:sp>
        <p:nvSpPr>
          <p:cNvPr id="24" name="TextBox 23"/>
          <p:cNvSpPr txBox="1"/>
          <p:nvPr/>
        </p:nvSpPr>
        <p:spPr>
          <a:xfrm>
            <a:off x="6248400" y="4346448"/>
            <a:ext cx="487680" cy="243840"/>
          </a:xfrm>
          <a:prstGeom prst="rect">
            <a:avLst/>
          </a:prstGeom>
          <a:noFill/>
        </p:spPr>
        <p:txBody>
          <a:bodyPr wrap="square" anchor="t" lIns="0" rIns="0" tIns="0" bIns="0">
            <a:spAutoFit/>
          </a:bodyPr>
          <a:lstStyle/>
          <a:p>
            <a:pPr algn="l"/>
            <a:r>
              <a:rPr sz="2000" b="1" i="0">
                <a:solidFill>
                  <a:srgbClr val="EE6A2C"/>
                </a:solidFill>
                <a:latin typeface="Arial"/>
              </a:rPr>
              <a:t>04</a:t>
            </a:r>
          </a:p>
        </p:txBody>
      </p:sp>
      <p:sp>
        <p:nvSpPr>
          <p:cNvPr id="25" name="TextBox 24"/>
          <p:cNvSpPr txBox="1"/>
          <p:nvPr/>
        </p:nvSpPr>
        <p:spPr>
          <a:xfrm>
            <a:off x="6797040" y="4364736"/>
            <a:ext cx="4023360" cy="365760"/>
          </a:xfrm>
          <a:prstGeom prst="rect">
            <a:avLst/>
          </a:prstGeom>
          <a:noFill/>
        </p:spPr>
        <p:txBody>
          <a:bodyPr wrap="square" anchor="t" lIns="0" rIns="0" tIns="0" bIns="0">
            <a:spAutoFit/>
          </a:bodyPr>
          <a:lstStyle/>
          <a:p>
            <a:pPr algn="l"/>
            <a:r>
              <a:rPr sz="1400" b="1" i="0">
                <a:solidFill>
                  <a:srgbClr val="111111"/>
                </a:solidFill>
                <a:latin typeface="Arial"/>
              </a:rPr>
              <a:t>Moins d'impressions, plus de clics</a:t>
            </a:r>
          </a:p>
        </p:txBody>
      </p:sp>
      <p:sp>
        <p:nvSpPr>
          <p:cNvPr id="26" name="TextBox 25"/>
          <p:cNvSpPr txBox="1"/>
          <p:nvPr/>
        </p:nvSpPr>
        <p:spPr>
          <a:xfrm>
            <a:off x="6248400" y="4925568"/>
            <a:ext cx="4572000" cy="731520"/>
          </a:xfrm>
          <a:prstGeom prst="rect">
            <a:avLst/>
          </a:prstGeom>
          <a:noFill/>
        </p:spPr>
        <p:txBody>
          <a:bodyPr wrap="square" anchor="t" lIns="0" rIns="0" tIns="0" bIns="0">
            <a:spAutoFit/>
          </a:bodyPr>
          <a:lstStyle/>
          <a:p>
            <a:pPr algn="l"/>
            <a:r>
              <a:rPr sz="1100" b="0" i="0">
                <a:solidFill>
                  <a:srgbClr val="555B66"/>
                </a:solidFill>
                <a:latin typeface="Arial"/>
              </a:rPr>
              <a:t>Les impressions baissent de 31 % mais les clics progressent de 32 %. Le CTR passe de 0,25 % à 0,48 %.</a:t>
            </a:r>
          </a:p>
        </p:txBody>
      </p:sp>
      <p:sp>
        <p:nvSpPr>
          <p:cNvPr id="27" name="TextBox 26"/>
          <p:cNvSpPr txBox="1"/>
          <p:nvPr/>
        </p:nvSpPr>
        <p:spPr>
          <a:xfrm>
            <a:off x="6248400" y="5626608"/>
            <a:ext cx="4572000" cy="487680"/>
          </a:xfrm>
          <a:prstGeom prst="rect">
            <a:avLst/>
          </a:prstGeom>
          <a:noFill/>
        </p:spPr>
        <p:txBody>
          <a:bodyPr wrap="square" anchor="t" lIns="0" rIns="0" tIns="0" bIns="0">
            <a:spAutoFit/>
          </a:bodyPr>
          <a:lstStyle/>
          <a:p>
            <a:pPr algn="l"/>
            <a:r>
              <a:rPr sz="900" b="1" i="0">
                <a:solidFill>
                  <a:srgbClr val="555B66"/>
                </a:solidFill>
                <a:latin typeface="Arial"/>
              </a:rPr>
              <a:t>→  Prolonger le ciblage resserré.</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6F2"/>
          </a:solidFill>
          <a:ln>
            <a:noFill/>
          </a:ln>
          <a:effectLst/>
        </p:spPr>
        <p:txBody>
          <a:bodyPr rtlCol="0" anchor="ctr"/>
          <a:lstStyle/>
          <a:p>
            <a:pPr algn="ctr"/>
          </a:p>
        </p:txBody>
      </p:sp>
      <p:sp>
        <p:nvSpPr>
          <p:cNvPr id="3" name="TextBox 2"/>
          <p:cNvSpPr txBox="1"/>
          <p:nvPr/>
        </p:nvSpPr>
        <p:spPr>
          <a:xfrm>
            <a:off x="530352" y="487680"/>
            <a:ext cx="7315200" cy="182880"/>
          </a:xfrm>
          <a:prstGeom prst="rect">
            <a:avLst/>
          </a:prstGeom>
          <a:noFill/>
        </p:spPr>
        <p:txBody>
          <a:bodyPr wrap="square" anchor="t" lIns="0" rIns="0" tIns="0" bIns="0">
            <a:spAutoFit/>
          </a:bodyPr>
          <a:lstStyle/>
          <a:p>
            <a:pPr algn="l"/>
            <a:r>
              <a:rPr sz="1300" b="1" i="0">
                <a:solidFill>
                  <a:srgbClr val="EE6A2C"/>
                </a:solidFill>
                <a:latin typeface="Arial"/>
              </a:rPr>
              <a:t>RAPPORT DE PERFORMANCE · 01/09/2026 → 30/09/2026</a:t>
            </a:r>
          </a:p>
        </p:txBody>
      </p:sp>
      <p:sp>
        <p:nvSpPr>
          <p:cNvPr id="4" name="TextBox 3"/>
          <p:cNvSpPr txBox="1"/>
          <p:nvPr/>
        </p:nvSpPr>
        <p:spPr>
          <a:xfrm>
            <a:off x="530352" y="640080"/>
            <a:ext cx="7315200" cy="487680"/>
          </a:xfrm>
          <a:prstGeom prst="rect">
            <a:avLst/>
          </a:prstGeom>
          <a:noFill/>
        </p:spPr>
        <p:txBody>
          <a:bodyPr wrap="square" anchor="t" lIns="0" rIns="0" tIns="0" bIns="0">
            <a:spAutoFit/>
          </a:bodyPr>
          <a:lstStyle/>
          <a:p>
            <a:pPr algn="l"/>
            <a:r>
              <a:rPr sz="3600" b="1" i="0">
                <a:solidFill>
                  <a:srgbClr val="111111"/>
                </a:solidFill>
                <a:latin typeface="Arial"/>
              </a:rPr>
              <a:t>Qonto</a:t>
            </a:r>
          </a:p>
        </p:txBody>
      </p:sp>
      <p:sp>
        <p:nvSpPr>
          <p:cNvPr id="5" name="TextBox 4"/>
          <p:cNvSpPr txBox="1"/>
          <p:nvPr/>
        </p:nvSpPr>
        <p:spPr>
          <a:xfrm>
            <a:off x="7924800" y="591312"/>
            <a:ext cx="3304032" cy="152400"/>
          </a:xfrm>
          <a:prstGeom prst="rect">
            <a:avLst/>
          </a:prstGeom>
          <a:noFill/>
        </p:spPr>
        <p:txBody>
          <a:bodyPr wrap="square" anchor="t" lIns="0" rIns="0" tIns="0" bIns="0">
            <a:spAutoFit/>
          </a:bodyPr>
          <a:lstStyle/>
          <a:p>
            <a:pPr algn="r"/>
            <a:r>
              <a:rPr sz="1200" b="1" i="0">
                <a:solidFill>
                  <a:srgbClr val="8A93A6"/>
                </a:solidFill>
                <a:latin typeface="Arial"/>
              </a:rPr>
              <a:t>COMPARAISON</a:t>
            </a:r>
          </a:p>
        </p:txBody>
      </p:sp>
      <p:sp>
        <p:nvSpPr>
          <p:cNvPr id="6" name="TextBox 5"/>
          <p:cNvSpPr txBox="1"/>
          <p:nvPr/>
        </p:nvSpPr>
        <p:spPr>
          <a:xfrm>
            <a:off x="7924800" y="780288"/>
            <a:ext cx="3304032" cy="182880"/>
          </a:xfrm>
          <a:prstGeom prst="rect">
            <a:avLst/>
          </a:prstGeom>
          <a:noFill/>
        </p:spPr>
        <p:txBody>
          <a:bodyPr wrap="square" anchor="t" lIns="0" rIns="0" tIns="0" bIns="0">
            <a:spAutoFit/>
          </a:bodyPr>
          <a:lstStyle/>
          <a:p>
            <a:pPr algn="r"/>
            <a:r>
              <a:rPr sz="1500" b="1" i="0">
                <a:solidFill>
                  <a:srgbClr val="111111"/>
                </a:solidFill>
                <a:latin typeface="Arial"/>
              </a:rPr>
              <a:t>vs 01/08/2026 → 31/08/2026</a:t>
            </a:r>
          </a:p>
        </p:txBody>
      </p:sp>
      <p:sp>
        <p:nvSpPr>
          <p:cNvPr id="7" name="TextBox 6"/>
          <p:cNvSpPr txBox="1"/>
          <p:nvPr/>
        </p:nvSpPr>
        <p:spPr>
          <a:xfrm>
            <a:off x="530352" y="1280160"/>
            <a:ext cx="2438400" cy="182880"/>
          </a:xfrm>
          <a:prstGeom prst="rect">
            <a:avLst/>
          </a:prstGeom>
          <a:noFill/>
        </p:spPr>
        <p:txBody>
          <a:bodyPr wrap="square" anchor="t" lIns="0" rIns="0" tIns="0" bIns="0">
            <a:spAutoFit/>
          </a:bodyPr>
          <a:lstStyle/>
          <a:p>
            <a:pPr algn="l"/>
            <a:r>
              <a:rPr sz="1400" b="1" i="0">
                <a:solidFill>
                  <a:srgbClr val="EE6A2C"/>
                </a:solidFill>
                <a:latin typeface="Arial"/>
              </a:rPr>
              <a:t>DIFFUSION</a:t>
            </a:r>
          </a:p>
        </p:txBody>
      </p:sp>
      <p:sp>
        <p:nvSpPr>
          <p:cNvPr id="8" name="TextBox 7"/>
          <p:cNvSpPr txBox="1"/>
          <p:nvPr/>
        </p:nvSpPr>
        <p:spPr>
          <a:xfrm>
            <a:off x="2389632" y="1280160"/>
            <a:ext cx="2438400" cy="182880"/>
          </a:xfrm>
          <a:prstGeom prst="rect">
            <a:avLst/>
          </a:prstGeom>
          <a:noFill/>
        </p:spPr>
        <p:txBody>
          <a:bodyPr wrap="square" anchor="t" lIns="0" rIns="0" tIns="0" bIns="0">
            <a:spAutoFit/>
          </a:bodyPr>
          <a:lstStyle/>
          <a:p>
            <a:pPr algn="l"/>
            <a:r>
              <a:rPr sz="1400" b="1" i="0">
                <a:solidFill>
                  <a:srgbClr val="EE6A2C"/>
                </a:solidFill>
                <a:latin typeface="Arial"/>
              </a:rPr>
              <a:t>ENGAGEMENT</a:t>
            </a:r>
          </a:p>
        </p:txBody>
      </p:sp>
      <p:sp>
        <p:nvSpPr>
          <p:cNvPr id="9" name="TextBox 8"/>
          <p:cNvSpPr txBox="1"/>
          <p:nvPr/>
        </p:nvSpPr>
        <p:spPr>
          <a:xfrm>
            <a:off x="6108192" y="1280160"/>
            <a:ext cx="2438400" cy="182880"/>
          </a:xfrm>
          <a:prstGeom prst="rect">
            <a:avLst/>
          </a:prstGeom>
          <a:noFill/>
        </p:spPr>
        <p:txBody>
          <a:bodyPr wrap="square" anchor="t" lIns="0" rIns="0" tIns="0" bIns="0">
            <a:spAutoFit/>
          </a:bodyPr>
          <a:lstStyle/>
          <a:p>
            <a:pPr algn="l"/>
            <a:r>
              <a:rPr sz="1400" b="1" i="0">
                <a:solidFill>
                  <a:srgbClr val="EE6A2C"/>
                </a:solidFill>
                <a:latin typeface="Arial"/>
              </a:rPr>
              <a:t>CONVERSION</a:t>
            </a:r>
          </a:p>
        </p:txBody>
      </p:sp>
      <p:sp>
        <p:nvSpPr>
          <p:cNvPr id="10" name="Rectangle 9"/>
          <p:cNvSpPr/>
          <p:nvPr/>
        </p:nvSpPr>
        <p:spPr>
          <a:xfrm>
            <a:off x="530352" y="1536192"/>
            <a:ext cx="1389888" cy="1127760"/>
          </a:xfrm>
          <a:prstGeom prst="rect">
            <a:avLst/>
          </a:prstGeom>
          <a:solidFill>
            <a:srgbClr val="FFFFFF"/>
          </a:solidFill>
          <a:ln>
            <a:noFill/>
          </a:ln>
          <a:effectLst/>
        </p:spPr>
        <p:txBody>
          <a:bodyPr rtlCol="0" anchor="ctr"/>
          <a:lstStyle/>
          <a:p>
            <a:pPr algn="ctr"/>
          </a:p>
        </p:txBody>
      </p:sp>
      <p:sp>
        <p:nvSpPr>
          <p:cNvPr id="11" name="Rectangle 10"/>
          <p:cNvSpPr/>
          <p:nvPr/>
        </p:nvSpPr>
        <p:spPr>
          <a:xfrm>
            <a:off x="530352" y="1536192"/>
            <a:ext cx="24384" cy="1127760"/>
          </a:xfrm>
          <a:prstGeom prst="rect">
            <a:avLst/>
          </a:prstGeom>
          <a:solidFill>
            <a:srgbClr val="EE6A2C"/>
          </a:solidFill>
          <a:ln>
            <a:noFill/>
          </a:ln>
          <a:effectLst/>
        </p:spPr>
        <p:txBody>
          <a:bodyPr rtlCol="0" anchor="ctr"/>
          <a:lstStyle/>
          <a:p>
            <a:pPr algn="ctr"/>
          </a:p>
        </p:txBody>
      </p:sp>
      <p:sp>
        <p:nvSpPr>
          <p:cNvPr id="12" name="TextBox 11"/>
          <p:cNvSpPr txBox="1"/>
          <p:nvPr/>
        </p:nvSpPr>
        <p:spPr>
          <a:xfrm>
            <a:off x="664464" y="1615440"/>
            <a:ext cx="1219200" cy="121920"/>
          </a:xfrm>
          <a:prstGeom prst="rect">
            <a:avLst/>
          </a:prstGeom>
          <a:noFill/>
        </p:spPr>
        <p:txBody>
          <a:bodyPr wrap="square" anchor="t" lIns="0" rIns="0" tIns="0" bIns="0">
            <a:spAutoFit/>
          </a:bodyPr>
          <a:lstStyle/>
          <a:p>
            <a:pPr algn="l"/>
            <a:r>
              <a:rPr sz="1000" b="1" i="0">
                <a:solidFill>
                  <a:srgbClr val="555B66"/>
                </a:solidFill>
                <a:latin typeface="Arial"/>
              </a:rPr>
              <a:t>IMPRESSIONS</a:t>
            </a:r>
          </a:p>
        </p:txBody>
      </p:sp>
      <p:sp>
        <p:nvSpPr>
          <p:cNvPr id="13" name="TextBox 12"/>
          <p:cNvSpPr txBox="1"/>
          <p:nvPr/>
        </p:nvSpPr>
        <p:spPr>
          <a:xfrm>
            <a:off x="664464" y="1889760"/>
            <a:ext cx="1219200" cy="274320"/>
          </a:xfrm>
          <a:prstGeom prst="rect">
            <a:avLst/>
          </a:prstGeom>
          <a:noFill/>
        </p:spPr>
        <p:txBody>
          <a:bodyPr wrap="square" anchor="t" lIns="0" rIns="0" tIns="0" bIns="0">
            <a:spAutoFit/>
          </a:bodyPr>
          <a:lstStyle/>
          <a:p>
            <a:pPr algn="l"/>
            <a:r>
              <a:rPr sz="1800" b="1" i="0">
                <a:solidFill>
                  <a:srgbClr val="111111"/>
                </a:solidFill>
                <a:latin typeface="Arial"/>
              </a:rPr>
              <a:t>1 094 021</a:t>
            </a:r>
          </a:p>
        </p:txBody>
      </p:sp>
      <p:sp>
        <p:nvSpPr>
          <p:cNvPr id="14" name="TextBox 13"/>
          <p:cNvSpPr txBox="1"/>
          <p:nvPr/>
        </p:nvSpPr>
        <p:spPr>
          <a:xfrm>
            <a:off x="664464" y="2243328"/>
            <a:ext cx="1219200" cy="109728"/>
          </a:xfrm>
          <a:prstGeom prst="rect">
            <a:avLst/>
          </a:prstGeom>
          <a:noFill/>
        </p:spPr>
        <p:txBody>
          <a:bodyPr wrap="square" anchor="t" lIns="0" rIns="0" tIns="0" bIns="0">
            <a:spAutoFit/>
          </a:bodyPr>
          <a:lstStyle/>
          <a:p>
            <a:pPr algn="l"/>
            <a:r>
              <a:rPr sz="1000" b="1" i="0">
                <a:solidFill>
                  <a:srgbClr val="555B66"/>
                </a:solidFill>
                <a:latin typeface="Arial"/>
              </a:rPr>
              <a:t>—</a:t>
            </a:r>
          </a:p>
        </p:txBody>
      </p:sp>
      <p:sp>
        <p:nvSpPr>
          <p:cNvPr id="15" name="TextBox 14"/>
          <p:cNvSpPr txBox="1"/>
          <p:nvPr/>
        </p:nvSpPr>
        <p:spPr>
          <a:xfrm>
            <a:off x="664464" y="2499360"/>
            <a:ext cx="1219200" cy="91440"/>
          </a:xfrm>
          <a:prstGeom prst="rect">
            <a:avLst/>
          </a:prstGeom>
          <a:noFill/>
        </p:spPr>
        <p:txBody>
          <a:bodyPr wrap="square" anchor="t" lIns="0" rIns="0" tIns="0" bIns="0">
            <a:spAutoFit/>
          </a:bodyPr>
          <a:lstStyle/>
          <a:p>
            <a:pPr algn="l"/>
            <a:r>
              <a:rPr sz="800" b="0" i="1">
                <a:solidFill>
                  <a:srgbClr val="555B66"/>
                </a:solidFill>
                <a:latin typeface="Arial"/>
              </a:rPr>
              <a:t>YTD 1 094 021</a:t>
            </a:r>
          </a:p>
        </p:txBody>
      </p:sp>
      <p:sp>
        <p:nvSpPr>
          <p:cNvPr id="16" name="Rectangle 15"/>
          <p:cNvSpPr/>
          <p:nvPr/>
        </p:nvSpPr>
        <p:spPr>
          <a:xfrm>
            <a:off x="2389632" y="1536192"/>
            <a:ext cx="1389888" cy="1127760"/>
          </a:xfrm>
          <a:prstGeom prst="rect">
            <a:avLst/>
          </a:prstGeom>
          <a:solidFill>
            <a:srgbClr val="FFFFFF"/>
          </a:solidFill>
          <a:ln>
            <a:noFill/>
          </a:ln>
          <a:effectLst/>
        </p:spPr>
        <p:txBody>
          <a:bodyPr rtlCol="0" anchor="ctr"/>
          <a:lstStyle/>
          <a:p>
            <a:pPr algn="ctr"/>
          </a:p>
        </p:txBody>
      </p:sp>
      <p:sp>
        <p:nvSpPr>
          <p:cNvPr id="17" name="Rectangle 16"/>
          <p:cNvSpPr/>
          <p:nvPr/>
        </p:nvSpPr>
        <p:spPr>
          <a:xfrm>
            <a:off x="2389632" y="1536192"/>
            <a:ext cx="24384" cy="1127760"/>
          </a:xfrm>
          <a:prstGeom prst="rect">
            <a:avLst/>
          </a:prstGeom>
          <a:solidFill>
            <a:srgbClr val="EE6A2C"/>
          </a:solidFill>
          <a:ln>
            <a:noFill/>
          </a:ln>
          <a:effectLst/>
        </p:spPr>
        <p:txBody>
          <a:bodyPr rtlCol="0" anchor="ctr"/>
          <a:lstStyle/>
          <a:p>
            <a:pPr algn="ctr"/>
          </a:p>
        </p:txBody>
      </p:sp>
      <p:sp>
        <p:nvSpPr>
          <p:cNvPr id="18" name="TextBox 17"/>
          <p:cNvSpPr txBox="1"/>
          <p:nvPr/>
        </p:nvSpPr>
        <p:spPr>
          <a:xfrm>
            <a:off x="2523744" y="1615440"/>
            <a:ext cx="1219200" cy="121920"/>
          </a:xfrm>
          <a:prstGeom prst="rect">
            <a:avLst/>
          </a:prstGeom>
          <a:noFill/>
        </p:spPr>
        <p:txBody>
          <a:bodyPr wrap="square" anchor="t" lIns="0" rIns="0" tIns="0" bIns="0">
            <a:spAutoFit/>
          </a:bodyPr>
          <a:lstStyle/>
          <a:p>
            <a:pPr algn="l"/>
            <a:r>
              <a:rPr sz="1000" b="1" i="0">
                <a:solidFill>
                  <a:srgbClr val="555B66"/>
                </a:solidFill>
                <a:latin typeface="Arial"/>
              </a:rPr>
              <a:t>CLICS</a:t>
            </a:r>
          </a:p>
        </p:txBody>
      </p:sp>
      <p:sp>
        <p:nvSpPr>
          <p:cNvPr id="19" name="TextBox 18"/>
          <p:cNvSpPr txBox="1"/>
          <p:nvPr/>
        </p:nvSpPr>
        <p:spPr>
          <a:xfrm>
            <a:off x="2523744" y="1889760"/>
            <a:ext cx="1219200" cy="274320"/>
          </a:xfrm>
          <a:prstGeom prst="rect">
            <a:avLst/>
          </a:prstGeom>
          <a:noFill/>
        </p:spPr>
        <p:txBody>
          <a:bodyPr wrap="square" anchor="t" lIns="0" rIns="0" tIns="0" bIns="0">
            <a:spAutoFit/>
          </a:bodyPr>
          <a:lstStyle/>
          <a:p>
            <a:pPr algn="l"/>
            <a:r>
              <a:rPr sz="2200" b="1" i="0">
                <a:solidFill>
                  <a:srgbClr val="111111"/>
                </a:solidFill>
                <a:latin typeface="Arial"/>
              </a:rPr>
              <a:t>4 757</a:t>
            </a:r>
          </a:p>
        </p:txBody>
      </p:sp>
      <p:sp>
        <p:nvSpPr>
          <p:cNvPr id="20" name="TextBox 19"/>
          <p:cNvSpPr txBox="1"/>
          <p:nvPr/>
        </p:nvSpPr>
        <p:spPr>
          <a:xfrm>
            <a:off x="2523744" y="2243328"/>
            <a:ext cx="1219200" cy="109728"/>
          </a:xfrm>
          <a:prstGeom prst="rect">
            <a:avLst/>
          </a:prstGeom>
          <a:noFill/>
        </p:spPr>
        <p:txBody>
          <a:bodyPr wrap="square" anchor="t" lIns="0" rIns="0" tIns="0" bIns="0">
            <a:spAutoFit/>
          </a:bodyPr>
          <a:lstStyle/>
          <a:p>
            <a:pPr algn="l"/>
            <a:r>
              <a:rPr sz="1000" b="1" i="0">
                <a:solidFill>
                  <a:srgbClr val="555B66"/>
                </a:solidFill>
                <a:latin typeface="Arial"/>
              </a:rPr>
              <a:t>—</a:t>
            </a:r>
          </a:p>
        </p:txBody>
      </p:sp>
      <p:sp>
        <p:nvSpPr>
          <p:cNvPr id="21" name="TextBox 20"/>
          <p:cNvSpPr txBox="1"/>
          <p:nvPr/>
        </p:nvSpPr>
        <p:spPr>
          <a:xfrm>
            <a:off x="2523744" y="2499360"/>
            <a:ext cx="1219200" cy="91440"/>
          </a:xfrm>
          <a:prstGeom prst="rect">
            <a:avLst/>
          </a:prstGeom>
          <a:noFill/>
        </p:spPr>
        <p:txBody>
          <a:bodyPr wrap="square" anchor="t" lIns="0" rIns="0" tIns="0" bIns="0">
            <a:spAutoFit/>
          </a:bodyPr>
          <a:lstStyle/>
          <a:p>
            <a:pPr algn="l"/>
            <a:r>
              <a:rPr sz="800" b="0" i="1">
                <a:solidFill>
                  <a:srgbClr val="555B66"/>
                </a:solidFill>
                <a:latin typeface="Arial"/>
              </a:rPr>
              <a:t>YTD 4 757</a:t>
            </a:r>
          </a:p>
        </p:txBody>
      </p:sp>
      <p:sp>
        <p:nvSpPr>
          <p:cNvPr id="22" name="Rectangle 21"/>
          <p:cNvSpPr/>
          <p:nvPr/>
        </p:nvSpPr>
        <p:spPr>
          <a:xfrm>
            <a:off x="4248912" y="1536192"/>
            <a:ext cx="1389888" cy="1127760"/>
          </a:xfrm>
          <a:prstGeom prst="rect">
            <a:avLst/>
          </a:prstGeom>
          <a:solidFill>
            <a:srgbClr val="FFFFFF"/>
          </a:solidFill>
          <a:ln>
            <a:noFill/>
          </a:ln>
          <a:effectLst/>
        </p:spPr>
        <p:txBody>
          <a:bodyPr rtlCol="0" anchor="ctr"/>
          <a:lstStyle/>
          <a:p>
            <a:pPr algn="ctr"/>
          </a:p>
        </p:txBody>
      </p:sp>
      <p:sp>
        <p:nvSpPr>
          <p:cNvPr id="23" name="Rectangle 22"/>
          <p:cNvSpPr/>
          <p:nvPr/>
        </p:nvSpPr>
        <p:spPr>
          <a:xfrm>
            <a:off x="4248912" y="1536192"/>
            <a:ext cx="24384" cy="1127760"/>
          </a:xfrm>
          <a:prstGeom prst="rect">
            <a:avLst/>
          </a:prstGeom>
          <a:solidFill>
            <a:srgbClr val="EE6A2C"/>
          </a:solidFill>
          <a:ln>
            <a:noFill/>
          </a:ln>
          <a:effectLst/>
        </p:spPr>
        <p:txBody>
          <a:bodyPr rtlCol="0" anchor="ctr"/>
          <a:lstStyle/>
          <a:p>
            <a:pPr algn="ctr"/>
          </a:p>
        </p:txBody>
      </p:sp>
      <p:sp>
        <p:nvSpPr>
          <p:cNvPr id="24" name="TextBox 23"/>
          <p:cNvSpPr txBox="1"/>
          <p:nvPr/>
        </p:nvSpPr>
        <p:spPr>
          <a:xfrm>
            <a:off x="4383024" y="1615440"/>
            <a:ext cx="1219200" cy="121920"/>
          </a:xfrm>
          <a:prstGeom prst="rect">
            <a:avLst/>
          </a:prstGeom>
          <a:noFill/>
        </p:spPr>
        <p:txBody>
          <a:bodyPr wrap="square" anchor="t" lIns="0" rIns="0" tIns="0" bIns="0">
            <a:spAutoFit/>
          </a:bodyPr>
          <a:lstStyle/>
          <a:p>
            <a:pPr algn="l"/>
            <a:r>
              <a:rPr sz="1000" b="1" i="0">
                <a:solidFill>
                  <a:srgbClr val="555B66"/>
                </a:solidFill>
                <a:latin typeface="Arial"/>
              </a:rPr>
              <a:t>CTR</a:t>
            </a:r>
          </a:p>
        </p:txBody>
      </p:sp>
      <p:sp>
        <p:nvSpPr>
          <p:cNvPr id="25" name="TextBox 24"/>
          <p:cNvSpPr txBox="1"/>
          <p:nvPr/>
        </p:nvSpPr>
        <p:spPr>
          <a:xfrm>
            <a:off x="4383024" y="1889760"/>
            <a:ext cx="1219200" cy="274320"/>
          </a:xfrm>
          <a:prstGeom prst="rect">
            <a:avLst/>
          </a:prstGeom>
          <a:noFill/>
        </p:spPr>
        <p:txBody>
          <a:bodyPr wrap="square" anchor="t" lIns="0" rIns="0" tIns="0" bIns="0">
            <a:spAutoFit/>
          </a:bodyPr>
          <a:lstStyle/>
          <a:p>
            <a:pPr algn="l"/>
            <a:r>
              <a:rPr sz="2200" b="1" i="0">
                <a:solidFill>
                  <a:srgbClr val="111111"/>
                </a:solidFill>
                <a:latin typeface="Arial"/>
              </a:rPr>
              <a:t>0,43 %</a:t>
            </a:r>
          </a:p>
        </p:txBody>
      </p:sp>
      <p:sp>
        <p:nvSpPr>
          <p:cNvPr id="26" name="TextBox 25"/>
          <p:cNvSpPr txBox="1"/>
          <p:nvPr/>
        </p:nvSpPr>
        <p:spPr>
          <a:xfrm>
            <a:off x="4383024" y="2243328"/>
            <a:ext cx="1219200" cy="109728"/>
          </a:xfrm>
          <a:prstGeom prst="rect">
            <a:avLst/>
          </a:prstGeom>
          <a:noFill/>
        </p:spPr>
        <p:txBody>
          <a:bodyPr wrap="square" anchor="t" lIns="0" rIns="0" tIns="0" bIns="0">
            <a:spAutoFit/>
          </a:bodyPr>
          <a:lstStyle/>
          <a:p>
            <a:pPr algn="l"/>
            <a:r>
              <a:rPr sz="1000" b="1" i="0">
                <a:solidFill>
                  <a:srgbClr val="555B66"/>
                </a:solidFill>
                <a:latin typeface="Arial"/>
              </a:rPr>
              <a:t>—</a:t>
            </a:r>
          </a:p>
        </p:txBody>
      </p:sp>
      <p:sp>
        <p:nvSpPr>
          <p:cNvPr id="27" name="TextBox 26"/>
          <p:cNvSpPr txBox="1"/>
          <p:nvPr/>
        </p:nvSpPr>
        <p:spPr>
          <a:xfrm>
            <a:off x="4383024" y="2499360"/>
            <a:ext cx="1219200" cy="91440"/>
          </a:xfrm>
          <a:prstGeom prst="rect">
            <a:avLst/>
          </a:prstGeom>
          <a:noFill/>
        </p:spPr>
        <p:txBody>
          <a:bodyPr wrap="square" anchor="t" lIns="0" rIns="0" tIns="0" bIns="0">
            <a:spAutoFit/>
          </a:bodyPr>
          <a:lstStyle/>
          <a:p>
            <a:pPr algn="l"/>
            <a:r>
              <a:rPr sz="800" b="0" i="1">
                <a:solidFill>
                  <a:srgbClr val="555B66"/>
                </a:solidFill>
                <a:latin typeface="Arial"/>
              </a:rPr>
              <a:t>YTD 0,43 %</a:t>
            </a:r>
          </a:p>
        </p:txBody>
      </p:sp>
      <p:sp>
        <p:nvSpPr>
          <p:cNvPr id="28" name="Rectangle 27"/>
          <p:cNvSpPr/>
          <p:nvPr/>
        </p:nvSpPr>
        <p:spPr>
          <a:xfrm>
            <a:off x="6108192" y="1536192"/>
            <a:ext cx="1389888" cy="1127760"/>
          </a:xfrm>
          <a:prstGeom prst="rect">
            <a:avLst/>
          </a:prstGeom>
          <a:solidFill>
            <a:srgbClr val="F1EFEB"/>
          </a:solidFill>
          <a:ln>
            <a:noFill/>
          </a:ln>
          <a:effectLst/>
        </p:spPr>
        <p:txBody>
          <a:bodyPr rtlCol="0" anchor="ctr"/>
          <a:lstStyle/>
          <a:p>
            <a:pPr algn="ctr"/>
          </a:p>
        </p:txBody>
      </p:sp>
      <p:sp>
        <p:nvSpPr>
          <p:cNvPr id="29" name="Rounded Rectangle 28"/>
          <p:cNvSpPr/>
          <p:nvPr/>
        </p:nvSpPr>
        <p:spPr>
          <a:xfrm>
            <a:off x="6827520" y="1450848"/>
            <a:ext cx="609600" cy="170688"/>
          </a:xfrm>
          <a:prstGeom prst="roundRect">
            <a:avLst>
              <a:gd name="adj" fmla="val 50000"/>
            </a:avLst>
          </a:prstGeom>
          <a:solidFill>
            <a:srgbClr val="D9D6D1"/>
          </a:solidFill>
          <a:ln>
            <a:noFill/>
          </a:ln>
          <a:effectLst/>
        </p:spPr>
        <p:txBody>
          <a:bodyPr rtlCol="0" anchor="ctr"/>
          <a:lstStyle/>
          <a:p>
            <a:pPr algn="ctr"/>
          </a:p>
        </p:txBody>
      </p:sp>
      <p:sp>
        <p:nvSpPr>
          <p:cNvPr id="30" name="TextBox 29"/>
          <p:cNvSpPr txBox="1"/>
          <p:nvPr/>
        </p:nvSpPr>
        <p:spPr>
          <a:xfrm>
            <a:off x="6827520" y="1450848"/>
            <a:ext cx="609600" cy="170688"/>
          </a:xfrm>
          <a:prstGeom prst="rect">
            <a:avLst/>
          </a:prstGeom>
          <a:noFill/>
        </p:spPr>
        <p:txBody>
          <a:bodyPr wrap="square" anchor="ctr" lIns="0" rIns="0" tIns="0" bIns="0">
            <a:spAutoFit/>
          </a:bodyPr>
          <a:lstStyle/>
          <a:p>
            <a:pPr algn="ctr"/>
            <a:r>
              <a:rPr sz="800" b="1" i="0">
                <a:solidFill>
                  <a:srgbClr val="555B66"/>
                </a:solidFill>
                <a:latin typeface="Arial"/>
              </a:rPr>
              <a:t>INDICATIF</a:t>
            </a:r>
          </a:p>
        </p:txBody>
      </p:sp>
      <p:sp>
        <p:nvSpPr>
          <p:cNvPr id="31" name="TextBox 30"/>
          <p:cNvSpPr txBox="1"/>
          <p:nvPr/>
        </p:nvSpPr>
        <p:spPr>
          <a:xfrm>
            <a:off x="6242304" y="1706880"/>
            <a:ext cx="1219200" cy="121920"/>
          </a:xfrm>
          <a:prstGeom prst="rect">
            <a:avLst/>
          </a:prstGeom>
          <a:noFill/>
        </p:spPr>
        <p:txBody>
          <a:bodyPr wrap="square" anchor="t" lIns="0" rIns="0" tIns="0" bIns="0">
            <a:spAutoFit/>
          </a:bodyPr>
          <a:lstStyle/>
          <a:p>
            <a:pPr algn="l"/>
            <a:r>
              <a:rPr sz="1000" b="1" i="0">
                <a:solidFill>
                  <a:srgbClr val="8A93A6"/>
                </a:solidFill>
                <a:latin typeface="Arial"/>
              </a:rPr>
              <a:t>CONVERSIONS</a:t>
            </a:r>
          </a:p>
        </p:txBody>
      </p:sp>
      <p:sp>
        <p:nvSpPr>
          <p:cNvPr id="32" name="TextBox 31"/>
          <p:cNvSpPr txBox="1"/>
          <p:nvPr/>
        </p:nvSpPr>
        <p:spPr>
          <a:xfrm>
            <a:off x="6242304" y="1889760"/>
            <a:ext cx="1219200" cy="274320"/>
          </a:xfrm>
          <a:prstGeom prst="rect">
            <a:avLst/>
          </a:prstGeom>
          <a:noFill/>
        </p:spPr>
        <p:txBody>
          <a:bodyPr wrap="square" anchor="t" lIns="0" rIns="0" tIns="0" bIns="0">
            <a:spAutoFit/>
          </a:bodyPr>
          <a:lstStyle/>
          <a:p>
            <a:pPr algn="l"/>
            <a:r>
              <a:rPr sz="2200" b="1" i="0">
                <a:solidFill>
                  <a:srgbClr val="8A93A6"/>
                </a:solidFill>
                <a:latin typeface="Arial"/>
              </a:rPr>
              <a:t>N/C</a:t>
            </a:r>
          </a:p>
        </p:txBody>
      </p:sp>
      <p:sp>
        <p:nvSpPr>
          <p:cNvPr id="33" name="TextBox 32"/>
          <p:cNvSpPr txBox="1"/>
          <p:nvPr/>
        </p:nvSpPr>
        <p:spPr>
          <a:xfrm>
            <a:off x="6242304" y="2243328"/>
            <a:ext cx="1219200" cy="109728"/>
          </a:xfrm>
          <a:prstGeom prst="rect">
            <a:avLst/>
          </a:prstGeom>
          <a:noFill/>
        </p:spPr>
        <p:txBody>
          <a:bodyPr wrap="square" anchor="t" lIns="0" rIns="0" tIns="0" bIns="0">
            <a:spAutoFit/>
          </a:bodyPr>
          <a:lstStyle/>
          <a:p>
            <a:pPr algn="l"/>
            <a:r>
              <a:rPr sz="1000" b="1" i="0">
                <a:solidFill>
                  <a:srgbClr val="8A93A6"/>
                </a:solidFill>
                <a:latin typeface="Arial"/>
              </a:rPr>
              <a:t>—</a:t>
            </a:r>
          </a:p>
        </p:txBody>
      </p:sp>
      <p:sp>
        <p:nvSpPr>
          <p:cNvPr id="34" name="TextBox 33"/>
          <p:cNvSpPr txBox="1"/>
          <p:nvPr/>
        </p:nvSpPr>
        <p:spPr>
          <a:xfrm>
            <a:off x="6242304" y="2499360"/>
            <a:ext cx="1219200" cy="91440"/>
          </a:xfrm>
          <a:prstGeom prst="rect">
            <a:avLst/>
          </a:prstGeom>
          <a:noFill/>
        </p:spPr>
        <p:txBody>
          <a:bodyPr wrap="square" anchor="t" lIns="0" rIns="0" tIns="0" bIns="0">
            <a:spAutoFit/>
          </a:bodyPr>
          <a:lstStyle/>
          <a:p>
            <a:pPr algn="l"/>
            <a:r>
              <a:rPr sz="800" b="0" i="1">
                <a:solidFill>
                  <a:srgbClr val="8A93A6"/>
                </a:solidFill>
                <a:latin typeface="Arial"/>
              </a:rPr>
              <a:t>YTD —</a:t>
            </a:r>
          </a:p>
        </p:txBody>
      </p:sp>
      <p:sp>
        <p:nvSpPr>
          <p:cNvPr id="35" name="Rectangle 34"/>
          <p:cNvSpPr/>
          <p:nvPr/>
        </p:nvSpPr>
        <p:spPr>
          <a:xfrm>
            <a:off x="7967472" y="1536192"/>
            <a:ext cx="1389888" cy="1127760"/>
          </a:xfrm>
          <a:prstGeom prst="rect">
            <a:avLst/>
          </a:prstGeom>
          <a:solidFill>
            <a:srgbClr val="F1EFEB"/>
          </a:solidFill>
          <a:ln>
            <a:noFill/>
          </a:ln>
          <a:effectLst/>
        </p:spPr>
        <p:txBody>
          <a:bodyPr rtlCol="0" anchor="ctr"/>
          <a:lstStyle/>
          <a:p>
            <a:pPr algn="ctr"/>
          </a:p>
        </p:txBody>
      </p:sp>
      <p:sp>
        <p:nvSpPr>
          <p:cNvPr id="36" name="Rounded Rectangle 35"/>
          <p:cNvSpPr/>
          <p:nvPr/>
        </p:nvSpPr>
        <p:spPr>
          <a:xfrm>
            <a:off x="8686800" y="1450848"/>
            <a:ext cx="609600" cy="170688"/>
          </a:xfrm>
          <a:prstGeom prst="roundRect">
            <a:avLst>
              <a:gd name="adj" fmla="val 50000"/>
            </a:avLst>
          </a:prstGeom>
          <a:solidFill>
            <a:srgbClr val="D9D6D1"/>
          </a:solidFill>
          <a:ln>
            <a:noFill/>
          </a:ln>
          <a:effectLst/>
        </p:spPr>
        <p:txBody>
          <a:bodyPr rtlCol="0" anchor="ctr"/>
          <a:lstStyle/>
          <a:p>
            <a:pPr algn="ctr"/>
          </a:p>
        </p:txBody>
      </p:sp>
      <p:sp>
        <p:nvSpPr>
          <p:cNvPr id="37" name="TextBox 36"/>
          <p:cNvSpPr txBox="1"/>
          <p:nvPr/>
        </p:nvSpPr>
        <p:spPr>
          <a:xfrm>
            <a:off x="8686800" y="1450848"/>
            <a:ext cx="609600" cy="170688"/>
          </a:xfrm>
          <a:prstGeom prst="rect">
            <a:avLst/>
          </a:prstGeom>
          <a:noFill/>
        </p:spPr>
        <p:txBody>
          <a:bodyPr wrap="square" anchor="ctr" lIns="0" rIns="0" tIns="0" bIns="0">
            <a:spAutoFit/>
          </a:bodyPr>
          <a:lstStyle/>
          <a:p>
            <a:pPr algn="ctr"/>
            <a:r>
              <a:rPr sz="800" b="1" i="0">
                <a:solidFill>
                  <a:srgbClr val="555B66"/>
                </a:solidFill>
                <a:latin typeface="Arial"/>
              </a:rPr>
              <a:t>INDICATIF</a:t>
            </a:r>
          </a:p>
        </p:txBody>
      </p:sp>
      <p:sp>
        <p:nvSpPr>
          <p:cNvPr id="38" name="TextBox 37"/>
          <p:cNvSpPr txBox="1"/>
          <p:nvPr/>
        </p:nvSpPr>
        <p:spPr>
          <a:xfrm>
            <a:off x="8101584" y="1706880"/>
            <a:ext cx="1219200" cy="121920"/>
          </a:xfrm>
          <a:prstGeom prst="rect">
            <a:avLst/>
          </a:prstGeom>
          <a:noFill/>
        </p:spPr>
        <p:txBody>
          <a:bodyPr wrap="square" anchor="t" lIns="0" rIns="0" tIns="0" bIns="0">
            <a:spAutoFit/>
          </a:bodyPr>
          <a:lstStyle/>
          <a:p>
            <a:pPr algn="l"/>
            <a:r>
              <a:rPr sz="1000" b="1" i="0">
                <a:solidFill>
                  <a:srgbClr val="8A93A6"/>
                </a:solidFill>
                <a:latin typeface="Arial"/>
              </a:rPr>
              <a:t>CVR</a:t>
            </a:r>
          </a:p>
        </p:txBody>
      </p:sp>
      <p:sp>
        <p:nvSpPr>
          <p:cNvPr id="39" name="TextBox 38"/>
          <p:cNvSpPr txBox="1"/>
          <p:nvPr/>
        </p:nvSpPr>
        <p:spPr>
          <a:xfrm>
            <a:off x="8101584" y="1889760"/>
            <a:ext cx="1219200" cy="274320"/>
          </a:xfrm>
          <a:prstGeom prst="rect">
            <a:avLst/>
          </a:prstGeom>
          <a:noFill/>
        </p:spPr>
        <p:txBody>
          <a:bodyPr wrap="square" anchor="t" lIns="0" rIns="0" tIns="0" bIns="0">
            <a:spAutoFit/>
          </a:bodyPr>
          <a:lstStyle/>
          <a:p>
            <a:pPr algn="l"/>
            <a:r>
              <a:rPr sz="2200" b="1" i="0">
                <a:solidFill>
                  <a:srgbClr val="8A93A6"/>
                </a:solidFill>
                <a:latin typeface="Arial"/>
              </a:rPr>
              <a:t>N/C</a:t>
            </a:r>
          </a:p>
        </p:txBody>
      </p:sp>
      <p:sp>
        <p:nvSpPr>
          <p:cNvPr id="40" name="TextBox 39"/>
          <p:cNvSpPr txBox="1"/>
          <p:nvPr/>
        </p:nvSpPr>
        <p:spPr>
          <a:xfrm>
            <a:off x="8101584" y="2243328"/>
            <a:ext cx="1219200" cy="109728"/>
          </a:xfrm>
          <a:prstGeom prst="rect">
            <a:avLst/>
          </a:prstGeom>
          <a:noFill/>
        </p:spPr>
        <p:txBody>
          <a:bodyPr wrap="square" anchor="t" lIns="0" rIns="0" tIns="0" bIns="0">
            <a:spAutoFit/>
          </a:bodyPr>
          <a:lstStyle/>
          <a:p>
            <a:pPr algn="l"/>
            <a:r>
              <a:rPr sz="1000" b="1" i="0">
                <a:solidFill>
                  <a:srgbClr val="8A93A6"/>
                </a:solidFill>
                <a:latin typeface="Arial"/>
              </a:rPr>
              <a:t>—</a:t>
            </a:r>
          </a:p>
        </p:txBody>
      </p:sp>
      <p:sp>
        <p:nvSpPr>
          <p:cNvPr id="41" name="TextBox 40"/>
          <p:cNvSpPr txBox="1"/>
          <p:nvPr/>
        </p:nvSpPr>
        <p:spPr>
          <a:xfrm>
            <a:off x="8101584" y="2499360"/>
            <a:ext cx="1219200" cy="91440"/>
          </a:xfrm>
          <a:prstGeom prst="rect">
            <a:avLst/>
          </a:prstGeom>
          <a:noFill/>
        </p:spPr>
        <p:txBody>
          <a:bodyPr wrap="square" anchor="t" lIns="0" rIns="0" tIns="0" bIns="0">
            <a:spAutoFit/>
          </a:bodyPr>
          <a:lstStyle/>
          <a:p>
            <a:pPr algn="l"/>
            <a:r>
              <a:rPr sz="800" b="0" i="1">
                <a:solidFill>
                  <a:srgbClr val="8A93A6"/>
                </a:solidFill>
                <a:latin typeface="Arial"/>
              </a:rPr>
              <a:t>YTD —</a:t>
            </a:r>
          </a:p>
        </p:txBody>
      </p:sp>
      <p:sp>
        <p:nvSpPr>
          <p:cNvPr id="42" name="Rectangle 41"/>
          <p:cNvSpPr/>
          <p:nvPr/>
        </p:nvSpPr>
        <p:spPr>
          <a:xfrm>
            <a:off x="9826752" y="1536192"/>
            <a:ext cx="1389888" cy="1127760"/>
          </a:xfrm>
          <a:prstGeom prst="rect">
            <a:avLst/>
          </a:prstGeom>
          <a:solidFill>
            <a:srgbClr val="F1EFEB"/>
          </a:solidFill>
          <a:ln>
            <a:noFill/>
          </a:ln>
          <a:effectLst/>
        </p:spPr>
        <p:txBody>
          <a:bodyPr rtlCol="0" anchor="ctr"/>
          <a:lstStyle/>
          <a:p>
            <a:pPr algn="ctr"/>
          </a:p>
        </p:txBody>
      </p:sp>
      <p:sp>
        <p:nvSpPr>
          <p:cNvPr id="43" name="Rounded Rectangle 42"/>
          <p:cNvSpPr/>
          <p:nvPr/>
        </p:nvSpPr>
        <p:spPr>
          <a:xfrm>
            <a:off x="10546080" y="1450848"/>
            <a:ext cx="609600" cy="170688"/>
          </a:xfrm>
          <a:prstGeom prst="roundRect">
            <a:avLst>
              <a:gd name="adj" fmla="val 50000"/>
            </a:avLst>
          </a:prstGeom>
          <a:solidFill>
            <a:srgbClr val="D9D6D1"/>
          </a:solidFill>
          <a:ln>
            <a:noFill/>
          </a:ln>
          <a:effectLst/>
        </p:spPr>
        <p:txBody>
          <a:bodyPr rtlCol="0" anchor="ctr"/>
          <a:lstStyle/>
          <a:p>
            <a:pPr algn="ctr"/>
          </a:p>
        </p:txBody>
      </p:sp>
      <p:sp>
        <p:nvSpPr>
          <p:cNvPr id="44" name="TextBox 43"/>
          <p:cNvSpPr txBox="1"/>
          <p:nvPr/>
        </p:nvSpPr>
        <p:spPr>
          <a:xfrm>
            <a:off x="10546080" y="1450848"/>
            <a:ext cx="609600" cy="170688"/>
          </a:xfrm>
          <a:prstGeom prst="rect">
            <a:avLst/>
          </a:prstGeom>
          <a:noFill/>
        </p:spPr>
        <p:txBody>
          <a:bodyPr wrap="square" anchor="ctr" lIns="0" rIns="0" tIns="0" bIns="0">
            <a:spAutoFit/>
          </a:bodyPr>
          <a:lstStyle/>
          <a:p>
            <a:pPr algn="ctr"/>
            <a:r>
              <a:rPr sz="800" b="1" i="0">
                <a:solidFill>
                  <a:srgbClr val="555B66"/>
                </a:solidFill>
                <a:latin typeface="Arial"/>
              </a:rPr>
              <a:t>INDICATIF</a:t>
            </a:r>
          </a:p>
        </p:txBody>
      </p:sp>
      <p:sp>
        <p:nvSpPr>
          <p:cNvPr id="45" name="TextBox 44"/>
          <p:cNvSpPr txBox="1"/>
          <p:nvPr/>
        </p:nvSpPr>
        <p:spPr>
          <a:xfrm>
            <a:off x="9960864" y="1706880"/>
            <a:ext cx="1219200" cy="121920"/>
          </a:xfrm>
          <a:prstGeom prst="rect">
            <a:avLst/>
          </a:prstGeom>
          <a:noFill/>
        </p:spPr>
        <p:txBody>
          <a:bodyPr wrap="square" anchor="t" lIns="0" rIns="0" tIns="0" bIns="0">
            <a:spAutoFit/>
          </a:bodyPr>
          <a:lstStyle/>
          <a:p>
            <a:pPr algn="l"/>
            <a:r>
              <a:rPr sz="1000" b="1" i="0">
                <a:solidFill>
                  <a:srgbClr val="8A93A6"/>
                </a:solidFill>
                <a:latin typeface="Arial"/>
              </a:rPr>
              <a:t>ROAS</a:t>
            </a:r>
          </a:p>
        </p:txBody>
      </p:sp>
      <p:sp>
        <p:nvSpPr>
          <p:cNvPr id="46" name="TextBox 45"/>
          <p:cNvSpPr txBox="1"/>
          <p:nvPr/>
        </p:nvSpPr>
        <p:spPr>
          <a:xfrm>
            <a:off x="9960864" y="1889760"/>
            <a:ext cx="1219200" cy="274320"/>
          </a:xfrm>
          <a:prstGeom prst="rect">
            <a:avLst/>
          </a:prstGeom>
          <a:noFill/>
        </p:spPr>
        <p:txBody>
          <a:bodyPr wrap="square" anchor="t" lIns="0" rIns="0" tIns="0" bIns="0">
            <a:spAutoFit/>
          </a:bodyPr>
          <a:lstStyle/>
          <a:p>
            <a:pPr algn="l"/>
            <a:r>
              <a:rPr sz="2200" b="1" i="0">
                <a:solidFill>
                  <a:srgbClr val="8A93A6"/>
                </a:solidFill>
                <a:latin typeface="Arial"/>
              </a:rPr>
              <a:t>N/C</a:t>
            </a:r>
          </a:p>
        </p:txBody>
      </p:sp>
      <p:sp>
        <p:nvSpPr>
          <p:cNvPr id="47" name="TextBox 46"/>
          <p:cNvSpPr txBox="1"/>
          <p:nvPr/>
        </p:nvSpPr>
        <p:spPr>
          <a:xfrm>
            <a:off x="9960864" y="2243328"/>
            <a:ext cx="1219200" cy="109728"/>
          </a:xfrm>
          <a:prstGeom prst="rect">
            <a:avLst/>
          </a:prstGeom>
          <a:noFill/>
        </p:spPr>
        <p:txBody>
          <a:bodyPr wrap="square" anchor="t" lIns="0" rIns="0" tIns="0" bIns="0">
            <a:spAutoFit/>
          </a:bodyPr>
          <a:lstStyle/>
          <a:p>
            <a:pPr algn="l"/>
            <a:r>
              <a:rPr sz="1000" b="1" i="0">
                <a:solidFill>
                  <a:srgbClr val="8A93A6"/>
                </a:solidFill>
                <a:latin typeface="Arial"/>
              </a:rPr>
              <a:t>—</a:t>
            </a:r>
          </a:p>
        </p:txBody>
      </p:sp>
      <p:sp>
        <p:nvSpPr>
          <p:cNvPr id="48" name="TextBox 47"/>
          <p:cNvSpPr txBox="1"/>
          <p:nvPr/>
        </p:nvSpPr>
        <p:spPr>
          <a:xfrm>
            <a:off x="9960864" y="2499360"/>
            <a:ext cx="1219200" cy="91440"/>
          </a:xfrm>
          <a:prstGeom prst="rect">
            <a:avLst/>
          </a:prstGeom>
          <a:noFill/>
        </p:spPr>
        <p:txBody>
          <a:bodyPr wrap="square" anchor="t" lIns="0" rIns="0" tIns="0" bIns="0">
            <a:spAutoFit/>
          </a:bodyPr>
          <a:lstStyle/>
          <a:p>
            <a:pPr algn="l"/>
            <a:r>
              <a:rPr sz="800" b="0" i="1">
                <a:solidFill>
                  <a:srgbClr val="8A93A6"/>
                </a:solidFill>
                <a:latin typeface="Arial"/>
              </a:rPr>
              <a:t>YTD —</a:t>
            </a:r>
          </a:p>
        </p:txBody>
      </p:sp>
      <p:sp>
        <p:nvSpPr>
          <p:cNvPr id="49" name="Isosceles Triangle 48"/>
          <p:cNvSpPr/>
          <p:nvPr/>
        </p:nvSpPr>
        <p:spPr>
          <a:xfrm>
            <a:off x="8564880" y="2688336"/>
            <a:ext cx="182880" cy="85344"/>
          </a:xfrm>
          <a:prstGeom prst="triangle">
            <a:avLst/>
          </a:prstGeom>
          <a:solidFill>
            <a:srgbClr val="EBE9E5"/>
          </a:solidFill>
          <a:ln>
            <a:noFill/>
          </a:ln>
          <a:effectLst/>
        </p:spPr>
        <p:txBody>
          <a:bodyPr rtlCol="0" anchor="ctr"/>
          <a:lstStyle/>
          <a:p>
            <a:pPr algn="ctr"/>
          </a:p>
        </p:txBody>
      </p:sp>
      <p:sp>
        <p:nvSpPr>
          <p:cNvPr id="50" name="Rounded Rectangle 49"/>
          <p:cNvSpPr/>
          <p:nvPr/>
        </p:nvSpPr>
        <p:spPr>
          <a:xfrm>
            <a:off x="6108192" y="2773680"/>
            <a:ext cx="5108448" cy="438912"/>
          </a:xfrm>
          <a:prstGeom prst="roundRect">
            <a:avLst>
              <a:gd name="adj" fmla="val 15000"/>
            </a:avLst>
          </a:prstGeom>
          <a:solidFill>
            <a:srgbClr val="EBE9E5"/>
          </a:solidFill>
          <a:ln>
            <a:noFill/>
          </a:ln>
          <a:effectLst/>
        </p:spPr>
        <p:txBody>
          <a:bodyPr rtlCol="0" anchor="ctr"/>
          <a:lstStyle/>
          <a:p>
            <a:pPr algn="ctr"/>
          </a:p>
        </p:txBody>
      </p:sp>
      <p:sp>
        <p:nvSpPr>
          <p:cNvPr id="51" name="TextBox 50"/>
          <p:cNvSpPr txBox="1"/>
          <p:nvPr/>
        </p:nvSpPr>
        <p:spPr>
          <a:xfrm>
            <a:off x="6230112" y="2816352"/>
            <a:ext cx="4864608" cy="365760"/>
          </a:xfrm>
          <a:prstGeom prst="rect">
            <a:avLst/>
          </a:prstGeom>
          <a:noFill/>
        </p:spPr>
        <p:txBody>
          <a:bodyPr wrap="square" anchor="ctr" lIns="0" rIns="0" tIns="0" bIns="0">
            <a:spAutoFit/>
          </a:bodyPr>
          <a:lstStyle/>
          <a:p>
            <a:pPr algn="l"/>
            <a:r>
              <a:rPr sz="900" b="1" i="0">
                <a:solidFill>
                  <a:srgbClr val="555B66"/>
                </a:solidFill>
                <a:latin typeface="Arial"/>
              </a:rPr>
              <a:t>Le Conversion Tracker est en cours de validation : </a:t>
            </a:r>
            <a:r>
              <a:rPr sz="900" b="0" i="0">
                <a:solidFill>
                  <a:srgbClr val="555B66"/>
                </a:solidFill>
                <a:latin typeface="Arial"/>
              </a:rPr>
              <a:t>l'intégration a été réalisée le 7 octobre. Les conversions apparaîtront dans ce rapport dès que la remontée des données sera validée.</a:t>
            </a:r>
          </a:p>
        </p:txBody>
      </p:sp>
      <p:sp>
        <p:nvSpPr>
          <p:cNvPr id="52" name="TextBox 51"/>
          <p:cNvSpPr txBox="1"/>
          <p:nvPr/>
        </p:nvSpPr>
        <p:spPr>
          <a:xfrm>
            <a:off x="530352" y="3322320"/>
            <a:ext cx="7315200" cy="182880"/>
          </a:xfrm>
          <a:prstGeom prst="rect">
            <a:avLst/>
          </a:prstGeom>
          <a:noFill/>
        </p:spPr>
        <p:txBody>
          <a:bodyPr wrap="square" anchor="t" lIns="0" rIns="0" tIns="0" bIns="0">
            <a:spAutoFit/>
          </a:bodyPr>
          <a:lstStyle/>
          <a:p>
            <a:pPr algn="l"/>
            <a:r>
              <a:rPr sz="1400" b="1" i="0">
                <a:solidFill>
                  <a:srgbClr val="EE6A2C"/>
                </a:solidFill>
                <a:latin typeface="Arial"/>
              </a:rPr>
              <a:t>INSIGHTS QUALITATIFS · ANALYSE DES RECHERCHES</a:t>
            </a:r>
          </a:p>
        </p:txBody>
      </p:sp>
      <p:sp>
        <p:nvSpPr>
          <p:cNvPr id="53" name="Rectangle 52"/>
          <p:cNvSpPr/>
          <p:nvPr/>
        </p:nvSpPr>
        <p:spPr>
          <a:xfrm>
            <a:off x="530352" y="3584448"/>
            <a:ext cx="3401568" cy="2560320"/>
          </a:xfrm>
          <a:prstGeom prst="rect">
            <a:avLst/>
          </a:prstGeom>
          <a:solidFill>
            <a:srgbClr val="FFFFFF"/>
          </a:solidFill>
          <a:ln>
            <a:noFill/>
          </a:ln>
          <a:effectLst/>
        </p:spPr>
        <p:txBody>
          <a:bodyPr rtlCol="0" anchor="ctr"/>
          <a:lstStyle/>
          <a:p>
            <a:pPr algn="ctr"/>
          </a:p>
        </p:txBody>
      </p:sp>
      <p:sp>
        <p:nvSpPr>
          <p:cNvPr id="54" name="Rectangle 53"/>
          <p:cNvSpPr/>
          <p:nvPr/>
        </p:nvSpPr>
        <p:spPr>
          <a:xfrm>
            <a:off x="4194048" y="3584448"/>
            <a:ext cx="3401568" cy="2560320"/>
          </a:xfrm>
          <a:prstGeom prst="rect">
            <a:avLst/>
          </a:prstGeom>
          <a:solidFill>
            <a:srgbClr val="FFFFFF"/>
          </a:solidFill>
          <a:ln>
            <a:noFill/>
          </a:ln>
          <a:effectLst/>
        </p:spPr>
        <p:txBody>
          <a:bodyPr rtlCol="0" anchor="ctr"/>
          <a:lstStyle/>
          <a:p>
            <a:pPr algn="ctr"/>
          </a:p>
        </p:txBody>
      </p:sp>
      <p:sp>
        <p:nvSpPr>
          <p:cNvPr id="55" name="Rectangle 54"/>
          <p:cNvSpPr/>
          <p:nvPr/>
        </p:nvSpPr>
        <p:spPr>
          <a:xfrm>
            <a:off x="7857744" y="3584448"/>
            <a:ext cx="3401568" cy="2560320"/>
          </a:xfrm>
          <a:prstGeom prst="rect">
            <a:avLst/>
          </a:prstGeom>
          <a:solidFill>
            <a:srgbClr val="FFFFFF"/>
          </a:solidFill>
          <a:ln>
            <a:noFill/>
          </a:ln>
          <a:effectLst/>
        </p:spPr>
        <p:txBody>
          <a:bodyPr rtlCol="0" anchor="ctr"/>
          <a:lstStyle/>
          <a:p>
            <a:pPr algn="ctr"/>
          </a:p>
        </p:txBody>
      </p:sp>
      <p:sp>
        <p:nvSpPr>
          <p:cNvPr id="56" name="TextBox 55"/>
          <p:cNvSpPr txBox="1"/>
          <p:nvPr/>
        </p:nvSpPr>
        <p:spPr>
          <a:xfrm>
            <a:off x="774192" y="3767328"/>
            <a:ext cx="2926080" cy="152400"/>
          </a:xfrm>
          <a:prstGeom prst="rect">
            <a:avLst/>
          </a:prstGeom>
          <a:noFill/>
        </p:spPr>
        <p:txBody>
          <a:bodyPr wrap="square" anchor="t" lIns="0" rIns="0" tIns="0" bIns="0">
            <a:spAutoFit/>
          </a:bodyPr>
          <a:lstStyle/>
          <a:p>
            <a:pPr algn="l"/>
            <a:r>
              <a:rPr sz="1300" b="1" i="0">
                <a:solidFill>
                  <a:srgbClr val="555B66"/>
                </a:solidFill>
                <a:latin typeface="Arial"/>
              </a:rPr>
              <a:t>CHAMP LEXICAL</a:t>
            </a:r>
          </a:p>
        </p:txBody>
      </p:sp>
      <p:sp>
        <p:nvSpPr>
          <p:cNvPr id="57" name="TextBox 56"/>
          <p:cNvSpPr txBox="1"/>
          <p:nvPr/>
        </p:nvSpPr>
        <p:spPr>
          <a:xfrm>
            <a:off x="774192" y="3992880"/>
            <a:ext cx="2926080" cy="121920"/>
          </a:xfrm>
          <a:prstGeom prst="rect">
            <a:avLst/>
          </a:prstGeom>
          <a:noFill/>
        </p:spPr>
        <p:txBody>
          <a:bodyPr wrap="square" anchor="t" lIns="0" rIns="0" tIns="0" bIns="0">
            <a:spAutoFit/>
          </a:bodyPr>
          <a:lstStyle/>
          <a:p>
            <a:pPr algn="l"/>
            <a:r>
              <a:rPr sz="1000" b="0" i="1">
                <a:solidFill>
                  <a:srgbClr val="8A93A6"/>
                </a:solidFill>
                <a:latin typeface="Arial"/>
              </a:rPr>
              <a:t>Termes les plus fréquents</a:t>
            </a:r>
          </a:p>
        </p:txBody>
      </p:sp>
      <p:sp>
        <p:nvSpPr>
          <p:cNvPr id="58" name="TextBox 57"/>
          <p:cNvSpPr txBox="1"/>
          <p:nvPr/>
        </p:nvSpPr>
        <p:spPr>
          <a:xfrm>
            <a:off x="774192" y="4236720"/>
            <a:ext cx="2987040" cy="1828800"/>
          </a:xfrm>
          <a:prstGeom prst="rect">
            <a:avLst/>
          </a:prstGeom>
          <a:noFill/>
        </p:spPr>
        <p:txBody>
          <a:bodyPr wrap="square" anchor="t" lIns="0" rIns="0" tIns="0" bIns="0">
            <a:spAutoFit/>
          </a:bodyPr>
          <a:lstStyle/>
          <a:p>
            <a:pPr algn="l">
              <a:spcAft>
                <a:spcPts val="500"/>
              </a:spcAft>
            </a:pPr>
            <a:r>
              <a:rPr sz="1800" b="1" i="0">
                <a:solidFill>
                  <a:srgbClr val="EE6A2C"/>
                </a:solidFill>
                <a:latin typeface="Arial"/>
              </a:rPr>
              <a:t>création d'entreprise</a:t>
            </a:r>
            <a:r>
              <a:rPr sz="1600" b="1" i="0">
                <a:solidFill>
                  <a:srgbClr val="111111"/>
                </a:solidFill>
                <a:latin typeface="Arial"/>
              </a:rPr>
              <a:t>   compte pro</a:t>
            </a:r>
          </a:p>
          <a:p>
            <a:pPr algn="l">
              <a:spcAft>
                <a:spcPts val="500"/>
              </a:spcAft>
            </a:pPr>
            <a:r>
              <a:rPr sz="1500" b="1" i="0">
                <a:solidFill>
                  <a:srgbClr val="111111"/>
                </a:solidFill>
                <a:latin typeface="Arial"/>
              </a:rPr>
              <a:t>Boursorama</a:t>
            </a:r>
            <a:r>
              <a:rPr sz="1400" b="1" i="0">
                <a:solidFill>
                  <a:srgbClr val="111111"/>
                </a:solidFill>
                <a:latin typeface="Arial"/>
              </a:rPr>
              <a:t>   BNP Paribas</a:t>
            </a:r>
          </a:p>
          <a:p>
            <a:pPr algn="l">
              <a:spcAft>
                <a:spcPts val="500"/>
              </a:spcAft>
            </a:pPr>
            <a:r>
              <a:rPr sz="1300" b="1" i="0">
                <a:solidFill>
                  <a:srgbClr val="EE6A2C"/>
                </a:solidFill>
                <a:latin typeface="Arial"/>
              </a:rPr>
              <a:t>Revolut Business</a:t>
            </a:r>
            <a:r>
              <a:rPr sz="1200" b="0" i="0">
                <a:solidFill>
                  <a:srgbClr val="111111"/>
                </a:solidFill>
                <a:latin typeface="Arial"/>
              </a:rPr>
              <a:t>   Shine</a:t>
            </a:r>
          </a:p>
          <a:p>
            <a:pPr algn="l">
              <a:spcAft>
                <a:spcPts val="500"/>
              </a:spcAft>
            </a:pPr>
            <a:r>
              <a:rPr sz="1100" b="1" i="0">
                <a:solidFill>
                  <a:srgbClr val="EE6A2C"/>
                </a:solidFill>
                <a:latin typeface="Arial"/>
              </a:rPr>
              <a:t>retraite</a:t>
            </a:r>
            <a:r>
              <a:rPr sz="1100" b="1" i="0">
                <a:solidFill>
                  <a:srgbClr val="111111"/>
                </a:solidFill>
                <a:latin typeface="Arial"/>
              </a:rPr>
              <a:t>   vol de portefeuille</a:t>
            </a:r>
          </a:p>
          <a:p>
            <a:pPr algn="l">
              <a:spcAft>
                <a:spcPts val="500"/>
              </a:spcAft>
            </a:pPr>
            <a:r>
              <a:rPr sz="1100" b="1" i="0">
                <a:solidFill>
                  <a:srgbClr val="111111"/>
                </a:solidFill>
                <a:latin typeface="Arial"/>
              </a:rPr>
              <a:t>carte perdue</a:t>
            </a:r>
            <a:r>
              <a:rPr sz="1100" b="0" i="0">
                <a:solidFill>
                  <a:srgbClr val="111111"/>
                </a:solidFill>
                <a:latin typeface="Arial"/>
              </a:rPr>
              <a:t>   LCL</a:t>
            </a:r>
            <a:r>
              <a:rPr sz="1100" b="0" i="0">
                <a:solidFill>
                  <a:srgbClr val="EE6A2C"/>
                </a:solidFill>
                <a:latin typeface="Arial"/>
              </a:rPr>
              <a:t>   Crédit Agricole</a:t>
            </a:r>
          </a:p>
          <a:p>
            <a:pPr algn="l">
              <a:spcAft>
                <a:spcPts val="500"/>
              </a:spcAft>
            </a:pPr>
            <a:r>
              <a:rPr sz="1100" b="1" i="0">
                <a:solidFill>
                  <a:srgbClr val="111111"/>
                </a:solidFill>
                <a:latin typeface="Arial"/>
              </a:rPr>
              <a:t>banque en ligne</a:t>
            </a:r>
            <a:r>
              <a:rPr sz="1100" b="0" i="0">
                <a:solidFill>
                  <a:srgbClr val="111111"/>
                </a:solidFill>
                <a:latin typeface="Arial"/>
              </a:rPr>
              <a:t>   professionnels</a:t>
            </a:r>
          </a:p>
        </p:txBody>
      </p:sp>
      <p:sp>
        <p:nvSpPr>
          <p:cNvPr id="59" name="TextBox 58"/>
          <p:cNvSpPr txBox="1"/>
          <p:nvPr/>
        </p:nvSpPr>
        <p:spPr>
          <a:xfrm>
            <a:off x="4437888" y="3767328"/>
            <a:ext cx="2926080" cy="152400"/>
          </a:xfrm>
          <a:prstGeom prst="rect">
            <a:avLst/>
          </a:prstGeom>
          <a:noFill/>
        </p:spPr>
        <p:txBody>
          <a:bodyPr wrap="square" anchor="t" lIns="0" rIns="0" tIns="0" bIns="0">
            <a:spAutoFit/>
          </a:bodyPr>
          <a:lstStyle/>
          <a:p>
            <a:pPr algn="l"/>
            <a:r>
              <a:rPr sz="1300" b="1" i="0">
                <a:solidFill>
                  <a:srgbClr val="555B66"/>
                </a:solidFill>
                <a:latin typeface="Arial"/>
              </a:rPr>
              <a:t>EXEMPLES DE REQUÊTES</a:t>
            </a:r>
          </a:p>
        </p:txBody>
      </p:sp>
      <p:sp>
        <p:nvSpPr>
          <p:cNvPr id="60" name="TextBox 59"/>
          <p:cNvSpPr txBox="1"/>
          <p:nvPr/>
        </p:nvSpPr>
        <p:spPr>
          <a:xfrm>
            <a:off x="4437888" y="3992880"/>
            <a:ext cx="2926080" cy="121920"/>
          </a:xfrm>
          <a:prstGeom prst="rect">
            <a:avLst/>
          </a:prstGeom>
          <a:noFill/>
        </p:spPr>
        <p:txBody>
          <a:bodyPr wrap="square" anchor="t" lIns="0" rIns="0" tIns="0" bIns="0">
            <a:spAutoFit/>
          </a:bodyPr>
          <a:lstStyle/>
          <a:p>
            <a:pPr algn="l"/>
            <a:r>
              <a:rPr sz="1000" b="0" i="1">
                <a:solidFill>
                  <a:srgbClr val="8A93A6"/>
                </a:solidFill>
                <a:latin typeface="Arial"/>
              </a:rPr>
              <a:t>Questions posées aux IA</a:t>
            </a:r>
          </a:p>
        </p:txBody>
      </p:sp>
      <p:sp>
        <p:nvSpPr>
          <p:cNvPr id="61" name="TextBox 60"/>
          <p:cNvSpPr txBox="1"/>
          <p:nvPr/>
        </p:nvSpPr>
        <p:spPr>
          <a:xfrm>
            <a:off x="4437888" y="4267200"/>
            <a:ext cx="2913888" cy="304800"/>
          </a:xfrm>
          <a:prstGeom prst="rect">
            <a:avLst/>
          </a:prstGeom>
          <a:noFill/>
        </p:spPr>
        <p:txBody>
          <a:bodyPr wrap="square" anchor="ctr" lIns="0" rIns="0" tIns="0" bIns="0">
            <a:spAutoFit/>
          </a:bodyPr>
          <a:lstStyle/>
          <a:p>
            <a:pPr algn="l"/>
            <a:r>
              <a:rPr sz="1000" b="0" i="0">
                <a:solidFill>
                  <a:srgbClr val="111111"/>
                </a:solidFill>
                <a:latin typeface="Arial"/>
              </a:rPr>
              <a:t>À compléter : le rapport d'insights ne fournit pas d'exemples de requêtes pour Qonto</a:t>
            </a:r>
          </a:p>
        </p:txBody>
      </p:sp>
      <p:sp>
        <p:nvSpPr>
          <p:cNvPr id="62" name="TextBox 61"/>
          <p:cNvSpPr txBox="1"/>
          <p:nvPr/>
        </p:nvSpPr>
        <p:spPr>
          <a:xfrm>
            <a:off x="8101584" y="3767328"/>
            <a:ext cx="2926080" cy="152400"/>
          </a:xfrm>
          <a:prstGeom prst="rect">
            <a:avLst/>
          </a:prstGeom>
          <a:noFill/>
        </p:spPr>
        <p:txBody>
          <a:bodyPr wrap="square" anchor="t" lIns="0" rIns="0" tIns="0" bIns="0">
            <a:spAutoFit/>
          </a:bodyPr>
          <a:lstStyle/>
          <a:p>
            <a:pPr algn="l"/>
            <a:r>
              <a:rPr sz="1300" b="1" i="0">
                <a:solidFill>
                  <a:srgbClr val="555B66"/>
                </a:solidFill>
                <a:latin typeface="Arial"/>
              </a:rPr>
              <a:t>CATÉGORIES DE PRODUITS</a:t>
            </a:r>
          </a:p>
        </p:txBody>
      </p:sp>
      <p:sp>
        <p:nvSpPr>
          <p:cNvPr id="63" name="TextBox 62"/>
          <p:cNvSpPr txBox="1"/>
          <p:nvPr/>
        </p:nvSpPr>
        <p:spPr>
          <a:xfrm>
            <a:off x="8101584" y="3992880"/>
            <a:ext cx="2926080" cy="121920"/>
          </a:xfrm>
          <a:prstGeom prst="rect">
            <a:avLst/>
          </a:prstGeom>
          <a:noFill/>
        </p:spPr>
        <p:txBody>
          <a:bodyPr wrap="square" anchor="t" lIns="0" rIns="0" tIns="0" bIns="0">
            <a:spAutoFit/>
          </a:bodyPr>
          <a:lstStyle/>
          <a:p>
            <a:pPr algn="l"/>
            <a:r>
              <a:rPr sz="1000" b="0" i="1">
                <a:solidFill>
                  <a:srgbClr val="8A93A6"/>
                </a:solidFill>
                <a:latin typeface="Arial"/>
              </a:rPr>
              <a:t>Répartition des requêtes</a:t>
            </a:r>
          </a:p>
        </p:txBody>
      </p:sp>
      <p:sp>
        <p:nvSpPr>
          <p:cNvPr id="64" name="TextBox 63"/>
          <p:cNvSpPr txBox="1"/>
          <p:nvPr/>
        </p:nvSpPr>
        <p:spPr>
          <a:xfrm>
            <a:off x="8101584" y="4267200"/>
            <a:ext cx="2194560" cy="134112"/>
          </a:xfrm>
          <a:prstGeom prst="rect">
            <a:avLst/>
          </a:prstGeom>
          <a:noFill/>
        </p:spPr>
        <p:txBody>
          <a:bodyPr wrap="square" anchor="t" lIns="0" rIns="0" tIns="0" bIns="0">
            <a:spAutoFit/>
          </a:bodyPr>
          <a:lstStyle/>
          <a:p>
            <a:pPr algn="l"/>
            <a:r>
              <a:rPr sz="1000" b="0" i="0">
                <a:solidFill>
                  <a:srgbClr val="111111"/>
                </a:solidFill>
                <a:latin typeface="Arial"/>
              </a:rPr>
              <a:t>Compte pro</a:t>
            </a:r>
          </a:p>
        </p:txBody>
      </p:sp>
      <p:sp>
        <p:nvSpPr>
          <p:cNvPr id="65" name="Rectangle 64"/>
          <p:cNvSpPr/>
          <p:nvPr/>
        </p:nvSpPr>
        <p:spPr>
          <a:xfrm>
            <a:off x="8101584" y="4419600"/>
            <a:ext cx="2011680" cy="54864"/>
          </a:xfrm>
          <a:prstGeom prst="rect">
            <a:avLst/>
          </a:prstGeom>
          <a:solidFill>
            <a:srgbClr val="ECEAE5"/>
          </a:solidFill>
          <a:ln>
            <a:noFill/>
          </a:ln>
          <a:effectLst/>
        </p:spPr>
        <p:txBody>
          <a:bodyPr rtlCol="0" anchor="ctr"/>
          <a:lstStyle/>
          <a:p>
            <a:pPr algn="ctr"/>
          </a:p>
        </p:txBody>
      </p:sp>
      <p:sp>
        <p:nvSpPr>
          <p:cNvPr id="66" name="Rectangle 65"/>
          <p:cNvSpPr/>
          <p:nvPr/>
        </p:nvSpPr>
        <p:spPr>
          <a:xfrm>
            <a:off x="8101584" y="4419600"/>
            <a:ext cx="824788" cy="54864"/>
          </a:xfrm>
          <a:prstGeom prst="rect">
            <a:avLst/>
          </a:prstGeom>
          <a:solidFill>
            <a:srgbClr val="EE6A2C"/>
          </a:solidFill>
          <a:ln>
            <a:noFill/>
          </a:ln>
          <a:effectLst/>
        </p:spPr>
        <p:txBody>
          <a:bodyPr rtlCol="0" anchor="ctr"/>
          <a:lstStyle/>
          <a:p>
            <a:pPr algn="ctr"/>
          </a:p>
        </p:txBody>
      </p:sp>
      <p:sp>
        <p:nvSpPr>
          <p:cNvPr id="67" name="TextBox 66"/>
          <p:cNvSpPr txBox="1"/>
          <p:nvPr/>
        </p:nvSpPr>
        <p:spPr>
          <a:xfrm>
            <a:off x="10241280" y="4340352"/>
            <a:ext cx="792480" cy="182880"/>
          </a:xfrm>
          <a:prstGeom prst="rect">
            <a:avLst/>
          </a:prstGeom>
          <a:noFill/>
        </p:spPr>
        <p:txBody>
          <a:bodyPr wrap="square" anchor="ctr" lIns="0" rIns="0" tIns="0" bIns="0">
            <a:spAutoFit/>
          </a:bodyPr>
          <a:lstStyle/>
          <a:p>
            <a:pPr algn="r"/>
            <a:r>
              <a:rPr sz="1300" b="1" i="0">
                <a:solidFill>
                  <a:srgbClr val="111111"/>
                </a:solidFill>
                <a:latin typeface="Arial"/>
              </a:rPr>
              <a:t>41 %</a:t>
            </a:r>
          </a:p>
        </p:txBody>
      </p:sp>
      <p:sp>
        <p:nvSpPr>
          <p:cNvPr id="68" name="TextBox 67"/>
          <p:cNvSpPr txBox="1"/>
          <p:nvPr/>
        </p:nvSpPr>
        <p:spPr>
          <a:xfrm>
            <a:off x="8101584" y="4584192"/>
            <a:ext cx="2194560" cy="134112"/>
          </a:xfrm>
          <a:prstGeom prst="rect">
            <a:avLst/>
          </a:prstGeom>
          <a:noFill/>
        </p:spPr>
        <p:txBody>
          <a:bodyPr wrap="square" anchor="t" lIns="0" rIns="0" tIns="0" bIns="0">
            <a:spAutoFit/>
          </a:bodyPr>
          <a:lstStyle/>
          <a:p>
            <a:pPr algn="l"/>
            <a:r>
              <a:rPr sz="1000" b="0" i="0">
                <a:solidFill>
                  <a:srgbClr val="111111"/>
                </a:solidFill>
                <a:latin typeface="Arial"/>
              </a:rPr>
              <a:t>Création d'entreprise</a:t>
            </a:r>
          </a:p>
        </p:txBody>
      </p:sp>
      <p:sp>
        <p:nvSpPr>
          <p:cNvPr id="69" name="Rectangle 68"/>
          <p:cNvSpPr/>
          <p:nvPr/>
        </p:nvSpPr>
        <p:spPr>
          <a:xfrm>
            <a:off x="8101584" y="4736592"/>
            <a:ext cx="2011680" cy="54864"/>
          </a:xfrm>
          <a:prstGeom prst="rect">
            <a:avLst/>
          </a:prstGeom>
          <a:solidFill>
            <a:srgbClr val="ECEAE5"/>
          </a:solidFill>
          <a:ln>
            <a:noFill/>
          </a:ln>
          <a:effectLst/>
        </p:spPr>
        <p:txBody>
          <a:bodyPr rtlCol="0" anchor="ctr"/>
          <a:lstStyle/>
          <a:p>
            <a:pPr algn="ctr"/>
          </a:p>
        </p:txBody>
      </p:sp>
      <p:sp>
        <p:nvSpPr>
          <p:cNvPr id="70" name="Rectangle 69"/>
          <p:cNvSpPr/>
          <p:nvPr/>
        </p:nvSpPr>
        <p:spPr>
          <a:xfrm>
            <a:off x="8101584" y="4736592"/>
            <a:ext cx="603504" cy="54864"/>
          </a:xfrm>
          <a:prstGeom prst="rect">
            <a:avLst/>
          </a:prstGeom>
          <a:solidFill>
            <a:srgbClr val="9AA3B2"/>
          </a:solidFill>
          <a:ln>
            <a:noFill/>
          </a:ln>
          <a:effectLst/>
        </p:spPr>
        <p:txBody>
          <a:bodyPr rtlCol="0" anchor="ctr"/>
          <a:lstStyle/>
          <a:p>
            <a:pPr algn="ctr"/>
          </a:p>
        </p:txBody>
      </p:sp>
      <p:sp>
        <p:nvSpPr>
          <p:cNvPr id="71" name="TextBox 70"/>
          <p:cNvSpPr txBox="1"/>
          <p:nvPr/>
        </p:nvSpPr>
        <p:spPr>
          <a:xfrm>
            <a:off x="10241280" y="4657344"/>
            <a:ext cx="792480" cy="182880"/>
          </a:xfrm>
          <a:prstGeom prst="rect">
            <a:avLst/>
          </a:prstGeom>
          <a:noFill/>
        </p:spPr>
        <p:txBody>
          <a:bodyPr wrap="square" anchor="ctr" lIns="0" rIns="0" tIns="0" bIns="0">
            <a:spAutoFit/>
          </a:bodyPr>
          <a:lstStyle/>
          <a:p>
            <a:pPr algn="r"/>
            <a:r>
              <a:rPr sz="1300" b="1" i="0">
                <a:solidFill>
                  <a:srgbClr val="111111"/>
                </a:solidFill>
                <a:latin typeface="Arial"/>
              </a:rPr>
              <a:t>30 %</a:t>
            </a:r>
          </a:p>
        </p:txBody>
      </p:sp>
      <p:sp>
        <p:nvSpPr>
          <p:cNvPr id="72" name="TextBox 71"/>
          <p:cNvSpPr txBox="1"/>
          <p:nvPr/>
        </p:nvSpPr>
        <p:spPr>
          <a:xfrm>
            <a:off x="8101584" y="4901184"/>
            <a:ext cx="2194560" cy="134112"/>
          </a:xfrm>
          <a:prstGeom prst="rect">
            <a:avLst/>
          </a:prstGeom>
          <a:noFill/>
        </p:spPr>
        <p:txBody>
          <a:bodyPr wrap="square" anchor="t" lIns="0" rIns="0" tIns="0" bIns="0">
            <a:spAutoFit/>
          </a:bodyPr>
          <a:lstStyle/>
          <a:p>
            <a:pPr algn="l"/>
            <a:r>
              <a:rPr sz="1000" b="0" i="0">
                <a:solidFill>
                  <a:srgbClr val="111111"/>
                </a:solidFill>
                <a:latin typeface="Arial"/>
              </a:rPr>
              <a:t>Facturation</a:t>
            </a:r>
          </a:p>
        </p:txBody>
      </p:sp>
      <p:sp>
        <p:nvSpPr>
          <p:cNvPr id="73" name="Rectangle 72"/>
          <p:cNvSpPr/>
          <p:nvPr/>
        </p:nvSpPr>
        <p:spPr>
          <a:xfrm>
            <a:off x="8101584" y="5053584"/>
            <a:ext cx="2011680" cy="54864"/>
          </a:xfrm>
          <a:prstGeom prst="rect">
            <a:avLst/>
          </a:prstGeom>
          <a:solidFill>
            <a:srgbClr val="ECEAE5"/>
          </a:solidFill>
          <a:ln>
            <a:noFill/>
          </a:ln>
          <a:effectLst/>
        </p:spPr>
        <p:txBody>
          <a:bodyPr rtlCol="0" anchor="ctr"/>
          <a:lstStyle/>
          <a:p>
            <a:pPr algn="ctr"/>
          </a:p>
        </p:txBody>
      </p:sp>
      <p:sp>
        <p:nvSpPr>
          <p:cNvPr id="74" name="Rectangle 73"/>
          <p:cNvSpPr/>
          <p:nvPr/>
        </p:nvSpPr>
        <p:spPr>
          <a:xfrm>
            <a:off x="8101584" y="5053584"/>
            <a:ext cx="583387" cy="54864"/>
          </a:xfrm>
          <a:prstGeom prst="rect">
            <a:avLst/>
          </a:prstGeom>
          <a:solidFill>
            <a:srgbClr val="9AA3B2"/>
          </a:solidFill>
          <a:ln>
            <a:noFill/>
          </a:ln>
          <a:effectLst/>
        </p:spPr>
        <p:txBody>
          <a:bodyPr rtlCol="0" anchor="ctr"/>
          <a:lstStyle/>
          <a:p>
            <a:pPr algn="ctr"/>
          </a:p>
        </p:txBody>
      </p:sp>
      <p:sp>
        <p:nvSpPr>
          <p:cNvPr id="75" name="TextBox 74"/>
          <p:cNvSpPr txBox="1"/>
          <p:nvPr/>
        </p:nvSpPr>
        <p:spPr>
          <a:xfrm>
            <a:off x="10241280" y="4974336"/>
            <a:ext cx="792480" cy="182880"/>
          </a:xfrm>
          <a:prstGeom prst="rect">
            <a:avLst/>
          </a:prstGeom>
          <a:noFill/>
        </p:spPr>
        <p:txBody>
          <a:bodyPr wrap="square" anchor="ctr" lIns="0" rIns="0" tIns="0" bIns="0">
            <a:spAutoFit/>
          </a:bodyPr>
          <a:lstStyle/>
          <a:p>
            <a:pPr algn="r"/>
            <a:r>
              <a:rPr sz="1300" b="1" i="0">
                <a:solidFill>
                  <a:srgbClr val="111111"/>
                </a:solidFill>
                <a:latin typeface="Arial"/>
              </a:rPr>
              <a:t>29 %</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6F2"/>
          </a:solidFill>
          <a:ln>
            <a:noFill/>
          </a:ln>
          <a:effectLst/>
        </p:spPr>
        <p:txBody>
          <a:bodyPr rtlCol="0" anchor="ctr"/>
          <a:lstStyle/>
          <a:p>
            <a:pPr algn="ctr"/>
          </a:p>
        </p:txBody>
      </p:sp>
      <p:sp>
        <p:nvSpPr>
          <p:cNvPr id="3" name="TextBox 2"/>
          <p:cNvSpPr txBox="1"/>
          <p:nvPr/>
        </p:nvSpPr>
        <p:spPr>
          <a:xfrm>
            <a:off x="579120" y="426720"/>
            <a:ext cx="7315200" cy="182880"/>
          </a:xfrm>
          <a:prstGeom prst="rect">
            <a:avLst/>
          </a:prstGeom>
          <a:noFill/>
        </p:spPr>
        <p:txBody>
          <a:bodyPr wrap="square" anchor="t" lIns="0" rIns="0" tIns="0" bIns="0">
            <a:spAutoFit/>
          </a:bodyPr>
          <a:lstStyle/>
          <a:p>
            <a:pPr algn="l"/>
            <a:r>
              <a:rPr sz="1300" b="1" i="0">
                <a:solidFill>
                  <a:srgbClr val="EE6A2C"/>
                </a:solidFill>
                <a:latin typeface="Arial"/>
              </a:rPr>
              <a:t>INSIGHTS QUALITATIFS · SEPTEMBRE 2026</a:t>
            </a:r>
          </a:p>
        </p:txBody>
      </p:sp>
      <p:sp>
        <p:nvSpPr>
          <p:cNvPr id="4" name="TextBox 3"/>
          <p:cNvSpPr txBox="1"/>
          <p:nvPr/>
        </p:nvSpPr>
        <p:spPr>
          <a:xfrm>
            <a:off x="579120" y="609600"/>
            <a:ext cx="7315200" cy="487680"/>
          </a:xfrm>
          <a:prstGeom prst="rect">
            <a:avLst/>
          </a:prstGeom>
          <a:noFill/>
        </p:spPr>
        <p:txBody>
          <a:bodyPr wrap="square" anchor="t" lIns="0" rIns="0" tIns="0" bIns="0">
            <a:spAutoFit/>
          </a:bodyPr>
          <a:lstStyle/>
          <a:p>
            <a:pPr algn="l"/>
            <a:r>
              <a:rPr sz="3600" b="1" i="0">
                <a:solidFill>
                  <a:srgbClr val="111111"/>
                </a:solidFill>
                <a:latin typeface="Arial"/>
              </a:rPr>
              <a:t>Qonto</a:t>
            </a:r>
          </a:p>
        </p:txBody>
      </p:sp>
      <p:sp>
        <p:nvSpPr>
          <p:cNvPr id="5" name="TextBox 4"/>
          <p:cNvSpPr txBox="1"/>
          <p:nvPr/>
        </p:nvSpPr>
        <p:spPr>
          <a:xfrm>
            <a:off x="9144000" y="499872"/>
            <a:ext cx="1889760" cy="182880"/>
          </a:xfrm>
          <a:prstGeom prst="rect">
            <a:avLst/>
          </a:prstGeom>
          <a:noFill/>
        </p:spPr>
        <p:txBody>
          <a:bodyPr wrap="square" anchor="t" lIns="0" rIns="0" tIns="0" bIns="0">
            <a:spAutoFit/>
          </a:bodyPr>
          <a:lstStyle/>
          <a:p>
            <a:pPr algn="r"/>
            <a:r>
              <a:rPr sz="1500" b="1" i="0">
                <a:solidFill>
                  <a:srgbClr val="111111"/>
                </a:solidFill>
                <a:latin typeface="Arial"/>
              </a:rPr>
              <a:t>Lemrock</a:t>
            </a:r>
          </a:p>
        </p:txBody>
      </p:sp>
      <p:sp>
        <p:nvSpPr>
          <p:cNvPr id="6" name="TextBox 5"/>
          <p:cNvSpPr txBox="1"/>
          <p:nvPr/>
        </p:nvSpPr>
        <p:spPr>
          <a:xfrm>
            <a:off x="579120" y="1219200"/>
            <a:ext cx="9144000" cy="182880"/>
          </a:xfrm>
          <a:prstGeom prst="rect">
            <a:avLst/>
          </a:prstGeom>
          <a:noFill/>
        </p:spPr>
        <p:txBody>
          <a:bodyPr wrap="square" anchor="t" lIns="0" rIns="0" tIns="0" bIns="0">
            <a:spAutoFit/>
          </a:bodyPr>
          <a:lstStyle/>
          <a:p>
            <a:pPr algn="l"/>
            <a:r>
              <a:rPr sz="1300" b="1" i="0">
                <a:solidFill>
                  <a:srgbClr val="EE6A2C"/>
                </a:solidFill>
                <a:latin typeface="Arial"/>
              </a:rPr>
              <a:t>OBJECTIF   </a:t>
            </a:r>
            <a:r>
              <a:rPr sz="1300" b="0" i="0">
                <a:solidFill>
                  <a:srgbClr val="111111"/>
                </a:solidFill>
                <a:latin typeface="Arial"/>
              </a:rPr>
              <a:t>À définir</a:t>
            </a:r>
          </a:p>
        </p:txBody>
      </p:sp>
      <p:sp>
        <p:nvSpPr>
          <p:cNvPr id="7" name="TextBox 6"/>
          <p:cNvSpPr txBox="1"/>
          <p:nvPr/>
        </p:nvSpPr>
        <p:spPr>
          <a:xfrm>
            <a:off x="579120" y="1524000"/>
            <a:ext cx="4876800" cy="182880"/>
          </a:xfrm>
          <a:prstGeom prst="rect">
            <a:avLst/>
          </a:prstGeom>
          <a:noFill/>
        </p:spPr>
        <p:txBody>
          <a:bodyPr wrap="square" anchor="t" lIns="0" rIns="0" tIns="0" bIns="0">
            <a:spAutoFit/>
          </a:bodyPr>
          <a:lstStyle/>
          <a:p>
            <a:pPr algn="l"/>
            <a:r>
              <a:rPr sz="1400" b="1" i="0">
                <a:solidFill>
                  <a:srgbClr val="555B66"/>
                </a:solidFill>
                <a:latin typeface="Arial"/>
              </a:rPr>
              <a:t>INSIGHTS QUALITATIFS</a:t>
            </a:r>
          </a:p>
        </p:txBody>
      </p:sp>
      <p:sp>
        <p:nvSpPr>
          <p:cNvPr id="8" name="Rectangle 7"/>
          <p:cNvSpPr/>
          <p:nvPr/>
        </p:nvSpPr>
        <p:spPr>
          <a:xfrm>
            <a:off x="579120" y="1816608"/>
            <a:ext cx="5071872" cy="2121408"/>
          </a:xfrm>
          <a:prstGeom prst="rect">
            <a:avLst/>
          </a:prstGeom>
          <a:solidFill>
            <a:srgbClr val="FFFFFF"/>
          </a:solidFill>
          <a:ln>
            <a:noFill/>
          </a:ln>
          <a:effectLst/>
        </p:spPr>
        <p:txBody>
          <a:bodyPr rtlCol="0" anchor="ctr"/>
          <a:lstStyle/>
          <a:p>
            <a:pPr algn="ctr"/>
          </a:p>
        </p:txBody>
      </p:sp>
      <p:sp>
        <p:nvSpPr>
          <p:cNvPr id="9" name="TextBox 8"/>
          <p:cNvSpPr txBox="1"/>
          <p:nvPr/>
        </p:nvSpPr>
        <p:spPr>
          <a:xfrm>
            <a:off x="835152" y="2029968"/>
            <a:ext cx="487680" cy="243840"/>
          </a:xfrm>
          <a:prstGeom prst="rect">
            <a:avLst/>
          </a:prstGeom>
          <a:noFill/>
        </p:spPr>
        <p:txBody>
          <a:bodyPr wrap="square" anchor="t" lIns="0" rIns="0" tIns="0" bIns="0">
            <a:spAutoFit/>
          </a:bodyPr>
          <a:lstStyle/>
          <a:p>
            <a:pPr algn="l"/>
            <a:r>
              <a:rPr sz="2000" b="1" i="0">
                <a:solidFill>
                  <a:srgbClr val="EE6A2C"/>
                </a:solidFill>
                <a:latin typeface="Arial"/>
              </a:rPr>
              <a:t>01</a:t>
            </a:r>
          </a:p>
        </p:txBody>
      </p:sp>
      <p:sp>
        <p:nvSpPr>
          <p:cNvPr id="10" name="TextBox 9"/>
          <p:cNvSpPr txBox="1"/>
          <p:nvPr/>
        </p:nvSpPr>
        <p:spPr>
          <a:xfrm>
            <a:off x="1383792" y="2048256"/>
            <a:ext cx="4023360" cy="365760"/>
          </a:xfrm>
          <a:prstGeom prst="rect">
            <a:avLst/>
          </a:prstGeom>
          <a:noFill/>
        </p:spPr>
        <p:txBody>
          <a:bodyPr wrap="square" anchor="t" lIns="0" rIns="0" tIns="0" bIns="0">
            <a:spAutoFit/>
          </a:bodyPr>
          <a:lstStyle/>
          <a:p>
            <a:pPr algn="l"/>
            <a:r>
              <a:rPr sz="1400" b="1" i="0">
                <a:solidFill>
                  <a:srgbClr val="111111"/>
                </a:solidFill>
                <a:latin typeface="Arial"/>
              </a:rPr>
              <a:t>La facturation clique le plus</a:t>
            </a:r>
          </a:p>
        </p:txBody>
      </p:sp>
      <p:sp>
        <p:nvSpPr>
          <p:cNvPr id="11" name="TextBox 10"/>
          <p:cNvSpPr txBox="1"/>
          <p:nvPr/>
        </p:nvSpPr>
        <p:spPr>
          <a:xfrm>
            <a:off x="835152" y="2609088"/>
            <a:ext cx="4572000" cy="731520"/>
          </a:xfrm>
          <a:prstGeom prst="rect">
            <a:avLst/>
          </a:prstGeom>
          <a:noFill/>
        </p:spPr>
        <p:txBody>
          <a:bodyPr wrap="square" anchor="t" lIns="0" rIns="0" tIns="0" bIns="0">
            <a:spAutoFit/>
          </a:bodyPr>
          <a:lstStyle/>
          <a:p>
            <a:pPr algn="l"/>
            <a:r>
              <a:rPr sz="1100" b="0" i="0">
                <a:solidFill>
                  <a:srgbClr val="555B66"/>
                </a:solidFill>
                <a:latin typeface="Arial"/>
              </a:rPr>
              <a:t>L'annonce « Logiciel de facturation gratuit » atteint 1,13 fois le CTR moyen.</a:t>
            </a:r>
          </a:p>
        </p:txBody>
      </p:sp>
      <p:sp>
        <p:nvSpPr>
          <p:cNvPr id="12" name="TextBox 11"/>
          <p:cNvSpPr txBox="1"/>
          <p:nvPr/>
        </p:nvSpPr>
        <p:spPr>
          <a:xfrm>
            <a:off x="835152" y="3310128"/>
            <a:ext cx="4572000" cy="487680"/>
          </a:xfrm>
          <a:prstGeom prst="rect">
            <a:avLst/>
          </a:prstGeom>
          <a:noFill/>
        </p:spPr>
        <p:txBody>
          <a:bodyPr wrap="square" anchor="t" lIns="0" rIns="0" tIns="0" bIns="0">
            <a:spAutoFit/>
          </a:bodyPr>
          <a:lstStyle/>
          <a:p>
            <a:pPr algn="l"/>
            <a:r>
              <a:rPr sz="900" b="1" i="0">
                <a:solidFill>
                  <a:srgbClr val="555B66"/>
                </a:solidFill>
                <a:latin typeface="Arial"/>
              </a:rPr>
              <a:t>→  Mettre en avant la facturation électronique, à l'approche de la réforme.</a:t>
            </a:r>
          </a:p>
        </p:txBody>
      </p:sp>
      <p:sp>
        <p:nvSpPr>
          <p:cNvPr id="13" name="Rectangle 12"/>
          <p:cNvSpPr/>
          <p:nvPr/>
        </p:nvSpPr>
        <p:spPr>
          <a:xfrm>
            <a:off x="5992368" y="1816608"/>
            <a:ext cx="5071872" cy="2121408"/>
          </a:xfrm>
          <a:prstGeom prst="rect">
            <a:avLst/>
          </a:prstGeom>
          <a:solidFill>
            <a:srgbClr val="FFFFFF"/>
          </a:solidFill>
          <a:ln>
            <a:noFill/>
          </a:ln>
          <a:effectLst/>
        </p:spPr>
        <p:txBody>
          <a:bodyPr rtlCol="0" anchor="ctr"/>
          <a:lstStyle/>
          <a:p>
            <a:pPr algn="ctr"/>
          </a:p>
        </p:txBody>
      </p:sp>
      <p:sp>
        <p:nvSpPr>
          <p:cNvPr id="14" name="TextBox 13"/>
          <p:cNvSpPr txBox="1"/>
          <p:nvPr/>
        </p:nvSpPr>
        <p:spPr>
          <a:xfrm>
            <a:off x="6248400" y="2029968"/>
            <a:ext cx="487680" cy="243840"/>
          </a:xfrm>
          <a:prstGeom prst="rect">
            <a:avLst/>
          </a:prstGeom>
          <a:noFill/>
        </p:spPr>
        <p:txBody>
          <a:bodyPr wrap="square" anchor="t" lIns="0" rIns="0" tIns="0" bIns="0">
            <a:spAutoFit/>
          </a:bodyPr>
          <a:lstStyle/>
          <a:p>
            <a:pPr algn="l"/>
            <a:r>
              <a:rPr sz="2000" b="1" i="0">
                <a:solidFill>
                  <a:srgbClr val="EE6A2C"/>
                </a:solidFill>
                <a:latin typeface="Arial"/>
              </a:rPr>
              <a:t>02</a:t>
            </a:r>
          </a:p>
        </p:txBody>
      </p:sp>
      <p:sp>
        <p:nvSpPr>
          <p:cNvPr id="15" name="TextBox 14"/>
          <p:cNvSpPr txBox="1"/>
          <p:nvPr/>
        </p:nvSpPr>
        <p:spPr>
          <a:xfrm>
            <a:off x="6797040" y="2048256"/>
            <a:ext cx="4023360" cy="365760"/>
          </a:xfrm>
          <a:prstGeom prst="rect">
            <a:avLst/>
          </a:prstGeom>
          <a:noFill/>
        </p:spPr>
        <p:txBody>
          <a:bodyPr wrap="square" anchor="t" lIns="0" rIns="0" tIns="0" bIns="0">
            <a:spAutoFit/>
          </a:bodyPr>
          <a:lstStyle/>
          <a:p>
            <a:pPr algn="l"/>
            <a:r>
              <a:rPr sz="1400" b="1" i="0">
                <a:solidFill>
                  <a:srgbClr val="111111"/>
                </a:solidFill>
                <a:latin typeface="Arial"/>
              </a:rPr>
              <a:t>La création d'entreprise fonctionne bien</a:t>
            </a:r>
          </a:p>
        </p:txBody>
      </p:sp>
      <p:sp>
        <p:nvSpPr>
          <p:cNvPr id="16" name="TextBox 15"/>
          <p:cNvSpPr txBox="1"/>
          <p:nvPr/>
        </p:nvSpPr>
        <p:spPr>
          <a:xfrm>
            <a:off x="6248400" y="2609088"/>
            <a:ext cx="4572000" cy="731520"/>
          </a:xfrm>
          <a:prstGeom prst="rect">
            <a:avLst/>
          </a:prstGeom>
          <a:noFill/>
        </p:spPr>
        <p:txBody>
          <a:bodyPr wrap="square" anchor="t" lIns="0" rIns="0" tIns="0" bIns="0">
            <a:spAutoFit/>
          </a:bodyPr>
          <a:lstStyle/>
          <a:p>
            <a:pPr algn="l"/>
            <a:r>
              <a:rPr sz="1100" b="0" i="0">
                <a:solidFill>
                  <a:srgbClr val="555B66"/>
                </a:solidFill>
                <a:latin typeface="Arial"/>
              </a:rPr>
              <a:t>L'annonce création d'entreprise atteint 1,06 fois la moyenne.</a:t>
            </a:r>
          </a:p>
        </p:txBody>
      </p:sp>
      <p:sp>
        <p:nvSpPr>
          <p:cNvPr id="17" name="TextBox 16"/>
          <p:cNvSpPr txBox="1"/>
          <p:nvPr/>
        </p:nvSpPr>
        <p:spPr>
          <a:xfrm>
            <a:off x="6248400" y="3310128"/>
            <a:ext cx="4572000" cy="487680"/>
          </a:xfrm>
          <a:prstGeom prst="rect">
            <a:avLst/>
          </a:prstGeom>
          <a:noFill/>
        </p:spPr>
        <p:txBody>
          <a:bodyPr wrap="square" anchor="t" lIns="0" rIns="0" tIns="0" bIns="0">
            <a:spAutoFit/>
          </a:bodyPr>
          <a:lstStyle/>
          <a:p>
            <a:pPr algn="l"/>
            <a:r>
              <a:rPr sz="900" b="1" i="0">
                <a:solidFill>
                  <a:srgbClr val="555B66"/>
                </a:solidFill>
                <a:latin typeface="Arial"/>
              </a:rPr>
              <a:t>→  Cibler les moments de création (statuts, dépôt de capital, immatriculation).</a:t>
            </a:r>
          </a:p>
        </p:txBody>
      </p:sp>
      <p:sp>
        <p:nvSpPr>
          <p:cNvPr id="18" name="Rectangle 17"/>
          <p:cNvSpPr/>
          <p:nvPr/>
        </p:nvSpPr>
        <p:spPr>
          <a:xfrm>
            <a:off x="579120" y="4133088"/>
            <a:ext cx="5071872" cy="2121408"/>
          </a:xfrm>
          <a:prstGeom prst="rect">
            <a:avLst/>
          </a:prstGeom>
          <a:solidFill>
            <a:srgbClr val="FFFFFF"/>
          </a:solidFill>
          <a:ln>
            <a:noFill/>
          </a:ln>
          <a:effectLst/>
        </p:spPr>
        <p:txBody>
          <a:bodyPr rtlCol="0" anchor="ctr"/>
          <a:lstStyle/>
          <a:p>
            <a:pPr algn="ctr"/>
          </a:p>
        </p:txBody>
      </p:sp>
      <p:sp>
        <p:nvSpPr>
          <p:cNvPr id="19" name="TextBox 18"/>
          <p:cNvSpPr txBox="1"/>
          <p:nvPr/>
        </p:nvSpPr>
        <p:spPr>
          <a:xfrm>
            <a:off x="835152" y="4346448"/>
            <a:ext cx="487680" cy="243840"/>
          </a:xfrm>
          <a:prstGeom prst="rect">
            <a:avLst/>
          </a:prstGeom>
          <a:noFill/>
        </p:spPr>
        <p:txBody>
          <a:bodyPr wrap="square" anchor="t" lIns="0" rIns="0" tIns="0" bIns="0">
            <a:spAutoFit/>
          </a:bodyPr>
          <a:lstStyle/>
          <a:p>
            <a:pPr algn="l"/>
            <a:r>
              <a:rPr sz="2000" b="1" i="0">
                <a:solidFill>
                  <a:srgbClr val="EE6A2C"/>
                </a:solidFill>
                <a:latin typeface="Arial"/>
              </a:rPr>
              <a:t>03</a:t>
            </a:r>
          </a:p>
        </p:txBody>
      </p:sp>
      <p:sp>
        <p:nvSpPr>
          <p:cNvPr id="20" name="TextBox 19"/>
          <p:cNvSpPr txBox="1"/>
          <p:nvPr/>
        </p:nvSpPr>
        <p:spPr>
          <a:xfrm>
            <a:off x="1383792" y="4364736"/>
            <a:ext cx="4023360" cy="365760"/>
          </a:xfrm>
          <a:prstGeom prst="rect">
            <a:avLst/>
          </a:prstGeom>
          <a:noFill/>
        </p:spPr>
        <p:txBody>
          <a:bodyPr wrap="square" anchor="t" lIns="0" rIns="0" tIns="0" bIns="0">
            <a:spAutoFit/>
          </a:bodyPr>
          <a:lstStyle/>
          <a:p>
            <a:pPr algn="l"/>
            <a:r>
              <a:rPr sz="1400" b="1" i="0">
                <a:solidFill>
                  <a:srgbClr val="111111"/>
                </a:solidFill>
                <a:latin typeface="Arial"/>
              </a:rPr>
              <a:t>Revoir l'annonce compte pro</a:t>
            </a:r>
          </a:p>
        </p:txBody>
      </p:sp>
      <p:sp>
        <p:nvSpPr>
          <p:cNvPr id="21" name="TextBox 20"/>
          <p:cNvSpPr txBox="1"/>
          <p:nvPr/>
        </p:nvSpPr>
        <p:spPr>
          <a:xfrm>
            <a:off x="835152" y="4925568"/>
            <a:ext cx="4572000" cy="731520"/>
          </a:xfrm>
          <a:prstGeom prst="rect">
            <a:avLst/>
          </a:prstGeom>
          <a:noFill/>
        </p:spPr>
        <p:txBody>
          <a:bodyPr wrap="square" anchor="t" lIns="0" rIns="0" tIns="0" bIns="0">
            <a:spAutoFit/>
          </a:bodyPr>
          <a:lstStyle/>
          <a:p>
            <a:pPr algn="l"/>
            <a:r>
              <a:rPr sz="1100" b="0" i="0">
                <a:solidFill>
                  <a:srgbClr val="555B66"/>
                </a:solidFill>
                <a:latin typeface="Arial"/>
              </a:rPr>
              <a:t>Le compte pro représente 41 % de la diffusion mais reste à 0,86 fois la moyenne.</a:t>
            </a:r>
          </a:p>
        </p:txBody>
      </p:sp>
      <p:sp>
        <p:nvSpPr>
          <p:cNvPr id="22" name="TextBox 21"/>
          <p:cNvSpPr txBox="1"/>
          <p:nvPr/>
        </p:nvSpPr>
        <p:spPr>
          <a:xfrm>
            <a:off x="835152" y="5626608"/>
            <a:ext cx="4572000" cy="487680"/>
          </a:xfrm>
          <a:prstGeom prst="rect">
            <a:avLst/>
          </a:prstGeom>
          <a:noFill/>
        </p:spPr>
        <p:txBody>
          <a:bodyPr wrap="square" anchor="t" lIns="0" rIns="0" tIns="0" bIns="0">
            <a:spAutoFit/>
          </a:bodyPr>
          <a:lstStyle/>
          <a:p>
            <a:pPr algn="l"/>
            <a:r>
              <a:rPr sz="900" b="1" i="0">
                <a:solidFill>
                  <a:srgbClr val="555B66"/>
                </a:solidFill>
                <a:latin typeface="Arial"/>
              </a:rPr>
              <a:t>→  Tester une accroche plus concrète (ouverture en quelques minutes, cartes, virements instantanés).</a:t>
            </a:r>
          </a:p>
        </p:txBody>
      </p:sp>
      <p:sp>
        <p:nvSpPr>
          <p:cNvPr id="23" name="Rectangle 22"/>
          <p:cNvSpPr/>
          <p:nvPr/>
        </p:nvSpPr>
        <p:spPr>
          <a:xfrm>
            <a:off x="5992368" y="4133088"/>
            <a:ext cx="5071872" cy="2121408"/>
          </a:xfrm>
          <a:prstGeom prst="rect">
            <a:avLst/>
          </a:prstGeom>
          <a:solidFill>
            <a:srgbClr val="FFFFFF"/>
          </a:solidFill>
          <a:ln>
            <a:noFill/>
          </a:ln>
          <a:effectLst/>
        </p:spPr>
        <p:txBody>
          <a:bodyPr rtlCol="0" anchor="ctr"/>
          <a:lstStyle/>
          <a:p>
            <a:pPr algn="ctr"/>
          </a:p>
        </p:txBody>
      </p:sp>
      <p:sp>
        <p:nvSpPr>
          <p:cNvPr id="24" name="TextBox 23"/>
          <p:cNvSpPr txBox="1"/>
          <p:nvPr/>
        </p:nvSpPr>
        <p:spPr>
          <a:xfrm>
            <a:off x="6248400" y="4346448"/>
            <a:ext cx="487680" cy="243840"/>
          </a:xfrm>
          <a:prstGeom prst="rect">
            <a:avLst/>
          </a:prstGeom>
          <a:noFill/>
        </p:spPr>
        <p:txBody>
          <a:bodyPr wrap="square" anchor="t" lIns="0" rIns="0" tIns="0" bIns="0">
            <a:spAutoFit/>
          </a:bodyPr>
          <a:lstStyle/>
          <a:p>
            <a:pPr algn="l"/>
            <a:r>
              <a:rPr sz="2000" b="1" i="0">
                <a:solidFill>
                  <a:srgbClr val="EE6A2C"/>
                </a:solidFill>
                <a:latin typeface="Arial"/>
              </a:rPr>
              <a:t>04</a:t>
            </a:r>
          </a:p>
        </p:txBody>
      </p:sp>
      <p:sp>
        <p:nvSpPr>
          <p:cNvPr id="25" name="TextBox 24"/>
          <p:cNvSpPr txBox="1"/>
          <p:nvPr/>
        </p:nvSpPr>
        <p:spPr>
          <a:xfrm>
            <a:off x="6797040" y="4364736"/>
            <a:ext cx="4023360" cy="365760"/>
          </a:xfrm>
          <a:prstGeom prst="rect">
            <a:avLst/>
          </a:prstGeom>
          <a:noFill/>
        </p:spPr>
        <p:txBody>
          <a:bodyPr wrap="square" anchor="t" lIns="0" rIns="0" tIns="0" bIns="0">
            <a:spAutoFit/>
          </a:bodyPr>
          <a:lstStyle/>
          <a:p>
            <a:pPr algn="l"/>
            <a:r>
              <a:rPr sz="1400" b="1" i="0">
                <a:solidFill>
                  <a:srgbClr val="111111"/>
                </a:solidFill>
                <a:latin typeface="Arial"/>
              </a:rPr>
              <a:t>Un premier mois solide</a:t>
            </a:r>
          </a:p>
        </p:txBody>
      </p:sp>
      <p:sp>
        <p:nvSpPr>
          <p:cNvPr id="26" name="TextBox 25"/>
          <p:cNvSpPr txBox="1"/>
          <p:nvPr/>
        </p:nvSpPr>
        <p:spPr>
          <a:xfrm>
            <a:off x="6248400" y="4925568"/>
            <a:ext cx="4572000" cy="731520"/>
          </a:xfrm>
          <a:prstGeom prst="rect">
            <a:avLst/>
          </a:prstGeom>
          <a:noFill/>
        </p:spPr>
        <p:txBody>
          <a:bodyPr wrap="square" anchor="t" lIns="0" rIns="0" tIns="0" bIns="0">
            <a:spAutoFit/>
          </a:bodyPr>
          <a:lstStyle/>
          <a:p>
            <a:pPr algn="l"/>
            <a:r>
              <a:rPr sz="1100" b="0" i="0">
                <a:solidFill>
                  <a:srgbClr val="555B66"/>
                </a:solidFill>
                <a:latin typeface="Arial"/>
              </a:rPr>
              <a:t>Lancée le 03/09, la campagne génère 4 757 clics pour un CTR de 0,43 %.</a:t>
            </a:r>
          </a:p>
        </p:txBody>
      </p:sp>
      <p:sp>
        <p:nvSpPr>
          <p:cNvPr id="27" name="TextBox 26"/>
          <p:cNvSpPr txBox="1"/>
          <p:nvPr/>
        </p:nvSpPr>
        <p:spPr>
          <a:xfrm>
            <a:off x="6248400" y="5626608"/>
            <a:ext cx="4572000" cy="487680"/>
          </a:xfrm>
          <a:prstGeom prst="rect">
            <a:avLst/>
          </a:prstGeom>
          <a:noFill/>
        </p:spPr>
        <p:txBody>
          <a:bodyPr wrap="square" anchor="t" lIns="0" rIns="0" tIns="0" bIns="0">
            <a:spAutoFit/>
          </a:bodyPr>
          <a:lstStyle/>
          <a:p>
            <a:pPr algn="l"/>
            <a:r>
              <a:rPr sz="900" b="1" i="0">
                <a:solidFill>
                  <a:srgbClr val="555B66"/>
                </a:solidFill>
                <a:latin typeface="Arial"/>
              </a:rPr>
              <a:t>→  Mesurer les ouvertures de compte pour piloter la campagne.</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6F2"/>
          </a:solidFill>
          <a:ln>
            <a:noFill/>
          </a:ln>
          <a:effectLst/>
        </p:spPr>
        <p:txBody>
          <a:bodyPr rtlCol="0" anchor="ctr"/>
          <a:lstStyle/>
          <a:p>
            <a:pPr algn="ctr"/>
          </a:p>
        </p:txBody>
      </p:sp>
      <p:sp>
        <p:nvSpPr>
          <p:cNvPr id="3" name="TextBox 2"/>
          <p:cNvSpPr txBox="1"/>
          <p:nvPr/>
        </p:nvSpPr>
        <p:spPr>
          <a:xfrm>
            <a:off x="530352" y="487680"/>
            <a:ext cx="7315200" cy="182880"/>
          </a:xfrm>
          <a:prstGeom prst="rect">
            <a:avLst/>
          </a:prstGeom>
          <a:noFill/>
        </p:spPr>
        <p:txBody>
          <a:bodyPr wrap="square" anchor="t" lIns="0" rIns="0" tIns="0" bIns="0">
            <a:spAutoFit/>
          </a:bodyPr>
          <a:lstStyle/>
          <a:p>
            <a:pPr algn="l"/>
            <a:r>
              <a:rPr sz="1300" b="1" i="0">
                <a:solidFill>
                  <a:srgbClr val="EE6A2C"/>
                </a:solidFill>
                <a:latin typeface="Arial"/>
              </a:rPr>
              <a:t>RAPPORT DE PERFORMANCE · 01/09/2026 → 30/09/2026</a:t>
            </a:r>
          </a:p>
        </p:txBody>
      </p:sp>
      <p:sp>
        <p:nvSpPr>
          <p:cNvPr id="4" name="TextBox 3"/>
          <p:cNvSpPr txBox="1"/>
          <p:nvPr/>
        </p:nvSpPr>
        <p:spPr>
          <a:xfrm>
            <a:off x="530352" y="640080"/>
            <a:ext cx="7315200" cy="487680"/>
          </a:xfrm>
          <a:prstGeom prst="rect">
            <a:avLst/>
          </a:prstGeom>
          <a:noFill/>
        </p:spPr>
        <p:txBody>
          <a:bodyPr wrap="square" anchor="t" lIns="0" rIns="0" tIns="0" bIns="0">
            <a:spAutoFit/>
          </a:bodyPr>
          <a:lstStyle/>
          <a:p>
            <a:pPr algn="l"/>
            <a:r>
              <a:rPr sz="3600" b="1" i="0">
                <a:solidFill>
                  <a:srgbClr val="111111"/>
                </a:solidFill>
                <a:latin typeface="Arial"/>
              </a:rPr>
              <a:t>Smartphone ID</a:t>
            </a:r>
          </a:p>
        </p:txBody>
      </p:sp>
      <p:sp>
        <p:nvSpPr>
          <p:cNvPr id="5" name="TextBox 4"/>
          <p:cNvSpPr txBox="1"/>
          <p:nvPr/>
        </p:nvSpPr>
        <p:spPr>
          <a:xfrm>
            <a:off x="7924800" y="591312"/>
            <a:ext cx="3304032" cy="152400"/>
          </a:xfrm>
          <a:prstGeom prst="rect">
            <a:avLst/>
          </a:prstGeom>
          <a:noFill/>
        </p:spPr>
        <p:txBody>
          <a:bodyPr wrap="square" anchor="t" lIns="0" rIns="0" tIns="0" bIns="0">
            <a:spAutoFit/>
          </a:bodyPr>
          <a:lstStyle/>
          <a:p>
            <a:pPr algn="r"/>
            <a:r>
              <a:rPr sz="1200" b="1" i="0">
                <a:solidFill>
                  <a:srgbClr val="8A93A6"/>
                </a:solidFill>
                <a:latin typeface="Arial"/>
              </a:rPr>
              <a:t>COMPARAISON</a:t>
            </a:r>
          </a:p>
        </p:txBody>
      </p:sp>
      <p:sp>
        <p:nvSpPr>
          <p:cNvPr id="6" name="TextBox 5"/>
          <p:cNvSpPr txBox="1"/>
          <p:nvPr/>
        </p:nvSpPr>
        <p:spPr>
          <a:xfrm>
            <a:off x="7924800" y="780288"/>
            <a:ext cx="3304032" cy="182880"/>
          </a:xfrm>
          <a:prstGeom prst="rect">
            <a:avLst/>
          </a:prstGeom>
          <a:noFill/>
        </p:spPr>
        <p:txBody>
          <a:bodyPr wrap="square" anchor="t" lIns="0" rIns="0" tIns="0" bIns="0">
            <a:spAutoFit/>
          </a:bodyPr>
          <a:lstStyle/>
          <a:p>
            <a:pPr algn="r"/>
            <a:r>
              <a:rPr sz="1500" b="1" i="0">
                <a:solidFill>
                  <a:srgbClr val="111111"/>
                </a:solidFill>
                <a:latin typeface="Arial"/>
              </a:rPr>
              <a:t>vs 01/08/2026 → 31/08/2026</a:t>
            </a:r>
          </a:p>
        </p:txBody>
      </p:sp>
      <p:sp>
        <p:nvSpPr>
          <p:cNvPr id="7" name="TextBox 6"/>
          <p:cNvSpPr txBox="1"/>
          <p:nvPr/>
        </p:nvSpPr>
        <p:spPr>
          <a:xfrm>
            <a:off x="530352" y="1280160"/>
            <a:ext cx="2438400" cy="182880"/>
          </a:xfrm>
          <a:prstGeom prst="rect">
            <a:avLst/>
          </a:prstGeom>
          <a:noFill/>
        </p:spPr>
        <p:txBody>
          <a:bodyPr wrap="square" anchor="t" lIns="0" rIns="0" tIns="0" bIns="0">
            <a:spAutoFit/>
          </a:bodyPr>
          <a:lstStyle/>
          <a:p>
            <a:pPr algn="l"/>
            <a:r>
              <a:rPr sz="1400" b="1" i="0">
                <a:solidFill>
                  <a:srgbClr val="EE6A2C"/>
                </a:solidFill>
                <a:latin typeface="Arial"/>
              </a:rPr>
              <a:t>DIFFUSION</a:t>
            </a:r>
          </a:p>
        </p:txBody>
      </p:sp>
      <p:sp>
        <p:nvSpPr>
          <p:cNvPr id="8" name="TextBox 7"/>
          <p:cNvSpPr txBox="1"/>
          <p:nvPr/>
        </p:nvSpPr>
        <p:spPr>
          <a:xfrm>
            <a:off x="2389632" y="1280160"/>
            <a:ext cx="2438400" cy="182880"/>
          </a:xfrm>
          <a:prstGeom prst="rect">
            <a:avLst/>
          </a:prstGeom>
          <a:noFill/>
        </p:spPr>
        <p:txBody>
          <a:bodyPr wrap="square" anchor="t" lIns="0" rIns="0" tIns="0" bIns="0">
            <a:spAutoFit/>
          </a:bodyPr>
          <a:lstStyle/>
          <a:p>
            <a:pPr algn="l"/>
            <a:r>
              <a:rPr sz="1400" b="1" i="0">
                <a:solidFill>
                  <a:srgbClr val="EE6A2C"/>
                </a:solidFill>
                <a:latin typeface="Arial"/>
              </a:rPr>
              <a:t>ENGAGEMENT</a:t>
            </a:r>
          </a:p>
        </p:txBody>
      </p:sp>
      <p:sp>
        <p:nvSpPr>
          <p:cNvPr id="9" name="TextBox 8"/>
          <p:cNvSpPr txBox="1"/>
          <p:nvPr/>
        </p:nvSpPr>
        <p:spPr>
          <a:xfrm>
            <a:off x="6108192" y="1280160"/>
            <a:ext cx="2438400" cy="182880"/>
          </a:xfrm>
          <a:prstGeom prst="rect">
            <a:avLst/>
          </a:prstGeom>
          <a:noFill/>
        </p:spPr>
        <p:txBody>
          <a:bodyPr wrap="square" anchor="t" lIns="0" rIns="0" tIns="0" bIns="0">
            <a:spAutoFit/>
          </a:bodyPr>
          <a:lstStyle/>
          <a:p>
            <a:pPr algn="l"/>
            <a:r>
              <a:rPr sz="1400" b="1" i="0">
                <a:solidFill>
                  <a:srgbClr val="EE6A2C"/>
                </a:solidFill>
                <a:latin typeface="Arial"/>
              </a:rPr>
              <a:t>CONVERSION</a:t>
            </a:r>
          </a:p>
        </p:txBody>
      </p:sp>
      <p:sp>
        <p:nvSpPr>
          <p:cNvPr id="10" name="Rectangle 9"/>
          <p:cNvSpPr/>
          <p:nvPr/>
        </p:nvSpPr>
        <p:spPr>
          <a:xfrm>
            <a:off x="530352" y="1536192"/>
            <a:ext cx="1389888" cy="1127760"/>
          </a:xfrm>
          <a:prstGeom prst="rect">
            <a:avLst/>
          </a:prstGeom>
          <a:solidFill>
            <a:srgbClr val="FFFFFF"/>
          </a:solidFill>
          <a:ln>
            <a:noFill/>
          </a:ln>
          <a:effectLst/>
        </p:spPr>
        <p:txBody>
          <a:bodyPr rtlCol="0" anchor="ctr"/>
          <a:lstStyle/>
          <a:p>
            <a:pPr algn="ctr"/>
          </a:p>
        </p:txBody>
      </p:sp>
      <p:sp>
        <p:nvSpPr>
          <p:cNvPr id="11" name="Rectangle 10"/>
          <p:cNvSpPr/>
          <p:nvPr/>
        </p:nvSpPr>
        <p:spPr>
          <a:xfrm>
            <a:off x="530352" y="1536192"/>
            <a:ext cx="24384" cy="1127760"/>
          </a:xfrm>
          <a:prstGeom prst="rect">
            <a:avLst/>
          </a:prstGeom>
          <a:solidFill>
            <a:srgbClr val="EE6A2C"/>
          </a:solidFill>
          <a:ln>
            <a:noFill/>
          </a:ln>
          <a:effectLst/>
        </p:spPr>
        <p:txBody>
          <a:bodyPr rtlCol="0" anchor="ctr"/>
          <a:lstStyle/>
          <a:p>
            <a:pPr algn="ctr"/>
          </a:p>
        </p:txBody>
      </p:sp>
      <p:sp>
        <p:nvSpPr>
          <p:cNvPr id="12" name="TextBox 11"/>
          <p:cNvSpPr txBox="1"/>
          <p:nvPr/>
        </p:nvSpPr>
        <p:spPr>
          <a:xfrm>
            <a:off x="664464" y="1615440"/>
            <a:ext cx="1219200" cy="121920"/>
          </a:xfrm>
          <a:prstGeom prst="rect">
            <a:avLst/>
          </a:prstGeom>
          <a:noFill/>
        </p:spPr>
        <p:txBody>
          <a:bodyPr wrap="square" anchor="t" lIns="0" rIns="0" tIns="0" bIns="0">
            <a:spAutoFit/>
          </a:bodyPr>
          <a:lstStyle/>
          <a:p>
            <a:pPr algn="l"/>
            <a:r>
              <a:rPr sz="1000" b="1" i="0">
                <a:solidFill>
                  <a:srgbClr val="555B66"/>
                </a:solidFill>
                <a:latin typeface="Arial"/>
              </a:rPr>
              <a:t>IMPRESSIONS</a:t>
            </a:r>
          </a:p>
        </p:txBody>
      </p:sp>
      <p:sp>
        <p:nvSpPr>
          <p:cNvPr id="13" name="TextBox 12"/>
          <p:cNvSpPr txBox="1"/>
          <p:nvPr/>
        </p:nvSpPr>
        <p:spPr>
          <a:xfrm>
            <a:off x="664464" y="1889760"/>
            <a:ext cx="1219200" cy="274320"/>
          </a:xfrm>
          <a:prstGeom prst="rect">
            <a:avLst/>
          </a:prstGeom>
          <a:noFill/>
        </p:spPr>
        <p:txBody>
          <a:bodyPr wrap="square" anchor="t" lIns="0" rIns="0" tIns="0" bIns="0">
            <a:spAutoFit/>
          </a:bodyPr>
          <a:lstStyle/>
          <a:p>
            <a:pPr algn="l"/>
            <a:r>
              <a:rPr sz="2200" b="1" i="0">
                <a:solidFill>
                  <a:srgbClr val="111111"/>
                </a:solidFill>
                <a:latin typeface="Arial"/>
              </a:rPr>
              <a:t>240 223</a:t>
            </a:r>
          </a:p>
        </p:txBody>
      </p:sp>
      <p:sp>
        <p:nvSpPr>
          <p:cNvPr id="14" name="TextBox 13"/>
          <p:cNvSpPr txBox="1"/>
          <p:nvPr/>
        </p:nvSpPr>
        <p:spPr>
          <a:xfrm>
            <a:off x="664464" y="2243328"/>
            <a:ext cx="1219200" cy="109728"/>
          </a:xfrm>
          <a:prstGeom prst="rect">
            <a:avLst/>
          </a:prstGeom>
          <a:noFill/>
        </p:spPr>
        <p:txBody>
          <a:bodyPr wrap="square" anchor="t" lIns="0" rIns="0" tIns="0" bIns="0">
            <a:spAutoFit/>
          </a:bodyPr>
          <a:lstStyle/>
          <a:p>
            <a:pPr algn="l"/>
            <a:r>
              <a:rPr sz="1000" b="1" i="0">
                <a:solidFill>
                  <a:srgbClr val="B04837"/>
                </a:solidFill>
                <a:latin typeface="Arial"/>
              </a:rPr>
              <a:t>▼ −24 %</a:t>
            </a:r>
          </a:p>
        </p:txBody>
      </p:sp>
      <p:sp>
        <p:nvSpPr>
          <p:cNvPr id="15" name="TextBox 14"/>
          <p:cNvSpPr txBox="1"/>
          <p:nvPr/>
        </p:nvSpPr>
        <p:spPr>
          <a:xfrm>
            <a:off x="664464" y="2499360"/>
            <a:ext cx="1219200" cy="91440"/>
          </a:xfrm>
          <a:prstGeom prst="rect">
            <a:avLst/>
          </a:prstGeom>
          <a:noFill/>
        </p:spPr>
        <p:txBody>
          <a:bodyPr wrap="square" anchor="t" lIns="0" rIns="0" tIns="0" bIns="0">
            <a:spAutoFit/>
          </a:bodyPr>
          <a:lstStyle/>
          <a:p>
            <a:pPr algn="l"/>
            <a:r>
              <a:rPr sz="800" b="0" i="1">
                <a:solidFill>
                  <a:srgbClr val="555B66"/>
                </a:solidFill>
                <a:latin typeface="Arial"/>
              </a:rPr>
              <a:t>YTD 558 183</a:t>
            </a:r>
          </a:p>
        </p:txBody>
      </p:sp>
      <p:sp>
        <p:nvSpPr>
          <p:cNvPr id="16" name="Rectangle 15"/>
          <p:cNvSpPr/>
          <p:nvPr/>
        </p:nvSpPr>
        <p:spPr>
          <a:xfrm>
            <a:off x="2389632" y="1536192"/>
            <a:ext cx="1389888" cy="1127760"/>
          </a:xfrm>
          <a:prstGeom prst="rect">
            <a:avLst/>
          </a:prstGeom>
          <a:solidFill>
            <a:srgbClr val="FFFFFF"/>
          </a:solidFill>
          <a:ln>
            <a:noFill/>
          </a:ln>
          <a:effectLst/>
        </p:spPr>
        <p:txBody>
          <a:bodyPr rtlCol="0" anchor="ctr"/>
          <a:lstStyle/>
          <a:p>
            <a:pPr algn="ctr"/>
          </a:p>
        </p:txBody>
      </p:sp>
      <p:sp>
        <p:nvSpPr>
          <p:cNvPr id="17" name="Rectangle 16"/>
          <p:cNvSpPr/>
          <p:nvPr/>
        </p:nvSpPr>
        <p:spPr>
          <a:xfrm>
            <a:off x="2389632" y="1536192"/>
            <a:ext cx="24384" cy="1127760"/>
          </a:xfrm>
          <a:prstGeom prst="rect">
            <a:avLst/>
          </a:prstGeom>
          <a:solidFill>
            <a:srgbClr val="EE6A2C"/>
          </a:solidFill>
          <a:ln>
            <a:noFill/>
          </a:ln>
          <a:effectLst/>
        </p:spPr>
        <p:txBody>
          <a:bodyPr rtlCol="0" anchor="ctr"/>
          <a:lstStyle/>
          <a:p>
            <a:pPr algn="ctr"/>
          </a:p>
        </p:txBody>
      </p:sp>
      <p:sp>
        <p:nvSpPr>
          <p:cNvPr id="18" name="TextBox 17"/>
          <p:cNvSpPr txBox="1"/>
          <p:nvPr/>
        </p:nvSpPr>
        <p:spPr>
          <a:xfrm>
            <a:off x="2523744" y="1615440"/>
            <a:ext cx="1219200" cy="121920"/>
          </a:xfrm>
          <a:prstGeom prst="rect">
            <a:avLst/>
          </a:prstGeom>
          <a:noFill/>
        </p:spPr>
        <p:txBody>
          <a:bodyPr wrap="square" anchor="t" lIns="0" rIns="0" tIns="0" bIns="0">
            <a:spAutoFit/>
          </a:bodyPr>
          <a:lstStyle/>
          <a:p>
            <a:pPr algn="l"/>
            <a:r>
              <a:rPr sz="1000" b="1" i="0">
                <a:solidFill>
                  <a:srgbClr val="555B66"/>
                </a:solidFill>
                <a:latin typeface="Arial"/>
              </a:rPr>
              <a:t>CLICS</a:t>
            </a:r>
          </a:p>
        </p:txBody>
      </p:sp>
      <p:sp>
        <p:nvSpPr>
          <p:cNvPr id="19" name="TextBox 18"/>
          <p:cNvSpPr txBox="1"/>
          <p:nvPr/>
        </p:nvSpPr>
        <p:spPr>
          <a:xfrm>
            <a:off x="2523744" y="1889760"/>
            <a:ext cx="1219200" cy="274320"/>
          </a:xfrm>
          <a:prstGeom prst="rect">
            <a:avLst/>
          </a:prstGeom>
          <a:noFill/>
        </p:spPr>
        <p:txBody>
          <a:bodyPr wrap="square" anchor="t" lIns="0" rIns="0" tIns="0" bIns="0">
            <a:spAutoFit/>
          </a:bodyPr>
          <a:lstStyle/>
          <a:p>
            <a:pPr algn="l"/>
            <a:r>
              <a:rPr sz="2200" b="1" i="0">
                <a:solidFill>
                  <a:srgbClr val="111111"/>
                </a:solidFill>
                <a:latin typeface="Arial"/>
              </a:rPr>
              <a:t>1 240</a:t>
            </a:r>
          </a:p>
        </p:txBody>
      </p:sp>
      <p:sp>
        <p:nvSpPr>
          <p:cNvPr id="20" name="TextBox 19"/>
          <p:cNvSpPr txBox="1"/>
          <p:nvPr/>
        </p:nvSpPr>
        <p:spPr>
          <a:xfrm>
            <a:off x="2523744" y="2243328"/>
            <a:ext cx="1219200" cy="109728"/>
          </a:xfrm>
          <a:prstGeom prst="rect">
            <a:avLst/>
          </a:prstGeom>
          <a:noFill/>
        </p:spPr>
        <p:txBody>
          <a:bodyPr wrap="square" anchor="t" lIns="0" rIns="0" tIns="0" bIns="0">
            <a:spAutoFit/>
          </a:bodyPr>
          <a:lstStyle/>
          <a:p>
            <a:pPr algn="l"/>
            <a:r>
              <a:rPr sz="1000" b="1" i="0">
                <a:solidFill>
                  <a:srgbClr val="1E7B34"/>
                </a:solidFill>
                <a:latin typeface="Arial"/>
              </a:rPr>
              <a:t>▲ +90 %</a:t>
            </a:r>
          </a:p>
        </p:txBody>
      </p:sp>
      <p:sp>
        <p:nvSpPr>
          <p:cNvPr id="21" name="TextBox 20"/>
          <p:cNvSpPr txBox="1"/>
          <p:nvPr/>
        </p:nvSpPr>
        <p:spPr>
          <a:xfrm>
            <a:off x="2523744" y="2499360"/>
            <a:ext cx="1219200" cy="91440"/>
          </a:xfrm>
          <a:prstGeom prst="rect">
            <a:avLst/>
          </a:prstGeom>
          <a:noFill/>
        </p:spPr>
        <p:txBody>
          <a:bodyPr wrap="square" anchor="t" lIns="0" rIns="0" tIns="0" bIns="0">
            <a:spAutoFit/>
          </a:bodyPr>
          <a:lstStyle/>
          <a:p>
            <a:pPr algn="l"/>
            <a:r>
              <a:rPr sz="800" b="0" i="1">
                <a:solidFill>
                  <a:srgbClr val="555B66"/>
                </a:solidFill>
                <a:latin typeface="Arial"/>
              </a:rPr>
              <a:t>YTD 1 893</a:t>
            </a:r>
          </a:p>
        </p:txBody>
      </p:sp>
      <p:sp>
        <p:nvSpPr>
          <p:cNvPr id="22" name="Rectangle 21"/>
          <p:cNvSpPr/>
          <p:nvPr/>
        </p:nvSpPr>
        <p:spPr>
          <a:xfrm>
            <a:off x="4248912" y="1536192"/>
            <a:ext cx="1389888" cy="1127760"/>
          </a:xfrm>
          <a:prstGeom prst="rect">
            <a:avLst/>
          </a:prstGeom>
          <a:solidFill>
            <a:srgbClr val="FFFFFF"/>
          </a:solidFill>
          <a:ln>
            <a:noFill/>
          </a:ln>
          <a:effectLst/>
        </p:spPr>
        <p:txBody>
          <a:bodyPr rtlCol="0" anchor="ctr"/>
          <a:lstStyle/>
          <a:p>
            <a:pPr algn="ctr"/>
          </a:p>
        </p:txBody>
      </p:sp>
      <p:sp>
        <p:nvSpPr>
          <p:cNvPr id="23" name="Rectangle 22"/>
          <p:cNvSpPr/>
          <p:nvPr/>
        </p:nvSpPr>
        <p:spPr>
          <a:xfrm>
            <a:off x="4248912" y="1536192"/>
            <a:ext cx="24384" cy="1127760"/>
          </a:xfrm>
          <a:prstGeom prst="rect">
            <a:avLst/>
          </a:prstGeom>
          <a:solidFill>
            <a:srgbClr val="EE6A2C"/>
          </a:solidFill>
          <a:ln>
            <a:noFill/>
          </a:ln>
          <a:effectLst/>
        </p:spPr>
        <p:txBody>
          <a:bodyPr rtlCol="0" anchor="ctr"/>
          <a:lstStyle/>
          <a:p>
            <a:pPr algn="ctr"/>
          </a:p>
        </p:txBody>
      </p:sp>
      <p:sp>
        <p:nvSpPr>
          <p:cNvPr id="24" name="TextBox 23"/>
          <p:cNvSpPr txBox="1"/>
          <p:nvPr/>
        </p:nvSpPr>
        <p:spPr>
          <a:xfrm>
            <a:off x="4383024" y="1615440"/>
            <a:ext cx="1219200" cy="121920"/>
          </a:xfrm>
          <a:prstGeom prst="rect">
            <a:avLst/>
          </a:prstGeom>
          <a:noFill/>
        </p:spPr>
        <p:txBody>
          <a:bodyPr wrap="square" anchor="t" lIns="0" rIns="0" tIns="0" bIns="0">
            <a:spAutoFit/>
          </a:bodyPr>
          <a:lstStyle/>
          <a:p>
            <a:pPr algn="l"/>
            <a:r>
              <a:rPr sz="1000" b="1" i="0">
                <a:solidFill>
                  <a:srgbClr val="555B66"/>
                </a:solidFill>
                <a:latin typeface="Arial"/>
              </a:rPr>
              <a:t>CTR</a:t>
            </a:r>
          </a:p>
        </p:txBody>
      </p:sp>
      <p:sp>
        <p:nvSpPr>
          <p:cNvPr id="25" name="TextBox 24"/>
          <p:cNvSpPr txBox="1"/>
          <p:nvPr/>
        </p:nvSpPr>
        <p:spPr>
          <a:xfrm>
            <a:off x="4383024" y="1889760"/>
            <a:ext cx="1219200" cy="274320"/>
          </a:xfrm>
          <a:prstGeom prst="rect">
            <a:avLst/>
          </a:prstGeom>
          <a:noFill/>
        </p:spPr>
        <p:txBody>
          <a:bodyPr wrap="square" anchor="t" lIns="0" rIns="0" tIns="0" bIns="0">
            <a:spAutoFit/>
          </a:bodyPr>
          <a:lstStyle/>
          <a:p>
            <a:pPr algn="l"/>
            <a:r>
              <a:rPr sz="2200" b="1" i="0">
                <a:solidFill>
                  <a:srgbClr val="111111"/>
                </a:solidFill>
                <a:latin typeface="Arial"/>
              </a:rPr>
              <a:t>0,52 %</a:t>
            </a:r>
          </a:p>
        </p:txBody>
      </p:sp>
      <p:sp>
        <p:nvSpPr>
          <p:cNvPr id="26" name="TextBox 25"/>
          <p:cNvSpPr txBox="1"/>
          <p:nvPr/>
        </p:nvSpPr>
        <p:spPr>
          <a:xfrm>
            <a:off x="4383024" y="2243328"/>
            <a:ext cx="1219200" cy="109728"/>
          </a:xfrm>
          <a:prstGeom prst="rect">
            <a:avLst/>
          </a:prstGeom>
          <a:noFill/>
        </p:spPr>
        <p:txBody>
          <a:bodyPr wrap="square" anchor="t" lIns="0" rIns="0" tIns="0" bIns="0">
            <a:spAutoFit/>
          </a:bodyPr>
          <a:lstStyle/>
          <a:p>
            <a:pPr algn="l"/>
            <a:r>
              <a:rPr sz="1000" b="1" i="0">
                <a:solidFill>
                  <a:srgbClr val="1E7B34"/>
                </a:solidFill>
                <a:latin typeface="Arial"/>
              </a:rPr>
              <a:t>▲ +0,31 pt</a:t>
            </a:r>
          </a:p>
        </p:txBody>
      </p:sp>
      <p:sp>
        <p:nvSpPr>
          <p:cNvPr id="27" name="TextBox 26"/>
          <p:cNvSpPr txBox="1"/>
          <p:nvPr/>
        </p:nvSpPr>
        <p:spPr>
          <a:xfrm>
            <a:off x="4383024" y="2499360"/>
            <a:ext cx="1219200" cy="91440"/>
          </a:xfrm>
          <a:prstGeom prst="rect">
            <a:avLst/>
          </a:prstGeom>
          <a:noFill/>
        </p:spPr>
        <p:txBody>
          <a:bodyPr wrap="square" anchor="t" lIns="0" rIns="0" tIns="0" bIns="0">
            <a:spAutoFit/>
          </a:bodyPr>
          <a:lstStyle/>
          <a:p>
            <a:pPr algn="l"/>
            <a:r>
              <a:rPr sz="800" b="0" i="1">
                <a:solidFill>
                  <a:srgbClr val="555B66"/>
                </a:solidFill>
                <a:latin typeface="Arial"/>
              </a:rPr>
              <a:t>YTD 0,34 %</a:t>
            </a:r>
          </a:p>
        </p:txBody>
      </p:sp>
      <p:sp>
        <p:nvSpPr>
          <p:cNvPr id="28" name="Rectangle 27"/>
          <p:cNvSpPr/>
          <p:nvPr/>
        </p:nvSpPr>
        <p:spPr>
          <a:xfrm>
            <a:off x="6108192" y="1536192"/>
            <a:ext cx="1389888" cy="1127760"/>
          </a:xfrm>
          <a:prstGeom prst="rect">
            <a:avLst/>
          </a:prstGeom>
          <a:solidFill>
            <a:srgbClr val="F1EFEB"/>
          </a:solidFill>
          <a:ln>
            <a:noFill/>
          </a:ln>
          <a:effectLst/>
        </p:spPr>
        <p:txBody>
          <a:bodyPr rtlCol="0" anchor="ctr"/>
          <a:lstStyle/>
          <a:p>
            <a:pPr algn="ctr"/>
          </a:p>
        </p:txBody>
      </p:sp>
      <p:sp>
        <p:nvSpPr>
          <p:cNvPr id="29" name="Rounded Rectangle 28"/>
          <p:cNvSpPr/>
          <p:nvPr/>
        </p:nvSpPr>
        <p:spPr>
          <a:xfrm>
            <a:off x="6827520" y="1450848"/>
            <a:ext cx="609600" cy="170688"/>
          </a:xfrm>
          <a:prstGeom prst="roundRect">
            <a:avLst>
              <a:gd name="adj" fmla="val 50000"/>
            </a:avLst>
          </a:prstGeom>
          <a:solidFill>
            <a:srgbClr val="D9D6D1"/>
          </a:solidFill>
          <a:ln>
            <a:noFill/>
          </a:ln>
          <a:effectLst/>
        </p:spPr>
        <p:txBody>
          <a:bodyPr rtlCol="0" anchor="ctr"/>
          <a:lstStyle/>
          <a:p>
            <a:pPr algn="ctr"/>
          </a:p>
        </p:txBody>
      </p:sp>
      <p:sp>
        <p:nvSpPr>
          <p:cNvPr id="30" name="TextBox 29"/>
          <p:cNvSpPr txBox="1"/>
          <p:nvPr/>
        </p:nvSpPr>
        <p:spPr>
          <a:xfrm>
            <a:off x="6827520" y="1450848"/>
            <a:ext cx="609600" cy="170688"/>
          </a:xfrm>
          <a:prstGeom prst="rect">
            <a:avLst/>
          </a:prstGeom>
          <a:noFill/>
        </p:spPr>
        <p:txBody>
          <a:bodyPr wrap="square" anchor="ctr" lIns="0" rIns="0" tIns="0" bIns="0">
            <a:spAutoFit/>
          </a:bodyPr>
          <a:lstStyle/>
          <a:p>
            <a:pPr algn="ctr"/>
            <a:r>
              <a:rPr sz="800" b="1" i="0">
                <a:solidFill>
                  <a:srgbClr val="555B66"/>
                </a:solidFill>
                <a:latin typeface="Arial"/>
              </a:rPr>
              <a:t>INDICATIF</a:t>
            </a:r>
          </a:p>
        </p:txBody>
      </p:sp>
      <p:sp>
        <p:nvSpPr>
          <p:cNvPr id="31" name="TextBox 30"/>
          <p:cNvSpPr txBox="1"/>
          <p:nvPr/>
        </p:nvSpPr>
        <p:spPr>
          <a:xfrm>
            <a:off x="6242304" y="1706880"/>
            <a:ext cx="1219200" cy="121920"/>
          </a:xfrm>
          <a:prstGeom prst="rect">
            <a:avLst/>
          </a:prstGeom>
          <a:noFill/>
        </p:spPr>
        <p:txBody>
          <a:bodyPr wrap="square" anchor="t" lIns="0" rIns="0" tIns="0" bIns="0">
            <a:spAutoFit/>
          </a:bodyPr>
          <a:lstStyle/>
          <a:p>
            <a:pPr algn="l"/>
            <a:r>
              <a:rPr sz="1000" b="1" i="0">
                <a:solidFill>
                  <a:srgbClr val="8A93A6"/>
                </a:solidFill>
                <a:latin typeface="Arial"/>
              </a:rPr>
              <a:t>CONVERSIONS</a:t>
            </a:r>
          </a:p>
        </p:txBody>
      </p:sp>
      <p:sp>
        <p:nvSpPr>
          <p:cNvPr id="32" name="TextBox 31"/>
          <p:cNvSpPr txBox="1"/>
          <p:nvPr/>
        </p:nvSpPr>
        <p:spPr>
          <a:xfrm>
            <a:off x="6242304" y="1889760"/>
            <a:ext cx="1219200" cy="274320"/>
          </a:xfrm>
          <a:prstGeom prst="rect">
            <a:avLst/>
          </a:prstGeom>
          <a:noFill/>
        </p:spPr>
        <p:txBody>
          <a:bodyPr wrap="square" anchor="t" lIns="0" rIns="0" tIns="0" bIns="0">
            <a:spAutoFit/>
          </a:bodyPr>
          <a:lstStyle/>
          <a:p>
            <a:pPr algn="l"/>
            <a:r>
              <a:rPr sz="2200" b="1" i="0">
                <a:solidFill>
                  <a:srgbClr val="8A93A6"/>
                </a:solidFill>
                <a:latin typeface="Arial"/>
              </a:rPr>
              <a:t>N/C</a:t>
            </a:r>
          </a:p>
        </p:txBody>
      </p:sp>
      <p:sp>
        <p:nvSpPr>
          <p:cNvPr id="33" name="TextBox 32"/>
          <p:cNvSpPr txBox="1"/>
          <p:nvPr/>
        </p:nvSpPr>
        <p:spPr>
          <a:xfrm>
            <a:off x="6242304" y="2243328"/>
            <a:ext cx="1219200" cy="109728"/>
          </a:xfrm>
          <a:prstGeom prst="rect">
            <a:avLst/>
          </a:prstGeom>
          <a:noFill/>
        </p:spPr>
        <p:txBody>
          <a:bodyPr wrap="square" anchor="t" lIns="0" rIns="0" tIns="0" bIns="0">
            <a:spAutoFit/>
          </a:bodyPr>
          <a:lstStyle/>
          <a:p>
            <a:pPr algn="l"/>
            <a:r>
              <a:rPr sz="1000" b="1" i="0">
                <a:solidFill>
                  <a:srgbClr val="8A93A6"/>
                </a:solidFill>
                <a:latin typeface="Arial"/>
              </a:rPr>
              <a:t>—</a:t>
            </a:r>
          </a:p>
        </p:txBody>
      </p:sp>
      <p:sp>
        <p:nvSpPr>
          <p:cNvPr id="34" name="TextBox 33"/>
          <p:cNvSpPr txBox="1"/>
          <p:nvPr/>
        </p:nvSpPr>
        <p:spPr>
          <a:xfrm>
            <a:off x="6242304" y="2499360"/>
            <a:ext cx="1219200" cy="91440"/>
          </a:xfrm>
          <a:prstGeom prst="rect">
            <a:avLst/>
          </a:prstGeom>
          <a:noFill/>
        </p:spPr>
        <p:txBody>
          <a:bodyPr wrap="square" anchor="t" lIns="0" rIns="0" tIns="0" bIns="0">
            <a:spAutoFit/>
          </a:bodyPr>
          <a:lstStyle/>
          <a:p>
            <a:pPr algn="l"/>
            <a:r>
              <a:rPr sz="800" b="0" i="1">
                <a:solidFill>
                  <a:srgbClr val="8A93A6"/>
                </a:solidFill>
                <a:latin typeface="Arial"/>
              </a:rPr>
              <a:t>YTD —</a:t>
            </a:r>
          </a:p>
        </p:txBody>
      </p:sp>
      <p:sp>
        <p:nvSpPr>
          <p:cNvPr id="35" name="Rectangle 34"/>
          <p:cNvSpPr/>
          <p:nvPr/>
        </p:nvSpPr>
        <p:spPr>
          <a:xfrm>
            <a:off x="7967472" y="1536192"/>
            <a:ext cx="1389888" cy="1127760"/>
          </a:xfrm>
          <a:prstGeom prst="rect">
            <a:avLst/>
          </a:prstGeom>
          <a:solidFill>
            <a:srgbClr val="F1EFEB"/>
          </a:solidFill>
          <a:ln>
            <a:noFill/>
          </a:ln>
          <a:effectLst/>
        </p:spPr>
        <p:txBody>
          <a:bodyPr rtlCol="0" anchor="ctr"/>
          <a:lstStyle/>
          <a:p>
            <a:pPr algn="ctr"/>
          </a:p>
        </p:txBody>
      </p:sp>
      <p:sp>
        <p:nvSpPr>
          <p:cNvPr id="36" name="Rounded Rectangle 35"/>
          <p:cNvSpPr/>
          <p:nvPr/>
        </p:nvSpPr>
        <p:spPr>
          <a:xfrm>
            <a:off x="8686800" y="1450848"/>
            <a:ext cx="609600" cy="170688"/>
          </a:xfrm>
          <a:prstGeom prst="roundRect">
            <a:avLst>
              <a:gd name="adj" fmla="val 50000"/>
            </a:avLst>
          </a:prstGeom>
          <a:solidFill>
            <a:srgbClr val="D9D6D1"/>
          </a:solidFill>
          <a:ln>
            <a:noFill/>
          </a:ln>
          <a:effectLst/>
        </p:spPr>
        <p:txBody>
          <a:bodyPr rtlCol="0" anchor="ctr"/>
          <a:lstStyle/>
          <a:p>
            <a:pPr algn="ctr"/>
          </a:p>
        </p:txBody>
      </p:sp>
      <p:sp>
        <p:nvSpPr>
          <p:cNvPr id="37" name="TextBox 36"/>
          <p:cNvSpPr txBox="1"/>
          <p:nvPr/>
        </p:nvSpPr>
        <p:spPr>
          <a:xfrm>
            <a:off x="8686800" y="1450848"/>
            <a:ext cx="609600" cy="170688"/>
          </a:xfrm>
          <a:prstGeom prst="rect">
            <a:avLst/>
          </a:prstGeom>
          <a:noFill/>
        </p:spPr>
        <p:txBody>
          <a:bodyPr wrap="square" anchor="ctr" lIns="0" rIns="0" tIns="0" bIns="0">
            <a:spAutoFit/>
          </a:bodyPr>
          <a:lstStyle/>
          <a:p>
            <a:pPr algn="ctr"/>
            <a:r>
              <a:rPr sz="800" b="1" i="0">
                <a:solidFill>
                  <a:srgbClr val="555B66"/>
                </a:solidFill>
                <a:latin typeface="Arial"/>
              </a:rPr>
              <a:t>INDICATIF</a:t>
            </a:r>
          </a:p>
        </p:txBody>
      </p:sp>
      <p:sp>
        <p:nvSpPr>
          <p:cNvPr id="38" name="TextBox 37"/>
          <p:cNvSpPr txBox="1"/>
          <p:nvPr/>
        </p:nvSpPr>
        <p:spPr>
          <a:xfrm>
            <a:off x="8101584" y="1706880"/>
            <a:ext cx="1219200" cy="121920"/>
          </a:xfrm>
          <a:prstGeom prst="rect">
            <a:avLst/>
          </a:prstGeom>
          <a:noFill/>
        </p:spPr>
        <p:txBody>
          <a:bodyPr wrap="square" anchor="t" lIns="0" rIns="0" tIns="0" bIns="0">
            <a:spAutoFit/>
          </a:bodyPr>
          <a:lstStyle/>
          <a:p>
            <a:pPr algn="l"/>
            <a:r>
              <a:rPr sz="1000" b="1" i="0">
                <a:solidFill>
                  <a:srgbClr val="8A93A6"/>
                </a:solidFill>
                <a:latin typeface="Arial"/>
              </a:rPr>
              <a:t>CVR</a:t>
            </a:r>
          </a:p>
        </p:txBody>
      </p:sp>
      <p:sp>
        <p:nvSpPr>
          <p:cNvPr id="39" name="TextBox 38"/>
          <p:cNvSpPr txBox="1"/>
          <p:nvPr/>
        </p:nvSpPr>
        <p:spPr>
          <a:xfrm>
            <a:off x="8101584" y="1889760"/>
            <a:ext cx="1219200" cy="274320"/>
          </a:xfrm>
          <a:prstGeom prst="rect">
            <a:avLst/>
          </a:prstGeom>
          <a:noFill/>
        </p:spPr>
        <p:txBody>
          <a:bodyPr wrap="square" anchor="t" lIns="0" rIns="0" tIns="0" bIns="0">
            <a:spAutoFit/>
          </a:bodyPr>
          <a:lstStyle/>
          <a:p>
            <a:pPr algn="l"/>
            <a:r>
              <a:rPr sz="2200" b="1" i="0">
                <a:solidFill>
                  <a:srgbClr val="8A93A6"/>
                </a:solidFill>
                <a:latin typeface="Arial"/>
              </a:rPr>
              <a:t>N/C</a:t>
            </a:r>
          </a:p>
        </p:txBody>
      </p:sp>
      <p:sp>
        <p:nvSpPr>
          <p:cNvPr id="40" name="TextBox 39"/>
          <p:cNvSpPr txBox="1"/>
          <p:nvPr/>
        </p:nvSpPr>
        <p:spPr>
          <a:xfrm>
            <a:off x="8101584" y="2243328"/>
            <a:ext cx="1219200" cy="109728"/>
          </a:xfrm>
          <a:prstGeom prst="rect">
            <a:avLst/>
          </a:prstGeom>
          <a:noFill/>
        </p:spPr>
        <p:txBody>
          <a:bodyPr wrap="square" anchor="t" lIns="0" rIns="0" tIns="0" bIns="0">
            <a:spAutoFit/>
          </a:bodyPr>
          <a:lstStyle/>
          <a:p>
            <a:pPr algn="l"/>
            <a:r>
              <a:rPr sz="1000" b="1" i="0">
                <a:solidFill>
                  <a:srgbClr val="8A93A6"/>
                </a:solidFill>
                <a:latin typeface="Arial"/>
              </a:rPr>
              <a:t>—</a:t>
            </a:r>
          </a:p>
        </p:txBody>
      </p:sp>
      <p:sp>
        <p:nvSpPr>
          <p:cNvPr id="41" name="TextBox 40"/>
          <p:cNvSpPr txBox="1"/>
          <p:nvPr/>
        </p:nvSpPr>
        <p:spPr>
          <a:xfrm>
            <a:off x="8101584" y="2499360"/>
            <a:ext cx="1219200" cy="91440"/>
          </a:xfrm>
          <a:prstGeom prst="rect">
            <a:avLst/>
          </a:prstGeom>
          <a:noFill/>
        </p:spPr>
        <p:txBody>
          <a:bodyPr wrap="square" anchor="t" lIns="0" rIns="0" tIns="0" bIns="0">
            <a:spAutoFit/>
          </a:bodyPr>
          <a:lstStyle/>
          <a:p>
            <a:pPr algn="l"/>
            <a:r>
              <a:rPr sz="800" b="0" i="1">
                <a:solidFill>
                  <a:srgbClr val="8A93A6"/>
                </a:solidFill>
                <a:latin typeface="Arial"/>
              </a:rPr>
              <a:t>YTD —</a:t>
            </a:r>
          </a:p>
        </p:txBody>
      </p:sp>
      <p:sp>
        <p:nvSpPr>
          <p:cNvPr id="42" name="Rectangle 41"/>
          <p:cNvSpPr/>
          <p:nvPr/>
        </p:nvSpPr>
        <p:spPr>
          <a:xfrm>
            <a:off x="9826752" y="1536192"/>
            <a:ext cx="1389888" cy="1127760"/>
          </a:xfrm>
          <a:prstGeom prst="rect">
            <a:avLst/>
          </a:prstGeom>
          <a:solidFill>
            <a:srgbClr val="F1EFEB"/>
          </a:solidFill>
          <a:ln>
            <a:noFill/>
          </a:ln>
          <a:effectLst/>
        </p:spPr>
        <p:txBody>
          <a:bodyPr rtlCol="0" anchor="ctr"/>
          <a:lstStyle/>
          <a:p>
            <a:pPr algn="ctr"/>
          </a:p>
        </p:txBody>
      </p:sp>
      <p:sp>
        <p:nvSpPr>
          <p:cNvPr id="43" name="Rounded Rectangle 42"/>
          <p:cNvSpPr/>
          <p:nvPr/>
        </p:nvSpPr>
        <p:spPr>
          <a:xfrm>
            <a:off x="10546080" y="1450848"/>
            <a:ext cx="609600" cy="170688"/>
          </a:xfrm>
          <a:prstGeom prst="roundRect">
            <a:avLst>
              <a:gd name="adj" fmla="val 50000"/>
            </a:avLst>
          </a:prstGeom>
          <a:solidFill>
            <a:srgbClr val="D9D6D1"/>
          </a:solidFill>
          <a:ln>
            <a:noFill/>
          </a:ln>
          <a:effectLst/>
        </p:spPr>
        <p:txBody>
          <a:bodyPr rtlCol="0" anchor="ctr"/>
          <a:lstStyle/>
          <a:p>
            <a:pPr algn="ctr"/>
          </a:p>
        </p:txBody>
      </p:sp>
      <p:sp>
        <p:nvSpPr>
          <p:cNvPr id="44" name="TextBox 43"/>
          <p:cNvSpPr txBox="1"/>
          <p:nvPr/>
        </p:nvSpPr>
        <p:spPr>
          <a:xfrm>
            <a:off x="10546080" y="1450848"/>
            <a:ext cx="609600" cy="170688"/>
          </a:xfrm>
          <a:prstGeom prst="rect">
            <a:avLst/>
          </a:prstGeom>
          <a:noFill/>
        </p:spPr>
        <p:txBody>
          <a:bodyPr wrap="square" anchor="ctr" lIns="0" rIns="0" tIns="0" bIns="0">
            <a:spAutoFit/>
          </a:bodyPr>
          <a:lstStyle/>
          <a:p>
            <a:pPr algn="ctr"/>
            <a:r>
              <a:rPr sz="800" b="1" i="0">
                <a:solidFill>
                  <a:srgbClr val="555B66"/>
                </a:solidFill>
                <a:latin typeface="Arial"/>
              </a:rPr>
              <a:t>INDICATIF</a:t>
            </a:r>
          </a:p>
        </p:txBody>
      </p:sp>
      <p:sp>
        <p:nvSpPr>
          <p:cNvPr id="45" name="TextBox 44"/>
          <p:cNvSpPr txBox="1"/>
          <p:nvPr/>
        </p:nvSpPr>
        <p:spPr>
          <a:xfrm>
            <a:off x="9960864" y="1706880"/>
            <a:ext cx="1219200" cy="121920"/>
          </a:xfrm>
          <a:prstGeom prst="rect">
            <a:avLst/>
          </a:prstGeom>
          <a:noFill/>
        </p:spPr>
        <p:txBody>
          <a:bodyPr wrap="square" anchor="t" lIns="0" rIns="0" tIns="0" bIns="0">
            <a:spAutoFit/>
          </a:bodyPr>
          <a:lstStyle/>
          <a:p>
            <a:pPr algn="l"/>
            <a:r>
              <a:rPr sz="1000" b="1" i="0">
                <a:solidFill>
                  <a:srgbClr val="8A93A6"/>
                </a:solidFill>
                <a:latin typeface="Arial"/>
              </a:rPr>
              <a:t>ROAS</a:t>
            </a:r>
          </a:p>
        </p:txBody>
      </p:sp>
      <p:sp>
        <p:nvSpPr>
          <p:cNvPr id="46" name="TextBox 45"/>
          <p:cNvSpPr txBox="1"/>
          <p:nvPr/>
        </p:nvSpPr>
        <p:spPr>
          <a:xfrm>
            <a:off x="9960864" y="1889760"/>
            <a:ext cx="1219200" cy="274320"/>
          </a:xfrm>
          <a:prstGeom prst="rect">
            <a:avLst/>
          </a:prstGeom>
          <a:noFill/>
        </p:spPr>
        <p:txBody>
          <a:bodyPr wrap="square" anchor="t" lIns="0" rIns="0" tIns="0" bIns="0">
            <a:spAutoFit/>
          </a:bodyPr>
          <a:lstStyle/>
          <a:p>
            <a:pPr algn="l"/>
            <a:r>
              <a:rPr sz="2200" b="1" i="0">
                <a:solidFill>
                  <a:srgbClr val="8A93A6"/>
                </a:solidFill>
                <a:latin typeface="Arial"/>
              </a:rPr>
              <a:t>N/C</a:t>
            </a:r>
          </a:p>
        </p:txBody>
      </p:sp>
      <p:sp>
        <p:nvSpPr>
          <p:cNvPr id="47" name="TextBox 46"/>
          <p:cNvSpPr txBox="1"/>
          <p:nvPr/>
        </p:nvSpPr>
        <p:spPr>
          <a:xfrm>
            <a:off x="9960864" y="2243328"/>
            <a:ext cx="1219200" cy="109728"/>
          </a:xfrm>
          <a:prstGeom prst="rect">
            <a:avLst/>
          </a:prstGeom>
          <a:noFill/>
        </p:spPr>
        <p:txBody>
          <a:bodyPr wrap="square" anchor="t" lIns="0" rIns="0" tIns="0" bIns="0">
            <a:spAutoFit/>
          </a:bodyPr>
          <a:lstStyle/>
          <a:p>
            <a:pPr algn="l"/>
            <a:r>
              <a:rPr sz="1000" b="1" i="0">
                <a:solidFill>
                  <a:srgbClr val="8A93A6"/>
                </a:solidFill>
                <a:latin typeface="Arial"/>
              </a:rPr>
              <a:t>—</a:t>
            </a:r>
          </a:p>
        </p:txBody>
      </p:sp>
      <p:sp>
        <p:nvSpPr>
          <p:cNvPr id="48" name="TextBox 47"/>
          <p:cNvSpPr txBox="1"/>
          <p:nvPr/>
        </p:nvSpPr>
        <p:spPr>
          <a:xfrm>
            <a:off x="9960864" y="2499360"/>
            <a:ext cx="1219200" cy="91440"/>
          </a:xfrm>
          <a:prstGeom prst="rect">
            <a:avLst/>
          </a:prstGeom>
          <a:noFill/>
        </p:spPr>
        <p:txBody>
          <a:bodyPr wrap="square" anchor="t" lIns="0" rIns="0" tIns="0" bIns="0">
            <a:spAutoFit/>
          </a:bodyPr>
          <a:lstStyle/>
          <a:p>
            <a:pPr algn="l"/>
            <a:r>
              <a:rPr sz="800" b="0" i="1">
                <a:solidFill>
                  <a:srgbClr val="8A93A6"/>
                </a:solidFill>
                <a:latin typeface="Arial"/>
              </a:rPr>
              <a:t>YTD —</a:t>
            </a:r>
          </a:p>
        </p:txBody>
      </p:sp>
      <p:sp>
        <p:nvSpPr>
          <p:cNvPr id="49" name="Isosceles Triangle 48"/>
          <p:cNvSpPr/>
          <p:nvPr/>
        </p:nvSpPr>
        <p:spPr>
          <a:xfrm>
            <a:off x="8564880" y="2688336"/>
            <a:ext cx="182880" cy="85344"/>
          </a:xfrm>
          <a:prstGeom prst="triangle">
            <a:avLst/>
          </a:prstGeom>
          <a:solidFill>
            <a:srgbClr val="EBE9E5"/>
          </a:solidFill>
          <a:ln>
            <a:noFill/>
          </a:ln>
          <a:effectLst/>
        </p:spPr>
        <p:txBody>
          <a:bodyPr rtlCol="0" anchor="ctr"/>
          <a:lstStyle/>
          <a:p>
            <a:pPr algn="ctr"/>
          </a:p>
        </p:txBody>
      </p:sp>
      <p:sp>
        <p:nvSpPr>
          <p:cNvPr id="50" name="Rounded Rectangle 49"/>
          <p:cNvSpPr/>
          <p:nvPr/>
        </p:nvSpPr>
        <p:spPr>
          <a:xfrm>
            <a:off x="6108192" y="2773680"/>
            <a:ext cx="5108448" cy="438912"/>
          </a:xfrm>
          <a:prstGeom prst="roundRect">
            <a:avLst>
              <a:gd name="adj" fmla="val 15000"/>
            </a:avLst>
          </a:prstGeom>
          <a:solidFill>
            <a:srgbClr val="EBE9E5"/>
          </a:solidFill>
          <a:ln>
            <a:noFill/>
          </a:ln>
          <a:effectLst/>
        </p:spPr>
        <p:txBody>
          <a:bodyPr rtlCol="0" anchor="ctr"/>
          <a:lstStyle/>
          <a:p>
            <a:pPr algn="ctr"/>
          </a:p>
        </p:txBody>
      </p:sp>
      <p:sp>
        <p:nvSpPr>
          <p:cNvPr id="51" name="TextBox 50"/>
          <p:cNvSpPr txBox="1"/>
          <p:nvPr/>
        </p:nvSpPr>
        <p:spPr>
          <a:xfrm>
            <a:off x="6230112" y="2816352"/>
            <a:ext cx="4864608" cy="365760"/>
          </a:xfrm>
          <a:prstGeom prst="rect">
            <a:avLst/>
          </a:prstGeom>
          <a:noFill/>
        </p:spPr>
        <p:txBody>
          <a:bodyPr wrap="square" anchor="ctr" lIns="0" rIns="0" tIns="0" bIns="0">
            <a:spAutoFit/>
          </a:bodyPr>
          <a:lstStyle/>
          <a:p>
            <a:pPr algn="l"/>
            <a:r>
              <a:rPr sz="900" b="0" i="0">
                <a:solidFill>
                  <a:srgbClr val="555B66"/>
                </a:solidFill>
                <a:latin typeface="Arial"/>
              </a:rPr>
              <a:t>Conversions non mesurées par Lemrock sur cette campagne. Elles seront intégrées à ce rapport à partir de vos données dès leur transmission.</a:t>
            </a:r>
          </a:p>
        </p:txBody>
      </p:sp>
      <p:sp>
        <p:nvSpPr>
          <p:cNvPr id="52" name="TextBox 51"/>
          <p:cNvSpPr txBox="1"/>
          <p:nvPr/>
        </p:nvSpPr>
        <p:spPr>
          <a:xfrm>
            <a:off x="530352" y="3322320"/>
            <a:ext cx="7315200" cy="182880"/>
          </a:xfrm>
          <a:prstGeom prst="rect">
            <a:avLst/>
          </a:prstGeom>
          <a:noFill/>
        </p:spPr>
        <p:txBody>
          <a:bodyPr wrap="square" anchor="t" lIns="0" rIns="0" tIns="0" bIns="0">
            <a:spAutoFit/>
          </a:bodyPr>
          <a:lstStyle/>
          <a:p>
            <a:pPr algn="l"/>
            <a:r>
              <a:rPr sz="1400" b="1" i="0">
                <a:solidFill>
                  <a:srgbClr val="EE6A2C"/>
                </a:solidFill>
                <a:latin typeface="Arial"/>
              </a:rPr>
              <a:t>INSIGHTS QUALITATIFS · ANALYSE DES RECHERCHES</a:t>
            </a:r>
          </a:p>
        </p:txBody>
      </p:sp>
      <p:sp>
        <p:nvSpPr>
          <p:cNvPr id="53" name="Rectangle 52"/>
          <p:cNvSpPr/>
          <p:nvPr/>
        </p:nvSpPr>
        <p:spPr>
          <a:xfrm>
            <a:off x="530352" y="3584448"/>
            <a:ext cx="3401568" cy="2560320"/>
          </a:xfrm>
          <a:prstGeom prst="rect">
            <a:avLst/>
          </a:prstGeom>
          <a:solidFill>
            <a:srgbClr val="FFFFFF"/>
          </a:solidFill>
          <a:ln>
            <a:noFill/>
          </a:ln>
          <a:effectLst/>
        </p:spPr>
        <p:txBody>
          <a:bodyPr rtlCol="0" anchor="ctr"/>
          <a:lstStyle/>
          <a:p>
            <a:pPr algn="ctr"/>
          </a:p>
        </p:txBody>
      </p:sp>
      <p:sp>
        <p:nvSpPr>
          <p:cNvPr id="54" name="Rectangle 53"/>
          <p:cNvSpPr/>
          <p:nvPr/>
        </p:nvSpPr>
        <p:spPr>
          <a:xfrm>
            <a:off x="4194048" y="3584448"/>
            <a:ext cx="3401568" cy="2560320"/>
          </a:xfrm>
          <a:prstGeom prst="rect">
            <a:avLst/>
          </a:prstGeom>
          <a:solidFill>
            <a:srgbClr val="FFFFFF"/>
          </a:solidFill>
          <a:ln>
            <a:noFill/>
          </a:ln>
          <a:effectLst/>
        </p:spPr>
        <p:txBody>
          <a:bodyPr rtlCol="0" anchor="ctr"/>
          <a:lstStyle/>
          <a:p>
            <a:pPr algn="ctr"/>
          </a:p>
        </p:txBody>
      </p:sp>
      <p:sp>
        <p:nvSpPr>
          <p:cNvPr id="55" name="Rectangle 54"/>
          <p:cNvSpPr/>
          <p:nvPr/>
        </p:nvSpPr>
        <p:spPr>
          <a:xfrm>
            <a:off x="7857744" y="3584448"/>
            <a:ext cx="3401568" cy="2560320"/>
          </a:xfrm>
          <a:prstGeom prst="rect">
            <a:avLst/>
          </a:prstGeom>
          <a:solidFill>
            <a:srgbClr val="FFFFFF"/>
          </a:solidFill>
          <a:ln>
            <a:noFill/>
          </a:ln>
          <a:effectLst/>
        </p:spPr>
        <p:txBody>
          <a:bodyPr rtlCol="0" anchor="ctr"/>
          <a:lstStyle/>
          <a:p>
            <a:pPr algn="ctr"/>
          </a:p>
        </p:txBody>
      </p:sp>
      <p:sp>
        <p:nvSpPr>
          <p:cNvPr id="56" name="TextBox 55"/>
          <p:cNvSpPr txBox="1"/>
          <p:nvPr/>
        </p:nvSpPr>
        <p:spPr>
          <a:xfrm>
            <a:off x="774192" y="3767328"/>
            <a:ext cx="2926080" cy="152400"/>
          </a:xfrm>
          <a:prstGeom prst="rect">
            <a:avLst/>
          </a:prstGeom>
          <a:noFill/>
        </p:spPr>
        <p:txBody>
          <a:bodyPr wrap="square" anchor="t" lIns="0" rIns="0" tIns="0" bIns="0">
            <a:spAutoFit/>
          </a:bodyPr>
          <a:lstStyle/>
          <a:p>
            <a:pPr algn="l"/>
            <a:r>
              <a:rPr sz="1300" b="1" i="0">
                <a:solidFill>
                  <a:srgbClr val="555B66"/>
                </a:solidFill>
                <a:latin typeface="Arial"/>
              </a:rPr>
              <a:t>CHAMP LEXICAL</a:t>
            </a:r>
          </a:p>
        </p:txBody>
      </p:sp>
      <p:sp>
        <p:nvSpPr>
          <p:cNvPr id="57" name="TextBox 56"/>
          <p:cNvSpPr txBox="1"/>
          <p:nvPr/>
        </p:nvSpPr>
        <p:spPr>
          <a:xfrm>
            <a:off x="774192" y="3992880"/>
            <a:ext cx="2926080" cy="121920"/>
          </a:xfrm>
          <a:prstGeom prst="rect">
            <a:avLst/>
          </a:prstGeom>
          <a:noFill/>
        </p:spPr>
        <p:txBody>
          <a:bodyPr wrap="square" anchor="t" lIns="0" rIns="0" tIns="0" bIns="0">
            <a:spAutoFit/>
          </a:bodyPr>
          <a:lstStyle/>
          <a:p>
            <a:pPr algn="l"/>
            <a:r>
              <a:rPr sz="1000" b="0" i="1">
                <a:solidFill>
                  <a:srgbClr val="8A93A6"/>
                </a:solidFill>
                <a:latin typeface="Arial"/>
              </a:rPr>
              <a:t>Termes les plus fréquents</a:t>
            </a:r>
          </a:p>
        </p:txBody>
      </p:sp>
      <p:sp>
        <p:nvSpPr>
          <p:cNvPr id="58" name="TextBox 57"/>
          <p:cNvSpPr txBox="1"/>
          <p:nvPr/>
        </p:nvSpPr>
        <p:spPr>
          <a:xfrm>
            <a:off x="774192" y="4236720"/>
            <a:ext cx="2987040" cy="1828800"/>
          </a:xfrm>
          <a:prstGeom prst="rect">
            <a:avLst/>
          </a:prstGeom>
          <a:noFill/>
        </p:spPr>
        <p:txBody>
          <a:bodyPr wrap="square" anchor="t" lIns="0" rIns="0" tIns="0" bIns="0">
            <a:spAutoFit/>
          </a:bodyPr>
          <a:lstStyle/>
          <a:p>
            <a:pPr algn="l">
              <a:spcAft>
                <a:spcPts val="500"/>
              </a:spcAft>
            </a:pPr>
            <a:r>
              <a:rPr sz="1600" b="1" i="0">
                <a:solidFill>
                  <a:srgbClr val="111111"/>
                </a:solidFill>
                <a:latin typeface="Arial"/>
              </a:rPr>
              <a:t>À compléter</a:t>
            </a:r>
          </a:p>
          <a:p>
            <a:pPr algn="l">
              <a:spcAft>
                <a:spcPts val="500"/>
              </a:spcAft>
            </a:pPr>
            <a:r>
              <a:rPr sz="1100" b="0" i="0">
                <a:solidFill>
                  <a:srgbClr val="111111"/>
                </a:solidFill>
                <a:latin typeface="Arial"/>
              </a:rPr>
              <a:t>Rapport d'insights de septembre</a:t>
            </a:r>
          </a:p>
          <a:p>
            <a:pPr algn="l">
              <a:spcAft>
                <a:spcPts val="500"/>
              </a:spcAft>
            </a:pPr>
            <a:r>
              <a:rPr sz="1100" b="0" i="0">
                <a:solidFill>
                  <a:srgbClr val="111111"/>
                </a:solidFill>
                <a:latin typeface="Arial"/>
              </a:rPr>
              <a:t>hors sujet (smartphones reconditionnés)</a:t>
            </a:r>
          </a:p>
        </p:txBody>
      </p:sp>
      <p:sp>
        <p:nvSpPr>
          <p:cNvPr id="59" name="TextBox 58"/>
          <p:cNvSpPr txBox="1"/>
          <p:nvPr/>
        </p:nvSpPr>
        <p:spPr>
          <a:xfrm>
            <a:off x="4437888" y="3767328"/>
            <a:ext cx="2926080" cy="152400"/>
          </a:xfrm>
          <a:prstGeom prst="rect">
            <a:avLst/>
          </a:prstGeom>
          <a:noFill/>
        </p:spPr>
        <p:txBody>
          <a:bodyPr wrap="square" anchor="t" lIns="0" rIns="0" tIns="0" bIns="0">
            <a:spAutoFit/>
          </a:bodyPr>
          <a:lstStyle/>
          <a:p>
            <a:pPr algn="l"/>
            <a:r>
              <a:rPr sz="1300" b="1" i="0">
                <a:solidFill>
                  <a:srgbClr val="555B66"/>
                </a:solidFill>
                <a:latin typeface="Arial"/>
              </a:rPr>
              <a:t>EXEMPLES DE REQUÊTES</a:t>
            </a:r>
          </a:p>
        </p:txBody>
      </p:sp>
      <p:sp>
        <p:nvSpPr>
          <p:cNvPr id="60" name="TextBox 59"/>
          <p:cNvSpPr txBox="1"/>
          <p:nvPr/>
        </p:nvSpPr>
        <p:spPr>
          <a:xfrm>
            <a:off x="4437888" y="3992880"/>
            <a:ext cx="2926080" cy="121920"/>
          </a:xfrm>
          <a:prstGeom prst="rect">
            <a:avLst/>
          </a:prstGeom>
          <a:noFill/>
        </p:spPr>
        <p:txBody>
          <a:bodyPr wrap="square" anchor="t" lIns="0" rIns="0" tIns="0" bIns="0">
            <a:spAutoFit/>
          </a:bodyPr>
          <a:lstStyle/>
          <a:p>
            <a:pPr algn="l"/>
            <a:r>
              <a:rPr sz="1000" b="0" i="1">
                <a:solidFill>
                  <a:srgbClr val="8A93A6"/>
                </a:solidFill>
                <a:latin typeface="Arial"/>
              </a:rPr>
              <a:t>Questions posées aux IA</a:t>
            </a:r>
          </a:p>
        </p:txBody>
      </p:sp>
      <p:sp>
        <p:nvSpPr>
          <p:cNvPr id="61" name="TextBox 60"/>
          <p:cNvSpPr txBox="1"/>
          <p:nvPr/>
        </p:nvSpPr>
        <p:spPr>
          <a:xfrm>
            <a:off x="4437888" y="4267200"/>
            <a:ext cx="2913888" cy="304800"/>
          </a:xfrm>
          <a:prstGeom prst="rect">
            <a:avLst/>
          </a:prstGeom>
          <a:noFill/>
        </p:spPr>
        <p:txBody>
          <a:bodyPr wrap="square" anchor="ctr" lIns="0" rIns="0" tIns="0" bIns="0">
            <a:spAutoFit/>
          </a:bodyPr>
          <a:lstStyle/>
          <a:p>
            <a:pPr algn="l"/>
            <a:r>
              <a:rPr sz="1000" b="0" i="0">
                <a:solidFill>
                  <a:srgbClr val="111111"/>
                </a:solidFill>
                <a:latin typeface="Arial"/>
              </a:rPr>
              <a:t>Comment faire une photo d'identité conforme avec mon téléphone ?</a:t>
            </a:r>
          </a:p>
        </p:txBody>
      </p:sp>
      <p:sp>
        <p:nvSpPr>
          <p:cNvPr id="62" name="Rectangle 61"/>
          <p:cNvSpPr/>
          <p:nvPr/>
        </p:nvSpPr>
        <p:spPr>
          <a:xfrm>
            <a:off x="4437888" y="4602480"/>
            <a:ext cx="2913888" cy="6096"/>
          </a:xfrm>
          <a:prstGeom prst="rect">
            <a:avLst/>
          </a:prstGeom>
          <a:solidFill>
            <a:srgbClr val="E6E3DE"/>
          </a:solidFill>
          <a:ln>
            <a:noFill/>
          </a:ln>
          <a:effectLst/>
        </p:spPr>
        <p:txBody>
          <a:bodyPr rtlCol="0" anchor="ctr"/>
          <a:lstStyle/>
          <a:p>
            <a:pPr algn="ctr"/>
          </a:p>
        </p:txBody>
      </p:sp>
      <p:sp>
        <p:nvSpPr>
          <p:cNvPr id="63" name="TextBox 62"/>
          <p:cNvSpPr txBox="1"/>
          <p:nvPr/>
        </p:nvSpPr>
        <p:spPr>
          <a:xfrm>
            <a:off x="4437888" y="4632960"/>
            <a:ext cx="2913888" cy="304800"/>
          </a:xfrm>
          <a:prstGeom prst="rect">
            <a:avLst/>
          </a:prstGeom>
          <a:noFill/>
        </p:spPr>
        <p:txBody>
          <a:bodyPr wrap="square" anchor="ctr" lIns="0" rIns="0" tIns="0" bIns="0">
            <a:spAutoFit/>
          </a:bodyPr>
          <a:lstStyle/>
          <a:p>
            <a:pPr algn="l"/>
            <a:r>
              <a:rPr sz="1000" b="0" i="0">
                <a:solidFill>
                  <a:srgbClr val="111111"/>
                </a:solidFill>
                <a:latin typeface="Arial"/>
              </a:rPr>
              <a:t>Peut-on faire une photo de passeport depuis chez soi ?</a:t>
            </a:r>
          </a:p>
        </p:txBody>
      </p:sp>
      <p:sp>
        <p:nvSpPr>
          <p:cNvPr id="64" name="Rectangle 63"/>
          <p:cNvSpPr/>
          <p:nvPr/>
        </p:nvSpPr>
        <p:spPr>
          <a:xfrm>
            <a:off x="4437888" y="4968240"/>
            <a:ext cx="2913888" cy="6096"/>
          </a:xfrm>
          <a:prstGeom prst="rect">
            <a:avLst/>
          </a:prstGeom>
          <a:solidFill>
            <a:srgbClr val="E6E3DE"/>
          </a:solidFill>
          <a:ln>
            <a:noFill/>
          </a:ln>
          <a:effectLst/>
        </p:spPr>
        <p:txBody>
          <a:bodyPr rtlCol="0" anchor="ctr"/>
          <a:lstStyle/>
          <a:p>
            <a:pPr algn="ctr"/>
          </a:p>
        </p:txBody>
      </p:sp>
      <p:sp>
        <p:nvSpPr>
          <p:cNvPr id="65" name="TextBox 64"/>
          <p:cNvSpPr txBox="1"/>
          <p:nvPr/>
        </p:nvSpPr>
        <p:spPr>
          <a:xfrm>
            <a:off x="4437888" y="4998720"/>
            <a:ext cx="2913888" cy="304800"/>
          </a:xfrm>
          <a:prstGeom prst="rect">
            <a:avLst/>
          </a:prstGeom>
          <a:noFill/>
        </p:spPr>
        <p:txBody>
          <a:bodyPr wrap="square" anchor="ctr" lIns="0" rIns="0" tIns="0" bIns="0">
            <a:spAutoFit/>
          </a:bodyPr>
          <a:lstStyle/>
          <a:p>
            <a:pPr algn="l"/>
            <a:r>
              <a:rPr sz="1000" b="0" i="0">
                <a:solidFill>
                  <a:srgbClr val="111111"/>
                </a:solidFill>
                <a:latin typeface="Arial"/>
              </a:rPr>
              <a:t>Comment savoir si ma photo d'identité sera acceptée ?</a:t>
            </a:r>
          </a:p>
        </p:txBody>
      </p:sp>
      <p:sp>
        <p:nvSpPr>
          <p:cNvPr id="66" name="Rectangle 65"/>
          <p:cNvSpPr/>
          <p:nvPr/>
        </p:nvSpPr>
        <p:spPr>
          <a:xfrm>
            <a:off x="4437888" y="5334000"/>
            <a:ext cx="2913888" cy="6096"/>
          </a:xfrm>
          <a:prstGeom prst="rect">
            <a:avLst/>
          </a:prstGeom>
          <a:solidFill>
            <a:srgbClr val="E6E3DE"/>
          </a:solidFill>
          <a:ln>
            <a:noFill/>
          </a:ln>
          <a:effectLst/>
        </p:spPr>
        <p:txBody>
          <a:bodyPr rtlCol="0" anchor="ctr"/>
          <a:lstStyle/>
          <a:p>
            <a:pPr algn="ctr"/>
          </a:p>
        </p:txBody>
      </p:sp>
      <p:sp>
        <p:nvSpPr>
          <p:cNvPr id="67" name="TextBox 66"/>
          <p:cNvSpPr txBox="1"/>
          <p:nvPr/>
        </p:nvSpPr>
        <p:spPr>
          <a:xfrm>
            <a:off x="4437888" y="5364480"/>
            <a:ext cx="2913888" cy="304800"/>
          </a:xfrm>
          <a:prstGeom prst="rect">
            <a:avLst/>
          </a:prstGeom>
          <a:noFill/>
        </p:spPr>
        <p:txBody>
          <a:bodyPr wrap="square" anchor="ctr" lIns="0" rIns="0" tIns="0" bIns="0">
            <a:spAutoFit/>
          </a:bodyPr>
          <a:lstStyle/>
          <a:p>
            <a:pPr algn="l"/>
            <a:r>
              <a:rPr sz="1000" b="0" i="0">
                <a:solidFill>
                  <a:srgbClr val="111111"/>
                </a:solidFill>
                <a:latin typeface="Arial"/>
              </a:rPr>
              <a:t>Quelle photo faut-il transmettre sur le site de l'ANTS ?</a:t>
            </a:r>
          </a:p>
        </p:txBody>
      </p:sp>
      <p:sp>
        <p:nvSpPr>
          <p:cNvPr id="68" name="Rectangle 67"/>
          <p:cNvSpPr/>
          <p:nvPr/>
        </p:nvSpPr>
        <p:spPr>
          <a:xfrm>
            <a:off x="4437888" y="5699760"/>
            <a:ext cx="2913888" cy="6096"/>
          </a:xfrm>
          <a:prstGeom prst="rect">
            <a:avLst/>
          </a:prstGeom>
          <a:solidFill>
            <a:srgbClr val="E6E3DE"/>
          </a:solidFill>
          <a:ln>
            <a:noFill/>
          </a:ln>
          <a:effectLst/>
        </p:spPr>
        <p:txBody>
          <a:bodyPr rtlCol="0" anchor="ctr"/>
          <a:lstStyle/>
          <a:p>
            <a:pPr algn="ctr"/>
          </a:p>
        </p:txBody>
      </p:sp>
      <p:sp>
        <p:nvSpPr>
          <p:cNvPr id="69" name="TextBox 68"/>
          <p:cNvSpPr txBox="1"/>
          <p:nvPr/>
        </p:nvSpPr>
        <p:spPr>
          <a:xfrm>
            <a:off x="4437888" y="5730240"/>
            <a:ext cx="2913888" cy="304800"/>
          </a:xfrm>
          <a:prstGeom prst="rect">
            <a:avLst/>
          </a:prstGeom>
          <a:noFill/>
        </p:spPr>
        <p:txBody>
          <a:bodyPr wrap="square" anchor="ctr" lIns="0" rIns="0" tIns="0" bIns="0">
            <a:spAutoFit/>
          </a:bodyPr>
          <a:lstStyle/>
          <a:p>
            <a:pPr algn="l"/>
            <a:r>
              <a:rPr sz="1000" b="0" i="0">
                <a:solidFill>
                  <a:srgbClr val="111111"/>
                </a:solidFill>
                <a:latin typeface="Arial"/>
              </a:rPr>
              <a:t>Comment prendre une photo d'identité correcte pour un bébé ?</a:t>
            </a:r>
          </a:p>
        </p:txBody>
      </p:sp>
      <p:sp>
        <p:nvSpPr>
          <p:cNvPr id="70" name="TextBox 69"/>
          <p:cNvSpPr txBox="1"/>
          <p:nvPr/>
        </p:nvSpPr>
        <p:spPr>
          <a:xfrm>
            <a:off x="8101584" y="3767328"/>
            <a:ext cx="2926080" cy="152400"/>
          </a:xfrm>
          <a:prstGeom prst="rect">
            <a:avLst/>
          </a:prstGeom>
          <a:noFill/>
        </p:spPr>
        <p:txBody>
          <a:bodyPr wrap="square" anchor="t" lIns="0" rIns="0" tIns="0" bIns="0">
            <a:spAutoFit/>
          </a:bodyPr>
          <a:lstStyle/>
          <a:p>
            <a:pPr algn="l"/>
            <a:r>
              <a:rPr sz="1300" b="1" i="0">
                <a:solidFill>
                  <a:srgbClr val="555B66"/>
                </a:solidFill>
                <a:latin typeface="Arial"/>
              </a:rPr>
              <a:t>CATÉGORIES DE PRODUITS</a:t>
            </a:r>
          </a:p>
        </p:txBody>
      </p:sp>
      <p:sp>
        <p:nvSpPr>
          <p:cNvPr id="71" name="TextBox 70"/>
          <p:cNvSpPr txBox="1"/>
          <p:nvPr/>
        </p:nvSpPr>
        <p:spPr>
          <a:xfrm>
            <a:off x="8101584" y="3992880"/>
            <a:ext cx="2926080" cy="121920"/>
          </a:xfrm>
          <a:prstGeom prst="rect">
            <a:avLst/>
          </a:prstGeom>
          <a:noFill/>
        </p:spPr>
        <p:txBody>
          <a:bodyPr wrap="square" anchor="t" lIns="0" rIns="0" tIns="0" bIns="0">
            <a:spAutoFit/>
          </a:bodyPr>
          <a:lstStyle/>
          <a:p>
            <a:pPr algn="l"/>
            <a:r>
              <a:rPr sz="1000" b="0" i="1">
                <a:solidFill>
                  <a:srgbClr val="8A93A6"/>
                </a:solidFill>
                <a:latin typeface="Arial"/>
              </a:rPr>
              <a:t>Répartition des requêtes</a:t>
            </a:r>
          </a:p>
        </p:txBody>
      </p:sp>
      <p:sp>
        <p:nvSpPr>
          <p:cNvPr id="72" name="TextBox 71"/>
          <p:cNvSpPr txBox="1"/>
          <p:nvPr/>
        </p:nvSpPr>
        <p:spPr>
          <a:xfrm>
            <a:off x="8101584" y="4267200"/>
            <a:ext cx="2194560" cy="134112"/>
          </a:xfrm>
          <a:prstGeom prst="rect">
            <a:avLst/>
          </a:prstGeom>
          <a:noFill/>
        </p:spPr>
        <p:txBody>
          <a:bodyPr wrap="square" anchor="t" lIns="0" rIns="0" tIns="0" bIns="0">
            <a:spAutoFit/>
          </a:bodyPr>
          <a:lstStyle/>
          <a:p>
            <a:pPr algn="l"/>
            <a:r>
              <a:rPr sz="1000" b="0" i="0">
                <a:solidFill>
                  <a:srgbClr val="111111"/>
                </a:solidFill>
                <a:latin typeface="Arial"/>
              </a:rPr>
              <a:t>Carte d'identité et passeport</a:t>
            </a:r>
          </a:p>
        </p:txBody>
      </p:sp>
      <p:sp>
        <p:nvSpPr>
          <p:cNvPr id="73" name="Rectangle 72"/>
          <p:cNvSpPr/>
          <p:nvPr/>
        </p:nvSpPr>
        <p:spPr>
          <a:xfrm>
            <a:off x="8101584" y="4419600"/>
            <a:ext cx="2011680" cy="54864"/>
          </a:xfrm>
          <a:prstGeom prst="rect">
            <a:avLst/>
          </a:prstGeom>
          <a:solidFill>
            <a:srgbClr val="ECEAE5"/>
          </a:solidFill>
          <a:ln>
            <a:noFill/>
          </a:ln>
          <a:effectLst/>
        </p:spPr>
        <p:txBody>
          <a:bodyPr rtlCol="0" anchor="ctr"/>
          <a:lstStyle/>
          <a:p>
            <a:pPr algn="ctr"/>
          </a:p>
        </p:txBody>
      </p:sp>
      <p:sp>
        <p:nvSpPr>
          <p:cNvPr id="74" name="Rectangle 73"/>
          <p:cNvSpPr/>
          <p:nvPr/>
        </p:nvSpPr>
        <p:spPr>
          <a:xfrm>
            <a:off x="8101584" y="4419600"/>
            <a:ext cx="824788" cy="54864"/>
          </a:xfrm>
          <a:prstGeom prst="rect">
            <a:avLst/>
          </a:prstGeom>
          <a:solidFill>
            <a:srgbClr val="EE6A2C"/>
          </a:solidFill>
          <a:ln>
            <a:noFill/>
          </a:ln>
          <a:effectLst/>
        </p:spPr>
        <p:txBody>
          <a:bodyPr rtlCol="0" anchor="ctr"/>
          <a:lstStyle/>
          <a:p>
            <a:pPr algn="ctr"/>
          </a:p>
        </p:txBody>
      </p:sp>
      <p:sp>
        <p:nvSpPr>
          <p:cNvPr id="75" name="TextBox 74"/>
          <p:cNvSpPr txBox="1"/>
          <p:nvPr/>
        </p:nvSpPr>
        <p:spPr>
          <a:xfrm>
            <a:off x="10241280" y="4340352"/>
            <a:ext cx="792480" cy="182880"/>
          </a:xfrm>
          <a:prstGeom prst="rect">
            <a:avLst/>
          </a:prstGeom>
          <a:noFill/>
        </p:spPr>
        <p:txBody>
          <a:bodyPr wrap="square" anchor="ctr" lIns="0" rIns="0" tIns="0" bIns="0">
            <a:spAutoFit/>
          </a:bodyPr>
          <a:lstStyle/>
          <a:p>
            <a:pPr algn="r"/>
            <a:r>
              <a:rPr sz="1300" b="1" i="0">
                <a:solidFill>
                  <a:srgbClr val="111111"/>
                </a:solidFill>
                <a:latin typeface="Arial"/>
              </a:rPr>
              <a:t>41 %</a:t>
            </a:r>
          </a:p>
        </p:txBody>
      </p:sp>
      <p:sp>
        <p:nvSpPr>
          <p:cNvPr id="76" name="TextBox 75"/>
          <p:cNvSpPr txBox="1"/>
          <p:nvPr/>
        </p:nvSpPr>
        <p:spPr>
          <a:xfrm>
            <a:off x="8101584" y="4572000"/>
            <a:ext cx="2194560" cy="134112"/>
          </a:xfrm>
          <a:prstGeom prst="rect">
            <a:avLst/>
          </a:prstGeom>
          <a:noFill/>
        </p:spPr>
        <p:txBody>
          <a:bodyPr wrap="square" anchor="t" lIns="0" rIns="0" tIns="0" bIns="0">
            <a:spAutoFit/>
          </a:bodyPr>
          <a:lstStyle/>
          <a:p>
            <a:pPr algn="l"/>
            <a:r>
              <a:rPr sz="1000" b="0" i="0">
                <a:solidFill>
                  <a:srgbClr val="111111"/>
                </a:solidFill>
                <a:latin typeface="Arial"/>
              </a:rPr>
              <a:t>Permis de conduire et e-photo ANTS</a:t>
            </a:r>
          </a:p>
        </p:txBody>
      </p:sp>
      <p:sp>
        <p:nvSpPr>
          <p:cNvPr id="77" name="Rectangle 76"/>
          <p:cNvSpPr/>
          <p:nvPr/>
        </p:nvSpPr>
        <p:spPr>
          <a:xfrm>
            <a:off x="8101584" y="4724400"/>
            <a:ext cx="2011680" cy="54864"/>
          </a:xfrm>
          <a:prstGeom prst="rect">
            <a:avLst/>
          </a:prstGeom>
          <a:solidFill>
            <a:srgbClr val="ECEAE5"/>
          </a:solidFill>
          <a:ln>
            <a:noFill/>
          </a:ln>
          <a:effectLst/>
        </p:spPr>
        <p:txBody>
          <a:bodyPr rtlCol="0" anchor="ctr"/>
          <a:lstStyle/>
          <a:p>
            <a:pPr algn="ctr"/>
          </a:p>
        </p:txBody>
      </p:sp>
      <p:sp>
        <p:nvSpPr>
          <p:cNvPr id="78" name="Rectangle 77"/>
          <p:cNvSpPr/>
          <p:nvPr/>
        </p:nvSpPr>
        <p:spPr>
          <a:xfrm>
            <a:off x="8101584" y="4724400"/>
            <a:ext cx="482803" cy="54864"/>
          </a:xfrm>
          <a:prstGeom prst="rect">
            <a:avLst/>
          </a:prstGeom>
          <a:solidFill>
            <a:srgbClr val="9AA3B2"/>
          </a:solidFill>
          <a:ln>
            <a:noFill/>
          </a:ln>
          <a:effectLst/>
        </p:spPr>
        <p:txBody>
          <a:bodyPr rtlCol="0" anchor="ctr"/>
          <a:lstStyle/>
          <a:p>
            <a:pPr algn="ctr"/>
          </a:p>
        </p:txBody>
      </p:sp>
      <p:sp>
        <p:nvSpPr>
          <p:cNvPr id="79" name="TextBox 78"/>
          <p:cNvSpPr txBox="1"/>
          <p:nvPr/>
        </p:nvSpPr>
        <p:spPr>
          <a:xfrm>
            <a:off x="10241280" y="4645152"/>
            <a:ext cx="792480" cy="182880"/>
          </a:xfrm>
          <a:prstGeom prst="rect">
            <a:avLst/>
          </a:prstGeom>
          <a:noFill/>
        </p:spPr>
        <p:txBody>
          <a:bodyPr wrap="square" anchor="ctr" lIns="0" rIns="0" tIns="0" bIns="0">
            <a:spAutoFit/>
          </a:bodyPr>
          <a:lstStyle/>
          <a:p>
            <a:pPr algn="r"/>
            <a:r>
              <a:rPr sz="1300" b="1" i="0">
                <a:solidFill>
                  <a:srgbClr val="111111"/>
                </a:solidFill>
                <a:latin typeface="Arial"/>
              </a:rPr>
              <a:t>24 %</a:t>
            </a:r>
          </a:p>
        </p:txBody>
      </p:sp>
      <p:sp>
        <p:nvSpPr>
          <p:cNvPr id="80" name="TextBox 79"/>
          <p:cNvSpPr txBox="1"/>
          <p:nvPr/>
        </p:nvSpPr>
        <p:spPr>
          <a:xfrm>
            <a:off x="8101584" y="4876800"/>
            <a:ext cx="2194560" cy="134112"/>
          </a:xfrm>
          <a:prstGeom prst="rect">
            <a:avLst/>
          </a:prstGeom>
          <a:noFill/>
        </p:spPr>
        <p:txBody>
          <a:bodyPr wrap="square" anchor="t" lIns="0" rIns="0" tIns="0" bIns="0">
            <a:spAutoFit/>
          </a:bodyPr>
          <a:lstStyle/>
          <a:p>
            <a:pPr algn="l"/>
            <a:r>
              <a:rPr sz="1000" b="0" i="0">
                <a:solidFill>
                  <a:srgbClr val="111111"/>
                </a:solidFill>
                <a:latin typeface="Arial"/>
              </a:rPr>
              <a:t>Visa et titre de séjour</a:t>
            </a:r>
          </a:p>
        </p:txBody>
      </p:sp>
      <p:sp>
        <p:nvSpPr>
          <p:cNvPr id="81" name="Rectangle 80"/>
          <p:cNvSpPr/>
          <p:nvPr/>
        </p:nvSpPr>
        <p:spPr>
          <a:xfrm>
            <a:off x="8101584" y="5029200"/>
            <a:ext cx="2011680" cy="54864"/>
          </a:xfrm>
          <a:prstGeom prst="rect">
            <a:avLst/>
          </a:prstGeom>
          <a:solidFill>
            <a:srgbClr val="ECEAE5"/>
          </a:solidFill>
          <a:ln>
            <a:noFill/>
          </a:ln>
          <a:effectLst/>
        </p:spPr>
        <p:txBody>
          <a:bodyPr rtlCol="0" anchor="ctr"/>
          <a:lstStyle/>
          <a:p>
            <a:pPr algn="ctr"/>
          </a:p>
        </p:txBody>
      </p:sp>
      <p:sp>
        <p:nvSpPr>
          <p:cNvPr id="82" name="Rectangle 81"/>
          <p:cNvSpPr/>
          <p:nvPr/>
        </p:nvSpPr>
        <p:spPr>
          <a:xfrm>
            <a:off x="8101584" y="5029200"/>
            <a:ext cx="301752" cy="54864"/>
          </a:xfrm>
          <a:prstGeom prst="rect">
            <a:avLst/>
          </a:prstGeom>
          <a:solidFill>
            <a:srgbClr val="9AA3B2"/>
          </a:solidFill>
          <a:ln>
            <a:noFill/>
          </a:ln>
          <a:effectLst/>
        </p:spPr>
        <p:txBody>
          <a:bodyPr rtlCol="0" anchor="ctr"/>
          <a:lstStyle/>
          <a:p>
            <a:pPr algn="ctr"/>
          </a:p>
        </p:txBody>
      </p:sp>
      <p:sp>
        <p:nvSpPr>
          <p:cNvPr id="83" name="TextBox 82"/>
          <p:cNvSpPr txBox="1"/>
          <p:nvPr/>
        </p:nvSpPr>
        <p:spPr>
          <a:xfrm>
            <a:off x="10241280" y="4949952"/>
            <a:ext cx="792480" cy="182880"/>
          </a:xfrm>
          <a:prstGeom prst="rect">
            <a:avLst/>
          </a:prstGeom>
          <a:noFill/>
        </p:spPr>
        <p:txBody>
          <a:bodyPr wrap="square" anchor="ctr" lIns="0" rIns="0" tIns="0" bIns="0">
            <a:spAutoFit/>
          </a:bodyPr>
          <a:lstStyle/>
          <a:p>
            <a:pPr algn="r"/>
            <a:r>
              <a:rPr sz="1300" b="1" i="0">
                <a:solidFill>
                  <a:srgbClr val="111111"/>
                </a:solidFill>
                <a:latin typeface="Arial"/>
              </a:rPr>
              <a:t>15 %</a:t>
            </a:r>
          </a:p>
        </p:txBody>
      </p:sp>
      <p:sp>
        <p:nvSpPr>
          <p:cNvPr id="84" name="TextBox 83"/>
          <p:cNvSpPr txBox="1"/>
          <p:nvPr/>
        </p:nvSpPr>
        <p:spPr>
          <a:xfrm>
            <a:off x="8101584" y="5181600"/>
            <a:ext cx="2194560" cy="134112"/>
          </a:xfrm>
          <a:prstGeom prst="rect">
            <a:avLst/>
          </a:prstGeom>
          <a:noFill/>
        </p:spPr>
        <p:txBody>
          <a:bodyPr wrap="square" anchor="t" lIns="0" rIns="0" tIns="0" bIns="0">
            <a:spAutoFit/>
          </a:bodyPr>
          <a:lstStyle/>
          <a:p>
            <a:pPr algn="l"/>
            <a:r>
              <a:rPr sz="1000" b="0" i="0">
                <a:solidFill>
                  <a:srgbClr val="111111"/>
                </a:solidFill>
                <a:latin typeface="Arial"/>
              </a:rPr>
              <a:t>Création et contrôle de conformité</a:t>
            </a:r>
          </a:p>
        </p:txBody>
      </p:sp>
      <p:sp>
        <p:nvSpPr>
          <p:cNvPr id="85" name="Rectangle 84"/>
          <p:cNvSpPr/>
          <p:nvPr/>
        </p:nvSpPr>
        <p:spPr>
          <a:xfrm>
            <a:off x="8101584" y="5334000"/>
            <a:ext cx="2011680" cy="54864"/>
          </a:xfrm>
          <a:prstGeom prst="rect">
            <a:avLst/>
          </a:prstGeom>
          <a:solidFill>
            <a:srgbClr val="ECEAE5"/>
          </a:solidFill>
          <a:ln>
            <a:noFill/>
          </a:ln>
          <a:effectLst/>
        </p:spPr>
        <p:txBody>
          <a:bodyPr rtlCol="0" anchor="ctr"/>
          <a:lstStyle/>
          <a:p>
            <a:pPr algn="ctr"/>
          </a:p>
        </p:txBody>
      </p:sp>
      <p:sp>
        <p:nvSpPr>
          <p:cNvPr id="86" name="Rectangle 85"/>
          <p:cNvSpPr/>
          <p:nvPr/>
        </p:nvSpPr>
        <p:spPr>
          <a:xfrm>
            <a:off x="8101584" y="5334000"/>
            <a:ext cx="201168" cy="54864"/>
          </a:xfrm>
          <a:prstGeom prst="rect">
            <a:avLst/>
          </a:prstGeom>
          <a:solidFill>
            <a:srgbClr val="9AA3B2"/>
          </a:solidFill>
          <a:ln>
            <a:noFill/>
          </a:ln>
          <a:effectLst/>
        </p:spPr>
        <p:txBody>
          <a:bodyPr rtlCol="0" anchor="ctr"/>
          <a:lstStyle/>
          <a:p>
            <a:pPr algn="ctr"/>
          </a:p>
        </p:txBody>
      </p:sp>
      <p:sp>
        <p:nvSpPr>
          <p:cNvPr id="87" name="TextBox 86"/>
          <p:cNvSpPr txBox="1"/>
          <p:nvPr/>
        </p:nvSpPr>
        <p:spPr>
          <a:xfrm>
            <a:off x="10241280" y="5254752"/>
            <a:ext cx="792480" cy="182880"/>
          </a:xfrm>
          <a:prstGeom prst="rect">
            <a:avLst/>
          </a:prstGeom>
          <a:noFill/>
        </p:spPr>
        <p:txBody>
          <a:bodyPr wrap="square" anchor="ctr" lIns="0" rIns="0" tIns="0" bIns="0">
            <a:spAutoFit/>
          </a:bodyPr>
          <a:lstStyle/>
          <a:p>
            <a:pPr algn="r"/>
            <a:r>
              <a:rPr sz="1300" b="1" i="0">
                <a:solidFill>
                  <a:srgbClr val="111111"/>
                </a:solidFill>
                <a:latin typeface="Arial"/>
              </a:rPr>
              <a:t>10 %</a:t>
            </a:r>
          </a:p>
        </p:txBody>
      </p:sp>
      <p:sp>
        <p:nvSpPr>
          <p:cNvPr id="88" name="TextBox 87"/>
          <p:cNvSpPr txBox="1"/>
          <p:nvPr/>
        </p:nvSpPr>
        <p:spPr>
          <a:xfrm>
            <a:off x="8101584" y="5486400"/>
            <a:ext cx="2194560" cy="134112"/>
          </a:xfrm>
          <a:prstGeom prst="rect">
            <a:avLst/>
          </a:prstGeom>
          <a:noFill/>
        </p:spPr>
        <p:txBody>
          <a:bodyPr wrap="square" anchor="t" lIns="0" rIns="0" tIns="0" bIns="0">
            <a:spAutoFit/>
          </a:bodyPr>
          <a:lstStyle/>
          <a:p>
            <a:pPr algn="l"/>
            <a:r>
              <a:rPr sz="900" b="0" i="0">
                <a:solidFill>
                  <a:srgbClr val="111111"/>
                </a:solidFill>
                <a:latin typeface="Arial"/>
              </a:rPr>
              <a:t>Photos de bébé, d'enfant et publics empêchés</a:t>
            </a:r>
          </a:p>
        </p:txBody>
      </p:sp>
      <p:sp>
        <p:nvSpPr>
          <p:cNvPr id="89" name="Rectangle 88"/>
          <p:cNvSpPr/>
          <p:nvPr/>
        </p:nvSpPr>
        <p:spPr>
          <a:xfrm>
            <a:off x="8101584" y="5638800"/>
            <a:ext cx="2011680" cy="54864"/>
          </a:xfrm>
          <a:prstGeom prst="rect">
            <a:avLst/>
          </a:prstGeom>
          <a:solidFill>
            <a:srgbClr val="ECEAE5"/>
          </a:solidFill>
          <a:ln>
            <a:noFill/>
          </a:ln>
          <a:effectLst/>
        </p:spPr>
        <p:txBody>
          <a:bodyPr rtlCol="0" anchor="ctr"/>
          <a:lstStyle/>
          <a:p>
            <a:pPr algn="ctr"/>
          </a:p>
        </p:txBody>
      </p:sp>
      <p:sp>
        <p:nvSpPr>
          <p:cNvPr id="90" name="Rectangle 89"/>
          <p:cNvSpPr/>
          <p:nvPr/>
        </p:nvSpPr>
        <p:spPr>
          <a:xfrm>
            <a:off x="8101584" y="5638800"/>
            <a:ext cx="100584" cy="54864"/>
          </a:xfrm>
          <a:prstGeom prst="rect">
            <a:avLst/>
          </a:prstGeom>
          <a:solidFill>
            <a:srgbClr val="9AA3B2"/>
          </a:solidFill>
          <a:ln>
            <a:noFill/>
          </a:ln>
          <a:effectLst/>
        </p:spPr>
        <p:txBody>
          <a:bodyPr rtlCol="0" anchor="ctr"/>
          <a:lstStyle/>
          <a:p>
            <a:pPr algn="ctr"/>
          </a:p>
        </p:txBody>
      </p:sp>
      <p:sp>
        <p:nvSpPr>
          <p:cNvPr id="91" name="TextBox 90"/>
          <p:cNvSpPr txBox="1"/>
          <p:nvPr/>
        </p:nvSpPr>
        <p:spPr>
          <a:xfrm>
            <a:off x="10241280" y="5559552"/>
            <a:ext cx="792480" cy="182880"/>
          </a:xfrm>
          <a:prstGeom prst="rect">
            <a:avLst/>
          </a:prstGeom>
          <a:noFill/>
        </p:spPr>
        <p:txBody>
          <a:bodyPr wrap="square" anchor="ctr" lIns="0" rIns="0" tIns="0" bIns="0">
            <a:spAutoFit/>
          </a:bodyPr>
          <a:lstStyle/>
          <a:p>
            <a:pPr algn="r"/>
            <a:r>
              <a:rPr sz="1300" b="1" i="0">
                <a:solidFill>
                  <a:srgbClr val="111111"/>
                </a:solidFill>
                <a:latin typeface="Arial"/>
              </a:rPr>
              <a:t>5 %</a:t>
            </a:r>
          </a:p>
        </p:txBody>
      </p:sp>
      <p:sp>
        <p:nvSpPr>
          <p:cNvPr id="92" name="TextBox 91"/>
          <p:cNvSpPr txBox="1"/>
          <p:nvPr/>
        </p:nvSpPr>
        <p:spPr>
          <a:xfrm>
            <a:off x="8101584" y="5791200"/>
            <a:ext cx="2194560" cy="134112"/>
          </a:xfrm>
          <a:prstGeom prst="rect">
            <a:avLst/>
          </a:prstGeom>
          <a:noFill/>
        </p:spPr>
        <p:txBody>
          <a:bodyPr wrap="square" anchor="t" lIns="0" rIns="0" tIns="0" bIns="0">
            <a:spAutoFit/>
          </a:bodyPr>
          <a:lstStyle/>
          <a:p>
            <a:pPr algn="l"/>
            <a:r>
              <a:rPr sz="1000" b="0" i="0">
                <a:solidFill>
                  <a:srgbClr val="111111"/>
                </a:solidFill>
                <a:latin typeface="Arial"/>
              </a:rPr>
              <a:t>Impression et livraison à domicile</a:t>
            </a:r>
          </a:p>
        </p:txBody>
      </p:sp>
      <p:sp>
        <p:nvSpPr>
          <p:cNvPr id="93" name="Rectangle 92"/>
          <p:cNvSpPr/>
          <p:nvPr/>
        </p:nvSpPr>
        <p:spPr>
          <a:xfrm>
            <a:off x="8101584" y="5943600"/>
            <a:ext cx="2011680" cy="54864"/>
          </a:xfrm>
          <a:prstGeom prst="rect">
            <a:avLst/>
          </a:prstGeom>
          <a:solidFill>
            <a:srgbClr val="ECEAE5"/>
          </a:solidFill>
          <a:ln>
            <a:noFill/>
          </a:ln>
          <a:effectLst/>
        </p:spPr>
        <p:txBody>
          <a:bodyPr rtlCol="0" anchor="ctr"/>
          <a:lstStyle/>
          <a:p>
            <a:pPr algn="ctr"/>
          </a:p>
        </p:txBody>
      </p:sp>
      <p:sp>
        <p:nvSpPr>
          <p:cNvPr id="94" name="Rectangle 93"/>
          <p:cNvSpPr/>
          <p:nvPr/>
        </p:nvSpPr>
        <p:spPr>
          <a:xfrm>
            <a:off x="8101584" y="5943600"/>
            <a:ext cx="100584" cy="54864"/>
          </a:xfrm>
          <a:prstGeom prst="rect">
            <a:avLst/>
          </a:prstGeom>
          <a:solidFill>
            <a:srgbClr val="9AA3B2"/>
          </a:solidFill>
          <a:ln>
            <a:noFill/>
          </a:ln>
          <a:effectLst/>
        </p:spPr>
        <p:txBody>
          <a:bodyPr rtlCol="0" anchor="ctr"/>
          <a:lstStyle/>
          <a:p>
            <a:pPr algn="ctr"/>
          </a:p>
        </p:txBody>
      </p:sp>
      <p:sp>
        <p:nvSpPr>
          <p:cNvPr id="95" name="TextBox 94"/>
          <p:cNvSpPr txBox="1"/>
          <p:nvPr/>
        </p:nvSpPr>
        <p:spPr>
          <a:xfrm>
            <a:off x="10241280" y="5864352"/>
            <a:ext cx="792480" cy="182880"/>
          </a:xfrm>
          <a:prstGeom prst="rect">
            <a:avLst/>
          </a:prstGeom>
          <a:noFill/>
        </p:spPr>
        <p:txBody>
          <a:bodyPr wrap="square" anchor="ctr" lIns="0" rIns="0" tIns="0" bIns="0">
            <a:spAutoFit/>
          </a:bodyPr>
          <a:lstStyle/>
          <a:p>
            <a:pPr algn="r"/>
            <a:r>
              <a:rPr sz="1300" b="1" i="0">
                <a:solidFill>
                  <a:srgbClr val="111111"/>
                </a:solidFill>
                <a:latin typeface="Arial"/>
              </a:rPr>
              <a:t>5 %</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6F2"/>
          </a:solidFill>
          <a:ln>
            <a:noFill/>
          </a:ln>
          <a:effectLst/>
        </p:spPr>
        <p:txBody>
          <a:bodyPr rtlCol="0" anchor="ctr"/>
          <a:lstStyle/>
          <a:p>
            <a:pPr algn="ctr"/>
          </a:p>
        </p:txBody>
      </p:sp>
      <p:sp>
        <p:nvSpPr>
          <p:cNvPr id="3" name="TextBox 2"/>
          <p:cNvSpPr txBox="1"/>
          <p:nvPr/>
        </p:nvSpPr>
        <p:spPr>
          <a:xfrm>
            <a:off x="579120" y="426720"/>
            <a:ext cx="7315200" cy="182880"/>
          </a:xfrm>
          <a:prstGeom prst="rect">
            <a:avLst/>
          </a:prstGeom>
          <a:noFill/>
        </p:spPr>
        <p:txBody>
          <a:bodyPr wrap="square" anchor="t" lIns="0" rIns="0" tIns="0" bIns="0">
            <a:spAutoFit/>
          </a:bodyPr>
          <a:lstStyle/>
          <a:p>
            <a:pPr algn="l"/>
            <a:r>
              <a:rPr sz="1300" b="1" i="0">
                <a:solidFill>
                  <a:srgbClr val="EE6A2C"/>
                </a:solidFill>
                <a:latin typeface="Arial"/>
              </a:rPr>
              <a:t>INSIGHTS QUALITATIFS · SEPTEMBRE 2026</a:t>
            </a:r>
          </a:p>
        </p:txBody>
      </p:sp>
      <p:sp>
        <p:nvSpPr>
          <p:cNvPr id="4" name="TextBox 3"/>
          <p:cNvSpPr txBox="1"/>
          <p:nvPr/>
        </p:nvSpPr>
        <p:spPr>
          <a:xfrm>
            <a:off x="579120" y="609600"/>
            <a:ext cx="7315200" cy="487680"/>
          </a:xfrm>
          <a:prstGeom prst="rect">
            <a:avLst/>
          </a:prstGeom>
          <a:noFill/>
        </p:spPr>
        <p:txBody>
          <a:bodyPr wrap="square" anchor="t" lIns="0" rIns="0" tIns="0" bIns="0">
            <a:spAutoFit/>
          </a:bodyPr>
          <a:lstStyle/>
          <a:p>
            <a:pPr algn="l"/>
            <a:r>
              <a:rPr sz="3600" b="1" i="0">
                <a:solidFill>
                  <a:srgbClr val="111111"/>
                </a:solidFill>
                <a:latin typeface="Arial"/>
              </a:rPr>
              <a:t>Smartphone ID</a:t>
            </a:r>
          </a:p>
        </p:txBody>
      </p:sp>
      <p:sp>
        <p:nvSpPr>
          <p:cNvPr id="5" name="TextBox 4"/>
          <p:cNvSpPr txBox="1"/>
          <p:nvPr/>
        </p:nvSpPr>
        <p:spPr>
          <a:xfrm>
            <a:off x="9144000" y="499872"/>
            <a:ext cx="1889760" cy="182880"/>
          </a:xfrm>
          <a:prstGeom prst="rect">
            <a:avLst/>
          </a:prstGeom>
          <a:noFill/>
        </p:spPr>
        <p:txBody>
          <a:bodyPr wrap="square" anchor="t" lIns="0" rIns="0" tIns="0" bIns="0">
            <a:spAutoFit/>
          </a:bodyPr>
          <a:lstStyle/>
          <a:p>
            <a:pPr algn="r"/>
            <a:r>
              <a:rPr sz="1500" b="1" i="0">
                <a:solidFill>
                  <a:srgbClr val="111111"/>
                </a:solidFill>
                <a:latin typeface="Arial"/>
              </a:rPr>
              <a:t>Lemrock</a:t>
            </a:r>
          </a:p>
        </p:txBody>
      </p:sp>
      <p:sp>
        <p:nvSpPr>
          <p:cNvPr id="6" name="TextBox 5"/>
          <p:cNvSpPr txBox="1"/>
          <p:nvPr/>
        </p:nvSpPr>
        <p:spPr>
          <a:xfrm>
            <a:off x="579120" y="1219200"/>
            <a:ext cx="9144000" cy="182880"/>
          </a:xfrm>
          <a:prstGeom prst="rect">
            <a:avLst/>
          </a:prstGeom>
          <a:noFill/>
        </p:spPr>
        <p:txBody>
          <a:bodyPr wrap="square" anchor="t" lIns="0" rIns="0" tIns="0" bIns="0">
            <a:spAutoFit/>
          </a:bodyPr>
          <a:lstStyle/>
          <a:p>
            <a:pPr algn="l"/>
            <a:r>
              <a:rPr sz="1300" b="1" i="0">
                <a:solidFill>
                  <a:srgbClr val="EE6A2C"/>
                </a:solidFill>
                <a:latin typeface="Arial"/>
              </a:rPr>
              <a:t>OBJECTIF   </a:t>
            </a:r>
            <a:r>
              <a:rPr sz="1300" b="0" i="0">
                <a:solidFill>
                  <a:srgbClr val="111111"/>
                </a:solidFill>
                <a:latin typeface="Arial"/>
              </a:rPr>
              <a:t>À définir</a:t>
            </a:r>
          </a:p>
        </p:txBody>
      </p:sp>
      <p:sp>
        <p:nvSpPr>
          <p:cNvPr id="7" name="TextBox 6"/>
          <p:cNvSpPr txBox="1"/>
          <p:nvPr/>
        </p:nvSpPr>
        <p:spPr>
          <a:xfrm>
            <a:off x="579120" y="1524000"/>
            <a:ext cx="4876800" cy="182880"/>
          </a:xfrm>
          <a:prstGeom prst="rect">
            <a:avLst/>
          </a:prstGeom>
          <a:noFill/>
        </p:spPr>
        <p:txBody>
          <a:bodyPr wrap="square" anchor="t" lIns="0" rIns="0" tIns="0" bIns="0">
            <a:spAutoFit/>
          </a:bodyPr>
          <a:lstStyle/>
          <a:p>
            <a:pPr algn="l"/>
            <a:r>
              <a:rPr sz="1400" b="1" i="0">
                <a:solidFill>
                  <a:srgbClr val="555B66"/>
                </a:solidFill>
                <a:latin typeface="Arial"/>
              </a:rPr>
              <a:t>INSIGHTS QUALITATIFS</a:t>
            </a:r>
          </a:p>
        </p:txBody>
      </p:sp>
      <p:sp>
        <p:nvSpPr>
          <p:cNvPr id="8" name="Rectangle 7"/>
          <p:cNvSpPr/>
          <p:nvPr/>
        </p:nvSpPr>
        <p:spPr>
          <a:xfrm>
            <a:off x="579120" y="1816608"/>
            <a:ext cx="5071872" cy="2121408"/>
          </a:xfrm>
          <a:prstGeom prst="rect">
            <a:avLst/>
          </a:prstGeom>
          <a:solidFill>
            <a:srgbClr val="FFFFFF"/>
          </a:solidFill>
          <a:ln>
            <a:noFill/>
          </a:ln>
          <a:effectLst/>
        </p:spPr>
        <p:txBody>
          <a:bodyPr rtlCol="0" anchor="ctr"/>
          <a:lstStyle/>
          <a:p>
            <a:pPr algn="ctr"/>
          </a:p>
        </p:txBody>
      </p:sp>
      <p:sp>
        <p:nvSpPr>
          <p:cNvPr id="9" name="TextBox 8"/>
          <p:cNvSpPr txBox="1"/>
          <p:nvPr/>
        </p:nvSpPr>
        <p:spPr>
          <a:xfrm>
            <a:off x="835152" y="2029968"/>
            <a:ext cx="487680" cy="243840"/>
          </a:xfrm>
          <a:prstGeom prst="rect">
            <a:avLst/>
          </a:prstGeom>
          <a:noFill/>
        </p:spPr>
        <p:txBody>
          <a:bodyPr wrap="square" anchor="t" lIns="0" rIns="0" tIns="0" bIns="0">
            <a:spAutoFit/>
          </a:bodyPr>
          <a:lstStyle/>
          <a:p>
            <a:pPr algn="l"/>
            <a:r>
              <a:rPr sz="2000" b="1" i="0">
                <a:solidFill>
                  <a:srgbClr val="EE6A2C"/>
                </a:solidFill>
                <a:latin typeface="Arial"/>
              </a:rPr>
              <a:t>01</a:t>
            </a:r>
          </a:p>
        </p:txBody>
      </p:sp>
      <p:sp>
        <p:nvSpPr>
          <p:cNvPr id="10" name="TextBox 9"/>
          <p:cNvSpPr txBox="1"/>
          <p:nvPr/>
        </p:nvSpPr>
        <p:spPr>
          <a:xfrm>
            <a:off x="1383792" y="2048256"/>
            <a:ext cx="4023360" cy="365760"/>
          </a:xfrm>
          <a:prstGeom prst="rect">
            <a:avLst/>
          </a:prstGeom>
          <a:noFill/>
        </p:spPr>
        <p:txBody>
          <a:bodyPr wrap="square" anchor="t" lIns="0" rIns="0" tIns="0" bIns="0">
            <a:spAutoFit/>
          </a:bodyPr>
          <a:lstStyle/>
          <a:p>
            <a:pPr algn="l"/>
            <a:r>
              <a:rPr sz="1400" b="1" i="0">
                <a:solidFill>
                  <a:srgbClr val="111111"/>
                </a:solidFill>
                <a:latin typeface="Arial"/>
              </a:rPr>
              <a:t>Une promesse simple qui fonctionne</a:t>
            </a:r>
          </a:p>
        </p:txBody>
      </p:sp>
      <p:sp>
        <p:nvSpPr>
          <p:cNvPr id="11" name="TextBox 10"/>
          <p:cNvSpPr txBox="1"/>
          <p:nvPr/>
        </p:nvSpPr>
        <p:spPr>
          <a:xfrm>
            <a:off x="835152" y="2609088"/>
            <a:ext cx="4572000" cy="731520"/>
          </a:xfrm>
          <a:prstGeom prst="rect">
            <a:avLst/>
          </a:prstGeom>
          <a:noFill/>
        </p:spPr>
        <p:txBody>
          <a:bodyPr wrap="square" anchor="t" lIns="0" rIns="0" tIns="0" bIns="0">
            <a:spAutoFit/>
          </a:bodyPr>
          <a:lstStyle/>
          <a:p>
            <a:pPr algn="l"/>
            <a:r>
              <a:rPr sz="1100" b="0" i="0">
                <a:solidFill>
                  <a:srgbClr val="555B66"/>
                </a:solidFill>
                <a:latin typeface="Arial"/>
              </a:rPr>
              <a:t>L'annonce « Photo d'identité en ligne en 2 minutes » génère 1 240 clics. Le CTR passe de 0,21 % à 0,52 %.</a:t>
            </a:r>
          </a:p>
        </p:txBody>
      </p:sp>
      <p:sp>
        <p:nvSpPr>
          <p:cNvPr id="12" name="TextBox 11"/>
          <p:cNvSpPr txBox="1"/>
          <p:nvPr/>
        </p:nvSpPr>
        <p:spPr>
          <a:xfrm>
            <a:off x="835152" y="3310128"/>
            <a:ext cx="4572000" cy="487680"/>
          </a:xfrm>
          <a:prstGeom prst="rect">
            <a:avLst/>
          </a:prstGeom>
          <a:noFill/>
        </p:spPr>
        <p:txBody>
          <a:bodyPr wrap="square" anchor="t" lIns="0" rIns="0" tIns="0" bIns="0">
            <a:spAutoFit/>
          </a:bodyPr>
          <a:lstStyle/>
          <a:p>
            <a:pPr algn="l"/>
            <a:r>
              <a:rPr sz="900" b="1" i="0">
                <a:solidFill>
                  <a:srgbClr val="555B66"/>
                </a:solidFill>
                <a:latin typeface="Arial"/>
              </a:rPr>
              <a:t>→  Garder la rapidité et la conformité comme arguments principaux.</a:t>
            </a:r>
          </a:p>
        </p:txBody>
      </p:sp>
      <p:sp>
        <p:nvSpPr>
          <p:cNvPr id="13" name="Rectangle 12"/>
          <p:cNvSpPr/>
          <p:nvPr/>
        </p:nvSpPr>
        <p:spPr>
          <a:xfrm>
            <a:off x="5992368" y="1816608"/>
            <a:ext cx="5071872" cy="2121408"/>
          </a:xfrm>
          <a:prstGeom prst="rect">
            <a:avLst/>
          </a:prstGeom>
          <a:solidFill>
            <a:srgbClr val="FFFFFF"/>
          </a:solidFill>
          <a:ln>
            <a:noFill/>
          </a:ln>
          <a:effectLst/>
        </p:spPr>
        <p:txBody>
          <a:bodyPr rtlCol="0" anchor="ctr"/>
          <a:lstStyle/>
          <a:p>
            <a:pPr algn="ctr"/>
          </a:p>
        </p:txBody>
      </p:sp>
      <p:sp>
        <p:nvSpPr>
          <p:cNvPr id="14" name="TextBox 13"/>
          <p:cNvSpPr txBox="1"/>
          <p:nvPr/>
        </p:nvSpPr>
        <p:spPr>
          <a:xfrm>
            <a:off x="6248400" y="2029968"/>
            <a:ext cx="487680" cy="243840"/>
          </a:xfrm>
          <a:prstGeom prst="rect">
            <a:avLst/>
          </a:prstGeom>
          <a:noFill/>
        </p:spPr>
        <p:txBody>
          <a:bodyPr wrap="square" anchor="t" lIns="0" rIns="0" tIns="0" bIns="0">
            <a:spAutoFit/>
          </a:bodyPr>
          <a:lstStyle/>
          <a:p>
            <a:pPr algn="l"/>
            <a:r>
              <a:rPr sz="2000" b="1" i="0">
                <a:solidFill>
                  <a:srgbClr val="EE6A2C"/>
                </a:solidFill>
                <a:latin typeface="Arial"/>
              </a:rPr>
              <a:t>02</a:t>
            </a:r>
          </a:p>
        </p:txBody>
      </p:sp>
      <p:sp>
        <p:nvSpPr>
          <p:cNvPr id="15" name="TextBox 14"/>
          <p:cNvSpPr txBox="1"/>
          <p:nvPr/>
        </p:nvSpPr>
        <p:spPr>
          <a:xfrm>
            <a:off x="6797040" y="2048256"/>
            <a:ext cx="4023360" cy="365760"/>
          </a:xfrm>
          <a:prstGeom prst="rect">
            <a:avLst/>
          </a:prstGeom>
          <a:noFill/>
        </p:spPr>
        <p:txBody>
          <a:bodyPr wrap="square" anchor="t" lIns="0" rIns="0" tIns="0" bIns="0">
            <a:spAutoFit/>
          </a:bodyPr>
          <a:lstStyle/>
          <a:p>
            <a:pPr algn="l"/>
            <a:r>
              <a:rPr sz="1400" b="1" i="0">
                <a:solidFill>
                  <a:srgbClr val="111111"/>
                </a:solidFill>
                <a:latin typeface="Arial"/>
              </a:rPr>
              <a:t>Une seule accroche diffusée</a:t>
            </a:r>
          </a:p>
        </p:txBody>
      </p:sp>
      <p:sp>
        <p:nvSpPr>
          <p:cNvPr id="16" name="TextBox 15"/>
          <p:cNvSpPr txBox="1"/>
          <p:nvPr/>
        </p:nvSpPr>
        <p:spPr>
          <a:xfrm>
            <a:off x="6248400" y="2609088"/>
            <a:ext cx="4572000" cy="731520"/>
          </a:xfrm>
          <a:prstGeom prst="rect">
            <a:avLst/>
          </a:prstGeom>
          <a:noFill/>
        </p:spPr>
        <p:txBody>
          <a:bodyPr wrap="square" anchor="t" lIns="0" rIns="0" tIns="0" bIns="0">
            <a:spAutoFit/>
          </a:bodyPr>
          <a:lstStyle/>
          <a:p>
            <a:pPr algn="l"/>
            <a:r>
              <a:rPr sz="1100" b="0" i="0">
                <a:solidFill>
                  <a:srgbClr val="555B66"/>
                </a:solidFill>
                <a:latin typeface="Arial"/>
              </a:rPr>
              <a:t>Les 2 annonces diffusées portent le même message et obtiennent le même CTR (0,98 à 1,02 fois la moyenne).</a:t>
            </a:r>
          </a:p>
        </p:txBody>
      </p:sp>
      <p:sp>
        <p:nvSpPr>
          <p:cNvPr id="17" name="TextBox 16"/>
          <p:cNvSpPr txBox="1"/>
          <p:nvPr/>
        </p:nvSpPr>
        <p:spPr>
          <a:xfrm>
            <a:off x="6248400" y="3310128"/>
            <a:ext cx="4572000" cy="487680"/>
          </a:xfrm>
          <a:prstGeom prst="rect">
            <a:avLst/>
          </a:prstGeom>
          <a:noFill/>
        </p:spPr>
        <p:txBody>
          <a:bodyPr wrap="square" anchor="t" lIns="0" rIns="0" tIns="0" bIns="0">
            <a:spAutoFit/>
          </a:bodyPr>
          <a:lstStyle/>
          <a:p>
            <a:pPr algn="l"/>
            <a:r>
              <a:rPr sz="900" b="1" i="0">
                <a:solidFill>
                  <a:srgbClr val="555B66"/>
                </a:solidFill>
                <a:latin typeface="Arial"/>
              </a:rPr>
              <a:t>→  Ajouter des annonces par démarche (passeport, permis ANTS, visa, photo de bébé) pour identifier celles qui cliquent le plus.</a:t>
            </a:r>
          </a:p>
        </p:txBody>
      </p:sp>
      <p:sp>
        <p:nvSpPr>
          <p:cNvPr id="18" name="Rectangle 17"/>
          <p:cNvSpPr/>
          <p:nvPr/>
        </p:nvSpPr>
        <p:spPr>
          <a:xfrm>
            <a:off x="579120" y="4133088"/>
            <a:ext cx="5071872" cy="2121408"/>
          </a:xfrm>
          <a:prstGeom prst="rect">
            <a:avLst/>
          </a:prstGeom>
          <a:solidFill>
            <a:srgbClr val="FFFFFF"/>
          </a:solidFill>
          <a:ln>
            <a:noFill/>
          </a:ln>
          <a:effectLst/>
        </p:spPr>
        <p:txBody>
          <a:bodyPr rtlCol="0" anchor="ctr"/>
          <a:lstStyle/>
          <a:p>
            <a:pPr algn="ctr"/>
          </a:p>
        </p:txBody>
      </p:sp>
      <p:sp>
        <p:nvSpPr>
          <p:cNvPr id="19" name="TextBox 18"/>
          <p:cNvSpPr txBox="1"/>
          <p:nvPr/>
        </p:nvSpPr>
        <p:spPr>
          <a:xfrm>
            <a:off x="835152" y="4346448"/>
            <a:ext cx="487680" cy="243840"/>
          </a:xfrm>
          <a:prstGeom prst="rect">
            <a:avLst/>
          </a:prstGeom>
          <a:noFill/>
        </p:spPr>
        <p:txBody>
          <a:bodyPr wrap="square" anchor="t" lIns="0" rIns="0" tIns="0" bIns="0">
            <a:spAutoFit/>
          </a:bodyPr>
          <a:lstStyle/>
          <a:p>
            <a:pPr algn="l"/>
            <a:r>
              <a:rPr sz="2000" b="1" i="0">
                <a:solidFill>
                  <a:srgbClr val="EE6A2C"/>
                </a:solidFill>
                <a:latin typeface="Arial"/>
              </a:rPr>
              <a:t>03</a:t>
            </a:r>
          </a:p>
        </p:txBody>
      </p:sp>
      <p:sp>
        <p:nvSpPr>
          <p:cNvPr id="20" name="TextBox 19"/>
          <p:cNvSpPr txBox="1"/>
          <p:nvPr/>
        </p:nvSpPr>
        <p:spPr>
          <a:xfrm>
            <a:off x="1383792" y="4364736"/>
            <a:ext cx="4023360" cy="365760"/>
          </a:xfrm>
          <a:prstGeom prst="rect">
            <a:avLst/>
          </a:prstGeom>
          <a:noFill/>
        </p:spPr>
        <p:txBody>
          <a:bodyPr wrap="square" anchor="t" lIns="0" rIns="0" tIns="0" bIns="0">
            <a:spAutoFit/>
          </a:bodyPr>
          <a:lstStyle/>
          <a:p>
            <a:pPr algn="l"/>
            <a:r>
              <a:rPr sz="1400" b="1" i="0">
                <a:solidFill>
                  <a:srgbClr val="111111"/>
                </a:solidFill>
                <a:latin typeface="Arial"/>
              </a:rPr>
              <a:t>À compléter</a:t>
            </a:r>
          </a:p>
        </p:txBody>
      </p:sp>
      <p:sp>
        <p:nvSpPr>
          <p:cNvPr id="21" name="TextBox 20"/>
          <p:cNvSpPr txBox="1"/>
          <p:nvPr/>
        </p:nvSpPr>
        <p:spPr>
          <a:xfrm>
            <a:off x="835152" y="4925568"/>
            <a:ext cx="4572000" cy="731520"/>
          </a:xfrm>
          <a:prstGeom prst="rect">
            <a:avLst/>
          </a:prstGeom>
          <a:noFill/>
        </p:spPr>
        <p:txBody>
          <a:bodyPr wrap="square" anchor="t" lIns="0" rIns="0" tIns="0" bIns="0">
            <a:spAutoFit/>
          </a:bodyPr>
          <a:lstStyle/>
          <a:p>
            <a:pPr algn="l"/>
            <a:r>
              <a:rPr sz="1100" b="0" i="0">
                <a:solidFill>
                  <a:srgbClr val="555B66"/>
                </a:solidFill>
                <a:latin typeface="Arial"/>
              </a:rPr>
              <a:t>Le rapport d'insights de septembre porte sur un autre secteur (smartphones reconditionnés).</a:t>
            </a:r>
          </a:p>
        </p:txBody>
      </p:sp>
      <p:sp>
        <p:nvSpPr>
          <p:cNvPr id="22" name="TextBox 21"/>
          <p:cNvSpPr txBox="1"/>
          <p:nvPr/>
        </p:nvSpPr>
        <p:spPr>
          <a:xfrm>
            <a:off x="835152" y="5626608"/>
            <a:ext cx="4572000" cy="487680"/>
          </a:xfrm>
          <a:prstGeom prst="rect">
            <a:avLst/>
          </a:prstGeom>
          <a:noFill/>
        </p:spPr>
        <p:txBody>
          <a:bodyPr wrap="square" anchor="t" lIns="0" rIns="0" tIns="0" bIns="0">
            <a:spAutoFit/>
          </a:bodyPr>
          <a:lstStyle/>
          <a:p>
            <a:pPr algn="l"/>
            <a:r>
              <a:rPr sz="900" b="1" i="0">
                <a:solidFill>
                  <a:srgbClr val="555B66"/>
                </a:solidFill>
                <a:latin typeface="Arial"/>
              </a:rPr>
              <a:t>→  À compléter avec un rapport sur la photo d'identité.</a:t>
            </a:r>
          </a:p>
        </p:txBody>
      </p:sp>
      <p:sp>
        <p:nvSpPr>
          <p:cNvPr id="23" name="Rectangle 22"/>
          <p:cNvSpPr/>
          <p:nvPr/>
        </p:nvSpPr>
        <p:spPr>
          <a:xfrm>
            <a:off x="5992368" y="4133088"/>
            <a:ext cx="5071872" cy="2121408"/>
          </a:xfrm>
          <a:prstGeom prst="rect">
            <a:avLst/>
          </a:prstGeom>
          <a:solidFill>
            <a:srgbClr val="FFFFFF"/>
          </a:solidFill>
          <a:ln>
            <a:noFill/>
          </a:ln>
          <a:effectLst/>
        </p:spPr>
        <p:txBody>
          <a:bodyPr rtlCol="0" anchor="ctr"/>
          <a:lstStyle/>
          <a:p>
            <a:pPr algn="ctr"/>
          </a:p>
        </p:txBody>
      </p:sp>
      <p:sp>
        <p:nvSpPr>
          <p:cNvPr id="24" name="TextBox 23"/>
          <p:cNvSpPr txBox="1"/>
          <p:nvPr/>
        </p:nvSpPr>
        <p:spPr>
          <a:xfrm>
            <a:off x="6248400" y="4346448"/>
            <a:ext cx="487680" cy="243840"/>
          </a:xfrm>
          <a:prstGeom prst="rect">
            <a:avLst/>
          </a:prstGeom>
          <a:noFill/>
        </p:spPr>
        <p:txBody>
          <a:bodyPr wrap="square" anchor="t" lIns="0" rIns="0" tIns="0" bIns="0">
            <a:spAutoFit/>
          </a:bodyPr>
          <a:lstStyle/>
          <a:p>
            <a:pPr algn="l"/>
            <a:r>
              <a:rPr sz="2000" b="1" i="0">
                <a:solidFill>
                  <a:srgbClr val="EE6A2C"/>
                </a:solidFill>
                <a:latin typeface="Arial"/>
              </a:rPr>
              <a:t>04</a:t>
            </a:r>
          </a:p>
        </p:txBody>
      </p:sp>
      <p:sp>
        <p:nvSpPr>
          <p:cNvPr id="25" name="TextBox 24"/>
          <p:cNvSpPr txBox="1"/>
          <p:nvPr/>
        </p:nvSpPr>
        <p:spPr>
          <a:xfrm>
            <a:off x="6797040" y="4364736"/>
            <a:ext cx="4023360" cy="365760"/>
          </a:xfrm>
          <a:prstGeom prst="rect">
            <a:avLst/>
          </a:prstGeom>
          <a:noFill/>
        </p:spPr>
        <p:txBody>
          <a:bodyPr wrap="square" anchor="t" lIns="0" rIns="0" tIns="0" bIns="0">
            <a:spAutoFit/>
          </a:bodyPr>
          <a:lstStyle/>
          <a:p>
            <a:pPr algn="l"/>
            <a:r>
              <a:rPr sz="1400" b="1" i="0">
                <a:solidFill>
                  <a:srgbClr val="111111"/>
                </a:solidFill>
                <a:latin typeface="Arial"/>
              </a:rPr>
              <a:t>Moins d'impressions, plus de clics</a:t>
            </a:r>
          </a:p>
        </p:txBody>
      </p:sp>
      <p:sp>
        <p:nvSpPr>
          <p:cNvPr id="26" name="TextBox 25"/>
          <p:cNvSpPr txBox="1"/>
          <p:nvPr/>
        </p:nvSpPr>
        <p:spPr>
          <a:xfrm>
            <a:off x="6248400" y="4925568"/>
            <a:ext cx="4572000" cy="731520"/>
          </a:xfrm>
          <a:prstGeom prst="rect">
            <a:avLst/>
          </a:prstGeom>
          <a:noFill/>
        </p:spPr>
        <p:txBody>
          <a:bodyPr wrap="square" anchor="t" lIns="0" rIns="0" tIns="0" bIns="0">
            <a:spAutoFit/>
          </a:bodyPr>
          <a:lstStyle/>
          <a:p>
            <a:pPr algn="l"/>
            <a:r>
              <a:rPr sz="1100" b="0" i="0">
                <a:solidFill>
                  <a:srgbClr val="555B66"/>
                </a:solidFill>
                <a:latin typeface="Arial"/>
              </a:rPr>
              <a:t>Les impressions baissent de 24 % mais les clics progressent de 90 %.</a:t>
            </a:r>
          </a:p>
        </p:txBody>
      </p:sp>
      <p:sp>
        <p:nvSpPr>
          <p:cNvPr id="27" name="TextBox 26"/>
          <p:cNvSpPr txBox="1"/>
          <p:nvPr/>
        </p:nvSpPr>
        <p:spPr>
          <a:xfrm>
            <a:off x="6248400" y="5626608"/>
            <a:ext cx="4572000" cy="487680"/>
          </a:xfrm>
          <a:prstGeom prst="rect">
            <a:avLst/>
          </a:prstGeom>
          <a:noFill/>
        </p:spPr>
        <p:txBody>
          <a:bodyPr wrap="square" anchor="t" lIns="0" rIns="0" tIns="0" bIns="0">
            <a:spAutoFit/>
          </a:bodyPr>
          <a:lstStyle/>
          <a:p>
            <a:pPr algn="l"/>
            <a:r>
              <a:rPr sz="900" b="1" i="0">
                <a:solidFill>
                  <a:srgbClr val="555B66"/>
                </a:solidFill>
                <a:latin typeface="Arial"/>
              </a:rPr>
              <a:t>→  Définir un objectif de campagne (photos réalisées, téléchargements, CPA cible).</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6F2"/>
          </a:solidFill>
          <a:ln>
            <a:noFill/>
          </a:ln>
          <a:effectLst/>
        </p:spPr>
        <p:txBody>
          <a:bodyPr rtlCol="0" anchor="ctr"/>
          <a:lstStyle/>
          <a:p>
            <a:pPr algn="ctr"/>
          </a:p>
        </p:txBody>
      </p:sp>
      <p:sp>
        <p:nvSpPr>
          <p:cNvPr id="3" name="TextBox 2"/>
          <p:cNvSpPr txBox="1"/>
          <p:nvPr/>
        </p:nvSpPr>
        <p:spPr>
          <a:xfrm>
            <a:off x="530352" y="487680"/>
            <a:ext cx="7315200" cy="182880"/>
          </a:xfrm>
          <a:prstGeom prst="rect">
            <a:avLst/>
          </a:prstGeom>
          <a:noFill/>
        </p:spPr>
        <p:txBody>
          <a:bodyPr wrap="square" anchor="t" lIns="0" rIns="0" tIns="0" bIns="0">
            <a:spAutoFit/>
          </a:bodyPr>
          <a:lstStyle/>
          <a:p>
            <a:pPr algn="l"/>
            <a:r>
              <a:rPr sz="1300" b="1" i="0">
                <a:solidFill>
                  <a:srgbClr val="EE6A2C"/>
                </a:solidFill>
                <a:latin typeface="Arial"/>
              </a:rPr>
              <a:t>RAPPORT DE PERFORMANCE · 01/09/2026 → 30/09/2026</a:t>
            </a:r>
          </a:p>
        </p:txBody>
      </p:sp>
      <p:sp>
        <p:nvSpPr>
          <p:cNvPr id="4" name="TextBox 3"/>
          <p:cNvSpPr txBox="1"/>
          <p:nvPr/>
        </p:nvSpPr>
        <p:spPr>
          <a:xfrm>
            <a:off x="530352" y="640080"/>
            <a:ext cx="7315200" cy="487680"/>
          </a:xfrm>
          <a:prstGeom prst="rect">
            <a:avLst/>
          </a:prstGeom>
          <a:noFill/>
        </p:spPr>
        <p:txBody>
          <a:bodyPr wrap="square" anchor="t" lIns="0" rIns="0" tIns="0" bIns="0">
            <a:spAutoFit/>
          </a:bodyPr>
          <a:lstStyle/>
          <a:p>
            <a:pPr algn="l"/>
            <a:r>
              <a:rPr sz="3600" b="1" i="0">
                <a:solidFill>
                  <a:srgbClr val="111111"/>
                </a:solidFill>
                <a:latin typeface="Arial"/>
              </a:rPr>
              <a:t>SNCF</a:t>
            </a:r>
          </a:p>
        </p:txBody>
      </p:sp>
      <p:sp>
        <p:nvSpPr>
          <p:cNvPr id="5" name="TextBox 4"/>
          <p:cNvSpPr txBox="1"/>
          <p:nvPr/>
        </p:nvSpPr>
        <p:spPr>
          <a:xfrm>
            <a:off x="7924800" y="591312"/>
            <a:ext cx="3304032" cy="152400"/>
          </a:xfrm>
          <a:prstGeom prst="rect">
            <a:avLst/>
          </a:prstGeom>
          <a:noFill/>
        </p:spPr>
        <p:txBody>
          <a:bodyPr wrap="square" anchor="t" lIns="0" rIns="0" tIns="0" bIns="0">
            <a:spAutoFit/>
          </a:bodyPr>
          <a:lstStyle/>
          <a:p>
            <a:pPr algn="r"/>
            <a:r>
              <a:rPr sz="1200" b="1" i="0">
                <a:solidFill>
                  <a:srgbClr val="8A93A6"/>
                </a:solidFill>
                <a:latin typeface="Arial"/>
              </a:rPr>
              <a:t>COMPARAISON</a:t>
            </a:r>
          </a:p>
        </p:txBody>
      </p:sp>
      <p:sp>
        <p:nvSpPr>
          <p:cNvPr id="6" name="TextBox 5"/>
          <p:cNvSpPr txBox="1"/>
          <p:nvPr/>
        </p:nvSpPr>
        <p:spPr>
          <a:xfrm>
            <a:off x="7924800" y="780288"/>
            <a:ext cx="3304032" cy="182880"/>
          </a:xfrm>
          <a:prstGeom prst="rect">
            <a:avLst/>
          </a:prstGeom>
          <a:noFill/>
        </p:spPr>
        <p:txBody>
          <a:bodyPr wrap="square" anchor="t" lIns="0" rIns="0" tIns="0" bIns="0">
            <a:spAutoFit/>
          </a:bodyPr>
          <a:lstStyle/>
          <a:p>
            <a:pPr algn="r"/>
            <a:r>
              <a:rPr sz="1500" b="1" i="0">
                <a:solidFill>
                  <a:srgbClr val="111111"/>
                </a:solidFill>
                <a:latin typeface="Arial"/>
              </a:rPr>
              <a:t>vs 01/08/2026 → 31/08/2026</a:t>
            </a:r>
          </a:p>
        </p:txBody>
      </p:sp>
      <p:sp>
        <p:nvSpPr>
          <p:cNvPr id="7" name="TextBox 6"/>
          <p:cNvSpPr txBox="1"/>
          <p:nvPr/>
        </p:nvSpPr>
        <p:spPr>
          <a:xfrm>
            <a:off x="530352" y="1280160"/>
            <a:ext cx="2438400" cy="182880"/>
          </a:xfrm>
          <a:prstGeom prst="rect">
            <a:avLst/>
          </a:prstGeom>
          <a:noFill/>
        </p:spPr>
        <p:txBody>
          <a:bodyPr wrap="square" anchor="t" lIns="0" rIns="0" tIns="0" bIns="0">
            <a:spAutoFit/>
          </a:bodyPr>
          <a:lstStyle/>
          <a:p>
            <a:pPr algn="l"/>
            <a:r>
              <a:rPr sz="1400" b="1" i="0">
                <a:solidFill>
                  <a:srgbClr val="EE6A2C"/>
                </a:solidFill>
                <a:latin typeface="Arial"/>
              </a:rPr>
              <a:t>DIFFUSION</a:t>
            </a:r>
          </a:p>
        </p:txBody>
      </p:sp>
      <p:sp>
        <p:nvSpPr>
          <p:cNvPr id="8" name="TextBox 7"/>
          <p:cNvSpPr txBox="1"/>
          <p:nvPr/>
        </p:nvSpPr>
        <p:spPr>
          <a:xfrm>
            <a:off x="2389632" y="1280160"/>
            <a:ext cx="2438400" cy="182880"/>
          </a:xfrm>
          <a:prstGeom prst="rect">
            <a:avLst/>
          </a:prstGeom>
          <a:noFill/>
        </p:spPr>
        <p:txBody>
          <a:bodyPr wrap="square" anchor="t" lIns="0" rIns="0" tIns="0" bIns="0">
            <a:spAutoFit/>
          </a:bodyPr>
          <a:lstStyle/>
          <a:p>
            <a:pPr algn="l"/>
            <a:r>
              <a:rPr sz="1400" b="1" i="0">
                <a:solidFill>
                  <a:srgbClr val="EE6A2C"/>
                </a:solidFill>
                <a:latin typeface="Arial"/>
              </a:rPr>
              <a:t>ENGAGEMENT</a:t>
            </a:r>
          </a:p>
        </p:txBody>
      </p:sp>
      <p:sp>
        <p:nvSpPr>
          <p:cNvPr id="9" name="TextBox 8"/>
          <p:cNvSpPr txBox="1"/>
          <p:nvPr/>
        </p:nvSpPr>
        <p:spPr>
          <a:xfrm>
            <a:off x="6108192" y="1280160"/>
            <a:ext cx="2438400" cy="182880"/>
          </a:xfrm>
          <a:prstGeom prst="rect">
            <a:avLst/>
          </a:prstGeom>
          <a:noFill/>
        </p:spPr>
        <p:txBody>
          <a:bodyPr wrap="square" anchor="t" lIns="0" rIns="0" tIns="0" bIns="0">
            <a:spAutoFit/>
          </a:bodyPr>
          <a:lstStyle/>
          <a:p>
            <a:pPr algn="l"/>
            <a:r>
              <a:rPr sz="1400" b="1" i="0">
                <a:solidFill>
                  <a:srgbClr val="EE6A2C"/>
                </a:solidFill>
                <a:latin typeface="Arial"/>
              </a:rPr>
              <a:t>CONVERSION</a:t>
            </a:r>
          </a:p>
        </p:txBody>
      </p:sp>
      <p:sp>
        <p:nvSpPr>
          <p:cNvPr id="10" name="Rectangle 9"/>
          <p:cNvSpPr/>
          <p:nvPr/>
        </p:nvSpPr>
        <p:spPr>
          <a:xfrm>
            <a:off x="530352" y="1536192"/>
            <a:ext cx="1389888" cy="1127760"/>
          </a:xfrm>
          <a:prstGeom prst="rect">
            <a:avLst/>
          </a:prstGeom>
          <a:solidFill>
            <a:srgbClr val="FFFFFF"/>
          </a:solidFill>
          <a:ln>
            <a:noFill/>
          </a:ln>
          <a:effectLst/>
        </p:spPr>
        <p:txBody>
          <a:bodyPr rtlCol="0" anchor="ctr"/>
          <a:lstStyle/>
          <a:p>
            <a:pPr algn="ctr"/>
          </a:p>
        </p:txBody>
      </p:sp>
      <p:sp>
        <p:nvSpPr>
          <p:cNvPr id="11" name="Rectangle 10"/>
          <p:cNvSpPr/>
          <p:nvPr/>
        </p:nvSpPr>
        <p:spPr>
          <a:xfrm>
            <a:off x="530352" y="1536192"/>
            <a:ext cx="24384" cy="1127760"/>
          </a:xfrm>
          <a:prstGeom prst="rect">
            <a:avLst/>
          </a:prstGeom>
          <a:solidFill>
            <a:srgbClr val="EE6A2C"/>
          </a:solidFill>
          <a:ln>
            <a:noFill/>
          </a:ln>
          <a:effectLst/>
        </p:spPr>
        <p:txBody>
          <a:bodyPr rtlCol="0" anchor="ctr"/>
          <a:lstStyle/>
          <a:p>
            <a:pPr algn="ctr"/>
          </a:p>
        </p:txBody>
      </p:sp>
      <p:sp>
        <p:nvSpPr>
          <p:cNvPr id="12" name="TextBox 11"/>
          <p:cNvSpPr txBox="1"/>
          <p:nvPr/>
        </p:nvSpPr>
        <p:spPr>
          <a:xfrm>
            <a:off x="664464" y="1615440"/>
            <a:ext cx="1219200" cy="121920"/>
          </a:xfrm>
          <a:prstGeom prst="rect">
            <a:avLst/>
          </a:prstGeom>
          <a:noFill/>
        </p:spPr>
        <p:txBody>
          <a:bodyPr wrap="square" anchor="t" lIns="0" rIns="0" tIns="0" bIns="0">
            <a:spAutoFit/>
          </a:bodyPr>
          <a:lstStyle/>
          <a:p>
            <a:pPr algn="l"/>
            <a:r>
              <a:rPr sz="1000" b="1" i="0">
                <a:solidFill>
                  <a:srgbClr val="555B66"/>
                </a:solidFill>
                <a:latin typeface="Arial"/>
              </a:rPr>
              <a:t>IMPRESSIONS</a:t>
            </a:r>
          </a:p>
        </p:txBody>
      </p:sp>
      <p:sp>
        <p:nvSpPr>
          <p:cNvPr id="13" name="TextBox 12"/>
          <p:cNvSpPr txBox="1"/>
          <p:nvPr/>
        </p:nvSpPr>
        <p:spPr>
          <a:xfrm>
            <a:off x="664464" y="1889760"/>
            <a:ext cx="1219200" cy="274320"/>
          </a:xfrm>
          <a:prstGeom prst="rect">
            <a:avLst/>
          </a:prstGeom>
          <a:noFill/>
        </p:spPr>
        <p:txBody>
          <a:bodyPr wrap="square" anchor="t" lIns="0" rIns="0" tIns="0" bIns="0">
            <a:spAutoFit/>
          </a:bodyPr>
          <a:lstStyle/>
          <a:p>
            <a:pPr algn="l"/>
            <a:r>
              <a:rPr sz="2200" b="1" i="0">
                <a:solidFill>
                  <a:srgbClr val="111111"/>
                </a:solidFill>
                <a:latin typeface="Arial"/>
              </a:rPr>
              <a:t>139 036</a:t>
            </a:r>
          </a:p>
        </p:txBody>
      </p:sp>
      <p:sp>
        <p:nvSpPr>
          <p:cNvPr id="14" name="TextBox 13"/>
          <p:cNvSpPr txBox="1"/>
          <p:nvPr/>
        </p:nvSpPr>
        <p:spPr>
          <a:xfrm>
            <a:off x="664464" y="2243328"/>
            <a:ext cx="1219200" cy="109728"/>
          </a:xfrm>
          <a:prstGeom prst="rect">
            <a:avLst/>
          </a:prstGeom>
          <a:noFill/>
        </p:spPr>
        <p:txBody>
          <a:bodyPr wrap="square" anchor="t" lIns="0" rIns="0" tIns="0" bIns="0">
            <a:spAutoFit/>
          </a:bodyPr>
          <a:lstStyle/>
          <a:p>
            <a:pPr algn="l"/>
            <a:r>
              <a:rPr sz="1000" b="1" i="0">
                <a:solidFill>
                  <a:srgbClr val="555B66"/>
                </a:solidFill>
                <a:latin typeface="Arial"/>
              </a:rPr>
              <a:t>—</a:t>
            </a:r>
          </a:p>
        </p:txBody>
      </p:sp>
      <p:sp>
        <p:nvSpPr>
          <p:cNvPr id="15" name="TextBox 14"/>
          <p:cNvSpPr txBox="1"/>
          <p:nvPr/>
        </p:nvSpPr>
        <p:spPr>
          <a:xfrm>
            <a:off x="664464" y="2499360"/>
            <a:ext cx="1219200" cy="91440"/>
          </a:xfrm>
          <a:prstGeom prst="rect">
            <a:avLst/>
          </a:prstGeom>
          <a:noFill/>
        </p:spPr>
        <p:txBody>
          <a:bodyPr wrap="square" anchor="t" lIns="0" rIns="0" tIns="0" bIns="0">
            <a:spAutoFit/>
          </a:bodyPr>
          <a:lstStyle/>
          <a:p>
            <a:pPr algn="l"/>
            <a:r>
              <a:rPr sz="800" b="0" i="1">
                <a:solidFill>
                  <a:srgbClr val="555B66"/>
                </a:solidFill>
                <a:latin typeface="Arial"/>
              </a:rPr>
              <a:t>YTD 139 036</a:t>
            </a:r>
          </a:p>
        </p:txBody>
      </p:sp>
      <p:sp>
        <p:nvSpPr>
          <p:cNvPr id="16" name="Rectangle 15"/>
          <p:cNvSpPr/>
          <p:nvPr/>
        </p:nvSpPr>
        <p:spPr>
          <a:xfrm>
            <a:off x="2389632" y="1536192"/>
            <a:ext cx="1389888" cy="1127760"/>
          </a:xfrm>
          <a:prstGeom prst="rect">
            <a:avLst/>
          </a:prstGeom>
          <a:solidFill>
            <a:srgbClr val="FFFFFF"/>
          </a:solidFill>
          <a:ln>
            <a:noFill/>
          </a:ln>
          <a:effectLst/>
        </p:spPr>
        <p:txBody>
          <a:bodyPr rtlCol="0" anchor="ctr"/>
          <a:lstStyle/>
          <a:p>
            <a:pPr algn="ctr"/>
          </a:p>
        </p:txBody>
      </p:sp>
      <p:sp>
        <p:nvSpPr>
          <p:cNvPr id="17" name="Rectangle 16"/>
          <p:cNvSpPr/>
          <p:nvPr/>
        </p:nvSpPr>
        <p:spPr>
          <a:xfrm>
            <a:off x="2389632" y="1536192"/>
            <a:ext cx="24384" cy="1127760"/>
          </a:xfrm>
          <a:prstGeom prst="rect">
            <a:avLst/>
          </a:prstGeom>
          <a:solidFill>
            <a:srgbClr val="EE6A2C"/>
          </a:solidFill>
          <a:ln>
            <a:noFill/>
          </a:ln>
          <a:effectLst/>
        </p:spPr>
        <p:txBody>
          <a:bodyPr rtlCol="0" anchor="ctr"/>
          <a:lstStyle/>
          <a:p>
            <a:pPr algn="ctr"/>
          </a:p>
        </p:txBody>
      </p:sp>
      <p:sp>
        <p:nvSpPr>
          <p:cNvPr id="18" name="TextBox 17"/>
          <p:cNvSpPr txBox="1"/>
          <p:nvPr/>
        </p:nvSpPr>
        <p:spPr>
          <a:xfrm>
            <a:off x="2523744" y="1615440"/>
            <a:ext cx="1219200" cy="121920"/>
          </a:xfrm>
          <a:prstGeom prst="rect">
            <a:avLst/>
          </a:prstGeom>
          <a:noFill/>
        </p:spPr>
        <p:txBody>
          <a:bodyPr wrap="square" anchor="t" lIns="0" rIns="0" tIns="0" bIns="0">
            <a:spAutoFit/>
          </a:bodyPr>
          <a:lstStyle/>
          <a:p>
            <a:pPr algn="l"/>
            <a:r>
              <a:rPr sz="1000" b="1" i="0">
                <a:solidFill>
                  <a:srgbClr val="555B66"/>
                </a:solidFill>
                <a:latin typeface="Arial"/>
              </a:rPr>
              <a:t>CLICS</a:t>
            </a:r>
          </a:p>
        </p:txBody>
      </p:sp>
      <p:sp>
        <p:nvSpPr>
          <p:cNvPr id="19" name="TextBox 18"/>
          <p:cNvSpPr txBox="1"/>
          <p:nvPr/>
        </p:nvSpPr>
        <p:spPr>
          <a:xfrm>
            <a:off x="2523744" y="1889760"/>
            <a:ext cx="1219200" cy="274320"/>
          </a:xfrm>
          <a:prstGeom prst="rect">
            <a:avLst/>
          </a:prstGeom>
          <a:noFill/>
        </p:spPr>
        <p:txBody>
          <a:bodyPr wrap="square" anchor="t" lIns="0" rIns="0" tIns="0" bIns="0">
            <a:spAutoFit/>
          </a:bodyPr>
          <a:lstStyle/>
          <a:p>
            <a:pPr algn="l"/>
            <a:r>
              <a:rPr sz="2200" b="1" i="0">
                <a:solidFill>
                  <a:srgbClr val="111111"/>
                </a:solidFill>
                <a:latin typeface="Arial"/>
              </a:rPr>
              <a:t>788</a:t>
            </a:r>
          </a:p>
        </p:txBody>
      </p:sp>
      <p:sp>
        <p:nvSpPr>
          <p:cNvPr id="20" name="TextBox 19"/>
          <p:cNvSpPr txBox="1"/>
          <p:nvPr/>
        </p:nvSpPr>
        <p:spPr>
          <a:xfrm>
            <a:off x="2523744" y="2243328"/>
            <a:ext cx="1219200" cy="109728"/>
          </a:xfrm>
          <a:prstGeom prst="rect">
            <a:avLst/>
          </a:prstGeom>
          <a:noFill/>
        </p:spPr>
        <p:txBody>
          <a:bodyPr wrap="square" anchor="t" lIns="0" rIns="0" tIns="0" bIns="0">
            <a:spAutoFit/>
          </a:bodyPr>
          <a:lstStyle/>
          <a:p>
            <a:pPr algn="l"/>
            <a:r>
              <a:rPr sz="1000" b="1" i="0">
                <a:solidFill>
                  <a:srgbClr val="555B66"/>
                </a:solidFill>
                <a:latin typeface="Arial"/>
              </a:rPr>
              <a:t>—</a:t>
            </a:r>
          </a:p>
        </p:txBody>
      </p:sp>
      <p:sp>
        <p:nvSpPr>
          <p:cNvPr id="21" name="TextBox 20"/>
          <p:cNvSpPr txBox="1"/>
          <p:nvPr/>
        </p:nvSpPr>
        <p:spPr>
          <a:xfrm>
            <a:off x="2523744" y="2499360"/>
            <a:ext cx="1219200" cy="91440"/>
          </a:xfrm>
          <a:prstGeom prst="rect">
            <a:avLst/>
          </a:prstGeom>
          <a:noFill/>
        </p:spPr>
        <p:txBody>
          <a:bodyPr wrap="square" anchor="t" lIns="0" rIns="0" tIns="0" bIns="0">
            <a:spAutoFit/>
          </a:bodyPr>
          <a:lstStyle/>
          <a:p>
            <a:pPr algn="l"/>
            <a:r>
              <a:rPr sz="800" b="0" i="1">
                <a:solidFill>
                  <a:srgbClr val="555B66"/>
                </a:solidFill>
                <a:latin typeface="Arial"/>
              </a:rPr>
              <a:t>YTD 788</a:t>
            </a:r>
          </a:p>
        </p:txBody>
      </p:sp>
      <p:sp>
        <p:nvSpPr>
          <p:cNvPr id="22" name="Rectangle 21"/>
          <p:cNvSpPr/>
          <p:nvPr/>
        </p:nvSpPr>
        <p:spPr>
          <a:xfrm>
            <a:off x="4248912" y="1536192"/>
            <a:ext cx="1389888" cy="1127760"/>
          </a:xfrm>
          <a:prstGeom prst="rect">
            <a:avLst/>
          </a:prstGeom>
          <a:solidFill>
            <a:srgbClr val="FFFFFF"/>
          </a:solidFill>
          <a:ln>
            <a:noFill/>
          </a:ln>
          <a:effectLst/>
        </p:spPr>
        <p:txBody>
          <a:bodyPr rtlCol="0" anchor="ctr"/>
          <a:lstStyle/>
          <a:p>
            <a:pPr algn="ctr"/>
          </a:p>
        </p:txBody>
      </p:sp>
      <p:sp>
        <p:nvSpPr>
          <p:cNvPr id="23" name="Rectangle 22"/>
          <p:cNvSpPr/>
          <p:nvPr/>
        </p:nvSpPr>
        <p:spPr>
          <a:xfrm>
            <a:off x="4248912" y="1536192"/>
            <a:ext cx="24384" cy="1127760"/>
          </a:xfrm>
          <a:prstGeom prst="rect">
            <a:avLst/>
          </a:prstGeom>
          <a:solidFill>
            <a:srgbClr val="EE6A2C"/>
          </a:solidFill>
          <a:ln>
            <a:noFill/>
          </a:ln>
          <a:effectLst/>
        </p:spPr>
        <p:txBody>
          <a:bodyPr rtlCol="0" anchor="ctr"/>
          <a:lstStyle/>
          <a:p>
            <a:pPr algn="ctr"/>
          </a:p>
        </p:txBody>
      </p:sp>
      <p:sp>
        <p:nvSpPr>
          <p:cNvPr id="24" name="TextBox 23"/>
          <p:cNvSpPr txBox="1"/>
          <p:nvPr/>
        </p:nvSpPr>
        <p:spPr>
          <a:xfrm>
            <a:off x="4383024" y="1615440"/>
            <a:ext cx="1219200" cy="121920"/>
          </a:xfrm>
          <a:prstGeom prst="rect">
            <a:avLst/>
          </a:prstGeom>
          <a:noFill/>
        </p:spPr>
        <p:txBody>
          <a:bodyPr wrap="square" anchor="t" lIns="0" rIns="0" tIns="0" bIns="0">
            <a:spAutoFit/>
          </a:bodyPr>
          <a:lstStyle/>
          <a:p>
            <a:pPr algn="l"/>
            <a:r>
              <a:rPr sz="1000" b="1" i="0">
                <a:solidFill>
                  <a:srgbClr val="555B66"/>
                </a:solidFill>
                <a:latin typeface="Arial"/>
              </a:rPr>
              <a:t>CTR</a:t>
            </a:r>
          </a:p>
        </p:txBody>
      </p:sp>
      <p:sp>
        <p:nvSpPr>
          <p:cNvPr id="25" name="TextBox 24"/>
          <p:cNvSpPr txBox="1"/>
          <p:nvPr/>
        </p:nvSpPr>
        <p:spPr>
          <a:xfrm>
            <a:off x="4383024" y="1889760"/>
            <a:ext cx="1219200" cy="274320"/>
          </a:xfrm>
          <a:prstGeom prst="rect">
            <a:avLst/>
          </a:prstGeom>
          <a:noFill/>
        </p:spPr>
        <p:txBody>
          <a:bodyPr wrap="square" anchor="t" lIns="0" rIns="0" tIns="0" bIns="0">
            <a:spAutoFit/>
          </a:bodyPr>
          <a:lstStyle/>
          <a:p>
            <a:pPr algn="l"/>
            <a:r>
              <a:rPr sz="2200" b="1" i="0">
                <a:solidFill>
                  <a:srgbClr val="111111"/>
                </a:solidFill>
                <a:latin typeface="Arial"/>
              </a:rPr>
              <a:t>0,57 %</a:t>
            </a:r>
          </a:p>
        </p:txBody>
      </p:sp>
      <p:sp>
        <p:nvSpPr>
          <p:cNvPr id="26" name="TextBox 25"/>
          <p:cNvSpPr txBox="1"/>
          <p:nvPr/>
        </p:nvSpPr>
        <p:spPr>
          <a:xfrm>
            <a:off x="4383024" y="2243328"/>
            <a:ext cx="1219200" cy="109728"/>
          </a:xfrm>
          <a:prstGeom prst="rect">
            <a:avLst/>
          </a:prstGeom>
          <a:noFill/>
        </p:spPr>
        <p:txBody>
          <a:bodyPr wrap="square" anchor="t" lIns="0" rIns="0" tIns="0" bIns="0">
            <a:spAutoFit/>
          </a:bodyPr>
          <a:lstStyle/>
          <a:p>
            <a:pPr algn="l"/>
            <a:r>
              <a:rPr sz="1000" b="1" i="0">
                <a:solidFill>
                  <a:srgbClr val="555B66"/>
                </a:solidFill>
                <a:latin typeface="Arial"/>
              </a:rPr>
              <a:t>—</a:t>
            </a:r>
          </a:p>
        </p:txBody>
      </p:sp>
      <p:sp>
        <p:nvSpPr>
          <p:cNvPr id="27" name="TextBox 26"/>
          <p:cNvSpPr txBox="1"/>
          <p:nvPr/>
        </p:nvSpPr>
        <p:spPr>
          <a:xfrm>
            <a:off x="4383024" y="2499360"/>
            <a:ext cx="1219200" cy="91440"/>
          </a:xfrm>
          <a:prstGeom prst="rect">
            <a:avLst/>
          </a:prstGeom>
          <a:noFill/>
        </p:spPr>
        <p:txBody>
          <a:bodyPr wrap="square" anchor="t" lIns="0" rIns="0" tIns="0" bIns="0">
            <a:spAutoFit/>
          </a:bodyPr>
          <a:lstStyle/>
          <a:p>
            <a:pPr algn="l"/>
            <a:r>
              <a:rPr sz="800" b="0" i="1">
                <a:solidFill>
                  <a:srgbClr val="555B66"/>
                </a:solidFill>
                <a:latin typeface="Arial"/>
              </a:rPr>
              <a:t>YTD 0,57 %</a:t>
            </a:r>
          </a:p>
        </p:txBody>
      </p:sp>
      <p:sp>
        <p:nvSpPr>
          <p:cNvPr id="28" name="Rectangle 27"/>
          <p:cNvSpPr/>
          <p:nvPr/>
        </p:nvSpPr>
        <p:spPr>
          <a:xfrm>
            <a:off x="6108192" y="1536192"/>
            <a:ext cx="1389888" cy="1127760"/>
          </a:xfrm>
          <a:prstGeom prst="rect">
            <a:avLst/>
          </a:prstGeom>
          <a:solidFill>
            <a:srgbClr val="F1EFEB"/>
          </a:solidFill>
          <a:ln>
            <a:noFill/>
          </a:ln>
          <a:effectLst/>
        </p:spPr>
        <p:txBody>
          <a:bodyPr rtlCol="0" anchor="ctr"/>
          <a:lstStyle/>
          <a:p>
            <a:pPr algn="ctr"/>
          </a:p>
        </p:txBody>
      </p:sp>
      <p:sp>
        <p:nvSpPr>
          <p:cNvPr id="29" name="Rounded Rectangle 28"/>
          <p:cNvSpPr/>
          <p:nvPr/>
        </p:nvSpPr>
        <p:spPr>
          <a:xfrm>
            <a:off x="6827520" y="1450848"/>
            <a:ext cx="609600" cy="170688"/>
          </a:xfrm>
          <a:prstGeom prst="roundRect">
            <a:avLst>
              <a:gd name="adj" fmla="val 50000"/>
            </a:avLst>
          </a:prstGeom>
          <a:solidFill>
            <a:srgbClr val="D9D6D1"/>
          </a:solidFill>
          <a:ln>
            <a:noFill/>
          </a:ln>
          <a:effectLst/>
        </p:spPr>
        <p:txBody>
          <a:bodyPr rtlCol="0" anchor="ctr"/>
          <a:lstStyle/>
          <a:p>
            <a:pPr algn="ctr"/>
          </a:p>
        </p:txBody>
      </p:sp>
      <p:sp>
        <p:nvSpPr>
          <p:cNvPr id="30" name="TextBox 29"/>
          <p:cNvSpPr txBox="1"/>
          <p:nvPr/>
        </p:nvSpPr>
        <p:spPr>
          <a:xfrm>
            <a:off x="6827520" y="1450848"/>
            <a:ext cx="609600" cy="170688"/>
          </a:xfrm>
          <a:prstGeom prst="rect">
            <a:avLst/>
          </a:prstGeom>
          <a:noFill/>
        </p:spPr>
        <p:txBody>
          <a:bodyPr wrap="square" anchor="ctr" lIns="0" rIns="0" tIns="0" bIns="0">
            <a:spAutoFit/>
          </a:bodyPr>
          <a:lstStyle/>
          <a:p>
            <a:pPr algn="ctr"/>
            <a:r>
              <a:rPr sz="800" b="1" i="0">
                <a:solidFill>
                  <a:srgbClr val="555B66"/>
                </a:solidFill>
                <a:latin typeface="Arial"/>
              </a:rPr>
              <a:t>INDICATIF</a:t>
            </a:r>
          </a:p>
        </p:txBody>
      </p:sp>
      <p:sp>
        <p:nvSpPr>
          <p:cNvPr id="31" name="TextBox 30"/>
          <p:cNvSpPr txBox="1"/>
          <p:nvPr/>
        </p:nvSpPr>
        <p:spPr>
          <a:xfrm>
            <a:off x="6242304" y="1706880"/>
            <a:ext cx="1219200" cy="121920"/>
          </a:xfrm>
          <a:prstGeom prst="rect">
            <a:avLst/>
          </a:prstGeom>
          <a:noFill/>
        </p:spPr>
        <p:txBody>
          <a:bodyPr wrap="square" anchor="t" lIns="0" rIns="0" tIns="0" bIns="0">
            <a:spAutoFit/>
          </a:bodyPr>
          <a:lstStyle/>
          <a:p>
            <a:pPr algn="l"/>
            <a:r>
              <a:rPr sz="1000" b="1" i="0">
                <a:solidFill>
                  <a:srgbClr val="8A93A6"/>
                </a:solidFill>
                <a:latin typeface="Arial"/>
              </a:rPr>
              <a:t>CONVERSIONS</a:t>
            </a:r>
          </a:p>
        </p:txBody>
      </p:sp>
      <p:sp>
        <p:nvSpPr>
          <p:cNvPr id="32" name="TextBox 31"/>
          <p:cNvSpPr txBox="1"/>
          <p:nvPr/>
        </p:nvSpPr>
        <p:spPr>
          <a:xfrm>
            <a:off x="6242304" y="1889760"/>
            <a:ext cx="1219200" cy="274320"/>
          </a:xfrm>
          <a:prstGeom prst="rect">
            <a:avLst/>
          </a:prstGeom>
          <a:noFill/>
        </p:spPr>
        <p:txBody>
          <a:bodyPr wrap="square" anchor="t" lIns="0" rIns="0" tIns="0" bIns="0">
            <a:spAutoFit/>
          </a:bodyPr>
          <a:lstStyle/>
          <a:p>
            <a:pPr algn="l"/>
            <a:r>
              <a:rPr sz="2200" b="1" i="0">
                <a:solidFill>
                  <a:srgbClr val="8A93A6"/>
                </a:solidFill>
                <a:latin typeface="Arial"/>
              </a:rPr>
              <a:t>N/C</a:t>
            </a:r>
          </a:p>
        </p:txBody>
      </p:sp>
      <p:sp>
        <p:nvSpPr>
          <p:cNvPr id="33" name="TextBox 32"/>
          <p:cNvSpPr txBox="1"/>
          <p:nvPr/>
        </p:nvSpPr>
        <p:spPr>
          <a:xfrm>
            <a:off x="6242304" y="2243328"/>
            <a:ext cx="1219200" cy="109728"/>
          </a:xfrm>
          <a:prstGeom prst="rect">
            <a:avLst/>
          </a:prstGeom>
          <a:noFill/>
        </p:spPr>
        <p:txBody>
          <a:bodyPr wrap="square" anchor="t" lIns="0" rIns="0" tIns="0" bIns="0">
            <a:spAutoFit/>
          </a:bodyPr>
          <a:lstStyle/>
          <a:p>
            <a:pPr algn="l"/>
            <a:r>
              <a:rPr sz="1000" b="1" i="0">
                <a:solidFill>
                  <a:srgbClr val="8A93A6"/>
                </a:solidFill>
                <a:latin typeface="Arial"/>
              </a:rPr>
              <a:t>—</a:t>
            </a:r>
          </a:p>
        </p:txBody>
      </p:sp>
      <p:sp>
        <p:nvSpPr>
          <p:cNvPr id="34" name="TextBox 33"/>
          <p:cNvSpPr txBox="1"/>
          <p:nvPr/>
        </p:nvSpPr>
        <p:spPr>
          <a:xfrm>
            <a:off x="6242304" y="2499360"/>
            <a:ext cx="1219200" cy="91440"/>
          </a:xfrm>
          <a:prstGeom prst="rect">
            <a:avLst/>
          </a:prstGeom>
          <a:noFill/>
        </p:spPr>
        <p:txBody>
          <a:bodyPr wrap="square" anchor="t" lIns="0" rIns="0" tIns="0" bIns="0">
            <a:spAutoFit/>
          </a:bodyPr>
          <a:lstStyle/>
          <a:p>
            <a:pPr algn="l"/>
            <a:r>
              <a:rPr sz="800" b="0" i="1">
                <a:solidFill>
                  <a:srgbClr val="8A93A6"/>
                </a:solidFill>
                <a:latin typeface="Arial"/>
              </a:rPr>
              <a:t>YTD —</a:t>
            </a:r>
          </a:p>
        </p:txBody>
      </p:sp>
      <p:sp>
        <p:nvSpPr>
          <p:cNvPr id="35" name="Rectangle 34"/>
          <p:cNvSpPr/>
          <p:nvPr/>
        </p:nvSpPr>
        <p:spPr>
          <a:xfrm>
            <a:off x="7967472" y="1536192"/>
            <a:ext cx="1389888" cy="1127760"/>
          </a:xfrm>
          <a:prstGeom prst="rect">
            <a:avLst/>
          </a:prstGeom>
          <a:solidFill>
            <a:srgbClr val="F1EFEB"/>
          </a:solidFill>
          <a:ln>
            <a:noFill/>
          </a:ln>
          <a:effectLst/>
        </p:spPr>
        <p:txBody>
          <a:bodyPr rtlCol="0" anchor="ctr"/>
          <a:lstStyle/>
          <a:p>
            <a:pPr algn="ctr"/>
          </a:p>
        </p:txBody>
      </p:sp>
      <p:sp>
        <p:nvSpPr>
          <p:cNvPr id="36" name="Rounded Rectangle 35"/>
          <p:cNvSpPr/>
          <p:nvPr/>
        </p:nvSpPr>
        <p:spPr>
          <a:xfrm>
            <a:off x="8686800" y="1450848"/>
            <a:ext cx="609600" cy="170688"/>
          </a:xfrm>
          <a:prstGeom prst="roundRect">
            <a:avLst>
              <a:gd name="adj" fmla="val 50000"/>
            </a:avLst>
          </a:prstGeom>
          <a:solidFill>
            <a:srgbClr val="D9D6D1"/>
          </a:solidFill>
          <a:ln>
            <a:noFill/>
          </a:ln>
          <a:effectLst/>
        </p:spPr>
        <p:txBody>
          <a:bodyPr rtlCol="0" anchor="ctr"/>
          <a:lstStyle/>
          <a:p>
            <a:pPr algn="ctr"/>
          </a:p>
        </p:txBody>
      </p:sp>
      <p:sp>
        <p:nvSpPr>
          <p:cNvPr id="37" name="TextBox 36"/>
          <p:cNvSpPr txBox="1"/>
          <p:nvPr/>
        </p:nvSpPr>
        <p:spPr>
          <a:xfrm>
            <a:off x="8686800" y="1450848"/>
            <a:ext cx="609600" cy="170688"/>
          </a:xfrm>
          <a:prstGeom prst="rect">
            <a:avLst/>
          </a:prstGeom>
          <a:noFill/>
        </p:spPr>
        <p:txBody>
          <a:bodyPr wrap="square" anchor="ctr" lIns="0" rIns="0" tIns="0" bIns="0">
            <a:spAutoFit/>
          </a:bodyPr>
          <a:lstStyle/>
          <a:p>
            <a:pPr algn="ctr"/>
            <a:r>
              <a:rPr sz="800" b="1" i="0">
                <a:solidFill>
                  <a:srgbClr val="555B66"/>
                </a:solidFill>
                <a:latin typeface="Arial"/>
              </a:rPr>
              <a:t>INDICATIF</a:t>
            </a:r>
          </a:p>
        </p:txBody>
      </p:sp>
      <p:sp>
        <p:nvSpPr>
          <p:cNvPr id="38" name="TextBox 37"/>
          <p:cNvSpPr txBox="1"/>
          <p:nvPr/>
        </p:nvSpPr>
        <p:spPr>
          <a:xfrm>
            <a:off x="8101584" y="1706880"/>
            <a:ext cx="1219200" cy="121920"/>
          </a:xfrm>
          <a:prstGeom prst="rect">
            <a:avLst/>
          </a:prstGeom>
          <a:noFill/>
        </p:spPr>
        <p:txBody>
          <a:bodyPr wrap="square" anchor="t" lIns="0" rIns="0" tIns="0" bIns="0">
            <a:spAutoFit/>
          </a:bodyPr>
          <a:lstStyle/>
          <a:p>
            <a:pPr algn="l"/>
            <a:r>
              <a:rPr sz="1000" b="1" i="0">
                <a:solidFill>
                  <a:srgbClr val="8A93A6"/>
                </a:solidFill>
                <a:latin typeface="Arial"/>
              </a:rPr>
              <a:t>CVR</a:t>
            </a:r>
          </a:p>
        </p:txBody>
      </p:sp>
      <p:sp>
        <p:nvSpPr>
          <p:cNvPr id="39" name="TextBox 38"/>
          <p:cNvSpPr txBox="1"/>
          <p:nvPr/>
        </p:nvSpPr>
        <p:spPr>
          <a:xfrm>
            <a:off x="8101584" y="1889760"/>
            <a:ext cx="1219200" cy="274320"/>
          </a:xfrm>
          <a:prstGeom prst="rect">
            <a:avLst/>
          </a:prstGeom>
          <a:noFill/>
        </p:spPr>
        <p:txBody>
          <a:bodyPr wrap="square" anchor="t" lIns="0" rIns="0" tIns="0" bIns="0">
            <a:spAutoFit/>
          </a:bodyPr>
          <a:lstStyle/>
          <a:p>
            <a:pPr algn="l"/>
            <a:r>
              <a:rPr sz="2200" b="1" i="0">
                <a:solidFill>
                  <a:srgbClr val="8A93A6"/>
                </a:solidFill>
                <a:latin typeface="Arial"/>
              </a:rPr>
              <a:t>N/C</a:t>
            </a:r>
          </a:p>
        </p:txBody>
      </p:sp>
      <p:sp>
        <p:nvSpPr>
          <p:cNvPr id="40" name="TextBox 39"/>
          <p:cNvSpPr txBox="1"/>
          <p:nvPr/>
        </p:nvSpPr>
        <p:spPr>
          <a:xfrm>
            <a:off x="8101584" y="2243328"/>
            <a:ext cx="1219200" cy="109728"/>
          </a:xfrm>
          <a:prstGeom prst="rect">
            <a:avLst/>
          </a:prstGeom>
          <a:noFill/>
        </p:spPr>
        <p:txBody>
          <a:bodyPr wrap="square" anchor="t" lIns="0" rIns="0" tIns="0" bIns="0">
            <a:spAutoFit/>
          </a:bodyPr>
          <a:lstStyle/>
          <a:p>
            <a:pPr algn="l"/>
            <a:r>
              <a:rPr sz="1000" b="1" i="0">
                <a:solidFill>
                  <a:srgbClr val="8A93A6"/>
                </a:solidFill>
                <a:latin typeface="Arial"/>
              </a:rPr>
              <a:t>—</a:t>
            </a:r>
          </a:p>
        </p:txBody>
      </p:sp>
      <p:sp>
        <p:nvSpPr>
          <p:cNvPr id="41" name="TextBox 40"/>
          <p:cNvSpPr txBox="1"/>
          <p:nvPr/>
        </p:nvSpPr>
        <p:spPr>
          <a:xfrm>
            <a:off x="8101584" y="2499360"/>
            <a:ext cx="1219200" cy="91440"/>
          </a:xfrm>
          <a:prstGeom prst="rect">
            <a:avLst/>
          </a:prstGeom>
          <a:noFill/>
        </p:spPr>
        <p:txBody>
          <a:bodyPr wrap="square" anchor="t" lIns="0" rIns="0" tIns="0" bIns="0">
            <a:spAutoFit/>
          </a:bodyPr>
          <a:lstStyle/>
          <a:p>
            <a:pPr algn="l"/>
            <a:r>
              <a:rPr sz="800" b="0" i="1">
                <a:solidFill>
                  <a:srgbClr val="8A93A6"/>
                </a:solidFill>
                <a:latin typeface="Arial"/>
              </a:rPr>
              <a:t>YTD —</a:t>
            </a:r>
          </a:p>
        </p:txBody>
      </p:sp>
      <p:sp>
        <p:nvSpPr>
          <p:cNvPr id="42" name="Rectangle 41"/>
          <p:cNvSpPr/>
          <p:nvPr/>
        </p:nvSpPr>
        <p:spPr>
          <a:xfrm>
            <a:off x="9826752" y="1536192"/>
            <a:ext cx="1389888" cy="1127760"/>
          </a:xfrm>
          <a:prstGeom prst="rect">
            <a:avLst/>
          </a:prstGeom>
          <a:solidFill>
            <a:srgbClr val="F1EFEB"/>
          </a:solidFill>
          <a:ln>
            <a:noFill/>
          </a:ln>
          <a:effectLst/>
        </p:spPr>
        <p:txBody>
          <a:bodyPr rtlCol="0" anchor="ctr"/>
          <a:lstStyle/>
          <a:p>
            <a:pPr algn="ctr"/>
          </a:p>
        </p:txBody>
      </p:sp>
      <p:sp>
        <p:nvSpPr>
          <p:cNvPr id="43" name="Rounded Rectangle 42"/>
          <p:cNvSpPr/>
          <p:nvPr/>
        </p:nvSpPr>
        <p:spPr>
          <a:xfrm>
            <a:off x="10546080" y="1450848"/>
            <a:ext cx="609600" cy="170688"/>
          </a:xfrm>
          <a:prstGeom prst="roundRect">
            <a:avLst>
              <a:gd name="adj" fmla="val 50000"/>
            </a:avLst>
          </a:prstGeom>
          <a:solidFill>
            <a:srgbClr val="D9D6D1"/>
          </a:solidFill>
          <a:ln>
            <a:noFill/>
          </a:ln>
          <a:effectLst/>
        </p:spPr>
        <p:txBody>
          <a:bodyPr rtlCol="0" anchor="ctr"/>
          <a:lstStyle/>
          <a:p>
            <a:pPr algn="ctr"/>
          </a:p>
        </p:txBody>
      </p:sp>
      <p:sp>
        <p:nvSpPr>
          <p:cNvPr id="44" name="TextBox 43"/>
          <p:cNvSpPr txBox="1"/>
          <p:nvPr/>
        </p:nvSpPr>
        <p:spPr>
          <a:xfrm>
            <a:off x="10546080" y="1450848"/>
            <a:ext cx="609600" cy="170688"/>
          </a:xfrm>
          <a:prstGeom prst="rect">
            <a:avLst/>
          </a:prstGeom>
          <a:noFill/>
        </p:spPr>
        <p:txBody>
          <a:bodyPr wrap="square" anchor="ctr" lIns="0" rIns="0" tIns="0" bIns="0">
            <a:spAutoFit/>
          </a:bodyPr>
          <a:lstStyle/>
          <a:p>
            <a:pPr algn="ctr"/>
            <a:r>
              <a:rPr sz="800" b="1" i="0">
                <a:solidFill>
                  <a:srgbClr val="555B66"/>
                </a:solidFill>
                <a:latin typeface="Arial"/>
              </a:rPr>
              <a:t>INDICATIF</a:t>
            </a:r>
          </a:p>
        </p:txBody>
      </p:sp>
      <p:sp>
        <p:nvSpPr>
          <p:cNvPr id="45" name="TextBox 44"/>
          <p:cNvSpPr txBox="1"/>
          <p:nvPr/>
        </p:nvSpPr>
        <p:spPr>
          <a:xfrm>
            <a:off x="9960864" y="1706880"/>
            <a:ext cx="1219200" cy="121920"/>
          </a:xfrm>
          <a:prstGeom prst="rect">
            <a:avLst/>
          </a:prstGeom>
          <a:noFill/>
        </p:spPr>
        <p:txBody>
          <a:bodyPr wrap="square" anchor="t" lIns="0" rIns="0" tIns="0" bIns="0">
            <a:spAutoFit/>
          </a:bodyPr>
          <a:lstStyle/>
          <a:p>
            <a:pPr algn="l"/>
            <a:r>
              <a:rPr sz="1000" b="1" i="0">
                <a:solidFill>
                  <a:srgbClr val="8A93A6"/>
                </a:solidFill>
                <a:latin typeface="Arial"/>
              </a:rPr>
              <a:t>ROAS</a:t>
            </a:r>
          </a:p>
        </p:txBody>
      </p:sp>
      <p:sp>
        <p:nvSpPr>
          <p:cNvPr id="46" name="TextBox 45"/>
          <p:cNvSpPr txBox="1"/>
          <p:nvPr/>
        </p:nvSpPr>
        <p:spPr>
          <a:xfrm>
            <a:off x="9960864" y="1889760"/>
            <a:ext cx="1219200" cy="274320"/>
          </a:xfrm>
          <a:prstGeom prst="rect">
            <a:avLst/>
          </a:prstGeom>
          <a:noFill/>
        </p:spPr>
        <p:txBody>
          <a:bodyPr wrap="square" anchor="t" lIns="0" rIns="0" tIns="0" bIns="0">
            <a:spAutoFit/>
          </a:bodyPr>
          <a:lstStyle/>
          <a:p>
            <a:pPr algn="l"/>
            <a:r>
              <a:rPr sz="2200" b="1" i="0">
                <a:solidFill>
                  <a:srgbClr val="8A93A6"/>
                </a:solidFill>
                <a:latin typeface="Arial"/>
              </a:rPr>
              <a:t>N/C</a:t>
            </a:r>
          </a:p>
        </p:txBody>
      </p:sp>
      <p:sp>
        <p:nvSpPr>
          <p:cNvPr id="47" name="TextBox 46"/>
          <p:cNvSpPr txBox="1"/>
          <p:nvPr/>
        </p:nvSpPr>
        <p:spPr>
          <a:xfrm>
            <a:off x="9960864" y="2243328"/>
            <a:ext cx="1219200" cy="109728"/>
          </a:xfrm>
          <a:prstGeom prst="rect">
            <a:avLst/>
          </a:prstGeom>
          <a:noFill/>
        </p:spPr>
        <p:txBody>
          <a:bodyPr wrap="square" anchor="t" lIns="0" rIns="0" tIns="0" bIns="0">
            <a:spAutoFit/>
          </a:bodyPr>
          <a:lstStyle/>
          <a:p>
            <a:pPr algn="l"/>
            <a:r>
              <a:rPr sz="1000" b="1" i="0">
                <a:solidFill>
                  <a:srgbClr val="8A93A6"/>
                </a:solidFill>
                <a:latin typeface="Arial"/>
              </a:rPr>
              <a:t>—</a:t>
            </a:r>
          </a:p>
        </p:txBody>
      </p:sp>
      <p:sp>
        <p:nvSpPr>
          <p:cNvPr id="48" name="TextBox 47"/>
          <p:cNvSpPr txBox="1"/>
          <p:nvPr/>
        </p:nvSpPr>
        <p:spPr>
          <a:xfrm>
            <a:off x="9960864" y="2499360"/>
            <a:ext cx="1219200" cy="91440"/>
          </a:xfrm>
          <a:prstGeom prst="rect">
            <a:avLst/>
          </a:prstGeom>
          <a:noFill/>
        </p:spPr>
        <p:txBody>
          <a:bodyPr wrap="square" anchor="t" lIns="0" rIns="0" tIns="0" bIns="0">
            <a:spAutoFit/>
          </a:bodyPr>
          <a:lstStyle/>
          <a:p>
            <a:pPr algn="l"/>
            <a:r>
              <a:rPr sz="800" b="0" i="1">
                <a:solidFill>
                  <a:srgbClr val="8A93A6"/>
                </a:solidFill>
                <a:latin typeface="Arial"/>
              </a:rPr>
              <a:t>YTD —</a:t>
            </a:r>
          </a:p>
        </p:txBody>
      </p:sp>
      <p:sp>
        <p:nvSpPr>
          <p:cNvPr id="49" name="Isosceles Triangle 48"/>
          <p:cNvSpPr/>
          <p:nvPr/>
        </p:nvSpPr>
        <p:spPr>
          <a:xfrm>
            <a:off x="8564880" y="2688336"/>
            <a:ext cx="182880" cy="85344"/>
          </a:xfrm>
          <a:prstGeom prst="triangle">
            <a:avLst/>
          </a:prstGeom>
          <a:solidFill>
            <a:srgbClr val="EBE9E5"/>
          </a:solidFill>
          <a:ln>
            <a:noFill/>
          </a:ln>
          <a:effectLst/>
        </p:spPr>
        <p:txBody>
          <a:bodyPr rtlCol="0" anchor="ctr"/>
          <a:lstStyle/>
          <a:p>
            <a:pPr algn="ctr"/>
          </a:p>
        </p:txBody>
      </p:sp>
      <p:sp>
        <p:nvSpPr>
          <p:cNvPr id="50" name="Rounded Rectangle 49"/>
          <p:cNvSpPr/>
          <p:nvPr/>
        </p:nvSpPr>
        <p:spPr>
          <a:xfrm>
            <a:off x="6108192" y="2773680"/>
            <a:ext cx="5108448" cy="438912"/>
          </a:xfrm>
          <a:prstGeom prst="roundRect">
            <a:avLst>
              <a:gd name="adj" fmla="val 15000"/>
            </a:avLst>
          </a:prstGeom>
          <a:solidFill>
            <a:srgbClr val="EBE9E5"/>
          </a:solidFill>
          <a:ln>
            <a:noFill/>
          </a:ln>
          <a:effectLst/>
        </p:spPr>
        <p:txBody>
          <a:bodyPr rtlCol="0" anchor="ctr"/>
          <a:lstStyle/>
          <a:p>
            <a:pPr algn="ctr"/>
          </a:p>
        </p:txBody>
      </p:sp>
      <p:sp>
        <p:nvSpPr>
          <p:cNvPr id="51" name="TextBox 50"/>
          <p:cNvSpPr txBox="1"/>
          <p:nvPr/>
        </p:nvSpPr>
        <p:spPr>
          <a:xfrm>
            <a:off x="6230112" y="2816352"/>
            <a:ext cx="4864608" cy="365760"/>
          </a:xfrm>
          <a:prstGeom prst="rect">
            <a:avLst/>
          </a:prstGeom>
          <a:noFill/>
        </p:spPr>
        <p:txBody>
          <a:bodyPr wrap="square" anchor="ctr" lIns="0" rIns="0" tIns="0" bIns="0">
            <a:spAutoFit/>
          </a:bodyPr>
          <a:lstStyle/>
          <a:p>
            <a:pPr algn="l"/>
            <a:r>
              <a:rPr sz="900" b="0" i="0">
                <a:solidFill>
                  <a:srgbClr val="555B66"/>
                </a:solidFill>
                <a:latin typeface="Arial"/>
              </a:rPr>
              <a:t>Conversions non mesurées par Lemrock sur cette campagne. Elles seront intégrées à ce rapport à partir de vos données dès leur transmission.</a:t>
            </a:r>
          </a:p>
        </p:txBody>
      </p:sp>
      <p:sp>
        <p:nvSpPr>
          <p:cNvPr id="52" name="TextBox 51"/>
          <p:cNvSpPr txBox="1"/>
          <p:nvPr/>
        </p:nvSpPr>
        <p:spPr>
          <a:xfrm>
            <a:off x="530352" y="3322320"/>
            <a:ext cx="7315200" cy="182880"/>
          </a:xfrm>
          <a:prstGeom prst="rect">
            <a:avLst/>
          </a:prstGeom>
          <a:noFill/>
        </p:spPr>
        <p:txBody>
          <a:bodyPr wrap="square" anchor="t" lIns="0" rIns="0" tIns="0" bIns="0">
            <a:spAutoFit/>
          </a:bodyPr>
          <a:lstStyle/>
          <a:p>
            <a:pPr algn="l"/>
            <a:r>
              <a:rPr sz="1400" b="1" i="0">
                <a:solidFill>
                  <a:srgbClr val="EE6A2C"/>
                </a:solidFill>
                <a:latin typeface="Arial"/>
              </a:rPr>
              <a:t>INSIGHTS QUALITATIFS · ANALYSE DES RECHERCHES</a:t>
            </a:r>
          </a:p>
        </p:txBody>
      </p:sp>
      <p:sp>
        <p:nvSpPr>
          <p:cNvPr id="53" name="Rectangle 52"/>
          <p:cNvSpPr/>
          <p:nvPr/>
        </p:nvSpPr>
        <p:spPr>
          <a:xfrm>
            <a:off x="530352" y="3584448"/>
            <a:ext cx="3401568" cy="2560320"/>
          </a:xfrm>
          <a:prstGeom prst="rect">
            <a:avLst/>
          </a:prstGeom>
          <a:solidFill>
            <a:srgbClr val="FFFFFF"/>
          </a:solidFill>
          <a:ln>
            <a:noFill/>
          </a:ln>
          <a:effectLst/>
        </p:spPr>
        <p:txBody>
          <a:bodyPr rtlCol="0" anchor="ctr"/>
          <a:lstStyle/>
          <a:p>
            <a:pPr algn="ctr"/>
          </a:p>
        </p:txBody>
      </p:sp>
      <p:sp>
        <p:nvSpPr>
          <p:cNvPr id="54" name="Rectangle 53"/>
          <p:cNvSpPr/>
          <p:nvPr/>
        </p:nvSpPr>
        <p:spPr>
          <a:xfrm>
            <a:off x="4194048" y="3584448"/>
            <a:ext cx="3401568" cy="2560320"/>
          </a:xfrm>
          <a:prstGeom prst="rect">
            <a:avLst/>
          </a:prstGeom>
          <a:solidFill>
            <a:srgbClr val="FFFFFF"/>
          </a:solidFill>
          <a:ln>
            <a:noFill/>
          </a:ln>
          <a:effectLst/>
        </p:spPr>
        <p:txBody>
          <a:bodyPr rtlCol="0" anchor="ctr"/>
          <a:lstStyle/>
          <a:p>
            <a:pPr algn="ctr"/>
          </a:p>
        </p:txBody>
      </p:sp>
      <p:sp>
        <p:nvSpPr>
          <p:cNvPr id="55" name="Rectangle 54"/>
          <p:cNvSpPr/>
          <p:nvPr/>
        </p:nvSpPr>
        <p:spPr>
          <a:xfrm>
            <a:off x="7857744" y="3584448"/>
            <a:ext cx="3401568" cy="2560320"/>
          </a:xfrm>
          <a:prstGeom prst="rect">
            <a:avLst/>
          </a:prstGeom>
          <a:solidFill>
            <a:srgbClr val="FFFFFF"/>
          </a:solidFill>
          <a:ln>
            <a:noFill/>
          </a:ln>
          <a:effectLst/>
        </p:spPr>
        <p:txBody>
          <a:bodyPr rtlCol="0" anchor="ctr"/>
          <a:lstStyle/>
          <a:p>
            <a:pPr algn="ctr"/>
          </a:p>
        </p:txBody>
      </p:sp>
      <p:sp>
        <p:nvSpPr>
          <p:cNvPr id="56" name="TextBox 55"/>
          <p:cNvSpPr txBox="1"/>
          <p:nvPr/>
        </p:nvSpPr>
        <p:spPr>
          <a:xfrm>
            <a:off x="774192" y="3767328"/>
            <a:ext cx="2926080" cy="152400"/>
          </a:xfrm>
          <a:prstGeom prst="rect">
            <a:avLst/>
          </a:prstGeom>
          <a:noFill/>
        </p:spPr>
        <p:txBody>
          <a:bodyPr wrap="square" anchor="t" lIns="0" rIns="0" tIns="0" bIns="0">
            <a:spAutoFit/>
          </a:bodyPr>
          <a:lstStyle/>
          <a:p>
            <a:pPr algn="l"/>
            <a:r>
              <a:rPr sz="1300" b="1" i="0">
                <a:solidFill>
                  <a:srgbClr val="555B66"/>
                </a:solidFill>
                <a:latin typeface="Arial"/>
              </a:rPr>
              <a:t>CHAMP LEXICAL</a:t>
            </a:r>
          </a:p>
        </p:txBody>
      </p:sp>
      <p:sp>
        <p:nvSpPr>
          <p:cNvPr id="57" name="TextBox 56"/>
          <p:cNvSpPr txBox="1"/>
          <p:nvPr/>
        </p:nvSpPr>
        <p:spPr>
          <a:xfrm>
            <a:off x="774192" y="3992880"/>
            <a:ext cx="2926080" cy="121920"/>
          </a:xfrm>
          <a:prstGeom prst="rect">
            <a:avLst/>
          </a:prstGeom>
          <a:noFill/>
        </p:spPr>
        <p:txBody>
          <a:bodyPr wrap="square" anchor="t" lIns="0" rIns="0" tIns="0" bIns="0">
            <a:spAutoFit/>
          </a:bodyPr>
          <a:lstStyle/>
          <a:p>
            <a:pPr algn="l"/>
            <a:r>
              <a:rPr sz="1000" b="0" i="1">
                <a:solidFill>
                  <a:srgbClr val="8A93A6"/>
                </a:solidFill>
                <a:latin typeface="Arial"/>
              </a:rPr>
              <a:t>Termes les plus fréquents</a:t>
            </a:r>
          </a:p>
        </p:txBody>
      </p:sp>
      <p:sp>
        <p:nvSpPr>
          <p:cNvPr id="58" name="TextBox 57"/>
          <p:cNvSpPr txBox="1"/>
          <p:nvPr/>
        </p:nvSpPr>
        <p:spPr>
          <a:xfrm>
            <a:off x="774192" y="4236720"/>
            <a:ext cx="2987040" cy="1828800"/>
          </a:xfrm>
          <a:prstGeom prst="rect">
            <a:avLst/>
          </a:prstGeom>
          <a:noFill/>
        </p:spPr>
        <p:txBody>
          <a:bodyPr wrap="square" anchor="t" lIns="0" rIns="0" tIns="0" bIns="0">
            <a:spAutoFit/>
          </a:bodyPr>
          <a:lstStyle/>
          <a:p>
            <a:pPr algn="l">
              <a:spcAft>
                <a:spcPts val="500"/>
              </a:spcAft>
            </a:pPr>
            <a:r>
              <a:rPr sz="1800" b="1" i="0">
                <a:solidFill>
                  <a:srgbClr val="EE6A2C"/>
                </a:solidFill>
                <a:latin typeface="Arial"/>
              </a:rPr>
              <a:t>départ en vacances</a:t>
            </a:r>
            <a:r>
              <a:rPr sz="1600" b="1" i="0">
                <a:solidFill>
                  <a:srgbClr val="111111"/>
                </a:solidFill>
                <a:latin typeface="Arial"/>
              </a:rPr>
              <a:t>   train</a:t>
            </a:r>
          </a:p>
          <a:p>
            <a:pPr algn="l">
              <a:spcAft>
                <a:spcPts val="500"/>
              </a:spcAft>
            </a:pPr>
            <a:r>
              <a:rPr sz="1500" b="1" i="0">
                <a:solidFill>
                  <a:srgbClr val="111111"/>
                </a:solidFill>
                <a:latin typeface="Arial"/>
              </a:rPr>
              <a:t>easyJet</a:t>
            </a:r>
            <a:r>
              <a:rPr sz="1400" b="1" i="0">
                <a:solidFill>
                  <a:srgbClr val="111111"/>
                </a:solidFill>
                <a:latin typeface="Arial"/>
              </a:rPr>
              <a:t>   Ryanair</a:t>
            </a:r>
          </a:p>
          <a:p>
            <a:pPr algn="l">
              <a:spcAft>
                <a:spcPts val="500"/>
              </a:spcAft>
            </a:pPr>
            <a:r>
              <a:rPr sz="1300" b="1" i="0">
                <a:solidFill>
                  <a:srgbClr val="EE6A2C"/>
                </a:solidFill>
                <a:latin typeface="Arial"/>
              </a:rPr>
              <a:t>Air France</a:t>
            </a:r>
            <a:r>
              <a:rPr sz="1200" b="0" i="0">
                <a:solidFill>
                  <a:srgbClr val="111111"/>
                </a:solidFill>
                <a:latin typeface="Arial"/>
              </a:rPr>
              <a:t>   FlixBus</a:t>
            </a:r>
          </a:p>
          <a:p>
            <a:pPr algn="l">
              <a:spcAft>
                <a:spcPts val="500"/>
              </a:spcAft>
            </a:pPr>
            <a:r>
              <a:rPr sz="1100" b="1" i="0">
                <a:solidFill>
                  <a:srgbClr val="EE6A2C"/>
                </a:solidFill>
                <a:latin typeface="Arial"/>
              </a:rPr>
              <a:t>Trainline</a:t>
            </a:r>
            <a:r>
              <a:rPr sz="1100" b="1" i="0">
                <a:solidFill>
                  <a:srgbClr val="111111"/>
                </a:solidFill>
                <a:latin typeface="Arial"/>
              </a:rPr>
              <a:t>   Eurostar</a:t>
            </a:r>
          </a:p>
          <a:p>
            <a:pPr algn="l">
              <a:spcAft>
                <a:spcPts val="500"/>
              </a:spcAft>
            </a:pPr>
            <a:r>
              <a:rPr sz="1100" b="1" i="0">
                <a:solidFill>
                  <a:srgbClr val="111111"/>
                </a:solidFill>
                <a:latin typeface="Arial"/>
              </a:rPr>
              <a:t>BlaBlaCar</a:t>
            </a:r>
            <a:r>
              <a:rPr sz="1100" b="0" i="0">
                <a:solidFill>
                  <a:srgbClr val="111111"/>
                </a:solidFill>
                <a:latin typeface="Arial"/>
              </a:rPr>
              <a:t>   Trenitalia</a:t>
            </a:r>
            <a:r>
              <a:rPr sz="1100" b="0" i="0">
                <a:solidFill>
                  <a:srgbClr val="EE6A2C"/>
                </a:solidFill>
                <a:latin typeface="Arial"/>
              </a:rPr>
              <a:t>   Kombo</a:t>
            </a:r>
          </a:p>
          <a:p>
            <a:pPr algn="l">
              <a:spcAft>
                <a:spcPts val="500"/>
              </a:spcAft>
            </a:pPr>
            <a:r>
              <a:rPr sz="1100" b="1" i="0">
                <a:solidFill>
                  <a:srgbClr val="111111"/>
                </a:solidFill>
                <a:latin typeface="Arial"/>
              </a:rPr>
              <a:t>valise</a:t>
            </a:r>
            <a:r>
              <a:rPr sz="1100" b="0" i="0">
                <a:solidFill>
                  <a:srgbClr val="111111"/>
                </a:solidFill>
                <a:latin typeface="Arial"/>
              </a:rPr>
              <a:t>   sac cabine</a:t>
            </a:r>
          </a:p>
        </p:txBody>
      </p:sp>
      <p:sp>
        <p:nvSpPr>
          <p:cNvPr id="59" name="TextBox 58"/>
          <p:cNvSpPr txBox="1"/>
          <p:nvPr/>
        </p:nvSpPr>
        <p:spPr>
          <a:xfrm>
            <a:off x="4437888" y="3767328"/>
            <a:ext cx="2926080" cy="152400"/>
          </a:xfrm>
          <a:prstGeom prst="rect">
            <a:avLst/>
          </a:prstGeom>
          <a:noFill/>
        </p:spPr>
        <p:txBody>
          <a:bodyPr wrap="square" anchor="t" lIns="0" rIns="0" tIns="0" bIns="0">
            <a:spAutoFit/>
          </a:bodyPr>
          <a:lstStyle/>
          <a:p>
            <a:pPr algn="l"/>
            <a:r>
              <a:rPr sz="1300" b="1" i="0">
                <a:solidFill>
                  <a:srgbClr val="555B66"/>
                </a:solidFill>
                <a:latin typeface="Arial"/>
              </a:rPr>
              <a:t>EXEMPLES DE REQUÊTES</a:t>
            </a:r>
          </a:p>
        </p:txBody>
      </p:sp>
      <p:sp>
        <p:nvSpPr>
          <p:cNvPr id="60" name="TextBox 59"/>
          <p:cNvSpPr txBox="1"/>
          <p:nvPr/>
        </p:nvSpPr>
        <p:spPr>
          <a:xfrm>
            <a:off x="4437888" y="3992880"/>
            <a:ext cx="2926080" cy="121920"/>
          </a:xfrm>
          <a:prstGeom prst="rect">
            <a:avLst/>
          </a:prstGeom>
          <a:noFill/>
        </p:spPr>
        <p:txBody>
          <a:bodyPr wrap="square" anchor="t" lIns="0" rIns="0" tIns="0" bIns="0">
            <a:spAutoFit/>
          </a:bodyPr>
          <a:lstStyle/>
          <a:p>
            <a:pPr algn="l"/>
            <a:r>
              <a:rPr sz="1000" b="0" i="1">
                <a:solidFill>
                  <a:srgbClr val="8A93A6"/>
                </a:solidFill>
                <a:latin typeface="Arial"/>
              </a:rPr>
              <a:t>Questions posées aux IA</a:t>
            </a:r>
          </a:p>
        </p:txBody>
      </p:sp>
      <p:sp>
        <p:nvSpPr>
          <p:cNvPr id="61" name="TextBox 60"/>
          <p:cNvSpPr txBox="1"/>
          <p:nvPr/>
        </p:nvSpPr>
        <p:spPr>
          <a:xfrm>
            <a:off x="4437888" y="4267200"/>
            <a:ext cx="2913888" cy="304800"/>
          </a:xfrm>
          <a:prstGeom prst="rect">
            <a:avLst/>
          </a:prstGeom>
          <a:noFill/>
        </p:spPr>
        <p:txBody>
          <a:bodyPr wrap="square" anchor="ctr" lIns="0" rIns="0" tIns="0" bIns="0">
            <a:spAutoFit/>
          </a:bodyPr>
          <a:lstStyle/>
          <a:p>
            <a:pPr algn="l"/>
            <a:r>
              <a:rPr sz="1000" b="0" i="0">
                <a:solidFill>
                  <a:srgbClr val="111111"/>
                </a:solidFill>
                <a:latin typeface="Arial"/>
              </a:rPr>
              <a:t>Comment choisir un sac cabine conforme aux dimensions des compagnies ?</a:t>
            </a:r>
          </a:p>
        </p:txBody>
      </p:sp>
      <p:sp>
        <p:nvSpPr>
          <p:cNvPr id="62" name="Rectangle 61"/>
          <p:cNvSpPr/>
          <p:nvPr/>
        </p:nvSpPr>
        <p:spPr>
          <a:xfrm>
            <a:off x="4437888" y="4602480"/>
            <a:ext cx="2913888" cy="6096"/>
          </a:xfrm>
          <a:prstGeom prst="rect">
            <a:avLst/>
          </a:prstGeom>
          <a:solidFill>
            <a:srgbClr val="E6E3DE"/>
          </a:solidFill>
          <a:ln>
            <a:noFill/>
          </a:ln>
          <a:effectLst/>
        </p:spPr>
        <p:txBody>
          <a:bodyPr rtlCol="0" anchor="ctr"/>
          <a:lstStyle/>
          <a:p>
            <a:pPr algn="ctr"/>
          </a:p>
        </p:txBody>
      </p:sp>
      <p:sp>
        <p:nvSpPr>
          <p:cNvPr id="63" name="TextBox 62"/>
          <p:cNvSpPr txBox="1"/>
          <p:nvPr/>
        </p:nvSpPr>
        <p:spPr>
          <a:xfrm>
            <a:off x="4437888" y="4632960"/>
            <a:ext cx="2913888" cy="304800"/>
          </a:xfrm>
          <a:prstGeom prst="rect">
            <a:avLst/>
          </a:prstGeom>
          <a:noFill/>
        </p:spPr>
        <p:txBody>
          <a:bodyPr wrap="square" anchor="ctr" lIns="0" rIns="0" tIns="0" bIns="0">
            <a:spAutoFit/>
          </a:bodyPr>
          <a:lstStyle/>
          <a:p>
            <a:pPr algn="l"/>
            <a:r>
              <a:rPr sz="1000" b="0" i="0">
                <a:solidFill>
                  <a:srgbClr val="111111"/>
                </a:solidFill>
                <a:latin typeface="Arial"/>
              </a:rPr>
              <a:t>Quel sac choisir pour combo randonnée et ski de rando ?</a:t>
            </a:r>
          </a:p>
        </p:txBody>
      </p:sp>
      <p:sp>
        <p:nvSpPr>
          <p:cNvPr id="64" name="Rectangle 63"/>
          <p:cNvSpPr/>
          <p:nvPr/>
        </p:nvSpPr>
        <p:spPr>
          <a:xfrm>
            <a:off x="4437888" y="4968240"/>
            <a:ext cx="2913888" cy="6096"/>
          </a:xfrm>
          <a:prstGeom prst="rect">
            <a:avLst/>
          </a:prstGeom>
          <a:solidFill>
            <a:srgbClr val="E6E3DE"/>
          </a:solidFill>
          <a:ln>
            <a:noFill/>
          </a:ln>
          <a:effectLst/>
        </p:spPr>
        <p:txBody>
          <a:bodyPr rtlCol="0" anchor="ctr"/>
          <a:lstStyle/>
          <a:p>
            <a:pPr algn="ctr"/>
          </a:p>
        </p:txBody>
      </p:sp>
      <p:sp>
        <p:nvSpPr>
          <p:cNvPr id="65" name="TextBox 64"/>
          <p:cNvSpPr txBox="1"/>
          <p:nvPr/>
        </p:nvSpPr>
        <p:spPr>
          <a:xfrm>
            <a:off x="4437888" y="4998720"/>
            <a:ext cx="2913888" cy="304800"/>
          </a:xfrm>
          <a:prstGeom prst="rect">
            <a:avLst/>
          </a:prstGeom>
          <a:noFill/>
        </p:spPr>
        <p:txBody>
          <a:bodyPr wrap="square" anchor="ctr" lIns="0" rIns="0" tIns="0" bIns="0">
            <a:spAutoFit/>
          </a:bodyPr>
          <a:lstStyle/>
          <a:p>
            <a:pPr algn="l"/>
            <a:r>
              <a:rPr sz="1000" b="0" i="0">
                <a:solidFill>
                  <a:srgbClr val="111111"/>
                </a:solidFill>
                <a:latin typeface="Arial"/>
              </a:rPr>
              <a:t>Comment organiser une trousse de toilette conforme aux règles de sécurité ?</a:t>
            </a:r>
          </a:p>
        </p:txBody>
      </p:sp>
      <p:sp>
        <p:nvSpPr>
          <p:cNvPr id="66" name="TextBox 65"/>
          <p:cNvSpPr txBox="1"/>
          <p:nvPr/>
        </p:nvSpPr>
        <p:spPr>
          <a:xfrm>
            <a:off x="8101584" y="3767328"/>
            <a:ext cx="2926080" cy="152400"/>
          </a:xfrm>
          <a:prstGeom prst="rect">
            <a:avLst/>
          </a:prstGeom>
          <a:noFill/>
        </p:spPr>
        <p:txBody>
          <a:bodyPr wrap="square" anchor="t" lIns="0" rIns="0" tIns="0" bIns="0">
            <a:spAutoFit/>
          </a:bodyPr>
          <a:lstStyle/>
          <a:p>
            <a:pPr algn="l"/>
            <a:r>
              <a:rPr sz="1300" b="1" i="0">
                <a:solidFill>
                  <a:srgbClr val="555B66"/>
                </a:solidFill>
                <a:latin typeface="Arial"/>
              </a:rPr>
              <a:t>CATÉGORIES DE PRODUITS</a:t>
            </a:r>
          </a:p>
        </p:txBody>
      </p:sp>
      <p:sp>
        <p:nvSpPr>
          <p:cNvPr id="67" name="TextBox 66"/>
          <p:cNvSpPr txBox="1"/>
          <p:nvPr/>
        </p:nvSpPr>
        <p:spPr>
          <a:xfrm>
            <a:off x="8101584" y="3992880"/>
            <a:ext cx="2926080" cy="121920"/>
          </a:xfrm>
          <a:prstGeom prst="rect">
            <a:avLst/>
          </a:prstGeom>
          <a:noFill/>
        </p:spPr>
        <p:txBody>
          <a:bodyPr wrap="square" anchor="t" lIns="0" rIns="0" tIns="0" bIns="0">
            <a:spAutoFit/>
          </a:bodyPr>
          <a:lstStyle/>
          <a:p>
            <a:pPr algn="l"/>
            <a:r>
              <a:rPr sz="1000" b="0" i="1">
                <a:solidFill>
                  <a:srgbClr val="8A93A6"/>
                </a:solidFill>
                <a:latin typeface="Arial"/>
              </a:rPr>
              <a:t>Répartition des requêtes</a:t>
            </a:r>
          </a:p>
        </p:txBody>
      </p:sp>
      <p:sp>
        <p:nvSpPr>
          <p:cNvPr id="68" name="TextBox 67"/>
          <p:cNvSpPr txBox="1"/>
          <p:nvPr/>
        </p:nvSpPr>
        <p:spPr>
          <a:xfrm>
            <a:off x="8101584" y="4267200"/>
            <a:ext cx="2194560" cy="134112"/>
          </a:xfrm>
          <a:prstGeom prst="rect">
            <a:avLst/>
          </a:prstGeom>
          <a:noFill/>
        </p:spPr>
        <p:txBody>
          <a:bodyPr wrap="square" anchor="t" lIns="0" rIns="0" tIns="0" bIns="0">
            <a:spAutoFit/>
          </a:bodyPr>
          <a:lstStyle/>
          <a:p>
            <a:pPr algn="l"/>
            <a:r>
              <a:rPr sz="1000" b="0" i="0">
                <a:solidFill>
                  <a:srgbClr val="111111"/>
                </a:solidFill>
                <a:latin typeface="Arial"/>
              </a:rPr>
              <a:t>Paris – Rennes</a:t>
            </a:r>
          </a:p>
        </p:txBody>
      </p:sp>
      <p:sp>
        <p:nvSpPr>
          <p:cNvPr id="69" name="Rectangle 68"/>
          <p:cNvSpPr/>
          <p:nvPr/>
        </p:nvSpPr>
        <p:spPr>
          <a:xfrm>
            <a:off x="8101584" y="4419600"/>
            <a:ext cx="2011680" cy="54864"/>
          </a:xfrm>
          <a:prstGeom prst="rect">
            <a:avLst/>
          </a:prstGeom>
          <a:solidFill>
            <a:srgbClr val="ECEAE5"/>
          </a:solidFill>
          <a:ln>
            <a:noFill/>
          </a:ln>
          <a:effectLst/>
        </p:spPr>
        <p:txBody>
          <a:bodyPr rtlCol="0" anchor="ctr"/>
          <a:lstStyle/>
          <a:p>
            <a:pPr algn="ctr"/>
          </a:p>
        </p:txBody>
      </p:sp>
      <p:sp>
        <p:nvSpPr>
          <p:cNvPr id="70" name="Rectangle 69"/>
          <p:cNvSpPr/>
          <p:nvPr/>
        </p:nvSpPr>
        <p:spPr>
          <a:xfrm>
            <a:off x="8101584" y="4419600"/>
            <a:ext cx="462686" cy="54864"/>
          </a:xfrm>
          <a:prstGeom prst="rect">
            <a:avLst/>
          </a:prstGeom>
          <a:solidFill>
            <a:srgbClr val="EE6A2C"/>
          </a:solidFill>
          <a:ln>
            <a:noFill/>
          </a:ln>
          <a:effectLst/>
        </p:spPr>
        <p:txBody>
          <a:bodyPr rtlCol="0" anchor="ctr"/>
          <a:lstStyle/>
          <a:p>
            <a:pPr algn="ctr"/>
          </a:p>
        </p:txBody>
      </p:sp>
      <p:sp>
        <p:nvSpPr>
          <p:cNvPr id="71" name="TextBox 70"/>
          <p:cNvSpPr txBox="1"/>
          <p:nvPr/>
        </p:nvSpPr>
        <p:spPr>
          <a:xfrm>
            <a:off x="10241280" y="4340352"/>
            <a:ext cx="792480" cy="182880"/>
          </a:xfrm>
          <a:prstGeom prst="rect">
            <a:avLst/>
          </a:prstGeom>
          <a:noFill/>
        </p:spPr>
        <p:txBody>
          <a:bodyPr wrap="square" anchor="ctr" lIns="0" rIns="0" tIns="0" bIns="0">
            <a:spAutoFit/>
          </a:bodyPr>
          <a:lstStyle/>
          <a:p>
            <a:pPr algn="r"/>
            <a:r>
              <a:rPr sz="1300" b="1" i="0">
                <a:solidFill>
                  <a:srgbClr val="111111"/>
                </a:solidFill>
                <a:latin typeface="Arial"/>
              </a:rPr>
              <a:t>23 %</a:t>
            </a:r>
          </a:p>
        </p:txBody>
      </p:sp>
      <p:sp>
        <p:nvSpPr>
          <p:cNvPr id="72" name="TextBox 71"/>
          <p:cNvSpPr txBox="1"/>
          <p:nvPr/>
        </p:nvSpPr>
        <p:spPr>
          <a:xfrm>
            <a:off x="8101584" y="4572000"/>
            <a:ext cx="2194560" cy="134112"/>
          </a:xfrm>
          <a:prstGeom prst="rect">
            <a:avLst/>
          </a:prstGeom>
          <a:noFill/>
        </p:spPr>
        <p:txBody>
          <a:bodyPr wrap="square" anchor="t" lIns="0" rIns="0" tIns="0" bIns="0">
            <a:spAutoFit/>
          </a:bodyPr>
          <a:lstStyle/>
          <a:p>
            <a:pPr algn="l"/>
            <a:r>
              <a:rPr sz="1000" b="0" i="0">
                <a:solidFill>
                  <a:srgbClr val="111111"/>
                </a:solidFill>
                <a:latin typeface="Arial"/>
              </a:rPr>
              <a:t>Paris – Lyon / Marseille / Nice</a:t>
            </a:r>
          </a:p>
        </p:txBody>
      </p:sp>
      <p:sp>
        <p:nvSpPr>
          <p:cNvPr id="73" name="Rectangle 72"/>
          <p:cNvSpPr/>
          <p:nvPr/>
        </p:nvSpPr>
        <p:spPr>
          <a:xfrm>
            <a:off x="8101584" y="4724400"/>
            <a:ext cx="2011680" cy="54864"/>
          </a:xfrm>
          <a:prstGeom prst="rect">
            <a:avLst/>
          </a:prstGeom>
          <a:solidFill>
            <a:srgbClr val="ECEAE5"/>
          </a:solidFill>
          <a:ln>
            <a:noFill/>
          </a:ln>
          <a:effectLst/>
        </p:spPr>
        <p:txBody>
          <a:bodyPr rtlCol="0" anchor="ctr"/>
          <a:lstStyle/>
          <a:p>
            <a:pPr algn="ctr"/>
          </a:p>
        </p:txBody>
      </p:sp>
      <p:sp>
        <p:nvSpPr>
          <p:cNvPr id="74" name="Rectangle 73"/>
          <p:cNvSpPr/>
          <p:nvPr/>
        </p:nvSpPr>
        <p:spPr>
          <a:xfrm>
            <a:off x="8101584" y="4724400"/>
            <a:ext cx="462686" cy="54864"/>
          </a:xfrm>
          <a:prstGeom prst="rect">
            <a:avLst/>
          </a:prstGeom>
          <a:solidFill>
            <a:srgbClr val="EE6A2C"/>
          </a:solidFill>
          <a:ln>
            <a:noFill/>
          </a:ln>
          <a:effectLst/>
        </p:spPr>
        <p:txBody>
          <a:bodyPr rtlCol="0" anchor="ctr"/>
          <a:lstStyle/>
          <a:p>
            <a:pPr algn="ctr"/>
          </a:p>
        </p:txBody>
      </p:sp>
      <p:sp>
        <p:nvSpPr>
          <p:cNvPr id="75" name="TextBox 74"/>
          <p:cNvSpPr txBox="1"/>
          <p:nvPr/>
        </p:nvSpPr>
        <p:spPr>
          <a:xfrm>
            <a:off x="10241280" y="4645152"/>
            <a:ext cx="792480" cy="182880"/>
          </a:xfrm>
          <a:prstGeom prst="rect">
            <a:avLst/>
          </a:prstGeom>
          <a:noFill/>
        </p:spPr>
        <p:txBody>
          <a:bodyPr wrap="square" anchor="ctr" lIns="0" rIns="0" tIns="0" bIns="0">
            <a:spAutoFit/>
          </a:bodyPr>
          <a:lstStyle/>
          <a:p>
            <a:pPr algn="r"/>
            <a:r>
              <a:rPr sz="1300" b="1" i="0">
                <a:solidFill>
                  <a:srgbClr val="111111"/>
                </a:solidFill>
                <a:latin typeface="Arial"/>
              </a:rPr>
              <a:t>23 %</a:t>
            </a:r>
          </a:p>
        </p:txBody>
      </p:sp>
      <p:sp>
        <p:nvSpPr>
          <p:cNvPr id="76" name="TextBox 75"/>
          <p:cNvSpPr txBox="1"/>
          <p:nvPr/>
        </p:nvSpPr>
        <p:spPr>
          <a:xfrm>
            <a:off x="8101584" y="4876800"/>
            <a:ext cx="2194560" cy="134112"/>
          </a:xfrm>
          <a:prstGeom prst="rect">
            <a:avLst/>
          </a:prstGeom>
          <a:noFill/>
        </p:spPr>
        <p:txBody>
          <a:bodyPr wrap="square" anchor="t" lIns="0" rIns="0" tIns="0" bIns="0">
            <a:spAutoFit/>
          </a:bodyPr>
          <a:lstStyle/>
          <a:p>
            <a:pPr algn="l"/>
            <a:r>
              <a:rPr sz="1000" b="0" i="0">
                <a:solidFill>
                  <a:srgbClr val="111111"/>
                </a:solidFill>
                <a:latin typeface="Arial"/>
              </a:rPr>
              <a:t>Paris – Bordeaux / Toulouse</a:t>
            </a:r>
          </a:p>
        </p:txBody>
      </p:sp>
      <p:sp>
        <p:nvSpPr>
          <p:cNvPr id="77" name="Rectangle 76"/>
          <p:cNvSpPr/>
          <p:nvPr/>
        </p:nvSpPr>
        <p:spPr>
          <a:xfrm>
            <a:off x="8101584" y="5029200"/>
            <a:ext cx="2011680" cy="54864"/>
          </a:xfrm>
          <a:prstGeom prst="rect">
            <a:avLst/>
          </a:prstGeom>
          <a:solidFill>
            <a:srgbClr val="ECEAE5"/>
          </a:solidFill>
          <a:ln>
            <a:noFill/>
          </a:ln>
          <a:effectLst/>
        </p:spPr>
        <p:txBody>
          <a:bodyPr rtlCol="0" anchor="ctr"/>
          <a:lstStyle/>
          <a:p>
            <a:pPr algn="ctr"/>
          </a:p>
        </p:txBody>
      </p:sp>
      <p:sp>
        <p:nvSpPr>
          <p:cNvPr id="78" name="Rectangle 77"/>
          <p:cNvSpPr/>
          <p:nvPr/>
        </p:nvSpPr>
        <p:spPr>
          <a:xfrm>
            <a:off x="8101584" y="5029200"/>
            <a:ext cx="341985" cy="54864"/>
          </a:xfrm>
          <a:prstGeom prst="rect">
            <a:avLst/>
          </a:prstGeom>
          <a:solidFill>
            <a:srgbClr val="9AA3B2"/>
          </a:solidFill>
          <a:ln>
            <a:noFill/>
          </a:ln>
          <a:effectLst/>
        </p:spPr>
        <p:txBody>
          <a:bodyPr rtlCol="0" anchor="ctr"/>
          <a:lstStyle/>
          <a:p>
            <a:pPr algn="ctr"/>
          </a:p>
        </p:txBody>
      </p:sp>
      <p:sp>
        <p:nvSpPr>
          <p:cNvPr id="79" name="TextBox 78"/>
          <p:cNvSpPr txBox="1"/>
          <p:nvPr/>
        </p:nvSpPr>
        <p:spPr>
          <a:xfrm>
            <a:off x="10241280" y="4949952"/>
            <a:ext cx="792480" cy="182880"/>
          </a:xfrm>
          <a:prstGeom prst="rect">
            <a:avLst/>
          </a:prstGeom>
          <a:noFill/>
        </p:spPr>
        <p:txBody>
          <a:bodyPr wrap="square" anchor="ctr" lIns="0" rIns="0" tIns="0" bIns="0">
            <a:spAutoFit/>
          </a:bodyPr>
          <a:lstStyle/>
          <a:p>
            <a:pPr algn="r"/>
            <a:r>
              <a:rPr sz="1300" b="1" i="0">
                <a:solidFill>
                  <a:srgbClr val="111111"/>
                </a:solidFill>
                <a:latin typeface="Arial"/>
              </a:rPr>
              <a:t>17 %</a:t>
            </a:r>
          </a:p>
        </p:txBody>
      </p:sp>
      <p:sp>
        <p:nvSpPr>
          <p:cNvPr id="80" name="TextBox 79"/>
          <p:cNvSpPr txBox="1"/>
          <p:nvPr/>
        </p:nvSpPr>
        <p:spPr>
          <a:xfrm>
            <a:off x="8101584" y="5181600"/>
            <a:ext cx="2194560" cy="134112"/>
          </a:xfrm>
          <a:prstGeom prst="rect">
            <a:avLst/>
          </a:prstGeom>
          <a:noFill/>
        </p:spPr>
        <p:txBody>
          <a:bodyPr wrap="square" anchor="t" lIns="0" rIns="0" tIns="0" bIns="0">
            <a:spAutoFit/>
          </a:bodyPr>
          <a:lstStyle/>
          <a:p>
            <a:pPr algn="l"/>
            <a:r>
              <a:rPr sz="1000" b="0" i="0">
                <a:solidFill>
                  <a:srgbClr val="111111"/>
                </a:solidFill>
                <a:latin typeface="Arial"/>
              </a:rPr>
              <a:t>Paris – Nantes / Lille / Strasbourg</a:t>
            </a:r>
          </a:p>
        </p:txBody>
      </p:sp>
      <p:sp>
        <p:nvSpPr>
          <p:cNvPr id="81" name="Rectangle 80"/>
          <p:cNvSpPr/>
          <p:nvPr/>
        </p:nvSpPr>
        <p:spPr>
          <a:xfrm>
            <a:off x="8101584" y="5334000"/>
            <a:ext cx="2011680" cy="54864"/>
          </a:xfrm>
          <a:prstGeom prst="rect">
            <a:avLst/>
          </a:prstGeom>
          <a:solidFill>
            <a:srgbClr val="ECEAE5"/>
          </a:solidFill>
          <a:ln>
            <a:noFill/>
          </a:ln>
          <a:effectLst/>
        </p:spPr>
        <p:txBody>
          <a:bodyPr rtlCol="0" anchor="ctr"/>
          <a:lstStyle/>
          <a:p>
            <a:pPr algn="ctr"/>
          </a:p>
        </p:txBody>
      </p:sp>
      <p:sp>
        <p:nvSpPr>
          <p:cNvPr id="82" name="Rectangle 81"/>
          <p:cNvSpPr/>
          <p:nvPr/>
        </p:nvSpPr>
        <p:spPr>
          <a:xfrm>
            <a:off x="8101584" y="5334000"/>
            <a:ext cx="422452" cy="54864"/>
          </a:xfrm>
          <a:prstGeom prst="rect">
            <a:avLst/>
          </a:prstGeom>
          <a:solidFill>
            <a:srgbClr val="9AA3B2"/>
          </a:solidFill>
          <a:ln>
            <a:noFill/>
          </a:ln>
          <a:effectLst/>
        </p:spPr>
        <p:txBody>
          <a:bodyPr rtlCol="0" anchor="ctr"/>
          <a:lstStyle/>
          <a:p>
            <a:pPr algn="ctr"/>
          </a:p>
        </p:txBody>
      </p:sp>
      <p:sp>
        <p:nvSpPr>
          <p:cNvPr id="83" name="TextBox 82"/>
          <p:cNvSpPr txBox="1"/>
          <p:nvPr/>
        </p:nvSpPr>
        <p:spPr>
          <a:xfrm>
            <a:off x="10241280" y="5254752"/>
            <a:ext cx="792480" cy="182880"/>
          </a:xfrm>
          <a:prstGeom prst="rect">
            <a:avLst/>
          </a:prstGeom>
          <a:noFill/>
        </p:spPr>
        <p:txBody>
          <a:bodyPr wrap="square" anchor="ctr" lIns="0" rIns="0" tIns="0" bIns="0">
            <a:spAutoFit/>
          </a:bodyPr>
          <a:lstStyle/>
          <a:p>
            <a:pPr algn="r"/>
            <a:r>
              <a:rPr sz="1300" b="1" i="0">
                <a:solidFill>
                  <a:srgbClr val="111111"/>
                </a:solidFill>
                <a:latin typeface="Arial"/>
              </a:rPr>
              <a:t>21 %</a:t>
            </a:r>
          </a:p>
        </p:txBody>
      </p:sp>
      <p:sp>
        <p:nvSpPr>
          <p:cNvPr id="84" name="TextBox 83"/>
          <p:cNvSpPr txBox="1"/>
          <p:nvPr/>
        </p:nvSpPr>
        <p:spPr>
          <a:xfrm>
            <a:off x="8101584" y="5486400"/>
            <a:ext cx="2194560" cy="134112"/>
          </a:xfrm>
          <a:prstGeom prst="rect">
            <a:avLst/>
          </a:prstGeom>
          <a:noFill/>
        </p:spPr>
        <p:txBody>
          <a:bodyPr wrap="square" anchor="t" lIns="0" rIns="0" tIns="0" bIns="0">
            <a:spAutoFit/>
          </a:bodyPr>
          <a:lstStyle/>
          <a:p>
            <a:pPr algn="l"/>
            <a:r>
              <a:rPr sz="1000" b="0" i="0">
                <a:solidFill>
                  <a:srgbClr val="111111"/>
                </a:solidFill>
                <a:latin typeface="Arial"/>
              </a:rPr>
              <a:t>International (Amsterdam, Barcelone)</a:t>
            </a:r>
          </a:p>
        </p:txBody>
      </p:sp>
      <p:sp>
        <p:nvSpPr>
          <p:cNvPr id="85" name="Rectangle 84"/>
          <p:cNvSpPr/>
          <p:nvPr/>
        </p:nvSpPr>
        <p:spPr>
          <a:xfrm>
            <a:off x="8101584" y="5638800"/>
            <a:ext cx="2011680" cy="54864"/>
          </a:xfrm>
          <a:prstGeom prst="rect">
            <a:avLst/>
          </a:prstGeom>
          <a:solidFill>
            <a:srgbClr val="ECEAE5"/>
          </a:solidFill>
          <a:ln>
            <a:noFill/>
          </a:ln>
          <a:effectLst/>
        </p:spPr>
        <p:txBody>
          <a:bodyPr rtlCol="0" anchor="ctr"/>
          <a:lstStyle/>
          <a:p>
            <a:pPr algn="ctr"/>
          </a:p>
        </p:txBody>
      </p:sp>
      <p:sp>
        <p:nvSpPr>
          <p:cNvPr id="86" name="Rectangle 85"/>
          <p:cNvSpPr/>
          <p:nvPr/>
        </p:nvSpPr>
        <p:spPr>
          <a:xfrm>
            <a:off x="8101584" y="5638800"/>
            <a:ext cx="181051" cy="54864"/>
          </a:xfrm>
          <a:prstGeom prst="rect">
            <a:avLst/>
          </a:prstGeom>
          <a:solidFill>
            <a:srgbClr val="9AA3B2"/>
          </a:solidFill>
          <a:ln>
            <a:noFill/>
          </a:ln>
          <a:effectLst/>
        </p:spPr>
        <p:txBody>
          <a:bodyPr rtlCol="0" anchor="ctr"/>
          <a:lstStyle/>
          <a:p>
            <a:pPr algn="ctr"/>
          </a:p>
        </p:txBody>
      </p:sp>
      <p:sp>
        <p:nvSpPr>
          <p:cNvPr id="87" name="TextBox 86"/>
          <p:cNvSpPr txBox="1"/>
          <p:nvPr/>
        </p:nvSpPr>
        <p:spPr>
          <a:xfrm>
            <a:off x="10241280" y="5559552"/>
            <a:ext cx="792480" cy="182880"/>
          </a:xfrm>
          <a:prstGeom prst="rect">
            <a:avLst/>
          </a:prstGeom>
          <a:noFill/>
        </p:spPr>
        <p:txBody>
          <a:bodyPr wrap="square" anchor="ctr" lIns="0" rIns="0" tIns="0" bIns="0">
            <a:spAutoFit/>
          </a:bodyPr>
          <a:lstStyle/>
          <a:p>
            <a:pPr algn="r"/>
            <a:r>
              <a:rPr sz="1300" b="1" i="0">
                <a:solidFill>
                  <a:srgbClr val="111111"/>
                </a:solidFill>
                <a:latin typeface="Arial"/>
              </a:rPr>
              <a:t>9 %</a:t>
            </a:r>
          </a:p>
        </p:txBody>
      </p:sp>
      <p:sp>
        <p:nvSpPr>
          <p:cNvPr id="88" name="TextBox 87"/>
          <p:cNvSpPr txBox="1"/>
          <p:nvPr/>
        </p:nvSpPr>
        <p:spPr>
          <a:xfrm>
            <a:off x="8101584" y="5791200"/>
            <a:ext cx="2194560" cy="134112"/>
          </a:xfrm>
          <a:prstGeom prst="rect">
            <a:avLst/>
          </a:prstGeom>
          <a:noFill/>
        </p:spPr>
        <p:txBody>
          <a:bodyPr wrap="square" anchor="t" lIns="0" rIns="0" tIns="0" bIns="0">
            <a:spAutoFit/>
          </a:bodyPr>
          <a:lstStyle/>
          <a:p>
            <a:pPr algn="l"/>
            <a:r>
              <a:rPr sz="1000" b="0" i="0">
                <a:solidFill>
                  <a:srgbClr val="111111"/>
                </a:solidFill>
                <a:latin typeface="Arial"/>
              </a:rPr>
              <a:t>Autres liaisons</a:t>
            </a:r>
          </a:p>
        </p:txBody>
      </p:sp>
      <p:sp>
        <p:nvSpPr>
          <p:cNvPr id="89" name="Rectangle 88"/>
          <p:cNvSpPr/>
          <p:nvPr/>
        </p:nvSpPr>
        <p:spPr>
          <a:xfrm>
            <a:off x="8101584" y="5943600"/>
            <a:ext cx="2011680" cy="54864"/>
          </a:xfrm>
          <a:prstGeom prst="rect">
            <a:avLst/>
          </a:prstGeom>
          <a:solidFill>
            <a:srgbClr val="ECEAE5"/>
          </a:solidFill>
          <a:ln>
            <a:noFill/>
          </a:ln>
          <a:effectLst/>
        </p:spPr>
        <p:txBody>
          <a:bodyPr rtlCol="0" anchor="ctr"/>
          <a:lstStyle/>
          <a:p>
            <a:pPr algn="ctr"/>
          </a:p>
        </p:txBody>
      </p:sp>
      <p:sp>
        <p:nvSpPr>
          <p:cNvPr id="90" name="Rectangle 89"/>
          <p:cNvSpPr/>
          <p:nvPr/>
        </p:nvSpPr>
        <p:spPr>
          <a:xfrm>
            <a:off x="8101584" y="5943600"/>
            <a:ext cx="140817" cy="54864"/>
          </a:xfrm>
          <a:prstGeom prst="rect">
            <a:avLst/>
          </a:prstGeom>
          <a:solidFill>
            <a:srgbClr val="9AA3B2"/>
          </a:solidFill>
          <a:ln>
            <a:noFill/>
          </a:ln>
          <a:effectLst/>
        </p:spPr>
        <p:txBody>
          <a:bodyPr rtlCol="0" anchor="ctr"/>
          <a:lstStyle/>
          <a:p>
            <a:pPr algn="ctr"/>
          </a:p>
        </p:txBody>
      </p:sp>
      <p:sp>
        <p:nvSpPr>
          <p:cNvPr id="91" name="TextBox 90"/>
          <p:cNvSpPr txBox="1"/>
          <p:nvPr/>
        </p:nvSpPr>
        <p:spPr>
          <a:xfrm>
            <a:off x="10241280" y="5864352"/>
            <a:ext cx="792480" cy="182880"/>
          </a:xfrm>
          <a:prstGeom prst="rect">
            <a:avLst/>
          </a:prstGeom>
          <a:noFill/>
        </p:spPr>
        <p:txBody>
          <a:bodyPr wrap="square" anchor="ctr" lIns="0" rIns="0" tIns="0" bIns="0">
            <a:spAutoFit/>
          </a:bodyPr>
          <a:lstStyle/>
          <a:p>
            <a:pPr algn="r"/>
            <a:r>
              <a:rPr sz="1300" b="1" i="0">
                <a:solidFill>
                  <a:srgbClr val="111111"/>
                </a:solidFill>
                <a:latin typeface="Arial"/>
              </a:rPr>
              <a:t>7 %</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6F2"/>
          </a:solidFill>
          <a:ln>
            <a:noFill/>
          </a:ln>
          <a:effectLst/>
        </p:spPr>
        <p:txBody>
          <a:bodyPr rtlCol="0" anchor="ctr"/>
          <a:lstStyle/>
          <a:p>
            <a:pPr algn="ctr"/>
          </a:p>
        </p:txBody>
      </p:sp>
      <p:sp>
        <p:nvSpPr>
          <p:cNvPr id="3" name="TextBox 2"/>
          <p:cNvSpPr txBox="1"/>
          <p:nvPr/>
        </p:nvSpPr>
        <p:spPr>
          <a:xfrm>
            <a:off x="579120" y="426720"/>
            <a:ext cx="7315200" cy="182880"/>
          </a:xfrm>
          <a:prstGeom prst="rect">
            <a:avLst/>
          </a:prstGeom>
          <a:noFill/>
        </p:spPr>
        <p:txBody>
          <a:bodyPr wrap="square" anchor="t" lIns="0" rIns="0" tIns="0" bIns="0">
            <a:spAutoFit/>
          </a:bodyPr>
          <a:lstStyle/>
          <a:p>
            <a:pPr algn="l"/>
            <a:r>
              <a:rPr sz="1300" b="1" i="0">
                <a:solidFill>
                  <a:srgbClr val="EE6A2C"/>
                </a:solidFill>
                <a:latin typeface="Arial"/>
              </a:rPr>
              <a:t>INSIGHTS QUALITATIFS · SEPTEMBRE 2026</a:t>
            </a:r>
          </a:p>
        </p:txBody>
      </p:sp>
      <p:sp>
        <p:nvSpPr>
          <p:cNvPr id="4" name="TextBox 3"/>
          <p:cNvSpPr txBox="1"/>
          <p:nvPr/>
        </p:nvSpPr>
        <p:spPr>
          <a:xfrm>
            <a:off x="579120" y="609600"/>
            <a:ext cx="7315200" cy="487680"/>
          </a:xfrm>
          <a:prstGeom prst="rect">
            <a:avLst/>
          </a:prstGeom>
          <a:noFill/>
        </p:spPr>
        <p:txBody>
          <a:bodyPr wrap="square" anchor="t" lIns="0" rIns="0" tIns="0" bIns="0">
            <a:spAutoFit/>
          </a:bodyPr>
          <a:lstStyle/>
          <a:p>
            <a:pPr algn="l"/>
            <a:r>
              <a:rPr sz="3600" b="1" i="0">
                <a:solidFill>
                  <a:srgbClr val="111111"/>
                </a:solidFill>
                <a:latin typeface="Arial"/>
              </a:rPr>
              <a:t>SNCF</a:t>
            </a:r>
          </a:p>
        </p:txBody>
      </p:sp>
      <p:sp>
        <p:nvSpPr>
          <p:cNvPr id="5" name="TextBox 4"/>
          <p:cNvSpPr txBox="1"/>
          <p:nvPr/>
        </p:nvSpPr>
        <p:spPr>
          <a:xfrm>
            <a:off x="9144000" y="499872"/>
            <a:ext cx="1889760" cy="182880"/>
          </a:xfrm>
          <a:prstGeom prst="rect">
            <a:avLst/>
          </a:prstGeom>
          <a:noFill/>
        </p:spPr>
        <p:txBody>
          <a:bodyPr wrap="square" anchor="t" lIns="0" rIns="0" tIns="0" bIns="0">
            <a:spAutoFit/>
          </a:bodyPr>
          <a:lstStyle/>
          <a:p>
            <a:pPr algn="r"/>
            <a:r>
              <a:rPr sz="1500" b="1" i="0">
                <a:solidFill>
                  <a:srgbClr val="111111"/>
                </a:solidFill>
                <a:latin typeface="Arial"/>
              </a:rPr>
              <a:t>Lemrock</a:t>
            </a:r>
          </a:p>
        </p:txBody>
      </p:sp>
      <p:sp>
        <p:nvSpPr>
          <p:cNvPr id="6" name="TextBox 5"/>
          <p:cNvSpPr txBox="1"/>
          <p:nvPr/>
        </p:nvSpPr>
        <p:spPr>
          <a:xfrm>
            <a:off x="579120" y="1219200"/>
            <a:ext cx="9144000" cy="182880"/>
          </a:xfrm>
          <a:prstGeom prst="rect">
            <a:avLst/>
          </a:prstGeom>
          <a:noFill/>
        </p:spPr>
        <p:txBody>
          <a:bodyPr wrap="square" anchor="t" lIns="0" rIns="0" tIns="0" bIns="0">
            <a:spAutoFit/>
          </a:bodyPr>
          <a:lstStyle/>
          <a:p>
            <a:pPr algn="l"/>
            <a:r>
              <a:rPr sz="1300" b="1" i="0">
                <a:solidFill>
                  <a:srgbClr val="EE6A2C"/>
                </a:solidFill>
                <a:latin typeface="Arial"/>
              </a:rPr>
              <a:t>OBJECTIF   </a:t>
            </a:r>
            <a:r>
              <a:rPr sz="1300" b="0" i="0">
                <a:solidFill>
                  <a:srgbClr val="111111"/>
                </a:solidFill>
                <a:latin typeface="Arial"/>
              </a:rPr>
              <a:t>À définir</a:t>
            </a:r>
          </a:p>
        </p:txBody>
      </p:sp>
      <p:sp>
        <p:nvSpPr>
          <p:cNvPr id="7" name="TextBox 6"/>
          <p:cNvSpPr txBox="1"/>
          <p:nvPr/>
        </p:nvSpPr>
        <p:spPr>
          <a:xfrm>
            <a:off x="579120" y="1524000"/>
            <a:ext cx="4876800" cy="182880"/>
          </a:xfrm>
          <a:prstGeom prst="rect">
            <a:avLst/>
          </a:prstGeom>
          <a:noFill/>
        </p:spPr>
        <p:txBody>
          <a:bodyPr wrap="square" anchor="t" lIns="0" rIns="0" tIns="0" bIns="0">
            <a:spAutoFit/>
          </a:bodyPr>
          <a:lstStyle/>
          <a:p>
            <a:pPr algn="l"/>
            <a:r>
              <a:rPr sz="1400" b="1" i="0">
                <a:solidFill>
                  <a:srgbClr val="555B66"/>
                </a:solidFill>
                <a:latin typeface="Arial"/>
              </a:rPr>
              <a:t>INSIGHTS QUALITATIFS</a:t>
            </a:r>
          </a:p>
        </p:txBody>
      </p:sp>
      <p:sp>
        <p:nvSpPr>
          <p:cNvPr id="8" name="Rectangle 7"/>
          <p:cNvSpPr/>
          <p:nvPr/>
        </p:nvSpPr>
        <p:spPr>
          <a:xfrm>
            <a:off x="579120" y="1816608"/>
            <a:ext cx="5071872" cy="2121408"/>
          </a:xfrm>
          <a:prstGeom prst="rect">
            <a:avLst/>
          </a:prstGeom>
          <a:solidFill>
            <a:srgbClr val="FFFFFF"/>
          </a:solidFill>
          <a:ln>
            <a:noFill/>
          </a:ln>
          <a:effectLst/>
        </p:spPr>
        <p:txBody>
          <a:bodyPr rtlCol="0" anchor="ctr"/>
          <a:lstStyle/>
          <a:p>
            <a:pPr algn="ctr"/>
          </a:p>
        </p:txBody>
      </p:sp>
      <p:sp>
        <p:nvSpPr>
          <p:cNvPr id="9" name="TextBox 8"/>
          <p:cNvSpPr txBox="1"/>
          <p:nvPr/>
        </p:nvSpPr>
        <p:spPr>
          <a:xfrm>
            <a:off x="835152" y="2029968"/>
            <a:ext cx="487680" cy="243840"/>
          </a:xfrm>
          <a:prstGeom prst="rect">
            <a:avLst/>
          </a:prstGeom>
          <a:noFill/>
        </p:spPr>
        <p:txBody>
          <a:bodyPr wrap="square" anchor="t" lIns="0" rIns="0" tIns="0" bIns="0">
            <a:spAutoFit/>
          </a:bodyPr>
          <a:lstStyle/>
          <a:p>
            <a:pPr algn="l"/>
            <a:r>
              <a:rPr sz="2000" b="1" i="0">
                <a:solidFill>
                  <a:srgbClr val="EE6A2C"/>
                </a:solidFill>
                <a:latin typeface="Arial"/>
              </a:rPr>
              <a:t>01</a:t>
            </a:r>
          </a:p>
        </p:txBody>
      </p:sp>
      <p:sp>
        <p:nvSpPr>
          <p:cNvPr id="10" name="TextBox 9"/>
          <p:cNvSpPr txBox="1"/>
          <p:nvPr/>
        </p:nvSpPr>
        <p:spPr>
          <a:xfrm>
            <a:off x="1383792" y="2048256"/>
            <a:ext cx="4023360" cy="365760"/>
          </a:xfrm>
          <a:prstGeom prst="rect">
            <a:avLst/>
          </a:prstGeom>
          <a:noFill/>
        </p:spPr>
        <p:txBody>
          <a:bodyPr wrap="square" anchor="t" lIns="0" rIns="0" tIns="0" bIns="0">
            <a:spAutoFit/>
          </a:bodyPr>
          <a:lstStyle/>
          <a:p>
            <a:pPr algn="l"/>
            <a:r>
              <a:rPr sz="1400" b="1" i="0">
                <a:solidFill>
                  <a:srgbClr val="111111"/>
                </a:solidFill>
                <a:latin typeface="Arial"/>
              </a:rPr>
              <a:t>Plafonner Paris – Rennes</a:t>
            </a:r>
          </a:p>
        </p:txBody>
      </p:sp>
      <p:sp>
        <p:nvSpPr>
          <p:cNvPr id="11" name="TextBox 10"/>
          <p:cNvSpPr txBox="1"/>
          <p:nvPr/>
        </p:nvSpPr>
        <p:spPr>
          <a:xfrm>
            <a:off x="835152" y="2609088"/>
            <a:ext cx="4572000" cy="731520"/>
          </a:xfrm>
          <a:prstGeom prst="rect">
            <a:avLst/>
          </a:prstGeom>
          <a:noFill/>
        </p:spPr>
        <p:txBody>
          <a:bodyPr wrap="square" anchor="t" lIns="0" rIns="0" tIns="0" bIns="0">
            <a:spAutoFit/>
          </a:bodyPr>
          <a:lstStyle/>
          <a:p>
            <a:pPr algn="l"/>
            <a:r>
              <a:rPr sz="1100" b="0" i="0">
                <a:solidFill>
                  <a:srgbClr val="555B66"/>
                </a:solidFill>
                <a:latin typeface="Arial"/>
              </a:rPr>
              <a:t>L'annonce Paris – Rennes capte 18 % de la diffusion mais reste à 0,37 fois le CTR moyen, le plus bas de la campagne.</a:t>
            </a:r>
          </a:p>
        </p:txBody>
      </p:sp>
      <p:sp>
        <p:nvSpPr>
          <p:cNvPr id="12" name="TextBox 11"/>
          <p:cNvSpPr txBox="1"/>
          <p:nvPr/>
        </p:nvSpPr>
        <p:spPr>
          <a:xfrm>
            <a:off x="835152" y="3310128"/>
            <a:ext cx="4572000" cy="487680"/>
          </a:xfrm>
          <a:prstGeom prst="rect">
            <a:avLst/>
          </a:prstGeom>
          <a:noFill/>
        </p:spPr>
        <p:txBody>
          <a:bodyPr wrap="square" anchor="t" lIns="0" rIns="0" tIns="0" bIns="0">
            <a:spAutoFit/>
          </a:bodyPr>
          <a:lstStyle/>
          <a:p>
            <a:pPr algn="l"/>
            <a:r>
              <a:rPr sz="900" b="1" i="0">
                <a:solidFill>
                  <a:srgbClr val="555B66"/>
                </a:solidFill>
                <a:latin typeface="Arial"/>
              </a:rPr>
              <a:t>→  Plafonner sa diffusion et réallouer le budget aux liaisons qui cliquent.</a:t>
            </a:r>
          </a:p>
        </p:txBody>
      </p:sp>
      <p:sp>
        <p:nvSpPr>
          <p:cNvPr id="13" name="Rectangle 12"/>
          <p:cNvSpPr/>
          <p:nvPr/>
        </p:nvSpPr>
        <p:spPr>
          <a:xfrm>
            <a:off x="5992368" y="1816608"/>
            <a:ext cx="5071872" cy="2121408"/>
          </a:xfrm>
          <a:prstGeom prst="rect">
            <a:avLst/>
          </a:prstGeom>
          <a:solidFill>
            <a:srgbClr val="FFFFFF"/>
          </a:solidFill>
          <a:ln>
            <a:noFill/>
          </a:ln>
          <a:effectLst/>
        </p:spPr>
        <p:txBody>
          <a:bodyPr rtlCol="0" anchor="ctr"/>
          <a:lstStyle/>
          <a:p>
            <a:pPr algn="ctr"/>
          </a:p>
        </p:txBody>
      </p:sp>
      <p:sp>
        <p:nvSpPr>
          <p:cNvPr id="14" name="TextBox 13"/>
          <p:cNvSpPr txBox="1"/>
          <p:nvPr/>
        </p:nvSpPr>
        <p:spPr>
          <a:xfrm>
            <a:off x="6248400" y="2029968"/>
            <a:ext cx="487680" cy="243840"/>
          </a:xfrm>
          <a:prstGeom prst="rect">
            <a:avLst/>
          </a:prstGeom>
          <a:noFill/>
        </p:spPr>
        <p:txBody>
          <a:bodyPr wrap="square" anchor="t" lIns="0" rIns="0" tIns="0" bIns="0">
            <a:spAutoFit/>
          </a:bodyPr>
          <a:lstStyle/>
          <a:p>
            <a:pPr algn="l"/>
            <a:r>
              <a:rPr sz="2000" b="1" i="0">
                <a:solidFill>
                  <a:srgbClr val="EE6A2C"/>
                </a:solidFill>
                <a:latin typeface="Arial"/>
              </a:rPr>
              <a:t>02</a:t>
            </a:r>
          </a:p>
        </p:txBody>
      </p:sp>
      <p:sp>
        <p:nvSpPr>
          <p:cNvPr id="15" name="TextBox 14"/>
          <p:cNvSpPr txBox="1"/>
          <p:nvPr/>
        </p:nvSpPr>
        <p:spPr>
          <a:xfrm>
            <a:off x="6797040" y="2048256"/>
            <a:ext cx="4023360" cy="365760"/>
          </a:xfrm>
          <a:prstGeom prst="rect">
            <a:avLst/>
          </a:prstGeom>
          <a:noFill/>
        </p:spPr>
        <p:txBody>
          <a:bodyPr wrap="square" anchor="t" lIns="0" rIns="0" tIns="0" bIns="0">
            <a:spAutoFit/>
          </a:bodyPr>
          <a:lstStyle/>
          <a:p>
            <a:pPr algn="l"/>
            <a:r>
              <a:rPr sz="1400" b="1" i="0">
                <a:solidFill>
                  <a:srgbClr val="111111"/>
                </a:solidFill>
                <a:latin typeface="Arial"/>
              </a:rPr>
              <a:t>Ajouter les trajets retour vers Paris</a:t>
            </a:r>
          </a:p>
        </p:txBody>
      </p:sp>
      <p:sp>
        <p:nvSpPr>
          <p:cNvPr id="16" name="TextBox 15"/>
          <p:cNvSpPr txBox="1"/>
          <p:nvPr/>
        </p:nvSpPr>
        <p:spPr>
          <a:xfrm>
            <a:off x="6248400" y="2609088"/>
            <a:ext cx="4572000" cy="731520"/>
          </a:xfrm>
          <a:prstGeom prst="rect">
            <a:avLst/>
          </a:prstGeom>
          <a:noFill/>
        </p:spPr>
        <p:txBody>
          <a:bodyPr wrap="square" anchor="t" lIns="0" rIns="0" tIns="0" bIns="0">
            <a:spAutoFit/>
          </a:bodyPr>
          <a:lstStyle/>
          <a:p>
            <a:pPr algn="l"/>
            <a:r>
              <a:rPr sz="1100" b="0" i="0">
                <a:solidFill>
                  <a:srgbClr val="555B66"/>
                </a:solidFill>
                <a:latin typeface="Arial"/>
              </a:rPr>
              <a:t>Les trajets retour vers Paris (Lille, Lyon, Marseille, Toulouse…) atteignent 1,27 fois le CTR moyen, contre 0,86 fois pour les trajets au départ de Paris.</a:t>
            </a:r>
          </a:p>
        </p:txBody>
      </p:sp>
      <p:sp>
        <p:nvSpPr>
          <p:cNvPr id="17" name="TextBox 16"/>
          <p:cNvSpPr txBox="1"/>
          <p:nvPr/>
        </p:nvSpPr>
        <p:spPr>
          <a:xfrm>
            <a:off x="6248400" y="3310128"/>
            <a:ext cx="4572000" cy="487680"/>
          </a:xfrm>
          <a:prstGeom prst="rect">
            <a:avLst/>
          </a:prstGeom>
          <a:noFill/>
        </p:spPr>
        <p:txBody>
          <a:bodyPr wrap="square" anchor="t" lIns="0" rIns="0" tIns="0" bIns="0">
            <a:spAutoFit/>
          </a:bodyPr>
          <a:lstStyle/>
          <a:p>
            <a:pPr algn="l"/>
            <a:r>
              <a:rPr sz="900" b="1" i="0">
                <a:solidFill>
                  <a:srgbClr val="555B66"/>
                </a:solidFill>
                <a:latin typeface="Arial"/>
              </a:rPr>
              <a:t>→  Décliner chaque liaison du top 20 dans les deux sens.</a:t>
            </a:r>
          </a:p>
        </p:txBody>
      </p:sp>
      <p:sp>
        <p:nvSpPr>
          <p:cNvPr id="18" name="Rectangle 17"/>
          <p:cNvSpPr/>
          <p:nvPr/>
        </p:nvSpPr>
        <p:spPr>
          <a:xfrm>
            <a:off x="579120" y="4133088"/>
            <a:ext cx="5071872" cy="2121408"/>
          </a:xfrm>
          <a:prstGeom prst="rect">
            <a:avLst/>
          </a:prstGeom>
          <a:solidFill>
            <a:srgbClr val="FFFFFF"/>
          </a:solidFill>
          <a:ln>
            <a:noFill/>
          </a:ln>
          <a:effectLst/>
        </p:spPr>
        <p:txBody>
          <a:bodyPr rtlCol="0" anchor="ctr"/>
          <a:lstStyle/>
          <a:p>
            <a:pPr algn="ctr"/>
          </a:p>
        </p:txBody>
      </p:sp>
      <p:sp>
        <p:nvSpPr>
          <p:cNvPr id="19" name="TextBox 18"/>
          <p:cNvSpPr txBox="1"/>
          <p:nvPr/>
        </p:nvSpPr>
        <p:spPr>
          <a:xfrm>
            <a:off x="835152" y="4346448"/>
            <a:ext cx="487680" cy="243840"/>
          </a:xfrm>
          <a:prstGeom prst="rect">
            <a:avLst/>
          </a:prstGeom>
          <a:noFill/>
        </p:spPr>
        <p:txBody>
          <a:bodyPr wrap="square" anchor="t" lIns="0" rIns="0" tIns="0" bIns="0">
            <a:spAutoFit/>
          </a:bodyPr>
          <a:lstStyle/>
          <a:p>
            <a:pPr algn="l"/>
            <a:r>
              <a:rPr sz="2000" b="1" i="0">
                <a:solidFill>
                  <a:srgbClr val="EE6A2C"/>
                </a:solidFill>
                <a:latin typeface="Arial"/>
              </a:rPr>
              <a:t>03</a:t>
            </a:r>
          </a:p>
        </p:txBody>
      </p:sp>
      <p:sp>
        <p:nvSpPr>
          <p:cNvPr id="20" name="TextBox 19"/>
          <p:cNvSpPr txBox="1"/>
          <p:nvPr/>
        </p:nvSpPr>
        <p:spPr>
          <a:xfrm>
            <a:off x="1383792" y="4364736"/>
            <a:ext cx="4023360" cy="365760"/>
          </a:xfrm>
          <a:prstGeom prst="rect">
            <a:avLst/>
          </a:prstGeom>
          <a:noFill/>
        </p:spPr>
        <p:txBody>
          <a:bodyPr wrap="square" anchor="t" lIns="0" rIns="0" tIns="0" bIns="0">
            <a:spAutoFit/>
          </a:bodyPr>
          <a:lstStyle/>
          <a:p>
            <a:pPr algn="l"/>
            <a:r>
              <a:rPr sz="1400" b="1" i="0">
                <a:solidFill>
                  <a:srgbClr val="111111"/>
                </a:solidFill>
                <a:latin typeface="Arial"/>
              </a:rPr>
              <a:t>Concentrer le budget sur 9 liaisons</a:t>
            </a:r>
          </a:p>
        </p:txBody>
      </p:sp>
      <p:sp>
        <p:nvSpPr>
          <p:cNvPr id="21" name="TextBox 20"/>
          <p:cNvSpPr txBox="1"/>
          <p:nvPr/>
        </p:nvSpPr>
        <p:spPr>
          <a:xfrm>
            <a:off x="835152" y="4925568"/>
            <a:ext cx="4572000" cy="731520"/>
          </a:xfrm>
          <a:prstGeom prst="rect">
            <a:avLst/>
          </a:prstGeom>
          <a:noFill/>
        </p:spPr>
        <p:txBody>
          <a:bodyPr wrap="square" anchor="t" lIns="0" rIns="0" tIns="0" bIns="0">
            <a:spAutoFit/>
          </a:bodyPr>
          <a:lstStyle/>
          <a:p>
            <a:pPr algn="l"/>
            <a:r>
              <a:rPr sz="1100" b="0" i="0">
                <a:solidFill>
                  <a:srgbClr val="555B66"/>
                </a:solidFill>
                <a:latin typeface="Arial"/>
              </a:rPr>
              <a:t>9 annonces atteignent 1,30 fois le CTR moyen : les retours vers Paris, Paris – Lyon et Paris – Londres.</a:t>
            </a:r>
          </a:p>
        </p:txBody>
      </p:sp>
      <p:sp>
        <p:nvSpPr>
          <p:cNvPr id="22" name="TextBox 21"/>
          <p:cNvSpPr txBox="1"/>
          <p:nvPr/>
        </p:nvSpPr>
        <p:spPr>
          <a:xfrm>
            <a:off x="835152" y="5626608"/>
            <a:ext cx="4572000" cy="487680"/>
          </a:xfrm>
          <a:prstGeom prst="rect">
            <a:avLst/>
          </a:prstGeom>
          <a:noFill/>
        </p:spPr>
        <p:txBody>
          <a:bodyPr wrap="square" anchor="t" lIns="0" rIns="0" tIns="0" bIns="0">
            <a:spAutoFit/>
          </a:bodyPr>
          <a:lstStyle/>
          <a:p>
            <a:pPr algn="l"/>
            <a:r>
              <a:rPr sz="900" b="1" i="0">
                <a:solidFill>
                  <a:srgbClr val="555B66"/>
                </a:solidFill>
                <a:latin typeface="Arial"/>
              </a:rPr>
              <a:t>→  Leur donner la priorité de budget pour les départs de la Toussaint.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