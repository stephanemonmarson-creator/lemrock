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Allo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577 195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3 845 061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2 287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6 845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0,18 %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Le Conversion Tracker n'est pas encore installé. Les conversions apparaîtront dans ce rapport dès son intégration.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toutes saisons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 3PMSF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loi montagne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 freinage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pas chers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 sûrs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E6A2C"/>
                </a:solidFill>
                <a:latin typeface="Arial"/>
              </a:rPr>
              <a:t>voiture électrique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 MG4 EV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Zoé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pneus hiver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 chaînes à neige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dimensions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Continental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4 saisons pour rouler toute l'année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pour un SUV qui roule souvent sous la pluie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pneu pour un utilitaire qui transporte lourd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dimension de pneu est compatible avec mon véhicule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faire monter mes pneus commandés en ligne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auto et dimensions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SUV et utilitaires · 39 %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moto et scooter · 18 %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toutes saisons · 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hiver et neige · 1 %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Accessoires et entretien · &lt; 1 %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4999939"/>
            <a:ext cx="475488" cy="52303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0564368" y="4999939"/>
            <a:ext cx="475488" cy="523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39 %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564368" y="5522976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4368" y="5764377"/>
            <a:ext cx="475488" cy="13411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Allo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davantage en avant les pneus hiver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de pneus hiver atteignent 1,15 fois le CTR moyen, le meilleur score du mois. Elles ne représentent pourtant que 8 % de la diffusion.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Augmenter la part des pneus hiver et 4 saisons en octobre, au moment où les conducteurs changent leurs pneus.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Renforcer les pneus SUV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pneus SUV et 4x4 atteignent 1,09 fois le CTR moyen, et jusqu'à 1,43 fois pour le Kleber Quadraxer SUV. Les pneus utilitaires restent sous la moyenne (0,87 fois).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visibilité aux références SUV et retravailler les messages utilitaires autour d'un usage concret (chantier, camping-car).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Privilégier les marques au bon rapport qualité-prix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marques à prix accessible cliquent mieux, Hankook atteint 1,22 fois le CTR moyen. Les marques premium comme Goodyear restent en dessous (0,69 fois).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marques accessibles avec le message « pas cher mais sûr ».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Archipel Kombucha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222 268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+177 %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302 404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1 136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1 465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+0,10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Le Conversion Tracker est en cours de validation : </a:t>
            </a:r>
            <a:r>
              <a:rPr sz="900" b="0" i="0">
                <a:solidFill>
                  <a:srgbClr val="555B66"/>
                </a:solidFill>
                <a:latin typeface="Arial"/>
              </a:rPr>
              <a:t>l'intégration a été réalisée le 30 septembre. Les conversions apparaîtront dans ce rapport dès que la remontée des données sera validée.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kombucha bio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sans alcool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boissons fermentées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33 cl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cassis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figuier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clémentine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pomelo gingembre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framboise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apéritif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mocktail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pack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direct producteur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fraîcheur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acheter de la ginger beer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faire son kéfir de fruits maison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sont les bienfaits du kéfir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recette pour un kombucha maison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cocktail ou spritz sans alcool préparer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Thés, infusions et plantes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Cocktails et boissons sans alcool · 22 %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Bienfaits et santé · 18 %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Recettes et fermentation maison · 12 %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643737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450080"/>
            <a:ext cx="475488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48 %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5093817"/>
            <a:ext cx="475488" cy="29504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388864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630265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Archipel Kombucha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de boissons fermentées sans alcool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Boissons fermentées sans alcool » atteint 1,53 fois le CTR moyen, le meilleur score du mois.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l'alternative sans alcool au cœur des accroches : apéritif, repas, pause.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formats 33 cl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packs de 12 kombuchas de 33 cl dépassent la moyenne (jusqu'à 1,30 fois). Le pack de 6 bouteilles de 75 cl tombe à 0,66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Faire des formats 33 cl le produit d'appel et garder les 75 cl pour la page produit.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le cassis et le pomelo gingembre en avant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pomelo gingembre (1,23 fois le CTR moyen) et cassis (1,15 fois) font mieux que la moyenne. Framboise, figuier et clémentine restent juste en dessous (0,93 fois).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visibilité au cassis et au pomelo gingembre.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Basket4Ballers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705 874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+33 %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1 702 639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3 198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+195 %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5 040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0,45 %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+0,25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Le Conversion Tracker est en cours d'implémentation. Les conversions apparaîtront dans ce rapport dès que la remontée des données sera validée.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Jordan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Nike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genouillères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ballon de basket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maillots NBA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survêtements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Air Force 1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short de compression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Équipe de France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Paris Basketball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McDavid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enfant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sneakers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acheter des Adidas Samba ou des New Balance 530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modèle choisir entre Jordan 4 et Nike Air Max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un maillot NBA officiel ou vintage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acheter le maillot de Wembanyama aux Spurs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ballon et quelle tenue de basket pour un enfant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Chaussures et sneakers · 14 %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Équipement de basketball · 47 %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Maillots et fanwear NBA · 9 %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Vêtements de basketball · 30 %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18775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4637836"/>
            <a:ext cx="475488" cy="63032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0564368" y="4637836"/>
            <a:ext cx="475488" cy="63032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47 %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0564368" y="5268163"/>
            <a:ext cx="475488" cy="12070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388863"/>
            <a:ext cx="475488" cy="40233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5388863"/>
            <a:ext cx="47548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30 %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Basket4Ballers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du jeu, pas seulement du produit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accroches qui évoquent la pratique (jouer, match, entraînement, terrain) atteignent 1,28 fois le CTR moyen. Elles ne représentent pourtant que 2 % de la diffusion.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Présenter chaque produit dans son usage : match, entraînement, playground.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ballons et accessoires restent porteurs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ballons atteignent 1,27 fois le CTR moyen et les accessoires et petits équipements 1,12 fois, devant les chaussures et les maillots.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la visibilité des ballons, chaussettes techniques, manchons et sacs de sport.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promotion ne suffit toujours pas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accroches centrées sur le prix (« pas cher », « prix bas », « promo ») restent à 0,85 fois le CTR moyen, alors qu'elles représentent 21 % de la diffusion.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Commencer par le produit, le joueur ou l'usage, puis présenter le prix comme un argument secondaire.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maillots et les tenues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maillots restent à 0,90 fois le CTR moyen, les tenues de basket à 0,58 fois et les casquettes à 0,41 fois.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les maillots à un joueur, une équipe ou un match, avec la reprise de la saison NBA en octobre.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Bayard Jeunesse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408 434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+7 %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791 115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2 277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+215 %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2 999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0,56 %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Le Conversion Tracker n'est pas encore installé. Les conversions apparaîtront dans ce rapport dès son intégration.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abonnement magazine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J'aime lire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Pomme d'Api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Phosphore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Images Doc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Popi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I Love English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So Foot Club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Okapi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Astrapi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Youpi Doc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livré à la maison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numérique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premier magazine pour un enfant d'un an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magazine accompagne l'apprentissage de la lecture au CP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aider mon enfant à apprendre l'anglais en s'amusant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des histoires audio pour le coucher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abonnement offrir pour l'anniversaire d'un enfant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Lecture et découverte 6-10 ans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Apprentissage de l'anglais · 8 %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Magazines pour adolescents · 19 %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Éveil et petite enfance · 40 %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44256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450080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892649"/>
            <a:ext cx="475488" cy="10728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4999939"/>
            <a:ext cx="475488" cy="254812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254752"/>
            <a:ext cx="475488" cy="536448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5254752"/>
            <a:ext cx="47548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40 %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Bayard Jeunesse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magazines 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magazines pour adolescents (Phosphore, Okapi, So Foot Club, Je bouquine) atteignent 1,39 fois le CTR moyen. Phosphore atteint même 2,23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titres ados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magazines documentaires surperforment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Images Doc (magazine découvertes 8-12 ans) atteint 2,28 fois le CTR moyen, le meilleur score de la campagne.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titres qui aident à comprendre le monde.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annonces petite enfance et génériques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L'éveil et la petite enfance représentent 40 % de la diffusion mais restent à 0,92 fois la moyenne (Les Belles Histoires 0,62 fois, Babar 0,67 fois). Les annonces génériques sont à 0,89 fois.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Parler aux parents d'un moment précis (histoire du soir, premiers apprentissages) plutôt que de l'abonnement en général.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722 à 2 277 pour 7 % d'impressions en plus. Le CTR passe de 0,19 % à 0,56 %.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Prolonger la campagne au-delà du 11/10, pour la période des cadeaux de fin d'année.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351 012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−44 %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1 531 995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1 740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+20 %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4 227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mesurées par Cdiscount, non intégrées à ce rapport. Elles apparaîtront ici dès l'intégration du Conversion Tracker.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lave-vaisselle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encastrable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pose libre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60 cm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45 cm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Série 2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Série 4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EcoSilence Drive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tiroir à couverts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13 couverts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14 couverts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dB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livraison gratuite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Black Friday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lave-vaisselle Bosch pour une cuisine ouverte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différence entre encastrable et semi-intégrable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Un lave-vaisselle de 44 dB est-il vraiment silencieux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modèle de 45 cm pour une petite cuisine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quoi sert Home Connect sur un lave-vaisselle Bosch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Comparaison marques et modèles · 5 %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Encastrables et intégrables · 46 %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Compacts et largeur 45 cm · 15 %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Grande capacité et 60 cm · 34 %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Lave-vaisselle silencieux · &lt; 1 %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Lave-vaisselle connectés · &lt; 1 %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6705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4517136"/>
            <a:ext cx="475488" cy="616915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0564368" y="4517136"/>
            <a:ext cx="475488" cy="61691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46 %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0564368" y="5134051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335219"/>
            <a:ext cx="475488" cy="45598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564368" y="5335219"/>
            <a:ext cx="475488" cy="4559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34 %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Revenir aux messages d'usage qui marchaient en août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En septembre, les annonces sont des fiches techniques : aucune caractéristique ne se démarque (entre 0,95 et 1,06 fois le CTR moyen). En août, les messages d'usage atteignaient jusqu'à 1,58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Réintroduire des annonces d'usage : « Votre vaisselle s'accumule après le dîner ? », « Lancez-le le soir sans bruit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Couper les 10 annonces les moins performantes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10 annonces, soit 24 % de la diffusion, restent à 0,74 fois le CTR moyen (jusqu'à 0,60 fois pour le SBV4HCX07E).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Les retirer et réallouer leur budget aux modèles qui cliquent.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Renforcer les 6 annonces qui cliquent le plus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6 annonces, soit 15 % de la diffusion, atteignent 1,27 fois le CTR moyen, surtout des Série 2 (SMV2HTX02E à 1,41 fois).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Leur donner plus de budget, en priorité pour le Black Friday.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Boulanger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3 133 801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3 164 233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19 975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20 178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0,64 %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0,64 %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Le Conversion Tracker est en cours de validation : </a:t>
            </a:r>
            <a:r>
              <a:rPr sz="900" b="0" i="0">
                <a:solidFill>
                  <a:srgbClr val="555B66"/>
                </a:solidFill>
                <a:latin typeface="Arial"/>
              </a:rPr>
              <a:t>le pixel est posé depuis la mi-septembre. Les conversions apparaîtront dans ce rapport dès que la réconciliation avec vos données sera validée.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smartphone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écouteurs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enceinte portable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téléviseur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rapport qualité-prix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aspirateur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ordinateur portable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tablette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airfryer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lave-linge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batterie externe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Samsung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JBL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Dyson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smartphone choisir pour prendre de bonnes photos sans dépasser mon budget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écouteurs choisir pour faire du sport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enceinte portable offrir à une personne qui écoute beaucoup de musique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aspirateur est efficace contre les poils d'animaux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téléviseur choisir pour regarder des films et jouer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Informatique et gaming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Téléphonie · 19 %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Image et son · 18 %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Gros électroménager · 17 %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Petit électroménager · 17 %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450080"/>
            <a:ext cx="475488" cy="38892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564368" y="4450080"/>
            <a:ext cx="475488" cy="388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29 %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839004"/>
            <a:ext cx="475488" cy="254812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5093817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564368" y="5335219"/>
            <a:ext cx="475488" cy="22799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5563209"/>
            <a:ext cx="475488" cy="22799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Boulanger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Amener sur boulanger.com des visiteurs en intention d'achat (budget 10 000 € / mois).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Renforcer les 12 annonces qui cliquent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12 annonces, soit 7 % de la diffusion, atteignent 2,15 fois le CTR moyen : consoles (ROG Xbox Ally 5,37 fois, Switch 2), PC et Mac, iPhone 17 Pro Max.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Leur donner plus de budget, en priorité avant Noël.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Couper les 34 annonces les moins performantes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34 annonces, soit 16 % de la diffusion, restent à 0,66 fois le CTR moyen : barres de son et enceintes (Bose TV Speaker 0,44 fois, JBL Charge 6 0,50 fois), GPS (TomTom 0,42 fois).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Les retirer et réallouer leur budget.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Recentrer le smartphone sur l'iPhone 17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smartphones restent à 0,82 fois le CTR moyen, sauf l'iPhone 17 (1,16 fois) et les iPhone reconditionnés (1,10 fois).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la diffusion smartphone sur ces références, en vue du plan smartphone 2027.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1 760 935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6 117 876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9 138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+207 %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17 884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+4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0,04 %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▲ +0,04 pt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0,04 %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▲ +0,02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0,02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communiquées via Awin, à titre indicatif. Elles seront consolidées dès l'intégration du Conversion Tracker.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forfait mobile</a:t>
            </a:r>
          </a:p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11111"/>
                </a:solidFill>
                <a:latin typeface="Arial"/>
              </a:rPr>
              <a:t>sans engagement</a:t>
            </a:r>
            <a:r>
              <a:rPr sz="1500" b="0" i="0">
                <a:solidFill>
                  <a:srgbClr val="555B66"/>
                </a:solidFill>
                <a:latin typeface="Arial"/>
              </a:rPr>
              <a:t>      eSIM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40 Go</a:t>
            </a:r>
            <a:r>
              <a:rPr sz="1300" b="1" i="0">
                <a:solidFill>
                  <a:srgbClr val="111111"/>
                </a:solidFill>
                <a:latin typeface="Arial"/>
              </a:rPr>
              <a:t>   150 Go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5G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carte SIM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code RIO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portabilité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activation immédiate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partage de connexion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roaming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meilleur prix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départ en vacances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forfait mobile sans engagement choisir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un forfait 120 Go à moins de 10 € par mois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Puis-je utiliser une eSIM avec Cdiscount Mobile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Puis-je conserver mon numéro en changeant d'opérateur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forfait pour faire du partage de connexion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Recherche générale d'un forfait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eSIM et carte SIM · 25 %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Prix et sans engagement · 15 %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Partage de connexion et nomade · 12 %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5G et volume de data · 6 %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International et roaming · 4 %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Changement d'opérateur · 1 %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077200" y="5943600"/>
            <a:ext cx="121920" cy="121920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296656" y="592531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Forfaits par profil · 1 %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36 %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564368" y="4932883"/>
            <a:ext cx="475488" cy="33528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0564368" y="4932883"/>
            <a:ext cx="475488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25 %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564368" y="5268163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0564368" y="5469331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0564368" y="5630265"/>
            <a:ext cx="475488" cy="80467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0564368" y="5710732"/>
            <a:ext cx="475488" cy="53644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0564368" y="5764377"/>
            <a:ext cx="475488" cy="13411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Générer 550 nouvelles souscriptions.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Afficher le prix dans les annonces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3 annonces de septembre ne citent pas de prix et cliquent toutes au même niveau (0,99 à 1,02 fois la moyenne). En août, les messages prix + data + sans engagement atteignaient jusqu'à 4,3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le prix mensuel dans le titre : « Forfait 40 Go à x €/mois, sans engagement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Créer une annonce eSIM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Aucune annonce ne parle de l'eSIM en septembre, alors que cet angle atteignait 2,1 fois le CTR moyen en août.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une annonce dédiée à l'eSIM et à l'activation immédiate.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Piloter aux souscriptions, pas au ROAS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ROAS ne reflète pas la valeur d'un forfait : la souscription est facturée 1 €, puis 1 € par mois.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Suivre le nombre et le coût par souscription face à l'objectif de 550 souscriptions.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Séjours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790 844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5 924 632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3 916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12 654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0,21 %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+2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25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0,10 %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▲ +0,04 pt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0,20 %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1,30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▲ +0,47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communiquées via Awin, à titre indicatif. Elles seront consolidées dès l'intégration du Conversion Tracker.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hôtel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séjour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Canaries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Baléares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tout compris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club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soleil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Fuerteventura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Majorque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Grèce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paiement en 4 fois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plage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Dubaï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Tunisie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petit prix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partir au soleil en octobre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camping choisir pour des vacances en famille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séjour tout compris pour une famille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croisière choisir en Méditerranée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Peut-on payer un voyage en quatre fois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Campings et camping-cars · &lt; 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Hôtels et hébergements · 89 %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Croisières, ferries et trains · &lt; 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Séjours tout compris · 11 %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Parcs et séjours en famille · &lt; 1 %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Vols et billets d'avion · &lt; 1 %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Bien-être et thalasso · &lt; 1 %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4450080"/>
            <a:ext cx="475488" cy="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4450080"/>
            <a:ext cx="475488" cy="119359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564368" y="4450080"/>
            <a:ext cx="475488" cy="11935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89 %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564368" y="5643676"/>
            <a:ext cx="475488" cy="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643676"/>
            <a:ext cx="475488" cy="147523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Séjours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ROI de 12 pour un CA de 30 k€.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une destination précise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qui décrivent un hôtel et sa destination (Fuerteventura, Majorque, Grèce, Dubaï) atteignent jusqu'à 1,23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Construire chaque annonce autour d'un lieu et de ce qu'on y vit.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L'annonce générique sous-performe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Séjour pas cher – Paiement en 4x » reste à 0,86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paiement en 4x comme argument secondaire, après la destination.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Canaries et les Baléares portent la campagne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Canaries et les Baléares représentent 29 % de la diffusion, avec des CTR au-dessus de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les séjours soleil d'hiver (Canaries, Égypte, Dubaï) pour la Toussaint et Noël.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Des réservations en hausse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4 réservations pour 1 119 € de GMV. Le ROAS passe de 0,82 à 1,30.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le budget sur les offres qui convertissent.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Vols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1 855 410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+92 %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10 029 893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9 406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+455 %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21 694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0,22 %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0,00 %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0,00 %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0,00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communiquées via Awin, à titre indicatif. Elles seront consolidées dès l'intégration du Conversion Tracker.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billet d'avion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vol direct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Afrique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Maghreb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Abidjan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Thaïlande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Bali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Martinique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Guadeloupe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Lanzarote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paiement en 4 fois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prix bas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Lyon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Nice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Marseille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Islande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vol direct choisir entre Paris et Lisbonne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vols au départ de Marseille vers Abidjan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Existe-t-il un vol direct entre Paris et Fort-de-France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un aller-retour Paris – Nice à un bon prix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destination pour un week-end en Europe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Recherche générique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Outre-mer et Caraïbes · 8 %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Europe et city breaks · 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Afrique du Nord et Afrique · 25 %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Long-courrier international · 33 %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France métropolitaine · &lt; 1 %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348691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4450080"/>
            <a:ext cx="475488" cy="3486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26 %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4798771"/>
            <a:ext cx="475488" cy="10728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4906060"/>
            <a:ext cx="475488" cy="107289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013350"/>
            <a:ext cx="475488" cy="33528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564368" y="5013350"/>
            <a:ext cx="475488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25 %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564368" y="5348630"/>
            <a:ext cx="475488" cy="442569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0564368" y="5348630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Vols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ROI de 35 pour un CA de 87 k€.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vols vers l'Afrique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vols Paris – Afrique et Maghreb atteignent 1,06 fois le CTR moyen, et Lyon – Abidjan 1,15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les liaisons vers l'Afrique et le Maghreb.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une destination plutôt qu'un prix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« destinations tendances » atteignent 1,08 fois la moyenne. Les vols court-courriers vers l'Europe restent à 0,94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annonce à une destination qui fait envie.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l'Outre-mer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vols vers les DOM-TOM restent à 0,58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accroches vacances de fin d'année pour la Martinique et la Guadeloupe.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Aucune réservation attribuée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Aucune conversion n'est remontée par Awin en septembre malgré 9 406 clics.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Awin et le parcours jusqu'à la réservation.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Dorel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392 251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+60 %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954 461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1 990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+247 %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3 100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0,32 %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mesurées par Cdiscount, non intégrées à ce rapport. Elles apparaîtront ici dès l'intégration du Conversion Tracker.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poussette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siège auto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naissance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couches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biberons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porte d'embarquement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nouveau-né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indispensable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tétine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cadeau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vacances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Cybex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Joie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Stokke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siège auto choisir pour un enfant de 4 ans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siège pivotant facilite l'installation d'un bébé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poussette compacte se plie d'une seule main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lit parapluie choisir pour partir en week-end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barrière d'escalier installer sans percer le mur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Sièges auto et rehausseurs · 4 %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Sommeil et voyage · 11 %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Poussettes et mobilité · 6 %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Sécurité de la maison · 62 %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Repas, soin et toilette · 4 %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Éveil et confort · 13 %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5364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4503724"/>
            <a:ext cx="475488" cy="147523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564368" y="4651248"/>
            <a:ext cx="475488" cy="80467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4731715"/>
            <a:ext cx="475488" cy="83149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564368" y="4731715"/>
            <a:ext cx="475488" cy="83149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62 %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564368" y="5563209"/>
            <a:ext cx="475488" cy="53644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616854"/>
            <a:ext cx="475488" cy="174345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Dorel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jeux d'éveil cliquent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tapis d'éveil Gymini Tiny Love atteint 9,2 fois le CTR moyen, et le groupe jeux d'éveil 4,05 fois. Ils ne représentent pourtant que 3 % de la diffusion.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Augmenter fortement la part des jeux et tapis d'éveil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Afficher le prix dans l'annonce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avec un prix précis (tapis à 69,63 €, trotteur à 44,99 €) font partie des meilleures.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Indiquer le prix et la livraison offerte dans les accroches.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 mobilier et le sommeil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chaise haute Lily (0,36 fois), le siège auto EvoluFix (0,46 fois) et le lit parapluie (0,50 fois) restent nettement sous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ces produits à un moment concret (premier repas, départ en vacances).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CTR qui double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sont multipliés par 3,5 (1 990) pour 60 % d'impressions en plus. Le CTR passe de 0,23 % à 0,51 %.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le budget sur l'éveil et la sécurité de la maison.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Sécurité Routière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374 204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374 204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1 591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1 591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0,43 %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Campagne mesurée au clic : </a:t>
            </a:r>
            <a:r>
              <a:rPr sz="900" b="0" i="0">
                <a:solidFill>
                  <a:srgbClr val="555B66"/>
                </a:solidFill>
                <a:latin typeface="Arial"/>
              </a:rPr>
              <a:t>pas de suivi de conversion prévu.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conduite accompagnée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permis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achat d'une voiture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15 ans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vie en van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vacances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auto-école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3 000 km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raid en montagne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accident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prévention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sécurité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la Sécurité Routière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MOMENTS DE VIE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Conversations déclenchées par un événement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Achat d'une voiture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Vie en van · 17 %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Départ en vacances · 17 %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Raid en montagne · 12 %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Événement automobile · 6 %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Accident de voiture · 7 %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999939"/>
            <a:ext cx="475488" cy="22799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5227929"/>
            <a:ext cx="475488" cy="22799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564368" y="5455920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616854"/>
            <a:ext cx="475488" cy="80467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697321"/>
            <a:ext cx="475488" cy="9387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Sécurité Routière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un chiffre dans le titre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titre met en avant l'âge (« 15 ans, c'est le bon moment ») ; les bénéfices chiffrés (3 000 km au volant) ne figurent que dans la description.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un titre avec un bénéfice chiffré : « 3 000 km au volant avant le permis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seule annonce diffusée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Toute la campagne repose sur l'annonce « Conduite accompagnée : 15 ans, c'est le bon moment », qui génère 1 591 clics pour un CTR de 0,43 %.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variées (parents, économies, réussite au permis) pour identifier les messages qui cliquent le plus.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aux parents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bénéfices de l'annonce (3 000 km au volant, meilleurs résultats au permis, moins d'accidents, moins cher) s'adressent surtout aux parents.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une version dédiée aux parents et une version dédiée aux jeunes de 15 ans.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Premier mois de diffusion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campagne génère 374 204 impressions et 1 591 clics en septembre.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Définir un objectif de campagne (inscriptions, visites de la page) pour piloter la suite.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FidMe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705 558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+16 %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3 385 630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3 086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+124 %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8 342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0,25 %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non mesurées par Lemrock sur cette campagne. Elles seront intégrées à ce rapport à partir de vos données dès leur transmission.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cadeau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LEGO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Dealabs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iGraal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Google Wallet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Apple Wallet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Shopmium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Coupon Network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Joko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Poulpeo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eBuyClub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naissance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Widilo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Quelles offres de remboursement sur mes courses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boisson protéinée prendre avant un entraînement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yaourt riche en protéines pour une collation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dentifrice blanchissant utiliser au quotidien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une promotion sur les pochons pour chat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Boissons · 24 %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Produits frais et végétaux · 17 %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Épicerie et snacking · 18 %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Cashback et coupons · 13 %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Alimentation pour animaux · 4 %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Hygiène, entretien et bébé · 24 %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321868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4771948"/>
            <a:ext cx="475488" cy="22799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564368" y="4999939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5241340"/>
            <a:ext cx="475488" cy="17434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415686"/>
            <a:ext cx="475488" cy="53644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4368" y="5469331"/>
            <a:ext cx="475488" cy="32186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FidMe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Acquérir de nouveaux clients.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offres concrètes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L'offre « 2 € pour l'achat d'un pack STABILO » atteint 2,07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le montant remboursé dans le titre de l'annonce.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vins et les gourmandises surperforment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vins (1,28 fois), les snacks et confiseries (1,19 fois) et les boissons (1,18 fois) dépassent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vins et gourmandises à l'approche des fêtes.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 végétal, le bébé et l'animalerie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boissons végétales Bjorg (0,56 fois), Le Gaulois Végétal (0,60 fois), Blédichef (0,64 fois) et Whiskas (0,70 fois) restent sous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accroches centrées sur l'économie réalisée.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CTR double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1 378 à 3 086. Le CTR passe de 0,23 % à 0,44 %. WaterWipes représente 16 % de la diffusion.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sur les offres qui performent et préparer les offres de Noël.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PERFORMANCE REPORT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Levi's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REACH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378 398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−29 %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1 193 411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1 677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+46 %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3 370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prev. period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prev. period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prev. period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The Conversion Tracker is not installed yet. Conversions will appear in this report once it is integrated.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QUALITATIVE INSIGHTS · SEARCH ANALYSIS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LEXICAL FIELD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Most frequent terms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jeans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501 Original Fit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tulip jeans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stretch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fitted tops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puffer jacket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denim skirt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jacket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Zara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Uniqlo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Wrangler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tights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Celio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SAMPLE QUERIES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asked to AI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Which Levi's jeans for a relaxed fit?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Straight-leg or wide-leg jeans, what's the difference?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How should a pair of 501 jeans fit?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Which high-rise jeans make the legs look longer?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How does a Levi's Trucker jacket age over time?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PRODUCT CATEGORIES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Campaign product mix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Jeans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Tops and shirts · 23 %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Dresses, skirts and shorts · 9 %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Accessories · 22 %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Other relaxed bottoms · &lt; 1%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Jackets · 6 %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Chinos and cargos · 1 %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4450080"/>
            <a:ext cx="475488" cy="52303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0564368" y="4450080"/>
            <a:ext cx="475488" cy="523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39 %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564368" y="4973116"/>
            <a:ext cx="475488" cy="30845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4368" y="5281574"/>
            <a:ext cx="475488" cy="12070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402275"/>
            <a:ext cx="475488" cy="29504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4368" y="5697321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0564368" y="5697321"/>
            <a:ext cx="475488" cy="80467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QUALITATIVE INSIGHTS ·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Levi's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OBJECTIVE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To be defined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QUALITATIVE INSIGHTS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Vintage and heritage pieces drive clicks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The Vintage Red Tab™ T-shirt reaches 1.84 times the average CTR, the Vintage Boxy sweatshirt 1.31 times and the Trucker jacket 1.38 times.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Put vintage and heritage pieces forward in the campaign.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Jeans stay above average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Men's jeans reach 1.13 times the average and women's jeans 1.05 times. The XL Straight jean reaches 1.28 times.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Keep jeans at the centre, with a focus on relaxed and straight fits.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Accessories underperform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Belts, beanies and caps stay at 0.49 times the average.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Show accessories as a complement once the shopper has found their jeans.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Jackets and sweats are rising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Jackets and sweats reach 1.24 times the average and skirts and dresses 1.20 times.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Push outerwear for the cold season (Trucker, sherpa, sweats).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Mabex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313 395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+259 %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426 644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1 668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+379 %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2 085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Le Conversion Tracker est en cours d'implémentation. Les conversions apparaîtront dans ce rapport dès que la remontée des données sera validée.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prises connectées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canalisations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outils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tuyaux PVC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gel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humidimètre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Legrand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Bosch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Makita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chantier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peinture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Leroy Merlin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Chausson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interrupteur va-et-vient pour une rénovation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radiateur électrique vertical pour une petite pièce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chauffe-eau compact installer sous un évier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gants nitrile pour manipuler des produits chimiques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extracteur pour retirer une pièce sans l'abîmer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Électricité, interrupteurs et prises · 4 %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Chauffe-eau et eau chaude · 11 %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Chauffage et radiateurs · 3 %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EPI et vêtements de sécurité · 13 %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Outillage et plomberie · 69 %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450080"/>
            <a:ext cx="475488" cy="5364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4503724"/>
            <a:ext cx="475488" cy="147523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4651248"/>
            <a:ext cx="475488" cy="40233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4691481"/>
            <a:ext cx="475488" cy="17434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564368" y="4865827"/>
            <a:ext cx="475488" cy="925372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0564368" y="4865827"/>
            <a:ext cx="475488" cy="9253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69 %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Mabex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ROAS d'au moins 10 (idéalement 12).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plomberie clique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groupe plomberie atteint 1,43 fois le CTR moyen. L'annonce sur les colliers monobloc Nicoll atteint 2,35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à la plomberie et au chauffe-eau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packs d'outils séduisent les pros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packs d'outils électroportatifs (Milwaukee, Makita, Dewalt…) atteignent 1,87 fois la moyenne, avec la livraison offerte dès 120 € HT.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packs chantier et la livraison offerte.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interrupteurs restent un point fort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commandes d'éclairage Schneider Odace atteignent 1,36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Conserver l'électricité comme univers clé de la campagne.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fiches produit génériques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au format « Référence + Tout l'équipement pro au meilleur prix » restent sous la moyenne (veste haute visibilité 0,52 fois, radiateur 0,58 fois).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Décrire le bénéfice pour le chantier plutôt que la seule référence.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Marshall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498 934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+15 %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1 490 670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1 862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+88 %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3 995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0,37 %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0,27 %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mesurées par Cdiscount, non intégrées à ce rapport. Elles apparaîtront ici dès l'intégration du Conversion Tracker.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enceinte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casque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platine vinyle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ampli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budget 200 €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sans fil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home cinéma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DAB+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étudiant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vacances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French Days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Sony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JBL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Bose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casque pour ne plus entendre le bruit des transports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enceinte Marshall choisir pour mon salon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enceinte Bluetooth pour partir en week-end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différence entre l'Emberton et la Kilburn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enceinte pour diffuser de la musique en soirée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Casques et réduction de bruit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Enceintes Bluetooth portables · 33 %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Enceintes pour le salon · &lt; 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Enceintes de soirée · 31 %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36 %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932883"/>
            <a:ext cx="475488" cy="44256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564368" y="4932883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5375452"/>
            <a:ext cx="475488" cy="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5375452"/>
            <a:ext cx="475488" cy="415747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0564368" y="5375452"/>
            <a:ext cx="475488" cy="4157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31 %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Marshall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enceintes Bluetooth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enceintes sans fil Bluetooth atteignent 1,28 fois le CTR moyen. L'Acton III atteint 1,79 fois et l'Emberton III 1,32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enceintes Bluetooth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enceintes de soirée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enceintes sono et DJ Bromley restent à 0,63 fois la moyenne, alors qu'elles représentent 19 % de la diffusion.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Réduire leur part ou les associer à un usage précis (fête, extérieur).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prix aide à cliquer sur les casques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casque Major V avec son prix (149,99 €) atteint 1,44 fois la moyenne. Sans prix, le même casque reste à 0,76 fois.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Afficher le prix dans les annonces casques.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doublent presque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991 à 1 862 (+88 %). Le CTR passe de 0,23 % à 0,37 %.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le budget sur les enceintes Bluetooth et les casques avec prix.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752 119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9 956 850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3 608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19 420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+0,29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0,00 %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0,00 %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0,00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Le Conversion Tracker est en cours d'implémentation. Les conversions apparaîtront dans ce rapport dès que la remontée des données sera validée.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chaussures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jean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robe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veste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mariage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doudoune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montre connectée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rentrée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collants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jupe midi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livraison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ensemble vichy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ceinture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collant lisse la silhouette sans se voir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collant ne marque pas la taille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legging pour un enfant qui bouge beaucoup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Quelles chaussettes résistent le mieux aux lavages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pyjama facilite le change d'un bébé la nuit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Collants, chaussettes et sous-vêtements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Petit équipement domestique · 15 %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Papeterie scolaire et créative · 23 %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Vêtements et linge pour bébé · 18 %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590092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450080"/>
            <a:ext cx="475488" cy="5900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44 %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5040172"/>
            <a:ext cx="475488" cy="20116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241340"/>
            <a:ext cx="475488" cy="308457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549798"/>
            <a:ext cx="475488" cy="241401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collants restent le point fort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collants Sublim DIM et les bas nylon atteignent jusqu'à 1,26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les collants au cœur de la campagne, surtout avec l'arrivée du froid.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papeterie scolaire surprend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pochettes de papier à dessin Canson atteignent 1,23 fois la moyenne, et les fournitures scolaires 1,15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Profiter de la rentrée pour garder la papeterie dans la diffusion.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la lingerie et le linge de maison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lots de slips DIM (0,86 fois) et le drap housse bio (0,77 fois) restent sous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un bénéfice concret (confort, maintien) plutôt que le lot.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52 % mais les clics progressent de 24 %. Le CTR passe de 0,19 % à 0,48 %.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des conversions.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Pierre &amp; Vacances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638 950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638 950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3 144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3 144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0,49 %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non mesurées par Lemrock sur cette campagne. Elles seront intégrées à ce rapport à partir de vos données dès leur transmission.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résidence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Airbnb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Booking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Gîtes de France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Abritel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vie en van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Odalys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Club Med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Center Parcs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Lagrange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Maeva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VVF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sac choisir pour combo randonnée et ski de rando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Location de vacances France et Europe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Séjours montagne en hiver · 50 %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564368" y="4450080"/>
            <a:ext cx="475488" cy="67056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564368" y="4450080"/>
            <a:ext cx="475488" cy="67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50 %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5120640"/>
            <a:ext cx="475488" cy="67056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5120640"/>
            <a:ext cx="475488" cy="67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50 %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Pierre &amp; Vacances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Deux annonces au même niveau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location France et Europe (1,03 fois le CTR moyen) et l'annonce montagne en hiver (0,97 fois) se partagent la diffusion à parts égales.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par destination pour identifier ce qui clique le plus.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la saison d'hiver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moitié de la diffusion porte déjà sur les séjours à la montagne cet hiver.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résidences près des pistes pour les vacances de Noël et d'hiver.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Des annonces sans destination ni prix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deux annonces restent génériques (« à la mer comme à la montagne », « près des pistes ») ; aucune ne cite une station, une ville ou un prix.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annonces par station ou destination, avec un prix d'appel.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premier mois encourageant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15/09, la campagne génère 3 144 clics en 16 jours, pour un CTR de 0,49 %.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la diffusion sur la saison d'hiver.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Pour de 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701 502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−31 %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2 476 488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3 334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+32 %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7 502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Le Conversion Tracker n'est pas encore installé. Les conversions apparaîtront dans ce rapport dès son intégration.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sans additifs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étiquette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fleur de sel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huile d'olive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fromage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épices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bio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chocolat 70 %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frais de livraison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vinaigre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comté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Picard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La Grande Épicerie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acheter directement auprès de producteurs français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fromage choisir pour un plateau régional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commander un magret directement chez un éleveur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panier gourmand offrir à un amateur de régions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Peut-on faire livrer des produits fermiers au frais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Viandes, volailles et charcuterie · 19 %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Champagnes, vins et cadeaux · 31 %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Poissons et produits de la mer · 18 %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Fromages et produits laitiers · 16 %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Épicerie sucrée et miel · 11 %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Plats préparés et spécialités · 5 %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254812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4704892"/>
            <a:ext cx="475488" cy="41574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0564368" y="4704892"/>
            <a:ext cx="475488" cy="4157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31 %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0564368" y="5120640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362041"/>
            <a:ext cx="475488" cy="214579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4368" y="5576620"/>
            <a:ext cx="475488" cy="147523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724144"/>
            <a:ext cx="475488" cy="67056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Pour de 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coffrets cadeaux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coffret Champagne et Safran atteint 1,96 fois le CTR moyen, le meilleur score du mois.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les coffrets cadeaux pour les fêtes de fin d'année.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légumes de saison et les fromages cliquent bien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légumes de saison atteignent 1,42 fois la moyenne, le comté 12 mois AOP 1,24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produit à son producteur et à sa saison.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poissons et fruits de mer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poissons et fruits de mer restent à 0,52 fois la moyenne (huîtres gratinées 0,44 fois, saumon au miel 0,46 fois), alors qu'ils représentent 14 % de la diffusion.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Réduire leur part ou les présenter comme une idée de repas de fête.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31 % mais les clics progressent de 32 %. Le CTR passe de 0,25 % à 0,48 %.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Prolonger le ciblage resserré.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Qonto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1 094 021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1 094 021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4 757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4 757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0,43 %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Le Conversion Tracker est en cours de validation : </a:t>
            </a:r>
            <a:r>
              <a:rPr sz="900" b="0" i="0">
                <a:solidFill>
                  <a:srgbClr val="555B66"/>
                </a:solidFill>
                <a:latin typeface="Arial"/>
              </a:rPr>
              <a:t>l'intégration a été réalisée le 7 octobre. Les conversions apparaîtront dans ce rapport dès que la remontée des données sera validée.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création d'entreprise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compte pro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Boursorama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BNP Paribas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Revolut Business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Shine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retraite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vol de portefeuille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carte perdue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LCL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Crédit Agricole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banque en ligne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professionnels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Qonto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Compte pro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Création d'entreprise · 30 %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Facturation · 29 %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999939"/>
            <a:ext cx="475488" cy="40233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564368" y="4999939"/>
            <a:ext cx="47548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30 %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564368" y="5402275"/>
            <a:ext cx="475488" cy="388924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564368" y="5402275"/>
            <a:ext cx="475488" cy="388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29 %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Qonto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facturation clique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Logiciel de facturation gratuit » atteint 1,13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la facturation électronique, à l'approche de la réforme.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création d'entreprise fonctionne bien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création d'entreprise atteint 1,06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Cibler les moments de création (statuts, dépôt de capital, immatriculation).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l'annonce compte pro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compte pro représente 41 % de la diffusion mais reste à 0,86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une accroche plus concrète (ouverture en quelques minutes, cartes, virements instantanés).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premier mois solide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03/09, la campagne génère 4 757 clics pour un CTR de 0,43 %.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Mesurer les ouvertures de compte pour piloter la campagne.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Smartphone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240 223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−24 %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558 183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1 240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+90 %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1 893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0,34 %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non mesurées par Lemrock sur cette campagne. Elles seront intégrées à ce rapport à partir de vos données dès leur transmission.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À compléter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Rapport d'insights de septembre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hors sujet (smartphones reconditionnés)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faire une photo d'identité conforme avec mon téléphone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Peut-on faire une photo de passeport depuis chez soi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savoir si ma photo d'identité sera acceptée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photo faut-il transmettre sur le site de l'ANTS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prendre une photo d'identité correcte pour un bébé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Carte d'identité et passeport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Permis de conduire et e-photo ANTS · 24 %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Visa et titre de séjour · 15 %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Création et contrôle de conformité · 10 %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Photos de bébé, d'enfant et publics empêchés · 5 %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Impression et livraison à domicile · 5 %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4999939"/>
            <a:ext cx="475488" cy="32186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5321808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522976"/>
            <a:ext cx="475488" cy="134112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4368" y="5657088"/>
            <a:ext cx="475488" cy="67056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724144"/>
            <a:ext cx="475488" cy="67056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Smartphone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promesse simple qui fonctionne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Photo d'identité en ligne en 2 minutes » génère 1 240 clics. Le CTR passe de 0,21 % à 0,52 %.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la rapidité et la conformité comme arguments principaux.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seule accroche diffusée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2 annonces diffusées portent le même message et obtiennent le même CTR (0,98 à 1,02 fois la moyenne).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par démarche (passeport, permis ANTS, visa, photo de bébé) pour identifier celles qui cliquent le plus.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rapport d'insights de septembre porte sur un autre secteur (smartphones reconditionnés).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compléter avec un rapport sur la photo d'identité.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24 % mais les clics progressent de 90 %.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Définir un objectif de campagne (photos réalisées, téléchargements, CPA cible).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SNCF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139 036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139 036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788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788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0,57 %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0,57 %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non mesurées par Lemrock sur cette campagne. Elles seront intégrées à ce rapport à partir de vos données dès leur transmission.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train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easyJet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Ryanair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Air France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FlixBus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Trainline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Eurostar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BlaBlaCar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Trenitalia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Kombo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valise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sac cabine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sac choisir pour combo randonnée et ski de rando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Paris – Rennes · 23 %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Paris – Lyon / Marseille / Nice · 23 %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Paris – Bordeaux / Toulouse · 17 %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Paris – Nantes / Lille / Strasbourg · 21 %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International (Amsterdam, Barcelone) · 9 %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Autres liaisons · 7 %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308457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4758537"/>
            <a:ext cx="475488" cy="30845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564368" y="5066995"/>
            <a:ext cx="475488" cy="22799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294985"/>
            <a:ext cx="475488" cy="28163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576620"/>
            <a:ext cx="475488" cy="12070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697321"/>
            <a:ext cx="475488" cy="9387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SNCF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Plafonner Paris – Rennes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Paris – Rennes capte 18 % de la diffusion mais reste à 0,37 fois le CTR moyen, le plus bas de la campagne.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Plafonner sa diffusion et réallouer le budget aux liaisons qui cliquent.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Ajouter les trajets retour vers Paris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trajets retour vers Paris (Lille, Lyon, Marseille, Toulouse…) atteignent 1,27 fois le CTR moyen, contre 0,86 fois pour les trajets au départ de Paris.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Décliner chaque liaison du top 20 dans les deux sens.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Concentrer le budget sur 9 liaisons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9 annonces atteignent 1,30 fois le CTR moyen : les retours vers Paris, Paris – Lyon et Paris – Londres.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Leur donner la priorité de budget pour les départs de la Toussaint.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