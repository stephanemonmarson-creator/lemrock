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577 195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3 845 061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6 845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0,18 %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n'est pas encore installé. Les conversions apparaîtront dans ce rapport dès son intégration.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toutes saisons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3PMSF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loi montagne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freinage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pas chers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sûrs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voiture électrique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MG4 EV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Zoé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pneus hiver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 chaînes à neige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dimensions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Continental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4 saisons pour rouler toute l'année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pour un SUV qui roule souvent sous la pluie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pneu pour un utilitaire qui transporte lourd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dimension de pneu est compatible avec mon véhicule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faire monter mes pneus commandés en ligne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auto et dimensions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SUV et utilitaires · 39 %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moto et scooter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toutes saisons · 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hiver et neige ·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Accessoires et entretien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564368" y="5522976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davantage en avant les pneus hiver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de pneus hiver atteignent 1,15 fois le CTR moyen, le meilleur score du mois. Elles ne représentent pourtant que 8 %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la part des pneus hiver et 4 saisons en octobre, au moment où les conducteurs changent leurs pneus.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Renforcer les pneus SUV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pneus SUV et 4x4 atteignent 1,09 fois le CTR moyen, et jusqu'à 1,43 fois pour le Kleber Quadraxer SUV. Les pneus utilitaires restent sous la moyenne (0,87 fois).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aux références SUV et retravailler les messages utilitaires autour d'un usage concret (chantier, camping-car).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Privilégier les marques au bon rapport qualité-prix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marques à prix accessible cliquent mieux, Hankook atteint 1,22 fois le CTR moyen. Les marques premium comme Goodyear restent en dessous (0,69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marques accessibles avec le message « pas cher mais sûr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222 268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+177 %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302 404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1 136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1 465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+0,10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Le Conversion Tracker est en cours de validation : </a:t>
            </a:r>
            <a:r>
              <a:rPr sz="900" b="0" i="0">
                <a:solidFill>
                  <a:srgbClr val="555B66"/>
                </a:solidFill>
                <a:latin typeface="Arial"/>
              </a:rPr>
              <a:t>l'intégration a été réalisée le 30 septembre.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kombucha bio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sans alcool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boissons fermentées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33 cl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cassis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figuier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clémentine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pomelo gingembre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framboise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apéritif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mocktail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pack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direct producteur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fraîcheur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de la ginger beer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son kéfir de fruits maison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sont les bienfaits du kéfir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recette pour un kombucha maison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cocktail ou spritz sans alcool préparer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Thés, infusions et plantes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Cocktails et boissons sans alcool · 22 %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Bienfaits et santé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Recettes et fermentation maison · 12 %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48 %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093817"/>
            <a:ext cx="475488" cy="29504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388864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630265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de boissons fermentées sans alcool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Boissons fermentées sans alcool » atteint 1,53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l'alternative sans alcool au cœur des accroches : apéritif, repas, pause.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formats 33 cl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de 12 kombuchas de 33 cl dépassent la moyenne (jusqu'à 1,30 fois). Le pack de 6 bouteilles de 75 cl tombe à 0,66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Faire des formats 33 cl le produit d'appel et garder les 75 cl pour la page produit.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le cassis et le pomelo gingembre en avant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pomelo gingembre (1,23 fois le CTR moyen) et cassis (1,15 fois) font mieux que la moyenne. Framboise, figuier et clémentine restent juste en dessous (0,93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 cassis et au pomelo gingembre.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campagne qui accélère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et le CTR passe de 0,41 %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actuel et renforcer le message sans alcool à l'approche des fêtes.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705 874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1 702 639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+195 %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5 040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0,45 %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+0,25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est en cours d'implémentation.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Jordan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Nike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genouillères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ballon de basket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maillots NBA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survêtements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Air Force 1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short de compression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Équipe de France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Paris Basketball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McDavid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enfant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sneakers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des Adidas Samba ou des New Balance 530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modèle choisir entre Jordan 4 et Nike Air Max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 maillot NBA officiel ou vintage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le maillot de Wembanyama aux Spurs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ballon et quelle tenue de basket pour un enfant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et sneakers · 14 %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Équipement de basketball · 47 %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Maillots et fanwear NBA · 9 %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Vêtements de basketball · 30 %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1877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47 %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564368" y="5268163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accessoires et les protections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accessoires (1,12 fois le CTR moyen), les ballons (1,20 fois) et les protections (1,05 fois) font mieux que la moyenne. Le ballon Nike Skills enfant atteint 1,36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accessoires et petits équipements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Renvoyer vers des fiches produit plutôt que des pages catégorie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qui renvoient vers une fiche produit atteignent 1,06 fois le CTR moyen, contre 0,86 fois pour celles qui renvoient vers une page catégorie (survêtements, casquettes, maillots Paris Basketball).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Remplacer les annonces catégorie par des produits précis du flux.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sneakers lifestyle tiennent leur rang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chaussures et sneakers dépassent la moyenne (jusqu'à 1,11 fois), avec des modèles comme l'adidas Yung-1 ou la Puma Platform Elements.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Pousser les modèles iconiques et les nouveautés lifestyle.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1 083 à 3 198 pour 33 % d'impressions en plus. Le CTR passe de 0,20 % à 0,45 %.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et concentrer le budget sur les catégories qui cliquent le plus.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408 434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791 115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+215 %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2 999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n'est pas encore installé. Les conversions apparaîtront dans ce rapport dès son intégration.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abonnement magazine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J'aime lire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Pomme d'Api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Phosphore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Images Doc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Popi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I Love English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So Foot 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Okapi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Astrapi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Youpi Doc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livré à la maison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numérique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premier magazine pour un enfant d'un an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magazine accompagne l'apprentissage de la lecture au CP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aider mon enfant à apprendre l'anglais en s'amusant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des histoires audio pour le coucher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abonnement offrir pour l'anniversaire d'un enfant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Lecture et découverte 6-10 ans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Apprentissage de l'anglais · 8 %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Magazines pour adolescents · 19 %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petite enfance · 40 %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892649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4999939"/>
            <a:ext cx="475488" cy="254812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254752"/>
            <a:ext cx="475488" cy="536448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5254752"/>
            <a:ext cx="47548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40 %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magazines 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magazines pour adolescents (Phosphore, Okapi, So Foot Club, Je bouquine) atteignent 1,39 fois le CTR moyen. Phosphore atteint même 2,23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titres ados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magazines documentaires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Images Doc (magazine découvertes 8-12 ans) atteint 2,28 fois le CTR moyen, le meilleur score de la campagne.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titres qui aident à comprendre le monde.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annonces petite enfance et génériques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L'éveil et la petite enfance représentent 40 % de la diffusion mais restent à 0,92 fois la moyenne (Les Belles Histoires 0,62 fois, Babar 0,67 fois). Les annonces génériques sont à 0,89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Parler aux parents d'un moment précis (histoire du soir, premiers apprentissages) plutôt que de l'abonnement en général.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722 à 2 277 pour 7 % d'impressions en plus. Le CTR passe de 0,19 % à 0,56 %.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la campagne au-delà du 11/10, pour la période des cadeaux de fin d'année.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351 012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−44 %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1 531 995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1 740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4 227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mesurées par Cdiscount, non intégrées à ce rapport. Elles apparaîtront ici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lave-vaisselle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encastrable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pose libre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60 cm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45 cm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Série 2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Série 4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EcoSilence Drive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tiroir à couverts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13 couverts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14 couverts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livraison gratuite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Black Friday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lave-vaisselle Bosch pour une cuisine ouverte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différence entre encastrable et semi-intégrable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 lave-vaisselle de 44 dB est-il vraiment silencieux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modèle de 45 cm pour une petite cuisine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quoi sert Home Connect sur un lave-vaisselle Bosch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Comparaison marques et modèles · 5 %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Encastrables et intégrables · 46 %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Compacts et largeur 45 cm · 15 %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Grande capacité et 60 cm · 34 %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silencieux · &lt;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connectés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670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517136"/>
            <a:ext cx="475488" cy="616915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564368" y="4517136"/>
            <a:ext cx="475488" cy="6169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46 %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564368" y="5134051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34 %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modèles Série 2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lave-vaisselle Série 2 atteignent 1,06 fois le CTR moyen, contre 0,95 fois pour les Série 4. Le Série 2 tout encastrable SMV2HTX02E atteint 1,41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Série 2 avec un argument prix.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écarts forts d'un modèle à l'autre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Avec la même description, les modèles vont de 0,60 fois (Série 4 SBV4HCX07E) à 1,41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la diffusion sur les modèles qui cliquent le plus et retirer les moins performants.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Varier les descriptions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52 des 53 annonces utilisent la même description (« Cdiscount Electroménager - Découvrez notre offre… »), qui reprend la fiche technique.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descriptions centrées sur un bénéfice (silence en cuisine ouverte, gain de place, économie d'eau).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le Black Friday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10,6 % des freins exprimés portent sur l'attente d'une promotion. Le CTR passe de 0,23 % à 0,50 %.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des messages promotionnels dès début novembre.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1 760 935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6 117 876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9 138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17 884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+4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0,04 %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+0,04 pt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0,04 %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+0,02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0,02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communiquées via Awin, à titre indicatif. Elles seront consolidées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forfait mobile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Arial"/>
              </a:rPr>
              <a:t>sans engagement</a:t>
            </a:r>
            <a:r>
              <a:rPr sz="1500" b="0" i="0">
                <a:solidFill>
                  <a:srgbClr val="555B66"/>
                </a:solidFill>
                <a:latin typeface="Arial"/>
              </a:rPr>
              <a:t>      eSIM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40 Go</a:t>
            </a:r>
            <a:r>
              <a:rPr sz="1300" b="1" i="0">
                <a:solidFill>
                  <a:srgbClr val="111111"/>
                </a:solidFill>
                <a:latin typeface="Arial"/>
              </a:rPr>
              <a:t>   150 Go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5G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carte SIM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code RIO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portabilité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activation immédiate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partage de connexion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roaming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meilleur prix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départ en vacances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forfait mobile sans engagement choisir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 forfait 120 Go à moins de 10 € par mois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Puis-je utiliser une eSIM avec Cdiscount Mobile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Puis-je conserver mon numéro en changeant d'opérateur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forfait pour faire du partage de connexion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générale d'un forfait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eSIM et carte SIM · 25 %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Prix et sans engagement · 15 %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Partage de connexion et nomade · 12 %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5G et volume de data · 6 %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International et roaming · 4 %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Changement d'opérateur · 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077200" y="5943600"/>
            <a:ext cx="121920" cy="12192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296656" y="592531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Forfaits par profil · 1 %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564368" y="5268163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564368" y="5469331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0564368" y="5630265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0564368" y="5710732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Générer 550 nouvelles souscriptions.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forfaits 40 Go et 150 Go font jeu égal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forfait 40 Go (deux tiers de la diffusion) et le forfait 150 Go obtiennent le même CTR (0,99 à 1,02 fois la moyenne).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40 Go comme offre d'appel, au prix le plus bas.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trois annonces performent de la même façon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3 annonces diffusées sont entre 0,99 et 1,02 fois la moyenne, et ne permettent pas de tester d'autres messages.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profil (vacances et eSIM, étudiants, famille) pour trouver de nouveaux leviers.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Activer le départ en vacances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déclenche 24 % des conversations du secteur, avec des recherches de forfait et d'eSIM.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une annonce dédiée à l'eSIM et aux forfaits pour voyager.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triplent, les conversions restent rares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9 138 clics (+207 %) mais 4 conversions seulement, loin de l'objectif de 550 souscriptions.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de souscription.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790 844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5 924 632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3 916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12 654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0,21 %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+2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25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0,10 %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+0,04 pt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0,20 %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1,30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+0,47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communiquées via Awin, à titre indicatif. Elles seront consolidées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hôtel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séjour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Canaries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Baléares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tout compris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club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soleil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Fuerteventura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Majorque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Grèce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paiement en 4 fois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plage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Dubaï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Tunisie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petit prix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partir au soleil en octobre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camping choisir pour des vacances en famille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séjour tout compris pour une famille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croisière choisir en Méditerranée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payer un voyage en quatre fois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Campings et camping-cars · &lt;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Hôtels et hébergements · 89 %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Croisières, ferries et trains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tout compris · 11 %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Parcs et séjours en famille · &lt;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Vols et billets d'avion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Bien-être et thalasso · &lt; 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450080"/>
            <a:ext cx="475488" cy="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89 %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564368" y="5643676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643676"/>
            <a:ext cx="475488" cy="14752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12 pour un CA de 30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précise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qui décrivent un hôtel et sa destination (Fuerteventura, Majorque, Grèce, Dubaï) atteignent jusqu'à 1,23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chaque annonce autour d'un lieu et de ce qu'on y vit.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L'annonce générique sous-performe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Séjour pas cher – Paiement en 4x » reste à 0,86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paiement en 4x comme argument secondaire, après la destination.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Canaries et les Baléares portent la campagne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Canaries et les Baléares représentent 29 % de la diffusion, avec des CTR au-dessus de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séjours soleil d'hiver (Canaries, Égypte, Dubaï) pour la Toussaint et Noël.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réservations en hausse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4 réservations pour 1 119 € de GMV. Le ROAS passe de 0,82 à 1,30.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offres qui convertissent.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1 855 410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10 029 893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9 406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+455 %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21 694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communiquées via Awin, à titre indicatif. Elles seront consolidées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billet d'avion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vol direct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Afrique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Maghreb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Abidjan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Thaïlande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Bali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Martinique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Guadeloupe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Lanzarote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paiement en 4 fois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prix bas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Lyon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Nice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Marseille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Islande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vol direct choisir entre Paris et Lisbonne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vols au départ de Marseille vers Abidjan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Existe-t-il un vol direct entre Paris et Fort-de-France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 aller-retour Paris – Nice à un bon prix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destination pour un week-end en Europe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générique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Outre-mer et Caraïbes · 8 %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Europe et city breaks · 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Afrique du Nord et Afrique · 25 %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Long-courrier international · 33 %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France métropolitaine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26 %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798771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4906060"/>
            <a:ext cx="475488" cy="10728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35 pour un CA de 87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vols vers l'Afrique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Paris – Afrique et Maghreb atteignent 1,06 fois le CTR moyen, et Lyon – Abidjan 1,15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les liaisons vers l'Afrique et le Maghreb.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plutôt qu'un prix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« destinations tendances » atteignent 1,08 fois la moyenne. Les vols court-courriers vers l'Europe restent à 0,94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annonce à une destination qui fait envie.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l'Outre-mer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vers les DOM-TOM restent à 0,58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vacances de fin d'année pour la Martinique et la Guadeloupe.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Aucune réservation attribuée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Aucune conversion n'est remontée par Awin en septembre malgré 9 406 clics.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jusqu'à la réservation.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392 251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954 461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1 990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mesurées par Cdiscount, non intégrées à ce rapport. Elles apparaîtront ici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poussette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siège auto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naissance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couches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biberons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porte d'embarquement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nouveau-né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indispensable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tétine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cadeau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Cybex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Joie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Stokke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siège auto choisir pour un enfant de 4 ans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siège pivotant facilite l'installation d'un bébé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poussette compacte se plie d'une seule main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lit parapluie choisir pour partir en week-end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barrière d'escalier installer sans percer le mur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Sièges auto et rehausseurs · 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Sommeil et voyage · 11 %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Poussettes et mobilité · 6 %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Sécurité de la maison · 62 %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Repas, soin et toilette · 4 %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confort · 13 %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4651248"/>
            <a:ext cx="475488" cy="8046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62 %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564368" y="5563209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616854"/>
            <a:ext cx="475488" cy="174345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jeux d'éveil cliquent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tapis d'éveil Gymini Tiny Love atteint 9,2 fois le CTR moyen, et le groupe jeux d'éveil 4,05 fois. Ils ne représentent pourtant que 3 %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fortement la part des jeux et tapis d'éveil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Afficher le prix dans l'annonce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avec un prix précis (tapis à 69,63 €, trotteur à 44,99 €) font partie des meilleures.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Indiquer le prix et la livraison offerte dans les accroches.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mobilier et le sommeil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chaise haute Lily (0,36 fois), le siège auto EvoluFix (0,46 fois) et le lit parapluie (0,50 fois) restent nettement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ces produits à un moment concret (premier repas, départ en vacances).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CTR qui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(1 990) pour 60 % d'impressions en plus. Le CTR passe de 0,23 %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l'éveil et la sécurité de la maison.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374 204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374 204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1 591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1 591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Campagne mesurée au clic : </a:t>
            </a:r>
            <a:r>
              <a:rPr sz="900" b="0" i="0">
                <a:solidFill>
                  <a:srgbClr val="555B66"/>
                </a:solidFill>
                <a:latin typeface="Arial"/>
              </a:rPr>
              <a:t>pas de suivi de conversion prévu.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conduite accompagnée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permis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achat d'une voiture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15 ans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auto-école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3 000 km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raid en montagne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accident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prévention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sécurité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la Sécurité Routière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MOMENTS DE VIE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Conversations déclenchées par un événement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Achat d'une voiture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Vie en van · 17 %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Départ en vacances · 17 %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Raid en montagne · 12 %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Événement automobile · 6 %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Accident de voiture · 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999939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227929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455920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616854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un chiffre dans le titre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titre met en avant l'âge (« 15 ans, c'est le bon moment ») ; les bénéfices chiffrés (3 000 km au volant) ne figurent que dans la description.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 titre avec un bénéfice chiffré : « 3 000 km au volant avant le permis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annonce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Toute la campagne repose sur l'annonce « Conduite accompagnée : 15 ans, c'est le bon moment », qui génère 1 591 clics pour un CTR de 0,43 %.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variées (parents, économies, réussite au permis) pour identifier les messages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aux parents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bénéfices de l'annonce (3 000 km au volant, meilleurs résultats au permis, moins d'accidents, moins cher) s'adressent surtout aux parents.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version dédiée aux parents et une version dédiée aux jeunes de 15 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mois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campagne génère 374 204 impressions et 1 591 clics en septembre.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(inscriptions, visites de la page) pour piloter la suite.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705 558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3 385 630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3 086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8 342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0,25 %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cadeau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LEGO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Dealabs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iGraal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Google Wallet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Apple Wallet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Shopmium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Coupon Network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Joko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Poulpeo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eBuyClub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naissance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Widilo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offres de remboursement sur mes courses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boisson protéinée prendre avant un entraînement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yaourt riche en protéines pour une collation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dentifrice blanchissant utiliser au quotidien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une promotion sur les pochons pour chat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Boissons · 24 %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Produits frais et végétaux · 17 %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et snacking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Cashback et coupons · 13 %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Alimentation pour animaux · 4 %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Hygiène, entretien et bébé · 24 %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32186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771948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4999939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241340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415686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469331"/>
            <a:ext cx="475488" cy="32186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offres concrètes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L'offre « 2 € pour l'achat d'un pack STABILO » atteint 2,07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le montant remboursé dans le titre de l'annonce.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vins et les gourmandises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vins (1,28 fois), les snacks et confiseries (1,19 fois) et les boissons (1,18 fois) dépassent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vins et gourmandises à l'approche des fêtes.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végétal, le bébé et l'animalerie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boissons végétales Bjorg (0,56 fois), Le Gaulois Végétal (0,60 fois), Blédichef (0,64 fois) et Whiskas (0,70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centrées sur l'économie réalisée.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CTR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1 378 à 3 086. Le CTR passe de 0,23 % à 0,44 %. WaterWipes représente 16 % de la diffusion.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sur les offres qui performent et préparer les offres de Noël.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PERFORMANCE REPORT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378 398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1 193 411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prev. period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prev. period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prev. period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The Conversion Tracker is not installed yet. Conversions will appear in this report once it is integrated.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QUALITATIVE INSIGHTS · SEARCH ANALYSIS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LEXICAL FIELD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Most frequent terms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jeans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501 Original Fit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tulip jeans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stretch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fitted tops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puffer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denim skirt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Zara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Uniqlo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Wrangler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tights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Celio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SAMPLE QUERIES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asked to AI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Which Levi's jeans for a relaxed fit?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Straight-leg or wide-leg jeans, what's the difference?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How should a pair of 501 jeans fit?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Which high-rise jeans make the legs look longer?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How does a Levi's Trucker jacket age over time?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PRODUCT CATEGORIES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Campaign product mix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Jeans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Tops and shirts · 23 %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Dresses, skirts and shorts · 9 %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Accessories · 22 %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Other relaxed bottoms · &lt; 1%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Jackets · 6 %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Chinos and cargos · 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564368" y="4973116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281574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402275"/>
            <a:ext cx="475488" cy="29504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697321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564368" y="5697321"/>
            <a:ext cx="475488" cy="80467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QUALITATIVE INSIGHTS ·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OBJECTIVE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To be defined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QUALITATIVE INSIGHTS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Vintage and heritage pieces drive clicks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The Vintage Red Tab™ T-shirt reaches 1.84 times the average CTR, the Vintage Boxy sweatshirt 1.31 times and the Trucker jacket 1.38 times.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Put vintage and heritage pieces forward in the campaign.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Jeans stay above average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Men's jeans reach 1.13 times the average and women's jeans 1.05 times. The XL Straight jean reaches 1.28 times.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Keep jeans at the centre, with a focus on relaxed and straight fits.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Accessories underperform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Belts, beanies and caps stay at 0.49 times the average.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Show accessories as a complement once the shopper has found their jeans.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Jackets and sweats are rising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Jackets and sweats reach 1.24 times the average and skirts and dresses 1.20 times.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Push outerwear for the cold season (Trucker, sherpa, sweats).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313 395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426 644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+379 %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2 085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est en cours d'implémentation.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prises connectées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canalisations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outils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tuyaux PVC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gel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humidimètre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Legrand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Bosch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Makita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chantier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peinture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Leroy Merlin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Chausson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interrupteur va-et-vient pour une rénovation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radiateur électrique vertical pour une petite pièce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chauffe-eau compact installer sous un évier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gants nitrile pour manipuler des produits chimiques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extracteur pour retirer une pièce sans l'abîmer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Électricité, interrupteurs et prises · 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Chauffe-eau et eau chaude · 11 %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Chauffage et radiateurs · 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EPI et vêtements de sécurité · 13 %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Outillage et plomberie · 69 %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4651248"/>
            <a:ext cx="475488" cy="40233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691481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69 %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ROAS d'au moins 10 (idéalement 12).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plomberie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groupe plomberie atteint 1,43 fois le CTR moyen. L'annonce sur les colliers monobloc Nicoll atteint 2,35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à la plomberie et au chauffe-eau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packs d'outils séduisent les pros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d'outils électroportatifs (Milwaukee, Makita, Dewalt…) atteignent 1,87 fois la moyenne, avec la livraison offerte dès 120 € HT.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packs chantier et la livraison offerte.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interrupteurs restent un point fort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commandes d'éclairage Schneider Odace atteignent 1,36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Conserver l'électricité comme univers clé de la campagne.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fiches produit génériques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au format « Référence + Tout l'équipement pro au meilleur prix » restent sous la moyenne (veste haute visibilité 0,52 fois, radiateur 0,58 fois).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Décrire le bénéfice pour le chantier plutôt que la seule référence.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498 934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1 490 670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1 862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+88 %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3 995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0,37 %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mesurées par Cdiscount, non intégrées à ce rapport. Elles apparaîtront ici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enceinte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casque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platine vinyle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ampli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budget 200 €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sans fil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home cinéma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DAB+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étudiant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vacances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French Days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Sony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JBL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Bose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casque pour ne plus entendre le bruit des transports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enceinte Marshall choisir pour mon salon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enceinte Bluetooth pour partir en week-end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différence entre l'Emberton et la Kilburn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enceinte pour diffuser de la musique en soirée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Casques et réduction de bruit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Enceintes Bluetooth portables · 33 %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pour le salon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de soirée · 31 %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5375452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enceintes Bluetooth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sans fil Bluetooth atteignent 1,28 fois le CTR moyen. L'Acton III atteint 1,79 fois et l'Emberton III 1,32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enceintes Bluetooth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enceintes de soirée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sono et DJ Bromley restent à 0,63 fois la moyenne, alors qu'elles représentent 19 % de la diffusion.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associer à un usage précis (fête, extérieur).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prix aide à cliquer sur les casques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casque Major V avec son prix (149,99 €) atteint 1,44 fois la moyenne. Sans prix, le même casque reste à 0,76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Afficher le prix dans les annonces casques.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doublent presque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991 à 1 862 (+88 %). Le CTR passe de 0,23 % à 0,37 %.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enceintes Bluetooth et les casques avec prix.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752 119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9 956 850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3 608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19 420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est en cours d'implémentation.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chaussures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robe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veste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mariage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doudoune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montre connectée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rentrée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collants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jupe midi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livraison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ensemble vichy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ceinture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collant lisse la silhouette sans se voir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collant ne marque pas la taille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legging pour un enfant qui bouge beaucoup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chaussettes résistent le mieux aux lavages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pyjama facilite le change d'un bébé la nuit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Collants, chaussettes et sous-vêtements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Petit équipement domestique · 15 %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Papeterie scolaire et créative · 23 %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Vêtements et linge pour bébé · 18 %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44 %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040172"/>
            <a:ext cx="475488" cy="2011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241340"/>
            <a:ext cx="475488" cy="30845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549798"/>
            <a:ext cx="475488" cy="24140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collants restent le point fort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collants Sublim DIM et les bas nylon atteignent jusqu'à 1,26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les collants au cœur de la campagne, surtout avec l'arrivée du froid.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papeterie scolaire surprend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pochettes de papier à dessin Canson atteignent 1,23 fois la moyenne, et les fournitures scolaires 1,15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Profiter de la rentrée pour garder la papeterie dans la diffusion.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la lingerie et le linge de maison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lots de slips DIM (0,86 fois) et le drap housse bio (0,77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un bénéfice concret (confort, maintien) plutôt que le lot.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52 % mais les clics progressent de 24 %. Le CTR passe de 0,19 %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des conversions.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638 950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638 950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3 144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résidence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Gîtes de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Abritel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Odalys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Club Med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Center Parcs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Lagrange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Maeva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VVF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Location de vacances France et Europe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montagne en hiver · 50 %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Deux annonces au même niveau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location France et Europe (1,03 fois le CTR moyen) et l'annonce montagne en hiver (0,97 fois) se partagent la diffusion à parts égales.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destination pour identifier ce qui clique le plus.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la saison d'hiver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moitié de la diffusion porte déjà sur les séjours à la montagne cet hiver.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résidences près des pistes pour les vacances de Noël et d'hiver.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annonces sans destination ni prix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deux annonces restent génériques (« à la mer comme à la montagne », « près des pistes ») ; aucune ne cite une station, une ville ou un prix.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annonces par station ou destination, avec un prix d'appel.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encourageant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15/09, la campagne génère 3 144 clics en 16 jours, pour un CTR de 0,49 %.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la diffusion sur la saison d'hiver.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701 502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−31 %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2 476 488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3 334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7 502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n'est pas encore installé. Les conversions apparaîtront dans ce rapport dès son intégration.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sans additifs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étiquette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fleur de sel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huile d'olive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fromage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épices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chocolat 70 %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frais de livraison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vinaigre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comté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Picard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 Grande Épicerie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directement auprès de producteurs français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fromage choisir pour un plateau régional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commander un magret directement chez un éleveur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panier gourmand offrir à un amateur de régions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faire livrer des produits fermiers au frais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Viandes, volailles et charcuterie · 19 %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Champagnes, vins et cadeaux · 31 %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Poissons et produits de la mer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Fromages et produits laitiers · 16 %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sucrée et miel · 11 %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Plats préparés et spécialités · 5 %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25481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564368" y="5120640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362041"/>
            <a:ext cx="475488" cy="214579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576620"/>
            <a:ext cx="475488" cy="147523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coffrets cadeaux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coffret Champagne et Safran atteint 1,96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coffrets cadeaux pour les fêtes de fin d'année.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légumes de saison et les fromages cliquent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légumes de saison atteignent 1,42 fois la moyenne, le comté 12 mois AOP 1,24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produit à son producteur et à sa saison.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poissons et fruits de 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poissons et fruits de mer restent à 0,52 fois la moyenne (huîtres gratinées 0,44 fois, saumon au miel 0,46 fois), alors qu'ils représentent 14 % de la diffusion.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présenter comme une idée de repas de fête.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31 % mais les clics progressent de 32 %. Le CTR passe de 0,25 %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le ciblage resserré.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1 094 021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1 094 021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4 757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4 757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Le Conversion Tracker est en cours de validation : </a:t>
            </a:r>
            <a:r>
              <a:rPr sz="900" b="0" i="0">
                <a:solidFill>
                  <a:srgbClr val="555B66"/>
                </a:solidFill>
                <a:latin typeface="Arial"/>
              </a:rPr>
              <a:t>l'intégration a été réalisée le 7 octobre.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création d'entreprise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compte pro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Boursorama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BNP Paribas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Revolut Business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Shine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retraite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vol de portefeuille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carte perdue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LCL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Crédit Agricole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banque en ligne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professionnels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Qonto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Compte pro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Création d'entreprise · 30 %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Facturation · 29 %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facturation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Logiciel de facturation gratuit » atteint 1,13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facturation électronique, à l'approche de la réforme.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création d'entreprise fonctionne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création d'entreprise atteint 1,06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Cibler les moments de création (statuts, dépôt de capital, immatriculation).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l'annonce compte pro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compte pro représente 41 % de la diffusion mais reste à 0,86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accroche plus concrète (ouverture en quelques minutes, cartes, virements instantanés).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solide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03/09, la campagne génère 4 757 clics pour un CTR de 0,43 %.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Mesurer les ouvertures de compte pour piloter la campagne.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240 223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558 183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1 240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1 893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0,34 %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À compléter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hors sujet (smartphones reconditionnés)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une photo d'identité conforme avec mon téléphone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faire une photo de passeport depuis chez soi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ma photo d'identité sera acceptée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photo faut-il transmettre sur le site de l'ANTS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prendre une photo d'identité correcte pour un bébé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Carte d'identité et passeport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Permis de conduire et e-photo ANTS · 24 %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Visa et titre de séjour · 15 %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Création et contrôle de conformité · 10 %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Photos de bébé, d'enfant et publics empêchés · 5 %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Impression et livraison à domicile · 5 %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999939"/>
            <a:ext cx="475488" cy="3218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321808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522976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657088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promesse simple qui fonctionne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Photo d'identité en ligne en 2 minutes » génère 1 240 clics. Le CTR passe de 0,21 % à 0,52 %.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la rapidité et la conformité comme arguments principaux.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accroche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2 annonces diffusées portent le même message et obtiennent le même CTR (0,98 à 1,02 fois la moyenne).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démarche (passeport, permis ANTS, visa, photo de bébé) pour identifier celles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rapport d'insights de septembre porte sur un autre secteur (smartphones reconditionnés).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 avec un rapport sur la photo d'identité.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24 % mais les clics progressent de 90 %.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(photos réalisées, téléchargements, CPA cible).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139 036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139 036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788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0,57 %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train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easyJet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Air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FlixBus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Trainline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Eurostar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BlaBlaCar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Trenitalia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Kombo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sac cabine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Paris – Rennes · 23 %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Lyon / Marseille / Nice · 23 %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Bordeaux / Toulouse · 17 %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Nantes / Lille / Strasbourg · 21 %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International (Amsterdam, Barcelone) · 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liaisons · 7 %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30845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4758537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5066995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294985"/>
            <a:ext cx="475488" cy="28163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576620"/>
            <a:ext cx="475488" cy="12070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trajets vers Paris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trajets Lille – Paris, Marseille – Paris et Lyon – Paris atteignent plus de 1,3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trajets retour vers Paris.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Paris – Rennes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Paris – Rennes représente 23 % de la diffusion mais reste à 0,54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Rééquilibrer la diffusion vers les liaisons qui cliquent le plus (Lyon, Toulouse, Lille).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liaisons internationales intéressent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Paris – Barcelone (1,17 fois) et Paris – Amsterdam (1,10 fois) dépassent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davantage de liaisons internationales.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jour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30/09, la campagne génère 788 clics sur la journée, pour un CTR de 0,57 %.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Premier bilan complet sur le mois d'octobre.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