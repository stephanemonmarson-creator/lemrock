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Allo Pneus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577 195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−59 %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3 845 061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2 287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6 845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+0,24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0,18 %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E6A2C"/>
                </a:solidFill>
                <a:latin typeface="Arial"/>
              </a:rPr>
              <a:t>toutes saisons</a:t>
            </a:r>
            <a:r>
              <a:rPr sz="1800" b="1" i="0">
                <a:solidFill>
                  <a:srgbClr val="111111"/>
                </a:solidFill>
                <a:latin typeface="Arial"/>
              </a:rPr>
              <a:t>    3PMSF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55B66"/>
                </a:solidFill>
                <a:latin typeface="Arial"/>
              </a:rPr>
              <a:t>loi montagne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 freinage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E6A2C"/>
                </a:solidFill>
                <a:latin typeface="Arial"/>
              </a:rPr>
              <a:t>pas chers</a:t>
            </a:r>
            <a:r>
              <a:rPr sz="1300" b="0" i="0">
                <a:solidFill>
                  <a:srgbClr val="555B66"/>
                </a:solidFill>
                <a:latin typeface="Arial"/>
              </a:rPr>
              <a:t>    sûrs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6A2C"/>
                </a:solidFill>
                <a:latin typeface="Arial"/>
              </a:rPr>
              <a:t>voiture électrique</a:t>
            </a:r>
            <a:r>
              <a:rPr sz="1200" b="1" i="0">
                <a:solidFill>
                  <a:srgbClr val="111111"/>
                </a:solidFill>
                <a:latin typeface="Arial"/>
              </a:rPr>
              <a:t>    MG4 EV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Zoé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pneus hiver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 chaînes à neige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dimensions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Continental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pas chers sont quand même sûrs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savoir si mes pneus toutes saisons suffisent pour la loi montagne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modèles 3PMSF recommandes-tu pour la MG4 EV Urban en 2026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recommanderais-tu pour améliorer les distances de freinage à 130 km/h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pneus VE recommandez-vous pour une Zoé 2020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auto et dimensions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SUV et utilitaires · 39 %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moto et scooter · 18 %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toutes saisons · 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Pneus hiver et neige · 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Accessoires et entretien · &lt; 1 %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41 %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4999939"/>
            <a:ext cx="475488" cy="52303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4368" y="4999939"/>
            <a:ext cx="475488" cy="523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39 %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64368" y="5522976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764377"/>
            <a:ext cx="475488" cy="13411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777788"/>
            <a:ext cx="475488" cy="13411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Allo Pneus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davantage en avant les pneus hiver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de pneus hiver atteignent 1,15 fois le CTR moyen, le meilleur score du mois. Elles ne représentent pourtant que 8 % de la diffusion.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Augmenter la part des pneus hiver et 4 saisons en octobre, au moment où les conducteurs changent leurs pneus.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Renforcer les pneus SUV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pneus SUV et 4x4 atteignent 1,09 fois le CTR moyen, et jusqu'à 1,43 fois pour le Kleber Quadraxer SUV. Les pneus utilitaires restent sous la moyenne (0,87 fois).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visibilité aux références SUV et retravailler les messages utilitaires autour d'un usage concret (chantier, camping-car).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Privilégier les marques au bon rapport qualité-prix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marques à prix accessible cliquent mieux : Hankook atteint 1,22 fois le CTR moyen. Les marques premium comme Goodyear restent en dessous (0,69 fois).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marques accessibles avec le message « pas cher mais sûr ».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Varier les descriptions des annonces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plupart des annonces utilisent la même description (« Leader de la vente de pneus pas chers en ligne ») et restent dans la moyenne.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descriptions avec un bénéfice précis : adhérence sous la pluie, conformité loi montagne, montage à domicile.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Archipel Kombucha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222 268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+177 %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302 404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1 136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+245 %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1 465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+0,10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EE6A2C"/>
                </a:solidFill>
                <a:latin typeface="Arial"/>
              </a:rPr>
              <a:t>sans alcool</a:t>
            </a:r>
            <a:r>
              <a:rPr sz="1800" b="1" i="0">
                <a:solidFill>
                  <a:srgbClr val="111111"/>
                </a:solidFill>
                <a:latin typeface="Arial"/>
              </a:rPr>
              <a:t>    vin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55B66"/>
                </a:solidFill>
                <a:latin typeface="Arial"/>
              </a:rPr>
              <a:t>café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 tisane sans caféine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E6A2C"/>
                </a:solidFill>
                <a:latin typeface="Arial"/>
              </a:rPr>
              <a:t>mocktail</a:t>
            </a:r>
            <a:r>
              <a:rPr sz="1300" b="0" i="0">
                <a:solidFill>
                  <a:srgbClr val="555B66"/>
                </a:solidFill>
                <a:latin typeface="Arial"/>
              </a:rPr>
              <a:t>    eau gazeuse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E6A2C"/>
                </a:solidFill>
                <a:latin typeface="Arial"/>
              </a:rPr>
              <a:t>lait végétal</a:t>
            </a:r>
            <a:r>
              <a:rPr sz="1200" b="1" i="0">
                <a:solidFill>
                  <a:srgbClr val="111111"/>
                </a:solidFill>
                <a:latin typeface="Arial"/>
              </a:rPr>
              <a:t>    jus d'orange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kéfir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microbiote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 sans pesticides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eau citronnée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chia fresca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Ciao Kombucha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 Karma Kombucha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faire une version sans alcool de l'Americano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Y a-t-il des alternatives sans alcool qui gardent le même goût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 tisane sans caféine me recommandes-tu pour le soir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Les jus de fruits maison sont-ils vraiment plus sains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Lait ribot, yaourt ou kéfir : quoi choisir pour le microbiote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Thés, infusions et plantes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Cocktails et boissons sans alcool · 22 %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Bienfaits et santé · 18 %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Recettes et fermentation maison · 12 %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643737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643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48 %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5093817"/>
            <a:ext cx="475488" cy="29504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388864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630265"/>
            <a:ext cx="475488" cy="16093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Archipel Kombucha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de boissons fermentées sans alcool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« Boissons fermentées sans alcool » atteint 1,53 fois le CTR moyen, le meilleur score du mois.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l'alternative sans alcool au cœur des accroches : apéritif, repas, pause.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 pack de 12 canettes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packs de 12 canettes de 33 cl dépassent la moyenne (jusqu'à 1,30 fois). Le pack de 6 bouteilles de 75 cl tombe à 0,66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Faire de la canette le produit d'appel et garder les grands formats pour la page produit.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Associer le parfum à une sensation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descriptions qui décrivent le goût (« bouche très fraîche », « notes exotiques ») cliquent mieux que les descriptions courtes. Le kombucha framboise reste sous la moyenne (0,73 fois).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Décrire chaque parfum par la sensation qu'il procure plutôt que par sa recette.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campagne qui accélère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sont multipliés par 3,5 et le CTR passe de 0,41 % à 0,51 %.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ciblage actuel et renforcer le message sans alcool à l'approche des fêtes.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Basket4Ballers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705 874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1 702 639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3 198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+195 %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5 040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0,45 %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+0,25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sneakers blanches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jean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Air Force 1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Air Max 90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New Balance 574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Cortez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marcher toute la journée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confort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Nike P-6000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running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pas chères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Wilson Authentic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ballon de basket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Des idées de sneakers blanches qui vont bien avec ce jean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baskets solides et pas chères pour marcher beaucoup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peux porter la P-6000 pour courir régulièrement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types de lacets aident les sneakers à mieux s'ajuster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peux utiliser le Wilson Authentic en salle sans l'abîmer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Chaussures et sneakers · 14 %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Équipement de basketball · 47 %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Maillots et fanwear NBA · 9 %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Vêtements de basketball · 30 %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187756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4637836"/>
            <a:ext cx="475488" cy="63032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64368" y="4637836"/>
            <a:ext cx="475488" cy="6303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47 %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4368" y="5268163"/>
            <a:ext cx="475488" cy="12070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388863"/>
            <a:ext cx="475488" cy="402336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5388863"/>
            <a:ext cx="4754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30 %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Basket4Ballers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accessoires et les protections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accessoires (1,12 fois le CTR moyen), les ballons (1,20 fois) et les protections (1,05 fois) font mieux que la moyenne. Le ballon Nike Skills enfant atteint 1,36 fois.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place aux accessoires et petits équipements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annonces vêtements et maillots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tenues de basket restent à 0,58 fois la moyenne et les maillots à 0,82 fois. Les survêtements et les casquettes tombent à 0,41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les vêtements à un usage (match, échauffement, cadeau) plutôt qu'au prix.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sneakers lifestyle tiennent leur rang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chaussures et sneakers dépassent la moyenne (jusqu'à 1,11 fois), avec des modèles comme l'adidas Yung-1 ou la Puma Creeper.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Pousser les modèles iconiques et les nouveautés lifestyle.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clics triplent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1 083 à 3 198 pour 33 % d'impressions en plus. Le CTR passe de 0,20 % à 0,45 %.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ciblage et concentrer le budget sur les catégories qui cliquent le plus.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Bayard Jeunesse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408 434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791 115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2 277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+215 %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+0,37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livres papier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abonnement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magazine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audiobook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numéros numériques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BD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Nathan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Mon Quotidien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Glénat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Fleurus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Milan Presse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livres audio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Spotify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vaut le coup en audiobook ou mieux en lecture papier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je peux acheter le livre et à quel prix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je m'abonne pour accéder aux numéros numériques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je reçois le magazine papier chez moi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les livres audio disponibles sur Spotify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Lecture et découverte 6-10 ans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Apprentissage de l'anglais · 3 %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Magazines pour adolescents · 16 %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Éveil et petite enfance · 11 %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93878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938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70 %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5388864"/>
            <a:ext cx="475488" cy="40233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429097"/>
            <a:ext cx="475488" cy="21457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643676"/>
            <a:ext cx="475488" cy="147523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Bayard Jeunesse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magazines découverte et actualité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Images Doc (8-12 ans) et Phosphore (14-19 ans) atteignent plus de 2,2 fois le CTR moyen, les meilleurs scores de la campagne.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visibilité aux titres qui aident à comprendre le monde et l'actualité.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d'un âge et d'un bénéfice précis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qui indiquent la tranche d'âge et ce que l'enfant y gagne (orientation, culture, lecture) dépassent la moyenne. L'abonnement générique reste à 1,02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Construire chaque accroche autour d'un âge et d'un bénéfice concret.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titres petite enfance et éveil à la foi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Belles Histoires, Babar, Astrapi et Mon p'tit Prions en Église restent entre 0,62 et 0,67 fois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messages plus orientés parents (rituel du soir, temps partagé).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clics triplent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722 à 2 277 pour 7 % d'impressions en plus. Le CTR passe de 0,19 % à 0,56 %.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Prolonger la campagne au-delà du 11/10 pour la période des cadeaux de fin d'année.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Bosch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351 012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−44 %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1 531 995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1 740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4 227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+0,27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lave-vaisselle 60 cm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silencieux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rapport qualité-prix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encastrable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bandeau apparent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fiabilité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moins de 600 €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Black Friday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four à pyrolyse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induction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airfryer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pompe à chaleur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compatibilité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veux un lave-vaisselle 60 cm à bandeau apparent à ~500 €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Un lave-vaisselle bon rapport qualité-prix pour moins de 600 €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L'entretien et la fiabilité sont-ils simples sur le long terme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Est-ce qu'il vaut mieux attendre le Black Friday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four à pyrolyse pour une famille de 4 personnes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Comparaison marques et modèles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Encastrables et intégrables · 7 %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Compacts et largeur 45 cm · &lt; 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Grande capacité et 60 cm · 47 %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Lave-vaisselle silencieux · &lt; 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Lave-vaisselle connectés · &lt; 1 %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616915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4450080"/>
            <a:ext cx="475488" cy="6169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46 %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5066995"/>
            <a:ext cx="475488" cy="9387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160873"/>
            <a:ext cx="475488" cy="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160873"/>
            <a:ext cx="475488" cy="630326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564368" y="5160873"/>
            <a:ext cx="475488" cy="6303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47 %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Bosch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modèles encastrables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lave-vaisselle tout encastrables et semi-encastrables atteignent 1,28 fois le CTR moyen. Ils ne représentent pourtant que 7 % de la diffusion.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Augmenter la part des modèles encastrables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modèles d'entrée de gamme cliquent le mieux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Série 2 sont en tête (jusqu'à 1,41 fois la moyenne). Plusieurs Série 4 restent sous la moyenne (0,60 à 0,71 fois).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Série 2 avec un argument prix, et les Série 4 avec un bénéfice précis.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silence est un argument 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modèle pose libre à 38 dB fait partie des meilleures annonces (1,30 fois la moyenne).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le niveau sonore en avant dans les accroches, surtout pour les cuisines ouvertes.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Préparer le Black Friday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10,6 % des freins exprimés portent sur l'attente d'une promotion. Le CTR passe de 0,23 % à 0,50 %.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Préparer des messages promotionnels dès début novembre.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1 760 935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6 117 876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9 138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+207 %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17 884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0,04 %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+0,04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0,04 %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iPhone 17 Pro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Galaxy S26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forfait mobile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eSIM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reconditionné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Pixel 10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Redmi Note 15 Pro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256 Go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départ en vacances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promotion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fiabilité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Honor 600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compatibilité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les smartphones Android 256 Go sous 500 €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recherche un smartphone microSD pour la photo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je sais si un iPhone 15 reconditionné est fiable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Les Honor vendus en Europe ont-ils bien les services Google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vaut le coup de changer de smartphone juste pour WhatsApp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Recherche générale d'un forfait · &lt; 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26864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0857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eSIM et carte SIM · &lt; 1 %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846320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82803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Prix et sans engagement · 66 %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065776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04748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Partage de connexion et nomade · &lt; 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285232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2669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5G et volume de data · 34 %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50468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48640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International et roaming · &lt; 1 %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77200" y="5724144"/>
            <a:ext cx="121920" cy="121920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96656" y="570585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Changement d'opérateur · &lt; 1 %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77200" y="5943600"/>
            <a:ext cx="121920" cy="121920"/>
          </a:xfrm>
          <a:prstGeom prst="rect">
            <a:avLst/>
          </a:prstGeom>
          <a:solidFill>
            <a:srgbClr val="C95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96656" y="592531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Forfaits par profil · &lt; 1 %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64368" y="4450080"/>
            <a:ext cx="475488" cy="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4450080"/>
            <a:ext cx="475488" cy="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4450080"/>
            <a:ext cx="475488" cy="88513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564368" y="4450080"/>
            <a:ext cx="475488" cy="8851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66 %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564368" y="5335219"/>
            <a:ext cx="475488" cy="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564368" y="5335219"/>
            <a:ext cx="475488" cy="45598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564368" y="5335219"/>
            <a:ext cx="475488" cy="455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34 %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C95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Générer 550 nouvelles souscriptions.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forfait 40 Go est le plus efficace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forfait 40 Go sans engagement concentre deux tiers de la diffusion et reste au niveau du meilleur CTR (1,02 fois la moyenne).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40 Go comme offre d'appel.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trois annonces performent de la même façon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3 annonces diffusées sont entre 0,99 et 1,02 fois la moyenne : elles ne permettent pas de tester d'autres messages.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par profil (vacances et eSIM, étudiants, famille) pour trouver de nouveaux leviers.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Activer le départ en vacances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départ en vacances déclenche 24 % des conversations du secteur, avec des recherches de forfait et d'eSIM.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Créer une annonce dédiée à l'eSIM et aux forfaits pour voyager.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clics triplent, les conversions restent rares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9 138 clics (+207 %) mais 4 conversions seulement, loin de l'objectif de 550 souscriptions.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Awin et le parcours de souscription.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– Séjours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790 844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−52 %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5 924 632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3 916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12 654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0,21 %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0,10 %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+0,04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1,30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séjour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Airbnb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Booking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Club Med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Pierre &amp; Vacances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billets d'avion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Transavia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valise cabine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trousse de toilette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Center Parcs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TUI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Lastminute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Quelles offres ou prix pour une pochette Faraday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Campings et camping-cars · &lt; 1 %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26864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0857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Hôtels et hébergements · 89 %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846320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82803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Croisières, ferries et trains · &lt; 1 %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065776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04748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Séjours tout compris · 11 %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285232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2669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Parcs et séjours en famille · &lt; 1 %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50468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48640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Vols et billets d'avion · &lt; 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724144"/>
            <a:ext cx="121920" cy="121920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70585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Bien-être et thalasso · &lt; 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4450080"/>
            <a:ext cx="475488" cy="119359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64368" y="4450080"/>
            <a:ext cx="475488" cy="11935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89 %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4368" y="5643676"/>
            <a:ext cx="475488" cy="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643676"/>
            <a:ext cx="475488" cy="147523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– Séjours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Atteindre un ROI de 12 pour un CA de 30 k€.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une destination précise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qui décrivent un hôtel et sa destination (Fuerteventura, Majorque, Grèce, Dubaï) atteignent jusqu'à 1,23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Construire chaque annonce autour d'un lieu et de ce qu'on y vit.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L'annonce générique sous-performe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« Séjour pas cher – Paiement en 4x » reste à 0,86 fois la moyenne.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 paiement en 4x comme argument secondaire, après la destination.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Canaries et les Baléares portent la campagne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Canaries et les Baléares représentent 29 % de la diffusion, avec des CTR au-dessus de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Préparer les séjours soleil d'hiver (Canaries, Égypte, Dubaï) pour la Toussaint et Noël.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Des réservations en hausse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4 réservations pour 1 119 € de GMV. Le ROAS passe de 0,82 à 1,30.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Concentrer le budget sur les offres qui convertissent.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– Vols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1 855 410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+92 %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10 029 893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9 406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+455 %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21 694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billets d'avion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SNCF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easyJet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Transavia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Ryanair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sac cabine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Air France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trousse de toilette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Volotea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Skyscanner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Kayak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sacoches Faraday disponibles.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Recherche générique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Outre-mer et Caraïbes · 8 %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Europe et city breaks · 8 %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Afrique du Nord et Afrique · 25 %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Long-courrier international · 33 %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France métropolitaine · &lt; 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348691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4368" y="4450080"/>
            <a:ext cx="475488" cy="3486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26 %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798771"/>
            <a:ext cx="475488" cy="107289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4906060"/>
            <a:ext cx="475488" cy="10728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64368" y="5013350"/>
            <a:ext cx="475488" cy="33528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64368" y="5013350"/>
            <a:ext cx="475488" cy="335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25 %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5348630"/>
            <a:ext cx="475488" cy="442569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564368" y="5348630"/>
            <a:ext cx="475488" cy="4425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33 %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5791200"/>
            <a:ext cx="475488" cy="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Cdiscount Voyages – Vols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Atteindre un ROI de 35 pour un CA de 87 k€.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vols vers l'Afrique cliquent le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vols Paris – Afrique et Maghreb atteignent 1,06 fois le CTR moyen, et Lyon – Abidjan 1,15 fois.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Renforcer les liaisons vers l'Afrique et le Maghreb.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une destination plutôt qu'un prix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« destinations tendances » atteignent 1,08 fois la moyenne. Les vols court-courriers vers l'Europe restent à 0,94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chaque annonce à une destination qui fait envie.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l'Outre-mer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vols vers les DOM-TOM restent à 0,58 fois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accroches vacances de fin d'année pour la Martinique et la Guadeloupe.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Aucune réservation attribuée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Aucune conversion n'est remontée par Awin en septembre malgré 9 406 clics.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Awin et le parcours jusqu'à la réservation.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Dorel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392 251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+60 %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954 461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1 990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+247 %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+0,27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0,32 %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poussette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siège auto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naissance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couches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biberons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porte d'embarquement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nouveau-né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indispensable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tétine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cadeau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vacances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Cybex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Joie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  Stokke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Tu peux garder la poussette jusqu'à la porte d'embarquement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C'est quoi le matériel puériculture vraiment indispensable pour un nouveau-né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affecte les dents si bébé garde la tétine trop longtemps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Sièges auto et rehausseurs · 4 %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Sommeil et voyage · 11 %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Poussettes et mobilité · 6 %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Sécurité de la maison · 62 %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Repas, soin et toilette · 4 %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Éveil et confort · 13 %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5364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64368" y="4503724"/>
            <a:ext cx="475488" cy="147523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64368" y="4651248"/>
            <a:ext cx="475488" cy="80467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4731715"/>
            <a:ext cx="475488" cy="83149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564368" y="4731715"/>
            <a:ext cx="475488" cy="8314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564368" y="5563209"/>
            <a:ext cx="475488" cy="53644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616854"/>
            <a:ext cx="475488" cy="174345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Dorel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jeux d'éveil cliquent le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tapis d'éveil Gymini Tiny Love atteint 9,2 fois le CTR moyen, et le groupe jeux d'éveil 4,05 fois. Ils ne représentent pourtant que 3 % de la diffusion.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Augmenter fortement la part des jeux et tapis d'éveil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Afficher le prix dans l'annonce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avec un prix précis (tapis à 69,63 €, trotteur à 44,99 €) font partie des meilleures.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Indiquer le prix et la livraison offerte dans les accroches.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 mobilier et le sommeil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chaise haute Lily (0,36 fois), le siège auto EvoluFix (0,46 fois) et le lit parapluie (0,50 fois) restent nettement sous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ces produits à un moment concret (premier repas, départ en vacances).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CTR qui double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sont multipliés par 3,5 (1 990) pour 60 % d'impressions en plus. Le CTR passe de 0,23 % à 0,51 %.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Concentrer le budget sur l'éveil et la sécurité de la maison.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Sécurité Routière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374 204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374 204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1 591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1 591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conduite accompagnée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permis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achat d'une voiture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15 ans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vie en van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vacances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auto-école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3 000 km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raid en montagne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accident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prévention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sécurité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la Sécurité Routière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MOMENTS DE VIE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Conversations déclenchées par un événement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Achat d'une voiture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Vie en van · 17 %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Départ en vacances · 17 %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Raid en montagne · 12 %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Événement automobile · 6 %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Accident de voiture · 7 %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999939"/>
            <a:ext cx="475488" cy="22799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227929"/>
            <a:ext cx="475488" cy="22799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455920"/>
            <a:ext cx="475488" cy="16093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616854"/>
            <a:ext cx="475488" cy="80467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4368" y="5697321"/>
            <a:ext cx="475488" cy="9387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Sécurité Routière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L'achat d'une voiture, premier déclencheur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41 % des conversations du secteur sont déclenchées par l'achat d'une voiture, devant la vie en van et les départs en vacances (17 % chacun).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Relier la conduite accompagnée au futur premier véhicule : « Préparez le permis avant la première voiture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seule annonce diffusée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Toute la campagne repose sur l'annonce « Conduite accompagnée : 15 ans, c'est le bon moment », qui génère 1 591 clics pour un CTR de 0,43 %.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variées (parents, économies, réussite au permis) pour identifier les messages qui cliquent le plus.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aux parents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bénéfices de l'annonce (3 000 km au volant, meilleurs résultats au permis, moins d'accidents, moins cher) s'adressent surtout aux parents.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une version dédiée aux parents et une version dédiée aux jeunes de 15 ans.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Premier mois de diffusion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campagne génère 374 204 impressions et 1 591 clics en septembre.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Définir un objectif de campagne (inscriptions, visites de la page) pour piloter la suite.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FidMe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705 558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3 385 630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3 086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+124 %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8 342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0,25 %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cadeau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LEGO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Dealabs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iGraal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Google Wallet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Apple Wallet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Shopmium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Coupon Network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Joko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Poulpeo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eBuyClub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naissance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Widilo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FidMe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Boissons · 24 %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Produits frais et végétaux · 17 %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Épicerie et snacking · 18 %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Cashback et coupons · 13 %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Alimentation pour animaux · 4 %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Hygiène, entretien et bébé · 24 %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32186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64368" y="4771948"/>
            <a:ext cx="475488" cy="22799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564368" y="4999939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241340"/>
            <a:ext cx="475488" cy="174345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415686"/>
            <a:ext cx="475488" cy="53644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469331"/>
            <a:ext cx="475488" cy="32186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FidMe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Acquérir de nouveaux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offres concrètes cliquent le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L'offre « 2 € pour l'achat d'un pack STABILO » atteint 2,07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le montant remboursé dans le titre de l'annonce.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vins et les gourmandises surperforment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vins (1,28 fois), les snacks et confiseries (1,19 fois) et les boissons (1,18 fois) dépassent la moyenne.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place aux vins et gourmandises à l'approche des fêtes.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 végétal, le bébé et l'animalerie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boissons végétales Bjorg (0,56 fois), Le Gaulois Végétal (0,60 fois), Blédichef (0,64 fois) et Whiskas (0,70 fois) restent sous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des accroches centrées sur l'économie réalisée.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CTR double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1 378 à 3 086. Le CTR passe de 0,23 % à 0,44 %. WaterWipes représente 16 % de la diffusion.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Poursuivre sur les offres qui performent et préparer les offres de Noël.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PERFORMANCE REPORT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Levi's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378 398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−29 %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1 193 411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1 677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+46 %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3 370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0,44 %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prev. period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QUALITATIVE INSIGHTS · SEARCH ANALYSIS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LEXICAL FIELD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Most frequent terms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jeans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501 Original Fit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tulip jeans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stretch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fitted tops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puffer jacket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denim skirt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jacket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Zara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Uniqlo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Wrangler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tights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Celio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SAMPLE QUERIES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asked to AI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Show me fitted tops to go with these grey jeans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Where can I find comfortable tulip jeans with a little stretch?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Show me complete outfit ideas with a long denim skirt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What's the real difference between a softshell and a puffer jacket?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Can I wear these shorts to the office without looking too casual?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PRODUCT CATEGORIES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Campaign product mix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Jeans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26864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0857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Tops and shirts · 23 %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846320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82803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Dresses, skirts and shorts · 9 %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065776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04748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Accessories · 22 %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285232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2669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Other relaxed bottoms · &lt; 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50468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48640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Jackets · 6 %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77200" y="5724144"/>
            <a:ext cx="121920" cy="121920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96656" y="570585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Chinos and cargos · 1 %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564368" y="4450080"/>
            <a:ext cx="475488" cy="523036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4368" y="4450080"/>
            <a:ext cx="475488" cy="523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39 %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564368" y="4973116"/>
            <a:ext cx="475488" cy="308457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281574"/>
            <a:ext cx="475488" cy="12070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402275"/>
            <a:ext cx="475488" cy="295046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64368" y="5697321"/>
            <a:ext cx="475488" cy="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564368" y="5697321"/>
            <a:ext cx="475488" cy="80467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564368" y="5777788"/>
            <a:ext cx="475488" cy="13411"/>
          </a:xfrm>
          <a:prstGeom prst="rect">
            <a:avLst/>
          </a:prstGeom>
          <a:solidFill>
            <a:srgbClr val="8CB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QUALITATIVE INSIGHTS ·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Levi's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OBJECTIVE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To be defined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QUALITATIVE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Vintage and heritage pieces drive clicks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The Vintage Red Tab™ T-shirt reaches 1.84 times the average CTR, the Vintage Boxy sweatshirt 1.31 times and the Trucker jacket 1.38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Put vintage and heritage pieces forward in the campaign.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Jeans stay above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Men's jeans reach 1.13 times the average and women's jeans 1.05 times. The XL Straight jean reaches 1.28 times.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Keep jeans at the centre, with a focus on relaxed and straight fits.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Accessories underperform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Belts, beanies and caps stay at 0.49 times the average.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Show accessories as a complement once the shopper has found their jeans.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Jackets and sweats are rising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Jackets and sweats reach 1.24 times the average and skirts and dresses 1.20 times.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Push outerwear for the cold season (Trucker, sherpa, sweats).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Mabex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313 395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+259 %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426 644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1 668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+379 %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2 085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+0,13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prises connectées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canalisations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outils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tuyaux PVC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gel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humidimètre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Legrand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Bosch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Makita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chantier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peinture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Leroy Merlin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Chausson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prises connectées compatibles avec ma box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 puissance de prise renforcée recommandes-tu pour un usage quotidien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protéger les canalisations et la pompe contre le gel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risques pour les tuyaux PVC à long terme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Tu peux me recommander un bon humidimètre pour bois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Électricité, interrupteurs et prises · 4 %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Chauffe-eau et eau chaude · 11 %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Chauffage et radiateurs · 3 %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EPI et vêtements de sécurité · 13 %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Outillage et plomberie · 69 %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4450080"/>
            <a:ext cx="475488" cy="5364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4503724"/>
            <a:ext cx="475488" cy="147523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4651248"/>
            <a:ext cx="475488" cy="40233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4691481"/>
            <a:ext cx="475488" cy="174345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64368" y="4865827"/>
            <a:ext cx="475488" cy="925372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4368" y="4865827"/>
            <a:ext cx="475488" cy="9253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69 %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Mabex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Atteindre un ROAS d'au moins 10 (idéalement 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La plomberie clique le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groupe plomberie atteint 1,43 fois le CTR moyen. L'annonce sur les colliers monobloc Nicoll atteint 2,35 fois.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place à la plomberie et au chauffe-eau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packs d'outils séduisent les pros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packs d'outils électroportatifs (Milwaukee, Makita, Dewalt…) atteignent 1,87 fois la moyenne, avec la livraison offerte dès 120 € 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packs chantier et la livraison offerte.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interrupteurs restent un point fort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commandes d'éclairage Schneider Odace atteignent 1,36 fois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Conserver l'électricité comme univers clé de la campagne.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fiches produit génériques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annonces au format « Référence + Tout l'équipement pro au meilleur prix » restent sous la moyenne (veste haute visibilité 0,52 fois, radiateur 0,58 fois).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Décrire le bénéfice pour le chantier plutôt que la seule référence.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Marshall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498 934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1 490 670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1 862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+88 %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3 995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0,37 %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+0,14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0,27 %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enceinte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casque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platine vinyle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ampli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budget 200 €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sans fil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home cinéma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DAB+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étudiant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vacances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French Days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Sony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JBL</a:t>
            </a:r>
            <a:r>
              <a:rPr sz="1100" b="0" i="0">
                <a:solidFill>
                  <a:srgbClr val="111111"/>
                </a:solidFill>
                <a:latin typeface="Arial"/>
              </a:rPr>
              <a:t>   Bose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Une enceinte pour la radio et Deezer avec un bon son, budget max 550 €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casque le plus approprié si je ne veux pas dépasser 200 €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Si je reste à 400 €, quelle platine sans enceintes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Ça vaut le coup d'acheter des écouteurs filaires aujourd'hui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Quelles sont les meilleures offres sur les enceintes pour les French Days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Casques et réduction de bruit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Enceintes Bluetooth portables · 33 %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Enceintes pour le salon · &lt; 1 %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Enceintes de soirée · 31 %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482803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4828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36 %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4932883"/>
            <a:ext cx="475488" cy="442569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64368" y="4932883"/>
            <a:ext cx="475488" cy="44256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33 %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5375452"/>
            <a:ext cx="475488" cy="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5375452"/>
            <a:ext cx="475488" cy="415747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64368" y="5375452"/>
            <a:ext cx="475488" cy="4157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31 %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Marshall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enceintes Bluetooth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enceintes sans fil Bluetooth atteignent 1,28 fois le CTR moyen. L'Acton III atteint 1,79 fois et l'Emberton III 1,32 fois.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Donner plus de place aux enceintes Bluetooth dans la diffusion.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enceintes de soirée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enceintes sono et DJ Bromley restent à 0,63 fois la moyenne, alors qu'elles représentent 19 % de la diffusion.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Réduire leur part ou les associer à un usage précis (fête, extérieur).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 prix aide à cliquer sur les casques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casque Major V avec son prix (149,99 €) atteint 1,44 fois la moyenne. Sans prix, le même casque reste à 0,76 fois.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Afficher le prix dans les annonces casques.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clics doublent presque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clics passent de 991 à 1 862 (+88 %). Le CTR passe de 0,23 % à 0,37 %.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Concentrer le budget sur les enceintes Bluetooth et les casques avec prix.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Monoprix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752 119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−52 %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9 956 850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3 608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+24 %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19 420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+0,29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chaussures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jean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robe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veste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mariage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doudoune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montre connectée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rentrée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collants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jupe midi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livraison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ensemble vichy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ceinture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Montre-moi des hauts ajustés pour accompagner ce jean gris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 coupe de robe convient le mieux aux petites poitrines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 choisir pour un look mariage avec un ensemble vichy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Quels collants opaques tu recommandes pour l'hiver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trouver ces Skechers et la livraison la plus rapide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Collants, chaussettes et sous-vêtements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Petit équipement domestique · 15 %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Papeterie scolaire et créative · 23 %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Vêtements et linge pour bébé · 18 %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590092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590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44 %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5040172"/>
            <a:ext cx="475488" cy="20116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241340"/>
            <a:ext cx="475488" cy="308457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549798"/>
            <a:ext cx="475488" cy="241401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Monoprix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collants restent le point 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collants Sublim DIM et les bas nylon atteignent jusqu'à 1,26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les collants au cœur de la campagne, surtout avec l'arrivée du froid.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La papeterie scolaire surprend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pochettes de papier à dessin Canson atteignent 1,23 fois la moyenne, et les fournitures scolaires 1,15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Profiter de la rentrée pour garder la papeterie dans la diffusion.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la lingerie et le linge de maison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lots de slips DIM (0,86 fois) et le drap housse bio (0,77 fois) restent sous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un bénéfice concret (confort, maintien) plutôt que le lot.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52 % mais les clics progressent de 24 %. Le CTR passe de 0,19 % à 0,48 %.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Vérifier le tracking des conversions.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Pierre &amp; Vacances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638 950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638 950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3 144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0,49 %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résidence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Airbnb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Booking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Gîtes de France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Abritel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vie en van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Odalys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Club Med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Center Parcs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Lagrange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Maeva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VVF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sac choisir pour combo randonnée et ski de rando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Location de vacances France et Europe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Séjours montagne en hiver · 50 %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4368" y="4450080"/>
            <a:ext cx="475488" cy="67056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64368" y="4450080"/>
            <a:ext cx="475488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50 %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5120640"/>
            <a:ext cx="475488" cy="67056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5120640"/>
            <a:ext cx="475488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50 %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Pierre &amp; Vacances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Deux annonces au même niveau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location France et Europe (1,03 fois le CTR moyen) et l'annonce montagne en hiver (0,97 fois) se partagent la diffusion à parts égales.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par destination pour identifier ce qui clique le plus.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Préparer la saison d'hiver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moitié de la diffusion porte déjà sur les séjours à la montagne cet hiver.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résidences près des pistes pour les vacances de Noël et d'hiver.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91 % des conversations partent d'un départ en vacances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départ en vacances déclenche presque toutes les conversations du secteur.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chaque résidence à une période de départ : Noël, vacances d'hiver, week-ends prolongés.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premier mois encourageant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Lancée le 15/09, la campagne génère 3 144 clics en 16 jours, pour un CTR de 0,49 %.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Poursuivre la diffusion sur la saison d'hiver.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Pour de 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701 502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−31 %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2 476 488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3 334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7 502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+0,23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0,30 %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sans additifs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étiquette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fleur de sel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huile d'olive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fromage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épices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bio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chocolat 70 %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frais de livraison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vinaigre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comté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Picard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La Grande Épicerie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repérer une vraie tablette sans additifs sur l'étiquette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 sel marin, fleur de sel : c'est juste du marketing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Les mentions « vierge extra » sont-elles vraiment fiables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Où je peux l'acheter en ligne et y a-t-il des frais de livraison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savoir si un chocolat est vraiment bio ou équitable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Viandes, volailles et charcuterie · 19 %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Champagnes, vins et cadeaux · 31 %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Poissons et produits de la mer · 18 %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Fromages et produits laitiers · 16 %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Épicerie sucrée et miel · 11 %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Plats préparés et spécialités · 5 %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4450080"/>
            <a:ext cx="475488" cy="254812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4704892"/>
            <a:ext cx="475488" cy="415747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564368" y="4704892"/>
            <a:ext cx="475488" cy="4157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31 %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64368" y="5120640"/>
            <a:ext cx="475488" cy="241401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564368" y="5362041"/>
            <a:ext cx="475488" cy="214579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64368" y="5576620"/>
            <a:ext cx="475488" cy="147523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64368" y="5724144"/>
            <a:ext cx="475488" cy="67056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Pour de 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Mettre en avant les coffrets cadeaux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coffret Champagne et Safran atteint 1,96 fois le CTR moyen, le meilleur score du mois.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Préparer les coffrets cadeaux pour les fêtes de fin d'année.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légumes de saison et les fromages cliquent bien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légumes de saison atteignent 1,42 fois la moyenne, le comté 12 mois AOP 1,24 fois.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chaque produit à son producteur et à sa saison.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les poissons et fruits de 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poissons et fruits de mer restent à 0,52 fois la moyenne (huîtres gratinées 0,44 fois, saumon au miel 0,46 fois), alors qu'ils représentent 14 % de la diffusion.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Réduire leur part ou les présenter comme une idée de repas de fête.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31 % mais les clics progressent de 32 %. Le CTR passe de 0,25 % à 0,48 %.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Prolonger le ciblage resserré.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Qonto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1 094 021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1 094 021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4 757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4 757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création d'entreprise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compte pro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Boursorama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BNP Paribas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Revolut Business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Shine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retraite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vol de portefeuille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carte perdue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LCL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Crédit Agricole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banque en ligne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professionnels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Qonto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Compte pro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Création d'entreprise · 30 %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Facturation · 29 %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41 %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4368" y="4999939"/>
            <a:ext cx="475488" cy="402336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64368" y="4999939"/>
            <a:ext cx="4754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30 %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4368" y="5402275"/>
            <a:ext cx="475488" cy="388924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64368" y="5402275"/>
            <a:ext cx="475488" cy="388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29 %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Qonto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La facturation clique le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« Logiciel de facturation gratuit » atteint 1,13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la facturation électronique, à l'approche de la réforme.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La création d'entreprise fonctionne bien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création d'entreprise atteint 1,06 fois la moyenne.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Cibler les moments de création (statuts, dépôt de capital, immatriculation).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l'annonce compte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compte pro représente 41 % de la diffusion mais reste à 0,86 fois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une accroche plus concrète (ouverture en quelques minutes, cartes, virements instantanés).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premier mois solide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Lancée le 03/09, la campagne génère 4 757 clics pour un CTR de 0,43 %.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Mesurer les ouvertures de compte pour piloter la campagne.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Smartphone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240 223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4837"/>
                </a:solidFill>
                <a:latin typeface="Arial"/>
              </a:rPr>
              <a:t>▼ −24 %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558 183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+90 %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1 893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0,34 %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55B66"/>
                </a:solidFill>
                <a:latin typeface="Arial"/>
              </a:rPr>
              <a:t>À compléter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55B66"/>
                </a:solidFill>
                <a:latin typeface="Arial"/>
              </a:rPr>
              <a:t>Rapport d'insights de septembre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55B66"/>
                </a:solidFill>
                <a:latin typeface="Arial"/>
              </a:rPr>
              <a:t>hors sujet (smartphones reconditionnés)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de septembre porte sur les smartphones reconditionnés, pas sur la photo d'identité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Carte d'identité et passeport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Permis de conduire et e-photo ANTS · 24 %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Visa et titre de séjour · 15 %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Création et contrôle de conformité · 10 %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Photos de bébé, d'enfant et publics empêchés · 5 %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Impression et livraison à domicile · 5 %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999939"/>
            <a:ext cx="475488" cy="32186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321808"/>
            <a:ext cx="475488" cy="201168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522976"/>
            <a:ext cx="475488" cy="134112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657088"/>
            <a:ext cx="475488" cy="67056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4368" y="5724144"/>
            <a:ext cx="475488" cy="67056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Smartphone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promesse simple qui fonctionne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L'annonce « Photo d'identité en ligne en 2 minutes » génère 1 240 clics. Le CTR passe de 0,21 % à 0,52 %.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Garder la rapidité et la conformité comme arguments principaux.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seule accroche diffusée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2 annonces diffusées portent le même message et obtiennent le même CTR (0,98 à 1,02 fois la moyenne).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par démarche (passeport, permis ANTS, visa, photo de bébé) pour identifier celles qui cliquent le plus.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À compléter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 rapport d'insights de septembre porte sur un autre secteur (smartphones reconditionnés).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À compléter avec un rapport sur la photo d'identité.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Moins d'impressions, plus de clics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impressions baissent de 24 % mais les clics progressent de 90 %.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Définir un objectif de campagne (photos réalisées, téléchargements, CPA cible).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SNCF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139 036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139 036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788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0,57 %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train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easyJet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Ryanair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Air France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FlixBus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Trainline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Eurostar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BlaBlaCar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Trenitalia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Kombo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valise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sac cabine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sac choisir pour combo randonnée et ski de rando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Paris – Rennes · 23 %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Paris – Lyon / Marseille / Nice · 23 %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Paris – Bordeaux / Toulouse · 17 %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Paris – Nantes / Lille / Strasbourg · 21 %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International (Amsterdam, Barcelone) · 9 %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Autres liaisons · 7 %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308457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564368" y="4758537"/>
            <a:ext cx="475488" cy="308457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64368" y="5066995"/>
            <a:ext cx="475488" cy="22799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5294985"/>
            <a:ext cx="475488" cy="281635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64368" y="5576620"/>
            <a:ext cx="475488" cy="12070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697321"/>
            <a:ext cx="475488" cy="9387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SNCF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trajets vers Paris cliquent le 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trajets Lille – Paris, Marseille – Paris et Lyon – Paris atteignent plus de 1,3 fois le CTR moyen.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les trajets retour vers Paris.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Revoir Paris – Rennes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Paris – Rennes représente 23 % de la diffusion mais reste à 0,54 fois la moyenne.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Rééquilibrer la diffusion vers les liaisons qui cliquent le plus (Lyon, Toulouse, Lille).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liaisons internationales intéressent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Paris – Barcelone (1,17 fois) et Paris – Amsterdam (1,10 fois) dépassent la moyenne.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davantage de liaisons internationales.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Premier jour de diffusion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Lancée le 30/09, la campagne génère 788 clics sur la journée, pour un CTR de 0,57 %.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Premier bilan complet sur le mois d'octobre.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