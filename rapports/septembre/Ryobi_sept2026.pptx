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48768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RAPPORT DE PERFORMANCE · 01/09/2026 → 30/09/2026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4008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Ryobi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24800" y="591312"/>
            <a:ext cx="3304032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8A93A6"/>
                </a:solidFill>
                <a:latin typeface="Arial"/>
              </a:rPr>
              <a:t>COMPARAISON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4800" y="780288"/>
            <a:ext cx="3304032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vs 01/08/2026 → 31/08/2026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DIFFUSION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8963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08192" y="1280160"/>
            <a:ext cx="24384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CONVERSION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303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4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IMPRESSIONS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4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11111"/>
                </a:solidFill>
                <a:latin typeface="Arial"/>
              </a:rPr>
              <a:t>1 144 223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44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+34 %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44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44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4 649 681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38963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38963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2374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CLICS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2374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5 969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2374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+222 %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2374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2374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13 056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4891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4891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302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302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0,52 %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8302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+0,31 pt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302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302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0,28 %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0819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0819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4230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CONVERSIONS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4230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4230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+3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4230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4230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6747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96747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0158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CVR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0158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0,05 %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0158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+0,05 pt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0158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0158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0,05 %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26752" y="1536192"/>
            <a:ext cx="1389888" cy="112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826752" y="1536192"/>
            <a:ext cx="48768" cy="112776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960864" y="1615440"/>
            <a:ext cx="121920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555B66"/>
                </a:solidFill>
                <a:latin typeface="Arial"/>
              </a:rPr>
              <a:t>ROAS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960864" y="1889760"/>
            <a:ext cx="121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 i="0">
                <a:solidFill>
                  <a:srgbClr val="111111"/>
                </a:solidFill>
                <a:latin typeface="Arial"/>
              </a:rPr>
              <a:t>0,03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60864" y="2243328"/>
            <a:ext cx="1219200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E7B34"/>
                </a:solidFill>
                <a:latin typeface="Arial"/>
              </a:rPr>
              <a:t>▲ +0,03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960864" y="237744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00" b="0" i="0">
                <a:solidFill>
                  <a:srgbClr val="555B66"/>
                </a:solidFill>
                <a:latin typeface="Arial"/>
              </a:rPr>
              <a:t>vs période préc.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0864" y="2499360"/>
            <a:ext cx="1219200" cy="91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1">
                <a:solidFill>
                  <a:srgbClr val="555B66"/>
                </a:solidFill>
                <a:latin typeface="Arial"/>
              </a:rPr>
              <a:t>YTD —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30352" y="33223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EE6A2C"/>
                </a:solidFill>
                <a:latin typeface="Arial"/>
              </a:rPr>
              <a:t>INSIGHTS QUALITATIFS · ANALYSE DES RECHERCHES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30352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194048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7857744" y="3584448"/>
            <a:ext cx="3401568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4192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CHAMP LEXICAL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74192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Termes les plus fréquents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4192" y="4236720"/>
            <a:ext cx="29870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 i="0">
                <a:solidFill>
                  <a:srgbClr val="EE6A2C"/>
                </a:solidFill>
                <a:latin typeface="Arial"/>
              </a:rPr>
              <a:t>perceuse</a:t>
            </a:r>
            <a:r>
              <a:rPr sz="1600" b="1" i="0">
                <a:solidFill>
                  <a:srgbClr val="111111"/>
                </a:solidFill>
                <a:latin typeface="Arial"/>
              </a:rPr>
              <a:t>   visseuse</a:t>
            </a:r>
          </a:p>
          <a:p>
            <a:pPr algn="l">
              <a:spcAft>
                <a:spcPts val="500"/>
              </a:spcAft>
            </a:pPr>
            <a:r>
              <a:rPr sz="1500" b="1" i="0">
                <a:solidFill>
                  <a:srgbClr val="555B66"/>
                </a:solidFill>
                <a:latin typeface="Arial"/>
              </a:rPr>
              <a:t>atelier</a:t>
            </a:r>
            <a:r>
              <a:rPr sz="1400" b="1" i="0">
                <a:solidFill>
                  <a:srgbClr val="111111"/>
                </a:solidFill>
                <a:latin typeface="Arial"/>
              </a:rPr>
              <a:t>   compresseur</a:t>
            </a:r>
          </a:p>
          <a:p>
            <a:pPr algn="l">
              <a:spcAft>
                <a:spcPts val="500"/>
              </a:spcAft>
            </a:pPr>
            <a:r>
              <a:rPr sz="1300" b="1" i="0">
                <a:solidFill>
                  <a:srgbClr val="EE6A2C"/>
                </a:solidFill>
                <a:latin typeface="Arial"/>
              </a:rPr>
              <a:t>scie-sabre</a:t>
            </a:r>
            <a:r>
              <a:rPr sz="1200" b="0" i="0">
                <a:solidFill>
                  <a:srgbClr val="555B66"/>
                </a:solidFill>
                <a:latin typeface="Arial"/>
              </a:rPr>
              <a:t>   brushless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EE6A2C"/>
                </a:solidFill>
                <a:latin typeface="Arial"/>
              </a:rPr>
              <a:t>humidimètre</a:t>
            </a:r>
            <a:r>
              <a:rPr sz="1100" b="1" i="0">
                <a:solidFill>
                  <a:srgbClr val="111111"/>
                </a:solidFill>
                <a:latin typeface="Arial"/>
              </a:rPr>
              <a:t>   multimètre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Bosch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Parkside</a:t>
            </a:r>
            <a:r>
              <a:rPr sz="1100" b="1" i="0">
                <a:solidFill>
                  <a:srgbClr val="EE6A2C"/>
                </a:solidFill>
                <a:latin typeface="Arial"/>
              </a:rPr>
              <a:t>   Makita</a:t>
            </a:r>
          </a:p>
          <a:p>
            <a:pPr algn="l">
              <a:spcAft>
                <a:spcPts val="500"/>
              </a:spcAft>
            </a:pPr>
            <a:r>
              <a:rPr sz="1100" b="1" i="0">
                <a:solidFill>
                  <a:srgbClr val="111111"/>
                </a:solidFill>
                <a:latin typeface="Arial"/>
              </a:rPr>
              <a:t>béton</a:t>
            </a:r>
            <a:r>
              <a:rPr sz="1100" b="0" i="0">
                <a:solidFill>
                  <a:srgbClr val="555B66"/>
                </a:solidFill>
                <a:latin typeface="Arial"/>
              </a:rPr>
              <a:t>   élagage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37888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EXEMPLES DE REQUÊTES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437888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Questions posées aux IA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437888" y="426720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59808" y="426720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791456" y="426720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 outil Makita je devrais acheter en premier pour mon atelier ?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437888" y="463296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559808" y="463296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791456" y="463296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Quelle perceuse pour percer du béton et poser des étagères ?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437888" y="499872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4559808" y="499872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791456" y="499872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C'est quoi la perceuse visseuse idéale pour bricoler à la maison ?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437888" y="536448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4559808" y="536448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4791456" y="536448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Un compresseur 50 L suffit-il pour un usage domestique ?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437888" y="5730240"/>
            <a:ext cx="2913888" cy="304800"/>
          </a:xfrm>
          <a:prstGeom prst="rect">
            <a:avLst/>
          </a:prstGeom>
          <a:solidFill>
            <a:srgbClr val="F1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59808" y="5730240"/>
            <a:ext cx="18288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555B66"/>
                </a:solidFill>
                <a:latin typeface="Arial"/>
              </a:rPr>
              <a:t>🔍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791456" y="5730240"/>
            <a:ext cx="2499360" cy="30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111111"/>
                </a:solidFill>
                <a:latin typeface="Arial"/>
              </a:rPr>
              <a:t>Je peux utiliser la scie-sabre sans être bricoleur ?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01584" y="3767328"/>
            <a:ext cx="292608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5B66"/>
                </a:solidFill>
                <a:latin typeface="Arial"/>
              </a:rPr>
              <a:t>CATÉGORIES DE PRODUITS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01584" y="3992880"/>
            <a:ext cx="292608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8A93A6"/>
                </a:solidFill>
                <a:latin typeface="Arial"/>
              </a:rPr>
              <a:t>Répartition des requêtes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607040" y="4175760"/>
            <a:ext cx="518160" cy="12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1" i="0">
                <a:solidFill>
                  <a:srgbClr val="111111"/>
                </a:solidFill>
                <a:latin typeface="Arial"/>
              </a:rPr>
              <a:t>100%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077200" y="4407408"/>
            <a:ext cx="121920" cy="121920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96656" y="4389120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111111"/>
                </a:solidFill>
                <a:latin typeface="Arial"/>
              </a:rPr>
              <a:t>Jardin et entretien extérieur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077200" y="4675632"/>
            <a:ext cx="121920" cy="121920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8296656" y="4657344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Bricolage et électroportatif · 32 %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077200" y="4943856"/>
            <a:ext cx="121920" cy="121920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296656" y="4925568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Nettoyage, maison et automobile · 19 %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77200" y="5212080"/>
            <a:ext cx="121920" cy="121920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8296656" y="5193792"/>
            <a:ext cx="222504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0" i="0">
                <a:solidFill>
                  <a:srgbClr val="111111"/>
                </a:solidFill>
                <a:latin typeface="Arial"/>
              </a:rPr>
              <a:t>Batteries, accessoires et rangement · 4 %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564368" y="4450080"/>
            <a:ext cx="475488" cy="603504"/>
          </a:xfrm>
          <a:prstGeom prst="rect">
            <a:avLst/>
          </a:prstGeom>
          <a:solidFill>
            <a:srgbClr val="1C7C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564368" y="4450080"/>
            <a:ext cx="475488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45 %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0564368" y="5053584"/>
            <a:ext cx="475488" cy="429158"/>
          </a:xfrm>
          <a:prstGeom prst="rect">
            <a:avLst/>
          </a:prstGeom>
          <a:solidFill>
            <a:srgbClr val="7A4E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564368" y="5053584"/>
            <a:ext cx="475488" cy="42915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Arial"/>
              </a:rPr>
              <a:t>32 %</a:t>
            </a:r>
          </a:p>
        </p:txBody>
      </p:sp>
      <p:sp>
        <p:nvSpPr>
          <p:cNvPr id="92" name="Rectangle 91"/>
          <p:cNvSpPr/>
          <p:nvPr/>
        </p:nvSpPr>
        <p:spPr>
          <a:xfrm>
            <a:off x="10564368" y="5482742"/>
            <a:ext cx="475488" cy="254812"/>
          </a:xfrm>
          <a:prstGeom prst="rect">
            <a:avLst/>
          </a:prstGeom>
          <a:solidFill>
            <a:srgbClr val="EB9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10564368" y="5737555"/>
            <a:ext cx="475488" cy="536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" y="121920"/>
            <a:ext cx="11612880" cy="85344"/>
          </a:xfrm>
          <a:prstGeom prst="rect">
            <a:avLst/>
          </a:prstGeom>
          <a:solidFill>
            <a:srgbClr val="EE6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79120" y="426720"/>
            <a:ext cx="73152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INSIGHTS QUALITATIFS · SEPTEMBRE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609600"/>
            <a:ext cx="73152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 i="0">
                <a:solidFill>
                  <a:srgbClr val="111111"/>
                </a:solidFill>
                <a:latin typeface="Arial"/>
              </a:rPr>
              <a:t>Ryobi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499872"/>
            <a:ext cx="188976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500" b="1" i="0">
                <a:solidFill>
                  <a:srgbClr val="111111"/>
                </a:solidFill>
                <a:latin typeface="Arial"/>
              </a:rPr>
              <a:t>Lemrock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9120" y="1219200"/>
            <a:ext cx="91440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E6A2C"/>
                </a:solidFill>
                <a:latin typeface="Arial"/>
              </a:rPr>
              <a:t>OBJECTIF   </a:t>
            </a:r>
            <a:r>
              <a:rPr sz="1300" b="0" i="0">
                <a:solidFill>
                  <a:srgbClr val="111111"/>
                </a:solidFill>
                <a:latin typeface="Arial"/>
              </a:rPr>
              <a:t>Acquérir de nouveaux clients.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1524000"/>
            <a:ext cx="4876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5B66"/>
                </a:solidFill>
                <a:latin typeface="Arial"/>
              </a:rPr>
              <a:t>INSIGHTS QUALITATIFS</a:t>
            </a:r>
          </a:p>
        </p:txBody>
      </p:sp>
      <p:sp>
        <p:nvSpPr>
          <p:cNvPr id="9" name="Rectangle 8"/>
          <p:cNvSpPr/>
          <p:nvPr/>
        </p:nvSpPr>
        <p:spPr>
          <a:xfrm>
            <a:off x="579120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5152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83792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Cibler le premier équipement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152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requêtes portent souvent sur le premier outil à acheter : atelier, perceuse visseuse pour bricoler, compresseur pour un usage domestique.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5152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Présenter les kits de démarrage Ryobi comme le bon premier achat.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92368" y="181660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48400" y="202996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97040" y="204825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Parler à des bricoleurs non experts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48400" y="260908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Les questions montrent une audience peu experte : « Je peux utiliser la scie-sabre sans être bricoleur ? ».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48400" y="331012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Mettre en avant la simplicité d'usage et la polyvalence de la batterie unique.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120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5152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3792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Regagner face à Bosch et Parkside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5152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Ryobi recule à 6,9 % de part de voix (−1,1 pt, 4e) et à 0,8 % des recommandations spontanées des IA, loin de Bosch (43,5 %) et Parkside (21,7 %). Côté ads : 8,2 % (−1,3 pt).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152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Renforcer la présence ads sur les requêtes perceuse et visseuse lors d'une prochaine campagne.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92368" y="4133088"/>
            <a:ext cx="5071872" cy="2121408"/>
          </a:xfrm>
          <a:prstGeom prst="rect">
            <a:avLst/>
          </a:prstGeom>
          <a:solidFill>
            <a:srgbClr val="F6F7F9"/>
          </a:solidFill>
          <a:ln w="9525">
            <a:solidFill>
              <a:srgbClr val="E4E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48400" y="4346448"/>
            <a:ext cx="487680" cy="243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EE6A2C"/>
                </a:solidFill>
                <a:latin typeface="Arial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97040" y="4364736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111111"/>
                </a:solidFill>
                <a:latin typeface="Arial"/>
              </a:rPr>
              <a:t>Un dernier mois plus performant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48400" y="4925568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555B66"/>
                </a:solidFill>
                <a:latin typeface="Arial"/>
              </a:rPr>
              <a:t>Diffusion jusqu'au 24/09 : 5 969 clics (+222 %) et un CTR de 0,52 %. 3 conversions attribuées.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48400" y="5626608"/>
            <a:ext cx="4572000" cy="48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555B66"/>
                </a:solidFill>
                <a:latin typeface="Arial"/>
              </a:rPr>
              <a:t>→  Campagne terminée : partager le bilan pour préparer un renouvellement.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