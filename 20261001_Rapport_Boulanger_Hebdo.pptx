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90" r:id="rId900"/>
    <p:sldId id="291" r:id="rId90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C59758-8992-2B4E-97F0-83694781C42C}" v="2" dt="2026-10-02T08:13:21.532"/>
    <p1510:client id="{D36DD84A-21D1-6D6F-3F98-0C05FFDC8E3D}" v="12" dt="2026-10-02T08:52:47.8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3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22" Type="http://schemas.microsoft.com/office/2015/10/relationships/revisionInfo" Target="revisionInfo.xml"/><Relationship Id="rId900" Type="http://schemas.openxmlformats.org/officeDocument/2006/relationships/slide" Target="slides/slide12.xml"/><Relationship Id="rId901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104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Boulanger</c:v>
                </c:pt>
              </c:strCache>
            </c:strRef>
          </c:tx>
          <c:spPr>
            <a:ln w="25400">
              <a:solidFill>
                <a:srgbClr val="F26B2A"/>
              </a:solidFill>
            </a:ln>
          </c:spPr>
          <c:marker>
            <c:symbol val="circle"/>
            <c:size val="6"/>
            <c:spPr>
              <a:solidFill>
                <a:srgbClr val="F26B2A"/>
              </a:solidFill>
              <a:ln>
                <a:solidFill>
                  <a:srgbClr val="F26B2A"/>
                </a:solidFill>
              </a:ln>
            </c:spPr>
          </c:marker>
          <c:dLbls>
            <c:delete val="1"/>
          </c:dLbls>
          <c:cat>
            <c:strRef>
              <c:f>Sheet1!$A$2:$A$8</c:f>
              <c:strCache>
                <c:ptCount val="7"/>
                <c:pt idx="0">
                  <c:v>11 sept.</c:v>
                </c:pt>
                <c:pt idx="1">
                  <c:v>15 sept.</c:v>
                </c:pt>
                <c:pt idx="2">
                  <c:v>18 sept.</c:v>
                </c:pt>
                <c:pt idx="3">
                  <c:v>22 sept.</c:v>
                </c:pt>
                <c:pt idx="4">
                  <c:v>25 sept.</c:v>
                </c:pt>
                <c:pt idx="5">
                  <c:v>1er oct.</c:v>
                </c:pt>
                <c:pt idx="6">
                  <c:v>8 oct.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13.4</c:v>
                </c:pt>
                <c:pt idx="1">
                  <c:v>13.8</c:v>
                </c:pt>
                <c:pt idx="2">
                  <c:v>14.1</c:v>
                </c:pt>
                <c:pt idx="3">
                  <c:v>14.5</c:v>
                </c:pt>
                <c:pt idx="4">
                  <c:v>14.8</c:v>
                </c:pt>
                <c:pt idx="5">
                  <c:v>15.3</c:v>
                </c:pt>
                <c:pt idx="6">
                  <c:v>15.6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5F6-1145-941C-5C9C8AF558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Moyenne du top 5</c:v>
                </c:pt>
              </c:strCache>
            </c:strRef>
          </c:tx>
          <c:spPr>
            <a:ln w="25400">
              <a:solidFill>
                <a:srgbClr val="98A2B3"/>
              </a:solidFill>
            </a:ln>
          </c:spPr>
          <c:marker>
            <c:symbol val="circle"/>
            <c:size val="6"/>
            <c:spPr>
              <a:solidFill>
                <a:srgbClr val="98A2B3"/>
              </a:solidFill>
              <a:ln>
                <a:solidFill>
                  <a:srgbClr val="98A2B3"/>
                </a:solidFill>
              </a:ln>
            </c:spPr>
          </c:marker>
          <c:dLbls>
            <c:delete val="1"/>
          </c:dLbls>
          <c:cat>
            <c:strRef>
              <c:f>Sheet1!$A$2:$A$8</c:f>
              <c:strCache>
                <c:ptCount val="7"/>
                <c:pt idx="0">
                  <c:v>11 sept.</c:v>
                </c:pt>
                <c:pt idx="1">
                  <c:v>15 sept.</c:v>
                </c:pt>
                <c:pt idx="2">
                  <c:v>18 sept.</c:v>
                </c:pt>
                <c:pt idx="3">
                  <c:v>22 sept.</c:v>
                </c:pt>
                <c:pt idx="4">
                  <c:v>25 sept.</c:v>
                </c:pt>
                <c:pt idx="5">
                  <c:v>1er oct.</c:v>
                </c:pt>
                <c:pt idx="6">
                  <c:v>8 oct.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15.5</c:v>
                </c:pt>
                <c:pt idx="1">
                  <c:v>15.4</c:v>
                </c:pt>
                <c:pt idx="2">
                  <c:v>15.6</c:v>
                </c:pt>
                <c:pt idx="3">
                  <c:v>15.3</c:v>
                </c:pt>
                <c:pt idx="6">
                  <c:v>15.6</c:v>
                </c:pt>
                <c:pt idx="4">
                  <c:v>15.5</c:v>
                </c:pt>
                <c:pt idx="5">
                  <c:v>15.7</c:v>
                </c:pt>
                <c:pt idx="6">
                  <c:v>15.8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5F6-1145-941C-5C9C8AF558C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6B6B6B"/>
                </a:solidFill>
                <a:latin typeface="Inter"/>
              </a:defRPr>
            </a:pPr>
            <a:endParaRPr lang="fr-F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7"/>
          <c:min val="12"/>
        </c:scaling>
        <c:delete val="1"/>
        <c:axPos val="l"/>
        <c:majorGridlines>
          <c:spPr>
            <a:ln w="6350">
              <a:solidFill>
                <a:srgbClr val="ECEBE7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6B6B6B"/>
              </a:solidFill>
              <a:latin typeface="Inter"/>
            </a:defRPr>
          </a:pPr>
          <a:endParaRPr lang="fr-FR"/>
        </a:p>
      </c:txPr>
    </c:legend>
    <c:plotVisOnly val="1"/>
    <c:dispBlanksAs val="gap"/>
    <c:showDLblsOverMax val="0"/>
  </c:chart>
  <c:txPr>
    <a:bodyPr/>
    <a:lstStyle/>
    <a:p>
      <a:pPr>
        <a:defRPr sz="800">
          <a:solidFill>
            <a:srgbClr val="6B6B6B"/>
          </a:solidFill>
          <a:latin typeface="Inter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77194E-A0BD-6243-8FC9-63D2134F9B57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F821B7-4B5E-5A47-8883-371FA3965F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997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821B7-4B5E-5A47-8883-371FA3965F18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881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 spc="200">
                <a:solidFill>
                  <a:srgbClr val="6B6B6B"/>
                </a:solidFill>
                <a:latin typeface="Inter"/>
              </a:rPr>
              <a:t>AGENDA · CE QUE NOUS ALLONS VOIR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A0A0A"/>
                </a:solidFill>
                <a:latin typeface="Inter"/>
              </a:rPr>
              <a:t>Boulanger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1352" y="5486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50" b="1" i="0" spc="200">
                <a:solidFill>
                  <a:srgbClr val="98A2B3"/>
                </a:solidFill>
                <a:latin typeface="Inter"/>
              </a:rPr>
              <a:t>PÉRIODE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1352" y="74980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Inter"/>
              </a:rPr>
              <a:t>24/09/2026 → 30/09/2026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0A0A0A"/>
                </a:solidFill>
                <a:latin typeface="Inter"/>
              </a:rPr>
              <a:t>Revue de performance de la campagne Boulanger, du 24 au 30 septembre 2026.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F26B2A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01368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0A0A0A"/>
                </a:solidFill>
                <a:latin typeface="Inter"/>
              </a:rPr>
              <a:t>Les indicateurs qui comptent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093976"/>
            <a:ext cx="98755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 i="0">
                <a:solidFill>
                  <a:srgbClr val="6B6B6B"/>
                </a:solidFill>
                <a:latin typeface="Inter"/>
              </a:rPr>
              <a:t>Ce que nous pilotons, et comment chaque chiffre se mesure.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9464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69748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F26B2A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715768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0A0A0A"/>
                </a:solidFill>
                <a:latin typeface="Inter"/>
              </a:rPr>
              <a:t>Boulanger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008376"/>
            <a:ext cx="98755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 i="0">
                <a:solidFill>
                  <a:srgbClr val="6B6B6B"/>
                </a:solidFill>
                <a:latin typeface="Inter"/>
              </a:rPr>
              <a:t>Formats diffusés, performance média de la semaine, visibilité dans les réponses des IA et intentions d'achat.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83864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61188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F26B2A"/>
                </a:solidFill>
                <a:latin typeface="Inter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630168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0A0A0A"/>
                </a:solidFill>
                <a:latin typeface="Inter"/>
              </a:rPr>
              <a:t>Pistes de reco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922776"/>
            <a:ext cx="98755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 i="0">
                <a:solidFill>
                  <a:srgbClr val="6B6B6B"/>
                </a:solidFill>
                <a:latin typeface="Inter"/>
              </a:rPr>
              <a:t>Ce que nous proposons pour les prochaines semaines.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 spc="200">
                <a:solidFill>
                  <a:srgbClr val="6B6B6B"/>
                </a:solidFill>
                <a:latin typeface="Inter"/>
              </a:rPr>
              <a:t>LES INDICATEURS QUI COMPTENT · RAPPEL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A0A0A"/>
                </a:solidFill>
                <a:latin typeface="Inter"/>
              </a:rPr>
              <a:t>Boulanger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1352" y="5486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50" b="1" i="0" spc="200">
                <a:solidFill>
                  <a:srgbClr val="98A2B3"/>
                </a:solidFill>
                <a:latin typeface="Inter"/>
              </a:rPr>
              <a:t>PÉRIODE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1352" y="74980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Inter"/>
              </a:rPr>
              <a:t>24/09/2026 → 30/09/2026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7455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0A0A0A"/>
                </a:solidFill>
                <a:latin typeface="Inter"/>
              </a:rPr>
              <a:t>Deux objectifs prioritaires pilotent la campagne. Les secondaires disent comment ils bougent.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82296" cy="82296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" y="1554480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 spc="200">
                <a:solidFill>
                  <a:srgbClr val="0A0A0A"/>
                </a:solidFill>
                <a:latin typeface="Inter"/>
              </a:rPr>
              <a:t>OBJECTIFS PRIORITAIRES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484632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50292" cy="1920240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139696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 i="0" spc="150">
                <a:solidFill>
                  <a:srgbClr val="98A2B3"/>
                </a:solidFill>
                <a:latin typeface="Inte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7744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A0A0A"/>
                </a:solidFill>
                <a:latin typeface="Inter"/>
              </a:rPr>
              <a:t>Part de voix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89504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F26B2A"/>
                </a:solidFill>
                <a:latin typeface="Inter"/>
              </a:rPr>
              <a:t>Renforcer votre visibilité face aux enseignes concurrentes.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10128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6B6B6B"/>
                </a:solidFill>
                <a:latin typeface="Inter"/>
              </a:rPr>
              <a:t>Part des citations de Boulanger parmi l'ensemble des citations d'enseignes de votre catégorie.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05072"/>
            <a:ext cx="484632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4005072"/>
            <a:ext cx="50292" cy="1920240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224528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 i="0" spc="150">
                <a:solidFill>
                  <a:srgbClr val="98A2B3"/>
                </a:solidFill>
                <a:latin typeface="Inter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462272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A0A0A"/>
                </a:solidFill>
                <a:latin typeface="Inter"/>
              </a:rPr>
              <a:t>Trafic LLM qualifié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974336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F26B2A"/>
                </a:solidFill>
                <a:latin typeface="Inter"/>
              </a:rPr>
              <a:t>Amener sur boulanger.com des visiteurs en intention d'achat.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9496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6B6B6B"/>
                </a:solidFill>
                <a:latin typeface="Inter"/>
              </a:rPr>
              <a:t>Visites issues des conversations IA, qualifiées selon l'intention exprimée par l'utilisateur.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600200"/>
            <a:ext cx="82296" cy="82296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43016" y="1554480"/>
            <a:ext cx="589147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 spc="200">
                <a:solidFill>
                  <a:srgbClr val="0A0A0A"/>
                </a:solidFill>
                <a:latin typeface="Inter"/>
              </a:rPr>
              <a:t>OBJECTIFS SECONDAIRES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1920240"/>
            <a:ext cx="6062472" cy="4005072"/>
          </a:xfrm>
          <a:prstGeom prst="rect">
            <a:avLst/>
          </a:prstGeom>
          <a:solidFill>
            <a:srgbClr val="F7F6F4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797296" y="2167128"/>
            <a:ext cx="73152" cy="73152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35040" y="2103120"/>
            <a:ext cx="533095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0A0A0A"/>
                </a:solidFill>
                <a:latin typeface="Inter"/>
              </a:rPr>
              <a:t>Win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2304288"/>
            <a:ext cx="5330952" cy="1308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850">
                <a:solidFill>
                  <a:srgbClr val="6B6B6B"/>
                </a:solidFill>
                <a:latin typeface="Inter"/>
              </a:rPr>
              <a:t>Quand </a:t>
            </a:r>
            <a:r>
              <a:rPr lang="en-US" sz="850" err="1">
                <a:solidFill>
                  <a:srgbClr val="6B6B6B"/>
                </a:solidFill>
                <a:latin typeface="Inter"/>
              </a:rPr>
              <a:t>l'IA</a:t>
            </a:r>
            <a:r>
              <a:rPr lang="en-US" sz="850">
                <a:solidFill>
                  <a:srgbClr val="6B6B6B"/>
                </a:solidFill>
                <a:latin typeface="Inter"/>
              </a:rPr>
              <a:t> compare Boulanger à </a:t>
            </a:r>
            <a:r>
              <a:rPr lang="en-US" sz="850" err="1">
                <a:solidFill>
                  <a:srgbClr val="6B6B6B"/>
                </a:solidFill>
                <a:latin typeface="Inter"/>
              </a:rPr>
              <a:t>une</a:t>
            </a:r>
            <a:r>
              <a:rPr lang="en-US" sz="850">
                <a:solidFill>
                  <a:srgbClr val="6B6B6B"/>
                </a:solidFill>
                <a:latin typeface="Inter"/>
              </a:rPr>
              <a:t> </a:t>
            </a:r>
            <a:r>
              <a:rPr lang="en-US" sz="850" err="1">
                <a:solidFill>
                  <a:srgbClr val="6B6B6B"/>
                </a:solidFill>
                <a:latin typeface="Inter"/>
              </a:rPr>
              <a:t>autre</a:t>
            </a:r>
            <a:r>
              <a:rPr lang="en-US" sz="850">
                <a:solidFill>
                  <a:srgbClr val="6B6B6B"/>
                </a:solidFill>
                <a:latin typeface="Inter"/>
              </a:rPr>
              <a:t> </a:t>
            </a:r>
            <a:r>
              <a:rPr lang="en-US" sz="850" err="1">
                <a:solidFill>
                  <a:srgbClr val="6B6B6B"/>
                </a:solidFill>
                <a:latin typeface="Inter"/>
              </a:rPr>
              <a:t>enseigne</a:t>
            </a:r>
            <a:r>
              <a:rPr lang="en-US" sz="850">
                <a:solidFill>
                  <a:srgbClr val="6B6B6B"/>
                </a:solidFill>
                <a:latin typeface="Inter"/>
              </a:rPr>
              <a:t>, dans </a:t>
            </a:r>
            <a:r>
              <a:rPr lang="en-US" sz="850" err="1">
                <a:solidFill>
                  <a:srgbClr val="6B6B6B"/>
                </a:solidFill>
                <a:latin typeface="Inter"/>
              </a:rPr>
              <a:t>combien</a:t>
            </a:r>
            <a:r>
              <a:rPr lang="en-US" sz="850">
                <a:solidFill>
                  <a:srgbClr val="6B6B6B"/>
                </a:solidFill>
                <a:latin typeface="Inter"/>
              </a:rPr>
              <a:t> de </a:t>
            </a:r>
            <a:r>
              <a:rPr lang="en-US" sz="850" err="1">
                <a:solidFill>
                  <a:srgbClr val="6B6B6B"/>
                </a:solidFill>
                <a:latin typeface="Inter"/>
              </a:rPr>
              <a:t>cas</a:t>
            </a:r>
            <a:r>
              <a:rPr lang="en-US" sz="850">
                <a:solidFill>
                  <a:srgbClr val="6B6B6B"/>
                </a:solidFill>
                <a:latin typeface="Inter"/>
              </a:rPr>
              <a:t> </a:t>
            </a:r>
            <a:r>
              <a:rPr lang="en-US" sz="850" err="1">
                <a:solidFill>
                  <a:srgbClr val="6B6B6B"/>
                </a:solidFill>
                <a:latin typeface="Inter"/>
              </a:rPr>
              <a:t>l’utilisateur</a:t>
            </a:r>
            <a:r>
              <a:rPr lang="en-US" sz="850">
                <a:solidFill>
                  <a:srgbClr val="6B6B6B"/>
                </a:solidFill>
                <a:latin typeface="Inter"/>
              </a:rPr>
              <a:t> clique sur </a:t>
            </a:r>
            <a:r>
              <a:rPr lang="en-US" sz="850" err="1">
                <a:solidFill>
                  <a:srgbClr val="6B6B6B"/>
                </a:solidFill>
                <a:latin typeface="Inter"/>
              </a:rPr>
              <a:t>l'ad</a:t>
            </a:r>
            <a:r>
              <a:rPr lang="en-US" sz="850">
                <a:solidFill>
                  <a:srgbClr val="6B6B6B"/>
                </a:solidFill>
                <a:latin typeface="Inter"/>
              </a:rPr>
              <a:t> Boulanger ? ​</a:t>
            </a:r>
            <a:endParaRPr sz="850">
              <a:solidFill>
                <a:srgbClr val="6B6B6B"/>
              </a:solidFill>
              <a:latin typeface="Inter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797296" y="2780690"/>
            <a:ext cx="5568696" cy="9144"/>
          </a:xfrm>
          <a:prstGeom prst="rect">
            <a:avLst/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97296" y="2894990"/>
            <a:ext cx="73152" cy="73152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35040" y="2830982"/>
            <a:ext cx="533095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0A0A0A"/>
                </a:solidFill>
                <a:latin typeface="Inter"/>
              </a:rPr>
              <a:t>Taux de première apparition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3032150"/>
            <a:ext cx="533095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6B6B6B"/>
                </a:solidFill>
                <a:latin typeface="Inter"/>
              </a:rPr>
              <a:t>Part des conversations où Boulanger est cité dès la première réponse de l'IA.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97296" y="3508552"/>
            <a:ext cx="5568696" cy="9144"/>
          </a:xfrm>
          <a:prstGeom prst="rect">
            <a:avLst/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797296" y="3622852"/>
            <a:ext cx="73152" cy="73152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35040" y="3558844"/>
            <a:ext cx="533095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0A0A0A"/>
                </a:solidFill>
                <a:latin typeface="Inter"/>
              </a:rPr>
              <a:t>Taux d'exclusivité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3760012"/>
            <a:ext cx="533095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6B6B6B"/>
                </a:solidFill>
                <a:latin typeface="Inter"/>
              </a:rPr>
              <a:t>Part des </a:t>
            </a:r>
            <a:r>
              <a:rPr sz="850" b="0" i="0" err="1">
                <a:solidFill>
                  <a:srgbClr val="6B6B6B"/>
                </a:solidFill>
                <a:latin typeface="Inter"/>
              </a:rPr>
              <a:t>réponses</a:t>
            </a:r>
            <a:r>
              <a:rPr sz="850" b="0" i="0">
                <a:solidFill>
                  <a:srgbClr val="6B6B6B"/>
                </a:solidFill>
                <a:latin typeface="Inter"/>
              </a:rPr>
              <a:t> qui </a:t>
            </a:r>
            <a:r>
              <a:rPr sz="850" b="0" i="0" err="1">
                <a:solidFill>
                  <a:srgbClr val="6B6B6B"/>
                </a:solidFill>
                <a:latin typeface="Inter"/>
              </a:rPr>
              <a:t>citent</a:t>
            </a:r>
            <a:r>
              <a:rPr sz="850" b="0" i="0">
                <a:solidFill>
                  <a:srgbClr val="6B6B6B"/>
                </a:solidFill>
                <a:latin typeface="Inter"/>
              </a:rPr>
              <a:t> Boulanger sans </a:t>
            </a:r>
            <a:r>
              <a:rPr sz="850" b="0" i="0" err="1">
                <a:solidFill>
                  <a:srgbClr val="6B6B6B"/>
                </a:solidFill>
                <a:latin typeface="Inter"/>
              </a:rPr>
              <a:t>mentionner</a:t>
            </a:r>
            <a:r>
              <a:rPr sz="850" b="0" i="0">
                <a:solidFill>
                  <a:srgbClr val="6B6B6B"/>
                </a:solidFill>
                <a:latin typeface="Inter"/>
              </a:rPr>
              <a:t> </a:t>
            </a:r>
            <a:r>
              <a:rPr sz="850" b="0" i="0" err="1">
                <a:solidFill>
                  <a:srgbClr val="6B6B6B"/>
                </a:solidFill>
                <a:latin typeface="Inter"/>
              </a:rPr>
              <a:t>d'enseigne</a:t>
            </a:r>
            <a:r>
              <a:rPr sz="850" b="0" i="0">
                <a:solidFill>
                  <a:srgbClr val="6B6B6B"/>
                </a:solidFill>
                <a:latin typeface="Inter"/>
              </a:rPr>
              <a:t> </a:t>
            </a:r>
            <a:r>
              <a:rPr sz="850" b="0" i="0" err="1">
                <a:solidFill>
                  <a:srgbClr val="6B6B6B"/>
                </a:solidFill>
                <a:latin typeface="Inter"/>
              </a:rPr>
              <a:t>concurrente</a:t>
            </a:r>
            <a:r>
              <a:rPr sz="850" b="0" i="0">
                <a:solidFill>
                  <a:srgbClr val="6B6B6B"/>
                </a:solidFill>
                <a:latin typeface="Inter"/>
              </a:rPr>
              <a:t>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97296" y="4236415"/>
            <a:ext cx="5568696" cy="9144"/>
          </a:xfrm>
          <a:prstGeom prst="rect">
            <a:avLst/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797296" y="4350715"/>
            <a:ext cx="73152" cy="73152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35040" y="4286707"/>
            <a:ext cx="533095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0A0A0A"/>
                </a:solidFill>
                <a:latin typeface="Inter"/>
              </a:rPr>
              <a:t>Intentions d'achat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4487875"/>
            <a:ext cx="533095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6B6B6B"/>
                </a:solidFill>
                <a:latin typeface="Inter"/>
              </a:rPr>
              <a:t>Les familles de questions que votre audience pose aux IA avant d'acheter, et la présence de Boulanger sur chacune.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97296" y="4964277"/>
            <a:ext cx="5568696" cy="9144"/>
          </a:xfrm>
          <a:prstGeom prst="rect">
            <a:avLst/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797296" y="5078577"/>
            <a:ext cx="73152" cy="73152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035040" y="5014569"/>
            <a:ext cx="41422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0A0A0A"/>
                </a:solidFill>
                <a:latin typeface="Inter"/>
              </a:rPr>
              <a:t>Conversions — attribution conversationnelle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68712" y="5023713"/>
            <a:ext cx="10972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268712" y="5023713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 spc="80">
                <a:solidFill>
                  <a:srgbClr val="6B6B6B"/>
                </a:solidFill>
                <a:latin typeface="Inter"/>
              </a:rPr>
              <a:t>EN DÉPLOIEMENT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5215737"/>
            <a:ext cx="533095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6B6B6B"/>
                </a:solidFill>
                <a:latin typeface="Inter"/>
              </a:rPr>
              <a:t>Ventes attribuées aux clics provenant des conversations IA, mesurées par le conversion tracker posé sur boulanger.com.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6053328"/>
            <a:ext cx="11274552" cy="475488"/>
          </a:xfrm>
          <a:prstGeom prst="rect">
            <a:avLst/>
          </a:prstGeom>
          <a:solidFill>
            <a:srgbClr val="F7F6F4"/>
          </a:solidFill>
          <a:ln w="12700">
            <a:solidFill>
              <a:srgbClr val="F7F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94360" y="6053328"/>
            <a:ext cx="11000232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Cette semaine, la part de voix gagne 0,3 point, mais le trafic qualifié recule de 11,3 %.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11887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110">
                <a:solidFill>
                  <a:srgbClr val="F26B2A"/>
                </a:solidFill>
                <a:latin typeface="Inter"/>
              </a:rPr>
              <a:t>01 INDICATEURS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0" i="0" spc="110">
                <a:solidFill>
                  <a:srgbClr val="A8A49C"/>
                </a:solidFill>
                <a:latin typeface="Inter"/>
              </a:rPr>
              <a:t>02 BOULANGER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0" i="0" spc="110">
                <a:solidFill>
                  <a:srgbClr val="A8A49C"/>
                </a:solidFill>
                <a:latin typeface="Inter"/>
              </a:rPr>
              <a:t>03 PISTES DE RECO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 spc="200">
                <a:solidFill>
                  <a:srgbClr val="6B6B6B"/>
                </a:solidFill>
                <a:latin typeface="Inter"/>
              </a:rPr>
              <a:t>FORMATS PUBLICITAIRES · CE QUE VOIT L'UTILISATEUR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A0A0A"/>
                </a:solidFill>
                <a:latin typeface="Inter"/>
              </a:rPr>
              <a:t>Boulanger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1352" y="5486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50" b="1" i="0" spc="200">
                <a:solidFill>
                  <a:srgbClr val="98A2B3"/>
                </a:solidFill>
                <a:latin typeface="Inter"/>
              </a:rPr>
              <a:t>PÉRIODE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1352" y="74980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Inter"/>
              </a:rPr>
              <a:t>24/09/2026 → 30/09/2026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6675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0A0A0A"/>
                </a:solidFill>
                <a:latin typeface="Inter"/>
              </a:rPr>
              <a:t>Vos 3 formats - campagne en cours depuis le 28 août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59752" y="109728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Inter"/>
              </a:rPr>
              <a:t>Budget mensuel  </a:t>
            </a:r>
            <a:r>
              <a:rPr sz="1000" b="1" i="0">
                <a:solidFill>
                  <a:srgbClr val="0A0A0A"/>
                </a:solidFill>
                <a:latin typeface="Inter"/>
              </a:rPr>
              <a:t>10 000 €</a:t>
            </a:r>
            <a:r>
              <a:rPr sz="1000" b="0" i="0">
                <a:solidFill>
                  <a:srgbClr val="6B6B6B"/>
                </a:solidFill>
                <a:latin typeface="Inter"/>
              </a:rPr>
              <a:t>     ·     Activation le  </a:t>
            </a:r>
            <a:r>
              <a:rPr sz="1000" b="1" i="0">
                <a:solidFill>
                  <a:srgbClr val="0A0A0A"/>
                </a:solidFill>
                <a:latin typeface="Inter"/>
              </a:rPr>
              <a:t>28 août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82296" cy="82296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" y="1417320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 spc="200">
                <a:solidFill>
                  <a:srgbClr val="0A0A0A"/>
                </a:solidFill>
                <a:latin typeface="Inter"/>
              </a:rPr>
              <a:t>LES TROIS FORMATS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4378" y="1700784"/>
            <a:ext cx="38862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5546" y="1847088"/>
            <a:ext cx="348386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1" spc="150">
                <a:solidFill>
                  <a:srgbClr val="0A0A0A"/>
                </a:solidFill>
                <a:latin typeface="Inter"/>
              </a:rPr>
              <a:t>1 · CARROUSEL PRODUIT SPONSORISÉ</a:t>
            </a:r>
          </a:p>
        </p:txBody>
      </p:sp>
      <p:pic>
        <p:nvPicPr>
          <p:cNvPr id="12" name="Picture 11" descr="fm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" y="2542032"/>
            <a:ext cx="3483864" cy="262290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152290" y="1700784"/>
            <a:ext cx="38862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53458" y="1847088"/>
            <a:ext cx="348386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1" spc="150">
                <a:solidFill>
                  <a:srgbClr val="0A0A0A"/>
                </a:solidFill>
                <a:latin typeface="Inter"/>
              </a:rPr>
              <a:t>2 · QUESTION SUGGÉRÉE SPONSORISÉE</a:t>
            </a:r>
          </a:p>
        </p:txBody>
      </p:sp>
      <p:pic>
        <p:nvPicPr>
          <p:cNvPr id="15" name="Picture 14" descr="fm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458" y="2542032"/>
            <a:ext cx="3483864" cy="1990207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020202" y="1700784"/>
            <a:ext cx="38862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1370" y="1847088"/>
            <a:ext cx="348386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1" spc="150">
                <a:solidFill>
                  <a:srgbClr val="0A0A0A"/>
                </a:solidFill>
                <a:latin typeface="Inter"/>
              </a:rPr>
              <a:t>3 · TEXT ADS SUR QWANT</a:t>
            </a:r>
          </a:p>
        </p:txBody>
      </p:sp>
      <p:pic>
        <p:nvPicPr>
          <p:cNvPr id="18" name="Picture 17" descr="fmt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1370" y="2542032"/>
            <a:ext cx="3483864" cy="204015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5897880"/>
            <a:ext cx="1127455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00" b="0" i="0">
                <a:solidFill>
                  <a:srgbClr val="6B6B6B"/>
                </a:solidFill>
                <a:latin typeface="Inter"/>
              </a:rPr>
              <a:t>Les trois formats sont servis dans le même inventaire éditorial, au moment où l'utilisateur exprime son intention d'achat.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1887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 spc="110">
                <a:solidFill>
                  <a:srgbClr val="A8A49C"/>
                </a:solidFill>
                <a:latin typeface="Inter"/>
              </a:rPr>
              <a:t>01 INDICATEURS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1" i="0" spc="110">
                <a:solidFill>
                  <a:srgbClr val="F26B2A"/>
                </a:solidFill>
                <a:latin typeface="Inter"/>
              </a:rPr>
              <a:t>02 BOULANGER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0" i="0" spc="110">
                <a:solidFill>
                  <a:srgbClr val="A8A49C"/>
                </a:solidFill>
                <a:latin typeface="Inter"/>
              </a:rPr>
              <a:t>03 PISTES DE RECO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 spc="200">
                <a:solidFill>
                  <a:srgbClr val="6B6B6B"/>
                </a:solidFill>
                <a:latin typeface="Inter"/>
              </a:rPr>
              <a:t>RAPPORT DE PERFORMANCE · PÉRIODE ANALYSÉE 24/09/2026 → 30/09/2026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A0A0A"/>
                </a:solidFill>
                <a:latin typeface="Inter"/>
              </a:rPr>
              <a:t>Boulanger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1352" y="5486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50" b="1" i="0" spc="200">
                <a:solidFill>
                  <a:srgbClr val="98A2B3"/>
                </a:solidFill>
                <a:latin typeface="Inter"/>
              </a:rPr>
              <a:t>COMPARAISON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1352" y="74980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Inter"/>
              </a:rPr>
              <a:t>vs 17/09/2026 → 23/09/2026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7316" y="1137513"/>
            <a:ext cx="4572000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0A0A0A"/>
                </a:solidFill>
                <a:latin typeface="Inter"/>
              </a:rPr>
              <a:t>Campagne lancée le 28 août 2026</a:t>
            </a:r>
            <a:r>
              <a:rPr sz="1000" b="0" i="0">
                <a:solidFill>
                  <a:srgbClr val="6B6B6B"/>
                </a:solidFill>
                <a:latin typeface="Inter"/>
              </a:rPr>
              <a:t>   ·   34 jours de diffusion   ·   statut :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63056" y="1033271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50">
                <a:solidFill>
                  <a:srgbClr val="6B6B6B"/>
                </a:solidFill>
                <a:latin typeface="Inter"/>
              </a:rPr>
              <a:t>BUDGET CONSOMMÉ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014984"/>
            <a:ext cx="441655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0A0A0A"/>
                </a:solidFill>
                <a:latin typeface="Inter"/>
              </a:rPr>
              <a:t>4 879,75 €</a:t>
            </a:r>
            <a:r>
              <a:rPr sz="1000" b="0" i="0">
                <a:solidFill>
                  <a:srgbClr val="6B6B6B"/>
                </a:solidFill>
                <a:latin typeface="Inter"/>
              </a:rPr>
              <a:t>  sur  10 000 €   ·   </a:t>
            </a:r>
            <a:r>
              <a:rPr sz="1000" b="1" i="0">
                <a:solidFill>
                  <a:srgbClr val="F26B2A"/>
                </a:solidFill>
                <a:latin typeface="Inter"/>
              </a:rPr>
              <a:t>49 %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1298448"/>
            <a:ext cx="5568696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63056" y="1298448"/>
            <a:ext cx="2717523" cy="64008"/>
          </a:xfrm>
          <a:prstGeom prst="roundRect">
            <a:avLst>
              <a:gd name="adj" fmla="val 50000"/>
            </a:avLst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442923"/>
            <a:ext cx="82296" cy="82296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1169" y="1397203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 spc="200">
                <a:solidFill>
                  <a:srgbClr val="0A0A0A"/>
                </a:solidFill>
                <a:latin typeface="Inter"/>
              </a:rPr>
              <a:t>PERFORMANCE MÉDIA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43607" y="1389888"/>
            <a:ext cx="1971446" cy="191109"/>
          </a:xfrm>
          <a:prstGeom prst="roundRect">
            <a:avLst>
              <a:gd name="adj" fmla="val 50000"/>
            </a:avLst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43607" y="1389888"/>
            <a:ext cx="1971446" cy="1911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 spc="100">
                <a:solidFill>
                  <a:srgbClr val="FFFFFF"/>
                </a:solidFill>
                <a:latin typeface="Inter"/>
              </a:rPr>
              <a:t>CHIFFRES SUR 1 SEMAINE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64208"/>
            <a:ext cx="1502228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1664208"/>
            <a:ext cx="38717" cy="1417320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4325" y="1792224"/>
            <a:ext cx="12699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50">
                <a:solidFill>
                  <a:srgbClr val="6B6B6B"/>
                </a:solidFill>
                <a:latin typeface="Inter"/>
              </a:rPr>
              <a:t>MENTIONS CONVERSATIONNELLES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325" y="2015337"/>
            <a:ext cx="12699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0A0A0A"/>
                </a:solidFill>
                <a:latin typeface="Inter"/>
              </a:rPr>
              <a:t>1 311 465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325" y="2331720"/>
            <a:ext cx="1207977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>
                <a:solidFill>
                  <a:srgbClr val="6B6B6B"/>
                </a:solidFill>
                <a:latin typeface="Inter"/>
              </a:rPr>
              <a:t>24/09 → 30/09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4325" y="2532888"/>
            <a:ext cx="1207977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4325" y="2606040"/>
            <a:ext cx="77434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>
                <a:solidFill>
                  <a:srgbClr val="6B6B6B"/>
                </a:solidFill>
                <a:latin typeface="Inter"/>
              </a:rPr>
              <a:t>vs 17→23/09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4325" y="2578608"/>
            <a:ext cx="1207977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196B24"/>
                </a:solidFill>
                <a:latin typeface="Inter"/>
              </a:rPr>
              <a:t>▲ +16,7 %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325" y="2825496"/>
            <a:ext cx="46460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0" i="0">
                <a:solidFill>
                  <a:srgbClr val="6B6B6B"/>
                </a:solidFill>
                <a:latin typeface="Inter"/>
              </a:rPr>
              <a:t>YTD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4325" y="2807208"/>
            <a:ext cx="1207977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6B6B6B"/>
                </a:solidFill>
                <a:latin typeface="Inter"/>
              </a:rPr>
              <a:t>4 475 698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87444" y="1664208"/>
            <a:ext cx="1502228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087444" y="1664208"/>
            <a:ext cx="38717" cy="1417320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34569" y="1792224"/>
            <a:ext cx="12699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50">
                <a:solidFill>
                  <a:srgbClr val="6B6B6B"/>
                </a:solidFill>
                <a:latin typeface="Inter"/>
              </a:rPr>
              <a:t>TRAFIC LLM QUALIFIÉ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34569" y="2015337"/>
            <a:ext cx="12699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0A0A0A"/>
                </a:solidFill>
                <a:latin typeface="Inter"/>
              </a:rPr>
              <a:t>6 468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34569" y="2331720"/>
            <a:ext cx="1207977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>
                <a:solidFill>
                  <a:srgbClr val="6B6B6B"/>
                </a:solidFill>
                <a:latin typeface="Inter"/>
              </a:rPr>
              <a:t>24/09 → 30/09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34569" y="2532888"/>
            <a:ext cx="1207977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234569" y="2606040"/>
            <a:ext cx="77434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>
                <a:solidFill>
                  <a:srgbClr val="6B6B6B"/>
                </a:solidFill>
                <a:latin typeface="Inter"/>
              </a:rPr>
              <a:t>vs 17→23/09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34569" y="2578608"/>
            <a:ext cx="1207977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B42318"/>
                </a:solidFill>
                <a:latin typeface="Inter"/>
              </a:rPr>
              <a:t>▼ -11,3 %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34569" y="2825496"/>
            <a:ext cx="46460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0" i="0">
                <a:solidFill>
                  <a:srgbClr val="6B6B6B"/>
                </a:solidFill>
                <a:latin typeface="Inter"/>
              </a:rPr>
              <a:t>YTD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34569" y="2807208"/>
            <a:ext cx="1207977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6B6B6B"/>
                </a:solidFill>
                <a:latin typeface="Inter"/>
              </a:rPr>
              <a:t>26 646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17688" y="1664208"/>
            <a:ext cx="1502228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717688" y="1664208"/>
            <a:ext cx="38717" cy="1417320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864813" y="1792224"/>
            <a:ext cx="12699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50">
                <a:solidFill>
                  <a:srgbClr val="6B6B6B"/>
                </a:solidFill>
                <a:latin typeface="Inter"/>
              </a:rPr>
              <a:t>CTR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64813" y="2015337"/>
            <a:ext cx="12699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0A0A0A"/>
                </a:solidFill>
                <a:latin typeface="Inter"/>
              </a:rPr>
              <a:t>0,49 %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64813" y="2331720"/>
            <a:ext cx="1207977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>
                <a:solidFill>
                  <a:srgbClr val="6B6B6B"/>
                </a:solidFill>
                <a:latin typeface="Inter"/>
              </a:rPr>
              <a:t>24/09 → 30/09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64813" y="2532888"/>
            <a:ext cx="1207977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64813" y="2606040"/>
            <a:ext cx="77434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>
                <a:solidFill>
                  <a:srgbClr val="6B6B6B"/>
                </a:solidFill>
                <a:latin typeface="Inter"/>
              </a:rPr>
              <a:t>vs 17→23/09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64813" y="2578608"/>
            <a:ext cx="1207977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B42318"/>
                </a:solidFill>
                <a:latin typeface="Inter"/>
              </a:rPr>
              <a:t>▼ -0,16 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64813" y="2825496"/>
            <a:ext cx="46460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0" i="0">
                <a:solidFill>
                  <a:srgbClr val="6B6B6B"/>
                </a:solidFill>
                <a:latin typeface="Inter"/>
              </a:rPr>
              <a:t>YTD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64813" y="2807208"/>
            <a:ext cx="1207977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6B6B6B"/>
                </a:solidFill>
                <a:latin typeface="Inter"/>
              </a:rPr>
              <a:t>0,60 %</a:t>
            </a:r>
          </a:p>
        </p:txBody>
      </p:sp>
      <p:sp>
        <p:nvSpPr>
          <p:cNvPr id="1001" name="Rectangle 64"/>
          <p:cNvSpPr/>
          <p:nvPr/>
        </p:nvSpPr>
        <p:spPr>
          <a:xfrm>
            <a:off x="5347932" y="1664208"/>
            <a:ext cx="1502228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2" name="Rectangle 65"/>
          <p:cNvSpPr/>
          <p:nvPr/>
        </p:nvSpPr>
        <p:spPr>
          <a:xfrm>
            <a:off x="5347932" y="1664208"/>
            <a:ext cx="38717" cy="1417320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3" name="TextBox 66"/>
          <p:cNvSpPr txBox="1"/>
          <p:nvPr/>
        </p:nvSpPr>
        <p:spPr>
          <a:xfrm>
            <a:off x="5495057" y="1792224"/>
            <a:ext cx="12699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50">
                <a:solidFill>
                  <a:srgbClr val="6B6B6B"/>
                </a:solidFill>
                <a:latin typeface="Inter"/>
              </a:rPr>
              <a:t>CONVERSIONS LAST CLICK</a:t>
            </a:r>
          </a:p>
        </p:txBody>
      </p:sp>
      <p:sp>
        <p:nvSpPr>
          <p:cNvPr id="1004" name="TextBox 67"/>
          <p:cNvSpPr txBox="1"/>
          <p:nvPr/>
        </p:nvSpPr>
        <p:spPr>
          <a:xfrm>
            <a:off x="5495057" y="2015337"/>
            <a:ext cx="12699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0A0A0A"/>
                </a:solidFill>
                <a:latin typeface="Inter"/>
              </a:rPr>
              <a:t>6</a:t>
            </a:r>
          </a:p>
        </p:txBody>
      </p:sp>
      <p:sp>
        <p:nvSpPr>
          <p:cNvPr id="1005" name="TextBox 68"/>
          <p:cNvSpPr txBox="1"/>
          <p:nvPr/>
        </p:nvSpPr>
        <p:spPr>
          <a:xfrm>
            <a:off x="5495057" y="2331720"/>
            <a:ext cx="1207977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>
                <a:solidFill>
                  <a:srgbClr val="6B6B6B"/>
                </a:solidFill>
                <a:latin typeface="Inter"/>
              </a:rPr>
              <a:t>24/09 → 30/09</a:t>
            </a:r>
          </a:p>
        </p:txBody>
      </p:sp>
      <p:sp>
        <p:nvSpPr>
          <p:cNvPr id="1006" name="Rectangle 69"/>
          <p:cNvSpPr/>
          <p:nvPr/>
        </p:nvSpPr>
        <p:spPr>
          <a:xfrm>
            <a:off x="5495057" y="2532888"/>
            <a:ext cx="1207977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7" name="TextBox 70"/>
          <p:cNvSpPr txBox="1"/>
          <p:nvPr/>
        </p:nvSpPr>
        <p:spPr>
          <a:xfrm>
            <a:off x="5495057" y="2606040"/>
            <a:ext cx="77434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>
                <a:solidFill>
                  <a:srgbClr val="6B6B6B"/>
                </a:solidFill>
                <a:latin typeface="Inter"/>
              </a:rPr>
              <a:t>vs 17→23/09</a:t>
            </a:r>
          </a:p>
        </p:txBody>
      </p:sp>
      <p:sp>
        <p:nvSpPr>
          <p:cNvPr id="1008" name="TextBox 71"/>
          <p:cNvSpPr txBox="1"/>
          <p:nvPr/>
        </p:nvSpPr>
        <p:spPr>
          <a:xfrm>
            <a:off x="5495057" y="2578608"/>
            <a:ext cx="1207977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196B24"/>
                </a:solidFill>
                <a:latin typeface="Inter"/>
              </a:rPr>
              <a:t>▲ +100 % (3)</a:t>
            </a:r>
          </a:p>
        </p:txBody>
      </p:sp>
      <p:sp>
        <p:nvSpPr>
          <p:cNvPr id="1009" name="TextBox 72"/>
          <p:cNvSpPr txBox="1"/>
          <p:nvPr/>
        </p:nvSpPr>
        <p:spPr>
          <a:xfrm>
            <a:off x="5495057" y="2825496"/>
            <a:ext cx="46460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0" i="0">
                <a:solidFill>
                  <a:srgbClr val="6B6B6B"/>
                </a:solidFill>
                <a:latin typeface="Inter"/>
              </a:rPr>
              <a:t>YTD</a:t>
            </a:r>
          </a:p>
        </p:txBody>
      </p:sp>
      <p:sp>
        <p:nvSpPr>
          <p:cNvPr id="1010" name="TextBox 73"/>
          <p:cNvSpPr txBox="1"/>
          <p:nvPr/>
        </p:nvSpPr>
        <p:spPr>
          <a:xfrm>
            <a:off x="5495057" y="2807208"/>
            <a:ext cx="1207977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6B6B6B"/>
                </a:solidFill>
                <a:latin typeface="Inter"/>
              </a:rPr>
              <a:t>15</a:t>
            </a:r>
          </a:p>
        </p:txBody>
      </p:sp>
      <p:sp>
        <p:nvSpPr>
          <p:cNvPr id="1011" name="Rounded Rectangle 45"/>
          <p:cNvSpPr/>
          <p:nvPr/>
        </p:nvSpPr>
        <p:spPr>
          <a:xfrm>
            <a:off x="6114532" y="1545336"/>
            <a:ext cx="658192" cy="237744"/>
          </a:xfrm>
          <a:prstGeom prst="roundRect">
            <a:avLst>
              <a:gd name="adj" fmla="val 50000"/>
            </a:avLst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12" name="TextBox 46"/>
          <p:cNvSpPr txBox="1"/>
          <p:nvPr/>
        </p:nvSpPr>
        <p:spPr>
          <a:xfrm>
            <a:off x="6114532" y="1545336"/>
            <a:ext cx="6581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 spc="100">
                <a:solidFill>
                  <a:srgbClr val="6B6B6B"/>
                </a:solidFill>
                <a:latin typeface="Inter"/>
              </a:rPr>
              <a:t>INDICATIF</a:t>
            </a:r>
          </a:p>
        </p:txBody>
      </p:sp>
      <p:sp>
        <p:nvSpPr>
          <p:cNvPr id="1013" name="Rectangle 64"/>
          <p:cNvSpPr/>
          <p:nvPr/>
        </p:nvSpPr>
        <p:spPr>
          <a:xfrm>
            <a:off x="6978176" y="1664208"/>
            <a:ext cx="1502228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14" name="Rectangle 65"/>
          <p:cNvSpPr/>
          <p:nvPr/>
        </p:nvSpPr>
        <p:spPr>
          <a:xfrm>
            <a:off x="6978176" y="1664208"/>
            <a:ext cx="38717" cy="1417320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15" name="TextBox 66"/>
          <p:cNvSpPr txBox="1"/>
          <p:nvPr/>
        </p:nvSpPr>
        <p:spPr>
          <a:xfrm>
            <a:off x="7125301" y="1792224"/>
            <a:ext cx="12699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50">
                <a:solidFill>
                  <a:srgbClr val="6B6B6B"/>
                </a:solidFill>
                <a:latin typeface="Inter"/>
              </a:rPr>
              <a:t>CVR LAST CLICK</a:t>
            </a:r>
          </a:p>
        </p:txBody>
      </p:sp>
      <p:sp>
        <p:nvSpPr>
          <p:cNvPr id="1016" name="TextBox 67"/>
          <p:cNvSpPr txBox="1"/>
          <p:nvPr/>
        </p:nvSpPr>
        <p:spPr>
          <a:xfrm>
            <a:off x="7125301" y="2015337"/>
            <a:ext cx="12699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0A0A0A"/>
                </a:solidFill>
                <a:latin typeface="Inter"/>
              </a:rPr>
              <a:t>0,29 %</a:t>
            </a:r>
          </a:p>
        </p:txBody>
      </p:sp>
      <p:sp>
        <p:nvSpPr>
          <p:cNvPr id="1017" name="TextBox 68"/>
          <p:cNvSpPr txBox="1"/>
          <p:nvPr/>
        </p:nvSpPr>
        <p:spPr>
          <a:xfrm>
            <a:off x="7125301" y="2331720"/>
            <a:ext cx="1207977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>
                <a:solidFill>
                  <a:srgbClr val="6B6B6B"/>
                </a:solidFill>
                <a:latin typeface="Inter"/>
              </a:rPr>
              <a:t>24/09 → 30/09</a:t>
            </a:r>
          </a:p>
        </p:txBody>
      </p:sp>
      <p:sp>
        <p:nvSpPr>
          <p:cNvPr id="1018" name="Rectangle 69"/>
          <p:cNvSpPr/>
          <p:nvPr/>
        </p:nvSpPr>
        <p:spPr>
          <a:xfrm>
            <a:off x="7125301" y="2532888"/>
            <a:ext cx="1207977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19" name="TextBox 70"/>
          <p:cNvSpPr txBox="1"/>
          <p:nvPr/>
        </p:nvSpPr>
        <p:spPr>
          <a:xfrm>
            <a:off x="7125301" y="2606040"/>
            <a:ext cx="77434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>
                <a:solidFill>
                  <a:srgbClr val="6B6B6B"/>
                </a:solidFill>
                <a:latin typeface="Inter"/>
              </a:rPr>
              <a:t>vs 17→23/09</a:t>
            </a:r>
          </a:p>
        </p:txBody>
      </p:sp>
      <p:sp>
        <p:nvSpPr>
          <p:cNvPr id="1020" name="TextBox 71"/>
          <p:cNvSpPr txBox="1"/>
          <p:nvPr/>
        </p:nvSpPr>
        <p:spPr>
          <a:xfrm>
            <a:off x="7125301" y="2578608"/>
            <a:ext cx="1207977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196B24"/>
                </a:solidFill>
                <a:latin typeface="Inter"/>
              </a:rPr>
              <a:t>▲ +0,17 pt</a:t>
            </a:r>
          </a:p>
        </p:txBody>
      </p:sp>
      <p:sp>
        <p:nvSpPr>
          <p:cNvPr id="1021" name="TextBox 72"/>
          <p:cNvSpPr txBox="1"/>
          <p:nvPr/>
        </p:nvSpPr>
        <p:spPr>
          <a:xfrm>
            <a:off x="7125301" y="2825496"/>
            <a:ext cx="46460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0" i="0">
                <a:solidFill>
                  <a:srgbClr val="6B6B6B"/>
                </a:solidFill>
                <a:latin typeface="Inter"/>
              </a:rPr>
              <a:t>YTD</a:t>
            </a:r>
          </a:p>
        </p:txBody>
      </p:sp>
      <p:sp>
        <p:nvSpPr>
          <p:cNvPr id="1022" name="TextBox 73"/>
          <p:cNvSpPr txBox="1"/>
          <p:nvPr/>
        </p:nvSpPr>
        <p:spPr>
          <a:xfrm>
            <a:off x="7125301" y="2807208"/>
            <a:ext cx="1207977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6B6B6B"/>
                </a:solidFill>
                <a:latin typeface="Inter"/>
              </a:rPr>
              <a:t>0,20 %</a:t>
            </a:r>
          </a:p>
        </p:txBody>
      </p:sp>
      <p:sp>
        <p:nvSpPr>
          <p:cNvPr id="1023" name="Rounded Rectangle 45"/>
          <p:cNvSpPr/>
          <p:nvPr/>
        </p:nvSpPr>
        <p:spPr>
          <a:xfrm>
            <a:off x="7744776" y="1545336"/>
            <a:ext cx="658192" cy="237744"/>
          </a:xfrm>
          <a:prstGeom prst="roundRect">
            <a:avLst>
              <a:gd name="adj" fmla="val 50000"/>
            </a:avLst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24" name="TextBox 46"/>
          <p:cNvSpPr txBox="1"/>
          <p:nvPr/>
        </p:nvSpPr>
        <p:spPr>
          <a:xfrm>
            <a:off x="7744776" y="1545336"/>
            <a:ext cx="6581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 spc="100">
                <a:solidFill>
                  <a:srgbClr val="6B6B6B"/>
                </a:solidFill>
                <a:latin typeface="Inter"/>
              </a:rPr>
              <a:t>INDICATIF</a:t>
            </a:r>
          </a:p>
        </p:txBody>
      </p:sp>
      <p:sp>
        <p:nvSpPr>
          <p:cNvPr id="1025" name="Rectangle 64"/>
          <p:cNvSpPr/>
          <p:nvPr/>
        </p:nvSpPr>
        <p:spPr>
          <a:xfrm>
            <a:off x="8608420" y="1664208"/>
            <a:ext cx="1502228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26" name="Rectangle 65"/>
          <p:cNvSpPr/>
          <p:nvPr/>
        </p:nvSpPr>
        <p:spPr>
          <a:xfrm>
            <a:off x="8608420" y="1664208"/>
            <a:ext cx="38717" cy="1417320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27" name="TextBox 66"/>
          <p:cNvSpPr txBox="1"/>
          <p:nvPr/>
        </p:nvSpPr>
        <p:spPr>
          <a:xfrm>
            <a:off x="8755545" y="1792224"/>
            <a:ext cx="12699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50">
                <a:solidFill>
                  <a:srgbClr val="6B6B6B"/>
                </a:solidFill>
                <a:latin typeface="Inter"/>
              </a:rPr>
              <a:t>CPC MOYEN</a:t>
            </a:r>
          </a:p>
        </p:txBody>
      </p:sp>
      <p:sp>
        <p:nvSpPr>
          <p:cNvPr id="1028" name="TextBox 67"/>
          <p:cNvSpPr txBox="1"/>
          <p:nvPr/>
        </p:nvSpPr>
        <p:spPr>
          <a:xfrm>
            <a:off x="8755545" y="2015337"/>
            <a:ext cx="12699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0A0A0A"/>
                </a:solidFill>
                <a:latin typeface="Inter"/>
              </a:rPr>
              <a:t>0,37 €</a:t>
            </a:r>
          </a:p>
        </p:txBody>
      </p:sp>
      <p:sp>
        <p:nvSpPr>
          <p:cNvPr id="1029" name="TextBox 68"/>
          <p:cNvSpPr txBox="1"/>
          <p:nvPr/>
        </p:nvSpPr>
        <p:spPr>
          <a:xfrm>
            <a:off x="8755545" y="2331720"/>
            <a:ext cx="1207977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>
                <a:solidFill>
                  <a:srgbClr val="6B6B6B"/>
                </a:solidFill>
                <a:latin typeface="Inter"/>
              </a:rPr>
              <a:t>24/09 → 30/09</a:t>
            </a:r>
          </a:p>
        </p:txBody>
      </p:sp>
      <p:sp>
        <p:nvSpPr>
          <p:cNvPr id="1030" name="Rectangle 69"/>
          <p:cNvSpPr/>
          <p:nvPr/>
        </p:nvSpPr>
        <p:spPr>
          <a:xfrm>
            <a:off x="8755545" y="2532888"/>
            <a:ext cx="1207977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31" name="TextBox 70"/>
          <p:cNvSpPr txBox="1"/>
          <p:nvPr/>
        </p:nvSpPr>
        <p:spPr>
          <a:xfrm>
            <a:off x="8755545" y="2606040"/>
            <a:ext cx="77434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>
                <a:solidFill>
                  <a:srgbClr val="6B6B6B"/>
                </a:solidFill>
                <a:latin typeface="Inter"/>
              </a:rPr>
              <a:t>vs 17→23/09</a:t>
            </a:r>
          </a:p>
        </p:txBody>
      </p:sp>
      <p:sp>
        <p:nvSpPr>
          <p:cNvPr id="1032" name="TextBox 71"/>
          <p:cNvSpPr txBox="1"/>
          <p:nvPr/>
        </p:nvSpPr>
        <p:spPr>
          <a:xfrm>
            <a:off x="8755545" y="2578608"/>
            <a:ext cx="1207977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B42318"/>
                </a:solidFill>
                <a:latin typeface="Inter"/>
              </a:rPr>
              <a:t>▲ +26,6 %</a:t>
            </a:r>
          </a:p>
        </p:txBody>
      </p:sp>
      <p:sp>
        <p:nvSpPr>
          <p:cNvPr id="1033" name="TextBox 72"/>
          <p:cNvSpPr txBox="1"/>
          <p:nvPr/>
        </p:nvSpPr>
        <p:spPr>
          <a:xfrm>
            <a:off x="8755545" y="2825496"/>
            <a:ext cx="46460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0" i="0">
                <a:solidFill>
                  <a:srgbClr val="6B6B6B"/>
                </a:solidFill>
                <a:latin typeface="Inter"/>
              </a:rPr>
              <a:t>YTD</a:t>
            </a:r>
          </a:p>
        </p:txBody>
      </p:sp>
      <p:sp>
        <p:nvSpPr>
          <p:cNvPr id="1034" name="TextBox 73"/>
          <p:cNvSpPr txBox="1"/>
          <p:nvPr/>
        </p:nvSpPr>
        <p:spPr>
          <a:xfrm>
            <a:off x="8755545" y="2807208"/>
            <a:ext cx="1207977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6B6B6B"/>
                </a:solidFill>
                <a:latin typeface="Inter"/>
              </a:rPr>
              <a:t>0,27 €</a:t>
            </a:r>
          </a:p>
        </p:txBody>
      </p:sp>
      <p:sp>
        <p:nvSpPr>
          <p:cNvPr id="1035" name="Rectangle 64"/>
          <p:cNvSpPr/>
          <p:nvPr/>
        </p:nvSpPr>
        <p:spPr>
          <a:xfrm>
            <a:off x="10238664" y="1664208"/>
            <a:ext cx="1502228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36" name="Rectangle 65"/>
          <p:cNvSpPr/>
          <p:nvPr/>
        </p:nvSpPr>
        <p:spPr>
          <a:xfrm>
            <a:off x="10238664" y="1664208"/>
            <a:ext cx="38717" cy="1417320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37" name="TextBox 66"/>
          <p:cNvSpPr txBox="1"/>
          <p:nvPr/>
        </p:nvSpPr>
        <p:spPr>
          <a:xfrm>
            <a:off x="10385789" y="1792224"/>
            <a:ext cx="12699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50">
                <a:solidFill>
                  <a:srgbClr val="6B6B6B"/>
                </a:solidFill>
                <a:latin typeface="Inter"/>
              </a:rPr>
              <a:t>PANIER MOYEN</a:t>
            </a:r>
          </a:p>
        </p:txBody>
      </p:sp>
      <p:sp>
        <p:nvSpPr>
          <p:cNvPr id="1038" name="TextBox 67"/>
          <p:cNvSpPr txBox="1"/>
          <p:nvPr/>
        </p:nvSpPr>
        <p:spPr>
          <a:xfrm>
            <a:off x="10385789" y="2015337"/>
            <a:ext cx="12699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0A0A0A"/>
                </a:solidFill>
                <a:latin typeface="Inter"/>
              </a:rPr>
              <a:t>148,11 €</a:t>
            </a:r>
          </a:p>
        </p:txBody>
      </p:sp>
      <p:sp>
        <p:nvSpPr>
          <p:cNvPr id="1039" name="TextBox 68"/>
          <p:cNvSpPr txBox="1"/>
          <p:nvPr/>
        </p:nvSpPr>
        <p:spPr>
          <a:xfrm>
            <a:off x="10385789" y="2331720"/>
            <a:ext cx="1207977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>
                <a:solidFill>
                  <a:srgbClr val="6B6B6B"/>
                </a:solidFill>
                <a:latin typeface="Inter"/>
              </a:rPr>
              <a:t>24/09 → 30/09</a:t>
            </a:r>
          </a:p>
        </p:txBody>
      </p:sp>
      <p:sp>
        <p:nvSpPr>
          <p:cNvPr id="1040" name="Rectangle 69"/>
          <p:cNvSpPr/>
          <p:nvPr/>
        </p:nvSpPr>
        <p:spPr>
          <a:xfrm>
            <a:off x="10385789" y="2532888"/>
            <a:ext cx="1207977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41" name="TextBox 70"/>
          <p:cNvSpPr txBox="1"/>
          <p:nvPr/>
        </p:nvSpPr>
        <p:spPr>
          <a:xfrm>
            <a:off x="10385789" y="2606040"/>
            <a:ext cx="77434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>
                <a:solidFill>
                  <a:srgbClr val="6B6B6B"/>
                </a:solidFill>
                <a:latin typeface="Inter"/>
              </a:rPr>
              <a:t>vs 17→23/09</a:t>
            </a:r>
          </a:p>
        </p:txBody>
      </p:sp>
      <p:sp>
        <p:nvSpPr>
          <p:cNvPr id="1042" name="TextBox 71"/>
          <p:cNvSpPr txBox="1"/>
          <p:nvPr/>
        </p:nvSpPr>
        <p:spPr>
          <a:xfrm>
            <a:off x="10385789" y="2578608"/>
            <a:ext cx="1207977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196B24"/>
                </a:solidFill>
                <a:latin typeface="Inter"/>
              </a:rPr>
              <a:t>▲ +4,2 %</a:t>
            </a:r>
          </a:p>
        </p:txBody>
      </p:sp>
      <p:sp>
        <p:nvSpPr>
          <p:cNvPr id="1043" name="TextBox 72"/>
          <p:cNvSpPr txBox="1"/>
          <p:nvPr/>
        </p:nvSpPr>
        <p:spPr>
          <a:xfrm>
            <a:off x="10385789" y="2825496"/>
            <a:ext cx="46460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0" i="0">
                <a:solidFill>
                  <a:srgbClr val="6B6B6B"/>
                </a:solidFill>
                <a:latin typeface="Inter"/>
              </a:rPr>
              <a:t>YTD</a:t>
            </a:r>
          </a:p>
        </p:txBody>
      </p:sp>
      <p:sp>
        <p:nvSpPr>
          <p:cNvPr id="1044" name="TextBox 73"/>
          <p:cNvSpPr txBox="1"/>
          <p:nvPr/>
        </p:nvSpPr>
        <p:spPr>
          <a:xfrm>
            <a:off x="10385789" y="2807208"/>
            <a:ext cx="1207977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6B6B6B"/>
                </a:solidFill>
                <a:latin typeface="Inter"/>
              </a:rPr>
              <a:t>140,21 €</a:t>
            </a:r>
          </a:p>
        </p:txBody>
      </p:sp>
      <p:sp>
        <p:nvSpPr>
          <p:cNvPr id="75" name="Isosceles Triangle 74"/>
          <p:cNvSpPr/>
          <p:nvPr/>
        </p:nvSpPr>
        <p:spPr>
          <a:xfrm>
            <a:off x="6786152" y="3172968"/>
            <a:ext cx="256032" cy="146304"/>
          </a:xfrm>
          <a:prstGeom prst="triangle">
            <a:avLst/>
          </a:prstGeom>
          <a:solidFill>
            <a:srgbClr val="EDEBE7"/>
          </a:solidFill>
          <a:ln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6163056" y="3310128"/>
            <a:ext cx="5568696" cy="566928"/>
          </a:xfrm>
          <a:prstGeom prst="roundRect">
            <a:avLst>
              <a:gd name="adj" fmla="val 12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345936" y="3310128"/>
            <a:ext cx="5202936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>
                <a:solidFill>
                  <a:srgbClr val="6B6B6B"/>
                </a:solidFill>
                <a:latin typeface="Inter"/>
              </a:rPr>
              <a:t>Premières conversions remontées : </a:t>
            </a:r>
            <a:r>
              <a:rPr sz="950" b="0" i="0">
                <a:solidFill>
                  <a:srgbClr val="6B6B6B"/>
                </a:solidFill>
                <a:latin typeface="Inter"/>
              </a:rPr>
              <a:t>6 ventes attribuées sur la semaine (3 la semaine précédente), pour un panier moyen de 148,11 €. Volumes encore faibles : chiffres indicatifs tant que la réconciliation avec vos données n'est pas validée.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4114800"/>
            <a:ext cx="82296" cy="82296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30936" y="4069080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 spc="200">
                <a:solidFill>
                  <a:srgbClr val="0A0A0A"/>
                </a:solidFill>
                <a:latin typeface="Inter"/>
              </a:rPr>
              <a:t>VISIBILITÉ DANS LES RÉPONSES DE L'IA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4361688"/>
            <a:ext cx="3636264" cy="1783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85800" y="4544568"/>
            <a:ext cx="317906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50">
                <a:solidFill>
                  <a:srgbClr val="6B6B6B"/>
                </a:solidFill>
                <a:latin typeface="Inter"/>
              </a:rPr>
              <a:t>PART DE VOIX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4800600"/>
            <a:ext cx="317906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 i="0">
                <a:solidFill>
                  <a:srgbClr val="F26B2A"/>
                </a:solidFill>
                <a:latin typeface="Inter"/>
              </a:rPr>
              <a:t>15,6 %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5800" y="5349240"/>
            <a:ext cx="317906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196B24"/>
                </a:solidFill>
                <a:latin typeface="Inter"/>
              </a:rPr>
              <a:t>▲ +0,3 pt</a:t>
            </a:r>
            <a:r>
              <a:rPr sz="900" b="0" i="0">
                <a:solidFill>
                  <a:srgbClr val="6B6B6B"/>
                </a:solidFill>
                <a:latin typeface="Inter"/>
              </a:rPr>
              <a:t>  vs 17→23/09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5800" y="5623559"/>
            <a:ext cx="3179064" cy="521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6B6B6B"/>
                </a:solidFill>
                <a:latin typeface="Inter"/>
              </a:rPr>
              <a:t>Sur 100 mentions d'enseignes du secteur, combien concernent Boulanger ? Base semaine précédente : 15,3 %. Valeur projetée.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276344" y="4361688"/>
            <a:ext cx="3636264" cy="1783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504944" y="4544568"/>
            <a:ext cx="317906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50">
                <a:solidFill>
                  <a:srgbClr val="6B6B6B"/>
                </a:solidFill>
                <a:latin typeface="Inter"/>
              </a:rPr>
              <a:t>LONGUEUR DES REQUÊTES SHOPPING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04944" y="4800600"/>
            <a:ext cx="317906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 i="0">
                <a:solidFill>
                  <a:srgbClr val="F26B2A"/>
                </a:solidFill>
                <a:latin typeface="Inter"/>
              </a:rPr>
              <a:t>8,2 mots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04944" y="5349240"/>
            <a:ext cx="317906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196B24"/>
                </a:solidFill>
                <a:latin typeface="Inter"/>
              </a:rPr>
              <a:t>▲ +2,5 %</a:t>
            </a:r>
            <a:r>
              <a:rPr sz="900" b="0" i="0">
                <a:solidFill>
                  <a:srgbClr val="6B6B6B"/>
                </a:solidFill>
                <a:latin typeface="Inter"/>
              </a:rPr>
              <a:t>  vs 17→23/09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504944" y="5623559"/>
            <a:ext cx="3179064" cy="521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6B6B6B"/>
                </a:solidFill>
                <a:latin typeface="Inter"/>
              </a:rPr>
              <a:t>Mots en moyenne dans les questions shopping posées à l'IA. Mesure réseau Lemrock, identique pour toutes les marques. Base semaine précédente : 8 mots.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95488" y="4361688"/>
            <a:ext cx="3636264" cy="1783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324088" y="4544568"/>
            <a:ext cx="317906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50">
                <a:solidFill>
                  <a:srgbClr val="6B6B6B"/>
                </a:solidFill>
                <a:latin typeface="Inter"/>
              </a:rPr>
              <a:t>TAUX DE PRÉSENCE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324088" y="4800600"/>
            <a:ext cx="317906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 i="0">
                <a:solidFill>
                  <a:srgbClr val="F26B2A"/>
                </a:solidFill>
                <a:latin typeface="Inter"/>
              </a:rPr>
              <a:t>19,0 %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324088" y="5349240"/>
            <a:ext cx="317906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196B24"/>
                </a:solidFill>
                <a:latin typeface="Inter"/>
              </a:rPr>
              <a:t>▲ +0,3 pt</a:t>
            </a:r>
            <a:r>
              <a:rPr sz="900" b="0" i="0">
                <a:solidFill>
                  <a:srgbClr val="6B6B6B"/>
                </a:solidFill>
                <a:latin typeface="Inter"/>
              </a:rPr>
              <a:t>  vs 17→23/09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324088" y="5623559"/>
            <a:ext cx="3179064" cy="521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6B6B6B"/>
                </a:solidFill>
                <a:latin typeface="Inter"/>
              </a:rPr>
              <a:t>Sur 100 réponses de l'IA pertinentes, combien mentionnent Boulanger au moins une fois ? Base semaine précédente : 18,7 %. Valeur projetée.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6208776"/>
            <a:ext cx="11274552" cy="576072"/>
          </a:xfrm>
          <a:prstGeom prst="rect">
            <a:avLst/>
          </a:prstGeom>
          <a:solidFill>
            <a:srgbClr val="FCF6EF"/>
          </a:solidFill>
          <a:ln w="12700">
            <a:solidFill>
              <a:srgbClr val="FCF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457200" y="6208776"/>
            <a:ext cx="64008" cy="576072"/>
          </a:xfrm>
          <a:prstGeom prst="rect">
            <a:avLst/>
          </a:prstGeom>
          <a:solidFill>
            <a:srgbClr val="AB3C00"/>
          </a:solidFill>
          <a:ln w="12700">
            <a:solidFill>
              <a:srgbClr val="AB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786384" y="6291072"/>
            <a:ext cx="10817352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fr-FR" sz="1000" b="1"/>
              <a:t>À retenir. La diffusion progresse, mais les clics reculent et coûtent plus cher ; les premières conversions remontent.</a:t>
            </a:r>
            <a:endParaRPr lang="fr-FR" sz="1000"/>
          </a:p>
          <a:p>
            <a:r>
              <a:rPr lang="fr-FR" sz="1000" b="1"/>
              <a:t>Diffusion et engagement :</a:t>
            </a:r>
            <a:r>
              <a:rPr lang="fr-FR" sz="1000"/>
              <a:t> les mentions progressent de 16,7 %, tandis que le trafic qualifié recule de 11,3 %. Le CTR baisse ainsi de 0,16 point, à 0,49 %.</a:t>
            </a:r>
            <a:endParaRPr lang="fr-FR" sz="1000">
              <a:ea typeface="Calibri"/>
              <a:cs typeface="Calibri"/>
            </a:endParaRPr>
          </a:p>
          <a:p>
            <a:r>
              <a:rPr lang="fr-FR" sz="1000" b="1"/>
              <a:t>Coût et budget :</a:t>
            </a:r>
            <a:r>
              <a:rPr lang="fr-FR" sz="1000"/>
              <a:t> le CPC moyen passe à 0,37 €, soit une hausse de 26,6 %. </a:t>
            </a:r>
            <a:r>
              <a:rPr lang="fr-FR" sz="1000"/>
              <a:t>Côté ventes, 6 conversions last click (CVR 0,29 %, +0,17 pt) pour un panier moyen de 148,11 € (+4,2 %).</a:t>
            </a:r>
            <a:endParaRPr lang="fr-FR" sz="1000">
              <a:ea typeface="Calibri"/>
              <a:cs typeface="Calibri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457200" y="11887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 spc="110">
                <a:solidFill>
                  <a:srgbClr val="A8A49C"/>
                </a:solidFill>
                <a:latin typeface="Inter"/>
              </a:rPr>
              <a:t>01 INDICATEURS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1" i="0" spc="110">
                <a:solidFill>
                  <a:srgbClr val="F26B2A"/>
                </a:solidFill>
                <a:latin typeface="Inter"/>
              </a:rPr>
              <a:t>02 BOULANGER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0" i="0" spc="110">
                <a:solidFill>
                  <a:srgbClr val="A8A49C"/>
                </a:solidFill>
                <a:latin typeface="Inter"/>
              </a:rPr>
              <a:t>03 PISTES DE RECO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 spc="200">
                <a:solidFill>
                  <a:srgbClr val="6B6B6B"/>
                </a:solidFill>
                <a:latin typeface="Inter"/>
              </a:rPr>
              <a:t>VISIBILITÉ DANS LES RÉPONSES DE L'IA · PÉRIODE ANALYSÉE 24/09/2026 → 30/09/2026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A0A0A"/>
                </a:solidFill>
                <a:latin typeface="Inter"/>
              </a:rPr>
              <a:t>Boulanger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1352" y="5486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50" b="1" i="0" spc="200">
                <a:solidFill>
                  <a:srgbClr val="98A2B3"/>
                </a:solidFill>
                <a:latin typeface="Inter"/>
              </a:rPr>
              <a:t>COMPARAISON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1352" y="74980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Inter"/>
              </a:rPr>
              <a:t>vs 17/09/2026 → 23/09/2026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20072" y="109728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20072" y="109728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 spc="100">
                <a:solidFill>
                  <a:srgbClr val="FFFFFF"/>
                </a:solidFill>
                <a:latin typeface="Inter"/>
              </a:rPr>
              <a:t>VALEURS PROJETÉES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11274552" cy="457200"/>
          </a:xfrm>
          <a:prstGeom prst="rect">
            <a:avLst/>
          </a:prstGeom>
          <a:solidFill>
            <a:srgbClr val="F7F6F4"/>
          </a:solidFill>
          <a:ln w="12700">
            <a:solidFill>
              <a:srgbClr val="F7F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>
                <a:solidFill>
                  <a:srgbClr val="F26B2A"/>
                </a:solidFill>
                <a:latin typeface="Inter"/>
              </a:rPr>
              <a:t>Périmètre analysé   </a:t>
            </a:r>
            <a:r>
              <a:rPr sz="950" b="0" i="0">
                <a:solidFill>
                  <a:srgbClr val="0A0A0A"/>
                </a:solidFill>
                <a:latin typeface="Inter"/>
              </a:rPr>
              <a:t>Électroménager, image &amp; son, informatique, téléphonie, confort thermique. Enseignes généralistes et spécialisées du secteur. 10 enseignes suivies.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65960"/>
            <a:ext cx="6492240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0A0A0A"/>
                </a:solidFill>
                <a:latin typeface="Inter"/>
              </a:rPr>
              <a:t>Part de voix dans les réponses de l'IA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41448"/>
            <a:ext cx="594360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 i="0">
                <a:solidFill>
                  <a:srgbClr val="6B6B6B"/>
                </a:solidFill>
                <a:latin typeface="Inter"/>
              </a:rPr>
              <a:t>Boulanger </a:t>
            </a:r>
            <a:r>
              <a:rPr sz="850" b="0" i="0" err="1">
                <a:solidFill>
                  <a:srgbClr val="6B6B6B"/>
                </a:solidFill>
                <a:latin typeface="Inter"/>
              </a:rPr>
              <a:t>reste</a:t>
            </a:r>
            <a:r>
              <a:rPr sz="850" b="0" i="0">
                <a:solidFill>
                  <a:srgbClr val="6B6B6B"/>
                </a:solidFill>
                <a:latin typeface="Inter"/>
              </a:rPr>
              <a:t> 3e sur 10, avec </a:t>
            </a:r>
            <a:r>
              <a:rPr sz="850" b="0" i="0" err="1">
                <a:solidFill>
                  <a:srgbClr val="6B6B6B"/>
                </a:solidFill>
                <a:latin typeface="Inter"/>
              </a:rPr>
              <a:t>une</a:t>
            </a:r>
            <a:r>
              <a:rPr sz="850" b="0" i="0">
                <a:solidFill>
                  <a:srgbClr val="6B6B6B"/>
                </a:solidFill>
                <a:latin typeface="Inter"/>
              </a:rPr>
              <a:t> part de voix de 15,6 %, soit </a:t>
            </a:r>
            <a:r>
              <a:rPr sz="850" b="1" i="0">
                <a:solidFill>
                  <a:srgbClr val="196B24"/>
                </a:solidFill>
                <a:latin typeface="Inter"/>
              </a:rPr>
              <a:t>+0,3 point</a:t>
            </a:r>
            <a:r>
              <a:rPr sz="850" b="0" i="0">
                <a:solidFill>
                  <a:srgbClr val="6B6B6B"/>
                </a:solidFill>
                <a:latin typeface="Inter"/>
              </a:rPr>
              <a:t> vs S-1 (15,3 %)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816352"/>
            <a:ext cx="2926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8A2B3"/>
                </a:solidFill>
                <a:latin typeface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816352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E.Leclerc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88036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337560" y="288036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89320" y="2816352"/>
            <a:ext cx="7132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0A0A0A"/>
                </a:solidFill>
                <a:latin typeface="Inter"/>
              </a:rPr>
              <a:t>20,2 %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136392"/>
            <a:ext cx="2926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8A2B3"/>
                </a:solidFill>
                <a:latin typeface="Inter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136392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Amazon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320040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337560" y="3200400"/>
            <a:ext cx="2477028" cy="64008"/>
          </a:xfrm>
          <a:prstGeom prst="roundRect">
            <a:avLst>
              <a:gd name="adj" fmla="val 50000"/>
            </a:avLst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89320" y="3136392"/>
            <a:ext cx="7132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0A0A0A"/>
                </a:solidFill>
                <a:latin typeface="Inter"/>
              </a:rPr>
              <a:t>19,2 %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456432"/>
            <a:ext cx="2926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26B2A"/>
                </a:solidFill>
                <a:latin typeface="Inter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3456432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0A0A0A"/>
                </a:solidFill>
                <a:latin typeface="Inter"/>
              </a:rPr>
              <a:t>Boulanger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352044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337560" y="3520440"/>
            <a:ext cx="2012585" cy="64008"/>
          </a:xfrm>
          <a:prstGeom prst="roundRect">
            <a:avLst>
              <a:gd name="adj" fmla="val 50000"/>
            </a:avLst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89320" y="3456432"/>
            <a:ext cx="7132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F26B2A"/>
                </a:solidFill>
                <a:latin typeface="Inter"/>
              </a:rPr>
              <a:t>15,6 %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776472"/>
            <a:ext cx="2926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8A2B3"/>
                </a:solidFill>
                <a:latin typeface="Inter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3776472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Carrefour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7560" y="384048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337560" y="3840480"/>
            <a:ext cx="1819067" cy="64008"/>
          </a:xfrm>
          <a:prstGeom prst="roundRect">
            <a:avLst>
              <a:gd name="adj" fmla="val 50000"/>
            </a:avLst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89320" y="3776472"/>
            <a:ext cx="7132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0A0A0A"/>
                </a:solidFill>
                <a:latin typeface="Inter"/>
              </a:rPr>
              <a:t>14,1 %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096512"/>
            <a:ext cx="2926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8A2B3"/>
                </a:solidFill>
                <a:latin typeface="Inter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" y="4096512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Auchan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37560" y="416052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3337560" y="4160520"/>
            <a:ext cx="1251415" cy="64008"/>
          </a:xfrm>
          <a:prstGeom prst="roundRect">
            <a:avLst>
              <a:gd name="adj" fmla="val 50000"/>
            </a:avLst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89320" y="4096512"/>
            <a:ext cx="7132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0A0A0A"/>
                </a:solidFill>
                <a:latin typeface="Inter"/>
              </a:rPr>
              <a:t>9,7 %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4416552"/>
            <a:ext cx="2926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8A2B3"/>
                </a:solidFill>
                <a:latin typeface="Inter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" y="4416552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Cdiscount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37560" y="448056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3337560" y="4480560"/>
            <a:ext cx="1096600" cy="64008"/>
          </a:xfrm>
          <a:prstGeom prst="roundRect">
            <a:avLst>
              <a:gd name="adj" fmla="val 50000"/>
            </a:avLst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989320" y="4416552"/>
            <a:ext cx="7132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0A0A0A"/>
                </a:solidFill>
                <a:latin typeface="Inter"/>
              </a:rPr>
              <a:t>8,5 %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4736592"/>
            <a:ext cx="2926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8A2B3"/>
                </a:solidFill>
                <a:latin typeface="Inter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" y="4736592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Electro Dépôt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37560" y="480060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3337560" y="4800600"/>
            <a:ext cx="722466" cy="64008"/>
          </a:xfrm>
          <a:prstGeom prst="roundRect">
            <a:avLst>
              <a:gd name="adj" fmla="val 50000"/>
            </a:avLst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89320" y="4736592"/>
            <a:ext cx="7132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0A0A0A"/>
                </a:solidFill>
                <a:latin typeface="Inter"/>
              </a:rPr>
              <a:t>5,6 %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5056631"/>
            <a:ext cx="2926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8A2B3"/>
                </a:solidFill>
                <a:latin typeface="Inter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" y="5056631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Darty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337560" y="512064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3337560" y="5120640"/>
            <a:ext cx="503146" cy="64008"/>
          </a:xfrm>
          <a:prstGeom prst="roundRect">
            <a:avLst>
              <a:gd name="adj" fmla="val 50000"/>
            </a:avLst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989320" y="5056631"/>
            <a:ext cx="7132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0A0A0A"/>
                </a:solidFill>
                <a:latin typeface="Inter"/>
              </a:rPr>
              <a:t>3,9 %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5376672"/>
            <a:ext cx="2926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8A2B3"/>
                </a:solidFill>
                <a:latin typeface="Inter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8992" y="5376672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Back Market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337560" y="544068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3337560" y="5440680"/>
            <a:ext cx="399936" cy="64008"/>
          </a:xfrm>
          <a:prstGeom prst="roundRect">
            <a:avLst>
              <a:gd name="adj" fmla="val 50000"/>
            </a:avLst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989320" y="5376672"/>
            <a:ext cx="7132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0A0A0A"/>
                </a:solidFill>
                <a:latin typeface="Inter"/>
              </a:rPr>
              <a:t>3,1 %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5696712"/>
            <a:ext cx="2926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8A2B3"/>
                </a:solidFill>
                <a:latin typeface="Inter"/>
              </a:rPr>
              <a:t>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78992" y="5696712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Fnac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337560" y="576072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3337560" y="5760720"/>
            <a:ext cx="18288" cy="64008"/>
          </a:xfrm>
          <a:prstGeom prst="roundRect">
            <a:avLst>
              <a:gd name="adj" fmla="val 50000"/>
            </a:avLst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989320" y="5696712"/>
            <a:ext cx="7132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0A0A0A"/>
                </a:solidFill>
                <a:latin typeface="Inter"/>
              </a:rPr>
              <a:t>0,1 %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32320" y="1965960"/>
            <a:ext cx="4599432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406640" y="214884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0A0A0A"/>
                </a:solidFill>
                <a:latin typeface="Inter"/>
              </a:rPr>
              <a:t>Évolution de la part de voix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06640" y="2441448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6B6B6B"/>
                </a:solidFill>
                <a:latin typeface="Inter"/>
              </a:rPr>
              <a:t>Évolution de la part de voix · % des citations · relevés depuis le 11 septembre</a:t>
            </a:r>
          </a:p>
        </p:txBody>
      </p:sp>
      <p:graphicFrame>
        <p:nvGraphicFramePr>
          <p:cNvPr id="66" name="Chart 65"/>
          <p:cNvGraphicFramePr>
            <a:graphicFrameLocks noGrp="1"/>
          </p:cNvGraphicFramePr>
          <p:nvPr/>
        </p:nvGraphicFramePr>
        <p:xfrm>
          <a:off x="7315200" y="2788920"/>
          <a:ext cx="42976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7" name="TextBox 66"/>
          <p:cNvSpPr txBox="1"/>
          <p:nvPr/>
        </p:nvSpPr>
        <p:spPr>
          <a:xfrm>
            <a:off x="457200" y="11887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 spc="110">
                <a:solidFill>
                  <a:srgbClr val="A8A49C"/>
                </a:solidFill>
                <a:latin typeface="Inter"/>
              </a:rPr>
              <a:t>01 INDICATEURS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1" i="0" spc="110">
                <a:solidFill>
                  <a:srgbClr val="F26B2A"/>
                </a:solidFill>
                <a:latin typeface="Inter"/>
              </a:rPr>
              <a:t>02 BOULANGER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0" i="0" spc="110">
                <a:solidFill>
                  <a:srgbClr val="A8A49C"/>
                </a:solidFill>
                <a:latin typeface="Inter"/>
              </a:rPr>
              <a:t>03 PISTES DE RECO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 spc="200">
                <a:solidFill>
                  <a:srgbClr val="6B6B6B"/>
                </a:solidFill>
                <a:latin typeface="Inter"/>
              </a:rPr>
              <a:t>DYNAMIQUE CONVERSATIONNELLE · PÉRIODE ANALYSÉE 24/09/2026 → 30/09/2026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A0A0A"/>
                </a:solidFill>
                <a:latin typeface="Inter"/>
              </a:rPr>
              <a:t>Boulanger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1352" y="5486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50" b="1" i="0" spc="200">
                <a:solidFill>
                  <a:srgbClr val="98A2B3"/>
                </a:solidFill>
                <a:latin typeface="Inter"/>
              </a:rPr>
              <a:t>COMPARAISON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1352" y="74980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Inter"/>
              </a:rPr>
              <a:t>vs 17/09/2026 → 23/09/2026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20072" y="109728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20072" y="109728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 spc="100">
                <a:solidFill>
                  <a:srgbClr val="FFFFFF"/>
                </a:solidFill>
                <a:latin typeface="Inter"/>
              </a:rPr>
              <a:t>VALEURS PROJETÉES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5513832" cy="246888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563624"/>
            <a:ext cx="49651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1" i="0" spc="150">
                <a:solidFill>
                  <a:srgbClr val="6B6B6B"/>
                </a:solidFill>
                <a:latin typeface="Inter"/>
              </a:rPr>
              <a:t>WIN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29384"/>
            <a:ext cx="49651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F26B2A"/>
                </a:solidFill>
                <a:latin typeface="Inter"/>
              </a:rPr>
              <a:t>22,9 %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569464"/>
            <a:ext cx="496519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196B24"/>
                </a:solidFill>
                <a:latin typeface="Inter"/>
              </a:rPr>
              <a:t>▲ +0,4 pt</a:t>
            </a:r>
            <a:r>
              <a:rPr sz="900" b="0" i="0">
                <a:solidFill>
                  <a:srgbClr val="6B6B6B"/>
                </a:solidFill>
                <a:latin typeface="Inter"/>
              </a:rPr>
              <a:t>  vs 17→23/09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496519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6B6B6B"/>
                </a:solidFill>
                <a:latin typeface="Inter"/>
              </a:rPr>
              <a:t>Quand l'IA compare Boulanger à une autre enseigne, dans combien de cas l'utilisateur clique sur l'annonce Boulanger ? Base semaine précédente : 22,5 %.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77639"/>
            <a:ext cx="5513832" cy="2487168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160520"/>
            <a:ext cx="496519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1" i="0" spc="150">
                <a:solidFill>
                  <a:srgbClr val="6B6B6B"/>
                </a:solidFill>
                <a:latin typeface="Inter"/>
              </a:rPr>
              <a:t>QUAND BOULANGER APPARAÎT-IL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07407"/>
            <a:ext cx="49651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6B6B6B"/>
                </a:solidFill>
                <a:latin typeface="Inter"/>
              </a:rPr>
              <a:t>Dans les conversations où Boulanger est cité, l'IA le mentionne pour la première fois dès sa première réponse dans 55 % des cas, au deuxième échange dans 29 % des cas, et plus tard dans 16 % des cas. Valeurs projetées.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166359"/>
            <a:ext cx="2700665" cy="457200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166359"/>
            <a:ext cx="270066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55 %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715000"/>
            <a:ext cx="2748777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6B6B6B"/>
                </a:solidFill>
                <a:latin typeface="Inter"/>
              </a:rPr>
              <a:t>Dès la 1re réponse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59617" y="5166359"/>
            <a:ext cx="1423987" cy="457200"/>
          </a:xfrm>
          <a:prstGeom prst="rect">
            <a:avLst/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59617" y="5166359"/>
            <a:ext cx="142398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Inter"/>
              </a:rPr>
              <a:t>29 %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59617" y="5715000"/>
            <a:ext cx="161940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6B6B6B"/>
                </a:solidFill>
                <a:latin typeface="Inter"/>
              </a:rPr>
              <a:t>2e échange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11036" y="5166359"/>
            <a:ext cx="785675" cy="457200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11036" y="5166359"/>
            <a:ext cx="78567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Inter"/>
              </a:rPr>
              <a:t>16 %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94444" y="5715000"/>
            <a:ext cx="152969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Inter"/>
              </a:rPr>
              <a:t>3e échange et +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1325880"/>
            <a:ext cx="5605272" cy="5138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1444752"/>
            <a:ext cx="505663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0A0A0A"/>
                </a:solidFill>
                <a:latin typeface="Inter"/>
              </a:rPr>
              <a:t>Quand l'IA recommande Boulanger, face à quelle enseigne 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1883664"/>
            <a:ext cx="50566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6B6B6B"/>
                </a:solidFill>
                <a:latin typeface="Inter"/>
              </a:rPr>
              <a:t>Répartition des recommandations de Boulanger selon l'enseigne concurrente présente dans la conversation.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21305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98A2B3"/>
                </a:solidFill>
                <a:latin typeface="Inter"/>
              </a:rPr>
              <a:t>12,5 %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496312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vs E.Leclerc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2542032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772400" y="2542032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789920" y="249631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F26B2A"/>
                </a:solidFill>
                <a:latin typeface="Inter"/>
              </a:rPr>
              <a:t>20 %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2935224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vs Amazon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2980944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772400" y="2980944"/>
            <a:ext cx="2779776" cy="128016"/>
          </a:xfrm>
          <a:prstGeom prst="roundRect">
            <a:avLst>
              <a:gd name="adj" fmla="val 50000"/>
            </a:avLst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789920" y="293522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F26B2A"/>
                </a:solidFill>
                <a:latin typeface="Inter"/>
              </a:rPr>
              <a:t>19 %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3374136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vs Carrefour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0" y="3419856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7772400" y="3419856"/>
            <a:ext cx="2194560" cy="128016"/>
          </a:xfrm>
          <a:prstGeom prst="roundRect">
            <a:avLst>
              <a:gd name="adj" fmla="val 50000"/>
            </a:avLst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789920" y="3374136"/>
            <a:ext cx="640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F26B2A"/>
                </a:solidFill>
                <a:latin typeface="Inter"/>
              </a:rPr>
              <a:t>15 %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3813048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vs Auchan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0" y="3858768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7772400" y="3858768"/>
            <a:ext cx="1755648" cy="128016"/>
          </a:xfrm>
          <a:prstGeom prst="roundRect">
            <a:avLst>
              <a:gd name="adj" fmla="val 50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789920" y="3813048"/>
            <a:ext cx="640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0A0A0A"/>
                </a:solidFill>
                <a:latin typeface="Inter"/>
              </a:rPr>
              <a:t>12 %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4251960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vs Cdiscount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72400" y="4297680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7772400" y="4297680"/>
            <a:ext cx="1609344" cy="128016"/>
          </a:xfrm>
          <a:prstGeom prst="roundRect">
            <a:avLst>
              <a:gd name="adj" fmla="val 50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789920" y="4251960"/>
            <a:ext cx="640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0A0A0A"/>
                </a:solidFill>
                <a:latin typeface="Inter"/>
              </a:rPr>
              <a:t>11 %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4690872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vs Darty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72400" y="4736592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7772400" y="4736592"/>
            <a:ext cx="1316736" cy="128016"/>
          </a:xfrm>
          <a:prstGeom prst="roundRect">
            <a:avLst>
              <a:gd name="adj" fmla="val 50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789920" y="469087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0A0A0A"/>
                </a:solidFill>
                <a:latin typeface="Inter"/>
              </a:rPr>
              <a:t>9 %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5129783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vs Back Market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72400" y="5175503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7772400" y="5175503"/>
            <a:ext cx="1170432" cy="128016"/>
          </a:xfrm>
          <a:prstGeom prst="roundRect">
            <a:avLst>
              <a:gd name="adj" fmla="val 50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789920" y="5129783"/>
            <a:ext cx="640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0A0A0A"/>
                </a:solidFill>
                <a:latin typeface="Inter"/>
              </a:rPr>
              <a:t>8 %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5568696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vs Fnac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772400" y="5614416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7772400" y="5614416"/>
            <a:ext cx="877824" cy="128016"/>
          </a:xfrm>
          <a:prstGeom prst="roundRect">
            <a:avLst>
              <a:gd name="adj" fmla="val 50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789920" y="5568696"/>
            <a:ext cx="640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0A0A0A"/>
                </a:solidFill>
                <a:latin typeface="Inter"/>
              </a:rPr>
              <a:t>6 %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601200" y="2331720"/>
            <a:ext cx="0" cy="3456432"/>
          </a:xfrm>
          <a:prstGeom prst="rect">
            <a:avLst/>
          </a:prstGeom>
          <a:noFill/>
          <a:ln w="12700">
            <a:solidFill>
              <a:srgbClr val="98A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400800" y="5870448"/>
            <a:ext cx="5056632" cy="457200"/>
          </a:xfrm>
          <a:prstGeom prst="rect">
            <a:avLst/>
          </a:prstGeom>
          <a:solidFill>
            <a:srgbClr val="F7F6F4"/>
          </a:solidFill>
          <a:ln w="12700">
            <a:solidFill>
              <a:srgbClr val="F7F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537960" y="5870448"/>
            <a:ext cx="47823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E.Leclerc et Amazon, leaders en part de voix, pèsent 39 % des comparaisons. Répartition indicative, projetée, non mesurée.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11887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 spc="110">
                <a:solidFill>
                  <a:srgbClr val="A8A49C"/>
                </a:solidFill>
                <a:latin typeface="Inter"/>
              </a:rPr>
              <a:t>01 INDICATEURS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1" i="0" spc="110">
                <a:solidFill>
                  <a:srgbClr val="F26B2A"/>
                </a:solidFill>
                <a:latin typeface="Inter"/>
              </a:rPr>
              <a:t>02 BOULANGER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0" i="0" spc="110">
                <a:solidFill>
                  <a:srgbClr val="A8A49C"/>
                </a:solidFill>
                <a:latin typeface="Inter"/>
              </a:rPr>
              <a:t>03 PISTES DE RECO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 spc="200">
                <a:solidFill>
                  <a:srgbClr val="6B6B6B"/>
                </a:solidFill>
                <a:latin typeface="Inter"/>
              </a:rPr>
              <a:t>CE QUE VOTRE AUDIENCE DEMANDE AUX IA · PÉRIODE ANALYSÉE 24/09/2026 → 30/09/2026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A0A0A"/>
                </a:solidFill>
                <a:latin typeface="Inter"/>
              </a:rPr>
              <a:t>Boulanger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1352" y="5486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50" b="1" i="0" spc="200">
                <a:solidFill>
                  <a:srgbClr val="98A2B3"/>
                </a:solidFill>
                <a:latin typeface="Inter"/>
              </a:rPr>
              <a:t>PÉRIODE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1352" y="74980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Inter"/>
              </a:rPr>
              <a:t>24/09/2026 → 30/09/2026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20072" y="109728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20072" y="109728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 spc="100">
                <a:solidFill>
                  <a:srgbClr val="FFFFFF"/>
                </a:solidFill>
                <a:latin typeface="Inter"/>
              </a:rPr>
              <a:t>VALEURS PROJETÉES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0A0A0A"/>
                </a:solidFill>
                <a:latin typeface="Inter"/>
              </a:rPr>
              <a:t>Top 10 des intentions d'achat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72768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6B6B6B"/>
                </a:solidFill>
                <a:latin typeface="Inter"/>
              </a:rPr>
              <a:t>Part des conversations du périmètre · ce que l'audience écrit, les produits qu'elle nomme, la présence de Boulanger, les enseignes qui sortent dans la réponse.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0195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150">
                <a:solidFill>
                  <a:srgbClr val="98A2B3"/>
                </a:solidFill>
                <a:latin typeface="Inter"/>
              </a:rPr>
              <a:t>INTENTION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901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150">
                <a:solidFill>
                  <a:srgbClr val="98A2B3"/>
                </a:solidFill>
                <a:latin typeface="Inter"/>
              </a:rPr>
              <a:t>PART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90195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150">
                <a:solidFill>
                  <a:srgbClr val="98A2B3"/>
                </a:solidFill>
                <a:latin typeface="Inter"/>
              </a:rPr>
              <a:t>CE QUE L'AUDIENCE ÉCRIT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90195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150">
                <a:solidFill>
                  <a:srgbClr val="98A2B3"/>
                </a:solidFill>
                <a:latin typeface="Inter"/>
              </a:rPr>
              <a:t>PRODUITS CITÉS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01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150">
                <a:solidFill>
                  <a:srgbClr val="98A2B3"/>
                </a:solidFill>
                <a:latin typeface="Inter"/>
              </a:rPr>
              <a:t>PRÉSENCE BOULANGER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190195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150">
                <a:solidFill>
                  <a:srgbClr val="98A2B3"/>
                </a:solidFill>
                <a:latin typeface="Inter"/>
              </a:rPr>
              <a:t>ENSEIGNES CITÉES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194560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276856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258568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Choisir un smartphone au meilleur rapport qualité-prix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225856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6,1 %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258568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1">
                <a:solidFill>
                  <a:srgbClr val="6B6B6B"/>
                </a:solidFill>
                <a:latin typeface="Inter"/>
              </a:rPr>
              <a:t>« Quel smartphone choisir pour prendre de bonnes photos sans dépasser mon budget ? 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25856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3A3A3A"/>
                </a:solidFill>
                <a:latin typeface="Inter"/>
              </a:rPr>
              <a:t>Samsung Galaxy A16, iPhone 13 reconditionné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58568"/>
            <a:ext cx="822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F26B2A"/>
                </a:solidFill>
                <a:latin typeface="Inter"/>
              </a:rPr>
              <a:t>4,4 %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72600" y="2267712"/>
            <a:ext cx="614476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72600" y="2267712"/>
            <a:ext cx="6144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Amazon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60228" y="2267712"/>
            <a:ext cx="501091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60228" y="2267712"/>
            <a:ext cx="501091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Fnac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34472" y="228600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0" i="0">
                <a:solidFill>
                  <a:srgbClr val="98A2B3"/>
                </a:solidFill>
                <a:latin typeface="Inter"/>
              </a:rPr>
              <a:t>+1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526792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2609087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2590799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Trouver un casque ou des écouteurs adaptés à son usage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88920" y="2590799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5,3 %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2590799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1">
                <a:solidFill>
                  <a:srgbClr val="6B6B6B"/>
                </a:solidFill>
                <a:latin typeface="Inter"/>
              </a:rPr>
              <a:t>« Quels écouteurs choisir pour faire du sport ? 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2590799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3A3A3A"/>
                </a:solidFill>
                <a:latin typeface="Inter"/>
              </a:rPr>
              <a:t>JBL Tune 530, JBL Tune 310 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590799"/>
            <a:ext cx="822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F26B2A"/>
                </a:solidFill>
                <a:latin typeface="Inter"/>
              </a:rPr>
              <a:t>3,3 %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72600" y="2599944"/>
            <a:ext cx="501091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72600" y="2599944"/>
            <a:ext cx="501091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Fnac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46843" y="2599944"/>
            <a:ext cx="614476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946843" y="2599944"/>
            <a:ext cx="6144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Amazon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2859024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2941319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2923031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Offrir une enceinte portable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88920" y="2923031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5,1 %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923031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1">
                <a:solidFill>
                  <a:srgbClr val="6B6B6B"/>
                </a:solidFill>
                <a:latin typeface="Inter"/>
              </a:rPr>
              <a:t>« Quelle enceinte portable offrir à une personne qui écoute beaucoup de musique ? »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2923031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3A3A3A"/>
                </a:solidFill>
                <a:latin typeface="Inter"/>
              </a:rPr>
              <a:t>JBL Go Essential 2, Sony SRS-XB100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2923031"/>
            <a:ext cx="822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F26B2A"/>
                </a:solidFill>
                <a:latin typeface="Inter"/>
              </a:rPr>
              <a:t>3,0 %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72600" y="2932176"/>
            <a:ext cx="614476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372600" y="2932176"/>
            <a:ext cx="6144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Amazon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060228" y="2932176"/>
            <a:ext cx="501091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060228" y="2932176"/>
            <a:ext cx="501091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Fnac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3191256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57200" y="3273552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3255264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Choisir un aspirateur pour un foyer avec animaux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88920" y="3255264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4,7 %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29000" y="3255264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1">
                <a:solidFill>
                  <a:srgbClr val="6B6B6B"/>
                </a:solidFill>
                <a:latin typeface="Inter"/>
              </a:rPr>
              <a:t>« Quel aspirateur est efficace contre les poils d'animaux ? »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80" y="3255264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3A3A3A"/>
                </a:solidFill>
                <a:latin typeface="Inter"/>
              </a:rPr>
              <a:t>Aspirateurs Dyson et Rowenta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0" y="3255264"/>
            <a:ext cx="822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F26B2A"/>
                </a:solidFill>
                <a:latin typeface="Inter"/>
              </a:rPr>
              <a:t>3,0 %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372600" y="3264408"/>
            <a:ext cx="614476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372600" y="3264408"/>
            <a:ext cx="6144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Amazon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060228" y="3264408"/>
            <a:ext cx="557784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060228" y="3264408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Darty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3523488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57200" y="3605784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3587496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Équiper son salon d'un téléviseur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88920" y="3587496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4,4 %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29000" y="3587496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1">
                <a:solidFill>
                  <a:srgbClr val="6B6B6B"/>
                </a:solidFill>
                <a:latin typeface="Inter"/>
              </a:rPr>
              <a:t>« Quel téléviseur choisir pour regarder des films et jouer ? »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55080" y="3587496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3A3A3A"/>
                </a:solidFill>
                <a:latin typeface="Inter"/>
              </a:rPr>
              <a:t>Téléviseurs Samsung et LG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12480" y="3587496"/>
            <a:ext cx="822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F26B2A"/>
                </a:solidFill>
                <a:latin typeface="Inter"/>
              </a:rPr>
              <a:t>2,6 %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372600" y="3596640"/>
            <a:ext cx="614476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372600" y="3596640"/>
            <a:ext cx="6144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Amazon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060228" y="3596640"/>
            <a:ext cx="501091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060228" y="3596640"/>
            <a:ext cx="501091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Fnac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34472" y="361492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0" i="0">
                <a:solidFill>
                  <a:srgbClr val="98A2B3"/>
                </a:solidFill>
                <a:latin typeface="Inter"/>
              </a:rPr>
              <a:t>+1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" y="3855720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57200" y="4602480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" y="4584192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Acheter une batterie externe pour voyager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88920" y="458419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3,7 %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29000" y="4584192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1">
                <a:solidFill>
                  <a:srgbClr val="6B6B6B"/>
                </a:solidFill>
                <a:latin typeface="Inter"/>
              </a:rPr>
              <a:t>« Quelle batterie externe choisir pour voyager léger ? »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55080" y="4584192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3A3A3A"/>
                </a:solidFill>
                <a:latin typeface="Inter"/>
              </a:rPr>
              <a:t>Belkin 10 000 mAh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12480" y="458419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F26B2A"/>
                </a:solidFill>
                <a:latin typeface="Inter"/>
              </a:rPr>
              <a:t>2,1 %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372600" y="4593336"/>
            <a:ext cx="614476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372600" y="4593336"/>
            <a:ext cx="6144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Amazon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060228" y="4593336"/>
            <a:ext cx="784555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0060228" y="4593336"/>
            <a:ext cx="784555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Cdiscount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4187952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57200" y="4270248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1520" y="4251960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Choisir une tablette polyvalente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788920" y="425196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3,9 %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429000" y="4251960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1">
                <a:solidFill>
                  <a:srgbClr val="6B6B6B"/>
                </a:solidFill>
                <a:latin typeface="Inter"/>
              </a:rPr>
              <a:t>« Quelle tablette choisir pour travailler et regarder des films en déplacement ? »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55080" y="4251960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3A3A3A"/>
                </a:solidFill>
                <a:latin typeface="Inter"/>
              </a:rPr>
              <a:t>Lenovo Tab, Xiaomi Redmi Pad 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12480" y="425196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F26B2A"/>
                </a:solidFill>
                <a:latin typeface="Inter"/>
              </a:rPr>
              <a:t>2,9 %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372600" y="4261104"/>
            <a:ext cx="614476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372600" y="4261104"/>
            <a:ext cx="6144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Amazon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0060228" y="4261104"/>
            <a:ext cx="501091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0060228" y="4261104"/>
            <a:ext cx="501091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Fnac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7200" y="4520184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57200" y="4934712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9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31520" y="4916424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Équiper un étudiant d'un ordinateur portable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788920" y="4916424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3,6 %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429000" y="4916424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1">
                <a:solidFill>
                  <a:srgbClr val="6B6B6B"/>
                </a:solidFill>
                <a:latin typeface="Inter"/>
              </a:rPr>
              <a:t>« Quel ordinateur portable offre assez d'autonomie pour une journée de cours ? »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355080" y="4916424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3A3A3A"/>
                </a:solidFill>
                <a:latin typeface="Inter"/>
              </a:rPr>
              <a:t>Lenovo IdeaPad Slim 3, portables Asus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12480" y="4916424"/>
            <a:ext cx="822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F26B2A"/>
                </a:solidFill>
                <a:latin typeface="Inter"/>
              </a:rPr>
              <a:t>3,1 %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372600" y="4925568"/>
            <a:ext cx="501091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9372600" y="4925568"/>
            <a:ext cx="501091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Fnac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9946843" y="4925568"/>
            <a:ext cx="614476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9946843" y="4925568"/>
            <a:ext cx="6144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Amazon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7200" y="4852416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457200" y="5266944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10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31520" y="5248656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Trouver un lave-linge pour un foyer de taille moyenne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788920" y="5248656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3,1 %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429000" y="5248656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1">
                <a:solidFill>
                  <a:srgbClr val="6B6B6B"/>
                </a:solidFill>
                <a:latin typeface="Inter"/>
              </a:rPr>
              <a:t>« Quel lave-linge choisir pour une famille de quatre personnes ? »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355080" y="5248656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3A3A3A"/>
                </a:solidFill>
                <a:latin typeface="Inter"/>
              </a:rPr>
              <a:t>Lave-linge Bosch et Samsung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412480" y="5248656"/>
            <a:ext cx="822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F26B2A"/>
                </a:solidFill>
                <a:latin typeface="Inter"/>
              </a:rPr>
              <a:t>2,6 %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9372600" y="5257800"/>
            <a:ext cx="557784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9372600" y="5257800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Darty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0003536" y="5257800"/>
            <a:ext cx="614476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10003536" y="5257800"/>
            <a:ext cx="6144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Amazon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57200" y="5184648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457200" y="3938016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31520" y="3919728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Choisir une friteuse sans huile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788920" y="391972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4,1 %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429000" y="3919728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1">
                <a:solidFill>
                  <a:srgbClr val="6B6B6B"/>
                </a:solidFill>
                <a:latin typeface="Inter"/>
              </a:rPr>
              <a:t>« Quel airfryer choisir pour cuisiner pour quatre personnes ? »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355080" y="391972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3A3A3A"/>
                </a:solidFill>
                <a:latin typeface="Inter"/>
              </a:rPr>
              <a:t>Ninja Foodi Dual Zone, Philips Airfryer XXL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412480" y="3919728"/>
            <a:ext cx="822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F26B2A"/>
                </a:solidFill>
                <a:latin typeface="Inter"/>
              </a:rPr>
              <a:t>3,4 %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9372600" y="3928872"/>
            <a:ext cx="614476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9372600" y="3928872"/>
            <a:ext cx="6144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Amazon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10060228" y="3928872"/>
            <a:ext cx="557784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10060228" y="3928872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Darty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31520" y="5650992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1">
                <a:solidFill>
                  <a:srgbClr val="98A2B3"/>
                </a:solidFill>
                <a:latin typeface="Inter"/>
              </a:rPr>
              <a:t>Autres intentions : 56,0 %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57200" y="6035040"/>
            <a:ext cx="11274552" cy="749808"/>
          </a:xfrm>
          <a:prstGeom prst="rect">
            <a:avLst/>
          </a:prstGeom>
          <a:solidFill>
            <a:srgbClr val="F7F6F4"/>
          </a:solidFill>
          <a:ln w="12700">
            <a:solidFill>
              <a:srgbClr val="F7F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640080" y="6132945"/>
            <a:ext cx="109728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fr-FR" sz="900" b="1"/>
              <a:t>À retenir. </a:t>
            </a:r>
            <a:r>
              <a:rPr lang="fr-FR" sz="900"/>
              <a:t>Le classement bouge peu, mais la friteuse sans huile fait son entrée dans le top 10 et Boulanger gagne légèrement en visibilité sur la majorité des catégories.</a:t>
            </a:r>
          </a:p>
          <a:p>
            <a:r>
              <a:rPr lang="fr-FR" sz="900"/>
              <a:t>Smartphones : la plus forte progression de visibilité. La présence de Boulanger passe de 4,2 % à 4,4 %. Les smartphones restent la première intention du classement, avec 6,1 % des conversations.</a:t>
            </a:r>
          </a:p>
          <a:p>
            <a:r>
              <a:rPr lang="fr-FR" sz="900"/>
              <a:t>Son : une demande importante et une visibilité en légère hausse. Les casques, écouteurs et enceintes représentent ensemble 10,4 % des conversations. La présence de Boulanger progresse de 0,1 point sur chacun des deux segments.</a:t>
            </a:r>
          </a:p>
          <a:p>
            <a:r>
              <a:rPr lang="fr-FR" sz="900"/>
              <a:t>Friteuses sans huile : nouvelle entrée (4,1 % des conversations), avec une présence Boulanger déjà à 3,4 %. Batteries externes : la plus faible visibilité du top 10 (2,1 %).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57200" y="11887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 spc="110">
                <a:solidFill>
                  <a:srgbClr val="A8A49C"/>
                </a:solidFill>
                <a:latin typeface="Inter"/>
              </a:rPr>
              <a:t>01 INDICATEURS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1" i="0" spc="110">
                <a:solidFill>
                  <a:srgbClr val="F26B2A"/>
                </a:solidFill>
                <a:latin typeface="Inter"/>
              </a:rPr>
              <a:t>02 BOULANGER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0" i="0" spc="110">
                <a:solidFill>
                  <a:srgbClr val="A8A49C"/>
                </a:solidFill>
                <a:latin typeface="Inter"/>
              </a:rPr>
              <a:t>03 PISTES DE RECO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 txBox="1"/>
          <p:nvPr/>
        </p:nvSpPr>
        <p:spPr>
          <a:xfrm>
            <a:off x="457200" y="38404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 spc="200">
                <a:solidFill>
                  <a:srgbClr val="6B6B6B"/>
                </a:solidFill>
                <a:latin typeface="Inter"/>
              </a:rPr>
              <a:t>RÉPARTITION DES MÉDIAS · PÉRIODE ANALYSÉE 24/09/2026 → 30/09/2026</a:t>
            </a:r>
          </a:p>
        </p:txBody>
      </p:sp>
      <p:sp>
        <p:nvSpPr>
          <p:cNvPr id="102" name="TextBox 2"/>
          <p:cNvSpPr txBox="1"/>
          <p:nvPr/>
        </p:nvSpPr>
        <p:spPr>
          <a:xfrm>
            <a:off x="457200" y="603504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A0A0A"/>
                </a:solidFill>
                <a:latin typeface="Inter"/>
              </a:rPr>
              <a:t>Boulanger</a:t>
            </a:r>
          </a:p>
        </p:txBody>
      </p:sp>
      <p:sp>
        <p:nvSpPr>
          <p:cNvPr id="103" name="TextBox 3"/>
          <p:cNvSpPr txBox="1"/>
          <p:nvPr/>
        </p:nvSpPr>
        <p:spPr>
          <a:xfrm>
            <a:off x="8531352" y="5486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50" b="1" i="0" spc="200">
                <a:solidFill>
                  <a:srgbClr val="98A2B3"/>
                </a:solidFill>
                <a:latin typeface="Inter"/>
              </a:rPr>
              <a:t>PÉRIODE</a:t>
            </a:r>
          </a:p>
        </p:txBody>
      </p:sp>
      <p:sp>
        <p:nvSpPr>
          <p:cNvPr id="104" name="TextBox 4"/>
          <p:cNvSpPr txBox="1"/>
          <p:nvPr/>
        </p:nvSpPr>
        <p:spPr>
          <a:xfrm>
            <a:off x="8531352" y="74980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Inter"/>
              </a:rPr>
              <a:t>24/09/2026 → 30/09/2026</a:t>
            </a:r>
          </a:p>
        </p:txBody>
      </p:sp>
      <p:sp>
        <p:nvSpPr>
          <p:cNvPr id="105" name="Rounded Rectangle 5"/>
          <p:cNvSpPr/>
          <p:nvPr/>
        </p:nvSpPr>
        <p:spPr>
          <a:xfrm>
            <a:off x="9720072" y="109728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6" name="TextBox 6"/>
          <p:cNvSpPr txBox="1"/>
          <p:nvPr/>
        </p:nvSpPr>
        <p:spPr>
          <a:xfrm>
            <a:off x="9720072" y="109728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 spc="100">
                <a:solidFill>
                  <a:srgbClr val="FFFFFF"/>
                </a:solidFill>
                <a:latin typeface="Inter"/>
              </a:rPr>
              <a:t>VALEURS PROJETÉES</a:t>
            </a:r>
          </a:p>
        </p:txBody>
      </p:sp>
      <p:sp>
        <p:nvSpPr>
          <p:cNvPr id="107" name="Rectangle 7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8" name="TextBox 8"/>
          <p:cNvSpPr txBox="1"/>
          <p:nvPr/>
        </p:nvSpPr>
        <p:spPr>
          <a:xfrm>
            <a:off x="457200" y="1298448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0A0A0A"/>
                </a:solidFill>
                <a:latin typeface="Inter"/>
              </a:rPr>
              <a:t>Répartition de la diffusion par média</a:t>
            </a:r>
          </a:p>
        </p:txBody>
      </p:sp>
      <p:sp>
        <p:nvSpPr>
          <p:cNvPr id="109" name="TextBox 9"/>
          <p:cNvSpPr txBox="1"/>
          <p:nvPr/>
        </p:nvSpPr>
        <p:spPr>
          <a:xfrm>
            <a:off x="457200" y="1572768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6B6B6B"/>
                </a:solidFill>
                <a:latin typeface="Inter"/>
              </a:rPr>
              <a:t>Part des impressions de la campagne par site éditeur · évolution sur les deux derniers jours.</a:t>
            </a:r>
          </a:p>
        </p:txBody>
      </p:sp>
      <p:sp>
        <p:nvSpPr>
          <p:cNvPr id="110" name="TextBox 131"/>
          <p:cNvSpPr txBox="1"/>
          <p:nvPr/>
        </p:nvSpPr>
        <p:spPr>
          <a:xfrm>
            <a:off x="457200" y="11887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 spc="110">
                <a:solidFill>
                  <a:srgbClr val="A8A49C"/>
                </a:solidFill>
                <a:latin typeface="Inter"/>
              </a:rPr>
              <a:t>01 INDICATEURS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1" i="0" spc="110">
                <a:solidFill>
                  <a:srgbClr val="F26B2A"/>
                </a:solidFill>
                <a:latin typeface="Inter"/>
              </a:rPr>
              <a:t>02 BOULANGER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0" i="0" spc="110">
                <a:solidFill>
                  <a:srgbClr val="A8A49C"/>
                </a:solidFill>
                <a:latin typeface="Inter"/>
              </a:rPr>
              <a:t>03 PISTES DE RECO</a:t>
            </a:r>
          </a:p>
        </p:txBody>
      </p:sp>
      <p:sp>
        <p:nvSpPr>
          <p:cNvPr id="111" name="TextBox 11"/>
          <p:cNvSpPr txBox="1"/>
          <p:nvPr/>
        </p:nvSpPr>
        <p:spPr>
          <a:xfrm>
            <a:off x="731520" y="190195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150">
                <a:solidFill>
                  <a:srgbClr val="98A2B3"/>
                </a:solidFill>
                <a:latin typeface="Inter"/>
              </a:rPr>
              <a:t>MÉDIA</a:t>
            </a:r>
          </a:p>
        </p:txBody>
      </p:sp>
      <p:sp>
        <p:nvSpPr>
          <p:cNvPr id="112" name="TextBox 11"/>
          <p:cNvSpPr txBox="1"/>
          <p:nvPr/>
        </p:nvSpPr>
        <p:spPr>
          <a:xfrm>
            <a:off x="3337560" y="1901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150">
                <a:solidFill>
                  <a:srgbClr val="98A2B3"/>
                </a:solidFill>
                <a:latin typeface="Inter"/>
              </a:rPr>
              <a:t>PART DES IMPRESSIONS</a:t>
            </a:r>
          </a:p>
        </p:txBody>
      </p:sp>
      <p:sp>
        <p:nvSpPr>
          <p:cNvPr id="113" name="TextBox 11"/>
          <p:cNvSpPr txBox="1"/>
          <p:nvPr/>
        </p:nvSpPr>
        <p:spPr>
          <a:xfrm>
            <a:off x="8412480" y="1901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150">
                <a:solidFill>
                  <a:srgbClr val="98A2B3"/>
                </a:solidFill>
                <a:latin typeface="Inter"/>
              </a:rPr>
              <a:t>PART</a:t>
            </a:r>
          </a:p>
        </p:txBody>
      </p:sp>
      <p:sp>
        <p:nvSpPr>
          <p:cNvPr id="114" name="TextBox 11"/>
          <p:cNvSpPr txBox="1"/>
          <p:nvPr/>
        </p:nvSpPr>
        <p:spPr>
          <a:xfrm>
            <a:off x="9601200" y="1901952"/>
            <a:ext cx="160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150">
                <a:solidFill>
                  <a:srgbClr val="98A2B3"/>
                </a:solidFill>
                <a:latin typeface="Inter"/>
              </a:rPr>
              <a:t>ÉVOLUTION</a:t>
            </a:r>
          </a:p>
        </p:txBody>
      </p:sp>
      <p:sp>
        <p:nvSpPr>
          <p:cNvPr id="115" name="Rectangle 16"/>
          <p:cNvSpPr/>
          <p:nvPr/>
        </p:nvSpPr>
        <p:spPr>
          <a:xfrm>
            <a:off x="457200" y="2194560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6" name="TextBox 17"/>
          <p:cNvSpPr txBox="1"/>
          <p:nvPr/>
        </p:nvSpPr>
        <p:spPr>
          <a:xfrm>
            <a:off x="457200" y="2332848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1</a:t>
            </a:r>
          </a:p>
        </p:txBody>
      </p:sp>
      <p:sp>
        <p:nvSpPr>
          <p:cNvPr id="117" name="TextBox 18"/>
          <p:cNvSpPr txBox="1"/>
          <p:nvPr/>
        </p:nvSpPr>
        <p:spPr>
          <a:xfrm>
            <a:off x="731520" y="2314560"/>
            <a:ext cx="2400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Modes &amp; Travaux</a:t>
            </a:r>
          </a:p>
        </p:txBody>
      </p:sp>
      <p:sp>
        <p:nvSpPr>
          <p:cNvPr id="118" name="Rounded Rectangle 24"/>
          <p:cNvSpPr/>
          <p:nvPr/>
        </p:nvSpPr>
        <p:spPr>
          <a:xfrm>
            <a:off x="3337560" y="2384560"/>
            <a:ext cx="457200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9" name="Rounded Rectangle 25"/>
          <p:cNvSpPr/>
          <p:nvPr/>
        </p:nvSpPr>
        <p:spPr>
          <a:xfrm>
            <a:off x="3337560" y="2384560"/>
            <a:ext cx="4572000" cy="64008"/>
          </a:xfrm>
          <a:prstGeom prst="roundRect">
            <a:avLst>
              <a:gd name="adj" fmla="val 50000"/>
            </a:avLst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0" name="TextBox 19"/>
          <p:cNvSpPr txBox="1"/>
          <p:nvPr/>
        </p:nvSpPr>
        <p:spPr>
          <a:xfrm>
            <a:off x="8412480" y="231456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31,6 %</a:t>
            </a:r>
          </a:p>
        </p:txBody>
      </p:sp>
      <p:sp>
        <p:nvSpPr>
          <p:cNvPr id="121" name="TextBox 22"/>
          <p:cNvSpPr txBox="1"/>
          <p:nvPr/>
        </p:nvSpPr>
        <p:spPr>
          <a:xfrm>
            <a:off x="9601200" y="2314560"/>
            <a:ext cx="1600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196B24"/>
                </a:solidFill>
                <a:latin typeface="Inter"/>
              </a:rPr>
              <a:t>▲ +0,3 pt</a:t>
            </a:r>
          </a:p>
        </p:txBody>
      </p:sp>
      <p:sp>
        <p:nvSpPr>
          <p:cNvPr id="122" name="TextBox 19"/>
          <p:cNvSpPr txBox="1"/>
          <p:nvPr/>
        </p:nvSpPr>
        <p:spPr>
          <a:xfrm>
            <a:off x="10500000" y="2314560"/>
            <a:ext cx="1100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98A2B3"/>
                </a:solidFill>
                <a:latin typeface="Inter"/>
              </a:rPr>
              <a:t>vs 31,3 %</a:t>
            </a:r>
          </a:p>
        </p:txBody>
      </p:sp>
      <p:sp>
        <p:nvSpPr>
          <p:cNvPr id="123" name="Rectangle 16"/>
          <p:cNvSpPr/>
          <p:nvPr/>
        </p:nvSpPr>
        <p:spPr>
          <a:xfrm>
            <a:off x="457200" y="2674560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4" name="TextBox 17"/>
          <p:cNvSpPr txBox="1"/>
          <p:nvPr/>
        </p:nvSpPr>
        <p:spPr>
          <a:xfrm>
            <a:off x="457200" y="2812848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2</a:t>
            </a:r>
          </a:p>
        </p:txBody>
      </p:sp>
      <p:sp>
        <p:nvSpPr>
          <p:cNvPr id="125" name="TextBox 18"/>
          <p:cNvSpPr txBox="1"/>
          <p:nvPr/>
        </p:nvSpPr>
        <p:spPr>
          <a:xfrm>
            <a:off x="731520" y="2794560"/>
            <a:ext cx="2400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Marmiton</a:t>
            </a:r>
          </a:p>
        </p:txBody>
      </p:sp>
      <p:sp>
        <p:nvSpPr>
          <p:cNvPr id="126" name="Rounded Rectangle 24"/>
          <p:cNvSpPr/>
          <p:nvPr/>
        </p:nvSpPr>
        <p:spPr>
          <a:xfrm>
            <a:off x="3337560" y="2864560"/>
            <a:ext cx="457200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7" name="Rounded Rectangle 25"/>
          <p:cNvSpPr/>
          <p:nvPr/>
        </p:nvSpPr>
        <p:spPr>
          <a:xfrm>
            <a:off x="3337560" y="2864560"/>
            <a:ext cx="3920924" cy="64008"/>
          </a:xfrm>
          <a:prstGeom prst="roundRect">
            <a:avLst>
              <a:gd name="adj" fmla="val 50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8" name="TextBox 19"/>
          <p:cNvSpPr txBox="1"/>
          <p:nvPr/>
        </p:nvSpPr>
        <p:spPr>
          <a:xfrm>
            <a:off x="8412480" y="279456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27,1 %</a:t>
            </a:r>
          </a:p>
        </p:txBody>
      </p:sp>
      <p:sp>
        <p:nvSpPr>
          <p:cNvPr id="129" name="TextBox 22"/>
          <p:cNvSpPr txBox="1"/>
          <p:nvPr/>
        </p:nvSpPr>
        <p:spPr>
          <a:xfrm>
            <a:off x="9601200" y="2794560"/>
            <a:ext cx="1600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B42318"/>
                </a:solidFill>
                <a:latin typeface="Inter"/>
              </a:rPr>
              <a:t>▼ -0,1 pt</a:t>
            </a:r>
          </a:p>
        </p:txBody>
      </p:sp>
      <p:sp>
        <p:nvSpPr>
          <p:cNvPr id="130" name="TextBox 19"/>
          <p:cNvSpPr txBox="1"/>
          <p:nvPr/>
        </p:nvSpPr>
        <p:spPr>
          <a:xfrm>
            <a:off x="10500000" y="2794560"/>
            <a:ext cx="1100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98A2B3"/>
                </a:solidFill>
                <a:latin typeface="Inter"/>
              </a:rPr>
              <a:t>vs 27,2 %</a:t>
            </a:r>
          </a:p>
        </p:txBody>
      </p:sp>
      <p:sp>
        <p:nvSpPr>
          <p:cNvPr id="131" name="Rectangle 16"/>
          <p:cNvSpPr/>
          <p:nvPr/>
        </p:nvSpPr>
        <p:spPr>
          <a:xfrm>
            <a:off x="457200" y="3154560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2" name="TextBox 17"/>
          <p:cNvSpPr txBox="1"/>
          <p:nvPr/>
        </p:nvSpPr>
        <p:spPr>
          <a:xfrm>
            <a:off x="457200" y="3292848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3</a:t>
            </a:r>
          </a:p>
        </p:txBody>
      </p:sp>
      <p:sp>
        <p:nvSpPr>
          <p:cNvPr id="133" name="TextBox 18"/>
          <p:cNvSpPr txBox="1"/>
          <p:nvPr/>
        </p:nvSpPr>
        <p:spPr>
          <a:xfrm>
            <a:off x="731520" y="3274560"/>
            <a:ext cx="2400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Qwant</a:t>
            </a:r>
          </a:p>
        </p:txBody>
      </p:sp>
      <p:sp>
        <p:nvSpPr>
          <p:cNvPr id="134" name="Rounded Rectangle 24"/>
          <p:cNvSpPr/>
          <p:nvPr/>
        </p:nvSpPr>
        <p:spPr>
          <a:xfrm>
            <a:off x="3337560" y="3344560"/>
            <a:ext cx="457200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5" name="Rounded Rectangle 25"/>
          <p:cNvSpPr/>
          <p:nvPr/>
        </p:nvSpPr>
        <p:spPr>
          <a:xfrm>
            <a:off x="3337560" y="3344560"/>
            <a:ext cx="2372810" cy="64008"/>
          </a:xfrm>
          <a:prstGeom prst="roundRect">
            <a:avLst>
              <a:gd name="adj" fmla="val 50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6" name="TextBox 19"/>
          <p:cNvSpPr txBox="1"/>
          <p:nvPr/>
        </p:nvSpPr>
        <p:spPr>
          <a:xfrm>
            <a:off x="8412480" y="327456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16,4 %</a:t>
            </a:r>
          </a:p>
        </p:txBody>
      </p:sp>
      <p:sp>
        <p:nvSpPr>
          <p:cNvPr id="137" name="TextBox 22"/>
          <p:cNvSpPr txBox="1"/>
          <p:nvPr/>
        </p:nvSpPr>
        <p:spPr>
          <a:xfrm>
            <a:off x="9601200" y="3274560"/>
            <a:ext cx="1600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196B24"/>
                </a:solidFill>
                <a:latin typeface="Inter"/>
              </a:rPr>
              <a:t>▲ +0,1 pt</a:t>
            </a:r>
          </a:p>
        </p:txBody>
      </p:sp>
      <p:sp>
        <p:nvSpPr>
          <p:cNvPr id="138" name="TextBox 19"/>
          <p:cNvSpPr txBox="1"/>
          <p:nvPr/>
        </p:nvSpPr>
        <p:spPr>
          <a:xfrm>
            <a:off x="10500000" y="3274560"/>
            <a:ext cx="1100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98A2B3"/>
                </a:solidFill>
                <a:latin typeface="Inter"/>
              </a:rPr>
              <a:t>vs 16,3 %</a:t>
            </a:r>
          </a:p>
        </p:txBody>
      </p:sp>
      <p:sp>
        <p:nvSpPr>
          <p:cNvPr id="139" name="Rectangle 16"/>
          <p:cNvSpPr/>
          <p:nvPr/>
        </p:nvSpPr>
        <p:spPr>
          <a:xfrm>
            <a:off x="457200" y="3634560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0" name="TextBox 17"/>
          <p:cNvSpPr txBox="1"/>
          <p:nvPr/>
        </p:nvSpPr>
        <p:spPr>
          <a:xfrm>
            <a:off x="457200" y="3772848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4</a:t>
            </a:r>
          </a:p>
        </p:txBody>
      </p:sp>
      <p:sp>
        <p:nvSpPr>
          <p:cNvPr id="141" name="TextBox 18"/>
          <p:cNvSpPr txBox="1"/>
          <p:nvPr/>
        </p:nvSpPr>
        <p:spPr>
          <a:xfrm>
            <a:off x="731520" y="3754560"/>
            <a:ext cx="2400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20 Minutes</a:t>
            </a:r>
          </a:p>
        </p:txBody>
      </p:sp>
      <p:sp>
        <p:nvSpPr>
          <p:cNvPr id="142" name="Rounded Rectangle 24"/>
          <p:cNvSpPr/>
          <p:nvPr/>
        </p:nvSpPr>
        <p:spPr>
          <a:xfrm>
            <a:off x="3337560" y="3824560"/>
            <a:ext cx="457200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3" name="Rounded Rectangle 25"/>
          <p:cNvSpPr/>
          <p:nvPr/>
        </p:nvSpPr>
        <p:spPr>
          <a:xfrm>
            <a:off x="3337560" y="3824560"/>
            <a:ext cx="925974" cy="64008"/>
          </a:xfrm>
          <a:prstGeom prst="roundRect">
            <a:avLst>
              <a:gd name="adj" fmla="val 50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4" name="TextBox 19"/>
          <p:cNvSpPr txBox="1"/>
          <p:nvPr/>
        </p:nvSpPr>
        <p:spPr>
          <a:xfrm>
            <a:off x="8412480" y="375456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6,4 %</a:t>
            </a:r>
          </a:p>
        </p:txBody>
      </p:sp>
      <p:sp>
        <p:nvSpPr>
          <p:cNvPr id="145" name="TextBox 22"/>
          <p:cNvSpPr txBox="1"/>
          <p:nvPr/>
        </p:nvSpPr>
        <p:spPr>
          <a:xfrm>
            <a:off x="9601200" y="3754560"/>
            <a:ext cx="1600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B42318"/>
                </a:solidFill>
                <a:latin typeface="Inter"/>
              </a:rPr>
              <a:t>▼ -0,1 pt</a:t>
            </a:r>
          </a:p>
        </p:txBody>
      </p:sp>
      <p:sp>
        <p:nvSpPr>
          <p:cNvPr id="146" name="TextBox 19"/>
          <p:cNvSpPr txBox="1"/>
          <p:nvPr/>
        </p:nvSpPr>
        <p:spPr>
          <a:xfrm>
            <a:off x="10500000" y="3754560"/>
            <a:ext cx="1100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98A2B3"/>
                </a:solidFill>
                <a:latin typeface="Inter"/>
              </a:rPr>
              <a:t>vs 6,5 %</a:t>
            </a:r>
          </a:p>
        </p:txBody>
      </p:sp>
      <p:sp>
        <p:nvSpPr>
          <p:cNvPr id="147" name="Rectangle 16"/>
          <p:cNvSpPr/>
          <p:nvPr/>
        </p:nvSpPr>
        <p:spPr>
          <a:xfrm>
            <a:off x="457200" y="4114560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8" name="TextBox 17"/>
          <p:cNvSpPr txBox="1"/>
          <p:nvPr/>
        </p:nvSpPr>
        <p:spPr>
          <a:xfrm>
            <a:off x="457200" y="4252848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5</a:t>
            </a:r>
          </a:p>
        </p:txBody>
      </p:sp>
      <p:sp>
        <p:nvSpPr>
          <p:cNvPr id="149" name="TextBox 18"/>
          <p:cNvSpPr txBox="1"/>
          <p:nvPr/>
        </p:nvSpPr>
        <p:spPr>
          <a:xfrm>
            <a:off x="731520" y="4234560"/>
            <a:ext cx="2400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Biba</a:t>
            </a:r>
          </a:p>
        </p:txBody>
      </p:sp>
      <p:sp>
        <p:nvSpPr>
          <p:cNvPr id="150" name="Rounded Rectangle 24"/>
          <p:cNvSpPr/>
          <p:nvPr/>
        </p:nvSpPr>
        <p:spPr>
          <a:xfrm>
            <a:off x="3337560" y="4304560"/>
            <a:ext cx="457200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1" name="Rounded Rectangle 25"/>
          <p:cNvSpPr/>
          <p:nvPr/>
        </p:nvSpPr>
        <p:spPr>
          <a:xfrm>
            <a:off x="3337560" y="4304560"/>
            <a:ext cx="911506" cy="64008"/>
          </a:xfrm>
          <a:prstGeom prst="roundRect">
            <a:avLst>
              <a:gd name="adj" fmla="val 50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2" name="TextBox 19"/>
          <p:cNvSpPr txBox="1"/>
          <p:nvPr/>
        </p:nvSpPr>
        <p:spPr>
          <a:xfrm>
            <a:off x="8412480" y="423456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6,3 %</a:t>
            </a:r>
          </a:p>
        </p:txBody>
      </p:sp>
      <p:sp>
        <p:nvSpPr>
          <p:cNvPr id="153" name="TextBox 22"/>
          <p:cNvSpPr txBox="1"/>
          <p:nvPr/>
        </p:nvSpPr>
        <p:spPr>
          <a:xfrm>
            <a:off x="9601200" y="4234560"/>
            <a:ext cx="1600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196B24"/>
                </a:solidFill>
                <a:latin typeface="Inter"/>
              </a:rPr>
              <a:t>▲ +0,1 pt</a:t>
            </a:r>
          </a:p>
        </p:txBody>
      </p:sp>
      <p:sp>
        <p:nvSpPr>
          <p:cNvPr id="154" name="TextBox 19"/>
          <p:cNvSpPr txBox="1"/>
          <p:nvPr/>
        </p:nvSpPr>
        <p:spPr>
          <a:xfrm>
            <a:off x="10500000" y="4234560"/>
            <a:ext cx="1100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98A2B3"/>
                </a:solidFill>
                <a:latin typeface="Inter"/>
              </a:rPr>
              <a:t>vs 6,2 %</a:t>
            </a:r>
          </a:p>
        </p:txBody>
      </p:sp>
      <p:sp>
        <p:nvSpPr>
          <p:cNvPr id="155" name="Rectangle 16"/>
          <p:cNvSpPr/>
          <p:nvPr/>
        </p:nvSpPr>
        <p:spPr>
          <a:xfrm>
            <a:off x="457200" y="4594560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6" name="TextBox 17"/>
          <p:cNvSpPr txBox="1"/>
          <p:nvPr/>
        </p:nvSpPr>
        <p:spPr>
          <a:xfrm>
            <a:off x="457200" y="4732848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6</a:t>
            </a:r>
          </a:p>
        </p:txBody>
      </p:sp>
      <p:sp>
        <p:nvSpPr>
          <p:cNvPr id="157" name="TextBox 18"/>
          <p:cNvSpPr txBox="1"/>
          <p:nvPr/>
        </p:nvSpPr>
        <p:spPr>
          <a:xfrm>
            <a:off x="731520" y="4714560"/>
            <a:ext cx="2400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Autres</a:t>
            </a:r>
          </a:p>
        </p:txBody>
      </p:sp>
      <p:sp>
        <p:nvSpPr>
          <p:cNvPr id="158" name="Rounded Rectangle 24"/>
          <p:cNvSpPr/>
          <p:nvPr/>
        </p:nvSpPr>
        <p:spPr>
          <a:xfrm>
            <a:off x="3337560" y="4784560"/>
            <a:ext cx="457200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9" name="Rounded Rectangle 25"/>
          <p:cNvSpPr/>
          <p:nvPr/>
        </p:nvSpPr>
        <p:spPr>
          <a:xfrm>
            <a:off x="3337560" y="4784560"/>
            <a:ext cx="1765139" cy="64008"/>
          </a:xfrm>
          <a:prstGeom prst="roundRect">
            <a:avLst>
              <a:gd name="adj" fmla="val 50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0" name="TextBox 19"/>
          <p:cNvSpPr txBox="1"/>
          <p:nvPr/>
        </p:nvSpPr>
        <p:spPr>
          <a:xfrm>
            <a:off x="8412480" y="471456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12,2 %</a:t>
            </a:r>
          </a:p>
        </p:txBody>
      </p:sp>
      <p:sp>
        <p:nvSpPr>
          <p:cNvPr id="161" name="TextBox 22"/>
          <p:cNvSpPr txBox="1"/>
          <p:nvPr/>
        </p:nvSpPr>
        <p:spPr>
          <a:xfrm>
            <a:off x="9601200" y="4714560"/>
            <a:ext cx="1600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B42318"/>
                </a:solidFill>
                <a:latin typeface="Inter"/>
              </a:rPr>
              <a:t>▼ -0,3 pt</a:t>
            </a:r>
          </a:p>
        </p:txBody>
      </p:sp>
      <p:sp>
        <p:nvSpPr>
          <p:cNvPr id="162" name="TextBox 19"/>
          <p:cNvSpPr txBox="1"/>
          <p:nvPr/>
        </p:nvSpPr>
        <p:spPr>
          <a:xfrm>
            <a:off x="10500000" y="4714560"/>
            <a:ext cx="1100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98A2B3"/>
                </a:solidFill>
                <a:latin typeface="Inter"/>
              </a:rPr>
              <a:t>vs 12,5 %</a:t>
            </a:r>
          </a:p>
        </p:txBody>
      </p:sp>
      <p:sp>
        <p:nvSpPr>
          <p:cNvPr id="163" name="Rectangle 16"/>
          <p:cNvSpPr/>
          <p:nvPr/>
        </p:nvSpPr>
        <p:spPr>
          <a:xfrm>
            <a:off x="457200" y="5074560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4" name="Rectangle 129"/>
          <p:cNvSpPr/>
          <p:nvPr/>
        </p:nvSpPr>
        <p:spPr>
          <a:xfrm>
            <a:off x="457200" y="6035040"/>
            <a:ext cx="11274552" cy="749808"/>
          </a:xfrm>
          <a:prstGeom prst="rect">
            <a:avLst/>
          </a:prstGeom>
          <a:solidFill>
            <a:srgbClr val="F7F6F4"/>
          </a:solidFill>
          <a:ln w="12700">
            <a:solidFill>
              <a:srgbClr val="F7F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5" name="TextBox 130"/>
          <p:cNvSpPr txBox="1"/>
          <p:nvPr/>
        </p:nvSpPr>
        <p:spPr>
          <a:xfrm>
            <a:off x="640080" y="6132945"/>
            <a:ext cx="109728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fr-FR" sz="900" b="1"/>
              <a:t>À retenir. </a:t>
            </a:r>
            <a:r>
              <a:rPr lang="fr-FR" sz="900"/>
              <a:t>La répartition reste stable : aucun média ne bouge de plus de 0,3 point et le classement est inchangé.</a:t>
            </a:r>
          </a:p>
          <a:p>
            <a:r>
              <a:rPr lang="fr-FR" sz="900"/>
              <a:t>Modes &amp; Travaux renforce sa première place : 31,6 % des impressions, +0,3 point.</a:t>
            </a:r>
          </a:p>
          <a:p>
            <a:r>
              <a:rPr lang="fr-FR" sz="900"/>
              <a:t>Avec Marmiton (27,1 %) et Qwant (16,4 %), les trois premiers médias portent 75,1 % de la diffusion.</a:t>
            </a:r>
          </a:p>
          <a:p>
            <a:r>
              <a:rPr lang="fr-FR" sz="900"/>
              <a:t>20 Minutes (6,4 %) et Biba (6,3 %) se resserrent ; la longue traîne des autres médias recule de 0,3 point, à 12,2 %.</a:t>
            </a:r>
          </a:p>
        </p:txBody>
      </p:sp>
      <p:sp>
        <p:nvSpPr>
          <p:cNvPr id="166" name="TextBox 131"/>
          <p:cNvSpPr txBox="1"/>
          <p:nvPr/>
        </p:nvSpPr>
        <p:spPr>
          <a:xfrm>
            <a:off x="457200" y="11887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 spc="110">
                <a:solidFill>
                  <a:srgbClr val="A8A49C"/>
                </a:solidFill>
                <a:latin typeface="Inter"/>
              </a:rPr>
              <a:t>01 INDICATEURS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1" i="0" spc="110">
                <a:solidFill>
                  <a:srgbClr val="F26B2A"/>
                </a:solidFill>
                <a:latin typeface="Inter"/>
              </a:rPr>
              <a:t>02 BOULANGER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0" i="0" spc="110">
                <a:solidFill>
                  <a:srgbClr val="A8A49C"/>
                </a:solidFill>
                <a:latin typeface="Inter"/>
              </a:rPr>
              <a:t>03 PISTES DE RECO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 txBox="1"/>
          <p:nvPr/>
        </p:nvSpPr>
        <p:spPr>
          <a:xfrm>
            <a:off x="457200" y="384048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i="0">
                <a:solidFill>
                  <a:srgbClr val="0A0A0A"/>
                </a:solidFill>
                <a:latin typeface="Inter"/>
              </a:rPr>
              <a:t>Nos recommandations pour les prochaines semaines</a:t>
            </a:r>
          </a:p>
        </p:txBody>
      </p:sp>
      <p:sp>
        <p:nvSpPr>
          <p:cNvPr id="102" name="Rounded Rectangle 2"/>
          <p:cNvSpPr/>
          <p:nvPr/>
        </p:nvSpPr>
        <p:spPr>
          <a:xfrm>
            <a:off x="9902952" y="384048"/>
            <a:ext cx="1828800" cy="384048"/>
          </a:xfrm>
          <a:prstGeom prst="roundRect">
            <a:avLst>
              <a:gd name="adj" fmla="val 10000"/>
            </a:avLst>
          </a:prstGeom>
          <a:solidFill>
            <a:srgbClr val="15110B"/>
          </a:solidFill>
          <a:ln w="12700">
            <a:solidFill>
              <a:srgbClr val="1511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3" name="TextBox 3"/>
          <p:cNvSpPr txBox="1"/>
          <p:nvPr/>
        </p:nvSpPr>
        <p:spPr>
          <a:xfrm>
            <a:off x="9902952" y="384048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spc="150">
                <a:solidFill>
                  <a:srgbClr val="FFFFFF"/>
                </a:solidFill>
                <a:latin typeface="Inter"/>
              </a:rPr>
              <a:t>PISTE DE RECO</a:t>
            </a:r>
          </a:p>
        </p:txBody>
      </p:sp>
      <p:sp>
        <p:nvSpPr>
          <p:cNvPr id="104" name="TextBox 4"/>
          <p:cNvSpPr txBox="1"/>
          <p:nvPr/>
        </p:nvSpPr>
        <p:spPr>
          <a:xfrm>
            <a:off x="457200" y="1316736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6B6B6B"/>
                </a:solidFill>
                <a:latin typeface="Inter"/>
              </a:rPr>
              <a:t>Quatre sujets à faire avancer ensemble, du suivi de la campagne aux prochaines opportunités.</a:t>
            </a:r>
          </a:p>
        </p:txBody>
      </p:sp>
      <p:sp>
        <p:nvSpPr>
          <p:cNvPr id="105" name="Rectangle 5"/>
          <p:cNvSpPr/>
          <p:nvPr/>
        </p:nvSpPr>
        <p:spPr>
          <a:xfrm>
            <a:off x="457200" y="1810000"/>
            <a:ext cx="5477256" cy="1700000"/>
          </a:xfrm>
          <a:prstGeom prst="rect">
            <a:avLst/>
          </a:prstGeom>
          <a:solidFill>
            <a:srgbClr val="FCF6EF"/>
          </a:solidFill>
          <a:ln w="12700">
            <a:solidFill>
              <a:srgbClr val="FCF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6" name="Rounded Rectangle 14"/>
          <p:cNvSpPr/>
          <p:nvPr/>
        </p:nvSpPr>
        <p:spPr>
          <a:xfrm>
            <a:off x="457200" y="1810000"/>
            <a:ext cx="5477256" cy="365760"/>
          </a:xfrm>
          <a:prstGeom prst="roundRect">
            <a:avLst>
              <a:gd name="adj" fmla="val 14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7" name="TextBox 15"/>
          <p:cNvSpPr txBox="1"/>
          <p:nvPr/>
        </p:nvSpPr>
        <p:spPr>
          <a:xfrm>
            <a:off x="713232" y="1810000"/>
            <a:ext cx="50200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spc="120">
                <a:solidFill>
                  <a:srgbClr val="AB3C00"/>
                </a:solidFill>
                <a:latin typeface="Inter"/>
              </a:rPr>
              <a:t>1 · Accès à la console de suivi</a:t>
            </a:r>
          </a:p>
        </p:txBody>
      </p:sp>
      <p:sp>
        <p:nvSpPr>
          <p:cNvPr id="108" name="TextBox 16"/>
          <p:cNvSpPr txBox="1"/>
          <p:nvPr/>
        </p:nvSpPr>
        <p:spPr>
          <a:xfrm>
            <a:off x="621792" y="2310000"/>
            <a:ext cx="182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•</a:t>
            </a:r>
          </a:p>
        </p:txBody>
      </p:sp>
      <p:sp>
        <p:nvSpPr>
          <p:cNvPr id="109" name="TextBox 17"/>
          <p:cNvSpPr txBox="1"/>
          <p:nvPr/>
        </p:nvSpPr>
        <p:spPr>
          <a:xfrm>
            <a:off x="822960" y="2310000"/>
            <a:ext cx="5011496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Vous avez désormais accès à la console Lemrock pour suivre les performances de la campagne en direct.</a:t>
            </a:r>
          </a:p>
        </p:txBody>
      </p:sp>
      <p:sp>
        <p:nvSpPr>
          <p:cNvPr id="110" name="TextBox 16"/>
          <p:cNvSpPr txBox="1"/>
          <p:nvPr/>
        </p:nvSpPr>
        <p:spPr>
          <a:xfrm>
            <a:off x="621792" y="2870000"/>
            <a:ext cx="182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•</a:t>
            </a:r>
          </a:p>
        </p:txBody>
      </p:sp>
      <p:sp>
        <p:nvSpPr>
          <p:cNvPr id="111" name="TextBox 17"/>
          <p:cNvSpPr txBox="1"/>
          <p:nvPr/>
        </p:nvSpPr>
        <p:spPr>
          <a:xfrm>
            <a:off x="822960" y="2870000"/>
            <a:ext cx="5011496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À faire : vérifier avec vous que l'accès fonctionne pour chaque utilisateur Boulanger.</a:t>
            </a:r>
          </a:p>
        </p:txBody>
      </p:sp>
      <p:sp>
        <p:nvSpPr>
          <p:cNvPr id="112" name="Rectangle 5"/>
          <p:cNvSpPr/>
          <p:nvPr/>
        </p:nvSpPr>
        <p:spPr>
          <a:xfrm>
            <a:off x="6254496" y="1810000"/>
            <a:ext cx="5477256" cy="1700000"/>
          </a:xfrm>
          <a:prstGeom prst="rect">
            <a:avLst/>
          </a:prstGeom>
          <a:solidFill>
            <a:srgbClr val="FCF6EF"/>
          </a:solidFill>
          <a:ln w="12700">
            <a:solidFill>
              <a:srgbClr val="FCF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3" name="Rounded Rectangle 14"/>
          <p:cNvSpPr/>
          <p:nvPr/>
        </p:nvSpPr>
        <p:spPr>
          <a:xfrm>
            <a:off x="6254496" y="1810000"/>
            <a:ext cx="5477256" cy="365760"/>
          </a:xfrm>
          <a:prstGeom prst="roundRect">
            <a:avLst>
              <a:gd name="adj" fmla="val 14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4" name="TextBox 15"/>
          <p:cNvSpPr txBox="1"/>
          <p:nvPr/>
        </p:nvSpPr>
        <p:spPr>
          <a:xfrm>
            <a:off x="6510528" y="1810000"/>
            <a:ext cx="50200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spc="120">
                <a:solidFill>
                  <a:srgbClr val="AB3C00"/>
                </a:solidFill>
                <a:latin typeface="Inter"/>
              </a:rPr>
              <a:t>2 · Conversion tracker : lever les blocages</a:t>
            </a:r>
          </a:p>
        </p:txBody>
      </p:sp>
      <p:sp>
        <p:nvSpPr>
          <p:cNvPr id="115" name="TextBox 16"/>
          <p:cNvSpPr txBox="1"/>
          <p:nvPr/>
        </p:nvSpPr>
        <p:spPr>
          <a:xfrm>
            <a:off x="6419088" y="2310000"/>
            <a:ext cx="182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•</a:t>
            </a:r>
          </a:p>
        </p:txBody>
      </p:sp>
      <p:sp>
        <p:nvSpPr>
          <p:cNvPr id="116" name="TextBox 17"/>
          <p:cNvSpPr txBox="1"/>
          <p:nvPr/>
        </p:nvSpPr>
        <p:spPr>
          <a:xfrm>
            <a:off x="6620256" y="2310000"/>
            <a:ext cx="5011496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Les premières conversions remontent (6 cette semaine), mais la réconciliation avec vos données n'est pas encore validée.</a:t>
            </a:r>
          </a:p>
        </p:txBody>
      </p:sp>
      <p:sp>
        <p:nvSpPr>
          <p:cNvPr id="117" name="TextBox 16"/>
          <p:cNvSpPr txBox="1"/>
          <p:nvPr/>
        </p:nvSpPr>
        <p:spPr>
          <a:xfrm>
            <a:off x="6419088" y="2870000"/>
            <a:ext cx="182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•</a:t>
            </a:r>
          </a:p>
        </p:txBody>
      </p:sp>
      <p:sp>
        <p:nvSpPr>
          <p:cNvPr id="118" name="TextBox 17"/>
          <p:cNvSpPr txBox="1"/>
          <p:nvPr/>
        </p:nvSpPr>
        <p:spPr>
          <a:xfrm>
            <a:off x="6620256" y="2870000"/>
            <a:ext cx="5011496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À faire : identifier et lever les derniers blocages pour fiabiliser le coût par vente.</a:t>
            </a:r>
          </a:p>
        </p:txBody>
      </p:sp>
      <p:sp>
        <p:nvSpPr>
          <p:cNvPr id="119" name="Rectangle 5"/>
          <p:cNvSpPr/>
          <p:nvPr/>
        </p:nvSpPr>
        <p:spPr>
          <a:xfrm>
            <a:off x="457200" y="3700000"/>
            <a:ext cx="5477256" cy="1700000"/>
          </a:xfrm>
          <a:prstGeom prst="rect">
            <a:avLst/>
          </a:prstGeom>
          <a:solidFill>
            <a:srgbClr val="FCF6EF"/>
          </a:solidFill>
          <a:ln w="12700">
            <a:solidFill>
              <a:srgbClr val="FCF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0" name="Rounded Rectangle 14"/>
          <p:cNvSpPr/>
          <p:nvPr/>
        </p:nvSpPr>
        <p:spPr>
          <a:xfrm>
            <a:off x="457200" y="3700000"/>
            <a:ext cx="5477256" cy="365760"/>
          </a:xfrm>
          <a:prstGeom prst="roundRect">
            <a:avLst>
              <a:gd name="adj" fmla="val 14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1" name="TextBox 15"/>
          <p:cNvSpPr txBox="1"/>
          <p:nvPr/>
        </p:nvSpPr>
        <p:spPr>
          <a:xfrm>
            <a:off x="713232" y="3700000"/>
            <a:ext cx="50200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spc="120">
                <a:solidFill>
                  <a:srgbClr val="AB3C00"/>
                </a:solidFill>
                <a:latin typeface="Inter"/>
              </a:rPr>
              <a:t>3 · Faire progresser le panier moyen</a:t>
            </a:r>
          </a:p>
        </p:txBody>
      </p:sp>
      <p:sp>
        <p:nvSpPr>
          <p:cNvPr id="122" name="TextBox 16"/>
          <p:cNvSpPr txBox="1"/>
          <p:nvPr/>
        </p:nvSpPr>
        <p:spPr>
          <a:xfrm>
            <a:off x="621792" y="4200000"/>
            <a:ext cx="182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•</a:t>
            </a:r>
          </a:p>
        </p:txBody>
      </p:sp>
      <p:sp>
        <p:nvSpPr>
          <p:cNvPr id="123" name="TextBox 17"/>
          <p:cNvSpPr txBox="1"/>
          <p:nvPr/>
        </p:nvSpPr>
        <p:spPr>
          <a:xfrm>
            <a:off x="822960" y="4200000"/>
            <a:ext cx="5011496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148,11 € cette semaine, +4,2 % vs S-1 (YTD 140,21 €) : la tendance est bonne, à confirmer.</a:t>
            </a:r>
          </a:p>
        </p:txBody>
      </p:sp>
      <p:sp>
        <p:nvSpPr>
          <p:cNvPr id="124" name="TextBox 16"/>
          <p:cNvSpPr txBox="1"/>
          <p:nvPr/>
        </p:nvSpPr>
        <p:spPr>
          <a:xfrm>
            <a:off x="621792" y="4760000"/>
            <a:ext cx="182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•</a:t>
            </a:r>
          </a:p>
        </p:txBody>
      </p:sp>
      <p:sp>
        <p:nvSpPr>
          <p:cNvPr id="125" name="TextBox 17"/>
          <p:cNvSpPr txBox="1"/>
          <p:nvPr/>
        </p:nvSpPr>
        <p:spPr>
          <a:xfrm>
            <a:off x="822960" y="4760000"/>
            <a:ext cx="5011496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À faire : suivre l'indicateur de près chaque semaine et pousser les références à plus forte valeur.</a:t>
            </a:r>
          </a:p>
        </p:txBody>
      </p:sp>
      <p:sp>
        <p:nvSpPr>
          <p:cNvPr id="126" name="Rectangle 5"/>
          <p:cNvSpPr/>
          <p:nvPr/>
        </p:nvSpPr>
        <p:spPr>
          <a:xfrm>
            <a:off x="6254496" y="3700000"/>
            <a:ext cx="5477256" cy="1700000"/>
          </a:xfrm>
          <a:prstGeom prst="rect">
            <a:avLst/>
          </a:prstGeom>
          <a:solidFill>
            <a:srgbClr val="FCF6EF"/>
          </a:solidFill>
          <a:ln w="12700">
            <a:solidFill>
              <a:srgbClr val="FCF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7" name="Rounded Rectangle 14"/>
          <p:cNvSpPr/>
          <p:nvPr/>
        </p:nvSpPr>
        <p:spPr>
          <a:xfrm>
            <a:off x="6254496" y="3700000"/>
            <a:ext cx="5477256" cy="365760"/>
          </a:xfrm>
          <a:prstGeom prst="roundRect">
            <a:avLst>
              <a:gd name="adj" fmla="val 14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8" name="TextBox 15"/>
          <p:cNvSpPr txBox="1"/>
          <p:nvPr/>
        </p:nvSpPr>
        <p:spPr>
          <a:xfrm>
            <a:off x="6510528" y="3700000"/>
            <a:ext cx="50200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spc="120">
                <a:solidFill>
                  <a:srgbClr val="AB3C00"/>
                </a:solidFill>
                <a:latin typeface="Inter"/>
              </a:rPr>
              <a:t>4 · Sujet Bose</a:t>
            </a:r>
          </a:p>
        </p:txBody>
      </p:sp>
      <p:sp>
        <p:nvSpPr>
          <p:cNvPr id="129" name="TextBox 16"/>
          <p:cNvSpPr txBox="1"/>
          <p:nvPr/>
        </p:nvSpPr>
        <p:spPr>
          <a:xfrm>
            <a:off x="6419088" y="4200000"/>
            <a:ext cx="182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•</a:t>
            </a:r>
          </a:p>
        </p:txBody>
      </p:sp>
      <p:sp>
        <p:nvSpPr>
          <p:cNvPr id="130" name="TextBox 17"/>
          <p:cNvSpPr txBox="1"/>
          <p:nvPr/>
        </p:nvSpPr>
        <p:spPr>
          <a:xfrm>
            <a:off x="6620256" y="4200000"/>
            <a:ext cx="5011496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Bose envisage 20 000 € par mois pour la fin d'année, avec une commission Boulanger de 2 000 à 3 000 €.</a:t>
            </a:r>
          </a:p>
        </p:txBody>
      </p:sp>
      <p:sp>
        <p:nvSpPr>
          <p:cNvPr id="131" name="TextBox 16"/>
          <p:cNvSpPr txBox="1"/>
          <p:nvPr/>
        </p:nvSpPr>
        <p:spPr>
          <a:xfrm>
            <a:off x="6419088" y="4760000"/>
            <a:ext cx="182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•</a:t>
            </a:r>
          </a:p>
        </p:txBody>
      </p:sp>
      <p:sp>
        <p:nvSpPr>
          <p:cNvPr id="132" name="TextBox 17"/>
          <p:cNvSpPr txBox="1"/>
          <p:nvPr/>
        </p:nvSpPr>
        <p:spPr>
          <a:xfrm>
            <a:off x="6620256" y="4760000"/>
            <a:ext cx="5011496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À faire : fixer le cadre du test (durée, partage de revenu, articulation avec le fil rouge).</a:t>
            </a:r>
          </a:p>
        </p:txBody>
      </p:sp>
      <p:sp>
        <p:nvSpPr>
          <p:cNvPr id="133" name="Rectangle 26"/>
          <p:cNvSpPr/>
          <p:nvPr/>
        </p:nvSpPr>
        <p:spPr>
          <a:xfrm>
            <a:off x="457200" y="5600000"/>
            <a:ext cx="50292" cy="500000"/>
          </a:xfrm>
          <a:prstGeom prst="rect">
            <a:avLst/>
          </a:prstGeom>
          <a:solidFill>
            <a:srgbClr val="AB3C00"/>
          </a:solidFill>
          <a:ln w="12700">
            <a:solidFill>
              <a:srgbClr val="AB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4" name="TextBox 27"/>
          <p:cNvSpPr txBox="1"/>
          <p:nvPr/>
        </p:nvSpPr>
        <p:spPr>
          <a:xfrm>
            <a:off x="694944" y="5600000"/>
            <a:ext cx="1088136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i="0">
                <a:solidFill>
                  <a:srgbClr val="0A0A0A"/>
                </a:solidFill>
                <a:latin typeface="Inter"/>
              </a:rPr>
              <a:t>Prochaine étape : nous faisons le point sur ces quatre sujets lors du prochain weekly.</a:t>
            </a:r>
          </a:p>
        </p:txBody>
      </p:sp>
      <p:sp>
        <p:nvSpPr>
          <p:cNvPr id="135" name="TextBox 28"/>
          <p:cNvSpPr txBox="1"/>
          <p:nvPr/>
        </p:nvSpPr>
        <p:spPr>
          <a:xfrm>
            <a:off x="457200" y="638251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 i="1">
                <a:solidFill>
                  <a:srgbClr val="6B6B6B"/>
                </a:solidFill>
                <a:latin typeface="Inter"/>
              </a:rPr>
              <a:t>Pistes issues du weekly du 25 septembre 2026.</a:t>
            </a:r>
          </a:p>
        </p:txBody>
      </p:sp>
      <p:sp>
        <p:nvSpPr>
          <p:cNvPr id="136" name="TextBox 29"/>
          <p:cNvSpPr txBox="1"/>
          <p:nvPr/>
        </p:nvSpPr>
        <p:spPr>
          <a:xfrm>
            <a:off x="457200" y="11887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 spc="110">
                <a:solidFill>
                  <a:srgbClr val="A8A49C"/>
                </a:solidFill>
                <a:latin typeface="Inter"/>
              </a:rPr>
              <a:t>01 INDICATEURS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0" i="0" spc="110">
                <a:solidFill>
                  <a:srgbClr val="A8A49C"/>
                </a:solidFill>
                <a:latin typeface="Inter"/>
              </a:rPr>
              <a:t>02 BOULANGER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1" i="0" spc="110">
                <a:solidFill>
                  <a:srgbClr val="F26B2A"/>
                </a:solidFill>
                <a:latin typeface="Inter"/>
              </a:rPr>
              <a:t>03 PISTES DE RECO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d6c9e77-ebe9-49f6-8b53-17127b1420ff">
      <Terms xmlns="http://schemas.microsoft.com/office/infopath/2007/PartnerControls"/>
    </lcf76f155ced4ddcb4097134ff3c332f>
    <TaxCatchAll xmlns="c4627576-656c-436f-b686-aeca7805b032" xsi:nil="true"/>
    <_dlc_DocId xmlns="c4627576-656c-436f-b686-aeca7805b032">ZKQTZRZKYFDM-1105887346-4335</_dlc_DocId>
    <_dlc_DocIdUrl xmlns="c4627576-656c-436f-b686-aeca7805b032">
      <Url>https://lemrock.sharepoint.com/sites/LemrockHQ/_layouts/15/DocIdRedir.aspx?ID=ZKQTZRZKYFDM-1105887346-4335</Url>
      <Description>ZKQTZRZKYFDM-1105887346-4335</Description>
    </_dlc_DocIdUrl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A03431663057499CF9FED8D5DC4E6F" ma:contentTypeVersion="13" ma:contentTypeDescription="Create a new document." ma:contentTypeScope="" ma:versionID="63a37287fbdac5486f1a669afed97af4">
  <xsd:schema xmlns:xsd="http://www.w3.org/2001/XMLSchema" xmlns:xs="http://www.w3.org/2001/XMLSchema" xmlns:p="http://schemas.microsoft.com/office/2006/metadata/properties" xmlns:ns2="2d6c9e77-ebe9-49f6-8b53-17127b1420ff" xmlns:ns3="c4627576-656c-436f-b686-aeca7805b032" targetNamespace="http://schemas.microsoft.com/office/2006/metadata/properties" ma:root="true" ma:fieldsID="f6c183dfbf35d002dfdbfbe1da2cbb65" ns2:_="" ns3:_="">
    <xsd:import namespace="2d6c9e77-ebe9-49f6-8b53-17127b1420ff"/>
    <xsd:import namespace="c4627576-656c-436f-b686-aeca7805b0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  <xsd:element ref="ns2:MediaLengthInSeconds" minOccurs="0"/>
                <xsd:element ref="ns3:_dlc_DocId" minOccurs="0"/>
                <xsd:element ref="ns3:_dlc_DocIdUrl" minOccurs="0"/>
                <xsd:element ref="ns3:_dlc_DocIdPersistId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6c9e77-ebe9-49f6-8b53-17127b1420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3ab39d68-43a8-4186-a181-1ee2eae7bfe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627576-656c-436f-b686-aeca7805b032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04c3fe23-62fc-4dfc-bfe7-d6a8dc7172bb}" ma:internalName="TaxCatchAll" ma:showField="CatchAllData" ma:web="c4627576-656c-436f-b686-aeca7805b0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_dlc_DocId" ma:index="20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21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2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9233B6D-5919-47AA-8355-BFB4BDE5B93F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7443E5C4-EDF6-4041-86AB-1ED15B31B8F8}">
  <ds:schemaRefs>
    <ds:schemaRef ds:uri="2d6c9e77-ebe9-49f6-8b53-17127b1420ff"/>
    <ds:schemaRef ds:uri="c4627576-656c-436f-b686-aeca7805b03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9FB8029-B0DE-4F60-AFAD-F21C2FA61248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2AEF3C9C-807E-48E8-9253-3F838B67D1EC}">
  <ds:schemaRefs>
    <ds:schemaRef ds:uri="2d6c9e77-ebe9-49f6-8b53-17127b1420ff"/>
    <ds:schemaRef ds:uri="c4627576-656c-436f-b686-aeca7805b03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2</cp:revision>
  <dcterms:created xsi:type="dcterms:W3CDTF">2013-01-27T09:14:16Z</dcterms:created>
  <dcterms:modified xsi:type="dcterms:W3CDTF">2026-10-09T13:08:58Z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0x010100C7A03431663057499CF9FED8D5DC4E6F</vt:lpwstr>
  </property>
  <property fmtid="{D5CDD505-2E9C-101B-9397-08002B2CF9AE}" pid="3" name="_dlc_DocIdItemGuid">
    <vt:lpwstr>7828cc9f-9469-4ae2-a75c-4cee9d7e6297</vt:lpwstr>
  </property>
  <property fmtid="{D5CDD505-2E9C-101B-9397-08002B2CF9AE}" pid="4" name="MediaServiceImageTags">
    <vt:lpwstr/>
  </property>
</Properties>
</file>