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90" r:id="rId900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Relationship Id="rId900" Type="http://schemas.openxmlformats.org/officeDocument/2006/relationships/slide" Target="slides/slide1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6">
                  <c:v>15.6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15,6 %,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+0,3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(15,3 %)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7702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012585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90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51415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660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2246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314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9993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0,1 %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51383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9651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+0,4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49651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22,5 %.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55 % des cas, au deuxième échange dans 29 % des cas, et plus tard dans 16 %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29 %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617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20 %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779776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316736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9 %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87782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6 %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E.Leclerc et Amazon, leaders en part de voix, pèsent 39 % des comparaisons. Répartition indicative, projetée, non mesurée.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3,3 %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3,0 %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4,7 %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3,0 %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4,4 %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3,7 %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2,1 %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4593336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4593336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3,6 %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925568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925568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5257800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5257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friteuse sans huile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4,1 %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airfryer choisir pour cuisiner pour quatre personnes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Ninja Foodi Dual Zone, Philips Airfryer XXL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3,4 %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3928872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39288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56,0 %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 classement bouge peu, mais la friteuse sans huile fait son entrée dans le top 10 et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Friteuses sans huile : nouvelle entrée (4,1 % des conversations), avec une présence Boulanger déjà à 3,4 %. Batteries externes : la plus faible visibilité du top 10 (2,1 %).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E.Leclerc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E.Leclerc et Amazon concentrent 39 % des comparaisons.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22,9 %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22,9 %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5,3 %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RÉPARTITION DES MÉDIAS · PÉRIODE ANALYSÉE 24/09/2026 → 30/09/2026</a:t>
            </a:r>
          </a:p>
        </p:txBody>
      </p:sp>
      <p:sp>
        <p:nvSpPr>
          <p:cNvPr id="102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104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105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107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Répartition de la diffusion par média</a:t>
            </a:r>
          </a:p>
        </p:txBody>
      </p:sp>
      <p:sp>
        <p:nvSpPr>
          <p:cNvPr id="109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impressions de la campagne par site éditeur · évolution sur les deux derniers jours.</a:t>
            </a:r>
          </a:p>
        </p:txBody>
      </p:sp>
      <p:sp>
        <p:nvSpPr>
          <p:cNvPr id="110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  <p:sp>
        <p:nvSpPr>
          <p:cNvPr id="111" name="TextBox 11"/>
          <p:cNvSpPr txBox="1"/>
          <p:nvPr/>
        </p:nvSpPr>
        <p:spPr>
          <a:xfrm>
            <a:off x="73152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MÉDIA</a:t>
            </a:r>
          </a:p>
        </p:txBody>
      </p:sp>
      <p:sp>
        <p:nvSpPr>
          <p:cNvPr id="112" name="TextBox 11"/>
          <p:cNvSpPr txBox="1"/>
          <p:nvPr/>
        </p:nvSpPr>
        <p:spPr>
          <a:xfrm>
            <a:off x="3337560" y="1901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 DES IMPRESSIONS</a:t>
            </a:r>
          </a:p>
        </p:txBody>
      </p:sp>
      <p:sp>
        <p:nvSpPr>
          <p:cNvPr id="113" name="TextBox 11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14" name="TextBox 11"/>
          <p:cNvSpPr txBox="1"/>
          <p:nvPr/>
        </p:nvSpPr>
        <p:spPr>
          <a:xfrm>
            <a:off x="9601200" y="1901952"/>
            <a:ext cx="160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ÉVOLUTION</a:t>
            </a:r>
          </a:p>
        </p:txBody>
      </p:sp>
      <p:sp>
        <p:nvSpPr>
          <p:cNvPr id="115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TextBox 17"/>
          <p:cNvSpPr txBox="1"/>
          <p:nvPr/>
        </p:nvSpPr>
        <p:spPr>
          <a:xfrm>
            <a:off x="457200" y="233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731520" y="231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Modes &amp; Travaux</a:t>
            </a:r>
          </a:p>
        </p:txBody>
      </p:sp>
      <p:sp>
        <p:nvSpPr>
          <p:cNvPr id="118" name="Rounded Rectangle 24"/>
          <p:cNvSpPr/>
          <p:nvPr/>
        </p:nvSpPr>
        <p:spPr>
          <a:xfrm>
            <a:off x="3337560" y="23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Rounded Rectangle 25"/>
          <p:cNvSpPr/>
          <p:nvPr/>
        </p:nvSpPr>
        <p:spPr>
          <a:xfrm>
            <a:off x="3337560" y="23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TextBox 19"/>
          <p:cNvSpPr txBox="1"/>
          <p:nvPr/>
        </p:nvSpPr>
        <p:spPr>
          <a:xfrm>
            <a:off x="8412480" y="23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31,6 %</a:t>
            </a:r>
          </a:p>
        </p:txBody>
      </p:sp>
      <p:sp>
        <p:nvSpPr>
          <p:cNvPr id="121" name="TextBox 22"/>
          <p:cNvSpPr txBox="1"/>
          <p:nvPr/>
        </p:nvSpPr>
        <p:spPr>
          <a:xfrm>
            <a:off x="9601200" y="231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+0,3 pt</a:t>
            </a:r>
          </a:p>
        </p:txBody>
      </p:sp>
      <p:sp>
        <p:nvSpPr>
          <p:cNvPr id="122" name="TextBox 19"/>
          <p:cNvSpPr txBox="1"/>
          <p:nvPr/>
        </p:nvSpPr>
        <p:spPr>
          <a:xfrm>
            <a:off x="10500000" y="231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31,3 %</a:t>
            </a:r>
          </a:p>
        </p:txBody>
      </p:sp>
      <p:sp>
        <p:nvSpPr>
          <p:cNvPr id="123" name="Rectangle 16"/>
          <p:cNvSpPr/>
          <p:nvPr/>
        </p:nvSpPr>
        <p:spPr>
          <a:xfrm>
            <a:off x="457200" y="267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4" name="TextBox 17"/>
          <p:cNvSpPr txBox="1"/>
          <p:nvPr/>
        </p:nvSpPr>
        <p:spPr>
          <a:xfrm>
            <a:off x="457200" y="281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25" name="TextBox 18"/>
          <p:cNvSpPr txBox="1"/>
          <p:nvPr/>
        </p:nvSpPr>
        <p:spPr>
          <a:xfrm>
            <a:off x="731520" y="279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Marmiton</a:t>
            </a:r>
          </a:p>
        </p:txBody>
      </p:sp>
      <p:sp>
        <p:nvSpPr>
          <p:cNvPr id="126" name="Rounded Rectangle 24"/>
          <p:cNvSpPr/>
          <p:nvPr/>
        </p:nvSpPr>
        <p:spPr>
          <a:xfrm>
            <a:off x="3337560" y="286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7" name="Rounded Rectangle 25"/>
          <p:cNvSpPr/>
          <p:nvPr/>
        </p:nvSpPr>
        <p:spPr>
          <a:xfrm>
            <a:off x="3337560" y="2864560"/>
            <a:ext cx="3920924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9"/>
          <p:cNvSpPr txBox="1"/>
          <p:nvPr/>
        </p:nvSpPr>
        <p:spPr>
          <a:xfrm>
            <a:off x="8412480" y="279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27,1 %</a:t>
            </a:r>
          </a:p>
        </p:txBody>
      </p:sp>
      <p:sp>
        <p:nvSpPr>
          <p:cNvPr id="129" name="TextBox 22"/>
          <p:cNvSpPr txBox="1"/>
          <p:nvPr/>
        </p:nvSpPr>
        <p:spPr>
          <a:xfrm>
            <a:off x="9601200" y="279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-0,1 pt</a:t>
            </a:r>
          </a:p>
        </p:txBody>
      </p:sp>
      <p:sp>
        <p:nvSpPr>
          <p:cNvPr id="130" name="TextBox 19"/>
          <p:cNvSpPr txBox="1"/>
          <p:nvPr/>
        </p:nvSpPr>
        <p:spPr>
          <a:xfrm>
            <a:off x="10500000" y="279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27,2 %</a:t>
            </a:r>
          </a:p>
        </p:txBody>
      </p:sp>
      <p:sp>
        <p:nvSpPr>
          <p:cNvPr id="131" name="Rectangle 16"/>
          <p:cNvSpPr/>
          <p:nvPr/>
        </p:nvSpPr>
        <p:spPr>
          <a:xfrm>
            <a:off x="457200" y="315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2" name="TextBox 17"/>
          <p:cNvSpPr txBox="1"/>
          <p:nvPr/>
        </p:nvSpPr>
        <p:spPr>
          <a:xfrm>
            <a:off x="457200" y="329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133" name="TextBox 18"/>
          <p:cNvSpPr txBox="1"/>
          <p:nvPr/>
        </p:nvSpPr>
        <p:spPr>
          <a:xfrm>
            <a:off x="731520" y="327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Qwant</a:t>
            </a:r>
          </a:p>
        </p:txBody>
      </p:sp>
      <p:sp>
        <p:nvSpPr>
          <p:cNvPr id="134" name="Rounded Rectangle 24"/>
          <p:cNvSpPr/>
          <p:nvPr/>
        </p:nvSpPr>
        <p:spPr>
          <a:xfrm>
            <a:off x="3337560" y="334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5" name="Rounded Rectangle 25"/>
          <p:cNvSpPr/>
          <p:nvPr/>
        </p:nvSpPr>
        <p:spPr>
          <a:xfrm>
            <a:off x="3337560" y="3344560"/>
            <a:ext cx="2372810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TextBox 19"/>
          <p:cNvSpPr txBox="1"/>
          <p:nvPr/>
        </p:nvSpPr>
        <p:spPr>
          <a:xfrm>
            <a:off x="8412480" y="327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16,4 %</a:t>
            </a:r>
          </a:p>
        </p:txBody>
      </p:sp>
      <p:sp>
        <p:nvSpPr>
          <p:cNvPr id="137" name="TextBox 22"/>
          <p:cNvSpPr txBox="1"/>
          <p:nvPr/>
        </p:nvSpPr>
        <p:spPr>
          <a:xfrm>
            <a:off x="9601200" y="327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+0,1 pt</a:t>
            </a:r>
          </a:p>
        </p:txBody>
      </p:sp>
      <p:sp>
        <p:nvSpPr>
          <p:cNvPr id="138" name="TextBox 19"/>
          <p:cNvSpPr txBox="1"/>
          <p:nvPr/>
        </p:nvSpPr>
        <p:spPr>
          <a:xfrm>
            <a:off x="10500000" y="327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16,3 %</a:t>
            </a:r>
          </a:p>
        </p:txBody>
      </p:sp>
      <p:sp>
        <p:nvSpPr>
          <p:cNvPr id="139" name="Rectangle 16"/>
          <p:cNvSpPr/>
          <p:nvPr/>
        </p:nvSpPr>
        <p:spPr>
          <a:xfrm>
            <a:off x="457200" y="363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TextBox 17"/>
          <p:cNvSpPr txBox="1"/>
          <p:nvPr/>
        </p:nvSpPr>
        <p:spPr>
          <a:xfrm>
            <a:off x="457200" y="377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141" name="TextBox 18"/>
          <p:cNvSpPr txBox="1"/>
          <p:nvPr/>
        </p:nvSpPr>
        <p:spPr>
          <a:xfrm>
            <a:off x="731520" y="375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20 Minutes</a:t>
            </a:r>
          </a:p>
        </p:txBody>
      </p:sp>
      <p:sp>
        <p:nvSpPr>
          <p:cNvPr id="142" name="Rounded Rectangle 24"/>
          <p:cNvSpPr/>
          <p:nvPr/>
        </p:nvSpPr>
        <p:spPr>
          <a:xfrm>
            <a:off x="3337560" y="382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3" name="Rounded Rectangle 25"/>
          <p:cNvSpPr/>
          <p:nvPr/>
        </p:nvSpPr>
        <p:spPr>
          <a:xfrm>
            <a:off x="3337560" y="3824560"/>
            <a:ext cx="925974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TextBox 19"/>
          <p:cNvSpPr txBox="1"/>
          <p:nvPr/>
        </p:nvSpPr>
        <p:spPr>
          <a:xfrm>
            <a:off x="8412480" y="375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6,4 %</a:t>
            </a:r>
          </a:p>
        </p:txBody>
      </p:sp>
      <p:sp>
        <p:nvSpPr>
          <p:cNvPr id="145" name="TextBox 22"/>
          <p:cNvSpPr txBox="1"/>
          <p:nvPr/>
        </p:nvSpPr>
        <p:spPr>
          <a:xfrm>
            <a:off x="9601200" y="375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-0,1 pt</a:t>
            </a:r>
          </a:p>
        </p:txBody>
      </p:sp>
      <p:sp>
        <p:nvSpPr>
          <p:cNvPr id="146" name="TextBox 19"/>
          <p:cNvSpPr txBox="1"/>
          <p:nvPr/>
        </p:nvSpPr>
        <p:spPr>
          <a:xfrm>
            <a:off x="10500000" y="375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6,5 %</a:t>
            </a:r>
          </a:p>
        </p:txBody>
      </p:sp>
      <p:sp>
        <p:nvSpPr>
          <p:cNvPr id="147" name="Rectangle 16"/>
          <p:cNvSpPr/>
          <p:nvPr/>
        </p:nvSpPr>
        <p:spPr>
          <a:xfrm>
            <a:off x="457200" y="411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8" name="TextBox 17"/>
          <p:cNvSpPr txBox="1"/>
          <p:nvPr/>
        </p:nvSpPr>
        <p:spPr>
          <a:xfrm>
            <a:off x="457200" y="425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149" name="TextBox 18"/>
          <p:cNvSpPr txBox="1"/>
          <p:nvPr/>
        </p:nvSpPr>
        <p:spPr>
          <a:xfrm>
            <a:off x="731520" y="423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Biba</a:t>
            </a:r>
          </a:p>
        </p:txBody>
      </p:sp>
      <p:sp>
        <p:nvSpPr>
          <p:cNvPr id="150" name="Rounded Rectangle 24"/>
          <p:cNvSpPr/>
          <p:nvPr/>
        </p:nvSpPr>
        <p:spPr>
          <a:xfrm>
            <a:off x="3337560" y="430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1" name="Rounded Rectangle 25"/>
          <p:cNvSpPr/>
          <p:nvPr/>
        </p:nvSpPr>
        <p:spPr>
          <a:xfrm>
            <a:off x="3337560" y="4304560"/>
            <a:ext cx="911506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2" name="TextBox 19"/>
          <p:cNvSpPr txBox="1"/>
          <p:nvPr/>
        </p:nvSpPr>
        <p:spPr>
          <a:xfrm>
            <a:off x="8412480" y="423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6,3 %</a:t>
            </a:r>
          </a:p>
        </p:txBody>
      </p:sp>
      <p:sp>
        <p:nvSpPr>
          <p:cNvPr id="153" name="TextBox 22"/>
          <p:cNvSpPr txBox="1"/>
          <p:nvPr/>
        </p:nvSpPr>
        <p:spPr>
          <a:xfrm>
            <a:off x="9601200" y="423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+0,1 pt</a:t>
            </a:r>
          </a:p>
        </p:txBody>
      </p:sp>
      <p:sp>
        <p:nvSpPr>
          <p:cNvPr id="154" name="TextBox 19"/>
          <p:cNvSpPr txBox="1"/>
          <p:nvPr/>
        </p:nvSpPr>
        <p:spPr>
          <a:xfrm>
            <a:off x="10500000" y="423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6,2 %</a:t>
            </a:r>
          </a:p>
        </p:txBody>
      </p:sp>
      <p:sp>
        <p:nvSpPr>
          <p:cNvPr id="155" name="Rectangle 16"/>
          <p:cNvSpPr/>
          <p:nvPr/>
        </p:nvSpPr>
        <p:spPr>
          <a:xfrm>
            <a:off x="457200" y="45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6" name="TextBox 17"/>
          <p:cNvSpPr txBox="1"/>
          <p:nvPr/>
        </p:nvSpPr>
        <p:spPr>
          <a:xfrm>
            <a:off x="457200" y="473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157" name="TextBox 18"/>
          <p:cNvSpPr txBox="1"/>
          <p:nvPr/>
        </p:nvSpPr>
        <p:spPr>
          <a:xfrm>
            <a:off x="731520" y="471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Autres</a:t>
            </a:r>
          </a:p>
        </p:txBody>
      </p:sp>
      <p:sp>
        <p:nvSpPr>
          <p:cNvPr id="158" name="Rounded Rectangle 24"/>
          <p:cNvSpPr/>
          <p:nvPr/>
        </p:nvSpPr>
        <p:spPr>
          <a:xfrm>
            <a:off x="3337560" y="47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9" name="Rounded Rectangle 25"/>
          <p:cNvSpPr/>
          <p:nvPr/>
        </p:nvSpPr>
        <p:spPr>
          <a:xfrm>
            <a:off x="3337560" y="4784560"/>
            <a:ext cx="1765139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TextBox 19"/>
          <p:cNvSpPr txBox="1"/>
          <p:nvPr/>
        </p:nvSpPr>
        <p:spPr>
          <a:xfrm>
            <a:off x="8412480" y="47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12,2 %</a:t>
            </a:r>
          </a:p>
        </p:txBody>
      </p:sp>
      <p:sp>
        <p:nvSpPr>
          <p:cNvPr id="161" name="TextBox 22"/>
          <p:cNvSpPr txBox="1"/>
          <p:nvPr/>
        </p:nvSpPr>
        <p:spPr>
          <a:xfrm>
            <a:off x="9601200" y="4714560"/>
            <a:ext cx="16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-0,3 pt</a:t>
            </a:r>
          </a:p>
        </p:txBody>
      </p:sp>
      <p:sp>
        <p:nvSpPr>
          <p:cNvPr id="162" name="TextBox 19"/>
          <p:cNvSpPr txBox="1"/>
          <p:nvPr/>
        </p:nvSpPr>
        <p:spPr>
          <a:xfrm>
            <a:off x="10500000" y="4714560"/>
            <a:ext cx="1100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98A2B3"/>
                </a:solidFill>
                <a:latin typeface="Inter"/>
              </a:rPr>
              <a:t>vs 12,5 %</a:t>
            </a:r>
          </a:p>
        </p:txBody>
      </p:sp>
      <p:sp>
        <p:nvSpPr>
          <p:cNvPr id="163" name="Rectangle 16"/>
          <p:cNvSpPr/>
          <p:nvPr/>
        </p:nvSpPr>
        <p:spPr>
          <a:xfrm>
            <a:off x="457200" y="507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4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La répartition reste stable : aucun média ne bouge de plus de 0,3 point et le classement est inchangé.</a:t>
            </a:r>
          </a:p>
          <a:p>
            <a:r>
              <a:rPr lang="fr-FR" sz="900"/>
              <a:t>Modes &amp; Travaux renforce sa première place : 31,6 % des impressions, +0,3 point.</a:t>
            </a:r>
          </a:p>
          <a:p>
            <a:r>
              <a:rPr lang="fr-FR" sz="900"/>
              <a:t>Avec Marmiton (27,1 %) et Qwant (16,4 %), les trois premiers médias portent 75,1 % de la diffusion.</a:t>
            </a:r>
          </a:p>
          <a:p>
            <a:r>
              <a:rPr lang="fr-FR" sz="900"/>
              <a:t>20 Minutes (6,4 %) et Biba (6,3 %) se resserrent ; la longue traîne des autres médias recule de 0,3 point, à 12,2 %.</a:t>
            </a:r>
          </a:p>
        </p:txBody>
      </p:sp>
      <p:sp>
        <p:nvSpPr>
          <p:cNvPr id="166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