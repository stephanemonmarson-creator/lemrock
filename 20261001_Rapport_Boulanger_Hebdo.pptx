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notesMasterIdLst>
    <p:notesMasterId r:id="rId17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C59758-8992-2B4E-97F0-83694781C42C}" v="2" dt="2026-10-02T08:13:21.532"/>
    <p1510:client id="{D36DD84A-21D1-6D6F-3F98-0C05FFDC8E3D}" v="12" dt="2026-10-02T08:52:47.8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euille_de_calcul_104_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Boulanger</c:v>
                </c:pt>
              </c:strCache>
            </c:strRef>
          </c:tx>
          <c:spPr>
            <a:ln w="25400">
              <a:solidFill>
                <a:srgbClr val="F26B2A"/>
              </a:solidFill>
            </a:ln>
          </c:spPr>
          <c:marker>
            <c:symbol val="circle"/>
            <c:size val="6"/>
            <c:spPr>
              <a:solidFill>
                <a:srgbClr val="F26B2A"/>
              </a:solidFill>
              <a:ln>
                <a:solidFill>
                  <a:srgbClr val="F26B2A"/>
                </a:solidFill>
              </a:ln>
            </c:spPr>
          </c:marker>
          <c:dLbls>
            <c:delete val="1"/>
          </c:dLbls>
          <c:cat>
            <c:strRef>
              <c:f>Sheet1!$A$2:$A$8</c:f>
              <c:strCache>
                <c:ptCount val="7"/>
                <c:pt idx="0">
                  <c:v>11 sept.</c:v>
                </c:pt>
                <c:pt idx="1">
                  <c:v>15 sept.</c:v>
                </c:pt>
                <c:pt idx="2">
                  <c:v>18 sept.</c:v>
                </c:pt>
                <c:pt idx="3">
                  <c:v>22 sept.</c:v>
                </c:pt>
                <c:pt idx="4">
                  <c:v>25 sept.</c:v>
                </c:pt>
                <c:pt idx="5">
                  <c:v>1er oct.</c:v>
                </c:pt>
                <c:pt idx="6">
                  <c:v>8 oct.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13.4</c:v>
                </c:pt>
                <c:pt idx="1">
                  <c:v>13.8</c:v>
                </c:pt>
                <c:pt idx="2">
                  <c:v>14.1</c:v>
                </c:pt>
                <c:pt idx="3">
                  <c:v>14.5</c:v>
                </c:pt>
                <c:pt idx="4">
                  <c:v>14.8</c:v>
                </c:pt>
                <c:pt idx="5">
                  <c:v>15.3</c:v>
                </c:pt>
                <c:pt idx="6">
                  <c:v>15.6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5F6-1145-941C-5C9C8AF558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Moyenne du top 5</c:v>
                </c:pt>
              </c:strCache>
            </c:strRef>
          </c:tx>
          <c:spPr>
            <a:ln w="25400">
              <a:solidFill>
                <a:srgbClr val="98A2B3"/>
              </a:solidFill>
            </a:ln>
          </c:spPr>
          <c:marker>
            <c:symbol val="circle"/>
            <c:size val="6"/>
            <c:spPr>
              <a:solidFill>
                <a:srgbClr val="98A2B3"/>
              </a:solidFill>
              <a:ln>
                <a:solidFill>
                  <a:srgbClr val="98A2B3"/>
                </a:solidFill>
              </a:ln>
            </c:spPr>
          </c:marker>
          <c:dLbls>
            <c:delete val="1"/>
          </c:dLbls>
          <c:cat>
            <c:strRef>
              <c:f>Sheet1!$A$2:$A$8</c:f>
              <c:strCache>
                <c:ptCount val="7"/>
                <c:pt idx="0">
                  <c:v>11 sept.</c:v>
                </c:pt>
                <c:pt idx="1">
                  <c:v>15 sept.</c:v>
                </c:pt>
                <c:pt idx="2">
                  <c:v>18 sept.</c:v>
                </c:pt>
                <c:pt idx="3">
                  <c:v>22 sept.</c:v>
                </c:pt>
                <c:pt idx="4">
                  <c:v>25 sept.</c:v>
                </c:pt>
                <c:pt idx="5">
                  <c:v>1er oct.</c:v>
                </c:pt>
                <c:pt idx="6">
                  <c:v>8 oct.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15.5</c:v>
                </c:pt>
                <c:pt idx="1">
                  <c:v>15.4</c:v>
                </c:pt>
                <c:pt idx="2">
                  <c:v>15.6</c:v>
                </c:pt>
                <c:pt idx="3">
                  <c:v>15.3</c:v>
                </c:pt>
                <c:pt idx="6">
                  <c:v>15.6</c:v>
                </c:pt>
                <c:pt idx="4">
                  <c:v>15.5</c:v>
                </c:pt>
                <c:pt idx="5">
                  <c:v>15.7</c:v>
                </c:pt>
                <c:pt idx="6">
                  <c:v>15.8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5F6-1145-941C-5C9C8AF558C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6B6B"/>
                </a:solidFill>
                <a:latin typeface="Inter"/>
              </a:defRPr>
            </a:pPr>
            <a:endParaRPr lang="fr-F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7"/>
          <c:min val="12"/>
        </c:scaling>
        <c:delete val="1"/>
        <c:axPos val="l"/>
        <c:majorGridlines>
          <c:spPr>
            <a:ln w="6350">
              <a:solidFill>
                <a:srgbClr val="ECEBE7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6B6B6B"/>
              </a:solidFill>
              <a:latin typeface="Inter"/>
            </a:defRPr>
          </a:pPr>
          <a:endParaRPr lang="fr-FR"/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6B6B6B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77194E-A0BD-6243-8FC9-63D2134F9B57}" type="datetimeFigureOut">
              <a:rPr lang="fr-FR" smtClean="0"/>
              <a:t>09/10/2026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F821B7-4B5E-5A47-8883-371FA3965F1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9997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F821B7-4B5E-5A47-8883-371FA3965F18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881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AGENDA · CE QUE NOUS ALLONS VOIR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Revue de performance de la campagne Boulanger, du 24 au 30 septembre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8013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Les indicateurs qui comptent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0939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Ce que nous pilotons, et comment chaque chiffre se mesure.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946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7157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083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Formats diffusés, performance média de la semaine, visibilité dans les réponses des IA et intentions d'achat.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8386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6118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6301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Pistes de reco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9227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Ce que nous proposons pour les prochaines semaines.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LES INDICATEURS QUI COMPTENT · RAPPEL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745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Deux objectifs prioritaires pilotent la campagne. Les secondaires disent comment ils bougent.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" y="15544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OBJECTIFS PRIORITAIRES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484632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50292" cy="192024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139696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 i="0" spc="150">
                <a:solidFill>
                  <a:srgbClr val="98A2B3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Part de voix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89504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26B2A"/>
                </a:solidFill>
                <a:latin typeface="Inter"/>
              </a:rPr>
              <a:t>Renforcer votre visibilité face aux enseignes concurrentes.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10128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Part des citations de Boulanger parmi l'ensemble des citations d'enseignes de votre catégorie.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005072"/>
            <a:ext cx="484632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005072"/>
            <a:ext cx="50292" cy="192024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224528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 i="0" spc="150">
                <a:solidFill>
                  <a:srgbClr val="98A2B3"/>
                </a:solidFill>
                <a:latin typeface="Inter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6227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Trafic LLM qualifié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7433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26B2A"/>
                </a:solidFill>
                <a:latin typeface="Inter"/>
              </a:rPr>
              <a:t>Amener sur boulanger.com des visiteurs en intention d'achat.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94960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Visites issues des conversations IA, qualifiées selon l'intention exprimée par l'utilisateur.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43016" y="1554480"/>
            <a:ext cx="5891479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OBJECTIFS SECONDAIRES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1920240"/>
            <a:ext cx="6062472" cy="4005072"/>
          </a:xfrm>
          <a:prstGeom prst="rect">
            <a:avLst/>
          </a:prstGeom>
          <a:solidFill>
            <a:srgbClr val="F7F6F4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797296" y="2167128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35040" y="2103120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Win 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2304288"/>
            <a:ext cx="5330952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850">
                <a:solidFill>
                  <a:srgbClr val="6B6B6B"/>
                </a:solidFill>
                <a:latin typeface="Inter"/>
              </a:rPr>
              <a:t>Quand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l'IA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compare Boulanger à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une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autre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enseigne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, dans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combien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de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cas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l’utilisateur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clique sur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l'ad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Boulanger ? ​</a:t>
            </a:r>
            <a:endParaRPr sz="850">
              <a:solidFill>
                <a:srgbClr val="6B6B6B"/>
              </a:solidFill>
              <a:latin typeface="Inter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797296" y="2780690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97296" y="2894990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35040" y="2830982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Taux de première apparition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3032150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conversations où Boulanger est cité dès la première réponse de l'IA.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97296" y="3508552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797296" y="3622852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35040" y="3558844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Taux d'exclusivité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760012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réponses</a:t>
            </a:r>
            <a:r>
              <a:rPr sz="850" b="0" i="0">
                <a:solidFill>
                  <a:srgbClr val="6B6B6B"/>
                </a:solidFill>
                <a:latin typeface="Inter"/>
              </a:rPr>
              <a:t> qui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citent</a:t>
            </a:r>
            <a:r>
              <a:rPr sz="850" b="0" i="0">
                <a:solidFill>
                  <a:srgbClr val="6B6B6B"/>
                </a:solidFill>
                <a:latin typeface="Inter"/>
              </a:rPr>
              <a:t> Boulanger sans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mentionner</a:t>
            </a:r>
            <a:r>
              <a:rPr sz="850" b="0" i="0">
                <a:solidFill>
                  <a:srgbClr val="6B6B6B"/>
                </a:solidFill>
                <a:latin typeface="Inter"/>
              </a:rPr>
              <a:t>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d'enseigne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concurrente</a:t>
            </a:r>
            <a:r>
              <a:rPr sz="850" b="0" i="0">
                <a:solidFill>
                  <a:srgbClr val="6B6B6B"/>
                </a:solidFill>
                <a:latin typeface="Inter"/>
              </a:rPr>
              <a:t>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97296" y="4236415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797296" y="4350715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35040" y="4286707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Intentions d'achat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4487875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Les familles de questions que votre audience pose aux IA avant d'acheter, et la présence de Boulanger sur chacune.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97296" y="4964277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797296" y="5078577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035040" y="5014569"/>
            <a:ext cx="4142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Conversions — attribution conversationnelle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68712" y="5023713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268712" y="5023713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80">
                <a:solidFill>
                  <a:srgbClr val="6B6B6B"/>
                </a:solidFill>
                <a:latin typeface="Inter"/>
              </a:rPr>
              <a:t>EN DÉPLOIEMENT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5215737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Ventes attribuées aux clics provenant des conversations IA, mesurées par le conversion tracker posé sur boulanger.com.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4360" y="6053328"/>
            <a:ext cx="11000232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Cette semaine, la part de voix gagne 0,3 point, mais le trafic qualifié recule de 11,3 %.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10">
                <a:solidFill>
                  <a:srgbClr val="F26B2A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FORMATS PUBLICITAIRES · CE QUE VOIT L'UTILISATEUR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6675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Vos 3 formats - campagne en cours depuis le 28 août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59752" y="109728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Inter"/>
              </a:rPr>
              <a:t>Budget mensuel 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10 000 €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   ·     Activation le 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28 août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" y="141732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LES TROIS FORMATS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4378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5546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1 · CARROUSEL PRODUIT SPONSORISÉ</a:t>
            </a:r>
          </a:p>
        </p:txBody>
      </p:sp>
      <p:pic>
        <p:nvPicPr>
          <p:cNvPr id="12" name="Picture 11" descr="fm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" y="2542032"/>
            <a:ext cx="3483864" cy="262290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152290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53458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2 · QUESTION SUGGÉRÉE SPONSORISÉE</a:t>
            </a:r>
          </a:p>
        </p:txBody>
      </p:sp>
      <p:pic>
        <p:nvPicPr>
          <p:cNvPr id="15" name="Picture 14" descr="fm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458" y="2542032"/>
            <a:ext cx="3483864" cy="199020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020202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1370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3 · TEXT ADS SUR QWANT</a:t>
            </a:r>
          </a:p>
        </p:txBody>
      </p:sp>
      <p:pic>
        <p:nvPicPr>
          <p:cNvPr id="18" name="Picture 17" descr="fmt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1370" y="2542032"/>
            <a:ext cx="3483864" cy="20401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5897880"/>
            <a:ext cx="1127455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Les trois formats sont servis dans le même inventaire éditorial, au moment où l'utilisateur exprime son intention d'achat.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RAPPORT DE PERFORMANCE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17/09/2026 → 23/09/2026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7316" y="1137513"/>
            <a:ext cx="4572000" cy="173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Campagne lancée le 28 août 2026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 ·   34 jours de diffusion   ·   statut :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3056" y="1033271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BUDGET CONSOMMÉ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014984"/>
            <a:ext cx="44165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4 879,75 €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sur  10 000 €   ·   </a:t>
            </a:r>
            <a:r>
              <a:rPr sz="1000" b="1" i="0">
                <a:solidFill>
                  <a:srgbClr val="F26B2A"/>
                </a:solidFill>
                <a:latin typeface="Inter"/>
              </a:rPr>
              <a:t>49 %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298448"/>
            <a:ext cx="5568696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163056" y="1298448"/>
            <a:ext cx="2717523" cy="640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42923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1169" y="1397203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PERFORMANCE MÉDIA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43607" y="1389888"/>
            <a:ext cx="1971446" cy="191109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43607" y="1389888"/>
            <a:ext cx="1971446" cy="1911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CHIFFRES SUR 1 SEMAINE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4325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MENTIONS CONVERSATIONNELLES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4325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1 311 465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4325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325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4325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325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+16,7 %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4325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4325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4 475 698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87444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087444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234569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TRAFIC LLM QUALIFIÉ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34569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6 468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34569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34569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34569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4569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▼ -11,3 %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34569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34569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26 646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17688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717688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64813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CTR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64813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0,49 %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64813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64813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864813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64813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▼ -0,16 pt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64813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64813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0,60 %</a:t>
            </a:r>
          </a:p>
        </p:txBody>
      </p:sp>
      <p:sp>
        <p:nvSpPr>
          <p:cNvPr id="1001" name="Rectangle 64"/>
          <p:cNvSpPr/>
          <p:nvPr/>
        </p:nvSpPr>
        <p:spPr>
          <a:xfrm>
            <a:off x="5347932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2" name="Rectangle 65"/>
          <p:cNvSpPr/>
          <p:nvPr/>
        </p:nvSpPr>
        <p:spPr>
          <a:xfrm>
            <a:off x="5347932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3" name="TextBox 66"/>
          <p:cNvSpPr txBox="1"/>
          <p:nvPr/>
        </p:nvSpPr>
        <p:spPr>
          <a:xfrm>
            <a:off x="5495057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CONVERSIONS LAST CLICK</a:t>
            </a:r>
          </a:p>
        </p:txBody>
      </p:sp>
      <p:sp>
        <p:nvSpPr>
          <p:cNvPr id="1004" name="TextBox 67"/>
          <p:cNvSpPr txBox="1"/>
          <p:nvPr/>
        </p:nvSpPr>
        <p:spPr>
          <a:xfrm>
            <a:off x="5495057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6</a:t>
            </a:r>
          </a:p>
        </p:txBody>
      </p:sp>
      <p:sp>
        <p:nvSpPr>
          <p:cNvPr id="1005" name="TextBox 68"/>
          <p:cNvSpPr txBox="1"/>
          <p:nvPr/>
        </p:nvSpPr>
        <p:spPr>
          <a:xfrm>
            <a:off x="5495057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06" name="Rectangle 69"/>
          <p:cNvSpPr/>
          <p:nvPr/>
        </p:nvSpPr>
        <p:spPr>
          <a:xfrm>
            <a:off x="5495057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7" name="TextBox 70"/>
          <p:cNvSpPr txBox="1"/>
          <p:nvPr/>
        </p:nvSpPr>
        <p:spPr>
          <a:xfrm>
            <a:off x="5495057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08" name="TextBox 71"/>
          <p:cNvSpPr txBox="1"/>
          <p:nvPr/>
        </p:nvSpPr>
        <p:spPr>
          <a:xfrm>
            <a:off x="5495057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+100 % (3)</a:t>
            </a:r>
          </a:p>
        </p:txBody>
      </p:sp>
      <p:sp>
        <p:nvSpPr>
          <p:cNvPr id="1009" name="TextBox 72"/>
          <p:cNvSpPr txBox="1"/>
          <p:nvPr/>
        </p:nvSpPr>
        <p:spPr>
          <a:xfrm>
            <a:off x="5495057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10" name="TextBox 73"/>
          <p:cNvSpPr txBox="1"/>
          <p:nvPr/>
        </p:nvSpPr>
        <p:spPr>
          <a:xfrm>
            <a:off x="5495057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15</a:t>
            </a:r>
          </a:p>
        </p:txBody>
      </p:sp>
      <p:sp>
        <p:nvSpPr>
          <p:cNvPr id="1011" name="Rounded Rectangle 45"/>
          <p:cNvSpPr/>
          <p:nvPr/>
        </p:nvSpPr>
        <p:spPr>
          <a:xfrm>
            <a:off x="6114532" y="1545336"/>
            <a:ext cx="658192" cy="237744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2" name="TextBox 46"/>
          <p:cNvSpPr txBox="1"/>
          <p:nvPr/>
        </p:nvSpPr>
        <p:spPr>
          <a:xfrm>
            <a:off x="6114532" y="1545336"/>
            <a:ext cx="65819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6B6B6B"/>
                </a:solidFill>
                <a:latin typeface="Inter"/>
              </a:rPr>
              <a:t>INDICATIF</a:t>
            </a:r>
          </a:p>
        </p:txBody>
      </p:sp>
      <p:sp>
        <p:nvSpPr>
          <p:cNvPr id="1013" name="Rectangle 64"/>
          <p:cNvSpPr/>
          <p:nvPr/>
        </p:nvSpPr>
        <p:spPr>
          <a:xfrm>
            <a:off x="6978176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4" name="Rectangle 65"/>
          <p:cNvSpPr/>
          <p:nvPr/>
        </p:nvSpPr>
        <p:spPr>
          <a:xfrm>
            <a:off x="6978176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5" name="TextBox 66"/>
          <p:cNvSpPr txBox="1"/>
          <p:nvPr/>
        </p:nvSpPr>
        <p:spPr>
          <a:xfrm>
            <a:off x="7125301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CVR LAST CLICK</a:t>
            </a:r>
          </a:p>
        </p:txBody>
      </p:sp>
      <p:sp>
        <p:nvSpPr>
          <p:cNvPr id="1016" name="TextBox 67"/>
          <p:cNvSpPr txBox="1"/>
          <p:nvPr/>
        </p:nvSpPr>
        <p:spPr>
          <a:xfrm>
            <a:off x="7125301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0,29 %</a:t>
            </a:r>
          </a:p>
        </p:txBody>
      </p:sp>
      <p:sp>
        <p:nvSpPr>
          <p:cNvPr id="1017" name="TextBox 68"/>
          <p:cNvSpPr txBox="1"/>
          <p:nvPr/>
        </p:nvSpPr>
        <p:spPr>
          <a:xfrm>
            <a:off x="7125301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18" name="Rectangle 69"/>
          <p:cNvSpPr/>
          <p:nvPr/>
        </p:nvSpPr>
        <p:spPr>
          <a:xfrm>
            <a:off x="7125301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9" name="TextBox 70"/>
          <p:cNvSpPr txBox="1"/>
          <p:nvPr/>
        </p:nvSpPr>
        <p:spPr>
          <a:xfrm>
            <a:off x="7125301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20" name="TextBox 71"/>
          <p:cNvSpPr txBox="1"/>
          <p:nvPr/>
        </p:nvSpPr>
        <p:spPr>
          <a:xfrm>
            <a:off x="7125301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+0,17 pt</a:t>
            </a:r>
          </a:p>
        </p:txBody>
      </p:sp>
      <p:sp>
        <p:nvSpPr>
          <p:cNvPr id="1021" name="TextBox 72"/>
          <p:cNvSpPr txBox="1"/>
          <p:nvPr/>
        </p:nvSpPr>
        <p:spPr>
          <a:xfrm>
            <a:off x="7125301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22" name="TextBox 73"/>
          <p:cNvSpPr txBox="1"/>
          <p:nvPr/>
        </p:nvSpPr>
        <p:spPr>
          <a:xfrm>
            <a:off x="7125301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0,20 %</a:t>
            </a:r>
          </a:p>
        </p:txBody>
      </p:sp>
      <p:sp>
        <p:nvSpPr>
          <p:cNvPr id="1023" name="Rounded Rectangle 45"/>
          <p:cNvSpPr/>
          <p:nvPr/>
        </p:nvSpPr>
        <p:spPr>
          <a:xfrm>
            <a:off x="7744776" y="1545336"/>
            <a:ext cx="658192" cy="237744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4" name="TextBox 46"/>
          <p:cNvSpPr txBox="1"/>
          <p:nvPr/>
        </p:nvSpPr>
        <p:spPr>
          <a:xfrm>
            <a:off x="7744776" y="1545336"/>
            <a:ext cx="65819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6B6B6B"/>
                </a:solidFill>
                <a:latin typeface="Inter"/>
              </a:rPr>
              <a:t>INDICATIF</a:t>
            </a:r>
          </a:p>
        </p:txBody>
      </p:sp>
      <p:sp>
        <p:nvSpPr>
          <p:cNvPr id="1025" name="Rectangle 64"/>
          <p:cNvSpPr/>
          <p:nvPr/>
        </p:nvSpPr>
        <p:spPr>
          <a:xfrm>
            <a:off x="8608420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6" name="Rectangle 65"/>
          <p:cNvSpPr/>
          <p:nvPr/>
        </p:nvSpPr>
        <p:spPr>
          <a:xfrm>
            <a:off x="8608420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7" name="TextBox 66"/>
          <p:cNvSpPr txBox="1"/>
          <p:nvPr/>
        </p:nvSpPr>
        <p:spPr>
          <a:xfrm>
            <a:off x="8755545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CPC MOYEN</a:t>
            </a:r>
          </a:p>
        </p:txBody>
      </p:sp>
      <p:sp>
        <p:nvSpPr>
          <p:cNvPr id="1028" name="TextBox 67"/>
          <p:cNvSpPr txBox="1"/>
          <p:nvPr/>
        </p:nvSpPr>
        <p:spPr>
          <a:xfrm>
            <a:off x="8755545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0,37 €</a:t>
            </a:r>
          </a:p>
        </p:txBody>
      </p:sp>
      <p:sp>
        <p:nvSpPr>
          <p:cNvPr id="1029" name="TextBox 68"/>
          <p:cNvSpPr txBox="1"/>
          <p:nvPr/>
        </p:nvSpPr>
        <p:spPr>
          <a:xfrm>
            <a:off x="8755545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30" name="Rectangle 69"/>
          <p:cNvSpPr/>
          <p:nvPr/>
        </p:nvSpPr>
        <p:spPr>
          <a:xfrm>
            <a:off x="8755545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1" name="TextBox 70"/>
          <p:cNvSpPr txBox="1"/>
          <p:nvPr/>
        </p:nvSpPr>
        <p:spPr>
          <a:xfrm>
            <a:off x="8755545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32" name="TextBox 71"/>
          <p:cNvSpPr txBox="1"/>
          <p:nvPr/>
        </p:nvSpPr>
        <p:spPr>
          <a:xfrm>
            <a:off x="8755545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▲ +26,6 %</a:t>
            </a:r>
          </a:p>
        </p:txBody>
      </p:sp>
      <p:sp>
        <p:nvSpPr>
          <p:cNvPr id="1033" name="TextBox 72"/>
          <p:cNvSpPr txBox="1"/>
          <p:nvPr/>
        </p:nvSpPr>
        <p:spPr>
          <a:xfrm>
            <a:off x="8755545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34" name="TextBox 73"/>
          <p:cNvSpPr txBox="1"/>
          <p:nvPr/>
        </p:nvSpPr>
        <p:spPr>
          <a:xfrm>
            <a:off x="8755545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0,27 €</a:t>
            </a:r>
          </a:p>
        </p:txBody>
      </p:sp>
      <p:sp>
        <p:nvSpPr>
          <p:cNvPr id="1035" name="Rectangle 64"/>
          <p:cNvSpPr/>
          <p:nvPr/>
        </p:nvSpPr>
        <p:spPr>
          <a:xfrm>
            <a:off x="10238664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6" name="Rectangle 65"/>
          <p:cNvSpPr/>
          <p:nvPr/>
        </p:nvSpPr>
        <p:spPr>
          <a:xfrm>
            <a:off x="10238664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7" name="TextBox 66"/>
          <p:cNvSpPr txBox="1"/>
          <p:nvPr/>
        </p:nvSpPr>
        <p:spPr>
          <a:xfrm>
            <a:off x="10385789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PANIER MOYEN</a:t>
            </a:r>
          </a:p>
        </p:txBody>
      </p:sp>
      <p:sp>
        <p:nvSpPr>
          <p:cNvPr id="1038" name="TextBox 67"/>
          <p:cNvSpPr txBox="1"/>
          <p:nvPr/>
        </p:nvSpPr>
        <p:spPr>
          <a:xfrm>
            <a:off x="10385789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148,11 €</a:t>
            </a:r>
          </a:p>
        </p:txBody>
      </p:sp>
      <p:sp>
        <p:nvSpPr>
          <p:cNvPr id="1039" name="TextBox 68"/>
          <p:cNvSpPr txBox="1"/>
          <p:nvPr/>
        </p:nvSpPr>
        <p:spPr>
          <a:xfrm>
            <a:off x="10385789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40" name="Rectangle 69"/>
          <p:cNvSpPr/>
          <p:nvPr/>
        </p:nvSpPr>
        <p:spPr>
          <a:xfrm>
            <a:off x="10385789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1" name="TextBox 70"/>
          <p:cNvSpPr txBox="1"/>
          <p:nvPr/>
        </p:nvSpPr>
        <p:spPr>
          <a:xfrm>
            <a:off x="10385789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42" name="TextBox 71"/>
          <p:cNvSpPr txBox="1"/>
          <p:nvPr/>
        </p:nvSpPr>
        <p:spPr>
          <a:xfrm>
            <a:off x="10385789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+4,2 %</a:t>
            </a:r>
          </a:p>
        </p:txBody>
      </p:sp>
      <p:sp>
        <p:nvSpPr>
          <p:cNvPr id="1043" name="TextBox 72"/>
          <p:cNvSpPr txBox="1"/>
          <p:nvPr/>
        </p:nvSpPr>
        <p:spPr>
          <a:xfrm>
            <a:off x="10385789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44" name="TextBox 73"/>
          <p:cNvSpPr txBox="1"/>
          <p:nvPr/>
        </p:nvSpPr>
        <p:spPr>
          <a:xfrm>
            <a:off x="10385789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140,21 €</a:t>
            </a:r>
          </a:p>
        </p:txBody>
      </p:sp>
      <p:sp>
        <p:nvSpPr>
          <p:cNvPr id="75" name="Isosceles Triangle 74"/>
          <p:cNvSpPr/>
          <p:nvPr/>
        </p:nvSpPr>
        <p:spPr>
          <a:xfrm>
            <a:off x="6786152" y="3172968"/>
            <a:ext cx="256032" cy="146304"/>
          </a:xfrm>
          <a:prstGeom prst="triangle">
            <a:avLst/>
          </a:prstGeom>
          <a:solidFill>
            <a:srgbClr val="EDEBE7"/>
          </a:solidFill>
          <a:ln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ounded Rectangle 75"/>
          <p:cNvSpPr/>
          <p:nvPr/>
        </p:nvSpPr>
        <p:spPr>
          <a:xfrm>
            <a:off x="6163056" y="3310128"/>
            <a:ext cx="5568696" cy="566928"/>
          </a:xfrm>
          <a:prstGeom prst="roundRect">
            <a:avLst>
              <a:gd name="adj" fmla="val 12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345936" y="3310128"/>
            <a:ext cx="5202936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>
                <a:solidFill>
                  <a:srgbClr val="6B6B6B"/>
                </a:solidFill>
                <a:latin typeface="Inter"/>
              </a:rPr>
              <a:t>Premières conversions remontées : </a:t>
            </a:r>
            <a:r>
              <a:rPr sz="950" b="0" i="0">
                <a:solidFill>
                  <a:srgbClr val="6B6B6B"/>
                </a:solidFill>
                <a:latin typeface="Inter"/>
              </a:rPr>
              <a:t>6 ventes attribuées sur la semaine (3 la semaine précédente), pour un panier moyen de 148,11 €. Volumes encore faibles : chiffres indicatifs tant que la réconciliation avec vos données n'est pas validée.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41148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30936" y="40690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VISIBILITÉ DANS LES RÉPONSES DE L'IA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4361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85800" y="4544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PART DE VOIX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4800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15,6 %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5349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+0,3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5623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Sur 100 mentions d'enseignes du secteur, combien concernent Boulanger ? Base semaine précédente : 15,3 %. Valeur projetée.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76344" y="4361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504944" y="4544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LONGUEUR DES REQUÊTES SHOPPING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04944" y="4800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8,2 mots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04944" y="5349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+2,5 %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04944" y="5623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Mots en moyenne dans les questions shopping posées à l'IA. Mesure réseau Lemrock, identique pour toutes les marques. Base semaine précédente : 8 mots.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95488" y="4361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8324088" y="4544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TAUX DE PRÉSENCE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24088" y="4800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19,0 %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24088" y="5349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+0,3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24088" y="5623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Sur 100 réponses de l'IA pertinentes, combien mentionnent Boulanger au moins une fois ? Base semaine précédente : 18,7 %. Valeur projetée.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6208776"/>
            <a:ext cx="11274552" cy="576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457200" y="6208776"/>
            <a:ext cx="64008" cy="576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786384" y="6291072"/>
            <a:ext cx="10817352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fr-FR" sz="1000" b="1"/>
              <a:t>À retenir. La diffusion progresse, mais les clics reculent et coûtent plus cher ; les premières conversions remontent.</a:t>
            </a:r>
            <a:endParaRPr lang="fr-FR" sz="1000"/>
          </a:p>
          <a:p>
            <a:r>
              <a:rPr lang="fr-FR" sz="1000" b="1"/>
              <a:t>Diffusion et engagement :</a:t>
            </a:r>
            <a:r>
              <a:rPr lang="fr-FR" sz="1000"/>
              <a:t> les mentions progressent de 16,7 %, tandis que le trafic qualifié recule de 11,3 %. Le CTR baisse ainsi de 0,16 point, à 0,49 %.</a:t>
            </a:r>
            <a:endParaRPr lang="fr-FR" sz="1000">
              <a:ea typeface="Calibri"/>
              <a:cs typeface="Calibri"/>
            </a:endParaRPr>
          </a:p>
          <a:p>
            <a:r>
              <a:rPr lang="fr-FR" sz="1000" b="1"/>
              <a:t>Coût et budget :</a:t>
            </a:r>
            <a:r>
              <a:rPr lang="fr-FR" sz="1000"/>
              <a:t> le CPC moyen passe à 0,37 €, soit une hausse de 26,6 %. </a:t>
            </a:r>
            <a:r>
              <a:rPr lang="fr-FR" sz="1000"/>
              <a:t>Côté ventes, 6 conversions last click (CVR 0,29 %, +0,17 pt) pour un panier moyen de 148,11 € (+4,2 %).</a:t>
            </a:r>
            <a:endParaRPr lang="fr-FR" sz="1000">
              <a:ea typeface="Calibri"/>
              <a:cs typeface="Calibri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VISIBILITÉ DANS LES RÉPONSES DE L'IA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17/09/2026 → 23/09/2026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457200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>
                <a:solidFill>
                  <a:srgbClr val="F26B2A"/>
                </a:solidFill>
                <a:latin typeface="Inter"/>
              </a:rPr>
              <a:t>Périmètre analysé   </a:t>
            </a:r>
            <a:r>
              <a:rPr sz="950" b="0" i="0">
                <a:solidFill>
                  <a:srgbClr val="0A0A0A"/>
                </a:solidFill>
                <a:latin typeface="Inter"/>
              </a:rPr>
              <a:t>Électroménager, image &amp; son, informatique, téléphonie, confort thermique. Enseignes généralistes et spécialisées du secteur. 10 enseignes suivies.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64922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Part de voix dans les réponses de l'IA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41448"/>
            <a:ext cx="59436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Boulanger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reste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3e sur 10, avec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une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part de voix de 15,6 %, soit </a:t>
            </a:r>
            <a:r>
              <a:rPr sz="850" b="1" i="0">
                <a:solidFill>
                  <a:srgbClr val="196B24"/>
                </a:solidFill>
                <a:latin typeface="Inter"/>
              </a:rPr>
              <a:t>+0,3 point</a:t>
            </a:r>
            <a:r>
              <a:rPr sz="850" b="0" i="0">
                <a:solidFill>
                  <a:srgbClr val="6B6B6B"/>
                </a:solidFill>
                <a:latin typeface="Inter"/>
              </a:rPr>
              <a:t> vs S-1 (15,3 %)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1635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81635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E.Leclerc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8803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337560" y="28803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89320" y="281635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20,2 %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13639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13639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Amazon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320040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337560" y="3200400"/>
            <a:ext cx="2477028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313639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19,2 %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45643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F26B2A"/>
                </a:solidFill>
                <a:latin typeface="Inte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345643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37560" y="352044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337560" y="3520440"/>
            <a:ext cx="2012585" cy="640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89320" y="345643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15,6 %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77647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377647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Carrefour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37560" y="384048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337560" y="3840480"/>
            <a:ext cx="1819067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89320" y="377647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14,1 %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09651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409651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Auchan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37560" y="416052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3337560" y="4160520"/>
            <a:ext cx="1251415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989320" y="409651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9,7 %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41655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" y="441655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Cdiscount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37560" y="44805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337560" y="4480560"/>
            <a:ext cx="1096600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989320" y="441655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8,5 %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73659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" y="473659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Electro Dépôt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7560" y="480060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3337560" y="4800600"/>
            <a:ext cx="722466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989320" y="473659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5,6 %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5056631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" y="5056631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Darty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37560" y="512064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337560" y="5120640"/>
            <a:ext cx="503146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989320" y="5056631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3,9 %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" y="537667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8992" y="537667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Back Market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37560" y="544068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3337560" y="5440680"/>
            <a:ext cx="399936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989320" y="537667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3,1 %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69671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8992" y="569671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Fnac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337560" y="576072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3337560" y="57607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989320" y="569671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0,1 %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32320" y="1965960"/>
            <a:ext cx="4599432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406640" y="214884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Évolution de la part de voix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441448"/>
            <a:ext cx="4023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Évolution de la part de voix · % des citations · relevés depuis le 11 septembre</a:t>
            </a:r>
          </a:p>
        </p:txBody>
      </p:sp>
      <p:graphicFrame>
        <p:nvGraphicFramePr>
          <p:cNvPr id="66" name="Chart 65"/>
          <p:cNvGraphicFramePr>
            <a:graphicFrameLocks noGrp="1"/>
          </p:cNvGraphicFramePr>
          <p:nvPr/>
        </p:nvGraphicFramePr>
        <p:xfrm>
          <a:off x="7315200" y="2788920"/>
          <a:ext cx="429768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7" name="TextBox 66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DYNAMIQUE CONVERSATIONNELLE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17/09/2026 → 23/09/2026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5513832" cy="24688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563624"/>
            <a:ext cx="496519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1" i="0" spc="150">
                <a:solidFill>
                  <a:srgbClr val="6B6B6B"/>
                </a:solidFill>
                <a:latin typeface="Inter"/>
              </a:rPr>
              <a:t>WIN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29384"/>
            <a:ext cx="49651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26B2A"/>
                </a:solidFill>
                <a:latin typeface="Inter"/>
              </a:rPr>
              <a:t>22,9 %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56946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+0,4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53512"/>
            <a:ext cx="4965192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Quand l'IA compare Boulanger à une autre enseigne, dans combien de cas l'utilisateur clique sur l'annonce Boulanger ? Base semaine précédente : 22,5 %.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977639"/>
            <a:ext cx="5513832" cy="2487168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160520"/>
            <a:ext cx="496519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1" i="0" spc="150">
                <a:solidFill>
                  <a:srgbClr val="6B6B6B"/>
                </a:solidFill>
                <a:latin typeface="Inter"/>
              </a:rPr>
              <a:t>QUAND BOULANGER APPARAÎT-IL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07407"/>
            <a:ext cx="49651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Dans les conversations où Boulanger est cité, l'IA le mentionne pour la première fois dès sa première réponse dans 55 % des cas, au deuxième échange dans 29 % des cas, et plus tard dans 16 % des cas. Valeurs projetées.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166359"/>
            <a:ext cx="2700665" cy="45720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5166359"/>
            <a:ext cx="270066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nter"/>
              </a:rPr>
              <a:t>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715000"/>
            <a:ext cx="27487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Dès la 1re réponse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59617" y="5166359"/>
            <a:ext cx="1423987" cy="457200"/>
          </a:xfrm>
          <a:prstGeom prst="rect">
            <a:avLst/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59617" y="5166359"/>
            <a:ext cx="142398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  <a:latin typeface="Inter"/>
              </a:rPr>
              <a:t>29 %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59617" y="5715000"/>
            <a:ext cx="161940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2e échange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1036" y="5166359"/>
            <a:ext cx="785675" cy="457200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11036" y="5166359"/>
            <a:ext cx="78567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  <a:latin typeface="Inter"/>
              </a:rPr>
              <a:t>16 %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4444" y="5715000"/>
            <a:ext cx="1529699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Inter"/>
              </a:rPr>
              <a:t>3e échange et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1325880"/>
            <a:ext cx="5605272" cy="5138928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0" y="1444752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Quand l'IA recommande Boulanger, face à quelle enseigne 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883664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Répartition des recommandations de Boulanger selon l'enseigne concurrente présente dans la conversation.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2130552"/>
            <a:ext cx="5486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i="0">
                <a:solidFill>
                  <a:srgbClr val="98A2B3"/>
                </a:solidFill>
                <a:latin typeface="Inter"/>
              </a:rPr>
              <a:t>12,5 %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249631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E.Leclerc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0" y="2542032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7772400" y="2542032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789920" y="249631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20 %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935224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Amazon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0" y="2980944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772400" y="2980944"/>
            <a:ext cx="2779776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789920" y="2935224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19 %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33741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Carrefour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0" y="3419856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772400" y="3419856"/>
            <a:ext cx="2194560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789920" y="3374136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15 %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813048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Auchan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0" y="3858768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7772400" y="3858768"/>
            <a:ext cx="1755648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789920" y="3813048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12 %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4251960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Cdiscount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0" y="4297680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7772400" y="4297680"/>
            <a:ext cx="1609344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789920" y="4251960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11 %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469087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Darty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72400" y="4736592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772400" y="4736592"/>
            <a:ext cx="1316736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789920" y="469087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9 %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5129783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Back Market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72400" y="5175503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7772400" y="5175503"/>
            <a:ext cx="1170432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789920" y="512978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8 %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0" y="556869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Fnac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72400" y="5614416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7772400" y="5614416"/>
            <a:ext cx="877824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0789920" y="5568696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6 %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01200" y="2331720"/>
            <a:ext cx="0" cy="3456432"/>
          </a:xfrm>
          <a:prstGeom prst="rect">
            <a:avLst/>
          </a:prstGeom>
          <a:noFill/>
          <a:ln w="12700">
            <a:solidFill>
              <a:srgbClr val="98A2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400800" y="5870448"/>
            <a:ext cx="5056632" cy="457200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37960" y="5870448"/>
            <a:ext cx="478231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E.Leclerc et Amazon, leaders en part de voix, pèsent 39 % des comparaisons. Répartition indicative, projetée, non mesurée.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CE QUE VOTRE AUDIENCE DEMANDE AUX IA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Top 10 des intentions d'achat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72768"/>
            <a:ext cx="109728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conversations du périmètre · ce que l'audience écrit, les produits qu'elle nomme, la présence de Boulanger, les enseignes qui sortent dans la réponse.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0195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INTENTION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901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90195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CE QUE L'AUDIENCE ÉCRIT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90195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PRODUITS CITÉS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901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PRÉSENCE BOULANGER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190195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ENSEIGNES CITÉES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19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276856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258568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 smartphone au meilleur rapport qualité-prix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225856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6,1 %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258568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smartphone choisir pour prendre de bonnes photos sans dépasser mon budget ? 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258568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Samsung Galaxy A16, iPhone 13 reconditionné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58568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4,4 %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72600" y="2267712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72600" y="2267712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60228" y="2267712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60228" y="2267712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34472" y="2286000"/>
            <a:ext cx="3657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98A2B3"/>
                </a:solidFill>
                <a:latin typeface="Inter"/>
              </a:rPr>
              <a:t>+1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526792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2609087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59079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Trouver un casque ou des écouteurs adaptés à son usage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2590799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5,3 %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2590799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Quels écouteurs choisir pour faire du sport ? 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2590799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JBL Tune 530, JBL Tune 310 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590799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3,3 %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72600" y="2599944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72600" y="2599944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46843" y="2599944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946843" y="2599944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285902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2941319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2923031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Offrir une enceinte portable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2923031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5,1 %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2923031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enceinte portable offrir à une personne qui écoute beaucoup de musique ? 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2923031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JBL Go Essential 2, Sony SRS-XB100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2923031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3,0 %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372600" y="2932176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372600" y="2932176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060228" y="2932176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060228" y="2932176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3191256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57200" y="3273552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3255264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 aspirateur pour un foyer avec animaux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88920" y="32552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4,7 %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9000" y="325526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aspirateur est efficace contre les poils d'animaux ? »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3255264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Aspirateurs Dyson et Rowenta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0" y="3255264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3,0 %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372600" y="3264408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372600" y="3264408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060228" y="3264408"/>
            <a:ext cx="557784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060228" y="326440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Darty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352348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57200" y="3605784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3587496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Équiper son salon d'un téléviseur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88920" y="3587496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4,4 %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29000" y="3587496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téléviseur choisir pour regarder des films et jouer ? »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5080" y="3587496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Téléviseurs Samsung et LG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12480" y="35874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2,6 %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372600" y="3596640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372600" y="3596640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060228" y="3596640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060228" y="3596640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34472" y="3614928"/>
            <a:ext cx="3657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98A2B3"/>
                </a:solidFill>
                <a:latin typeface="Inter"/>
              </a:rPr>
              <a:t>+1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385572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7200" y="4602480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4584192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Acheter une batterie externe pour voyager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88920" y="458419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3,7 %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29000" y="4584192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batterie externe choisir pour voyager léger ? »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55080" y="4584192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Belkin 10 000 mAh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0" y="4584192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2,1 %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372600" y="4593336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9372600" y="4593336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060228" y="4593336"/>
            <a:ext cx="784555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0060228" y="4593336"/>
            <a:ext cx="784555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Cdiscount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200" y="4187952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57200" y="42702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" y="4251960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une tablette polyvalente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788920" y="425196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3,9 %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429000" y="4251960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tablette choisir pour travailler et regarder des films en déplacement ? »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55080" y="4251960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Lenovo Tab, Xiaomi Redmi Pad 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0" y="425196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2,9 %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372600" y="4261104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9372600" y="4261104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060228" y="4261104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10060228" y="4261104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7200" y="452018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57200" y="4934712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1520" y="4916424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Équiper un étudiant d'un ordinateur portable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88920" y="491642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3,6 %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29000" y="491642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ordinateur portable offre assez d'autonomie pour une journée de cours ? »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55080" y="4916424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Lenovo IdeaPad Slim 3, portables Asus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12480" y="4916424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3,1 %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372600" y="4925568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372600" y="4925568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9946843" y="4925568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9946843" y="4925568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57200" y="4852416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457200" y="5266944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1520" y="5248656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Trouver un lave-linge pour un foyer de taille moyenne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248656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3,1 %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29000" y="5248656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lave-linge choisir pour une famille de quatre personnes ? »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55080" y="5248656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Lave-linge Bosch et Samsung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412480" y="524865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2,6 %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372600" y="5257800"/>
            <a:ext cx="557784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9372600" y="5257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Darty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0003536" y="5257800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10003536" y="5257800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57200" y="518464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457200" y="3938016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31520" y="3919728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une friteuse sans huile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88920" y="391972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4,1 %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429000" y="3919728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airfryer choisir pour cuisiner pour quatre personnes ? »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355080" y="3919728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Ninja Foodi Dual Zone, Philips Airfryer XXL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412480" y="3919728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3,4 %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372600" y="3928872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9372600" y="3928872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10060228" y="3928872"/>
            <a:ext cx="557784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10060228" y="39288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Darty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" y="565099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1">
                <a:solidFill>
                  <a:srgbClr val="98A2B3"/>
                </a:solidFill>
                <a:latin typeface="Inter"/>
              </a:rPr>
              <a:t>Autres intentions : 56,0 %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57200" y="6035040"/>
            <a:ext cx="11274552" cy="749808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40080" y="6132945"/>
            <a:ext cx="109728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fr-FR" sz="900" b="1"/>
              <a:t>À retenir. </a:t>
            </a:r>
            <a:r>
              <a:rPr lang="fr-FR" sz="900"/>
              <a:t>Le classement bouge peu, mais la friteuse sans huile fait son entrée dans le top 10 et Boulanger gagne légèrement en visibilité sur la majorité des catégories.</a:t>
            </a:r>
          </a:p>
          <a:p>
            <a:r>
              <a:rPr lang="fr-FR" sz="900"/>
              <a:t>Smartphones : la plus forte progression de visibilité. La présence de Boulanger passe de 4,2 % à 4,4 %. Les smartphones restent la première intention du classement, avec 6,1 % des conversations.</a:t>
            </a:r>
          </a:p>
          <a:p>
            <a:r>
              <a:rPr lang="fr-FR" sz="900"/>
              <a:t>Son : une demande importante et une visibilité en légère hausse. Les casques, écouteurs et enceintes représentent ensemble 10,4 % des conversations. La présence de Boulanger progresse de 0,1 point sur chacun des deux segments.</a:t>
            </a:r>
          </a:p>
          <a:p>
            <a:r>
              <a:rPr lang="fr-FR" sz="900"/>
              <a:t>Friteuses sans huile : nouvelle entrée (4,1 % des conversations), avec une présence Boulanger déjà à 3,4 %. Batteries externes : la plus faible visibilité du top 10 (2,1 %).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Finaliser le conversion tracker et valider la réconciliation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Le pixel est posé depuis la mi-septembre. Il reste à confirmer que ce qu'il compte correspond à ce que vous voyez de votre côté.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10511"/>
            <a:ext cx="11274552" cy="1719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10511"/>
            <a:ext cx="64008" cy="1719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2084831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Où nous en sommes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45059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450591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Pixel déployé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sur la page de confirmation de commande.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72491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1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Quatre événements suivis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commande, vue produit, ajout au panier, début de paiement.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99923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" y="2999231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Documentation et template Google Tag Manager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transmis par Clément.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8503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232" y="368503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qui bloque la lecture aujourd'hui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21538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1538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conversions ne remontent pas encore dans l'export : les cartes Conversions et CVR restent à n. 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76402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Sans elles, impossible de relier les produits cliqués aux produits vendus.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96" y="368503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0528" y="368503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que ça débloquera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421538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4215384"/>
            <a:ext cx="51114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 coût par vente réel, campagne par campagne.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48970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0256" y="448970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L'arbitrage des enchères sur les références qui convertissent, et non sur celles qui cliquent.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59552"/>
            <a:ext cx="50292" cy="65836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944" y="5577840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vous transmettons le volume de clics précis sur la période, pour que vous puissiez mesurer l'écart avec Piano. Nous ouvrons ensuite le sujet du tracking server-side.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Source : call « Conversion Tracker Lemrock x Boulanger » du 16 septembre 2026.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Faire du smartphone votre priorité de visibilité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Vous nous avez dit vouloir augmenter la visibilité de Boulanger sur le smartphone dans les IA l'an prochain. La semaine le confirme : c'est là que tout se joue.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10512"/>
            <a:ext cx="3593591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51660"/>
            <a:ext cx="3593591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029967"/>
            <a:ext cx="313639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6,1 %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78608"/>
            <a:ext cx="313639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Part des conversations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71215"/>
            <a:ext cx="31363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Première intention du top 10.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810512"/>
            <a:ext cx="3593591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79" y="1851660"/>
            <a:ext cx="3593591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029967"/>
            <a:ext cx="313639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4,4 %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578608"/>
            <a:ext cx="313639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Présence Boulanger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871215"/>
            <a:ext cx="31363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+0,2 pt : la plus forte progression du top 10.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59" y="1810512"/>
            <a:ext cx="3593591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59" y="1851660"/>
            <a:ext cx="3593591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30767" y="2029967"/>
            <a:ext cx="313639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20 %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78608"/>
            <a:ext cx="313639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Face à E.Leclerc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7" y="2871215"/>
            <a:ext cx="31363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Première enseigne rencontrée en comparaison.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02152"/>
            <a:ext cx="11274552" cy="1719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3502152"/>
            <a:ext cx="64008" cy="1719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77647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Pourquoi cette intention plutôt qu'une autre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1422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" y="4142232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La demande la plus forte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6,1 % des conversations du périmètre, devant le casque et l'enceinte.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441655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4416552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La concurrence la plus directe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E.Leclerc et Amazon concentrent 39 % des comparaisons.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469087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" y="4690872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Le meilleur levier sur la part de voix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un gain de présence y pèse plus lourd que partout ailleurs.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495544"/>
            <a:ext cx="50292" cy="65836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4944" y="5513831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construisons avec vous un plan de visibilité dédié au smartphone pour 2027 — ad groups, sélection de références et budget associé.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Priorité exprimée par André Wadleich lors du weekly du 25 septembre 2026.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Resserrer la sélection de produits poussés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Le win rate progresse, mais reste à 22,9 % : dans trois comparaisons sur quatre, l'utilisateur clique ailleurs.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1051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1051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que disent les chiffres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4086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4086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Quand Boulanger est comparé à une enseigne, l'utilisateur clique sur l'annonce Boulanger dans 22,9 % des cas.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88950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950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Boulanger est comparé à un concurrent dans 46,5 % des réponses : près de la moitié de la diffusion se joue en arbitrage.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81051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181051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L'hypothèse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34086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340864"/>
            <a:ext cx="51114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références poussées ne sont pas nécessairement vos hero products.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61518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0256" y="261518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Une sélection resserrée, intention par intention, devrait mieux convaincre au moment du choix.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03904"/>
            <a:ext cx="11274552" cy="1463040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803904"/>
            <a:ext cx="64008" cy="1463040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4078224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Où commencer — les trois intentions les plus demandées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" y="4443984"/>
            <a:ext cx="3386328" cy="457200"/>
          </a:xfrm>
          <a:prstGeom prst="roundRect">
            <a:avLst>
              <a:gd name="adj" fmla="val 12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" y="4443984"/>
            <a:ext cx="3386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Inter"/>
              </a:rPr>
              <a:t>Smartphone · 6,1 %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92168" y="4443984"/>
            <a:ext cx="3386328" cy="457200"/>
          </a:xfrm>
          <a:prstGeom prst="roundRect">
            <a:avLst>
              <a:gd name="adj" fmla="val 12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92168" y="4443984"/>
            <a:ext cx="3386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Inter"/>
              </a:rPr>
              <a:t>Casque et écouteurs · 5,3 %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9664" y="4443984"/>
            <a:ext cx="3386328" cy="457200"/>
          </a:xfrm>
          <a:prstGeom prst="roundRect">
            <a:avLst>
              <a:gd name="adj" fmla="val 12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79664" y="4443984"/>
            <a:ext cx="3386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Inter"/>
              </a:rPr>
              <a:t>Enceinte portable · 5,1 %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41264"/>
            <a:ext cx="50292" cy="3840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944" y="5559552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vous proposons une sélection resserrée du catalogue sur ces trois intentions, à mesurer contre le périmètre actuel.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Piste ouverte lors du weekly du 25 septembre 2026.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Activer Bose, puis packager l'offre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Vous avez souhaité tester Bose séparément du fil rouge, puis pouvoir revendre le dispositif à d'autres marques fournisseurs. Voici les deux volets.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55063"/>
            <a:ext cx="5513832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696211"/>
            <a:ext cx="5513832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874519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20 000 €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5056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Budget mensuel Bose envisagé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15768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Montant annoncé par Bose pour la fin d'année.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55063"/>
            <a:ext cx="5513832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696211"/>
            <a:ext cx="5513832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1874519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2 000 – 3 000 €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423160"/>
            <a:ext cx="5056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Commission Boulanger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715768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Ordre de grandeur, en apporteur d'affaires.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82111"/>
            <a:ext cx="3544824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3182111"/>
            <a:ext cx="30876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Le dispositif Bose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124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12463"/>
            <a:ext cx="3179064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produits Bose apparaissent dans les annonces IA, avec des liens vers boulanger.com.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53542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3542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Campagne distincte du fil rouge, avec ses propres indicateurs.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0840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84063"/>
            <a:ext cx="317906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Marshall a exprimé le même intérêt.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2064" y="3182111"/>
            <a:ext cx="3544824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8096" y="3182111"/>
            <a:ext cx="30876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que nous vous livrons pour le revendre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6656" y="37124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824" y="371246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budgets recommandés, par marque et par période.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6656" y="426110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7824" y="426110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Deux reportings : le vôtre, et celui de la marque fournisseur.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6656" y="480974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7824" y="480974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captures des formats, prêtes à présenter.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6928" y="3182111"/>
            <a:ext cx="3544824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42960" y="3182111"/>
            <a:ext cx="30876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Le cadre à fixer ensemble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1520" y="37124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52687" y="371246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La durée d'un test par marque, et ce qui le valide.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1520" y="426110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52687" y="4261103"/>
            <a:ext cx="317906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 partage de revenu Boulanger / Lemrock.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51520" y="453542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52687" y="4535423"/>
            <a:ext cx="317906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L'articulation avec le fil rouge.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559552"/>
            <a:ext cx="50292" cy="65836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4944" y="5577840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Roxane vous envoie le récapitulatif Bose avec les captures, accompagné du format d'offre packagée pour vos autres fournisseurs.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Montants évoqués lors du weekly du 25 septembre 2026, à confirmer contractuellement.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d6c9e77-ebe9-49f6-8b53-17127b1420ff">
      <Terms xmlns="http://schemas.microsoft.com/office/infopath/2007/PartnerControls"/>
    </lcf76f155ced4ddcb4097134ff3c332f>
    <TaxCatchAll xmlns="c4627576-656c-436f-b686-aeca7805b032" xsi:nil="true"/>
    <_dlc_DocId xmlns="c4627576-656c-436f-b686-aeca7805b032">ZKQTZRZKYFDM-1105887346-4335</_dlc_DocId>
    <_dlc_DocIdUrl xmlns="c4627576-656c-436f-b686-aeca7805b032">
      <Url>https://lemrock.sharepoint.com/sites/LemrockHQ/_layouts/15/DocIdRedir.aspx?ID=ZKQTZRZKYFDM-1105887346-4335</Url>
      <Description>ZKQTZRZKYFDM-1105887346-4335</Description>
    </_dlc_DocIdUrl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7A03431663057499CF9FED8D5DC4E6F" ma:contentTypeVersion="13" ma:contentTypeDescription="Create a new document." ma:contentTypeScope="" ma:versionID="63a37287fbdac5486f1a669afed97af4">
  <xsd:schema xmlns:xsd="http://www.w3.org/2001/XMLSchema" xmlns:xs="http://www.w3.org/2001/XMLSchema" xmlns:p="http://schemas.microsoft.com/office/2006/metadata/properties" xmlns:ns2="2d6c9e77-ebe9-49f6-8b53-17127b1420ff" xmlns:ns3="c4627576-656c-436f-b686-aeca7805b032" targetNamespace="http://schemas.microsoft.com/office/2006/metadata/properties" ma:root="true" ma:fieldsID="f6c183dfbf35d002dfdbfbe1da2cbb65" ns2:_="" ns3:_="">
    <xsd:import namespace="2d6c9e77-ebe9-49f6-8b53-17127b1420ff"/>
    <xsd:import namespace="c4627576-656c-436f-b686-aeca7805b03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CR" minOccurs="0"/>
                <xsd:element ref="ns2:MediaLengthInSeconds" minOccurs="0"/>
                <xsd:element ref="ns3:_dlc_DocId" minOccurs="0"/>
                <xsd:element ref="ns3:_dlc_DocIdUrl" minOccurs="0"/>
                <xsd:element ref="ns3:_dlc_DocIdPersistId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9e77-ebe9-49f6-8b53-17127b1420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3ab39d68-43a8-4186-a181-1ee2eae7bfe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627576-656c-436f-b686-aeca7805b032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04c3fe23-62fc-4dfc-bfe7-d6a8dc7172bb}" ma:internalName="TaxCatchAll" ma:showField="CatchAllData" ma:web="c4627576-656c-436f-b686-aeca7805b03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_dlc_DocId" ma:index="20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21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22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9233B6D-5919-47AA-8355-BFB4BDE5B93F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7443E5C4-EDF6-4041-86AB-1ED15B31B8F8}">
  <ds:schemaRefs>
    <ds:schemaRef ds:uri="2d6c9e77-ebe9-49f6-8b53-17127b1420ff"/>
    <ds:schemaRef ds:uri="c4627576-656c-436f-b686-aeca7805b03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9FB8029-B0DE-4F60-AFAD-F21C2FA6124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AEF3C9C-807E-48E8-9253-3F838B67D1EC}">
  <ds:schemaRefs>
    <ds:schemaRef ds:uri="2d6c9e77-ebe9-49f6-8b53-17127b1420ff"/>
    <ds:schemaRef ds:uri="c4627576-656c-436f-b686-aeca7805b03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11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revision>2</cp:revision>
  <dcterms:created xsi:type="dcterms:W3CDTF">2013-01-27T09:14:16Z</dcterms:created>
  <dcterms:modified xsi:type="dcterms:W3CDTF">2026-10-09T13:08:58Z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0x010100C7A03431663057499CF9FED8D5DC4E6F</vt:lpwstr>
  </property>
  <property fmtid="{D5CDD505-2E9C-101B-9397-08002B2CF9AE}" pid="3" name="_dlc_DocIdItemGuid">
    <vt:lpwstr>7828cc9f-9469-4ae2-a75c-4cee9d7e6297</vt:lpwstr>
  </property>
  <property fmtid="{D5CDD505-2E9C-101B-9397-08002B2CF9AE}" pid="4" name="MediaServiceImageTags">
    <vt:lpwstr/>
  </property>
</Properties>
</file>