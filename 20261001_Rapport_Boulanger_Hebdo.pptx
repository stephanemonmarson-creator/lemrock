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C59758-8992-2B4E-97F0-83694781C42C}" v="2" dt="2026-10-02T08:13:21.532"/>
    <p1510:client id="{D36DD84A-21D1-6D6F-3F98-0C05FFDC8E3D}" v="12" dt="2026-10-02T08:52:47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  <c:pt idx="6">
                  <c:v>15.6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6">
                  <c:v>15.6</c:v>
                </c:pt>
                <c:pt idx="4">
                  <c:v>15.5</c:v>
                </c:pt>
                <c:pt idx="5">
                  <c:v>15.7</c:v>
                </c:pt>
                <c:pt idx="6">
                  <c:v>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09/10/2026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Revue de performance de la campagne Boulanger, du 24 au 30 septembre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part de voix gagne 0,3 point, mais le trafic qualifié recule de 11,3 %.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pic>
        <p:nvPicPr>
          <p:cNvPr id="12" name="Picture 11" descr="fm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" y="2542032"/>
            <a:ext cx="3483864" cy="2622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pic>
        <p:nvPicPr>
          <p:cNvPr id="15" name="Picture 14" descr="fm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2542032"/>
            <a:ext cx="3483864" cy="199020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RAPPORT DE PERFORMANCE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34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4 879,75 €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49 %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1 311 465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+16,7 %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4 475 698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-11,3 %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26 646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-0,16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0,60 %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495057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+100 % (3)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5495057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15</a:t>
            </a:r>
          </a:p>
        </p:txBody>
      </p:sp>
      <p:sp>
        <p:nvSpPr>
          <p:cNvPr id="1011" name="Rounded Rectangle 45"/>
          <p:cNvSpPr/>
          <p:nvPr/>
        </p:nvSpPr>
        <p:spPr>
          <a:xfrm>
            <a:off x="6114532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2" name="TextBox 46"/>
          <p:cNvSpPr txBox="1"/>
          <p:nvPr/>
        </p:nvSpPr>
        <p:spPr>
          <a:xfrm>
            <a:off x="6114532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0,29 %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+0,17 pt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0,20 %</a:t>
            </a:r>
          </a:p>
        </p:txBody>
      </p:sp>
      <p:sp>
        <p:nvSpPr>
          <p:cNvPr id="1023" name="Rounded Rectangle 45"/>
          <p:cNvSpPr/>
          <p:nvPr/>
        </p:nvSpPr>
        <p:spPr>
          <a:xfrm>
            <a:off x="7744776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4" name="TextBox 46"/>
          <p:cNvSpPr txBox="1"/>
          <p:nvPr/>
        </p:nvSpPr>
        <p:spPr>
          <a:xfrm>
            <a:off x="7744776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0,37 €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▲ +26,6 %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0,27 €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148,11 €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+4,2 %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140,21 €</a:t>
            </a:r>
          </a:p>
        </p:txBody>
      </p:sp>
      <p:sp>
        <p:nvSpPr>
          <p:cNvPr id="75" name="Isosceles Triangle 74"/>
          <p:cNvSpPr/>
          <p:nvPr/>
        </p:nvSpPr>
        <p:spPr>
          <a:xfrm>
            <a:off x="6786152" y="3172968"/>
            <a:ext cx="256032" cy="146304"/>
          </a:xfrm>
          <a:prstGeom prst="triangle">
            <a:avLst/>
          </a:prstGeom>
          <a:solidFill>
            <a:srgbClr val="EDEBE7"/>
          </a:solidFill>
          <a:ln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163056" y="3310128"/>
            <a:ext cx="5568696" cy="566928"/>
          </a:xfrm>
          <a:prstGeom prst="roundRect">
            <a:avLst>
              <a:gd name="adj" fmla="val 12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45936" y="3310128"/>
            <a:ext cx="520293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6B6B6B"/>
                </a:solidFill>
                <a:latin typeface="Inter"/>
              </a:rPr>
              <a:t>Premières conversions remontées : </a:t>
            </a:r>
            <a:r>
              <a:rPr sz="950" b="0" i="0">
                <a:solidFill>
                  <a:srgbClr val="6B6B6B"/>
                </a:solidFill>
                <a:latin typeface="Inter"/>
              </a:rPr>
              <a:t>6 ventes attribuées sur la semaine (3 la semaine précédente), pour un panier moyen de 148,11 €. Volumes encore faibles : chiffres indicatifs tant que la réconciliation avec vos données n'est pas validée.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4069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mentions d'enseignes du secteur, combien concernent Boulanger ? Base semaine précédente : 15,3 %. Valeur projetée.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76344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8,2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+2,5 %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19,0 %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18,7 %. Valeur projetée.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progresse, mais les clics reculent et coûtent plus cher ; les premières conversions remontent.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16,7 %, tandis que le trafic qualifié recule de 11,3 %. Le CTR baisse ainsi de 0,16 point, à 0,49 %.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0,37 €, soit une hausse de 26,6 %. </a:t>
            </a:r>
            <a:r>
              <a:rPr lang="fr-FR" sz="1000"/>
              <a:t>Côté ventes, 6 conversions last click (CVR 0,29 %, +0,17 pt) pour un panier moyen de 148,11 € (+4,2 %).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15,6 %,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+0,3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(15,3 %)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20,2 %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47702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012585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19067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14,1 %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51415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09660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2246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5,6 %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0314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9993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0,1 %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218541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218541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22,5 %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218541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+0,2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2185416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22,3 %.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325880"/>
            <a:ext cx="272491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02152" y="1563624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BOULANGER EST-IL COMPARÉ À UN CONCURRENT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1929384"/>
            <a:ext cx="221284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46,5 %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569464"/>
            <a:ext cx="221284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+0,5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953512"/>
            <a:ext cx="221284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réponses qui présentent Boulanger comme une option face à une autre enseigne. Base semaine précédente : 46,0 %. Valeur projetée.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53 % des cas, au deuxième échange dans 30 % des cas, et plus tard dans 17 % des cas. Valeurs projetées.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602473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60247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53 %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1425" y="5166359"/>
            <a:ext cx="1473098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61425" y="5166359"/>
            <a:ext cx="1473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30 %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1425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1956" y="5166359"/>
            <a:ext cx="83475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61956" y="5166359"/>
            <a:ext cx="8347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340864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16 %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19456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70448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Back Market concentre 16 % des comparaisons, soit deux fois Amazon (8 %). Répartition indicative, projetée : ce ne sont pas des résultats mesurés.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choisir pour prendre de bonnes photos sans dépasser mon budget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A16, iPhone 13 reconditionné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4,4 %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Quels écouteurs choisir pour faire du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Tune 530, JBL Tune 310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Offrir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offrir à une personne qui écoute beaucoup de musique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Go Essential 2, Sony SRS-XB100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2,9 %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4,6 %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aspirateur est efficace contre les poils d'animaux ?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Aspirateurs Dyson et Rowenta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4,3 %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téléviseur choisir pour regarder des films et jouer ?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2,5 %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une batterie externe pour voyager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4,0 %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batterie externe choisir pour voyager léger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Belkin 10 000 mAh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2,0 %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3928872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3928872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3,8 %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tablette choisir pour travailler et regarder des films en déplacement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Tab, Xiaomi Redmi Pad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2,8 %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un étudiant d'un ordinateur portable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3,5 %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ordinateur portable offre assez d'autonomie pour une journée de cours ?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IdeaPad Slim 3, portables Asus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59333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59333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pour un foyer de taille moyenne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3,2 %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choisir pour une famille de quatre personnes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492556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492556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imprimante pour la maison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2,9 %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imprimante choisir pour imprimer peu mais régulièrement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Brother HL-L1242W, Canon MAXIFY BX110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1,8 %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5257800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5257800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57,2 %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Les intentions d’achat évoluent peu, tandis que Boulanger gagne légèrement en visibilité sur la majorité des catégories.</a:t>
            </a:r>
          </a:p>
          <a:p>
            <a:r>
              <a:rPr lang="fr-FR" sz="900"/>
              <a:t>Smartphones : la plus forte progression de visibilité. La présence de Boulanger passe de 4,2 % à 4,4 %. Les smartphones restent la première intention du classement, avec 6,1 % des conversations.</a:t>
            </a:r>
          </a:p>
          <a:p>
            <a:r>
              <a:rPr lang="fr-FR" sz="900"/>
              <a:t>Son : une demande importante et une visibilité en légère hausse. Les casques, écouteurs et enceintes représentent ensemble 10,4 % des conversations. La présence de Boulanger progresse de 0,1 point sur chacun des deux segments.</a:t>
            </a:r>
          </a:p>
          <a:p>
            <a:r>
              <a:rPr lang="fr-FR" sz="900"/>
              <a:t>Imprimantes et batteries externes : une visibilité faible et stable. La présence de Boulanger reste à respectivement 1,8 % et 2,0 %, les deux niveaux les plus bas du top 10.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Finaliser le conversion tracker et valider la réconciliation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pixel est posé depuis la mi-septembre. Il reste à confirmer que ce qu'il compte correspond à ce que vous voyez de votre côté.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1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0511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84831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nous en sommes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45059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Pixel déployé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sur la page de confirmation de commande.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2491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Quatre événements suivis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commande, vue produit, ajout au panier, début de paiement.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9923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9923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Documentation et template Google Tag Manager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transmis par Clément.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qui bloque la lecture 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conversions ne remontent pas encore dans l'export : les cartes Conversions et CVR restent à n. 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64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Sans elles, impossible de relier les produits cliqués aux produits vendus.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ça débloquera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421538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coût par vente réel, campagne par campagne.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97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44897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L'arbitrage des enchères sur les références qui convertissent, et non sur celles qui cliquent.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transmettons le volume de clics précis sur la période, pour que vous puissiez mesurer l'écart avec Piano. Nous ouvrons ensuite le sujet du tracking server-side.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Source : call « Conversion Tracker Lemrock x Boulanger » du 16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Faire du smartphone votre priorité de visibilité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nous avez dit vouloir augmenter la visibilité de Boulanger sur le smartphone dans les IA l'an prochain. La semaine le confirme : c'est là que tout se joue.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6,1 %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Part des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intention du top 10.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4,4 %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Présence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+0,2 pt : la plus forte progression du top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5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7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16 %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Face à Back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enseigne rencontrée en comparaison.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502152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647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Pourquoi cette intention plutôt qu'une autre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1422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14223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demande la plus forte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6,1 % des conversations du périmètre, devant le casque et l'enceinte.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41655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41655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concurrence la plus directe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Back Market concentre 16 % des comparaisons, soit deux fois Amazon.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69087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69087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Le meilleur levier sur la part de voix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un gain de présence y pèse plus lourd que partout ailleurs.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95544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5513831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construisons avec vous un plan de visibilité dédié au smartphone pour 2027 — ad groups, sélection de références et budget associé.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Priorité exprimée par André Wadleich lors du weekly du 25 septembre 2026.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Resserrer la sélection de produits poussés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win rate progresse, mais reste à 22,5 % : dans trois comparaisons sur quatre, l'utilisateur clique ailleurs.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disent les chiffres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Quand Boulanger est comparé à une enseigne, l'utilisateur clique sur l'annonce Boulanger dans 22,5 % des 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Boulanger est comparé à un concurrent dans 46,5 % des réponses : près de la moitié de la diffusion se joue en arbitrage.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L'hypothèse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34086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références poussées ne sont pas nécessairement vos hero products.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151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6151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Une sélection resserrée, intention par intention, devrait mieux convaincre au moment du choix.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03904"/>
            <a:ext cx="11274552" cy="146304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803904"/>
            <a:ext cx="64008" cy="146304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4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commencer — les trois intentions les plus demandées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Smartphone · 6,1 %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2168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92168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Casque et écouteurs · 5,4 %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9664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9664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Enceinte portable · 5,0 %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0292" cy="3840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59552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proposons une sélection resserrée du catalogue sur ces trois intentions, à mesurer contre le périmètre actuel.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 ouverte lors du weekly du 25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Activer Bose, puis packager l'offre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avez souhaité tester Bose séparément du fil rouge, puis pouvoir revendre le dispositif à d'autres marques fournisseurs. Voici les deux volets.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20 000 €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Budget mensuel Bose envisagé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 annoncé par Bose pour la fin d'année.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2 000 – 3 000 €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Commission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Ordre de grandeur, en apporteur d'affaires.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dispositif Bose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12463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produits Bose apparaissent dans les annonces IA, avec des liens vers boulanger.com.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Campagne distincte du fil rouge, avec ses propres indicateurs.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840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Marshall a exprimé le même intérêt.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8096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nous vous livrons pour le revendre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56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824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budgets recommandés, par marque et par période.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6656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7824" y="426110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Deux reportings : le vôtre, et celui de la marque fournisseur.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6656" y="480974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824" y="480974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captures des formats, prêtes à présenter.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6928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2960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cadre à fixer ensemble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2687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La durée d'un test par marque, et ce qui le valide.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2687" y="426110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partage de revenu Boulanger / Lemrock.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520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2687" y="453542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L'articulation avec le fil rouge.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Roxane vous envoie le récapitulatif Bose avec les captures, accompagné du format d'offre packagée pour vos autres fournisseurs.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Montants évoqués lors du weekly du 25 septembre 2026, à confirmer contractuellement.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ZKQTZRZKYFDM-1105887346-4335</_dlc_DocId>
    <_dlc_DocIdUrl xmlns="c4627576-656c-436f-b686-aeca7805b032">
      <Url>https://lemrock.sharepoint.com/sites/LemrockHQ/_layouts/15/DocIdRedir.aspx?ID=ZKQTZRZKYFDM-1105887346-4335</Url>
      <Description>ZKQTZRZKYFDM-1105887346-4335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</cp:revision>
  <dcterms:created xsi:type="dcterms:W3CDTF">2013-01-27T09:14:16Z</dcterms:created>
  <dcterms:modified xsi:type="dcterms:W3CDTF">2026-10-09T13:08:58Z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7828cc9f-9469-4ae2-a75c-4cee9d7e6297</vt:lpwstr>
  </property>
  <property fmtid="{D5CDD505-2E9C-101B-9397-08002B2CF9AE}" pid="4" name="MediaServiceImageTags">
    <vt:lpwstr/>
  </property>
</Properties>
</file>